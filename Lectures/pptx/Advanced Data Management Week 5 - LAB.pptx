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76212884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826597834"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066431467"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63510560"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91440192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633232759"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7070447" name="Slide Image Placeholder 1"/>
          <p:cNvSpPr>
            <a:spLocks noChangeAspect="1" noGrp="1" noRot="1"/>
          </p:cNvSpPr>
          <p:nvPr>
            <p:ph type="sldImg"/>
          </p:nvPr>
        </p:nvSpPr>
        <p:spPr bwMode="auto"/>
      </p:sp>
      <p:sp>
        <p:nvSpPr>
          <p:cNvPr id="839976367" name="Notes Placeholder 2"/>
          <p:cNvSpPr>
            <a:spLocks noGrp="1"/>
          </p:cNvSpPr>
          <p:nvPr>
            <p:ph type="body" idx="1"/>
          </p:nvPr>
        </p:nvSpPr>
        <p:spPr bwMode="auto"/>
        <p:txBody>
          <a:bodyPr/>
          <a:lstStyle/>
          <a:p>
            <a:pPr>
              <a:defRPr/>
            </a:pPr>
            <a:endParaRPr/>
          </a:p>
        </p:txBody>
      </p:sp>
      <p:sp>
        <p:nvSpPr>
          <p:cNvPr id="1786834683" name="Slide Number Placeholder 3"/>
          <p:cNvSpPr>
            <a:spLocks noGrp="1"/>
          </p:cNvSpPr>
          <p:nvPr>
            <p:ph type="sldNum" sz="quarter" idx="10"/>
          </p:nvPr>
        </p:nvSpPr>
        <p:spPr bwMode="auto"/>
        <p:txBody>
          <a:bodyPr/>
          <a:lstStyle/>
          <a:p>
            <a:pPr>
              <a:defRPr/>
            </a:pPr>
            <a:fld id="{67300E56-6269-85B2-2C28-E9B687478B9A}"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8252529" name="Slide Image Placeholder 1"/>
          <p:cNvSpPr>
            <a:spLocks noChangeAspect="1" noGrp="1" noRot="1"/>
          </p:cNvSpPr>
          <p:nvPr>
            <p:ph type="sldImg"/>
          </p:nvPr>
        </p:nvSpPr>
        <p:spPr bwMode="auto"/>
      </p:sp>
      <p:sp>
        <p:nvSpPr>
          <p:cNvPr id="398133415"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1. Project Setup</a:t>
            </a:r>
            <a:endParaRPr>
              <a:latin typeface="Times New Roman"/>
              <a:cs typeface="Times New Roman"/>
            </a:endParaRPr>
          </a:p>
          <a:p>
            <a:pPr>
              <a:defRPr/>
            </a:pPr>
            <a:r>
              <a:rPr sz="1200" b="0" i="0" u="none">
                <a:solidFill>
                  <a:srgbClr val="000000"/>
                </a:solidFill>
                <a:latin typeface="Times New Roman"/>
                <a:ea typeface="Times New Roman"/>
                <a:cs typeface="Times New Roman"/>
              </a:rPr>
              <a:t>The first command is:</a:t>
            </a:r>
            <a:endParaRPr>
              <a:latin typeface="Times New Roman"/>
              <a:cs typeface="Times New Roman"/>
            </a:endParaRPr>
          </a:p>
          <a:p>
            <a:pPr>
              <a:defRPr/>
            </a:pPr>
            <a:r>
              <a:rPr sz="1000" b="0" i="0" u="none">
                <a:solidFill>
                  <a:srgbClr val="000000"/>
                </a:solidFill>
                <a:latin typeface="Times New Roman"/>
                <a:ea typeface="Times New Roman"/>
                <a:cs typeface="Times New Roman"/>
              </a:rPr>
              <a:t>mkdir</a:t>
            </a:r>
            <a:r>
              <a:rPr sz="1000" b="0" i="0" u="none">
                <a:solidFill>
                  <a:srgbClr val="000000"/>
                </a:solidFill>
                <a:latin typeface="Times New Roman"/>
                <a:ea typeface="Times New Roman"/>
                <a:cs typeface="Times New Roman"/>
              </a:rPr>
              <a:t> fastapi-mongo-lab</a:t>
            </a:r>
            <a:endParaRPr>
              <a:latin typeface="Times New Roman"/>
              <a:cs typeface="Times New Roman"/>
            </a:endParaRPr>
          </a:p>
          <a:p>
            <a:pPr>
              <a:defRPr/>
            </a:pPr>
            <a:r>
              <a:rPr sz="1200" b="0" i="0" u="none">
                <a:solidFill>
                  <a:srgbClr val="000000"/>
                </a:solidFill>
                <a:latin typeface="Times New Roman"/>
                <a:ea typeface="Times New Roman"/>
                <a:cs typeface="Times New Roman"/>
              </a:rPr>
              <a:t>This command creates a new directory named </a:t>
            </a:r>
            <a:r>
              <a:rPr sz="1000" b="0" i="0" u="none">
                <a:solidFill>
                  <a:srgbClr val="000000"/>
                </a:solidFill>
                <a:latin typeface="Times New Roman"/>
                <a:ea typeface="Times New Roman"/>
                <a:cs typeface="Times New Roman"/>
              </a:rPr>
              <a:t>fastapi-mongo-lab</a:t>
            </a:r>
            <a:r>
              <a:rPr sz="1200" b="0" i="0" u="none">
                <a:solidFill>
                  <a:srgbClr val="000000"/>
                </a:solidFill>
                <a:latin typeface="Times New Roman"/>
                <a:ea typeface="Times New Roman"/>
                <a:cs typeface="Times New Roman"/>
              </a:rPr>
              <a:t>. The word </a:t>
            </a:r>
            <a:r>
              <a:rPr sz="1000" b="0" i="0" u="none">
                <a:solidFill>
                  <a:srgbClr val="000000"/>
                </a:solidFill>
                <a:latin typeface="Times New Roman"/>
                <a:ea typeface="Times New Roman"/>
                <a:cs typeface="Times New Roman"/>
              </a:rPr>
              <a:t>mkdir</a:t>
            </a:r>
            <a:r>
              <a:rPr sz="1200" b="0" i="0" u="none">
                <a:solidFill>
                  <a:srgbClr val="000000"/>
                </a:solidFill>
                <a:latin typeface="Times New Roman"/>
                <a:ea typeface="Times New Roman"/>
                <a:cs typeface="Times New Roman"/>
              </a:rPr>
              <a:t> stands for </a:t>
            </a:r>
            <a:r>
              <a:rPr sz="1200" b="1" i="0" u="none">
                <a:solidFill>
                  <a:srgbClr val="000000"/>
                </a:solidFill>
                <a:latin typeface="Times New Roman"/>
                <a:ea typeface="Times New Roman"/>
                <a:cs typeface="Times New Roman"/>
              </a:rPr>
              <a:t>make directory</a:t>
            </a:r>
            <a:r>
              <a:rPr sz="1200" b="0" i="0" u="none">
                <a:solidFill>
                  <a:srgbClr val="000000"/>
                </a:solidFill>
                <a:latin typeface="Times New Roman"/>
                <a:ea typeface="Times New Roman"/>
                <a:cs typeface="Times New Roman"/>
              </a:rPr>
              <a:t>. Its purpose is to create a dedicated folder where the entire project will live. This is important because software projects should be isolated and organized. By creating a separate folder, you keep your source code, configuration files, and environment-specific resources in one place. This also makes the project easier to move, back up, share, or deploy later.</a:t>
            </a:r>
            <a:endParaRPr>
              <a:latin typeface="Times New Roman"/>
              <a:cs typeface="Times New Roman"/>
            </a:endParaRPr>
          </a:p>
          <a:p>
            <a:pPr>
              <a:defRPr/>
            </a:pPr>
            <a:endParaRPr>
              <a:latin typeface="Times New Roman"/>
              <a:cs typeface="Times New Roman"/>
            </a:endParaRPr>
          </a:p>
          <a:p>
            <a:pPr>
              <a:defRPr/>
            </a:pPr>
            <a:r>
              <a:rPr sz="1200" b="0" i="0" u="none">
                <a:solidFill>
                  <a:srgbClr val="000000"/>
                </a:solidFill>
                <a:latin typeface="Times New Roman"/>
                <a:ea typeface="Times New Roman"/>
                <a:cs typeface="Times New Roman"/>
              </a:rPr>
              <a:t>The second command is: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Times New Roman"/>
                <a:ea typeface="Times New Roman"/>
                <a:cs typeface="Times New Roman"/>
              </a:rPr>
              <a:t>cd</a:t>
            </a:r>
            <a:r>
              <a:rPr sz="1000" b="0" i="0" u="none">
                <a:solidFill>
                  <a:srgbClr val="000000"/>
                </a:solidFill>
                <a:latin typeface="Times New Roman"/>
                <a:ea typeface="Times New Roman"/>
                <a:cs typeface="Times New Roman"/>
              </a:rPr>
              <a:t> fastapi-mongo-lab</a:t>
            </a:r>
            <a:endParaRPr>
              <a:latin typeface="Times New Roman"/>
              <a:cs typeface="Times New Roman"/>
            </a:endParaRPr>
          </a:p>
          <a:p>
            <a:pPr>
              <a:defRPr/>
            </a:pPr>
            <a:r>
              <a:rPr sz="1200" b="0" i="0" u="none">
                <a:solidFill>
                  <a:srgbClr val="000000"/>
                </a:solidFill>
                <a:latin typeface="Times New Roman"/>
                <a:ea typeface="Times New Roman"/>
                <a:cs typeface="Times New Roman"/>
              </a:rPr>
              <a:t>This command changes the shell’s current working directory to the folder you just created. The command </a:t>
            </a:r>
            <a:r>
              <a:rPr sz="1000" b="0" i="0" u="none">
                <a:solidFill>
                  <a:srgbClr val="000000"/>
                </a:solidFill>
                <a:latin typeface="Times New Roman"/>
                <a:ea typeface="Times New Roman"/>
                <a:cs typeface="Times New Roman"/>
              </a:rPr>
              <a:t>cd</a:t>
            </a:r>
            <a:r>
              <a:rPr sz="1200" b="0" i="0" u="none">
                <a:solidFill>
                  <a:srgbClr val="000000"/>
                </a:solidFill>
                <a:latin typeface="Times New Roman"/>
                <a:ea typeface="Times New Roman"/>
                <a:cs typeface="Times New Roman"/>
              </a:rPr>
              <a:t> means </a:t>
            </a:r>
            <a:r>
              <a:rPr sz="1200" b="1" i="0" u="none">
                <a:solidFill>
                  <a:srgbClr val="000000"/>
                </a:solidFill>
                <a:latin typeface="Times New Roman"/>
                <a:ea typeface="Times New Roman"/>
                <a:cs typeface="Times New Roman"/>
              </a:rPr>
              <a:t>change directory</a:t>
            </a:r>
            <a:r>
              <a:rPr sz="1200" b="0" i="0" u="none">
                <a:solidFill>
                  <a:srgbClr val="000000"/>
                </a:solidFill>
                <a:latin typeface="Times New Roman"/>
                <a:ea typeface="Times New Roman"/>
                <a:cs typeface="Times New Roman"/>
              </a:rPr>
              <a:t>. From this point onward, every file you create and every command you run will happen inside the project folder. This matters because tools like Python, Docker, and the terminal itself operate relative to your current location. If you are in the wrong folder, files may be created in the wrong place or commands may fail because they cannot find the expected project files.</a:t>
            </a:r>
            <a:endParaRPr>
              <a:latin typeface="Times New Roman"/>
              <a:cs typeface="Times New Roman"/>
            </a:endParaRPr>
          </a:p>
          <a:p>
            <a:pPr>
              <a:defRPr/>
            </a:pPr>
            <a:r>
              <a:rPr sz="1200" b="0" i="0" u="none">
                <a:solidFill>
                  <a:srgbClr val="000000"/>
                </a:solidFill>
                <a:latin typeface="Times New Roman"/>
                <a:ea typeface="Times New Roman"/>
                <a:cs typeface="Times New Roman"/>
              </a:rPr>
              <a:t>So, the meaning of this step is not just “make a folder.” It is the beginning of the project’s structure. It defines the workspace in which all development will happen.</a:t>
            </a:r>
            <a:endParaRPr>
              <a:latin typeface="Times New Roman"/>
              <a:cs typeface="Times New Roman"/>
            </a:endParaRPr>
          </a:p>
        </p:txBody>
      </p:sp>
      <p:sp>
        <p:nvSpPr>
          <p:cNvPr id="1949376788" name="Slide Number Placeholder 3"/>
          <p:cNvSpPr>
            <a:spLocks noGrp="1"/>
          </p:cNvSpPr>
          <p:nvPr>
            <p:ph type="sldNum" sz="quarter" idx="10"/>
          </p:nvPr>
        </p:nvSpPr>
        <p:spPr bwMode="auto"/>
        <p:txBody>
          <a:bodyPr/>
          <a:lstStyle/>
          <a:p>
            <a:pPr>
              <a:defRPr/>
            </a:pPr>
            <a:fld id="{72493A32-C816-EB32-EA1A-8BBD0C7086D9}"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6993349" name="Slide Image Placeholder 1"/>
          <p:cNvSpPr>
            <a:spLocks noChangeAspect="1" noGrp="1" noRot="1"/>
          </p:cNvSpPr>
          <p:nvPr>
            <p:ph type="sldImg"/>
          </p:nvPr>
        </p:nvSpPr>
        <p:spPr bwMode="auto"/>
      </p:sp>
      <p:sp>
        <p:nvSpPr>
          <p:cNvPr id="105158963"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2. Virtual Environment</a:t>
            </a:r>
            <a:endParaRPr/>
          </a:p>
          <a:p>
            <a:pPr>
              <a:defRPr/>
            </a:pPr>
            <a:r>
              <a:rPr sz="1200" b="0" i="0" u="none">
                <a:solidFill>
                  <a:srgbClr val="000000"/>
                </a:solidFill>
                <a:latin typeface="Times New Roman"/>
                <a:ea typeface="Times New Roman"/>
                <a:cs typeface="Times New Roman"/>
              </a:rPr>
              <a:t>The first command is:</a:t>
            </a:r>
            <a:endParaRPr/>
          </a:p>
          <a:p>
            <a:pPr>
              <a:defRPr/>
            </a:pPr>
            <a:r>
              <a:rPr sz="1000" b="0" i="0" u="none">
                <a:solidFill>
                  <a:srgbClr val="000000"/>
                </a:solidFill>
                <a:latin typeface="Courier New"/>
                <a:ea typeface="Courier New"/>
                <a:cs typeface="Courier New"/>
              </a:rPr>
              <a:t>python3 </a:t>
            </a:r>
            <a:r>
              <a:rPr sz="1000" b="0" i="0" u="none">
                <a:solidFill>
                  <a:srgbClr val="000000"/>
                </a:solidFill>
                <a:latin typeface="Courier New"/>
                <a:ea typeface="Courier New"/>
                <a:cs typeface="Courier New"/>
              </a:rPr>
              <a:t>-m</a:t>
            </a:r>
            <a:r>
              <a:rPr sz="1000" b="0" i="0" u="none">
                <a:solidFill>
                  <a:srgbClr val="000000"/>
                </a:solidFill>
                <a:latin typeface="Courier New"/>
                <a:ea typeface="Courier New"/>
                <a:cs typeface="Courier New"/>
              </a:rPr>
              <a:t> venv venv</a:t>
            </a:r>
            <a:endParaRPr/>
          </a:p>
          <a:p>
            <a:pPr>
              <a:defRPr/>
            </a:pPr>
            <a:r>
              <a:rPr sz="1200" b="0" i="0" u="none">
                <a:solidFill>
                  <a:srgbClr val="000000"/>
                </a:solidFill>
                <a:latin typeface="Times New Roman"/>
                <a:ea typeface="Times New Roman"/>
                <a:cs typeface="Times New Roman"/>
              </a:rPr>
              <a:t>This command creates a </a:t>
            </a:r>
            <a:r>
              <a:rPr sz="1200" b="1" i="0" u="none">
                <a:solidFill>
                  <a:srgbClr val="000000"/>
                </a:solidFill>
                <a:latin typeface="Times New Roman"/>
                <a:ea typeface="Times New Roman"/>
                <a:cs typeface="Times New Roman"/>
              </a:rPr>
              <a:t>Python virtual environment</a:t>
            </a:r>
            <a:r>
              <a:rPr sz="1200" b="0" i="0" u="none">
                <a:solidFill>
                  <a:srgbClr val="000000"/>
                </a:solidFill>
                <a:latin typeface="Times New Roman"/>
                <a:ea typeface="Times New Roman"/>
                <a:cs typeface="Times New Roman"/>
              </a:rPr>
              <a:t> named </a:t>
            </a:r>
            <a:r>
              <a:rPr sz="1000" b="0" i="0" u="none">
                <a:solidFill>
                  <a:srgbClr val="000000"/>
                </a:solidFill>
                <a:latin typeface="Courier New"/>
                <a:ea typeface="Courier New"/>
                <a:cs typeface="Courier New"/>
              </a:rPr>
              <a:t>venv</a:t>
            </a:r>
            <a:r>
              <a:rPr sz="1200" b="0" i="0" u="none">
                <a:solidFill>
                  <a:srgbClr val="000000"/>
                </a:solidFill>
                <a:latin typeface="Times New Roman"/>
                <a:ea typeface="Times New Roman"/>
                <a:cs typeface="Times New Roman"/>
              </a:rPr>
              <a:t>. The </a:t>
            </a:r>
            <a:r>
              <a:rPr sz="1000" b="0" i="0" u="none">
                <a:solidFill>
                  <a:srgbClr val="000000"/>
                </a:solidFill>
                <a:latin typeface="Courier New"/>
                <a:ea typeface="Courier New"/>
                <a:cs typeface="Courier New"/>
              </a:rPr>
              <a:t>python3</a:t>
            </a:r>
            <a:r>
              <a:rPr sz="1200" b="0" i="0" u="none">
                <a:solidFill>
                  <a:srgbClr val="000000"/>
                </a:solidFill>
                <a:latin typeface="Times New Roman"/>
                <a:ea typeface="Times New Roman"/>
                <a:cs typeface="Times New Roman"/>
              </a:rPr>
              <a:t> part explicitly calls the Python 3 interpreter. The </a:t>
            </a:r>
            <a:r>
              <a:rPr sz="1000" b="0" i="0" u="none">
                <a:solidFill>
                  <a:srgbClr val="000000"/>
                </a:solidFill>
                <a:latin typeface="Courier New"/>
                <a:ea typeface="Courier New"/>
                <a:cs typeface="Courier New"/>
              </a:rPr>
              <a:t>-m</a:t>
            </a:r>
            <a:r>
              <a:rPr sz="1200" b="0" i="0" u="none">
                <a:solidFill>
                  <a:srgbClr val="000000"/>
                </a:solidFill>
                <a:latin typeface="Times New Roman"/>
                <a:ea typeface="Times New Roman"/>
                <a:cs typeface="Times New Roman"/>
              </a:rPr>
              <a:t> flag tells Python to run a module as a script. In this case, the module is </a:t>
            </a:r>
            <a:r>
              <a:rPr sz="1000" b="0" i="0" u="none">
                <a:solidFill>
                  <a:srgbClr val="000000"/>
                </a:solidFill>
                <a:latin typeface="Courier New"/>
                <a:ea typeface="Courier New"/>
                <a:cs typeface="Courier New"/>
              </a:rPr>
              <a:t>venv</a:t>
            </a:r>
            <a:r>
              <a:rPr sz="1200" b="0" i="0" u="none">
                <a:solidFill>
                  <a:srgbClr val="000000"/>
                </a:solidFill>
                <a:latin typeface="Times New Roman"/>
                <a:ea typeface="Times New Roman"/>
                <a:cs typeface="Times New Roman"/>
              </a:rPr>
              <a:t>, which is Python’s built-in virtual environment tool. The final </a:t>
            </a:r>
            <a:r>
              <a:rPr sz="1000" b="0" i="0" u="none">
                <a:solidFill>
                  <a:srgbClr val="000000"/>
                </a:solidFill>
                <a:latin typeface="Courier New"/>
                <a:ea typeface="Courier New"/>
                <a:cs typeface="Courier New"/>
              </a:rPr>
              <a:t>venv</a:t>
            </a:r>
            <a:r>
              <a:rPr sz="1200" b="0" i="0" u="none">
                <a:solidFill>
                  <a:srgbClr val="000000"/>
                </a:solidFill>
                <a:latin typeface="Times New Roman"/>
                <a:ea typeface="Times New Roman"/>
                <a:cs typeface="Times New Roman"/>
              </a:rPr>
              <a:t> is the name of the directory where the virtual environment will be created.</a:t>
            </a:r>
            <a:endParaRPr/>
          </a:p>
          <a:p>
            <a:pPr>
              <a:defRPr/>
            </a:pPr>
            <a:r>
              <a:rPr sz="1200" b="0" i="0" u="none">
                <a:solidFill>
                  <a:srgbClr val="000000"/>
                </a:solidFill>
                <a:latin typeface="Times New Roman"/>
                <a:ea typeface="Times New Roman"/>
                <a:cs typeface="Times New Roman"/>
              </a:rPr>
              <a:t>A virtual environment is extremely important in Python development because it isolates project dependencies. Without it, packages would be installed globally on your operating system, which often causes conflicts between projects. One project may need one version of a package, while another project may need a different version. The virtual environment solves this by creating a local Python environment specific to this project only.</a:t>
            </a:r>
            <a:endParaRPr/>
          </a:p>
          <a:p>
            <a:pPr>
              <a:defRPr/>
            </a:pPr>
            <a:endParaRPr/>
          </a:p>
          <a:p>
            <a:pPr>
              <a:defRPr/>
            </a:pPr>
            <a:r>
              <a:rPr sz="1200" b="0" i="0" u="none">
                <a:solidFill>
                  <a:srgbClr val="000000"/>
                </a:solidFill>
                <a:latin typeface="Times New Roman"/>
                <a:ea typeface="Times New Roman"/>
                <a:cs typeface="Times New Roman"/>
              </a:rPr>
              <a:t>The next command is: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source</a:t>
            </a:r>
            <a:r>
              <a:rPr sz="1000" b="0" i="0" u="none">
                <a:solidFill>
                  <a:srgbClr val="000000"/>
                </a:solidFill>
                <a:latin typeface="Courier New"/>
                <a:ea typeface="Courier New"/>
                <a:cs typeface="Courier New"/>
              </a:rPr>
              <a:t> venv/bin/activate</a:t>
            </a:r>
            <a:endParaRPr/>
          </a:p>
          <a:p>
            <a:pPr>
              <a:defRPr/>
            </a:pPr>
            <a:r>
              <a:rPr sz="1200" b="0" i="0" u="none">
                <a:solidFill>
                  <a:srgbClr val="000000"/>
                </a:solidFill>
                <a:latin typeface="Times New Roman"/>
                <a:ea typeface="Times New Roman"/>
                <a:cs typeface="Times New Roman"/>
              </a:rPr>
              <a:t>This command activates the virtual environment. The word </a:t>
            </a:r>
            <a:r>
              <a:rPr sz="1000" b="0" i="0" u="none">
                <a:solidFill>
                  <a:srgbClr val="000000"/>
                </a:solidFill>
                <a:latin typeface="Courier New"/>
                <a:ea typeface="Courier New"/>
                <a:cs typeface="Courier New"/>
              </a:rPr>
              <a:t>source</a:t>
            </a:r>
            <a:r>
              <a:rPr sz="1200" b="0" i="0" u="none">
                <a:solidFill>
                  <a:srgbClr val="000000"/>
                </a:solidFill>
                <a:latin typeface="Times New Roman"/>
                <a:ea typeface="Times New Roman"/>
                <a:cs typeface="Times New Roman"/>
              </a:rPr>
              <a:t> tells the current shell to execute the activation script in the same shell session. The file </a:t>
            </a:r>
            <a:r>
              <a:rPr sz="1000" b="0" i="0" u="none">
                <a:solidFill>
                  <a:srgbClr val="000000"/>
                </a:solidFill>
                <a:latin typeface="Courier New"/>
                <a:ea typeface="Courier New"/>
                <a:cs typeface="Courier New"/>
              </a:rPr>
              <a:t>venv/bin/activate</a:t>
            </a:r>
            <a:r>
              <a:rPr sz="1200" b="0" i="0" u="none">
                <a:solidFill>
                  <a:srgbClr val="000000"/>
                </a:solidFill>
                <a:latin typeface="Times New Roman"/>
                <a:ea typeface="Times New Roman"/>
                <a:cs typeface="Times New Roman"/>
              </a:rPr>
              <a:t> modifies environment variables so that when you type commands like </a:t>
            </a:r>
            <a:r>
              <a:rPr sz="1000" b="0" i="0" u="none">
                <a:solidFill>
                  <a:srgbClr val="000000"/>
                </a:solidFill>
                <a:latin typeface="Courier New"/>
                <a:ea typeface="Courier New"/>
                <a:cs typeface="Courier New"/>
              </a:rPr>
              <a:t>python</a:t>
            </a:r>
            <a:r>
              <a:rPr sz="1200" b="0" i="0" u="none">
                <a:solidFill>
                  <a:srgbClr val="000000"/>
                </a:solidFill>
                <a:latin typeface="Times New Roman"/>
                <a:ea typeface="Times New Roman"/>
                <a:cs typeface="Times New Roman"/>
              </a:rPr>
              <a:t> or </a:t>
            </a:r>
            <a:r>
              <a:rPr sz="1000" b="0" i="0" u="none">
                <a:solidFill>
                  <a:srgbClr val="000000"/>
                </a:solidFill>
                <a:latin typeface="Courier New"/>
                <a:ea typeface="Courier New"/>
                <a:cs typeface="Courier New"/>
              </a:rPr>
              <a:t>pip</a:t>
            </a:r>
            <a:r>
              <a:rPr sz="1200" b="0" i="0" u="none">
                <a:solidFill>
                  <a:srgbClr val="000000"/>
                </a:solidFill>
                <a:latin typeface="Times New Roman"/>
                <a:ea typeface="Times New Roman"/>
                <a:cs typeface="Times New Roman"/>
              </a:rPr>
              <a:t>, the shell uses the executables from the virtual environment instead of the system-wide Python installation.</a:t>
            </a:r>
            <a:endParaRPr/>
          </a:p>
          <a:p>
            <a:pPr>
              <a:defRPr/>
            </a:pPr>
            <a:r>
              <a:rPr sz="1200" b="0" i="0" u="none">
                <a:solidFill>
                  <a:srgbClr val="000000"/>
                </a:solidFill>
                <a:latin typeface="Times New Roman"/>
                <a:ea typeface="Times New Roman"/>
                <a:cs typeface="Times New Roman"/>
              </a:rPr>
              <a:t>This is a critical concept. After activation, any package you install with </a:t>
            </a:r>
            <a:r>
              <a:rPr sz="1000" b="0" i="0" u="none">
                <a:solidFill>
                  <a:srgbClr val="000000"/>
                </a:solidFill>
                <a:latin typeface="Courier New"/>
                <a:ea typeface="Courier New"/>
                <a:cs typeface="Courier New"/>
              </a:rPr>
              <a:t>pip</a:t>
            </a:r>
            <a:r>
              <a:rPr sz="1200" b="0" i="0" u="none">
                <a:solidFill>
                  <a:srgbClr val="000000"/>
                </a:solidFill>
                <a:latin typeface="Times New Roman"/>
                <a:ea typeface="Times New Roman"/>
                <a:cs typeface="Times New Roman"/>
              </a:rPr>
              <a:t> will go into the local project environment. That means your project becomes self-contained and more reproducible. If another developer clones your project, they can recreate the same environment without affecting their whole system.</a:t>
            </a:r>
            <a:endParaRPr/>
          </a:p>
          <a:p>
            <a:pPr>
              <a:defRPr/>
            </a:pPr>
            <a:endParaRPr/>
          </a:p>
          <a:p>
            <a:pPr>
              <a:defRPr/>
            </a:pPr>
            <a:r>
              <a:rPr sz="1200" b="0" i="0" u="none">
                <a:solidFill>
                  <a:srgbClr val="000000"/>
                </a:solidFill>
                <a:latin typeface="Times New Roman"/>
                <a:ea typeface="Times New Roman"/>
                <a:cs typeface="Times New Roman"/>
              </a:rPr>
              <a:t>The next command is: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python </a:t>
            </a:r>
            <a:r>
              <a:rPr sz="1000" b="0" i="0" u="none">
                <a:solidFill>
                  <a:srgbClr val="000000"/>
                </a:solidFill>
                <a:latin typeface="Courier New"/>
                <a:ea typeface="Courier New"/>
                <a:cs typeface="Courier New"/>
              </a:rPr>
              <a:t>-m</a:t>
            </a:r>
            <a:r>
              <a:rPr sz="1000" b="0" i="0" u="none">
                <a:solidFill>
                  <a:srgbClr val="000000"/>
                </a:solidFill>
                <a:latin typeface="Courier New"/>
                <a:ea typeface="Courier New"/>
                <a:cs typeface="Courier New"/>
              </a:rPr>
              <a:t> pip install </a:t>
            </a:r>
            <a:r>
              <a:rPr sz="1000" b="0" i="0" u="none">
                <a:solidFill>
                  <a:srgbClr val="000000"/>
                </a:solidFill>
                <a:latin typeface="Courier New"/>
                <a:ea typeface="Courier New"/>
                <a:cs typeface="Courier New"/>
              </a:rPr>
              <a:t>--upgrade</a:t>
            </a:r>
            <a:r>
              <a:rPr sz="1000" b="0" i="0" u="none">
                <a:solidFill>
                  <a:srgbClr val="000000"/>
                </a:solidFill>
                <a:latin typeface="Courier New"/>
                <a:ea typeface="Courier New"/>
                <a:cs typeface="Courier New"/>
              </a:rPr>
              <a:t> pip</a:t>
            </a:r>
            <a:endParaRPr/>
          </a:p>
          <a:p>
            <a:pPr>
              <a:defRPr/>
            </a:pPr>
            <a:r>
              <a:rPr sz="1200" b="0" i="0" u="none">
                <a:solidFill>
                  <a:srgbClr val="000000"/>
                </a:solidFill>
                <a:latin typeface="Times New Roman"/>
                <a:ea typeface="Times New Roman"/>
                <a:cs typeface="Times New Roman"/>
              </a:rPr>
              <a:t>This command upgrades </a:t>
            </a:r>
            <a:r>
              <a:rPr sz="1000" b="0" i="0" u="none">
                <a:solidFill>
                  <a:srgbClr val="000000"/>
                </a:solidFill>
                <a:latin typeface="Courier New"/>
                <a:ea typeface="Courier New"/>
                <a:cs typeface="Courier New"/>
              </a:rPr>
              <a:t>pip</a:t>
            </a:r>
            <a:r>
              <a:rPr sz="1200" b="0" i="0" u="none">
                <a:solidFill>
                  <a:srgbClr val="000000"/>
                </a:solidFill>
                <a:latin typeface="Times New Roman"/>
                <a:ea typeface="Times New Roman"/>
                <a:cs typeface="Times New Roman"/>
              </a:rPr>
              <a:t>, which is Python’s package installer. Again, </a:t>
            </a:r>
            <a:r>
              <a:rPr sz="1000" b="0" i="0" u="none">
                <a:solidFill>
                  <a:srgbClr val="000000"/>
                </a:solidFill>
                <a:latin typeface="Courier New"/>
                <a:ea typeface="Courier New"/>
                <a:cs typeface="Courier New"/>
              </a:rPr>
              <a:t>python -m pip</a:t>
            </a:r>
            <a:r>
              <a:rPr sz="1200" b="0" i="0" u="none">
                <a:solidFill>
                  <a:srgbClr val="000000"/>
                </a:solidFill>
                <a:latin typeface="Times New Roman"/>
                <a:ea typeface="Times New Roman"/>
                <a:cs typeface="Times New Roman"/>
              </a:rPr>
              <a:t> is used instead of just </a:t>
            </a:r>
            <a:r>
              <a:rPr sz="1000" b="0" i="0" u="none">
                <a:solidFill>
                  <a:srgbClr val="000000"/>
                </a:solidFill>
                <a:latin typeface="Courier New"/>
                <a:ea typeface="Courier New"/>
                <a:cs typeface="Courier New"/>
              </a:rPr>
              <a:t>pip</a:t>
            </a:r>
            <a:r>
              <a:rPr sz="1200" b="0" i="0" u="none">
                <a:solidFill>
                  <a:srgbClr val="000000"/>
                </a:solidFill>
                <a:latin typeface="Times New Roman"/>
                <a:ea typeface="Times New Roman"/>
                <a:cs typeface="Times New Roman"/>
              </a:rPr>
              <a:t> because it guarantees that the </a:t>
            </a:r>
            <a:r>
              <a:rPr sz="1000" b="0" i="0" u="none">
                <a:solidFill>
                  <a:srgbClr val="000000"/>
                </a:solidFill>
                <a:latin typeface="Courier New"/>
                <a:ea typeface="Courier New"/>
                <a:cs typeface="Courier New"/>
              </a:rPr>
              <a:t>pip</a:t>
            </a:r>
            <a:r>
              <a:rPr sz="1200" b="0" i="0" u="none">
                <a:solidFill>
                  <a:srgbClr val="000000"/>
                </a:solidFill>
                <a:latin typeface="Times New Roman"/>
                <a:ea typeface="Times New Roman"/>
                <a:cs typeface="Times New Roman"/>
              </a:rPr>
              <a:t> associated with the currently active Python interpreter is used. This is safer and more explicit. The option </a:t>
            </a:r>
            <a:r>
              <a:rPr sz="1000" b="0" i="0" u="none">
                <a:solidFill>
                  <a:srgbClr val="000000"/>
                </a:solidFill>
                <a:latin typeface="Courier New"/>
                <a:ea typeface="Courier New"/>
                <a:cs typeface="Courier New"/>
              </a:rPr>
              <a:t>install --upgrade pip</a:t>
            </a:r>
            <a:r>
              <a:rPr sz="1200" b="0" i="0" u="none">
                <a:solidFill>
                  <a:srgbClr val="000000"/>
                </a:solidFill>
                <a:latin typeface="Times New Roman"/>
                <a:ea typeface="Times New Roman"/>
                <a:cs typeface="Times New Roman"/>
              </a:rPr>
              <a:t> tells pip to upgrade itself to the latest available version.</a:t>
            </a:r>
            <a:endParaRPr/>
          </a:p>
          <a:p>
            <a:pPr>
              <a:defRPr/>
            </a:pPr>
            <a:r>
              <a:rPr sz="1200" b="0" i="0" u="none">
                <a:solidFill>
                  <a:srgbClr val="000000"/>
                </a:solidFill>
                <a:latin typeface="Times New Roman"/>
                <a:ea typeface="Times New Roman"/>
                <a:cs typeface="Times New Roman"/>
              </a:rPr>
              <a:t>This step matters because an outdated package manager can fail to install modern packages correctly or may produce dependency resolution problems. Keeping pip current reduces friction during setup.</a:t>
            </a:r>
            <a:endParaRPr/>
          </a:p>
        </p:txBody>
      </p:sp>
      <p:sp>
        <p:nvSpPr>
          <p:cNvPr id="2048730138" name="Slide Number Placeholder 3"/>
          <p:cNvSpPr>
            <a:spLocks noGrp="1"/>
          </p:cNvSpPr>
          <p:nvPr>
            <p:ph type="sldNum" sz="quarter" idx="10"/>
          </p:nvPr>
        </p:nvSpPr>
        <p:spPr bwMode="auto"/>
        <p:txBody>
          <a:bodyPr/>
          <a:lstStyle/>
          <a:p>
            <a:pPr>
              <a:defRPr/>
            </a:pPr>
            <a:fld id="{8E23F4C1-7827-AD7A-12BD-E1FE8C67A5A5}"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105783" name="Slide Image Placeholder 1"/>
          <p:cNvSpPr>
            <a:spLocks noChangeAspect="1" noGrp="1" noRot="1"/>
          </p:cNvSpPr>
          <p:nvPr>
            <p:ph type="sldImg"/>
          </p:nvPr>
        </p:nvSpPr>
        <p:spPr bwMode="auto"/>
      </p:sp>
      <p:sp>
        <p:nvSpPr>
          <p:cNvPr id="731440233"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3. Install Dependencies</a:t>
            </a:r>
            <a:endParaRPr/>
          </a:p>
          <a:p>
            <a:pPr>
              <a:defRPr/>
            </a:pPr>
            <a:r>
              <a:rPr sz="1200" b="0" i="0" u="none">
                <a:solidFill>
                  <a:srgbClr val="000000"/>
                </a:solidFill>
                <a:latin typeface="Times New Roman"/>
                <a:ea typeface="Times New Roman"/>
                <a:cs typeface="Times New Roman"/>
              </a:rPr>
              <a:t>The main installation command is:</a:t>
            </a:r>
            <a:endParaRPr/>
          </a:p>
          <a:p>
            <a:pPr>
              <a:defRPr/>
            </a:pPr>
            <a:r>
              <a:rPr sz="1000" b="0" i="0" u="none">
                <a:solidFill>
                  <a:srgbClr val="000000"/>
                </a:solidFill>
                <a:latin typeface="Courier New"/>
                <a:ea typeface="Courier New"/>
                <a:cs typeface="Courier New"/>
              </a:rPr>
              <a:t>pip install fastapi uvicorn motor pydantic</a:t>
            </a:r>
            <a:endParaRPr/>
          </a:p>
          <a:p>
            <a:pPr>
              <a:defRPr/>
            </a:pPr>
            <a:r>
              <a:rPr sz="1200" b="0" i="0" u="none">
                <a:solidFill>
                  <a:srgbClr val="000000"/>
                </a:solidFill>
                <a:latin typeface="Times New Roman"/>
                <a:ea typeface="Times New Roman"/>
                <a:cs typeface="Times New Roman"/>
              </a:rPr>
              <a:t>This command installs the four core Python packages needed for the lab.</a:t>
            </a:r>
            <a:endParaRPr/>
          </a:p>
          <a:p>
            <a:pPr>
              <a:defRPr/>
            </a:pPr>
            <a:r>
              <a:rPr sz="1200" b="1" i="0" u="none">
                <a:solidFill>
                  <a:srgbClr val="000000"/>
                </a:solidFill>
                <a:latin typeface="Times New Roman"/>
                <a:ea typeface="Times New Roman"/>
                <a:cs typeface="Times New Roman"/>
              </a:rPr>
              <a:t>FastAPI</a:t>
            </a:r>
            <a:r>
              <a:rPr sz="1200" b="0" i="0" u="none">
                <a:solidFill>
                  <a:srgbClr val="000000"/>
                </a:solidFill>
                <a:latin typeface="Times New Roman"/>
                <a:ea typeface="Times New Roman"/>
                <a:cs typeface="Times New Roman"/>
              </a:rPr>
              <a:t> is the web framework. It is responsible for defining routes such as </a:t>
            </a:r>
            <a:r>
              <a:rPr sz="1000" b="0" i="0" u="none">
                <a:solidFill>
                  <a:srgbClr val="000000"/>
                </a:solidFill>
                <a:latin typeface="Courier New"/>
                <a:ea typeface="Courier New"/>
                <a:cs typeface="Courier New"/>
              </a:rPr>
              <a:t>POST /students/</a:t>
            </a:r>
            <a:r>
              <a:rPr sz="1200" b="0" i="0" u="none">
                <a:solidFill>
                  <a:srgbClr val="000000"/>
                </a:solidFill>
                <a:latin typeface="Times New Roman"/>
                <a:ea typeface="Times New Roman"/>
                <a:cs typeface="Times New Roman"/>
              </a:rPr>
              <a:t> or </a:t>
            </a:r>
            <a:r>
              <a:rPr sz="1000" b="0" i="0" u="none">
                <a:solidFill>
                  <a:srgbClr val="000000"/>
                </a:solidFill>
                <a:latin typeface="Courier New"/>
                <a:ea typeface="Courier New"/>
                <a:cs typeface="Courier New"/>
              </a:rPr>
              <a:t>GET /students/{student_id}</a:t>
            </a:r>
            <a:r>
              <a:rPr sz="1200" b="0" i="0" u="none">
                <a:solidFill>
                  <a:srgbClr val="000000"/>
                </a:solidFill>
                <a:latin typeface="Times New Roman"/>
                <a:ea typeface="Times New Roman"/>
                <a:cs typeface="Times New Roman"/>
              </a:rPr>
              <a:t>. It receives HTTP requests, validates input, calls Python functions, and sends responses back to the client. In other words, FastAPI is the main application framework.</a:t>
            </a:r>
            <a:endParaRPr/>
          </a:p>
          <a:p>
            <a:pPr>
              <a:defRPr/>
            </a:pPr>
            <a:endParaRPr/>
          </a:p>
          <a:p>
            <a:pPr>
              <a:defRPr/>
            </a:pPr>
            <a:r>
              <a:rPr sz="1200" b="1" i="0" u="none">
                <a:solidFill>
                  <a:srgbClr val="000000"/>
                </a:solidFill>
                <a:latin typeface="Times New Roman"/>
                <a:ea typeface="Times New Roman"/>
                <a:cs typeface="Times New Roman"/>
              </a:rPr>
              <a:t>Uvicorn</a:t>
            </a:r>
            <a:r>
              <a:rPr sz="1200" b="0" i="0" u="none">
                <a:solidFill>
                  <a:srgbClr val="000000"/>
                </a:solidFill>
                <a:latin typeface="Times New Roman"/>
                <a:ea typeface="Times New Roman"/>
                <a:cs typeface="Times New Roman"/>
              </a:rPr>
              <a:t> is the ASGI server. FastAPI does not run by itself; it needs a server process that listens on a network port and handles incoming web traffic. Uvicorn is that server. It serves the FastAPI application and manages HTTP communication.</a:t>
            </a:r>
            <a:endParaRPr sz="1200" b="0" i="0" u="none">
              <a:solidFill>
                <a:srgbClr val="000000"/>
              </a:solidFill>
              <a:latin typeface="Times New Roman"/>
              <a:ea typeface="Times New Roman"/>
              <a:cs typeface="Times New Roman"/>
            </a:endParaRPr>
          </a:p>
          <a:p>
            <a:pPr>
              <a:defRPr/>
            </a:pPr>
            <a:endParaRPr/>
          </a:p>
          <a:p>
            <a:pPr>
              <a:defRPr/>
            </a:pPr>
            <a:r>
              <a:rPr sz="1200" b="1" i="0" u="none">
                <a:solidFill>
                  <a:srgbClr val="000000"/>
                </a:solidFill>
                <a:latin typeface="Times New Roman"/>
                <a:ea typeface="Times New Roman"/>
                <a:cs typeface="Times New Roman"/>
              </a:rPr>
              <a:t>Motor</a:t>
            </a:r>
            <a:r>
              <a:rPr sz="1200" b="0" i="0" u="none">
                <a:solidFill>
                  <a:srgbClr val="000000"/>
                </a:solidFill>
                <a:latin typeface="Times New Roman"/>
                <a:ea typeface="Times New Roman"/>
                <a:cs typeface="Times New Roman"/>
              </a:rPr>
              <a:t> is the asynchronous MongoDB driver. It allows Python code to connect to MongoDB and perform database operations such as insert, find, and delete. The key idea is that Motor is async, meaning it supports non-blocking operations. This makes the API more scalable because the server can continue handling other requests while waiting for the database.</a:t>
            </a:r>
            <a:endParaRPr sz="1200" b="0" i="0" u="none">
              <a:solidFill>
                <a:srgbClr val="000000"/>
              </a:solidFill>
              <a:latin typeface="Times New Roman"/>
              <a:ea typeface="Times New Roman"/>
              <a:cs typeface="Times New Roman"/>
            </a:endParaRPr>
          </a:p>
          <a:p>
            <a:pPr>
              <a:defRPr/>
            </a:pPr>
            <a:endParaRPr/>
          </a:p>
          <a:p>
            <a:pPr>
              <a:defRPr/>
            </a:pPr>
            <a:r>
              <a:rPr sz="1200" b="1" i="0" u="none">
                <a:solidFill>
                  <a:srgbClr val="000000"/>
                </a:solidFill>
                <a:latin typeface="Times New Roman"/>
                <a:ea typeface="Times New Roman"/>
                <a:cs typeface="Times New Roman"/>
              </a:rPr>
              <a:t>Pydantic</a:t>
            </a:r>
            <a:r>
              <a:rPr sz="1200" b="0" i="0" u="none">
                <a:solidFill>
                  <a:srgbClr val="000000"/>
                </a:solidFill>
                <a:latin typeface="Times New Roman"/>
                <a:ea typeface="Times New Roman"/>
                <a:cs typeface="Times New Roman"/>
              </a:rPr>
              <a:t> is the data validation library. It allows you to define models such as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with typed fields. When a client sends JSON data, Pydantic checks whether that data has the correct structure and types. If the data is invalid, FastAPI automatically rejects it before it reaches your business logic.</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The next command is: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uvicorn </a:t>
            </a:r>
            <a:r>
              <a:rPr sz="1000" b="0" i="0" u="none">
                <a:solidFill>
                  <a:srgbClr val="000000"/>
                </a:solidFill>
                <a:latin typeface="Courier New"/>
                <a:ea typeface="Courier New"/>
                <a:cs typeface="Courier New"/>
              </a:rPr>
              <a:t>--version</a:t>
            </a:r>
            <a:endParaRPr/>
          </a:p>
          <a:p>
            <a:pPr>
              <a:defRPr/>
            </a:pPr>
            <a:r>
              <a:rPr sz="1200" b="0" i="0" u="none">
                <a:solidFill>
                  <a:srgbClr val="000000"/>
                </a:solidFill>
                <a:latin typeface="Times New Roman"/>
                <a:ea typeface="Times New Roman"/>
                <a:cs typeface="Times New Roman"/>
              </a:rPr>
              <a:t>This command checks whether Uvicorn was installed successfully and whether it is accessible from the current environment. It prints the installed version. This is a simple verification step. If the command fails, it usually means the environment is not activated correctly or the package installation did not work.</a:t>
            </a:r>
            <a:endParaRPr/>
          </a:p>
        </p:txBody>
      </p:sp>
      <p:sp>
        <p:nvSpPr>
          <p:cNvPr id="1711188589" name="Slide Number Placeholder 3"/>
          <p:cNvSpPr>
            <a:spLocks noGrp="1"/>
          </p:cNvSpPr>
          <p:nvPr>
            <p:ph type="sldNum" sz="quarter" idx="10"/>
          </p:nvPr>
        </p:nvSpPr>
        <p:spPr bwMode="auto"/>
        <p:txBody>
          <a:bodyPr/>
          <a:lstStyle/>
          <a:p>
            <a:pPr>
              <a:defRPr/>
            </a:pPr>
            <a:fld id="{0A69CB3D-DDA5-6565-918B-73EA1C7497F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6096688" name="Slide Image Placeholder 1"/>
          <p:cNvSpPr>
            <a:spLocks noChangeAspect="1" noGrp="1" noRot="1"/>
          </p:cNvSpPr>
          <p:nvPr>
            <p:ph type="sldImg"/>
          </p:nvPr>
        </p:nvSpPr>
        <p:spPr bwMode="auto"/>
      </p:sp>
      <p:sp>
        <p:nvSpPr>
          <p:cNvPr id="876603054"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4. Docker Compose File</a:t>
            </a:r>
            <a:endParaRPr/>
          </a:p>
          <a:p>
            <a:pPr>
              <a:defRPr/>
            </a:pPr>
            <a:r>
              <a:rPr sz="1200" b="0" i="0" u="none">
                <a:solidFill>
                  <a:srgbClr val="000000"/>
                </a:solidFill>
                <a:latin typeface="Times New Roman"/>
                <a:ea typeface="Times New Roman"/>
                <a:cs typeface="Times New Roman"/>
              </a:rPr>
              <a:t>You create the Docker configuration file using:</a:t>
            </a:r>
            <a:endParaRPr/>
          </a:p>
          <a:p>
            <a:pPr>
              <a:defRPr/>
            </a:pPr>
            <a:r>
              <a:rPr sz="1000" b="0" i="0" u="none">
                <a:solidFill>
                  <a:srgbClr val="000000"/>
                </a:solidFill>
                <a:latin typeface="Courier New"/>
                <a:ea typeface="Courier New"/>
                <a:cs typeface="Courier New"/>
              </a:rPr>
              <a:t>nano docker-compose.yml</a:t>
            </a:r>
            <a:endParaRPr/>
          </a:p>
          <a:p>
            <a:pPr>
              <a:defRPr/>
            </a:pPr>
            <a:endParaRPr/>
          </a:p>
          <a:p>
            <a:pPr>
              <a:defRPr/>
            </a:pPr>
            <a:r>
              <a:rPr sz="1200" b="0" i="0" u="none">
                <a:solidFill>
                  <a:srgbClr val="000000"/>
                </a:solidFill>
                <a:latin typeface="Times New Roman"/>
                <a:ea typeface="Times New Roman"/>
                <a:cs typeface="Times New Roman"/>
              </a:rPr>
              <a:t>This opens the text editor </a:t>
            </a:r>
            <a:r>
              <a:rPr sz="1000" b="0" i="0" u="none">
                <a:solidFill>
                  <a:srgbClr val="000000"/>
                </a:solidFill>
                <a:latin typeface="Courier New"/>
                <a:ea typeface="Courier New"/>
                <a:cs typeface="Courier New"/>
              </a:rPr>
              <a:t>nano</a:t>
            </a:r>
            <a:r>
              <a:rPr sz="1200" b="0" i="0" u="none">
                <a:solidFill>
                  <a:srgbClr val="000000"/>
                </a:solidFill>
                <a:latin typeface="Times New Roman"/>
                <a:ea typeface="Times New Roman"/>
                <a:cs typeface="Times New Roman"/>
              </a:rPr>
              <a:t> and creates or edits the file </a:t>
            </a:r>
            <a:r>
              <a:rPr sz="1000" b="0" i="0" u="none">
                <a:solidFill>
                  <a:srgbClr val="000000"/>
                </a:solidFill>
                <a:latin typeface="Courier New"/>
                <a:ea typeface="Courier New"/>
                <a:cs typeface="Courier New"/>
              </a:rPr>
              <a:t>docker-compose.yml</a:t>
            </a:r>
            <a:r>
              <a:rPr sz="1200" b="0" i="0" u="none">
                <a:solidFill>
                  <a:srgbClr val="000000"/>
                </a:solidFill>
                <a:latin typeface="Times New Roman"/>
                <a:ea typeface="Times New Roman"/>
                <a:cs typeface="Times New Roman"/>
              </a:rPr>
              <a:t>. This file describes services that Docker should run. In this project, the service is MongoDB.</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The file content is: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version: </a:t>
            </a:r>
            <a:r>
              <a:rPr sz="1000" b="0" i="0" u="none">
                <a:solidFill>
                  <a:srgbClr val="000000"/>
                </a:solidFill>
                <a:latin typeface="Courier New"/>
                <a:ea typeface="Courier New"/>
                <a:cs typeface="Courier New"/>
              </a:rPr>
              <a:t>'3.8'</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services: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mongo:</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image: mongo</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ports:</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 </a:t>
            </a:r>
            <a:r>
              <a:rPr sz="1000" b="0" i="0" u="none">
                <a:solidFill>
                  <a:srgbClr val="000000"/>
                </a:solidFill>
                <a:latin typeface="Courier New"/>
                <a:ea typeface="Courier New"/>
                <a:cs typeface="Courier New"/>
              </a:rPr>
              <a:t>'27017:27017'</a:t>
            </a:r>
            <a:endParaRPr/>
          </a:p>
          <a:p>
            <a:pPr>
              <a:defRPr/>
            </a:pPr>
            <a:r>
              <a:rPr sz="1200" b="0" i="0" u="none">
                <a:solidFill>
                  <a:srgbClr val="000000"/>
                </a:solidFill>
                <a:latin typeface="Times New Roman"/>
                <a:ea typeface="Times New Roman"/>
                <a:cs typeface="Times New Roman"/>
              </a:rPr>
              <a:t>Now let us explain each line.</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version: </a:t>
            </a:r>
            <a:r>
              <a:rPr sz="1000" b="0" i="0" u="none">
                <a:solidFill>
                  <a:srgbClr val="000000"/>
                </a:solidFill>
                <a:latin typeface="Courier New"/>
                <a:ea typeface="Courier New"/>
                <a:cs typeface="Courier New"/>
              </a:rPr>
              <a:t>'3.8'</a:t>
            </a:r>
            <a:endParaRPr/>
          </a:p>
          <a:p>
            <a:pPr>
              <a:defRPr/>
            </a:pPr>
            <a:r>
              <a:rPr sz="1200" b="0" i="0" u="none">
                <a:solidFill>
                  <a:srgbClr val="000000"/>
                </a:solidFill>
                <a:latin typeface="Times New Roman"/>
                <a:ea typeface="Times New Roman"/>
                <a:cs typeface="Times New Roman"/>
              </a:rPr>
              <a:t>specifies the Docker Compose file format version. It tells Docker Compose which syntax rules and features to expect. It does not mean MongoDB version or Docker Engine version; it refers only to the configuration schema.</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services:</a:t>
            </a:r>
            <a:endParaRPr/>
          </a:p>
          <a:p>
            <a:pPr>
              <a:defRPr/>
            </a:pPr>
            <a:r>
              <a:rPr sz="1200" b="0" i="0" u="none">
                <a:solidFill>
                  <a:srgbClr val="000000"/>
                </a:solidFill>
                <a:latin typeface="Times New Roman"/>
                <a:ea typeface="Times New Roman"/>
                <a:cs typeface="Times New Roman"/>
              </a:rPr>
              <a:t>starts the section where you define the containers that should be managed. A “service” in Docker Compose is essentially a named container configuration.</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mongo:</a:t>
            </a:r>
            <a:endParaRPr/>
          </a:p>
          <a:p>
            <a:pPr>
              <a:defRPr/>
            </a:pPr>
            <a:r>
              <a:rPr sz="1200" b="0" i="0" u="none">
                <a:solidFill>
                  <a:srgbClr val="000000"/>
                </a:solidFill>
                <a:latin typeface="Times New Roman"/>
                <a:ea typeface="Times New Roman"/>
                <a:cs typeface="Times New Roman"/>
              </a:rPr>
              <a:t>defines a service named </a:t>
            </a:r>
            <a:r>
              <a:rPr sz="1000" b="0" i="0" u="none">
                <a:solidFill>
                  <a:srgbClr val="000000"/>
                </a:solidFill>
                <a:latin typeface="Courier New"/>
                <a:ea typeface="Courier New"/>
                <a:cs typeface="Courier New"/>
              </a:rPr>
              <a:t>mongo</a:t>
            </a:r>
            <a:r>
              <a:rPr sz="1200" b="0" i="0" u="none">
                <a:solidFill>
                  <a:srgbClr val="000000"/>
                </a:solidFill>
                <a:latin typeface="Times New Roman"/>
                <a:ea typeface="Times New Roman"/>
                <a:cs typeface="Times New Roman"/>
              </a:rPr>
              <a:t>. This is just the service name inside the Docker Compose file. Later, Docker Compose will use this name to create and manage the MongoDB container.</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image: mongo</a:t>
            </a:r>
            <a:endParaRPr/>
          </a:p>
          <a:p>
            <a:pPr>
              <a:defRPr/>
            </a:pPr>
            <a:r>
              <a:rPr sz="1200" b="0" i="0" u="none">
                <a:solidFill>
                  <a:srgbClr val="000000"/>
                </a:solidFill>
                <a:latin typeface="Times New Roman"/>
                <a:ea typeface="Times New Roman"/>
                <a:cs typeface="Times New Roman"/>
              </a:rPr>
              <a:t>tells Docker to use the official MongoDB image from Docker Hub. If the image is not already available on the machine, Docker will download it automatically. This is powerful because it means you do not have to install MongoDB manually on Linux. Docker gives you a clean and reproducible environment.</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ports:</a:t>
            </a:r>
            <a:endParaRPr/>
          </a:p>
          <a:p>
            <a:pPr>
              <a:defRPr/>
            </a:pPr>
            <a:r>
              <a:rPr sz="1200" b="0" i="0" u="none">
                <a:solidFill>
                  <a:srgbClr val="000000"/>
                </a:solidFill>
                <a:latin typeface="Times New Roman"/>
                <a:ea typeface="Times New Roman"/>
                <a:cs typeface="Times New Roman"/>
              </a:rPr>
              <a:t>starts the port mapping section.</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'27017:27017'</a:t>
            </a:r>
            <a:endParaRPr/>
          </a:p>
          <a:p>
            <a:pPr>
              <a:defRPr/>
            </a:pPr>
            <a:r>
              <a:rPr sz="1200" b="0" i="0" u="none">
                <a:solidFill>
                  <a:srgbClr val="000000"/>
                </a:solidFill>
                <a:latin typeface="Times New Roman"/>
                <a:ea typeface="Times New Roman"/>
                <a:cs typeface="Times New Roman"/>
              </a:rPr>
              <a:t>maps port </a:t>
            </a:r>
            <a:r>
              <a:rPr sz="1000" b="0" i="0" u="none">
                <a:solidFill>
                  <a:srgbClr val="000000"/>
                </a:solidFill>
                <a:latin typeface="Courier New"/>
                <a:ea typeface="Courier New"/>
                <a:cs typeface="Courier New"/>
              </a:rPr>
              <a:t>27017</a:t>
            </a:r>
            <a:r>
              <a:rPr sz="1200" b="0" i="0" u="none">
                <a:solidFill>
                  <a:srgbClr val="000000"/>
                </a:solidFill>
                <a:latin typeface="Times New Roman"/>
                <a:ea typeface="Times New Roman"/>
                <a:cs typeface="Times New Roman"/>
              </a:rPr>
              <a:t> on the host machine to port </a:t>
            </a:r>
            <a:r>
              <a:rPr sz="1000" b="0" i="0" u="none">
                <a:solidFill>
                  <a:srgbClr val="000000"/>
                </a:solidFill>
                <a:latin typeface="Courier New"/>
                <a:ea typeface="Courier New"/>
                <a:cs typeface="Courier New"/>
              </a:rPr>
              <a:t>27017</a:t>
            </a:r>
            <a:r>
              <a:rPr sz="1200" b="0" i="0" u="none">
                <a:solidFill>
                  <a:srgbClr val="000000"/>
                </a:solidFill>
                <a:latin typeface="Times New Roman"/>
                <a:ea typeface="Times New Roman"/>
                <a:cs typeface="Times New Roman"/>
              </a:rPr>
              <a:t> inside the container. MongoDB listens on port 27017 by default. This mapping allows your FastAPI application, which runs on your Linux host, to connect to MongoDB through </a:t>
            </a:r>
            <a:r>
              <a:rPr sz="1000" b="0" i="0" u="none">
                <a:solidFill>
                  <a:srgbClr val="000000"/>
                </a:solidFill>
                <a:latin typeface="Courier New"/>
                <a:ea typeface="Courier New"/>
                <a:cs typeface="Courier New"/>
              </a:rPr>
              <a:t>localhost:27017</a:t>
            </a:r>
            <a:r>
              <a:rPr sz="1200" b="0" i="0" u="none">
                <a:solidFill>
                  <a:srgbClr val="000000"/>
                </a:solidFill>
                <a:latin typeface="Times New Roman"/>
                <a:ea typeface="Times New Roman"/>
                <a:cs typeface="Times New Roman"/>
              </a:rPr>
              <a:t>. Without this line, MongoDB would still run inside the container, but it would not be reachable from outside the container.</a:t>
            </a:r>
            <a:endParaRPr/>
          </a:p>
          <a:p>
            <a:pPr>
              <a:defRPr/>
            </a:pPr>
            <a:r>
              <a:rPr sz="1200" b="0" i="0" u="none">
                <a:solidFill>
                  <a:srgbClr val="000000"/>
                </a:solidFill>
                <a:latin typeface="Times New Roman"/>
                <a:ea typeface="Times New Roman"/>
                <a:cs typeface="Times New Roman"/>
              </a:rPr>
              <a:t>This whole file is important because it defines the database infrastructure as code. Instead of installing and configuring MongoDB manually, you describe the service declaratively, and Docker handles the rest.</a:t>
            </a:r>
            <a:endParaRPr/>
          </a:p>
        </p:txBody>
      </p:sp>
      <p:sp>
        <p:nvSpPr>
          <p:cNvPr id="548925342" name="Slide Number Placeholder 3"/>
          <p:cNvSpPr>
            <a:spLocks noGrp="1"/>
          </p:cNvSpPr>
          <p:nvPr>
            <p:ph type="sldNum" sz="quarter" idx="10"/>
          </p:nvPr>
        </p:nvSpPr>
        <p:spPr bwMode="auto"/>
        <p:txBody>
          <a:bodyPr/>
          <a:lstStyle/>
          <a:p>
            <a:pPr>
              <a:defRPr/>
            </a:pPr>
            <a:fld id="{FACB95B0-189E-077D-DA87-57B36EDDAFFC}"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164833" name="Slide Image Placeholder 1"/>
          <p:cNvSpPr>
            <a:spLocks noChangeAspect="1" noGrp="1" noRot="1"/>
          </p:cNvSpPr>
          <p:nvPr>
            <p:ph type="sldImg"/>
          </p:nvPr>
        </p:nvSpPr>
        <p:spPr bwMode="auto"/>
      </p:sp>
      <p:sp>
        <p:nvSpPr>
          <p:cNvPr id="343737566"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5. Run MongoDB</a:t>
            </a:r>
            <a:endParaRPr/>
          </a:p>
          <a:p>
            <a:pPr>
              <a:defRPr/>
            </a:pPr>
            <a:r>
              <a:rPr sz="1200" b="0" i="0" u="none">
                <a:solidFill>
                  <a:srgbClr val="000000"/>
                </a:solidFill>
                <a:latin typeface="Times New Roman"/>
                <a:ea typeface="Times New Roman"/>
                <a:cs typeface="Times New Roman"/>
              </a:rPr>
              <a:t>The command to start the database is:</a:t>
            </a:r>
            <a:endParaRPr/>
          </a:p>
          <a:p>
            <a:pPr>
              <a:defRPr/>
            </a:pPr>
            <a:r>
              <a:rPr sz="1000" b="0" i="0" u="none">
                <a:solidFill>
                  <a:srgbClr val="000000"/>
                </a:solidFill>
                <a:latin typeface="Courier New"/>
                <a:ea typeface="Courier New"/>
                <a:cs typeface="Courier New"/>
              </a:rPr>
              <a:t>docker compose up </a:t>
            </a:r>
            <a:r>
              <a:rPr sz="1000" b="0" i="0" u="none">
                <a:solidFill>
                  <a:srgbClr val="000000"/>
                </a:solidFill>
                <a:latin typeface="Courier New"/>
                <a:ea typeface="Courier New"/>
                <a:cs typeface="Courier New"/>
              </a:rPr>
              <a:t>-d</a:t>
            </a:r>
            <a:endParaRPr/>
          </a:p>
          <a:p>
            <a:pPr>
              <a:defRPr/>
            </a:pPr>
            <a:endParaRPr/>
          </a:p>
          <a:p>
            <a:pPr>
              <a:defRPr/>
            </a:pPr>
            <a:r>
              <a:rPr sz="1200" b="0" i="0" u="none">
                <a:solidFill>
                  <a:srgbClr val="000000"/>
                </a:solidFill>
                <a:latin typeface="Times New Roman"/>
                <a:ea typeface="Times New Roman"/>
                <a:cs typeface="Times New Roman"/>
              </a:rPr>
              <a:t>This command tells Docker Compose to read the </a:t>
            </a:r>
            <a:r>
              <a:rPr sz="1000" b="0" i="0" u="none">
                <a:solidFill>
                  <a:srgbClr val="000000"/>
                </a:solidFill>
                <a:latin typeface="Courier New"/>
                <a:ea typeface="Courier New"/>
                <a:cs typeface="Courier New"/>
              </a:rPr>
              <a:t>docker-compose.yml</a:t>
            </a:r>
            <a:r>
              <a:rPr sz="1200" b="0" i="0" u="none">
                <a:solidFill>
                  <a:srgbClr val="000000"/>
                </a:solidFill>
                <a:latin typeface="Times New Roman"/>
                <a:ea typeface="Times New Roman"/>
                <a:cs typeface="Times New Roman"/>
              </a:rPr>
              <a:t> file and start the defined services. In this case, it starts the </a:t>
            </a:r>
            <a:r>
              <a:rPr sz="1000" b="0" i="0" u="none">
                <a:solidFill>
                  <a:srgbClr val="000000"/>
                </a:solidFill>
                <a:latin typeface="Courier New"/>
                <a:ea typeface="Courier New"/>
                <a:cs typeface="Courier New"/>
              </a:rPr>
              <a:t>mongo</a:t>
            </a:r>
            <a:r>
              <a:rPr sz="1200" b="0" i="0" u="none">
                <a:solidFill>
                  <a:srgbClr val="000000"/>
                </a:solidFill>
                <a:latin typeface="Times New Roman"/>
                <a:ea typeface="Times New Roman"/>
                <a:cs typeface="Times New Roman"/>
              </a:rPr>
              <a:t> service. If the MongoDB image is not already downloaded, Docker will fetch it first.</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The option </a:t>
            </a:r>
            <a:r>
              <a:rPr sz="1000" b="0" i="0" u="none">
                <a:solidFill>
                  <a:srgbClr val="000000"/>
                </a:solidFill>
                <a:latin typeface="Courier New"/>
                <a:ea typeface="Courier New"/>
                <a:cs typeface="Courier New"/>
              </a:rPr>
              <a:t>-d</a:t>
            </a:r>
            <a:r>
              <a:rPr sz="1200" b="0" i="0" u="none">
                <a:solidFill>
                  <a:srgbClr val="000000"/>
                </a:solidFill>
                <a:latin typeface="Times New Roman"/>
                <a:ea typeface="Times New Roman"/>
                <a:cs typeface="Times New Roman"/>
              </a:rPr>
              <a:t> means </a:t>
            </a:r>
            <a:r>
              <a:rPr sz="1200" b="1" i="0" u="none">
                <a:solidFill>
                  <a:srgbClr val="000000"/>
                </a:solidFill>
                <a:latin typeface="Times New Roman"/>
                <a:ea typeface="Times New Roman"/>
                <a:cs typeface="Times New Roman"/>
              </a:rPr>
              <a:t>detached mode</a:t>
            </a:r>
            <a:r>
              <a:rPr sz="1200" b="0" i="0" u="none">
                <a:solidFill>
                  <a:srgbClr val="000000"/>
                </a:solidFill>
                <a:latin typeface="Times New Roman"/>
                <a:ea typeface="Times New Roman"/>
                <a:cs typeface="Times New Roman"/>
              </a:rPr>
              <a:t>. That means the container runs in the background, and your terminal is freed immediately for other commands. This is useful because you want MongoDB running continuously while you continue working in the shell.</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The next command is: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docker </a:t>
            </a:r>
            <a:r>
              <a:rPr sz="1000" b="0" i="0" u="none">
                <a:solidFill>
                  <a:srgbClr val="000000"/>
                </a:solidFill>
                <a:latin typeface="Courier New"/>
                <a:ea typeface="Courier New"/>
                <a:cs typeface="Courier New"/>
              </a:rPr>
              <a:t>ps</a:t>
            </a:r>
            <a:endParaRPr/>
          </a:p>
          <a:p>
            <a:pPr>
              <a:defRPr/>
            </a:pPr>
            <a:r>
              <a:rPr sz="1200" b="0" i="0" u="none">
                <a:solidFill>
                  <a:srgbClr val="000000"/>
                </a:solidFill>
                <a:latin typeface="Times New Roman"/>
                <a:ea typeface="Times New Roman"/>
                <a:cs typeface="Times New Roman"/>
              </a:rPr>
              <a:t>This displays the list of currently running Docker containers. You use it to verify that the MongoDB container is actually running. If the container is listed and shows port mapping such as </a:t>
            </a:r>
            <a:r>
              <a:rPr sz="1000" b="0" i="0" u="none">
                <a:solidFill>
                  <a:srgbClr val="000000"/>
                </a:solidFill>
                <a:latin typeface="Courier New"/>
                <a:ea typeface="Courier New"/>
                <a:cs typeface="Courier New"/>
              </a:rPr>
              <a:t>0.0.0.0:27017-&gt;27017/tcp</a:t>
            </a:r>
            <a:r>
              <a:rPr sz="1200" b="0" i="0" u="none">
                <a:solidFill>
                  <a:srgbClr val="000000"/>
                </a:solidFill>
                <a:latin typeface="Times New Roman"/>
                <a:ea typeface="Times New Roman"/>
                <a:cs typeface="Times New Roman"/>
              </a:rPr>
              <a:t>, then MongoDB is available to the host system.</a:t>
            </a:r>
            <a:endParaRPr/>
          </a:p>
          <a:p>
            <a:pPr>
              <a:defRPr/>
            </a:pPr>
            <a:endParaRPr/>
          </a:p>
          <a:p>
            <a:pPr>
              <a:defRPr/>
            </a:pPr>
            <a:r>
              <a:rPr sz="1200" b="0" i="0" u="none">
                <a:solidFill>
                  <a:srgbClr val="000000"/>
                </a:solidFill>
                <a:latin typeface="Times New Roman"/>
                <a:ea typeface="Times New Roman"/>
                <a:cs typeface="Times New Roman"/>
              </a:rPr>
              <a:t>In practical terms, this step ensures that the database layer of your stack is alive before you start the FastAPI application. If MongoDB is not running, database operations from FastAPI will fail with connection errors.</a:t>
            </a:r>
            <a:endParaRPr sz="1200" b="0" i="0" u="none">
              <a:solidFill>
                <a:srgbClr val="000000"/>
              </a:solidFill>
              <a:latin typeface="Times New Roman"/>
              <a:ea typeface="Times New Roman"/>
              <a:cs typeface="Times New Roman"/>
            </a:endParaRPr>
          </a:p>
        </p:txBody>
      </p:sp>
      <p:sp>
        <p:nvSpPr>
          <p:cNvPr id="1408003447" name="Slide Number Placeholder 3"/>
          <p:cNvSpPr>
            <a:spLocks noGrp="1"/>
          </p:cNvSpPr>
          <p:nvPr>
            <p:ph type="sldNum" sz="quarter" idx="10"/>
          </p:nvPr>
        </p:nvSpPr>
        <p:spPr bwMode="auto"/>
        <p:txBody>
          <a:bodyPr/>
          <a:lstStyle/>
          <a:p>
            <a:pPr>
              <a:defRPr/>
            </a:pPr>
            <a:fld id="{B7B69AB4-9607-FFB3-1E5B-FEC8666FD35B}"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933555" name="Slide Image Placeholder 1"/>
          <p:cNvSpPr>
            <a:spLocks noChangeAspect="1" noGrp="1" noRot="1"/>
          </p:cNvSpPr>
          <p:nvPr>
            <p:ph type="sldImg"/>
          </p:nvPr>
        </p:nvSpPr>
        <p:spPr bwMode="auto"/>
      </p:sp>
      <p:sp>
        <p:nvSpPr>
          <p:cNvPr id="537655781" name="Notes Placeholder 2"/>
          <p:cNvSpPr>
            <a:spLocks noGrp="1"/>
          </p:cNvSpPr>
          <p:nvPr>
            <p:ph type="body" idx="1"/>
          </p:nvPr>
        </p:nvSpPr>
        <p:spPr bwMode="auto"/>
        <p:txBody>
          <a:bodyPr/>
          <a:lstStyle/>
          <a:p>
            <a:pPr>
              <a:defRPr/>
            </a:pPr>
            <a:r>
              <a:rPr sz="1800" b="1" i="0" u="none">
                <a:solidFill>
                  <a:srgbClr val="000000"/>
                </a:solidFill>
                <a:latin typeface="Times New Roman"/>
                <a:ea typeface="Times New Roman"/>
                <a:cs typeface="Times New Roman"/>
              </a:rPr>
              <a:t>Step 6 — Defining the Data Model with Pydantic</a:t>
            </a:r>
            <a:endParaRPr/>
          </a:p>
          <a:p>
            <a:pPr>
              <a:defRPr/>
            </a:pPr>
            <a:r>
              <a:rPr sz="1200" b="0" i="0" u="none">
                <a:solidFill>
                  <a:srgbClr val="000000"/>
                </a:solidFill>
                <a:latin typeface="Times New Roman"/>
                <a:ea typeface="Times New Roman"/>
                <a:cs typeface="Times New Roman"/>
              </a:rPr>
              <a:t>In the </a:t>
            </a:r>
            <a:r>
              <a:rPr sz="1000" b="0" i="0" u="none">
                <a:solidFill>
                  <a:srgbClr val="000000"/>
                </a:solidFill>
                <a:latin typeface="Courier New"/>
                <a:ea typeface="Courier New"/>
                <a:cs typeface="Courier New"/>
              </a:rPr>
              <a:t>models.py</a:t>
            </a:r>
            <a:r>
              <a:rPr sz="1200" b="0" i="0" u="none">
                <a:solidFill>
                  <a:srgbClr val="000000"/>
                </a:solidFill>
                <a:latin typeface="Times New Roman"/>
                <a:ea typeface="Times New Roman"/>
                <a:cs typeface="Times New Roman"/>
              </a:rPr>
              <a:t> file, we define a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class using Pydantic. This class represents the schema of the data that the API expects. Each field, such as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and </a:t>
            </a:r>
            <a:r>
              <a:rPr sz="1000" b="0" i="0" u="none">
                <a:solidFill>
                  <a:srgbClr val="000000"/>
                </a:solidFill>
                <a:latin typeface="Courier New"/>
                <a:ea typeface="Courier New"/>
                <a:cs typeface="Courier New"/>
              </a:rPr>
              <a:t>grade</a:t>
            </a:r>
            <a:r>
              <a:rPr sz="1200" b="0" i="0" u="none">
                <a:solidFill>
                  <a:srgbClr val="000000"/>
                </a:solidFill>
                <a:latin typeface="Times New Roman"/>
                <a:ea typeface="Times New Roman"/>
                <a:cs typeface="Times New Roman"/>
              </a:rPr>
              <a:t>, is strongly typed.</a:t>
            </a:r>
            <a:endParaRPr/>
          </a:p>
          <a:p>
            <a:pPr>
              <a:defRPr/>
            </a:pPr>
            <a:r>
              <a:rPr sz="1200" b="0" i="0" u="none">
                <a:solidFill>
                  <a:srgbClr val="000000"/>
                </a:solidFill>
                <a:latin typeface="Times New Roman"/>
                <a:ea typeface="Times New Roman"/>
                <a:cs typeface="Times New Roman"/>
              </a:rPr>
              <a:t>The significance of this step lies in automatic validation. When a client sends JSON data to the API, FastAPI uses Pydantic to verify that all required fields are present and that their types are correct. If the data is invalid, FastAPI rejects the request before it reaches the database layer. This prevents corrupted or inconsistent data from entering the system.</a:t>
            </a:r>
            <a:endParaRPr/>
          </a:p>
        </p:txBody>
      </p:sp>
      <p:sp>
        <p:nvSpPr>
          <p:cNvPr id="656781410" name="Slide Number Placeholder 3"/>
          <p:cNvSpPr>
            <a:spLocks noGrp="1"/>
          </p:cNvSpPr>
          <p:nvPr>
            <p:ph type="sldNum" sz="quarter" idx="10"/>
          </p:nvPr>
        </p:nvSpPr>
        <p:spPr bwMode="auto"/>
        <p:txBody>
          <a:bodyPr/>
          <a:lstStyle/>
          <a:p>
            <a:pPr>
              <a:defRPr/>
            </a:pPr>
            <a:fld id="{1DEB9824-3F38-52F8-FFBB-D679939330FE}"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6298129" name="Slide Image Placeholder 1"/>
          <p:cNvSpPr>
            <a:spLocks noChangeAspect="1" noGrp="1" noRot="1"/>
          </p:cNvSpPr>
          <p:nvPr>
            <p:ph type="sldImg"/>
          </p:nvPr>
        </p:nvSpPr>
        <p:spPr bwMode="auto"/>
      </p:sp>
      <p:sp>
        <p:nvSpPr>
          <p:cNvPr id="1645141057"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6. Create </a:t>
            </a:r>
            <a:r>
              <a:rPr sz="1950" b="1" i="0" u="none">
                <a:solidFill>
                  <a:srgbClr val="000000"/>
                </a:solidFill>
                <a:latin typeface="Courier New"/>
                <a:ea typeface="Courier New"/>
                <a:cs typeface="Courier New"/>
              </a:rPr>
              <a:t>models.py</a:t>
            </a:r>
            <a:endParaRPr/>
          </a:p>
          <a:p>
            <a:pPr>
              <a:defRPr/>
            </a:pPr>
            <a:r>
              <a:rPr sz="1200" b="0" i="0" u="none">
                <a:solidFill>
                  <a:srgbClr val="000000"/>
                </a:solidFill>
                <a:latin typeface="Times New Roman"/>
                <a:ea typeface="Times New Roman"/>
                <a:cs typeface="Times New Roman"/>
              </a:rPr>
              <a:t>The content is:</a:t>
            </a:r>
            <a:endParaRPr/>
          </a:p>
          <a:p>
            <a:pPr>
              <a:defRPr/>
            </a:pP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pydantic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BaseModel</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class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BaseModel</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name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grade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int</a:t>
            </a:r>
            <a:endParaRPr/>
          </a:p>
          <a:p>
            <a:pPr>
              <a:defRPr/>
            </a:pPr>
            <a:endParaRPr/>
          </a:p>
          <a:p>
            <a:pPr>
              <a:defRPr/>
            </a:pPr>
            <a:r>
              <a:rPr sz="1200" b="0" i="0" u="none">
                <a:solidFill>
                  <a:srgbClr val="000000"/>
                </a:solidFill>
                <a:latin typeface="Times New Roman"/>
                <a:ea typeface="Times New Roman"/>
                <a:cs typeface="Times New Roman"/>
              </a:rPr>
              <a:t>The first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pydantic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BaseModel</a:t>
            </a:r>
            <a:endParaRPr/>
          </a:p>
          <a:p>
            <a:pPr>
              <a:defRPr/>
            </a:pPr>
            <a:r>
              <a:rPr sz="1200" b="0" i="0" u="none">
                <a:solidFill>
                  <a:srgbClr val="000000"/>
                </a:solidFill>
                <a:latin typeface="Times New Roman"/>
                <a:ea typeface="Times New Roman"/>
                <a:cs typeface="Times New Roman"/>
              </a:rPr>
              <a:t>imports </a:t>
            </a:r>
            <a:r>
              <a:rPr sz="1000" b="0" i="0" u="none">
                <a:solidFill>
                  <a:srgbClr val="000000"/>
                </a:solidFill>
                <a:latin typeface="Courier New"/>
                <a:ea typeface="Courier New"/>
                <a:cs typeface="Courier New"/>
              </a:rPr>
              <a:t>BaseModel</a:t>
            </a:r>
            <a:r>
              <a:rPr sz="1200" b="0" i="0" u="none">
                <a:solidFill>
                  <a:srgbClr val="000000"/>
                </a:solidFill>
                <a:latin typeface="Times New Roman"/>
                <a:ea typeface="Times New Roman"/>
                <a:cs typeface="Times New Roman"/>
              </a:rPr>
              <a:t> from Pydantic. </a:t>
            </a:r>
            <a:r>
              <a:rPr sz="1000" b="0" i="0" u="none">
                <a:solidFill>
                  <a:srgbClr val="000000"/>
                </a:solidFill>
                <a:latin typeface="Courier New"/>
                <a:ea typeface="Courier New"/>
                <a:cs typeface="Courier New"/>
              </a:rPr>
              <a:t>BaseModel</a:t>
            </a:r>
            <a:r>
              <a:rPr sz="1200" b="0" i="0" u="none">
                <a:solidFill>
                  <a:srgbClr val="000000"/>
                </a:solidFill>
                <a:latin typeface="Times New Roman"/>
                <a:ea typeface="Times New Roman"/>
                <a:cs typeface="Times New Roman"/>
              </a:rPr>
              <a:t> is the parent class used to define structured data models. It gives your class validation, parsing, and serialization behavior.</a:t>
            </a:r>
            <a:endParaRPr/>
          </a:p>
          <a:p>
            <a:pPr>
              <a:defRPr/>
            </a:pPr>
            <a:endParaRPr/>
          </a:p>
          <a:p>
            <a:pPr>
              <a:defRPr/>
            </a:pPr>
            <a:r>
              <a:rPr sz="1200" b="0" i="0" u="none">
                <a:solidFill>
                  <a:srgbClr val="000000"/>
                </a:solidFill>
                <a:latin typeface="Times New Roman"/>
                <a:ea typeface="Times New Roman"/>
                <a:cs typeface="Times New Roman"/>
              </a:rPr>
              <a:t>The next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class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BaseModel</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defines a class named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that inherits from </a:t>
            </a:r>
            <a:r>
              <a:rPr sz="1000" b="0" i="0" u="none">
                <a:solidFill>
                  <a:srgbClr val="000000"/>
                </a:solidFill>
                <a:latin typeface="Courier New"/>
                <a:ea typeface="Courier New"/>
                <a:cs typeface="Courier New"/>
              </a:rPr>
              <a:t>BaseModel</a:t>
            </a:r>
            <a:r>
              <a:rPr sz="1200" b="0" i="0" u="none">
                <a:solidFill>
                  <a:srgbClr val="000000"/>
                </a:solidFill>
                <a:latin typeface="Times New Roman"/>
                <a:ea typeface="Times New Roman"/>
                <a:cs typeface="Times New Roman"/>
              </a:rPr>
              <a:t>. This means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is not just a plain Python class. It becomes a validated data schema. FastAPI understands such classes and uses them automatically to validate incoming request bodies.</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endParaRPr/>
          </a:p>
          <a:p>
            <a:pPr>
              <a:defRPr/>
            </a:pPr>
            <a:r>
              <a:rPr sz="1200" b="0" i="0" u="none">
                <a:solidFill>
                  <a:srgbClr val="000000"/>
                </a:solidFill>
                <a:latin typeface="Times New Roman"/>
                <a:ea typeface="Times New Roman"/>
                <a:cs typeface="Times New Roman"/>
              </a:rPr>
              <a:t>declares that 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field must exist and must be a string. If a client sends a number or omits the field, validation will fail.</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name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endParaRPr/>
          </a:p>
          <a:p>
            <a:pPr>
              <a:defRPr/>
            </a:pPr>
            <a:r>
              <a:rPr sz="1200" b="0" i="0" u="none">
                <a:solidFill>
                  <a:srgbClr val="000000"/>
                </a:solidFill>
                <a:latin typeface="Times New Roman"/>
                <a:ea typeface="Times New Roman"/>
                <a:cs typeface="Times New Roman"/>
              </a:rPr>
              <a:t>declares that the </a:t>
            </a:r>
            <a:r>
              <a:rPr sz="1000" b="0" i="0" u="none">
                <a:solidFill>
                  <a:srgbClr val="000000"/>
                </a:solidFill>
                <a:latin typeface="Courier New"/>
                <a:ea typeface="Courier New"/>
                <a:cs typeface="Courier New"/>
              </a:rPr>
              <a:t>name</a:t>
            </a:r>
            <a:r>
              <a:rPr sz="1200" b="0" i="0" u="none">
                <a:solidFill>
                  <a:srgbClr val="000000"/>
                </a:solidFill>
                <a:latin typeface="Times New Roman"/>
                <a:ea typeface="Times New Roman"/>
                <a:cs typeface="Times New Roman"/>
              </a:rPr>
              <a:t> field must be a string.</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grade</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int</a:t>
            </a:r>
            <a:endParaRPr/>
          </a:p>
          <a:p>
            <a:pPr>
              <a:defRPr/>
            </a:pPr>
            <a:r>
              <a:rPr sz="1200" b="0" i="0" u="none">
                <a:solidFill>
                  <a:srgbClr val="000000"/>
                </a:solidFill>
                <a:latin typeface="Times New Roman"/>
                <a:ea typeface="Times New Roman"/>
                <a:cs typeface="Times New Roman"/>
              </a:rPr>
              <a:t>declares that the </a:t>
            </a:r>
            <a:r>
              <a:rPr sz="1000" b="0" i="0" u="none">
                <a:solidFill>
                  <a:srgbClr val="000000"/>
                </a:solidFill>
                <a:latin typeface="Courier New"/>
                <a:ea typeface="Courier New"/>
                <a:cs typeface="Courier New"/>
              </a:rPr>
              <a:t>grade</a:t>
            </a:r>
            <a:r>
              <a:rPr sz="1200" b="0" i="0" u="none">
                <a:solidFill>
                  <a:srgbClr val="000000"/>
                </a:solidFill>
                <a:latin typeface="Times New Roman"/>
                <a:ea typeface="Times New Roman"/>
                <a:cs typeface="Times New Roman"/>
              </a:rPr>
              <a:t> field must be an integer.</a:t>
            </a:r>
            <a:endParaRPr/>
          </a:p>
          <a:p>
            <a:pPr>
              <a:defRPr/>
            </a:pPr>
            <a:endParaRPr/>
          </a:p>
          <a:p>
            <a:pPr>
              <a:defRPr/>
            </a:pPr>
            <a:r>
              <a:rPr sz="1200" b="0" i="0" u="none">
                <a:solidFill>
                  <a:srgbClr val="000000"/>
                </a:solidFill>
                <a:latin typeface="Times New Roman"/>
                <a:ea typeface="Times New Roman"/>
                <a:cs typeface="Times New Roman"/>
              </a:rPr>
              <a:t>The significance of this file is major. It defines the expected structure of incoming student data. This gives you </a:t>
            </a:r>
            <a:r>
              <a:rPr sz="1200" b="1" i="0" u="none">
                <a:solidFill>
                  <a:srgbClr val="000000"/>
                </a:solidFill>
                <a:latin typeface="Times New Roman"/>
                <a:ea typeface="Times New Roman"/>
                <a:cs typeface="Times New Roman"/>
              </a:rPr>
              <a:t>data integrity</a:t>
            </a:r>
            <a:r>
              <a:rPr sz="1200" b="0" i="0" u="none">
                <a:solidFill>
                  <a:srgbClr val="000000"/>
                </a:solidFill>
                <a:latin typeface="Times New Roman"/>
                <a:ea typeface="Times New Roman"/>
                <a:cs typeface="Times New Roman"/>
              </a:rPr>
              <a:t> at the API boundary. Instead of manually checking every field in your code, FastAPI and Pydantic do it automatically. That reduces boilerplate, avoids bugs, and makes the API contract explicit.</a:t>
            </a:r>
            <a:endParaRPr sz="1200" b="0" i="0" u="none">
              <a:solidFill>
                <a:srgbClr val="000000"/>
              </a:solidFill>
              <a:latin typeface="Times New Roman"/>
              <a:ea typeface="Times New Roman"/>
              <a:cs typeface="Times New Roman"/>
            </a:endParaRPr>
          </a:p>
        </p:txBody>
      </p:sp>
      <p:sp>
        <p:nvSpPr>
          <p:cNvPr id="1531257818" name="Slide Number Placeholder 3"/>
          <p:cNvSpPr>
            <a:spLocks noGrp="1"/>
          </p:cNvSpPr>
          <p:nvPr>
            <p:ph type="sldNum" sz="quarter" idx="10"/>
          </p:nvPr>
        </p:nvSpPr>
        <p:spPr bwMode="auto"/>
        <p:txBody>
          <a:bodyPr/>
          <a:lstStyle/>
          <a:p>
            <a:pPr>
              <a:defRPr/>
            </a:pPr>
            <a:fld id="{2FEB7DDB-D939-649F-E156-0442B79402D2}"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0753111" name="Slide Image Placeholder 1"/>
          <p:cNvSpPr>
            <a:spLocks noChangeAspect="1" noGrp="1" noRot="1"/>
          </p:cNvSpPr>
          <p:nvPr>
            <p:ph type="sldImg"/>
          </p:nvPr>
        </p:nvSpPr>
        <p:spPr bwMode="auto"/>
      </p:sp>
      <p:sp>
        <p:nvSpPr>
          <p:cNvPr id="1853858314" name="Notes Placeholder 2"/>
          <p:cNvSpPr>
            <a:spLocks noGrp="1"/>
          </p:cNvSpPr>
          <p:nvPr>
            <p:ph type="body" idx="1"/>
          </p:nvPr>
        </p:nvSpPr>
        <p:spPr bwMode="auto"/>
        <p:txBody>
          <a:bodyPr/>
          <a:lstStyle/>
          <a:p>
            <a:pPr>
              <a:defRPr/>
            </a:pPr>
            <a:r>
              <a:rPr sz="1800" b="1" i="0" u="none">
                <a:solidFill>
                  <a:srgbClr val="000000"/>
                </a:solidFill>
                <a:latin typeface="Times New Roman"/>
                <a:ea typeface="Times New Roman"/>
                <a:cs typeface="Times New Roman"/>
              </a:rPr>
              <a:t>Step 7 — Implementing the FastAPI Application</a:t>
            </a:r>
            <a:endParaRPr/>
          </a:p>
          <a:p>
            <a:pPr>
              <a:defRPr/>
            </a:pPr>
            <a:r>
              <a:rPr sz="1200" b="0" i="0" u="none">
                <a:solidFill>
                  <a:srgbClr val="000000"/>
                </a:solidFill>
                <a:latin typeface="Times New Roman"/>
                <a:ea typeface="Times New Roman"/>
                <a:cs typeface="Times New Roman"/>
              </a:rPr>
              <a:t>The </a:t>
            </a:r>
            <a:r>
              <a:rPr sz="1000" b="0" i="0" u="none">
                <a:solidFill>
                  <a:srgbClr val="000000"/>
                </a:solidFill>
                <a:latin typeface="Courier New"/>
                <a:ea typeface="Courier New"/>
                <a:cs typeface="Courier New"/>
              </a:rPr>
              <a:t>main.py</a:t>
            </a:r>
            <a:r>
              <a:rPr sz="1200" b="0" i="0" u="none">
                <a:solidFill>
                  <a:srgbClr val="000000"/>
                </a:solidFill>
                <a:latin typeface="Times New Roman"/>
                <a:ea typeface="Times New Roman"/>
                <a:cs typeface="Times New Roman"/>
              </a:rPr>
              <a:t> file defines the core application logic. The FastAPI instance is created and acts as the central object that maps HTTP requests to Python functions.</a:t>
            </a:r>
            <a:endParaRPr/>
          </a:p>
          <a:p>
            <a:pPr>
              <a:defRPr/>
            </a:pPr>
            <a:r>
              <a:rPr sz="1200" b="0" i="0" u="none">
                <a:solidFill>
                  <a:srgbClr val="000000"/>
                </a:solidFill>
                <a:latin typeface="Times New Roman"/>
                <a:ea typeface="Times New Roman"/>
                <a:cs typeface="Times New Roman"/>
              </a:rPr>
              <a:t>The MongoDB connection is established using </a:t>
            </a:r>
            <a:r>
              <a:rPr sz="1000" b="0" i="0" u="none">
                <a:solidFill>
                  <a:srgbClr val="000000"/>
                </a:solidFill>
                <a:latin typeface="Courier New"/>
                <a:ea typeface="Courier New"/>
                <a:cs typeface="Courier New"/>
              </a:rPr>
              <a:t>AsyncIOMotorClient</a:t>
            </a:r>
            <a:r>
              <a:rPr sz="1200" b="0" i="0" u="none">
                <a:solidFill>
                  <a:srgbClr val="000000"/>
                </a:solidFill>
                <a:latin typeface="Times New Roman"/>
                <a:ea typeface="Times New Roman"/>
                <a:cs typeface="Times New Roman"/>
              </a:rPr>
              <a:t>, which enables asynchronous communication with the database. This is essential for scalability, as it allows the server to handle multiple requests concurrently without blocking.</a:t>
            </a:r>
            <a:endParaRPr/>
          </a:p>
          <a:p>
            <a:pPr>
              <a:defRPr/>
            </a:pPr>
            <a:r>
              <a:rPr sz="1200" b="0" i="0" u="none">
                <a:solidFill>
                  <a:srgbClr val="000000"/>
                </a:solidFill>
                <a:latin typeface="Times New Roman"/>
                <a:ea typeface="Times New Roman"/>
                <a:cs typeface="Times New Roman"/>
              </a:rPr>
              <a:t>The POST endpoint inserts a new student document into MongoDB. The </a:t>
            </a:r>
            <a:r>
              <a:rPr sz="1000" b="0" i="0" u="none">
                <a:solidFill>
                  <a:srgbClr val="000000"/>
                </a:solidFill>
                <a:latin typeface="Courier New"/>
                <a:ea typeface="Courier New"/>
                <a:cs typeface="Courier New"/>
              </a:rPr>
              <a:t>.model_dump()</a:t>
            </a:r>
            <a:r>
              <a:rPr sz="1200" b="0" i="0" u="none">
                <a:solidFill>
                  <a:srgbClr val="000000"/>
                </a:solidFill>
                <a:latin typeface="Times New Roman"/>
                <a:ea typeface="Times New Roman"/>
                <a:cs typeface="Times New Roman"/>
              </a:rPr>
              <a:t> method converts the Pydantic model into a dictionary suitable for storage. The GET endpoint retrieves a document based on the student ID, demonstrating query functionality. The DELETE endpoint removes a document, completing the CRUD cycle.</a:t>
            </a:r>
            <a:endParaRPr/>
          </a:p>
          <a:p>
            <a:pPr>
              <a:defRPr/>
            </a:pPr>
            <a:r>
              <a:rPr sz="1200" b="0" i="0" u="none">
                <a:solidFill>
                  <a:srgbClr val="000000"/>
                </a:solidFill>
                <a:latin typeface="Times New Roman"/>
                <a:ea typeface="Times New Roman"/>
                <a:cs typeface="Times New Roman"/>
              </a:rPr>
              <a:t>Each endpoint corresponds to an HTTP method, illustrating RESTful design principles where resources are manipulated through standardized operations.</a:t>
            </a:r>
            <a:endParaRPr/>
          </a:p>
        </p:txBody>
      </p:sp>
      <p:sp>
        <p:nvSpPr>
          <p:cNvPr id="1134407419" name="Slide Number Placeholder 3"/>
          <p:cNvSpPr>
            <a:spLocks noGrp="1"/>
          </p:cNvSpPr>
          <p:nvPr>
            <p:ph type="sldNum" sz="quarter" idx="10"/>
          </p:nvPr>
        </p:nvSpPr>
        <p:spPr bwMode="auto"/>
        <p:txBody>
          <a:bodyPr/>
          <a:lstStyle/>
          <a:p>
            <a:pPr>
              <a:defRPr/>
            </a:pPr>
            <a:fld id="{3FF407D0-9859-D6C2-2417-505B91B4BA17}"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6560060" name="Slide Image Placeholder 1"/>
          <p:cNvSpPr>
            <a:spLocks noChangeAspect="1" noGrp="1" noRot="1"/>
          </p:cNvSpPr>
          <p:nvPr>
            <p:ph type="sldImg"/>
          </p:nvPr>
        </p:nvSpPr>
        <p:spPr bwMode="auto"/>
      </p:sp>
      <p:sp>
        <p:nvSpPr>
          <p:cNvPr id="1304487407" name="Notes Placeholder 2"/>
          <p:cNvSpPr>
            <a:spLocks noGrp="1"/>
          </p:cNvSpPr>
          <p:nvPr>
            <p:ph type="body" idx="1"/>
          </p:nvPr>
        </p:nvSpPr>
        <p:spPr bwMode="auto"/>
        <p:txBody>
          <a:bodyPr/>
          <a:lstStyle/>
          <a:p>
            <a:pPr>
              <a:defRPr/>
            </a:pPr>
            <a:endParaRPr/>
          </a:p>
        </p:txBody>
      </p:sp>
      <p:sp>
        <p:nvSpPr>
          <p:cNvPr id="743407297" name="Slide Number Placeholder 3"/>
          <p:cNvSpPr>
            <a:spLocks noGrp="1"/>
          </p:cNvSpPr>
          <p:nvPr>
            <p:ph type="sldNum" sz="quarter" idx="10"/>
          </p:nvPr>
        </p:nvSpPr>
        <p:spPr bwMode="auto"/>
        <p:txBody>
          <a:bodyPr/>
          <a:lstStyle/>
          <a:p>
            <a:pPr>
              <a:defRPr/>
            </a:pPr>
            <a:fld id="{D5BBF4FF-D2CB-605C-731E-7A53B249D5EC}"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0558175" name="Slide Image Placeholder 1"/>
          <p:cNvSpPr>
            <a:spLocks noChangeAspect="1" noGrp="1" noRot="1"/>
          </p:cNvSpPr>
          <p:nvPr>
            <p:ph type="sldImg"/>
          </p:nvPr>
        </p:nvSpPr>
        <p:spPr bwMode="auto"/>
      </p:sp>
      <p:sp>
        <p:nvSpPr>
          <p:cNvPr id="1444544922"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7. Create </a:t>
            </a:r>
            <a:r>
              <a:rPr sz="1950" b="1" i="0" u="none">
                <a:solidFill>
                  <a:srgbClr val="000000"/>
                </a:solidFill>
                <a:latin typeface="Courier New"/>
                <a:ea typeface="Courier New"/>
                <a:cs typeface="Courier New"/>
              </a:rPr>
              <a:t>main.py</a:t>
            </a:r>
            <a:endParaRPr/>
          </a:p>
          <a:p>
            <a:pPr>
              <a:defRPr/>
            </a:pPr>
            <a:r>
              <a:rPr sz="1200" b="0" i="0" u="none">
                <a:solidFill>
                  <a:srgbClr val="000000"/>
                </a:solidFill>
                <a:latin typeface="Times New Roman"/>
                <a:ea typeface="Times New Roman"/>
                <a:cs typeface="Times New Roman"/>
              </a:rPr>
              <a:t>The code is:</a:t>
            </a:r>
            <a:endParaRPr/>
          </a:p>
          <a:p>
            <a:pPr>
              <a:defRPr/>
            </a:pP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fastapi</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FastAPI</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motor</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motor_asyncio</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AsyncIOMotorClient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models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FastAPI</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client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AsyncIOMotorClient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"mongodb://localhost:27017"</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client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school</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post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async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create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await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insert_one(</a:t>
            </a:r>
            <a:r>
              <a:rPr sz="1000" b="0" i="0" u="none">
                <a:solidFill>
                  <a:srgbClr val="000000"/>
                </a:solidFill>
                <a:latin typeface="Courier New"/>
                <a:ea typeface="Courier New"/>
                <a:cs typeface="Courier New"/>
              </a:rPr>
              <a: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model_dump())</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return</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"status"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"created"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get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"/students/{student_id}"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async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read</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await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find_one({</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return</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br>
              <a:rPr sz="1000" b="0" i="0" u="none">
                <a:solidFill>
                  <a:srgbClr val="000000"/>
                </a:solidFill>
                <a:latin typeface="Courier New"/>
                <a:ea typeface="Courier New"/>
                <a:cs typeface="Courier New"/>
              </a:rPr>
            </a:b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delete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"/students/{student_id}"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async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delete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await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delete_one({</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return</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"status"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"deleted"</a:t>
            </a:r>
            <a:r>
              <a:rPr sz="1000" b="0" i="0" u="none">
                <a:solidFill>
                  <a:srgbClr val="000000"/>
                </a:solidFill>
                <a:latin typeface="Courier New"/>
                <a:ea typeface="Courier New"/>
                <a:cs typeface="Courier New"/>
              </a:rPr>
              <a:t>}</a:t>
            </a:r>
            <a:endParaRPr/>
          </a:p>
          <a:p>
            <a:pPr>
              <a:defRPr/>
            </a:pPr>
            <a:endParaRPr/>
          </a:p>
          <a:p>
            <a:pPr>
              <a:defRPr/>
            </a:pPr>
            <a:r>
              <a:rPr sz="1200" b="0" i="0" u="none">
                <a:solidFill>
                  <a:srgbClr val="000000"/>
                </a:solidFill>
                <a:latin typeface="Times New Roman"/>
                <a:ea typeface="Times New Roman"/>
                <a:cs typeface="Times New Roman"/>
              </a:rPr>
              <a:t>Now let us explain it carefully.</a:t>
            </a: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The line:</a:t>
            </a:r>
            <a:endParaRPr/>
          </a:p>
          <a:p>
            <a:pPr>
              <a:defRPr/>
            </a:pP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fastapi</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FastAPI</a:t>
            </a:r>
            <a:endParaRPr/>
          </a:p>
          <a:p>
            <a:pPr>
              <a:defRPr/>
            </a:pPr>
            <a:r>
              <a:rPr sz="1200" b="0" i="0" u="none">
                <a:solidFill>
                  <a:srgbClr val="000000"/>
                </a:solidFill>
                <a:latin typeface="Times New Roman"/>
                <a:ea typeface="Times New Roman"/>
                <a:cs typeface="Times New Roman"/>
              </a:rPr>
              <a:t>imports the </a:t>
            </a:r>
            <a:r>
              <a:rPr sz="1000" b="0" i="0" u="none">
                <a:solidFill>
                  <a:srgbClr val="000000"/>
                </a:solidFill>
                <a:latin typeface="Courier New"/>
                <a:ea typeface="Courier New"/>
                <a:cs typeface="Courier New"/>
              </a:rPr>
              <a:t>FastAPI</a:t>
            </a:r>
            <a:r>
              <a:rPr sz="1200" b="0" i="0" u="none">
                <a:solidFill>
                  <a:srgbClr val="000000"/>
                </a:solidFill>
                <a:latin typeface="Times New Roman"/>
                <a:ea typeface="Times New Roman"/>
                <a:cs typeface="Times New Roman"/>
              </a:rPr>
              <a:t> class. This is the main class used to create the web application instance.</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motor</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motor_asyncio</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AsyncIOMotorClient</a:t>
            </a:r>
            <a:endParaRPr/>
          </a:p>
          <a:p>
            <a:pPr>
              <a:defRPr/>
            </a:pPr>
            <a:r>
              <a:rPr sz="1200" b="0" i="0" u="none">
                <a:solidFill>
                  <a:srgbClr val="000000"/>
                </a:solidFill>
                <a:latin typeface="Times New Roman"/>
                <a:ea typeface="Times New Roman"/>
                <a:cs typeface="Times New Roman"/>
              </a:rPr>
              <a:t>imports the asynchronous MongoDB client from Motor. This client is used to connect to the MongoDB server and perform database operations asynchronously.</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from</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models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import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a:t>
            </a:r>
            <a:endParaRPr/>
          </a:p>
          <a:p>
            <a:pPr>
              <a:defRPr/>
            </a:pPr>
            <a:r>
              <a:rPr sz="1200" b="0" i="0" u="none">
                <a:solidFill>
                  <a:srgbClr val="000000"/>
                </a:solidFill>
                <a:latin typeface="Times New Roman"/>
                <a:ea typeface="Times New Roman"/>
                <a:cs typeface="Times New Roman"/>
              </a:rPr>
              <a:t>imports the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Pydantic model you defined earlier. This allows the API to use the model as a typed input schema.</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FastAPI</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creates the FastAPI application object. This object is central to the whole API. It stores route definitions and configuration, and Uvicorn will run it as the main application.</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client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AsyncIOMotorClient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"mongodb://localhost:27017"</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creates a connection client to MongoDB. </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The string </a:t>
            </a:r>
            <a:r>
              <a:rPr sz="1000" b="0" i="0" u="none">
                <a:solidFill>
                  <a:srgbClr val="000000"/>
                </a:solidFill>
                <a:latin typeface="Courier New"/>
                <a:ea typeface="Courier New"/>
                <a:cs typeface="Courier New"/>
              </a:rPr>
              <a:t>"mongodb://localhost:27017"</a:t>
            </a:r>
            <a:r>
              <a:rPr sz="1200" b="0" i="0" u="none">
                <a:solidFill>
                  <a:srgbClr val="000000"/>
                </a:solidFill>
                <a:latin typeface="Times New Roman"/>
                <a:ea typeface="Times New Roman"/>
                <a:cs typeface="Times New Roman"/>
              </a:rPr>
              <a:t> is the MongoDB connection URI. It tells the program to connect to a MongoDB server running on the local machine at port 27017. Because Docker mapped that port earlier, this URI reaches the MongoDB container.</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client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school</a:t>
            </a:r>
            <a:endParaRPr/>
          </a:p>
          <a:p>
            <a:pPr>
              <a:defRPr/>
            </a:pPr>
            <a:r>
              <a:rPr sz="1200" b="0" i="0" u="none">
                <a:solidFill>
                  <a:srgbClr val="000000"/>
                </a:solidFill>
                <a:latin typeface="Times New Roman"/>
                <a:ea typeface="Times New Roman"/>
                <a:cs typeface="Times New Roman"/>
              </a:rPr>
              <a:t>selects a database named </a:t>
            </a:r>
            <a:r>
              <a:rPr sz="1000" b="0" i="0" u="none">
                <a:solidFill>
                  <a:srgbClr val="000000"/>
                </a:solidFill>
                <a:latin typeface="Courier New"/>
                <a:ea typeface="Courier New"/>
                <a:cs typeface="Courier New"/>
              </a:rPr>
              <a:t>school</a:t>
            </a:r>
            <a:r>
              <a:rPr sz="1200" b="0" i="0" u="none">
                <a:solidFill>
                  <a:srgbClr val="000000"/>
                </a:solidFill>
                <a:latin typeface="Times New Roman"/>
                <a:ea typeface="Times New Roman"/>
                <a:cs typeface="Times New Roman"/>
              </a:rPr>
              <a:t>. In MongoDB, a single server can contain multiple databases. If </a:t>
            </a:r>
            <a:r>
              <a:rPr sz="1000" b="0" i="0" u="none">
                <a:solidFill>
                  <a:srgbClr val="000000"/>
                </a:solidFill>
                <a:latin typeface="Courier New"/>
                <a:ea typeface="Courier New"/>
                <a:cs typeface="Courier New"/>
              </a:rPr>
              <a:t>school</a:t>
            </a:r>
            <a:r>
              <a:rPr sz="1200" b="0" i="0" u="none">
                <a:solidFill>
                  <a:srgbClr val="000000"/>
                </a:solidFill>
                <a:latin typeface="Times New Roman"/>
                <a:ea typeface="Times New Roman"/>
                <a:cs typeface="Times New Roman"/>
              </a:rPr>
              <a:t> does not already exist, MongoDB will create it automatically when data is first inserted.</a:t>
            </a:r>
            <a:endParaRPr/>
          </a:p>
          <a:p>
            <a:pPr>
              <a:defRPr/>
            </a:pPr>
            <a:endParaRPr/>
          </a:p>
          <a:p>
            <a:pPr>
              <a:defRPr/>
            </a:pPr>
            <a:r>
              <a:rPr sz="1200" b="0" i="0" u="none">
                <a:solidFill>
                  <a:srgbClr val="000000"/>
                </a:solidFill>
                <a:latin typeface="Times New Roman"/>
                <a:ea typeface="Times New Roman"/>
                <a:cs typeface="Times New Roman"/>
              </a:rPr>
              <a:t>The route: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post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registers a POST endpoint at the path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The decorator tells FastAPI that the function immediately below it should be executed whenever an HTTP POST request is sent to that URL.</a:t>
            </a:r>
            <a:endParaRPr/>
          </a:p>
          <a:p>
            <a:pPr>
              <a:defRPr/>
            </a:pPr>
            <a:endParaRPr/>
          </a:p>
          <a:p>
            <a:pPr>
              <a:defRPr/>
            </a:pPr>
            <a:r>
              <a:rPr sz="1200" b="0" i="0" u="none">
                <a:solidFill>
                  <a:srgbClr val="000000"/>
                </a:solidFill>
                <a:latin typeface="Times New Roman"/>
                <a:ea typeface="Times New Roman"/>
                <a:cs typeface="Times New Roman"/>
              </a:rPr>
              <a:t>The function definition:</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async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create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defines an asynchronous function named </a:t>
            </a:r>
            <a:r>
              <a:rPr sz="1000" b="0" i="0" u="none">
                <a:solidFill>
                  <a:srgbClr val="000000"/>
                </a:solidFill>
                <a:latin typeface="Courier New"/>
                <a:ea typeface="Courier New"/>
                <a:cs typeface="Courier New"/>
              </a:rPr>
              <a:t>create</a:t>
            </a:r>
            <a:r>
              <a:rPr sz="1200" b="0" i="0" u="none">
                <a:solidFill>
                  <a:srgbClr val="000000"/>
                </a:solidFill>
                <a:latin typeface="Times New Roman"/>
                <a:ea typeface="Times New Roman"/>
                <a:cs typeface="Times New Roman"/>
              </a:rPr>
              <a:t>. The parameter </a:t>
            </a:r>
            <a:r>
              <a:rPr sz="1000" b="0" i="0" u="none">
                <a:solidFill>
                  <a:srgbClr val="000000"/>
                </a:solidFill>
                <a:latin typeface="Courier New"/>
                <a:ea typeface="Courier New"/>
                <a:cs typeface="Courier New"/>
              </a:rPr>
              <a:t>s: Student</a:t>
            </a:r>
            <a:r>
              <a:rPr sz="1200" b="0" i="0" u="none">
                <a:solidFill>
                  <a:srgbClr val="000000"/>
                </a:solidFill>
                <a:latin typeface="Times New Roman"/>
                <a:ea typeface="Times New Roman"/>
                <a:cs typeface="Times New Roman"/>
              </a:rPr>
              <a:t> means FastAPI expects the request body to contain JSON matching the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schema. FastAPI will automatically parse the incoming JSON and convert it into a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object.</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await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insert_one(</a:t>
            </a:r>
            <a:r>
              <a:rPr sz="1000" b="0" i="0" u="none">
                <a:solidFill>
                  <a:srgbClr val="000000"/>
                </a:solidFill>
                <a:latin typeface="Courier New"/>
                <a:ea typeface="Courier New"/>
                <a:cs typeface="Courier New"/>
              </a:rPr>
              <a: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model_dump())</a:t>
            </a:r>
            <a:endParaRPr/>
          </a:p>
          <a:p>
            <a:pPr>
              <a:defRPr/>
            </a:pPr>
            <a:r>
              <a:rPr sz="1200" b="0" i="0" u="none">
                <a:solidFill>
                  <a:srgbClr val="000000"/>
                </a:solidFill>
                <a:latin typeface="Times New Roman"/>
                <a:ea typeface="Times New Roman"/>
                <a:cs typeface="Times New Roman"/>
              </a:rPr>
              <a:t>inserts the student into the MongoDB collection named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Let us unpack this carefully. </a:t>
            </a:r>
            <a:r>
              <a:rPr sz="1000" b="0" i="0" u="none">
                <a:solidFill>
                  <a:srgbClr val="000000"/>
                </a:solidFill>
                <a:latin typeface="Courier New"/>
                <a:ea typeface="Courier New"/>
                <a:cs typeface="Courier New"/>
              </a:rPr>
              <a:t>db.students</a:t>
            </a:r>
            <a:r>
              <a:rPr sz="1200" b="0" i="0" u="none">
                <a:solidFill>
                  <a:srgbClr val="000000"/>
                </a:solidFill>
                <a:latin typeface="Times New Roman"/>
                <a:ea typeface="Times New Roman"/>
                <a:cs typeface="Times New Roman"/>
              </a:rPr>
              <a:t> refers to the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collection inside the </a:t>
            </a:r>
            <a:r>
              <a:rPr sz="1000" b="0" i="0" u="none">
                <a:solidFill>
                  <a:srgbClr val="000000"/>
                </a:solidFill>
                <a:latin typeface="Courier New"/>
                <a:ea typeface="Courier New"/>
                <a:cs typeface="Courier New"/>
              </a:rPr>
              <a:t>school</a:t>
            </a:r>
            <a:r>
              <a:rPr sz="1200" b="0" i="0" u="none">
                <a:solidFill>
                  <a:srgbClr val="000000"/>
                </a:solidFill>
                <a:latin typeface="Times New Roman"/>
                <a:ea typeface="Times New Roman"/>
                <a:cs typeface="Times New Roman"/>
              </a:rPr>
              <a:t> database. </a:t>
            </a:r>
            <a:r>
              <a:rPr sz="1000" b="0" i="0" u="none">
                <a:solidFill>
                  <a:srgbClr val="000000"/>
                </a:solidFill>
                <a:latin typeface="Courier New"/>
                <a:ea typeface="Courier New"/>
                <a:cs typeface="Courier New"/>
              </a:rPr>
              <a:t>insert_one(...)</a:t>
            </a:r>
            <a:r>
              <a:rPr sz="1200" b="0" i="0" u="none">
                <a:solidFill>
                  <a:srgbClr val="000000"/>
                </a:solidFill>
                <a:latin typeface="Times New Roman"/>
                <a:ea typeface="Times New Roman"/>
                <a:cs typeface="Times New Roman"/>
              </a:rPr>
              <a:t> inserts one document into that collection. The expression </a:t>
            </a:r>
            <a:r>
              <a:rPr sz="1000" b="0" i="0" u="none">
                <a:solidFill>
                  <a:srgbClr val="000000"/>
                </a:solidFill>
                <a:latin typeface="Courier New"/>
                <a:ea typeface="Courier New"/>
                <a:cs typeface="Courier New"/>
              </a:rPr>
              <a:t>s.model_dump()</a:t>
            </a:r>
            <a:r>
              <a:rPr sz="1200" b="0" i="0" u="none">
                <a:solidFill>
                  <a:srgbClr val="000000"/>
                </a:solidFill>
                <a:latin typeface="Times New Roman"/>
                <a:ea typeface="Times New Roman"/>
                <a:cs typeface="Times New Roman"/>
              </a:rPr>
              <a:t> converts the Pydantic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object into a regular Python dictionary, which MongoDB can store as a BSON document. The keyword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is required because the database call is asynchronous. It tells Python to pause this function until the database finishes the operation, without blocking the entire server.</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return</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"status"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"created"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sends a JSON response back to the client indicating success. This is a simple confirmation message.</a:t>
            </a:r>
            <a:endParaRPr/>
          </a:p>
          <a:p>
            <a:pPr>
              <a:defRPr/>
            </a:pPr>
            <a:endParaRPr/>
          </a:p>
          <a:p>
            <a:pPr>
              <a:defRPr/>
            </a:pPr>
            <a:r>
              <a:rPr sz="1200" b="0" i="0" u="none">
                <a:solidFill>
                  <a:srgbClr val="000000"/>
                </a:solidFill>
                <a:latin typeface="Times New Roman"/>
                <a:ea typeface="Times New Roman"/>
                <a:cs typeface="Times New Roman"/>
              </a:rPr>
              <a:t>The route: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get</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"/students/{student_id}"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defines a GET endpoint with a path parameter named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This means a request like </a:t>
            </a:r>
            <a:r>
              <a:rPr sz="1000" b="0" i="0" u="none">
                <a:solidFill>
                  <a:srgbClr val="000000"/>
                </a:solidFill>
                <a:latin typeface="Courier New"/>
                <a:ea typeface="Courier New"/>
                <a:cs typeface="Courier New"/>
              </a:rPr>
              <a:t>/students/101</a:t>
            </a:r>
            <a:r>
              <a:rPr sz="1200" b="0" i="0" u="none">
                <a:solidFill>
                  <a:srgbClr val="000000"/>
                </a:solidFill>
                <a:latin typeface="Times New Roman"/>
                <a:ea typeface="Times New Roman"/>
                <a:cs typeface="Times New Roman"/>
              </a:rPr>
              <a:t> will pass the string </a:t>
            </a:r>
            <a:r>
              <a:rPr sz="1000" b="0" i="0" u="none">
                <a:solidFill>
                  <a:srgbClr val="000000"/>
                </a:solidFill>
                <a:latin typeface="Courier New"/>
                <a:ea typeface="Courier New"/>
                <a:cs typeface="Courier New"/>
              </a:rPr>
              <a:t>"101"</a:t>
            </a:r>
            <a:r>
              <a:rPr sz="1200" b="0" i="0" u="none">
                <a:solidFill>
                  <a:srgbClr val="000000"/>
                </a:solidFill>
                <a:latin typeface="Times New Roman"/>
                <a:ea typeface="Times New Roman"/>
                <a:cs typeface="Times New Roman"/>
              </a:rPr>
              <a:t> into the function.</a:t>
            </a:r>
            <a:endParaRPr/>
          </a:p>
          <a:p>
            <a:pPr>
              <a:defRPr/>
            </a:pPr>
            <a:endParaRPr/>
          </a:p>
          <a:p>
            <a:pPr>
              <a:defRPr/>
            </a:pPr>
            <a:r>
              <a:rPr sz="1200" b="0" i="0" u="none">
                <a:solidFill>
                  <a:srgbClr val="000000"/>
                </a:solidFill>
                <a:latin typeface="Times New Roman"/>
                <a:ea typeface="Times New Roman"/>
                <a:cs typeface="Times New Roman"/>
              </a:rPr>
              <a:t>The function:</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async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read</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defines the handler for reading a student record. The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comes from the URL path.</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await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find_one({</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searches the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collection for one document whose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field matches the provided value. The query is written as a dictionary. Again,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 is used because the database operation is asynchronous.</a:t>
            </a:r>
            <a:endParaRPr/>
          </a:p>
          <a:p>
            <a:pPr>
              <a:defRPr/>
            </a:pPr>
            <a:endParaRPr/>
          </a:p>
          <a:p>
            <a:pPr>
              <a:defRPr/>
            </a:pPr>
            <a:r>
              <a:rPr sz="1200" b="0" i="0" u="none">
                <a:solidFill>
                  <a:srgbClr val="000000"/>
                </a:solidFill>
                <a:latin typeface="Times New Roman"/>
                <a:ea typeface="Times New Roman"/>
                <a:cs typeface="Times New Roman"/>
              </a:rPr>
              <a:t>The lines:</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if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doc</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"_id"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check whether a document was found. If one exists, the MongoDB-generated </a:t>
            </a:r>
            <a:r>
              <a:rPr sz="1000" b="0" i="0" u="none">
                <a:solidFill>
                  <a:srgbClr val="000000"/>
                </a:solidFill>
                <a:latin typeface="Courier New"/>
                <a:ea typeface="Courier New"/>
                <a:cs typeface="Courier New"/>
              </a:rPr>
              <a:t>_id</a:t>
            </a:r>
            <a:r>
              <a:rPr sz="1200" b="0" i="0" u="none">
                <a:solidFill>
                  <a:srgbClr val="000000"/>
                </a:solidFill>
                <a:latin typeface="Times New Roman"/>
                <a:ea typeface="Times New Roman"/>
                <a:cs typeface="Times New Roman"/>
              </a:rPr>
              <a:t> field is converted to a string. This is necessary because MongoDB uses an </a:t>
            </a:r>
            <a:r>
              <a:rPr sz="1000" b="0" i="0" u="none">
                <a:solidFill>
                  <a:srgbClr val="000000"/>
                </a:solidFill>
                <a:latin typeface="Courier New"/>
                <a:ea typeface="Courier New"/>
                <a:cs typeface="Courier New"/>
              </a:rPr>
              <a:t>ObjectId</a:t>
            </a:r>
            <a:r>
              <a:rPr sz="1200" b="0" i="0" u="none">
                <a:solidFill>
                  <a:srgbClr val="000000"/>
                </a:solidFill>
                <a:latin typeface="Times New Roman"/>
                <a:ea typeface="Times New Roman"/>
                <a:cs typeface="Times New Roman"/>
              </a:rPr>
              <a:t> type, which is not directly JSON serializable. Converting it to string allows FastAPI to return it safely in the response.</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return</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doc</a:t>
            </a:r>
            <a:endParaRPr/>
          </a:p>
          <a:p>
            <a:pPr>
              <a:defRPr/>
            </a:pPr>
            <a:r>
              <a:rPr sz="1200" b="0" i="0" u="none">
                <a:solidFill>
                  <a:srgbClr val="000000"/>
                </a:solidFill>
                <a:latin typeface="Times New Roman"/>
                <a:ea typeface="Times New Roman"/>
                <a:cs typeface="Times New Roman"/>
              </a:rPr>
              <a:t>returns the found document as JSON.</a:t>
            </a:r>
            <a:endParaRPr/>
          </a:p>
          <a:p>
            <a:pPr>
              <a:defRPr/>
            </a:pPr>
            <a:endParaRPr/>
          </a:p>
          <a:p>
            <a:pPr>
              <a:defRPr/>
            </a:pPr>
            <a:r>
              <a:rPr sz="1200" b="0" i="0" u="none">
                <a:solidFill>
                  <a:srgbClr val="000000"/>
                </a:solidFill>
                <a:latin typeface="Times New Roman"/>
                <a:ea typeface="Times New Roman"/>
                <a:cs typeface="Times New Roman"/>
              </a:rPr>
              <a:t>The route: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app</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delete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"/students/{student_id}"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defines a DELETE endpoint for removing a student record.</a:t>
            </a:r>
            <a:endParaRPr/>
          </a:p>
          <a:p>
            <a:pPr>
              <a:defRPr/>
            </a:pPr>
            <a:endParaRPr/>
          </a:p>
          <a:p>
            <a:pPr>
              <a:defRPr/>
            </a:pPr>
            <a:r>
              <a:rPr sz="1200" b="0" i="0" u="none">
                <a:solidFill>
                  <a:srgbClr val="000000"/>
                </a:solidFill>
                <a:latin typeface="Times New Roman"/>
                <a:ea typeface="Times New Roman"/>
                <a:cs typeface="Times New Roman"/>
              </a:rPr>
              <a:t>The function:</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async</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def</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delete</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str</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receives the target student ID from the URL.</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await</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db</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students</a:t>
            </a:r>
            <a:r>
              <a:rPr sz="1000" b="0" i="0" u="none">
                <a:solidFill>
                  <a:srgbClr val="000000"/>
                </a:solidFill>
                <a:latin typeface="Courier New"/>
                <a:ea typeface="Courier New"/>
                <a:cs typeface="Courier New"/>
              </a:rPr>
              <a:t>.</a:t>
            </a:r>
            <a:r>
              <a:rPr sz="1000" b="0" i="0" u="none">
                <a:solidFill>
                  <a:srgbClr val="000000"/>
                </a:solidFill>
                <a:latin typeface="Courier New"/>
                <a:ea typeface="Courier New"/>
                <a:cs typeface="Courier New"/>
              </a:rPr>
              <a:t>delete_one({</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removes one document whose </a:t>
            </a:r>
            <a:r>
              <a:rPr sz="1000" b="0" i="0" u="none">
                <a:solidFill>
                  <a:srgbClr val="000000"/>
                </a:solidFill>
                <a:latin typeface="Courier New"/>
                <a:ea typeface="Courier New"/>
                <a:cs typeface="Courier New"/>
              </a:rPr>
              <a:t>student_id</a:t>
            </a:r>
            <a:r>
              <a:rPr sz="1200" b="0" i="0" u="none">
                <a:solidFill>
                  <a:srgbClr val="000000"/>
                </a:solidFill>
                <a:latin typeface="Times New Roman"/>
                <a:ea typeface="Times New Roman"/>
                <a:cs typeface="Times New Roman"/>
              </a:rPr>
              <a:t> matches the given value. Again, this is asynchronous and therefore uses </a:t>
            </a:r>
            <a:r>
              <a:rPr sz="1000" b="0" i="0" u="none">
                <a:solidFill>
                  <a:srgbClr val="000000"/>
                </a:solidFill>
                <a:latin typeface="Courier New"/>
                <a:ea typeface="Courier New"/>
                <a:cs typeface="Courier New"/>
              </a:rPr>
              <a:t>await</a:t>
            </a:r>
            <a:r>
              <a:rPr sz="1200" b="0" i="0" u="none">
                <a:solidFill>
                  <a:srgbClr val="000000"/>
                </a:solidFill>
                <a:latin typeface="Times New Roman"/>
                <a:ea typeface="Times New Roman"/>
                <a:cs typeface="Times New Roman"/>
              </a:rPr>
              <a:t>.</a:t>
            </a:r>
            <a:endParaRPr/>
          </a:p>
          <a:p>
            <a:pPr>
              <a:defRPr/>
            </a:pPr>
            <a:endParaRPr/>
          </a:p>
          <a:p>
            <a:pPr>
              <a:defRPr/>
            </a:pPr>
            <a:r>
              <a:rPr sz="1200" b="0" i="0" u="none">
                <a:solidFill>
                  <a:srgbClr val="000000"/>
                </a:solidFill>
                <a:latin typeface="Times New Roman"/>
                <a:ea typeface="Times New Roman"/>
                <a:cs typeface="Times New Roman"/>
              </a:rPr>
              <a:t>The line:</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return</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"status"</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"deleted"</a:t>
            </a:r>
            <a:r>
              <a:rPr sz="1000" b="0" i="0" u="none">
                <a:solidFill>
                  <a:srgbClr val="000000"/>
                </a:solidFill>
                <a:latin typeface="Courier New"/>
                <a:ea typeface="Courier New"/>
                <a:cs typeface="Courier New"/>
              </a:rPr>
              <a:t>}</a:t>
            </a:r>
            <a:endParaRPr/>
          </a:p>
          <a:p>
            <a:pPr>
              <a:defRPr/>
            </a:pPr>
            <a:r>
              <a:rPr sz="1200" b="0" i="0" u="none">
                <a:solidFill>
                  <a:srgbClr val="000000"/>
                </a:solidFill>
                <a:latin typeface="Times New Roman"/>
                <a:ea typeface="Times New Roman"/>
                <a:cs typeface="Times New Roman"/>
              </a:rPr>
              <a:t>returns a confirmation response to the client.</a:t>
            </a:r>
            <a:endParaRPr/>
          </a:p>
          <a:p>
            <a:pPr>
              <a:defRPr/>
            </a:pPr>
            <a:endParaRPr/>
          </a:p>
          <a:p>
            <a:pPr>
              <a:defRPr/>
            </a:pPr>
            <a:r>
              <a:rPr sz="1200" b="0" i="0" u="none">
                <a:solidFill>
                  <a:srgbClr val="000000"/>
                </a:solidFill>
                <a:latin typeface="Times New Roman"/>
                <a:ea typeface="Times New Roman"/>
                <a:cs typeface="Times New Roman"/>
              </a:rPr>
              <a:t>Overall, this file implements a very clean REST API with three fundamental operations: create, read, and delete. It also demonstrates the integration of web framework, validation model, and database driver into one working backend service.</a:t>
            </a:r>
            <a:endParaRPr sz="1200" b="0" i="0" u="none">
              <a:solidFill>
                <a:srgbClr val="000000"/>
              </a:solidFill>
              <a:latin typeface="Times New Roman"/>
              <a:ea typeface="Times New Roman"/>
              <a:cs typeface="Times New Roman"/>
            </a:endParaRPr>
          </a:p>
        </p:txBody>
      </p:sp>
      <p:sp>
        <p:nvSpPr>
          <p:cNvPr id="892367210" name="Slide Number Placeholder 3"/>
          <p:cNvSpPr>
            <a:spLocks noGrp="1"/>
          </p:cNvSpPr>
          <p:nvPr>
            <p:ph type="sldNum" sz="quarter" idx="10"/>
          </p:nvPr>
        </p:nvSpPr>
        <p:spPr bwMode="auto"/>
        <p:txBody>
          <a:bodyPr/>
          <a:lstStyle/>
          <a:p>
            <a:pPr>
              <a:defRPr/>
            </a:pPr>
            <a:fld id="{0FF7FF96-49E4-AE7D-2F6B-994F079051BE}"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6229457" name="Slide Image Placeholder 1"/>
          <p:cNvSpPr>
            <a:spLocks noChangeAspect="1" noGrp="1" noRot="1"/>
          </p:cNvSpPr>
          <p:nvPr>
            <p:ph type="sldImg"/>
          </p:nvPr>
        </p:nvSpPr>
        <p:spPr bwMode="auto"/>
      </p:sp>
      <p:sp>
        <p:nvSpPr>
          <p:cNvPr id="1773680751"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8. Run FastAPI Server</a:t>
            </a:r>
            <a:endParaRPr/>
          </a:p>
          <a:p>
            <a:pPr>
              <a:defRPr/>
            </a:pPr>
            <a:r>
              <a:rPr sz="1200" b="0" i="0" u="none">
                <a:solidFill>
                  <a:srgbClr val="000000"/>
                </a:solidFill>
                <a:latin typeface="Times New Roman"/>
                <a:ea typeface="Times New Roman"/>
                <a:cs typeface="Times New Roman"/>
              </a:rPr>
              <a:t>The command is:</a:t>
            </a:r>
            <a:endParaRPr/>
          </a:p>
          <a:p>
            <a:pPr>
              <a:defRPr/>
            </a:pPr>
            <a:r>
              <a:rPr sz="1000" b="0" i="0" u="none">
                <a:solidFill>
                  <a:srgbClr val="000000"/>
                </a:solidFill>
                <a:latin typeface="Courier New"/>
                <a:ea typeface="Courier New"/>
                <a:cs typeface="Courier New"/>
              </a:rPr>
              <a:t>uvicorn main:app </a:t>
            </a:r>
            <a:r>
              <a:rPr sz="1000" b="0" i="0" u="none">
                <a:solidFill>
                  <a:srgbClr val="000000"/>
                </a:solidFill>
                <a:latin typeface="Courier New"/>
                <a:ea typeface="Courier New"/>
                <a:cs typeface="Courier New"/>
              </a:rPr>
              <a:t>--reload</a:t>
            </a:r>
            <a:endParaRPr/>
          </a:p>
          <a:p>
            <a:pPr>
              <a:defRPr/>
            </a:pPr>
            <a:r>
              <a:rPr sz="1200" b="0" i="0" u="none">
                <a:solidFill>
                  <a:srgbClr val="000000"/>
                </a:solidFill>
                <a:latin typeface="Times New Roman"/>
                <a:ea typeface="Times New Roman"/>
                <a:cs typeface="Times New Roman"/>
              </a:rPr>
              <a:t>This command starts the FastAPI application using Uvicorn.</a:t>
            </a:r>
            <a:endParaRPr/>
          </a:p>
          <a:p>
            <a:pPr>
              <a:defRPr/>
            </a:pPr>
            <a:r>
              <a:rPr sz="1200" b="0" i="0" u="none">
                <a:solidFill>
                  <a:srgbClr val="000000"/>
                </a:solidFill>
                <a:latin typeface="Times New Roman"/>
                <a:ea typeface="Times New Roman"/>
                <a:cs typeface="Times New Roman"/>
              </a:rPr>
              <a:t>The word </a:t>
            </a:r>
            <a:r>
              <a:rPr sz="1000" b="0" i="0" u="none">
                <a:solidFill>
                  <a:srgbClr val="000000"/>
                </a:solidFill>
                <a:latin typeface="Courier New"/>
                <a:ea typeface="Courier New"/>
                <a:cs typeface="Courier New"/>
              </a:rPr>
              <a:t>uvicorn</a:t>
            </a:r>
            <a:r>
              <a:rPr sz="1200" b="0" i="0" u="none">
                <a:solidFill>
                  <a:srgbClr val="000000"/>
                </a:solidFill>
                <a:latin typeface="Times New Roman"/>
                <a:ea typeface="Times New Roman"/>
                <a:cs typeface="Times New Roman"/>
              </a:rPr>
              <a:t> is the server executable. It launches an ASGI server process capable of running FastAPI applications.</a:t>
            </a:r>
            <a:endParaRPr/>
          </a:p>
          <a:p>
            <a:pPr>
              <a:defRPr/>
            </a:pPr>
            <a:endParaRPr/>
          </a:p>
          <a:p>
            <a:pPr>
              <a:defRPr/>
            </a:pPr>
            <a:r>
              <a:rPr sz="1200" b="0" i="0" u="none">
                <a:solidFill>
                  <a:srgbClr val="000000"/>
                </a:solidFill>
                <a:latin typeface="Times New Roman"/>
                <a:ea typeface="Times New Roman"/>
                <a:cs typeface="Times New Roman"/>
              </a:rPr>
              <a:t>The part:</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main:app</a:t>
            </a:r>
            <a:endParaRPr/>
          </a:p>
          <a:p>
            <a:pPr>
              <a:defRPr/>
            </a:pPr>
            <a:r>
              <a:rPr sz="1200" b="0" i="0" u="none">
                <a:solidFill>
                  <a:srgbClr val="000000"/>
                </a:solidFill>
                <a:latin typeface="Times New Roman"/>
                <a:ea typeface="Times New Roman"/>
                <a:cs typeface="Times New Roman"/>
              </a:rPr>
              <a:t>has a very specific meaning. </a:t>
            </a:r>
            <a:r>
              <a:rPr sz="1000" b="0" i="0" u="none">
                <a:solidFill>
                  <a:srgbClr val="000000"/>
                </a:solidFill>
                <a:latin typeface="Courier New"/>
                <a:ea typeface="Courier New"/>
                <a:cs typeface="Courier New"/>
              </a:rPr>
              <a:t>main</a:t>
            </a:r>
            <a:r>
              <a:rPr sz="1200" b="0" i="0" u="none">
                <a:solidFill>
                  <a:srgbClr val="000000"/>
                </a:solidFill>
                <a:latin typeface="Times New Roman"/>
                <a:ea typeface="Times New Roman"/>
                <a:cs typeface="Times New Roman"/>
              </a:rPr>
              <a:t> refers to the Python file </a:t>
            </a:r>
            <a:r>
              <a:rPr sz="1000" b="0" i="0" u="none">
                <a:solidFill>
                  <a:srgbClr val="000000"/>
                </a:solidFill>
                <a:latin typeface="Courier New"/>
                <a:ea typeface="Courier New"/>
                <a:cs typeface="Courier New"/>
              </a:rPr>
              <a:t>main.py</a:t>
            </a:r>
            <a:r>
              <a:rPr sz="1200" b="0" i="0" u="none">
                <a:solidFill>
                  <a:srgbClr val="000000"/>
                </a:solidFill>
                <a:latin typeface="Times New Roman"/>
                <a:ea typeface="Times New Roman"/>
                <a:cs typeface="Times New Roman"/>
              </a:rPr>
              <a:t> without the </a:t>
            </a:r>
            <a:r>
              <a:rPr sz="1000" b="0" i="0" u="none">
                <a:solidFill>
                  <a:srgbClr val="000000"/>
                </a:solidFill>
                <a:latin typeface="Courier New"/>
                <a:ea typeface="Courier New"/>
                <a:cs typeface="Courier New"/>
              </a:rPr>
              <a:t>.py</a:t>
            </a:r>
            <a:r>
              <a:rPr sz="1200" b="0" i="0" u="none">
                <a:solidFill>
                  <a:srgbClr val="000000"/>
                </a:solidFill>
                <a:latin typeface="Times New Roman"/>
                <a:ea typeface="Times New Roman"/>
                <a:cs typeface="Times New Roman"/>
              </a:rPr>
              <a:t> extension. </a:t>
            </a:r>
            <a:r>
              <a:rPr sz="1000" b="0"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refers to the FastAPI object inside that file, namely the line </a:t>
            </a:r>
            <a:r>
              <a:rPr sz="1000" b="0" i="0" u="none">
                <a:solidFill>
                  <a:srgbClr val="000000"/>
                </a:solidFill>
                <a:latin typeface="Courier New"/>
                <a:ea typeface="Courier New"/>
                <a:cs typeface="Courier New"/>
              </a:rPr>
              <a:t>app = FastAPI()</a:t>
            </a:r>
            <a:r>
              <a:rPr sz="1200" b="0" i="0" u="none">
                <a:solidFill>
                  <a:srgbClr val="000000"/>
                </a:solidFill>
                <a:latin typeface="Times New Roman"/>
                <a:ea typeface="Times New Roman"/>
                <a:cs typeface="Times New Roman"/>
              </a:rPr>
              <a:t>. So </a:t>
            </a:r>
            <a:r>
              <a:rPr sz="1000" b="0" i="0" u="none">
                <a:solidFill>
                  <a:srgbClr val="000000"/>
                </a:solidFill>
                <a:latin typeface="Courier New"/>
                <a:ea typeface="Courier New"/>
                <a:cs typeface="Courier New"/>
              </a:rPr>
              <a:t>main:app</a:t>
            </a:r>
            <a:r>
              <a:rPr sz="1200" b="0" i="0" u="none">
                <a:solidFill>
                  <a:srgbClr val="000000"/>
                </a:solidFill>
                <a:latin typeface="Times New Roman"/>
                <a:ea typeface="Times New Roman"/>
                <a:cs typeface="Times New Roman"/>
              </a:rPr>
              <a:t> means: “load the object named </a:t>
            </a:r>
            <a:r>
              <a:rPr sz="1000" b="0" i="0" u="none">
                <a:solidFill>
                  <a:srgbClr val="000000"/>
                </a:solidFill>
                <a:latin typeface="Courier New"/>
                <a:ea typeface="Courier New"/>
                <a:cs typeface="Courier New"/>
              </a:rPr>
              <a:t>app</a:t>
            </a:r>
            <a:r>
              <a:rPr sz="1200" b="0" i="0" u="none">
                <a:solidFill>
                  <a:srgbClr val="000000"/>
                </a:solidFill>
                <a:latin typeface="Times New Roman"/>
                <a:ea typeface="Times New Roman"/>
                <a:cs typeface="Times New Roman"/>
              </a:rPr>
              <a:t> from the module named </a:t>
            </a:r>
            <a:r>
              <a:rPr sz="1000" b="0" i="0" u="none">
                <a:solidFill>
                  <a:srgbClr val="000000"/>
                </a:solidFill>
                <a:latin typeface="Courier New"/>
                <a:ea typeface="Courier New"/>
                <a:cs typeface="Courier New"/>
              </a:rPr>
              <a:t>main</a:t>
            </a:r>
            <a:r>
              <a:rPr sz="1200" b="0" i="0" u="none">
                <a:solidFill>
                  <a:srgbClr val="000000"/>
                </a:solidFill>
                <a:latin typeface="Times New Roman"/>
                <a:ea typeface="Times New Roman"/>
                <a:cs typeface="Times New Roman"/>
              </a:rPr>
              <a:t>.”</a:t>
            </a:r>
            <a:endParaRPr/>
          </a:p>
          <a:p>
            <a:pPr>
              <a:defRPr/>
            </a:pPr>
            <a:endParaRPr/>
          </a:p>
          <a:p>
            <a:pPr>
              <a:defRPr/>
            </a:pPr>
            <a:r>
              <a:rPr sz="1200" b="0" i="0" u="none">
                <a:solidFill>
                  <a:srgbClr val="000000"/>
                </a:solidFill>
                <a:latin typeface="Times New Roman"/>
                <a:ea typeface="Times New Roman"/>
                <a:cs typeface="Times New Roman"/>
              </a:rPr>
              <a:t>The option:</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--reload</a:t>
            </a:r>
            <a:endParaRPr/>
          </a:p>
          <a:p>
            <a:pPr>
              <a:defRPr/>
            </a:pPr>
            <a:r>
              <a:rPr sz="1200" b="0" i="0" u="none">
                <a:solidFill>
                  <a:srgbClr val="000000"/>
                </a:solidFill>
                <a:latin typeface="Times New Roman"/>
                <a:ea typeface="Times New Roman"/>
                <a:cs typeface="Times New Roman"/>
              </a:rPr>
              <a:t>enables development mode auto-reload. When you change the source code and save the file, Uvicorn automatically restarts the server. This is very useful during development because you do not need to stop and restart the process manually every time you edit the code.</a:t>
            </a:r>
            <a:endParaRPr/>
          </a:p>
          <a:p>
            <a:pPr>
              <a:defRPr/>
            </a:pPr>
            <a:r>
              <a:rPr sz="1200" b="0" i="0" u="none">
                <a:solidFill>
                  <a:srgbClr val="000000"/>
                </a:solidFill>
                <a:latin typeface="Times New Roman"/>
                <a:ea typeface="Times New Roman"/>
                <a:cs typeface="Times New Roman"/>
              </a:rPr>
              <a:t>When this command runs successfully, the server begins listening on port 8000 by default. That means your application becomes reachable at </a:t>
            </a:r>
            <a:r>
              <a:rPr sz="1000" b="0" i="0" u="none">
                <a:solidFill>
                  <a:srgbClr val="000000"/>
                </a:solidFill>
                <a:latin typeface="Courier New"/>
                <a:ea typeface="Courier New"/>
                <a:cs typeface="Courier New"/>
              </a:rPr>
              <a:t>http://127.0.0.1:8000</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You can then open:</a:t>
            </a:r>
            <a:endParaRPr/>
          </a:p>
          <a:p>
            <a:pPr>
              <a:defRPr/>
            </a:pPr>
            <a:r>
              <a:rPr sz="1000" b="0" i="0" u="none">
                <a:solidFill>
                  <a:srgbClr val="000000"/>
                </a:solidFill>
                <a:latin typeface="Courier New"/>
                <a:ea typeface="Courier New"/>
                <a:cs typeface="Courier New"/>
              </a:rPr>
              <a:t>http://127.0.0.1:8000/docs</a:t>
            </a:r>
            <a:endParaRPr/>
          </a:p>
          <a:p>
            <a:pPr>
              <a:defRPr/>
            </a:pPr>
            <a:endParaRPr/>
          </a:p>
          <a:p>
            <a:pPr>
              <a:defRPr/>
            </a:pPr>
            <a:r>
              <a:rPr sz="1200" b="0" i="0" u="none">
                <a:solidFill>
                  <a:srgbClr val="000000"/>
                </a:solidFill>
                <a:latin typeface="Times New Roman"/>
                <a:ea typeface="Times New Roman"/>
                <a:cs typeface="Times New Roman"/>
              </a:rPr>
              <a:t>This opens the automatically generated Swagger UI. One of FastAPI’s strongest features is that it generates interactive API documentation from your code. This documentation lets you inspect endpoints, see request and response schemas, and even test the API directly from the browser.</a:t>
            </a: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This step is the point where your code becomes a live web service.</a:t>
            </a:r>
            <a:endParaRPr/>
          </a:p>
        </p:txBody>
      </p:sp>
      <p:sp>
        <p:nvSpPr>
          <p:cNvPr id="1046727477" name="Slide Number Placeholder 3"/>
          <p:cNvSpPr>
            <a:spLocks noGrp="1"/>
          </p:cNvSpPr>
          <p:nvPr>
            <p:ph type="sldNum" sz="quarter" idx="10"/>
          </p:nvPr>
        </p:nvSpPr>
        <p:spPr bwMode="auto"/>
        <p:txBody>
          <a:bodyPr/>
          <a:lstStyle/>
          <a:p>
            <a:pPr>
              <a:defRPr/>
            </a:pPr>
            <a:fld id="{D46F99AD-E200-E908-C783-D11997CFBF29}"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6243406" name="Slide Image Placeholder 1"/>
          <p:cNvSpPr>
            <a:spLocks noChangeAspect="1" noGrp="1" noRot="1"/>
          </p:cNvSpPr>
          <p:nvPr>
            <p:ph type="sldImg"/>
          </p:nvPr>
        </p:nvSpPr>
        <p:spPr bwMode="auto"/>
      </p:sp>
      <p:sp>
        <p:nvSpPr>
          <p:cNvPr id="957962660"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9. Test API with </a:t>
            </a:r>
            <a:r>
              <a:rPr sz="1950" b="1" i="0" u="none">
                <a:solidFill>
                  <a:srgbClr val="000000"/>
                </a:solidFill>
                <a:latin typeface="Courier New"/>
                <a:ea typeface="Courier New"/>
                <a:cs typeface="Courier New"/>
              </a:rPr>
              <a:t>curl</a:t>
            </a:r>
            <a:endParaRPr/>
          </a:p>
          <a:p>
            <a:pPr>
              <a:defRPr/>
            </a:pPr>
            <a:r>
              <a:rPr sz="1200" b="0" i="0" u="none">
                <a:solidFill>
                  <a:srgbClr val="000000"/>
                </a:solidFill>
                <a:latin typeface="Times New Roman"/>
                <a:ea typeface="Times New Roman"/>
                <a:cs typeface="Times New Roman"/>
              </a:rPr>
              <a:t>The POST test command is:</a:t>
            </a:r>
            <a:endParaRPr/>
          </a:p>
          <a:p>
            <a:pPr>
              <a:defRPr/>
            </a:pPr>
            <a:r>
              <a:rPr sz="1000" b="0" i="0" u="none">
                <a:solidFill>
                  <a:srgbClr val="000000"/>
                </a:solidFill>
                <a:latin typeface="Courier New"/>
                <a:ea typeface="Courier New"/>
                <a:cs typeface="Courier New"/>
              </a:rPr>
              <a:t>curl</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-X</a:t>
            </a:r>
            <a:r>
              <a:rPr sz="1000" b="0" i="0" u="none">
                <a:solidFill>
                  <a:srgbClr val="000000"/>
                </a:solidFill>
                <a:latin typeface="Courier New"/>
                <a:ea typeface="Courier New"/>
                <a:cs typeface="Courier New"/>
              </a:rPr>
              <a:t> POST http://localhost:8000/students/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-H</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"Content-Type: application/json"</a:t>
            </a:r>
            <a:r>
              <a:rPr sz="1000" b="0" i="0" u="none">
                <a:solidFill>
                  <a:srgbClr val="000000"/>
                </a:solidFill>
                <a:latin typeface="Courier New"/>
                <a:ea typeface="Courier New"/>
                <a:cs typeface="Courier New"/>
              </a:rPr>
              <a:t> \</a:t>
            </a:r>
            <a:br>
              <a:rPr sz="1000" b="0" i="0" u="none">
                <a:solidFill>
                  <a:srgbClr val="000000"/>
                </a:solidFill>
                <a:latin typeface="Courier New"/>
                <a:ea typeface="Courier New"/>
                <a:cs typeface="Courier New"/>
              </a:rPr>
            </a:br>
            <a:r>
              <a:rPr sz="1000" b="0" i="0" u="none">
                <a:solidFill>
                  <a:srgbClr val="000000"/>
                </a:solidFill>
                <a:latin typeface="Courier New"/>
                <a:ea typeface="Courier New"/>
                <a:cs typeface="Courier New"/>
              </a:rPr>
              <a:t>-d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'{"student_id":"101","name":"John","grade":3}'</a:t>
            </a:r>
            <a:endParaRPr/>
          </a:p>
          <a:p>
            <a:pPr>
              <a:defRPr/>
            </a:pPr>
            <a:r>
              <a:rPr sz="1200" b="0" i="0" u="none">
                <a:solidFill>
                  <a:srgbClr val="000000"/>
                </a:solidFill>
                <a:latin typeface="Times New Roman"/>
                <a:ea typeface="Times New Roman"/>
                <a:cs typeface="Times New Roman"/>
              </a:rPr>
              <a:t>The command </a:t>
            </a:r>
            <a:r>
              <a:rPr sz="1000" b="0" i="0" u="none">
                <a:solidFill>
                  <a:srgbClr val="000000"/>
                </a:solidFill>
                <a:latin typeface="Courier New"/>
                <a:ea typeface="Courier New"/>
                <a:cs typeface="Courier New"/>
              </a:rPr>
              <a:t>curl</a:t>
            </a:r>
            <a:r>
              <a:rPr sz="1200" b="0" i="0" u="none">
                <a:solidFill>
                  <a:srgbClr val="000000"/>
                </a:solidFill>
                <a:latin typeface="Times New Roman"/>
                <a:ea typeface="Times New Roman"/>
                <a:cs typeface="Times New Roman"/>
              </a:rPr>
              <a:t> is a command-line tool used to send HTTP requests.</a:t>
            </a:r>
            <a:endParaRPr/>
          </a:p>
          <a:p>
            <a:pPr>
              <a:defRPr/>
            </a:pPr>
            <a:endParaRPr/>
          </a:p>
          <a:p>
            <a:pPr>
              <a:defRPr/>
            </a:pPr>
            <a:r>
              <a:rPr sz="1200" b="0" i="0" u="none">
                <a:solidFill>
                  <a:srgbClr val="000000"/>
                </a:solidFill>
                <a:latin typeface="Times New Roman"/>
                <a:ea typeface="Times New Roman"/>
                <a:cs typeface="Times New Roman"/>
              </a:rPr>
              <a:t>The part:</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-X</a:t>
            </a:r>
            <a:r>
              <a:rPr sz="1000" b="0" i="0" u="none">
                <a:solidFill>
                  <a:srgbClr val="000000"/>
                </a:solidFill>
                <a:latin typeface="Courier New"/>
                <a:ea typeface="Courier New"/>
                <a:cs typeface="Courier New"/>
              </a:rPr>
              <a:t> POST</a:t>
            </a:r>
            <a:endParaRPr/>
          </a:p>
          <a:p>
            <a:pPr>
              <a:defRPr/>
            </a:pPr>
            <a:r>
              <a:rPr sz="1200" b="0" i="0" u="none">
                <a:solidFill>
                  <a:srgbClr val="000000"/>
                </a:solidFill>
                <a:latin typeface="Times New Roman"/>
                <a:ea typeface="Times New Roman"/>
                <a:cs typeface="Times New Roman"/>
              </a:rPr>
              <a:t>explicitly sets the HTTP method to POST.</a:t>
            </a:r>
            <a:endParaRPr/>
          </a:p>
          <a:p>
            <a:pPr>
              <a:defRPr/>
            </a:pPr>
            <a:endParaRPr/>
          </a:p>
          <a:p>
            <a:pPr>
              <a:defRPr/>
            </a:pPr>
            <a:r>
              <a:rPr sz="1200" b="0" i="0" u="none">
                <a:solidFill>
                  <a:srgbClr val="000000"/>
                </a:solidFill>
                <a:latin typeface="Times New Roman"/>
                <a:ea typeface="Times New Roman"/>
                <a:cs typeface="Times New Roman"/>
              </a:rPr>
              <a:t>The URL:</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http://localhost:8000/students/</a:t>
            </a:r>
            <a:endParaRPr/>
          </a:p>
          <a:p>
            <a:pPr>
              <a:defRPr/>
            </a:pPr>
            <a:r>
              <a:rPr sz="1200" b="0" i="0" u="none">
                <a:solidFill>
                  <a:srgbClr val="000000"/>
                </a:solidFill>
                <a:latin typeface="Times New Roman"/>
                <a:ea typeface="Times New Roman"/>
                <a:cs typeface="Times New Roman"/>
              </a:rPr>
              <a:t>specifies the target endpoint. </a:t>
            </a:r>
            <a:r>
              <a:rPr sz="1000" b="0" i="0" u="none">
                <a:solidFill>
                  <a:srgbClr val="000000"/>
                </a:solidFill>
                <a:latin typeface="Courier New"/>
                <a:ea typeface="Courier New"/>
                <a:cs typeface="Courier New"/>
              </a:rPr>
              <a:t>localhost</a:t>
            </a:r>
            <a:r>
              <a:rPr sz="1200" b="0" i="0" u="none">
                <a:solidFill>
                  <a:srgbClr val="000000"/>
                </a:solidFill>
                <a:latin typeface="Times New Roman"/>
                <a:ea typeface="Times New Roman"/>
                <a:cs typeface="Times New Roman"/>
              </a:rPr>
              <a:t> means the same machine you are currently using. Port 8000 is where Uvicorn is listening. </a:t>
            </a:r>
            <a:r>
              <a:rPr sz="1000" b="0" i="0" u="none">
                <a:solidFill>
                  <a:srgbClr val="000000"/>
                </a:solidFill>
                <a:latin typeface="Courier New"/>
                <a:ea typeface="Courier New"/>
                <a:cs typeface="Courier New"/>
              </a:rPr>
              <a:t>/students/</a:t>
            </a:r>
            <a:r>
              <a:rPr sz="1200" b="0" i="0" u="none">
                <a:solidFill>
                  <a:srgbClr val="000000"/>
                </a:solidFill>
                <a:latin typeface="Times New Roman"/>
                <a:ea typeface="Times New Roman"/>
                <a:cs typeface="Times New Roman"/>
              </a:rPr>
              <a:t> is the route you defined in FastAPI.</a:t>
            </a:r>
            <a:endParaRPr/>
          </a:p>
          <a:p>
            <a:pPr>
              <a:defRPr/>
            </a:pPr>
            <a:endParaRPr/>
          </a:p>
          <a:p>
            <a:pPr>
              <a:defRPr/>
            </a:pPr>
            <a:r>
              <a:rPr sz="1200" b="0" i="0" u="none">
                <a:solidFill>
                  <a:srgbClr val="000000"/>
                </a:solidFill>
                <a:latin typeface="Times New Roman"/>
                <a:ea typeface="Times New Roman"/>
                <a:cs typeface="Times New Roman"/>
              </a:rPr>
              <a:t>The header:</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-H</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"Content-Type: application/json"</a:t>
            </a:r>
            <a:endParaRPr/>
          </a:p>
          <a:p>
            <a:pPr>
              <a:defRPr/>
            </a:pPr>
            <a:r>
              <a:rPr sz="1200" b="0" i="0" u="none">
                <a:solidFill>
                  <a:srgbClr val="000000"/>
                </a:solidFill>
                <a:latin typeface="Times New Roman"/>
                <a:ea typeface="Times New Roman"/>
                <a:cs typeface="Times New Roman"/>
              </a:rPr>
              <a:t>tells the server that the request body contains JSON data. This is important because the API expects JSON and uses that header to interpret the input correctly.</a:t>
            </a:r>
            <a:endParaRPr/>
          </a:p>
          <a:p>
            <a:pPr>
              <a:defRPr/>
            </a:pPr>
            <a:endParaRPr/>
          </a:p>
          <a:p>
            <a:pPr>
              <a:defRPr/>
            </a:pPr>
            <a:r>
              <a:rPr sz="1200" b="0" i="0" u="none">
                <a:solidFill>
                  <a:srgbClr val="000000"/>
                </a:solidFill>
                <a:latin typeface="Times New Roman"/>
                <a:ea typeface="Times New Roman"/>
                <a:cs typeface="Times New Roman"/>
              </a:rPr>
              <a:t>The data section:</a:t>
            </a:r>
            <a:endParaRPr sz="1200" b="0" i="0" u="none">
              <a:solidFill>
                <a:srgbClr val="000000"/>
              </a:solidFill>
              <a:latin typeface="Times New Roman"/>
              <a:ea typeface="Times New Roman"/>
              <a:cs typeface="Times New Roman"/>
            </a:endParaRPr>
          </a:p>
          <a:p>
            <a:pPr>
              <a:defRPr/>
            </a:pPr>
            <a:r>
              <a:rPr sz="1000" b="0" i="0" u="none">
                <a:solidFill>
                  <a:srgbClr val="000000"/>
                </a:solidFill>
                <a:latin typeface="Courier New"/>
                <a:ea typeface="Courier New"/>
                <a:cs typeface="Courier New"/>
              </a:rPr>
              <a:t>-d</a:t>
            </a:r>
            <a:r>
              <a:rPr sz="1000" b="0" i="0" u="none">
                <a:solidFill>
                  <a:srgbClr val="000000"/>
                </a:solidFill>
                <a:latin typeface="Courier New"/>
                <a:ea typeface="Courier New"/>
                <a:cs typeface="Courier New"/>
              </a:rPr>
              <a:t> </a:t>
            </a:r>
            <a:r>
              <a:rPr sz="1000" b="0" i="0" u="none">
                <a:solidFill>
                  <a:srgbClr val="000000"/>
                </a:solidFill>
                <a:latin typeface="Courier New"/>
                <a:ea typeface="Courier New"/>
                <a:cs typeface="Courier New"/>
              </a:rPr>
              <a:t>'{"student_id":"101","name":"John","grade":3}'</a:t>
            </a:r>
            <a:endParaRPr/>
          </a:p>
          <a:p>
            <a:pPr>
              <a:defRPr/>
            </a:pPr>
            <a:r>
              <a:rPr sz="1200" b="0" i="0" u="none">
                <a:solidFill>
                  <a:srgbClr val="000000"/>
                </a:solidFill>
                <a:latin typeface="Times New Roman"/>
                <a:ea typeface="Times New Roman"/>
                <a:cs typeface="Times New Roman"/>
              </a:rPr>
              <a:t>sends the actual JSON payload. This payload is parsed by FastAPI, validated by Pydantic against the </a:t>
            </a:r>
            <a:r>
              <a:rPr sz="1000" b="0" i="0" u="none">
                <a:solidFill>
                  <a:srgbClr val="000000"/>
                </a:solidFill>
                <a:latin typeface="Courier New"/>
                <a:ea typeface="Courier New"/>
                <a:cs typeface="Courier New"/>
              </a:rPr>
              <a:t>Student</a:t>
            </a:r>
            <a:r>
              <a:rPr sz="1200" b="0" i="0" u="none">
                <a:solidFill>
                  <a:srgbClr val="000000"/>
                </a:solidFill>
                <a:latin typeface="Times New Roman"/>
                <a:ea typeface="Times New Roman"/>
                <a:cs typeface="Times New Roman"/>
              </a:rPr>
              <a:t> model, and then inserted into MongoDB by Motor.</a:t>
            </a:r>
            <a:endParaRPr/>
          </a:p>
          <a:p>
            <a:pPr>
              <a:defRPr/>
            </a:pPr>
            <a:r>
              <a:rPr sz="1200" b="0" i="0" u="none">
                <a:solidFill>
                  <a:srgbClr val="000000"/>
                </a:solidFill>
                <a:latin typeface="Times New Roman"/>
                <a:ea typeface="Times New Roman"/>
                <a:cs typeface="Times New Roman"/>
              </a:rPr>
              <a:t>This command demonstrates how a client creates a resource in a REST API.</a:t>
            </a:r>
            <a:endParaRPr/>
          </a:p>
          <a:p>
            <a:pPr>
              <a:defRPr/>
            </a:pPr>
            <a:endParaRPr/>
          </a:p>
          <a:p>
            <a:pPr>
              <a:defRPr/>
            </a:pPr>
            <a:endParaRPr/>
          </a:p>
        </p:txBody>
      </p:sp>
      <p:sp>
        <p:nvSpPr>
          <p:cNvPr id="784311784" name="Slide Number Placeholder 3"/>
          <p:cNvSpPr>
            <a:spLocks noGrp="1"/>
          </p:cNvSpPr>
          <p:nvPr>
            <p:ph type="sldNum" sz="quarter" idx="10"/>
          </p:nvPr>
        </p:nvSpPr>
        <p:spPr bwMode="auto"/>
        <p:txBody>
          <a:bodyPr/>
          <a:lstStyle/>
          <a:p>
            <a:pPr>
              <a:defRPr/>
            </a:pPr>
            <a:fld id="{01B1D6C4-9563-E825-EE97-685E6A46D36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4858486" name="Slide Image Placeholder 1"/>
          <p:cNvSpPr>
            <a:spLocks noChangeAspect="1" noGrp="1" noRot="1"/>
          </p:cNvSpPr>
          <p:nvPr>
            <p:ph type="sldImg"/>
          </p:nvPr>
        </p:nvSpPr>
        <p:spPr bwMode="auto"/>
      </p:sp>
      <p:sp>
        <p:nvSpPr>
          <p:cNvPr id="791529631" name="Notes Placeholder 2"/>
          <p:cNvSpPr>
            <a:spLocks noGrp="1"/>
          </p:cNvSpPr>
          <p:nvPr>
            <p:ph type="body" idx="1"/>
          </p:nvPr>
        </p:nvSpPr>
        <p:spPr bwMode="auto"/>
        <p:txBody>
          <a:bodyPr/>
          <a:lstStyle/>
          <a:p>
            <a:pPr>
              <a:defRPr/>
            </a:pPr>
            <a:r>
              <a:rPr sz="1800" b="1" i="0" u="none">
                <a:solidFill>
                  <a:srgbClr val="000000"/>
                </a:solidFill>
                <a:latin typeface="Times New Roman"/>
                <a:ea typeface="Times New Roman"/>
                <a:cs typeface="Times New Roman"/>
              </a:rPr>
              <a:t>Step 10 — Testing the GET Endpoint</a:t>
            </a:r>
            <a:endParaRPr/>
          </a:p>
          <a:p>
            <a:pPr>
              <a:defRPr/>
            </a:pPr>
            <a:r>
              <a:rPr lang="en-US" sz="1200" b="0" i="0" u="none" strike="noStrike" cap="none" spc="0">
                <a:solidFill>
                  <a:srgbClr val="000000"/>
                </a:solidFill>
                <a:latin typeface="Times New Roman"/>
                <a:ea typeface="Times New Roman"/>
                <a:cs typeface="Times New Roman"/>
              </a:rPr>
              <a:t>The GET command is:</a:t>
            </a:r>
            <a:endParaRPr sz="1200" b="0" i="0" u="none">
              <a:solidFill>
                <a:srgbClr val="000000"/>
              </a:solidFill>
              <a:latin typeface="Times New Roman"/>
              <a:ea typeface="Times New Roman"/>
              <a:cs typeface="Times New Roman"/>
            </a:endParaRPr>
          </a:p>
          <a:p>
            <a:pPr>
              <a:defRPr/>
            </a:pPr>
            <a:r>
              <a:rPr lang="en-US" sz="1200" b="0" i="0" u="none" strike="noStrike" cap="none" spc="0">
                <a:solidFill>
                  <a:srgbClr val="000000"/>
                </a:solidFill>
                <a:latin typeface="Courier New"/>
                <a:ea typeface="Courier New"/>
                <a:cs typeface="Courier New"/>
              </a:rPr>
              <a:t>curl</a:t>
            </a:r>
            <a:r>
              <a:rPr lang="en-US" sz="1200" b="0" i="0" u="none" strike="noStrike" cap="none" spc="0">
                <a:solidFill>
                  <a:srgbClr val="000000"/>
                </a:solidFill>
                <a:latin typeface="Courier New"/>
                <a:ea typeface="Courier New"/>
                <a:cs typeface="Courier New"/>
              </a:rPr>
              <a:t> http://localhost:8000/students/101</a:t>
            </a:r>
            <a:endParaRPr/>
          </a:p>
          <a:p>
            <a:pPr>
              <a:defRPr/>
            </a:pPr>
            <a:r>
              <a:rPr lang="en-US" sz="1200" b="0" i="0" u="none" strike="noStrike" cap="none" spc="0">
                <a:solidFill>
                  <a:srgbClr val="000000"/>
                </a:solidFill>
                <a:latin typeface="Times New Roman"/>
                <a:ea typeface="Times New Roman"/>
                <a:cs typeface="Times New Roman"/>
              </a:rPr>
              <a:t>This sends a GET request to retrieve the student whose </a:t>
            </a:r>
            <a:r>
              <a:rPr lang="en-US" sz="1200" b="0" i="0" u="none" strike="noStrike" cap="none" spc="0">
                <a:solidFill>
                  <a:srgbClr val="000000"/>
                </a:solidFill>
                <a:latin typeface="Courier New"/>
                <a:ea typeface="Courier New"/>
                <a:cs typeface="Courier New"/>
              </a:rPr>
              <a:t>student_id</a:t>
            </a:r>
            <a:r>
              <a:rPr lang="en-US" sz="1200" b="0" i="0" u="none" strike="noStrike" cap="none" spc="0">
                <a:solidFill>
                  <a:srgbClr val="000000"/>
                </a:solidFill>
                <a:latin typeface="Times New Roman"/>
                <a:ea typeface="Times New Roman"/>
                <a:cs typeface="Times New Roman"/>
              </a:rPr>
              <a:t> is </a:t>
            </a:r>
            <a:r>
              <a:rPr lang="en-US" sz="1200" b="0" i="0" u="none" strike="noStrike" cap="none" spc="0">
                <a:solidFill>
                  <a:srgbClr val="000000"/>
                </a:solidFill>
                <a:latin typeface="Courier New"/>
                <a:ea typeface="Courier New"/>
                <a:cs typeface="Courier New"/>
              </a:rPr>
              <a:t>101</a:t>
            </a:r>
            <a:r>
              <a:rPr lang="en-US" sz="1200" b="0" i="0" u="none" strike="noStrike" cap="none" spc="0">
                <a:solidFill>
                  <a:srgbClr val="000000"/>
                </a:solidFill>
                <a:latin typeface="Times New Roman"/>
                <a:ea typeface="Times New Roman"/>
                <a:cs typeface="Times New Roman"/>
              </a:rPr>
              <a:t>. The value </a:t>
            </a:r>
            <a:r>
              <a:rPr lang="en-US" sz="1200" b="0" i="0" u="none" strike="noStrike" cap="none" spc="0">
                <a:solidFill>
                  <a:srgbClr val="000000"/>
                </a:solidFill>
                <a:latin typeface="Courier New"/>
                <a:ea typeface="Courier New"/>
                <a:cs typeface="Courier New"/>
              </a:rPr>
              <a:t>101</a:t>
            </a:r>
            <a:r>
              <a:rPr lang="en-US" sz="1200" b="0" i="0" u="none" strike="noStrike" cap="none" spc="0">
                <a:solidFill>
                  <a:srgbClr val="000000"/>
                </a:solidFill>
                <a:latin typeface="Times New Roman"/>
                <a:ea typeface="Times New Roman"/>
                <a:cs typeface="Times New Roman"/>
              </a:rPr>
              <a:t> becomes the path parameter used in the database query.</a:t>
            </a:r>
            <a:endParaRPr/>
          </a:p>
        </p:txBody>
      </p:sp>
      <p:sp>
        <p:nvSpPr>
          <p:cNvPr id="1420185040" name="Slide Number Placeholder 3"/>
          <p:cNvSpPr>
            <a:spLocks noGrp="1"/>
          </p:cNvSpPr>
          <p:nvPr>
            <p:ph type="sldNum" sz="quarter" idx="10"/>
          </p:nvPr>
        </p:nvSpPr>
        <p:spPr bwMode="auto"/>
        <p:txBody>
          <a:bodyPr/>
          <a:lstStyle/>
          <a:p>
            <a:pPr>
              <a:defRPr/>
            </a:pPr>
            <a:fld id="{D975268C-7AB8-C6CC-48E6-F0933EBACF6E}"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1330534" name="Slide Image Placeholder 1"/>
          <p:cNvSpPr>
            <a:spLocks noChangeAspect="1" noGrp="1" noRot="1"/>
          </p:cNvSpPr>
          <p:nvPr>
            <p:ph type="sldImg"/>
          </p:nvPr>
        </p:nvSpPr>
        <p:spPr bwMode="auto"/>
      </p:sp>
      <p:sp>
        <p:nvSpPr>
          <p:cNvPr id="254891074" name="Notes Placeholder 2"/>
          <p:cNvSpPr>
            <a:spLocks noGrp="1"/>
          </p:cNvSpPr>
          <p:nvPr>
            <p:ph type="body" idx="1"/>
          </p:nvPr>
        </p:nvSpPr>
        <p:spPr bwMode="auto"/>
        <p:txBody>
          <a:bodyPr/>
          <a:lstStyle/>
          <a:p>
            <a:pPr>
              <a:defRPr/>
            </a:pPr>
            <a:r>
              <a:rPr sz="1800" b="1" i="0" u="none">
                <a:solidFill>
                  <a:srgbClr val="000000"/>
                </a:solidFill>
                <a:latin typeface="Times New Roman"/>
                <a:ea typeface="Times New Roman"/>
                <a:cs typeface="Times New Roman"/>
              </a:rPr>
              <a:t>Step 11 — Testing the DELETE Endpoint</a:t>
            </a:r>
            <a:endParaRPr/>
          </a:p>
          <a:p>
            <a:pPr>
              <a:defRPr/>
            </a:pPr>
            <a:endParaRPr sz="1200"/>
          </a:p>
          <a:p>
            <a:pPr>
              <a:defRPr/>
            </a:pPr>
            <a:r>
              <a:rPr lang="en-US" sz="1200" b="0" i="0" u="none" strike="noStrike" cap="none" spc="0">
                <a:solidFill>
                  <a:srgbClr val="000000"/>
                </a:solidFill>
                <a:latin typeface="Times New Roman"/>
                <a:ea typeface="Times New Roman"/>
                <a:cs typeface="Times New Roman"/>
              </a:rPr>
              <a:t>The DELETE command is:</a:t>
            </a:r>
            <a:endParaRPr sz="1200" b="0" i="0" u="none">
              <a:solidFill>
                <a:srgbClr val="000000"/>
              </a:solidFill>
              <a:latin typeface="Times New Roman"/>
              <a:ea typeface="Times New Roman"/>
              <a:cs typeface="Times New Roman"/>
            </a:endParaRPr>
          </a:p>
          <a:p>
            <a:pPr>
              <a:defRPr/>
            </a:pPr>
            <a:r>
              <a:rPr lang="en-US" sz="1200" b="0" i="0" u="none" strike="noStrike" cap="none" spc="0">
                <a:solidFill>
                  <a:srgbClr val="000000"/>
                </a:solidFill>
                <a:latin typeface="Courier New"/>
                <a:ea typeface="Courier New"/>
                <a:cs typeface="Courier New"/>
              </a:rPr>
              <a:t>curl</a:t>
            </a:r>
            <a:r>
              <a:rPr lang="en-US" sz="1200" b="0" i="0" u="none" strike="noStrike" cap="none" spc="0">
                <a:solidFill>
                  <a:srgbClr val="000000"/>
                </a:solidFill>
                <a:latin typeface="Courier New"/>
                <a:ea typeface="Courier New"/>
                <a:cs typeface="Courier New"/>
              </a:rPr>
              <a:t> </a:t>
            </a:r>
            <a:r>
              <a:rPr lang="en-US" sz="1200" b="0" i="0" u="none" strike="noStrike" cap="none" spc="0">
                <a:solidFill>
                  <a:srgbClr val="000000"/>
                </a:solidFill>
                <a:latin typeface="Courier New"/>
                <a:ea typeface="Courier New"/>
                <a:cs typeface="Courier New"/>
              </a:rPr>
              <a:t>-X</a:t>
            </a:r>
            <a:r>
              <a:rPr lang="en-US" sz="1200" b="0" i="0" u="none" strike="noStrike" cap="none" spc="0">
                <a:solidFill>
                  <a:srgbClr val="000000"/>
                </a:solidFill>
                <a:latin typeface="Courier New"/>
                <a:ea typeface="Courier New"/>
                <a:cs typeface="Courier New"/>
              </a:rPr>
              <a:t> DELETE http://localhost:8000/students/101</a:t>
            </a:r>
            <a:endParaRPr sz="1200"/>
          </a:p>
          <a:p>
            <a:pPr>
              <a:defRPr/>
            </a:pPr>
            <a:r>
              <a:rPr lang="en-US" sz="1200" b="0" i="0" u="none" strike="noStrike" cap="none" spc="0">
                <a:solidFill>
                  <a:srgbClr val="000000"/>
                </a:solidFill>
                <a:latin typeface="Times New Roman"/>
                <a:ea typeface="Times New Roman"/>
                <a:cs typeface="Times New Roman"/>
              </a:rPr>
              <a:t>This sends a DELETE request to remove the student with ID </a:t>
            </a:r>
            <a:r>
              <a:rPr lang="en-US" sz="1200" b="0" i="0" u="none" strike="noStrike" cap="none" spc="0">
                <a:solidFill>
                  <a:srgbClr val="000000"/>
                </a:solidFill>
                <a:latin typeface="Courier New"/>
                <a:ea typeface="Courier New"/>
                <a:cs typeface="Courier New"/>
              </a:rPr>
              <a:t>101</a:t>
            </a:r>
            <a:r>
              <a:rPr lang="en-US" sz="1200" b="0" i="0" u="none" strike="noStrike" cap="none" spc="0">
                <a:solidFill>
                  <a:srgbClr val="000000"/>
                </a:solidFill>
                <a:latin typeface="Times New Roman"/>
                <a:ea typeface="Times New Roman"/>
                <a:cs typeface="Times New Roman"/>
              </a:rPr>
              <a:t>. It maps directly to the delete endpoint in your code.</a:t>
            </a:r>
            <a:endParaRPr sz="1200"/>
          </a:p>
          <a:p>
            <a:pPr>
              <a:defRPr/>
            </a:pPr>
            <a:endParaRPr sz="1200"/>
          </a:p>
          <a:p>
            <a:pPr>
              <a:defRPr/>
            </a:pPr>
            <a:r>
              <a:rPr lang="en-US" sz="1200" b="0" i="0" u="none" strike="noStrike" cap="none" spc="0">
                <a:solidFill>
                  <a:srgbClr val="000000"/>
                </a:solidFill>
                <a:latin typeface="Times New Roman"/>
                <a:ea typeface="Times New Roman"/>
                <a:cs typeface="Times New Roman"/>
              </a:rPr>
              <a:t>These commands are important because they prove that the API is not just running, but functioning correctly end-to-end.</a:t>
            </a:r>
            <a:endParaRPr sz="1200" b="0" i="0" u="none">
              <a:solidFill>
                <a:srgbClr val="000000"/>
              </a:solidFill>
              <a:latin typeface="Times New Roman"/>
              <a:ea typeface="Times New Roman"/>
              <a:cs typeface="Times New Roman"/>
            </a:endParaRPr>
          </a:p>
          <a:p>
            <a:pPr>
              <a:defRPr/>
            </a:pPr>
            <a:endParaRPr/>
          </a:p>
        </p:txBody>
      </p:sp>
      <p:sp>
        <p:nvSpPr>
          <p:cNvPr id="719179941" name="Slide Number Placeholder 3"/>
          <p:cNvSpPr>
            <a:spLocks noGrp="1"/>
          </p:cNvSpPr>
          <p:nvPr>
            <p:ph type="sldNum" sz="quarter" idx="10"/>
          </p:nvPr>
        </p:nvSpPr>
        <p:spPr bwMode="auto"/>
        <p:txBody>
          <a:bodyPr/>
          <a:lstStyle/>
          <a:p>
            <a:pPr>
              <a:defRPr/>
            </a:pPr>
            <a:fld id="{F760D8A5-3DC2-EBFD-F652-536FF17DC00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5146461" name="Slide Image Placeholder 1"/>
          <p:cNvSpPr>
            <a:spLocks noChangeAspect="1" noGrp="1" noRot="1"/>
          </p:cNvSpPr>
          <p:nvPr>
            <p:ph type="sldImg"/>
          </p:nvPr>
        </p:nvSpPr>
        <p:spPr bwMode="auto"/>
      </p:sp>
      <p:sp>
        <p:nvSpPr>
          <p:cNvPr id="1332004654" name="Notes Placeholder 2"/>
          <p:cNvSpPr>
            <a:spLocks noGrp="1"/>
          </p:cNvSpPr>
          <p:nvPr>
            <p:ph type="body" idx="1"/>
          </p:nvPr>
        </p:nvSpPr>
        <p:spPr bwMode="auto"/>
        <p:txBody>
          <a:bodyPr/>
          <a:lstStyle/>
          <a:p>
            <a:pPr>
              <a:defRPr/>
            </a:pPr>
            <a:r>
              <a:rPr sz="2400" b="1" i="0" u="none">
                <a:solidFill>
                  <a:srgbClr val="000000"/>
                </a:solidFill>
                <a:latin typeface="Times New Roman"/>
                <a:ea typeface="Times New Roman"/>
                <a:cs typeface="Times New Roman"/>
              </a:rPr>
              <a:t>10. Common Issues</a:t>
            </a:r>
            <a:endParaRPr/>
          </a:p>
          <a:p>
            <a:pPr>
              <a:defRPr/>
            </a:pPr>
            <a:r>
              <a:rPr sz="1200" b="0" i="0" u="none">
                <a:solidFill>
                  <a:srgbClr val="000000"/>
                </a:solidFill>
                <a:latin typeface="Times New Roman"/>
                <a:ea typeface="Times New Roman"/>
                <a:cs typeface="Times New Roman"/>
              </a:rPr>
              <a:t>This section is not just about errors. It is about understanding the architecture well enough to know where a failure comes from.</a:t>
            </a:r>
            <a:endParaRPr/>
          </a:p>
          <a:p>
            <a:pPr>
              <a:defRPr/>
            </a:pPr>
            <a:endParaRPr/>
          </a:p>
          <a:p>
            <a:pPr>
              <a:defRPr/>
            </a:pPr>
            <a:r>
              <a:rPr sz="1200" b="0" i="0" u="none">
                <a:solidFill>
                  <a:srgbClr val="000000"/>
                </a:solidFill>
                <a:latin typeface="Times New Roman"/>
                <a:ea typeface="Times New Roman"/>
                <a:cs typeface="Times New Roman"/>
              </a:rPr>
              <a:t>When you check whether the server is running, you are verifying that Uvicorn is actively listening on port 8000. If the server is not running, any request to </a:t>
            </a:r>
            <a:r>
              <a:rPr sz="1000" b="0" i="0" u="none">
                <a:solidFill>
                  <a:srgbClr val="000000"/>
                </a:solidFill>
                <a:latin typeface="Courier New"/>
                <a:ea typeface="Courier New"/>
                <a:cs typeface="Courier New"/>
              </a:rPr>
              <a:t>localhost:8000</a:t>
            </a:r>
            <a:r>
              <a:rPr sz="1200" b="0" i="0" u="none">
                <a:solidFill>
                  <a:srgbClr val="000000"/>
                </a:solidFill>
                <a:latin typeface="Times New Roman"/>
                <a:ea typeface="Times New Roman"/>
                <a:cs typeface="Times New Roman"/>
              </a:rPr>
              <a:t> will fail with connection errors. This usually means the </a:t>
            </a:r>
            <a:r>
              <a:rPr sz="1000" b="0" i="0" u="none">
                <a:solidFill>
                  <a:srgbClr val="000000"/>
                </a:solidFill>
                <a:latin typeface="Courier New"/>
                <a:ea typeface="Courier New"/>
                <a:cs typeface="Courier New"/>
              </a:rPr>
              <a:t>uvicorn main:app --reload</a:t>
            </a:r>
            <a:r>
              <a:rPr sz="1200" b="0" i="0" u="none">
                <a:solidFill>
                  <a:srgbClr val="000000"/>
                </a:solidFill>
                <a:latin typeface="Times New Roman"/>
                <a:ea typeface="Times New Roman"/>
                <a:cs typeface="Times New Roman"/>
              </a:rPr>
              <a:t> command was never started, or it crashed because of a syntax or import error.</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When you check ports, you are verifying that the required network ports are free and correctly bound. FastAPI usually uses port 8000, while MongoDB uses port 27017. If another program is already using one of those ports, your service may fail to start. Port checking helps identify network-level conflicts.</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When you check Docker, you are verifying that the MongoDB container actually exists and is running. Since the application depends on the database, a stopped MongoDB container means the API cannot connect to the backend database service. In that case, read operations, insertions, and deletions will all fail even if FastAPI itself is running correctly.</a:t>
            </a:r>
            <a:endParaRPr sz="1200" b="0" i="0" u="none">
              <a:solidFill>
                <a:srgbClr val="000000"/>
              </a:solidFill>
              <a:latin typeface="Times New Roman"/>
              <a:ea typeface="Times New Roman"/>
              <a:cs typeface="Times New Roman"/>
            </a:endParaRPr>
          </a:p>
          <a:p>
            <a:pPr>
              <a:defRPr/>
            </a:pPr>
            <a:endParaRPr/>
          </a:p>
          <a:p>
            <a:pPr>
              <a:defRPr/>
            </a:pPr>
            <a:r>
              <a:rPr sz="1200" b="0" i="0" u="none">
                <a:solidFill>
                  <a:srgbClr val="000000"/>
                </a:solidFill>
                <a:latin typeface="Times New Roman"/>
                <a:ea typeface="Times New Roman"/>
                <a:cs typeface="Times New Roman"/>
              </a:rPr>
              <a:t>When you check dependencies, you are verifying the integrity of the Python environment. If </a:t>
            </a:r>
            <a:r>
              <a:rPr sz="1000" b="0" i="0" u="none">
                <a:solidFill>
                  <a:srgbClr val="000000"/>
                </a:solidFill>
                <a:latin typeface="Courier New"/>
                <a:ea typeface="Courier New"/>
                <a:cs typeface="Courier New"/>
              </a:rPr>
              <a:t>fastapi</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uvicorn</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motor</a:t>
            </a:r>
            <a:r>
              <a:rPr sz="1200" b="0" i="0" u="none">
                <a:solidFill>
                  <a:srgbClr val="000000"/>
                </a:solidFill>
                <a:latin typeface="Times New Roman"/>
                <a:ea typeface="Times New Roman"/>
                <a:cs typeface="Times New Roman"/>
              </a:rPr>
              <a:t>, or </a:t>
            </a:r>
            <a:r>
              <a:rPr sz="1000" b="0" i="0" u="none">
                <a:solidFill>
                  <a:srgbClr val="000000"/>
                </a:solidFill>
                <a:latin typeface="Courier New"/>
                <a:ea typeface="Courier New"/>
                <a:cs typeface="Courier New"/>
              </a:rPr>
              <a:t>pydantic</a:t>
            </a:r>
            <a:r>
              <a:rPr sz="1200" b="0" i="0" u="none">
                <a:solidFill>
                  <a:srgbClr val="000000"/>
                </a:solidFill>
                <a:latin typeface="Times New Roman"/>
                <a:ea typeface="Times New Roman"/>
                <a:cs typeface="Times New Roman"/>
              </a:rPr>
              <a:t> are missing, the application cannot import the required modules and will crash before the server starts. Dependency checking also confirms that the virtual environment is activated, which is essential because package availability depends on the active Python context.</a:t>
            </a:r>
            <a:endParaRPr sz="1200" b="0" i="0" u="none">
              <a:solidFill>
                <a:srgbClr val="000000"/>
              </a:solidFill>
              <a:latin typeface="Times New Roman"/>
              <a:ea typeface="Times New Roman"/>
              <a:cs typeface="Times New Roman"/>
            </a:endParaRPr>
          </a:p>
          <a:p>
            <a:pPr>
              <a:defRPr/>
            </a:pPr>
            <a:r>
              <a:rPr sz="1200" b="0" i="0" u="none">
                <a:solidFill>
                  <a:srgbClr val="000000"/>
                </a:solidFill>
                <a:latin typeface="Times New Roman"/>
                <a:ea typeface="Times New Roman"/>
                <a:cs typeface="Times New Roman"/>
              </a:rPr>
              <a:t>So the deeper lesson of the “common issues” section is that this project consists of multiple layers: the </a:t>
            </a:r>
            <a:r>
              <a:rPr sz="1200" b="1" i="0" u="none">
                <a:solidFill>
                  <a:srgbClr val="000000"/>
                </a:solidFill>
                <a:latin typeface="Times New Roman"/>
                <a:ea typeface="Times New Roman"/>
                <a:cs typeface="Times New Roman"/>
              </a:rPr>
              <a:t>shell environment</a:t>
            </a:r>
            <a:r>
              <a:rPr sz="1200" b="0" i="0" u="none">
                <a:solidFill>
                  <a:srgbClr val="000000"/>
                </a:solidFill>
                <a:latin typeface="Times New Roman"/>
                <a:ea typeface="Times New Roman"/>
                <a:cs typeface="Times New Roman"/>
              </a:rPr>
              <a:t>, the </a:t>
            </a:r>
            <a:r>
              <a:rPr sz="1200" b="1" i="0" u="none">
                <a:solidFill>
                  <a:srgbClr val="000000"/>
                </a:solidFill>
                <a:latin typeface="Times New Roman"/>
                <a:ea typeface="Times New Roman"/>
                <a:cs typeface="Times New Roman"/>
              </a:rPr>
              <a:t>Python environment</a:t>
            </a:r>
            <a:r>
              <a:rPr sz="1200" b="0" i="0" u="none">
                <a:solidFill>
                  <a:srgbClr val="000000"/>
                </a:solidFill>
                <a:latin typeface="Times New Roman"/>
                <a:ea typeface="Times New Roman"/>
                <a:cs typeface="Times New Roman"/>
              </a:rPr>
              <a:t>, the </a:t>
            </a:r>
            <a:r>
              <a:rPr sz="1200" b="1" i="0" u="none">
                <a:solidFill>
                  <a:srgbClr val="000000"/>
                </a:solidFill>
                <a:latin typeface="Times New Roman"/>
                <a:ea typeface="Times New Roman"/>
                <a:cs typeface="Times New Roman"/>
              </a:rPr>
              <a:t>application server</a:t>
            </a:r>
            <a:r>
              <a:rPr sz="1200" b="0" i="0" u="none">
                <a:solidFill>
                  <a:srgbClr val="000000"/>
                </a:solidFill>
                <a:latin typeface="Times New Roman"/>
                <a:ea typeface="Times New Roman"/>
                <a:cs typeface="Times New Roman"/>
              </a:rPr>
              <a:t>, the </a:t>
            </a:r>
            <a:r>
              <a:rPr sz="1200" b="1" i="0" u="none">
                <a:solidFill>
                  <a:srgbClr val="000000"/>
                </a:solidFill>
                <a:latin typeface="Times New Roman"/>
                <a:ea typeface="Times New Roman"/>
                <a:cs typeface="Times New Roman"/>
              </a:rPr>
              <a:t>database driver</a:t>
            </a:r>
            <a:r>
              <a:rPr sz="1200" b="0" i="0" u="none">
                <a:solidFill>
                  <a:srgbClr val="000000"/>
                </a:solidFill>
                <a:latin typeface="Times New Roman"/>
                <a:ea typeface="Times New Roman"/>
                <a:cs typeface="Times New Roman"/>
              </a:rPr>
              <a:t>, the </a:t>
            </a:r>
            <a:r>
              <a:rPr sz="1200" b="1" i="0" u="none">
                <a:solidFill>
                  <a:srgbClr val="000000"/>
                </a:solidFill>
                <a:latin typeface="Times New Roman"/>
                <a:ea typeface="Times New Roman"/>
                <a:cs typeface="Times New Roman"/>
              </a:rPr>
              <a:t>Docker container</a:t>
            </a:r>
            <a:r>
              <a:rPr sz="1200" b="0" i="0" u="none">
                <a:solidFill>
                  <a:srgbClr val="000000"/>
                </a:solidFill>
                <a:latin typeface="Times New Roman"/>
                <a:ea typeface="Times New Roman"/>
                <a:cs typeface="Times New Roman"/>
              </a:rPr>
              <a:t>, and the </a:t>
            </a:r>
            <a:r>
              <a:rPr sz="1200" b="1" i="0" u="none">
                <a:solidFill>
                  <a:srgbClr val="000000"/>
                </a:solidFill>
                <a:latin typeface="Times New Roman"/>
                <a:ea typeface="Times New Roman"/>
                <a:cs typeface="Times New Roman"/>
              </a:rPr>
              <a:t>network ports</a:t>
            </a:r>
            <a:r>
              <a:rPr sz="1200" b="0" i="0" u="none">
                <a:solidFill>
                  <a:srgbClr val="000000"/>
                </a:solidFill>
                <a:latin typeface="Times New Roman"/>
                <a:ea typeface="Times New Roman"/>
                <a:cs typeface="Times New Roman"/>
              </a:rPr>
              <a:t>. If one layer is broken, the whole system appears broken. Good debugging means checking each layer methodically.</a:t>
            </a:r>
            <a:endParaRPr/>
          </a:p>
        </p:txBody>
      </p:sp>
      <p:sp>
        <p:nvSpPr>
          <p:cNvPr id="1456219948" name="Slide Number Placeholder 3"/>
          <p:cNvSpPr>
            <a:spLocks noGrp="1"/>
          </p:cNvSpPr>
          <p:nvPr>
            <p:ph type="sldNum" sz="quarter" idx="10"/>
          </p:nvPr>
        </p:nvSpPr>
        <p:spPr bwMode="auto"/>
        <p:txBody>
          <a:bodyPr/>
          <a:lstStyle/>
          <a:p>
            <a:pPr>
              <a:defRPr/>
            </a:pPr>
            <a:fld id="{B9041A56-67AE-86D1-EF0D-6D54078DFB3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679941506"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751777961"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03081560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51959971" name="Footer Placeholder 4"/>
          <p:cNvSpPr>
            <a:spLocks noGrp="1"/>
          </p:cNvSpPr>
          <p:nvPr>
            <p:ph type="ftr" sz="quarter" idx="11"/>
          </p:nvPr>
        </p:nvSpPr>
        <p:spPr bwMode="auto"/>
        <p:txBody>
          <a:bodyPr/>
          <a:lstStyle/>
          <a:p>
            <a:pPr>
              <a:defRPr/>
            </a:pPr>
            <a:endParaRPr lang="en-US"/>
          </a:p>
        </p:txBody>
      </p:sp>
      <p:sp>
        <p:nvSpPr>
          <p:cNvPr id="203454635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029396179" name="Title 1"/>
          <p:cNvSpPr>
            <a:spLocks noGrp="1"/>
          </p:cNvSpPr>
          <p:nvPr>
            <p:ph type="title"/>
          </p:nvPr>
        </p:nvSpPr>
        <p:spPr bwMode="auto"/>
        <p:txBody>
          <a:bodyPr/>
          <a:lstStyle/>
          <a:p>
            <a:pPr>
              <a:defRPr/>
            </a:pPr>
            <a:r>
              <a:rPr lang="en-US"/>
              <a:t>Click to edit Master title style</a:t>
            </a:r>
            <a:endParaRPr lang="en-US"/>
          </a:p>
        </p:txBody>
      </p:sp>
      <p:sp>
        <p:nvSpPr>
          <p:cNvPr id="70120739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9563907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11729503" name="Footer Placeholder 4"/>
          <p:cNvSpPr>
            <a:spLocks noGrp="1"/>
          </p:cNvSpPr>
          <p:nvPr>
            <p:ph type="ftr" sz="quarter" idx="11"/>
          </p:nvPr>
        </p:nvSpPr>
        <p:spPr bwMode="auto"/>
        <p:txBody>
          <a:bodyPr/>
          <a:lstStyle/>
          <a:p>
            <a:pPr>
              <a:defRPr/>
            </a:pPr>
            <a:endParaRPr lang="en-US"/>
          </a:p>
        </p:txBody>
      </p:sp>
      <p:sp>
        <p:nvSpPr>
          <p:cNvPr id="102828927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012038371"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029732109"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96680156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94479662" name="Footer Placeholder 4"/>
          <p:cNvSpPr>
            <a:spLocks noGrp="1"/>
          </p:cNvSpPr>
          <p:nvPr>
            <p:ph type="ftr" sz="quarter" idx="11"/>
          </p:nvPr>
        </p:nvSpPr>
        <p:spPr bwMode="auto"/>
        <p:txBody>
          <a:bodyPr/>
          <a:lstStyle/>
          <a:p>
            <a:pPr>
              <a:defRPr/>
            </a:pPr>
            <a:endParaRPr lang="en-US"/>
          </a:p>
        </p:txBody>
      </p:sp>
      <p:sp>
        <p:nvSpPr>
          <p:cNvPr id="151305508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050043330" name="Title 1"/>
          <p:cNvSpPr>
            <a:spLocks noGrp="1"/>
          </p:cNvSpPr>
          <p:nvPr>
            <p:ph type="title"/>
          </p:nvPr>
        </p:nvSpPr>
        <p:spPr bwMode="auto"/>
        <p:txBody>
          <a:bodyPr/>
          <a:lstStyle/>
          <a:p>
            <a:pPr>
              <a:defRPr/>
            </a:pPr>
            <a:r>
              <a:rPr lang="en-US"/>
              <a:t>Click to edit Master title style</a:t>
            </a:r>
            <a:endParaRPr lang="en-US"/>
          </a:p>
        </p:txBody>
      </p:sp>
      <p:sp>
        <p:nvSpPr>
          <p:cNvPr id="1387078785"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287619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571151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80065193" name="Footer Placeholder 5"/>
          <p:cNvSpPr>
            <a:spLocks noGrp="1"/>
          </p:cNvSpPr>
          <p:nvPr>
            <p:ph type="ftr" sz="quarter" idx="11"/>
          </p:nvPr>
        </p:nvSpPr>
        <p:spPr bwMode="auto"/>
        <p:txBody>
          <a:bodyPr/>
          <a:lstStyle/>
          <a:p>
            <a:pPr>
              <a:defRPr/>
            </a:pPr>
            <a:endParaRPr lang="en-US"/>
          </a:p>
        </p:txBody>
      </p:sp>
      <p:sp>
        <p:nvSpPr>
          <p:cNvPr id="1345229445"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770841113"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653077371"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2605285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8594560"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97465477"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83039289"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68828276" name="Footer Placeholder 7"/>
          <p:cNvSpPr>
            <a:spLocks noGrp="1"/>
          </p:cNvSpPr>
          <p:nvPr>
            <p:ph type="ftr" sz="quarter" idx="11"/>
          </p:nvPr>
        </p:nvSpPr>
        <p:spPr bwMode="auto"/>
        <p:txBody>
          <a:bodyPr/>
          <a:lstStyle/>
          <a:p>
            <a:pPr>
              <a:defRPr/>
            </a:pPr>
            <a:endParaRPr lang="en-US"/>
          </a:p>
        </p:txBody>
      </p:sp>
      <p:sp>
        <p:nvSpPr>
          <p:cNvPr id="346489529"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133474695" name="Title 1"/>
          <p:cNvSpPr>
            <a:spLocks noGrp="1"/>
          </p:cNvSpPr>
          <p:nvPr>
            <p:ph type="title"/>
          </p:nvPr>
        </p:nvSpPr>
        <p:spPr bwMode="auto"/>
        <p:txBody>
          <a:bodyPr/>
          <a:lstStyle/>
          <a:p>
            <a:pPr>
              <a:defRPr/>
            </a:pPr>
            <a:r>
              <a:rPr lang="en-US"/>
              <a:t>Click to edit Master title style</a:t>
            </a:r>
            <a:endParaRPr lang="en-US"/>
          </a:p>
        </p:txBody>
      </p:sp>
      <p:sp>
        <p:nvSpPr>
          <p:cNvPr id="2049172187"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5504833" name="Footer Placeholder 3"/>
          <p:cNvSpPr>
            <a:spLocks noGrp="1"/>
          </p:cNvSpPr>
          <p:nvPr>
            <p:ph type="ftr" sz="quarter" idx="11"/>
          </p:nvPr>
        </p:nvSpPr>
        <p:spPr bwMode="auto"/>
        <p:txBody>
          <a:bodyPr/>
          <a:lstStyle/>
          <a:p>
            <a:pPr>
              <a:defRPr/>
            </a:pPr>
            <a:endParaRPr lang="en-US"/>
          </a:p>
        </p:txBody>
      </p:sp>
      <p:sp>
        <p:nvSpPr>
          <p:cNvPr id="1526309756"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069456593"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62281607" name="Footer Placeholder 2"/>
          <p:cNvSpPr>
            <a:spLocks noGrp="1"/>
          </p:cNvSpPr>
          <p:nvPr>
            <p:ph type="ftr" sz="quarter" idx="11"/>
          </p:nvPr>
        </p:nvSpPr>
        <p:spPr bwMode="auto"/>
        <p:txBody>
          <a:bodyPr/>
          <a:lstStyle/>
          <a:p>
            <a:pPr>
              <a:defRPr/>
            </a:pPr>
            <a:endParaRPr lang="en-US"/>
          </a:p>
        </p:txBody>
      </p:sp>
      <p:sp>
        <p:nvSpPr>
          <p:cNvPr id="1319613996"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984731434"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625166524"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60449106"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377561779"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30232949" name="Footer Placeholder 5"/>
          <p:cNvSpPr>
            <a:spLocks noGrp="1"/>
          </p:cNvSpPr>
          <p:nvPr>
            <p:ph type="ftr" sz="quarter" idx="11"/>
          </p:nvPr>
        </p:nvSpPr>
        <p:spPr bwMode="auto"/>
        <p:txBody>
          <a:bodyPr/>
          <a:lstStyle/>
          <a:p>
            <a:pPr>
              <a:defRPr/>
            </a:pPr>
            <a:endParaRPr lang="en-US"/>
          </a:p>
        </p:txBody>
      </p:sp>
      <p:sp>
        <p:nvSpPr>
          <p:cNvPr id="185855433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47522992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38611178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47943323"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7834937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46382947" name="Footer Placeholder 5"/>
          <p:cNvSpPr>
            <a:spLocks noGrp="1"/>
          </p:cNvSpPr>
          <p:nvPr>
            <p:ph type="ftr" sz="quarter" idx="11"/>
          </p:nvPr>
        </p:nvSpPr>
        <p:spPr bwMode="auto"/>
        <p:txBody>
          <a:bodyPr/>
          <a:lstStyle/>
          <a:p>
            <a:pPr>
              <a:defRPr/>
            </a:pPr>
            <a:endParaRPr lang="en-US"/>
          </a:p>
        </p:txBody>
      </p:sp>
      <p:sp>
        <p:nvSpPr>
          <p:cNvPr id="60732177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400424972" name="Title 1"/>
          <p:cNvSpPr>
            <a:spLocks noGrp="1"/>
          </p:cNvSpPr>
          <p:nvPr>
            <p:ph type="title"/>
          </p:nvPr>
        </p:nvSpPr>
        <p:spPr bwMode="auto"/>
        <p:txBody>
          <a:bodyPr/>
          <a:lstStyle/>
          <a:p>
            <a:pPr>
              <a:defRPr/>
            </a:pPr>
            <a:r>
              <a:rPr lang="en-US"/>
              <a:t>Click to edit Master title style</a:t>
            </a:r>
            <a:endParaRPr lang="en-US"/>
          </a:p>
        </p:txBody>
      </p:sp>
      <p:sp>
        <p:nvSpPr>
          <p:cNvPr id="64907725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093183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99211527" name="Footer Placeholder 4"/>
          <p:cNvSpPr>
            <a:spLocks noGrp="1"/>
          </p:cNvSpPr>
          <p:nvPr>
            <p:ph type="ftr" sz="quarter" idx="11"/>
          </p:nvPr>
        </p:nvSpPr>
        <p:spPr bwMode="auto"/>
        <p:txBody>
          <a:bodyPr/>
          <a:lstStyle/>
          <a:p>
            <a:pPr>
              <a:defRPr/>
            </a:pPr>
            <a:endParaRPr lang="en-US"/>
          </a:p>
        </p:txBody>
      </p:sp>
      <p:sp>
        <p:nvSpPr>
          <p:cNvPr id="135967520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562903871"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3161435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0434628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57333974" name="Footer Placeholder 4"/>
          <p:cNvSpPr>
            <a:spLocks noGrp="1"/>
          </p:cNvSpPr>
          <p:nvPr>
            <p:ph type="ftr" sz="quarter" idx="11"/>
          </p:nvPr>
        </p:nvSpPr>
        <p:spPr bwMode="auto"/>
        <p:txBody>
          <a:bodyPr/>
          <a:lstStyle/>
          <a:p>
            <a:pPr>
              <a:defRPr/>
            </a:pPr>
            <a:endParaRPr lang="en-US"/>
          </a:p>
        </p:txBody>
      </p:sp>
      <p:sp>
        <p:nvSpPr>
          <p:cNvPr id="20881306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70091957"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544826420"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7710402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58588188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57333988"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6654218" name="Title 1"/>
          <p:cNvSpPr>
            <a:spLocks noGrp="1"/>
          </p:cNvSpPr>
          <p:nvPr>
            <p:ph type="title"/>
          </p:nvPr>
        </p:nvSpPr>
        <p:spPr bwMode="auto"/>
        <p:txBody>
          <a:bodyPr/>
          <a:lstStyle/>
          <a:p>
            <a:pPr>
              <a:defRPr/>
            </a:pPr>
            <a:r>
              <a:rPr/>
              <a:t>FastAPI + MongoDB Lab</a:t>
            </a:r>
            <a:endParaRPr/>
          </a:p>
        </p:txBody>
      </p:sp>
      <p:sp>
        <p:nvSpPr>
          <p:cNvPr id="534789454" name="Content Placeholder 2"/>
          <p:cNvSpPr>
            <a:spLocks noGrp="1"/>
          </p:cNvSpPr>
          <p:nvPr>
            <p:ph idx="1"/>
          </p:nvPr>
        </p:nvSpPr>
        <p:spPr bwMode="auto"/>
        <p:txBody>
          <a:bodyPr/>
          <a:lstStyle/>
          <a:p>
            <a:pPr>
              <a:defRPr/>
            </a:pPr>
            <a:r>
              <a:rPr/>
              <a:t>Build a REST API using FastAPI, MongoDB, and Docker (Linux workflow)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2915969" name="Title 1"/>
          <p:cNvSpPr>
            <a:spLocks noGrp="1"/>
          </p:cNvSpPr>
          <p:nvPr>
            <p:ph type="title"/>
          </p:nvPr>
        </p:nvSpPr>
        <p:spPr bwMode="auto"/>
        <p:txBody>
          <a:bodyPr/>
          <a:lstStyle/>
          <a:p>
            <a:pPr>
              <a:defRPr/>
            </a:pPr>
            <a:r>
              <a:rPr/>
              <a:t>Step 1: Create Project</a:t>
            </a:r>
            <a:endParaRPr/>
          </a:p>
        </p:txBody>
      </p:sp>
      <p:sp>
        <p:nvSpPr>
          <p:cNvPr id="48662578" name="Content Placeholder 2"/>
          <p:cNvSpPr>
            <a:spLocks noGrp="1"/>
          </p:cNvSpPr>
          <p:nvPr>
            <p:ph idx="1"/>
          </p:nvPr>
        </p:nvSpPr>
        <p:spPr bwMode="auto"/>
        <p:txBody>
          <a:bodyPr/>
          <a:lstStyle/>
          <a:p>
            <a:pPr marL="0" indent="0">
              <a:buFont typeface="Arial"/>
              <a:buNone/>
              <a:defRPr/>
            </a:pPr>
            <a:endParaRPr/>
          </a:p>
          <a:p>
            <a:pPr marL="0" indent="0">
              <a:buFont typeface="Arial"/>
              <a:buNone/>
              <a:defRPr/>
            </a:pPr>
            <a:r>
              <a:rPr lang="en-US" sz="3200" b="0" i="0" u="none" strike="noStrike" cap="none" spc="0">
                <a:solidFill>
                  <a:schemeClr val="tx1"/>
                </a:solidFill>
                <a:latin typeface="Calibri"/>
                <a:ea typeface="Calibri"/>
                <a:cs typeface="Calibri"/>
              </a:rPr>
              <a:t># create project folder</a:t>
            </a:r>
            <a:endParaRPr/>
          </a:p>
          <a:p>
            <a:pPr marL="0" indent="0">
              <a:buFont typeface="Arial"/>
              <a:buNone/>
              <a:defRPr/>
            </a:pPr>
            <a:r>
              <a:rPr/>
              <a:t>mkdir fastapi-mongo-lab</a:t>
            </a:r>
            <a:endParaRPr/>
          </a:p>
          <a:p>
            <a:pPr marL="0" indent="0">
              <a:buFont typeface="Arial"/>
              <a:buNone/>
              <a:defRPr/>
            </a:pPr>
            <a:endParaRPr/>
          </a:p>
          <a:p>
            <a:pPr marL="0" indent="0">
              <a:buFont typeface="Arial"/>
              <a:buNone/>
              <a:defRPr/>
            </a:pPr>
            <a:r>
              <a:rPr lang="el-GR"/>
              <a:t>#</a:t>
            </a:r>
            <a:r>
              <a:rPr lang="en-US"/>
              <a:t>move to the folder</a:t>
            </a:r>
            <a:endParaRPr/>
          </a:p>
          <a:p>
            <a:pPr marL="0" indent="0">
              <a:buFont typeface="Arial"/>
              <a:buNone/>
              <a:defRPr/>
            </a:pPr>
            <a:r>
              <a:rPr/>
              <a:t>cd fastapi-mongo-lab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9502218" name="Title 1"/>
          <p:cNvSpPr>
            <a:spLocks noGrp="1"/>
          </p:cNvSpPr>
          <p:nvPr>
            <p:ph type="title"/>
          </p:nvPr>
        </p:nvSpPr>
        <p:spPr bwMode="auto"/>
        <p:txBody>
          <a:bodyPr/>
          <a:lstStyle/>
          <a:p>
            <a:pPr>
              <a:defRPr/>
            </a:pPr>
            <a:r>
              <a:rPr/>
              <a:t>Step 2: Virtual Environment</a:t>
            </a:r>
            <a:endParaRPr/>
          </a:p>
        </p:txBody>
      </p:sp>
      <p:sp>
        <p:nvSpPr>
          <p:cNvPr id="1943769009" name="Content Placeholder 2"/>
          <p:cNvSpPr>
            <a:spLocks noGrp="1"/>
          </p:cNvSpPr>
          <p:nvPr>
            <p:ph idx="1"/>
          </p:nvPr>
        </p:nvSpPr>
        <p:spPr bwMode="auto"/>
        <p:txBody>
          <a:bodyPr/>
          <a:lstStyle/>
          <a:p>
            <a:pPr marL="0" indent="0">
              <a:buFont typeface="Arial"/>
              <a:buNone/>
              <a:defRPr/>
            </a:pPr>
            <a:r>
              <a:rPr/>
              <a:t>#create env</a:t>
            </a:r>
            <a:endParaRPr/>
          </a:p>
          <a:p>
            <a:pPr marL="0" indent="0">
              <a:buFont typeface="Arial"/>
              <a:buNone/>
              <a:defRPr/>
            </a:pPr>
            <a:r>
              <a:rPr/>
              <a:t>python3 -m venv venv</a:t>
            </a:r>
            <a:endParaRPr/>
          </a:p>
          <a:p>
            <a:pPr marL="0" indent="0">
              <a:buFont typeface="Arial"/>
              <a:buNone/>
              <a:defRPr/>
            </a:pPr>
            <a:endParaRPr/>
          </a:p>
          <a:p>
            <a:pPr marL="0" indent="0">
              <a:buFont typeface="Arial"/>
              <a:buNone/>
              <a:defRPr/>
            </a:pPr>
            <a:r>
              <a:rPr/>
              <a:t>#activate env</a:t>
            </a:r>
            <a:endParaRPr/>
          </a:p>
          <a:p>
            <a:pPr marL="0" indent="0">
              <a:buFont typeface="Arial"/>
              <a:buNone/>
              <a:defRPr/>
            </a:pPr>
            <a:r>
              <a:rPr/>
              <a:t>source venv/bin/activate</a:t>
            </a:r>
            <a:endParaRPr/>
          </a:p>
          <a:p>
            <a:pPr marL="0" indent="0">
              <a:buFont typeface="Arial"/>
              <a:buNone/>
              <a:defRPr/>
            </a:pPr>
            <a:endParaRPr/>
          </a:p>
          <a:p>
            <a:pPr marL="0" indent="0">
              <a:buFont typeface="Arial"/>
              <a:buNone/>
              <a:defRPr/>
            </a:pPr>
            <a:r>
              <a:rPr/>
              <a:t>#upgrade pip</a:t>
            </a:r>
            <a:endParaRPr/>
          </a:p>
          <a:p>
            <a:pPr marL="0" indent="0">
              <a:buFont typeface="Arial"/>
              <a:buNone/>
              <a:defRPr/>
            </a:pPr>
            <a:r>
              <a:rPr/>
              <a:t>python -m pip install --upgrade pip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0906305" name="Title 1"/>
          <p:cNvSpPr>
            <a:spLocks noGrp="1"/>
          </p:cNvSpPr>
          <p:nvPr>
            <p:ph type="title"/>
          </p:nvPr>
        </p:nvSpPr>
        <p:spPr bwMode="auto"/>
        <p:txBody>
          <a:bodyPr/>
          <a:lstStyle/>
          <a:p>
            <a:pPr>
              <a:defRPr/>
            </a:pPr>
            <a:r>
              <a:rPr/>
              <a:t>Step 3: Install Dependencies</a:t>
            </a:r>
            <a:endParaRPr/>
          </a:p>
        </p:txBody>
      </p:sp>
      <p:sp>
        <p:nvSpPr>
          <p:cNvPr id="2070062961" name="Content Placeholder 2"/>
          <p:cNvSpPr>
            <a:spLocks noGrp="1"/>
          </p:cNvSpPr>
          <p:nvPr>
            <p:ph idx="1"/>
          </p:nvPr>
        </p:nvSpPr>
        <p:spPr bwMode="auto"/>
        <p:txBody>
          <a:bodyPr/>
          <a:lstStyle/>
          <a:p>
            <a:pPr marL="0" indent="0">
              <a:buFont typeface="Arial"/>
              <a:buNone/>
              <a:defRPr/>
            </a:pPr>
            <a:r>
              <a:rPr/>
              <a:t>#install dependecies</a:t>
            </a:r>
            <a:endParaRPr/>
          </a:p>
          <a:p>
            <a:pPr marL="0" indent="0">
              <a:buFont typeface="Arial"/>
              <a:buNone/>
              <a:defRPr/>
            </a:pPr>
            <a:r>
              <a:rPr/>
              <a:t>pip install fastapi uvicorn motor pydantic</a:t>
            </a:r>
            <a:endParaRPr/>
          </a:p>
          <a:p>
            <a:pPr marL="0" indent="0">
              <a:buFont typeface="Arial"/>
              <a:buNone/>
              <a:defRPr/>
            </a:pPr>
            <a:endParaRPr/>
          </a:p>
          <a:p>
            <a:pPr marL="0" indent="0">
              <a:buFont typeface="Arial"/>
              <a:buNone/>
              <a:defRPr/>
            </a:pPr>
            <a:r>
              <a:rPr/>
              <a:t>#check installation</a:t>
            </a:r>
            <a:endParaRPr/>
          </a:p>
          <a:p>
            <a:pPr marL="0" indent="0">
              <a:buFont typeface="Arial"/>
              <a:buNone/>
              <a:defRPr/>
            </a:pPr>
            <a:r>
              <a:rPr/>
              <a:t>uvicorn --version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9915326" name="Title 1"/>
          <p:cNvSpPr>
            <a:spLocks noGrp="1"/>
          </p:cNvSpPr>
          <p:nvPr>
            <p:ph type="title"/>
          </p:nvPr>
        </p:nvSpPr>
        <p:spPr bwMode="auto"/>
        <p:txBody>
          <a:bodyPr/>
          <a:lstStyle/>
          <a:p>
            <a:pPr>
              <a:defRPr/>
            </a:pPr>
            <a:r>
              <a:rPr/>
              <a:t>Step 4: Docker Compose File</a:t>
            </a:r>
            <a:endParaRPr/>
          </a:p>
        </p:txBody>
      </p:sp>
      <p:sp>
        <p:nvSpPr>
          <p:cNvPr id="186424840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60000" lnSpcReduction="8000"/>
          </a:bodyPr>
          <a:lstStyle/>
          <a:p>
            <a:pPr marL="0" indent="0">
              <a:buFont typeface="Arial"/>
              <a:buNone/>
              <a:defRPr/>
            </a:pPr>
            <a:r>
              <a:rPr lang="en-US" sz="3200" b="0" i="0" u="none" strike="noStrike" cap="none" spc="0">
                <a:solidFill>
                  <a:schemeClr val="tx1"/>
                </a:solidFill>
                <a:latin typeface="Calibri"/>
                <a:ea typeface="Calibri"/>
                <a:cs typeface="Calibri"/>
              </a:rPr>
              <a:t>#create a docker-compose.yml</a:t>
            </a:r>
            <a:endParaRPr/>
          </a:p>
          <a:p>
            <a:pPr marL="0" indent="0">
              <a:buFont typeface="Arial"/>
              <a:buNone/>
              <a:defRPr/>
            </a:pPr>
            <a:r>
              <a:rPr lang="en-US" sz="3200" b="0" i="0" u="none" strike="noStrike" cap="none" spc="0">
                <a:solidFill>
                  <a:schemeClr val="tx1"/>
                </a:solidFill>
                <a:latin typeface="Calibri"/>
                <a:ea typeface="Calibri"/>
                <a:cs typeface="Calibri"/>
              </a:rPr>
              <a:t>nano docker-compose.yml</a:t>
            </a:r>
            <a:endParaRPr lang="en-US" sz="3200" b="0" i="0" u="none" strike="noStrike" cap="none" spc="0">
              <a:solidFill>
                <a:schemeClr val="tx1"/>
              </a:solidFill>
              <a:latin typeface="Calibri"/>
              <a:ea typeface="Calibri"/>
              <a:cs typeface="Calibri"/>
            </a:endParaRPr>
          </a:p>
          <a:p>
            <a:pPr marL="0" indent="0">
              <a:buFont typeface="Arial"/>
              <a:buNone/>
              <a:defRPr/>
            </a:pPr>
            <a:endParaRPr/>
          </a:p>
          <a:p>
            <a:pPr marL="0" indent="0">
              <a:buFont typeface="Arial"/>
              <a:buNone/>
              <a:defRPr/>
            </a:pPr>
            <a:r>
              <a:rPr/>
              <a:t>#copy paste the following text</a:t>
            </a:r>
            <a:endParaRPr/>
          </a:p>
          <a:p>
            <a:pPr>
              <a:defRPr/>
            </a:pPr>
            <a:r>
              <a:rPr lang="en-US" sz="3200" b="0" i="0" u="none" strike="noStrike" cap="none" spc="0">
                <a:solidFill>
                  <a:schemeClr val="tx1"/>
                </a:solidFill>
                <a:latin typeface="Calibri"/>
                <a:ea typeface="Calibri"/>
                <a:cs typeface="Calibri"/>
              </a:rPr>
              <a:t>version: '3.8'</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services:</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mongo:</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image: mongo</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ports:</a:t>
            </a:r>
            <a:endParaRPr lang="en-US" sz="3200" b="0" i="0" u="none" strike="noStrike" cap="none" spc="0">
              <a:solidFill>
                <a:schemeClr val="tx1"/>
              </a:solidFill>
              <a:latin typeface="Calibri"/>
              <a:cs typeface="Calibri"/>
            </a:endParaRPr>
          </a:p>
          <a:p>
            <a:pPr marL="0" indent="0">
              <a:buFont typeface="Arial"/>
              <a:buNone/>
              <a:defRPr/>
            </a:pPr>
            <a:r>
              <a:rPr lang="en-US" sz="3200" b="0" i="0" u="none" strike="noStrike" cap="none" spc="0">
                <a:solidFill>
                  <a:schemeClr val="tx1"/>
                </a:solidFill>
                <a:latin typeface="Calibri"/>
                <a:ea typeface="Calibri"/>
                <a:cs typeface="Calibri"/>
              </a:rPr>
              <a:t>      - '27017:27017'</a:t>
            </a:r>
            <a:endParaRPr/>
          </a:p>
          <a:p>
            <a:pPr marL="0" indent="0">
              <a:buFont typeface="Arial"/>
              <a:buNone/>
              <a:defRPr/>
            </a:pPr>
            <a:endParaRPr/>
          </a:p>
          <a:p>
            <a:pPr marL="0" indent="0">
              <a:buFont typeface="Arial"/>
              <a:buNone/>
              <a:defRPr/>
            </a:pPr>
            <a:r>
              <a:rPr/>
              <a:t>#press ctrl and letter o to save it and press enter</a:t>
            </a:r>
            <a:endParaRPr/>
          </a:p>
          <a:p>
            <a:pPr marL="0" indent="0">
              <a:buFont typeface="Arial"/>
              <a:buNone/>
              <a:defRPr/>
            </a:pPr>
            <a:r>
              <a:rPr/>
              <a:t>ctrl+ o</a:t>
            </a:r>
            <a:endParaRPr/>
          </a:p>
          <a:p>
            <a:pPr marL="0" indent="0">
              <a:buFont typeface="Arial"/>
              <a:buNone/>
              <a:defRPr/>
            </a:pPr>
            <a:endParaRPr/>
          </a:p>
          <a:p>
            <a:pPr marL="0" indent="0">
              <a:buFont typeface="Arial"/>
              <a:buNone/>
              <a:defRPr/>
            </a:pPr>
            <a:r>
              <a:rPr/>
              <a:t>#press ctrl+x to close nano</a:t>
            </a:r>
            <a:endParaRPr/>
          </a:p>
          <a:p>
            <a:pPr marL="0" indent="0">
              <a:buFont typeface="Arial"/>
              <a:buNone/>
              <a:defRPr/>
            </a:pPr>
            <a:r>
              <a:rPr/>
              <a:t>Ctrl  + x</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7794040" name="Title 1"/>
          <p:cNvSpPr>
            <a:spLocks noGrp="1"/>
          </p:cNvSpPr>
          <p:nvPr>
            <p:ph type="title"/>
          </p:nvPr>
        </p:nvSpPr>
        <p:spPr bwMode="auto"/>
        <p:txBody>
          <a:bodyPr/>
          <a:lstStyle/>
          <a:p>
            <a:pPr>
              <a:defRPr/>
            </a:pPr>
            <a:r>
              <a:rPr/>
              <a:t>Step 5: Run MongoDB</a:t>
            </a:r>
            <a:endParaRPr/>
          </a:p>
        </p:txBody>
      </p:sp>
      <p:sp>
        <p:nvSpPr>
          <p:cNvPr id="1069859070" name="Content Placeholder 2"/>
          <p:cNvSpPr>
            <a:spLocks noGrp="1"/>
          </p:cNvSpPr>
          <p:nvPr>
            <p:ph idx="1"/>
          </p:nvPr>
        </p:nvSpPr>
        <p:spPr bwMode="auto"/>
        <p:txBody>
          <a:bodyPr/>
          <a:lstStyle/>
          <a:p>
            <a:pPr marL="0" indent="0">
              <a:buFont typeface="Arial"/>
              <a:buNone/>
              <a:defRPr/>
            </a:pPr>
            <a:r>
              <a:rPr/>
              <a:t># run </a:t>
            </a:r>
            <a:r>
              <a:rPr/>
              <a:t>MongoDB</a:t>
            </a:r>
            <a:endParaRPr/>
          </a:p>
          <a:p>
            <a:pPr marL="0" indent="0">
              <a:buFont typeface="Arial"/>
              <a:buNone/>
              <a:defRPr/>
            </a:pPr>
            <a:r>
              <a:rPr/>
              <a:t>docker compose up -d</a:t>
            </a:r>
            <a:endParaRPr/>
          </a:p>
          <a:p>
            <a:pPr marL="0" indent="0">
              <a:buFont typeface="Arial"/>
              <a:buNone/>
              <a:defRPr/>
            </a:pPr>
            <a:endParaRPr/>
          </a:p>
          <a:p>
            <a:pPr marL="0" indent="0">
              <a:buFont typeface="Arial"/>
              <a:buNone/>
              <a:defRPr/>
            </a:pPr>
            <a:r>
              <a:rPr/>
              <a:t># make check</a:t>
            </a:r>
            <a:endParaRPr/>
          </a:p>
          <a:p>
            <a:pPr marL="0" indent="0">
              <a:buFont typeface="Arial"/>
              <a:buNone/>
              <a:defRPr/>
            </a:pPr>
            <a:r>
              <a:rPr/>
              <a:t>docker ps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7810133" name="Title 1"/>
          <p:cNvSpPr>
            <a:spLocks noGrp="1"/>
          </p:cNvSpPr>
          <p:nvPr>
            <p:ph type="title"/>
          </p:nvPr>
        </p:nvSpPr>
        <p:spPr bwMode="auto"/>
        <p:txBody>
          <a:bodyPr/>
          <a:lstStyle/>
          <a:p>
            <a:pPr>
              <a:defRPr/>
            </a:pPr>
            <a:r>
              <a:rPr/>
              <a:t>Step 6: Create FastAPI code</a:t>
            </a:r>
            <a:endParaRPr/>
          </a:p>
        </p:txBody>
      </p:sp>
      <p:sp>
        <p:nvSpPr>
          <p:cNvPr id="75343055" name="Content Placeholder 2"/>
          <p:cNvSpPr>
            <a:spLocks noGrp="1"/>
          </p:cNvSpPr>
          <p:nvPr>
            <p:ph idx="1"/>
          </p:nvPr>
        </p:nvSpPr>
        <p:spPr bwMode="auto"/>
        <p:txBody>
          <a:bodyPr/>
          <a:lstStyle/>
          <a:p>
            <a:pPr>
              <a:defRPr/>
            </a:pPr>
            <a:r>
              <a:rPr/>
              <a:t>Define Student model using Pydantic</a:t>
            </a:r>
            <a:endParaRPr/>
          </a:p>
          <a:p>
            <a:pPr marL="0" indent="0">
              <a:buFont typeface="Arial"/>
              <a:buNone/>
              <a:defRPr/>
            </a:pPr>
            <a:endParaRPr/>
          </a:p>
          <a:p>
            <a:pPr marL="0" indent="0">
              <a:buFont typeface="Arial"/>
              <a:buNone/>
              <a:defRPr/>
            </a:pPr>
            <a:r>
              <a:rPr/>
              <a:t># </a:t>
            </a:r>
            <a:r>
              <a:rPr/>
              <a:t>in a new cmd open new nano</a:t>
            </a:r>
            <a:endParaRPr/>
          </a:p>
          <a:p>
            <a:pPr marL="0" indent="0">
              <a:buFont typeface="Arial"/>
              <a:buNone/>
              <a:defRPr/>
            </a:pPr>
            <a:r>
              <a:rPr/>
              <a:t>nano models.py</a:t>
            </a:r>
            <a:endParaRPr/>
          </a:p>
          <a:p>
            <a:pPr marL="0" indent="0">
              <a:buFont typeface="Arial"/>
              <a:buNone/>
              <a:defRPr/>
            </a:pPr>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7549896" name="Title 1"/>
          <p:cNvSpPr>
            <a:spLocks noGrp="1"/>
          </p:cNvSpPr>
          <p:nvPr>
            <p:ph type="title"/>
          </p:nvPr>
        </p:nvSpPr>
        <p:spPr bwMode="auto"/>
        <p:txBody>
          <a:bodyPr/>
          <a:lstStyle/>
          <a:p>
            <a:pPr>
              <a:defRPr/>
            </a:pPr>
            <a:r>
              <a:rPr/>
              <a:t>Step 6: Create FastAPI code</a:t>
            </a:r>
            <a:endParaRPr/>
          </a:p>
        </p:txBody>
      </p:sp>
      <p:sp>
        <p:nvSpPr>
          <p:cNvPr id="120132799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buFont typeface="Arial"/>
              <a:buNone/>
              <a:defRPr/>
            </a:pPr>
            <a:r>
              <a:rPr/>
              <a:t>#write the code</a:t>
            </a:r>
            <a:endParaRPr/>
          </a:p>
          <a:p>
            <a:pPr marL="0" indent="0">
              <a:buFont typeface="Arial"/>
              <a:buNone/>
              <a:defRPr/>
            </a:pPr>
            <a:endParaRPr/>
          </a:p>
          <a:p>
            <a:pPr marL="0" indent="0">
              <a:buFont typeface="Arial"/>
              <a:buNone/>
              <a:defRPr/>
            </a:pPr>
            <a:r>
              <a:rPr lang="en-US" sz="3200" b="0" i="0" u="none" strike="noStrike" cap="none" spc="0">
                <a:solidFill>
                  <a:schemeClr val="tx1"/>
                </a:solidFill>
                <a:latin typeface="Calibri"/>
                <a:ea typeface="Calibri"/>
                <a:cs typeface="Calibri"/>
              </a:rPr>
              <a:t>from pydantic import BaseModel</a:t>
            </a:r>
            <a:endParaRPr lang="en-US" sz="3200" b="0" i="0" u="none" strike="noStrike" cap="none" spc="0">
              <a:solidFill>
                <a:schemeClr val="tx1"/>
              </a:solidFill>
              <a:latin typeface="Calibri"/>
              <a:cs typeface="Calibri"/>
            </a:endParaRPr>
          </a:p>
          <a:p>
            <a:pPr marL="0" indent="0">
              <a:buFont typeface="Arial"/>
              <a:buNone/>
              <a:defRPr/>
            </a:pPr>
            <a:endParaRPr lang="en-US" sz="3200" b="0" i="0" u="none" strike="noStrike" cap="none" spc="0">
              <a:solidFill>
                <a:schemeClr val="tx1"/>
              </a:solidFill>
              <a:latin typeface="Calibri"/>
              <a:cs typeface="Calibri"/>
            </a:endParaRPr>
          </a:p>
          <a:p>
            <a:pPr marL="0" indent="0">
              <a:buFont typeface="Arial"/>
              <a:buNone/>
              <a:defRPr/>
            </a:pPr>
            <a:r>
              <a:rPr lang="en-US" sz="3200" b="0" i="0" u="none" strike="noStrike" cap="none" spc="0">
                <a:solidFill>
                  <a:schemeClr val="tx1"/>
                </a:solidFill>
                <a:latin typeface="Calibri"/>
                <a:ea typeface="Calibri"/>
                <a:cs typeface="Calibri"/>
              </a:rPr>
              <a:t>class Student(BaseModel):</a:t>
            </a:r>
            <a:endParaRPr lang="en-US" sz="3200" b="0" i="0" u="none" strike="noStrike" cap="none" spc="0">
              <a:solidFill>
                <a:schemeClr val="tx1"/>
              </a:solidFill>
              <a:latin typeface="Calibri"/>
              <a:cs typeface="Calibri"/>
            </a:endParaRPr>
          </a:p>
          <a:p>
            <a:pPr marL="0" indent="0">
              <a:buFont typeface="Arial"/>
              <a:buNone/>
              <a:defRPr/>
            </a:pPr>
            <a:r>
              <a:rPr lang="en-US" sz="3200" b="0" i="0" u="none" strike="noStrike" cap="none" spc="0">
                <a:solidFill>
                  <a:schemeClr val="tx1"/>
                </a:solidFill>
                <a:latin typeface="Calibri"/>
                <a:ea typeface="Calibri"/>
                <a:cs typeface="Calibri"/>
              </a:rPr>
              <a:t>    student_id: str</a:t>
            </a:r>
            <a:endParaRPr lang="en-US" sz="3200" b="0" i="0" u="none" strike="noStrike" cap="none" spc="0">
              <a:solidFill>
                <a:schemeClr val="tx1"/>
              </a:solidFill>
              <a:latin typeface="Calibri"/>
              <a:cs typeface="Calibri"/>
            </a:endParaRPr>
          </a:p>
          <a:p>
            <a:pPr marL="0" indent="0">
              <a:buFont typeface="Arial"/>
              <a:buNone/>
              <a:defRPr/>
            </a:pPr>
            <a:r>
              <a:rPr lang="en-US" sz="3200" b="0" i="0" u="none" strike="noStrike" cap="none" spc="0">
                <a:solidFill>
                  <a:schemeClr val="tx1"/>
                </a:solidFill>
                <a:latin typeface="Calibri"/>
                <a:ea typeface="Calibri"/>
                <a:cs typeface="Calibri"/>
              </a:rPr>
              <a:t>    name: str</a:t>
            </a:r>
            <a:endParaRPr lang="en-US" sz="3200" b="0" i="0" u="none" strike="noStrike" cap="none" spc="0">
              <a:solidFill>
                <a:schemeClr val="tx1"/>
              </a:solidFill>
              <a:latin typeface="Calibri"/>
              <a:cs typeface="Calibri"/>
            </a:endParaRPr>
          </a:p>
          <a:p>
            <a:pPr marL="0" indent="0">
              <a:buFont typeface="Arial"/>
              <a:buNone/>
              <a:defRPr/>
            </a:pPr>
            <a:r>
              <a:rPr lang="en-US" sz="3200" b="0" i="0" u="none" strike="noStrike" cap="none" spc="0">
                <a:solidFill>
                  <a:schemeClr val="tx1"/>
                </a:solidFill>
                <a:latin typeface="Calibri"/>
                <a:ea typeface="Calibri"/>
                <a:cs typeface="Calibri"/>
              </a:rPr>
              <a:t>    grade: int</a:t>
            </a:r>
            <a:endParaRPr/>
          </a:p>
          <a:p>
            <a:pPr marL="0" indent="0">
              <a:buFont typeface="Arial"/>
              <a:buNone/>
              <a:defRPr/>
            </a:pPr>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184404" name="Title 1"/>
          <p:cNvSpPr>
            <a:spLocks noGrp="1"/>
          </p:cNvSpPr>
          <p:nvPr>
            <p:ph type="title"/>
          </p:nvPr>
        </p:nvSpPr>
        <p:spPr bwMode="auto"/>
        <p:txBody>
          <a:bodyPr/>
          <a:lstStyle/>
          <a:p>
            <a:pPr>
              <a:defRPr/>
            </a:pPr>
            <a:r>
              <a:rPr/>
              <a:t>Step 7: Create main.py</a:t>
            </a:r>
            <a:endParaRPr/>
          </a:p>
        </p:txBody>
      </p:sp>
      <p:sp>
        <p:nvSpPr>
          <p:cNvPr id="1228642285" name="Content Placeholder 2"/>
          <p:cNvSpPr>
            <a:spLocks noGrp="1"/>
          </p:cNvSpPr>
          <p:nvPr>
            <p:ph idx="1"/>
          </p:nvPr>
        </p:nvSpPr>
        <p:spPr bwMode="auto"/>
        <p:txBody>
          <a:bodyPr/>
          <a:lstStyle/>
          <a:p>
            <a:pPr>
              <a:defRPr/>
            </a:pPr>
            <a:r>
              <a:rPr/>
              <a:t>Setup FastAPI app and MongoDB connection</a:t>
            </a:r>
            <a:endParaRPr/>
          </a:p>
          <a:p>
            <a:pPr>
              <a:defRPr/>
            </a:pPr>
            <a:r>
              <a:rPr/>
              <a:t>Define CRUD endpoints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3469282" name="Title 1"/>
          <p:cNvSpPr>
            <a:spLocks noGrp="1"/>
          </p:cNvSpPr>
          <p:nvPr>
            <p:ph type="title"/>
          </p:nvPr>
        </p:nvSpPr>
        <p:spPr bwMode="auto"/>
        <p:txBody>
          <a:bodyPr/>
          <a:lstStyle/>
          <a:p>
            <a:pPr>
              <a:defRPr/>
            </a:pPr>
            <a:r>
              <a:rPr/>
              <a:t>Step 7: Create main.py</a:t>
            </a:r>
            <a:endParaRPr/>
          </a:p>
        </p:txBody>
      </p:sp>
      <p:sp>
        <p:nvSpPr>
          <p:cNvPr id="485369824" name="Content Placeholder 2"/>
          <p:cNvSpPr>
            <a:spLocks noGrp="1"/>
          </p:cNvSpPr>
          <p:nvPr>
            <p:ph idx="1"/>
          </p:nvPr>
        </p:nvSpPr>
        <p:spPr bwMode="auto"/>
        <p:txBody>
          <a:bodyPr/>
          <a:lstStyle/>
          <a:p>
            <a:pPr marL="0" indent="0">
              <a:buFont typeface="Arial"/>
              <a:buNone/>
              <a:defRPr/>
            </a:pPr>
            <a:r>
              <a:rPr/>
              <a:t>#open nano</a:t>
            </a:r>
            <a:endParaRPr/>
          </a:p>
          <a:p>
            <a:pPr marL="0" indent="0">
              <a:buFont typeface="Arial"/>
              <a:buNone/>
              <a:defRPr/>
            </a:pPr>
            <a:r>
              <a:rPr/>
              <a:t>nano main.py</a:t>
            </a:r>
            <a:endParaRPr/>
          </a:p>
          <a:p>
            <a:pPr marL="0" indent="0">
              <a:buFont typeface="Arial"/>
              <a:buNone/>
              <a:defRPr/>
            </a:pPr>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9748810" name="Content Placeholder 2"/>
          <p:cNvSpPr>
            <a:spLocks noGrp="1"/>
          </p:cNvSpPr>
          <p:nvPr>
            <p:ph idx="1"/>
          </p:nvPr>
        </p:nvSpPr>
        <p:spPr bwMode="auto">
          <a:xfrm flipH="0" flipV="0">
            <a:off x="457199" y="259772"/>
            <a:ext cx="8229600" cy="6451022"/>
          </a:xfrm>
        </p:spPr>
        <p:txBody>
          <a:bodyPr vertOverflow="overflow" horzOverflow="overflow" vert="horz" wrap="square" lIns="91440" tIns="45720" rIns="91440" bIns="45720" numCol="1" spcCol="0" rtlCol="0" fromWordArt="0" anchor="t" anchorCtr="0" forceAA="0" upright="0" compatLnSpc="0">
            <a:normAutofit fontScale="50000" lnSpcReduction="10000"/>
          </a:bodyPr>
          <a:lstStyle/>
          <a:p>
            <a:pPr marL="0" indent="0">
              <a:buFont typeface="Arial"/>
              <a:buNone/>
              <a:defRPr/>
            </a:pPr>
            <a:r>
              <a:rPr/>
              <a:t>#write</a:t>
            </a:r>
            <a:endParaRPr/>
          </a:p>
          <a:p>
            <a:pPr marL="0" indent="0">
              <a:buFont typeface="Arial"/>
              <a:buNone/>
              <a:defRPr/>
            </a:pPr>
            <a:endParaRPr/>
          </a:p>
          <a:p>
            <a:pPr>
              <a:defRPr/>
            </a:pPr>
            <a:r>
              <a:rPr lang="en-US" sz="3200" b="0" i="0" u="none" strike="noStrike" cap="none" spc="0">
                <a:solidFill>
                  <a:schemeClr val="tx1"/>
                </a:solidFill>
                <a:latin typeface="Calibri"/>
                <a:ea typeface="Calibri"/>
                <a:cs typeface="Calibri"/>
              </a:rPr>
              <a:t>from fastapi import FastAPI</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from motor.motor_asyncio import AsyncIOMotorClient</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from models import Student</a:t>
            </a:r>
            <a:endParaRPr lang="en-US" sz="3200" b="0" i="0" u="none" strike="noStrike" cap="none" spc="0">
              <a:solidFill>
                <a:schemeClr val="tx1"/>
              </a:solidFill>
              <a:latin typeface="Calibri"/>
              <a:cs typeface="Calibri"/>
            </a:endParaRPr>
          </a:p>
          <a:p>
            <a:pPr>
              <a:defRPr/>
            </a:pP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app = FastAPI()</a:t>
            </a:r>
            <a:endParaRPr lang="en-US" sz="3200" b="0" i="0" u="none" strike="noStrike" cap="none" spc="0">
              <a:solidFill>
                <a:schemeClr val="tx1"/>
              </a:solidFill>
              <a:latin typeface="Calibri"/>
              <a:cs typeface="Calibri"/>
            </a:endParaRPr>
          </a:p>
          <a:p>
            <a:pPr>
              <a:defRPr/>
            </a:pP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Mongo connection</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client = AsyncIOMotorClient("mongodb://localhost:27017")</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db = client.school</a:t>
            </a:r>
            <a:endParaRPr lang="en-US" sz="3200" b="0" i="0" u="none" strike="noStrike" cap="none" spc="0">
              <a:solidFill>
                <a:schemeClr val="tx1"/>
              </a:solidFill>
              <a:latin typeface="Calibri"/>
              <a:cs typeface="Calibri"/>
            </a:endParaRPr>
          </a:p>
          <a:p>
            <a:pPr>
              <a:defRPr/>
            </a:pP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@app.post("/students/")</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async def create(s: Student):</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await db.students.insert_one(s.model_dump())</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return {"status": "created"}</a:t>
            </a:r>
            <a:endParaRPr lang="en-US" sz="3200" b="0" i="0" u="none" strike="noStrike" cap="none" spc="0">
              <a:solidFill>
                <a:schemeClr val="tx1"/>
              </a:solidFill>
              <a:latin typeface="Calibri"/>
              <a:cs typeface="Calibri"/>
            </a:endParaRPr>
          </a:p>
          <a:p>
            <a:pPr>
              <a:defRPr/>
            </a:pP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@app.get("/students/{student_id}")</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async def read(student_id: str):</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doc = await db.students.find_one({"student_id": student_id})</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if doc:</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doc["_id"] = str(doc["_id"])</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return doc</a:t>
            </a:r>
            <a:endParaRPr lang="en-US" sz="3200" b="0" i="0" u="none" strike="noStrike" cap="none" spc="0">
              <a:solidFill>
                <a:schemeClr val="tx1"/>
              </a:solidFill>
              <a:latin typeface="Calibri"/>
              <a:cs typeface="Calibri"/>
            </a:endParaRPr>
          </a:p>
          <a:p>
            <a:pPr>
              <a:defRPr/>
            </a:pP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@app.delete("/students/{student_id}")</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async def delete(student_id: str):</a:t>
            </a:r>
            <a:endParaRPr lang="en-US" sz="3200" b="0" i="0" u="none" strike="noStrike" cap="none" spc="0">
              <a:solidFill>
                <a:schemeClr val="tx1"/>
              </a:solidFill>
              <a:latin typeface="Calibri"/>
              <a:cs typeface="Calibri"/>
            </a:endParaRPr>
          </a:p>
          <a:p>
            <a:pPr>
              <a:defRPr/>
            </a:pPr>
            <a:r>
              <a:rPr lang="en-US" sz="3200" b="0" i="0" u="none" strike="noStrike" cap="none" spc="0">
                <a:solidFill>
                  <a:schemeClr val="tx1"/>
                </a:solidFill>
                <a:latin typeface="Calibri"/>
                <a:ea typeface="Calibri"/>
                <a:cs typeface="Calibri"/>
              </a:rPr>
              <a:t>    await db.students.delete_one({"student_id": student_id})</a:t>
            </a:r>
            <a:endParaRPr lang="en-US" sz="3200" b="0" i="0" u="none" strike="noStrike" cap="none" spc="0">
              <a:solidFill>
                <a:schemeClr val="tx1"/>
              </a:solidFill>
              <a:latin typeface="Calibri"/>
              <a:cs typeface="Calibri"/>
            </a:endParaRPr>
          </a:p>
          <a:p>
            <a:pPr marL="0" indent="0">
              <a:buFont typeface="Arial"/>
              <a:buNone/>
              <a:defRPr/>
            </a:pPr>
            <a:r>
              <a:rPr lang="en-US" sz="3200" b="0" i="0" u="none" strike="noStrike" cap="none" spc="0">
                <a:solidFill>
                  <a:schemeClr val="tx1"/>
                </a:solidFill>
                <a:latin typeface="Calibri"/>
                <a:ea typeface="Calibri"/>
                <a:cs typeface="Calibri"/>
              </a:rPr>
              <a:t>    return {"status": "deleted"}</a:t>
            </a:r>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8449533" name="Title 1"/>
          <p:cNvSpPr>
            <a:spLocks noGrp="1"/>
          </p:cNvSpPr>
          <p:nvPr>
            <p:ph type="title"/>
          </p:nvPr>
        </p:nvSpPr>
        <p:spPr bwMode="auto"/>
        <p:txBody>
          <a:bodyPr/>
          <a:lstStyle/>
          <a:p>
            <a:pPr>
              <a:defRPr/>
            </a:pPr>
            <a:r>
              <a:rPr/>
              <a:t>Step 8: Run FastAPI Server</a:t>
            </a:r>
            <a:endParaRPr/>
          </a:p>
        </p:txBody>
      </p:sp>
      <p:sp>
        <p:nvSpPr>
          <p:cNvPr id="436678922" name="Content Placeholder 2"/>
          <p:cNvSpPr>
            <a:spLocks noGrp="1"/>
          </p:cNvSpPr>
          <p:nvPr>
            <p:ph idx="1"/>
          </p:nvPr>
        </p:nvSpPr>
        <p:spPr bwMode="auto"/>
        <p:txBody>
          <a:bodyPr/>
          <a:lstStyle/>
          <a:p>
            <a:pPr marL="0" indent="0">
              <a:buFont typeface="Arial"/>
              <a:buNone/>
              <a:defRPr/>
            </a:pPr>
            <a:r>
              <a:rPr/>
              <a:t># run </a:t>
            </a:r>
            <a:endParaRPr/>
          </a:p>
          <a:p>
            <a:pPr marL="0" indent="0">
              <a:buFont typeface="Arial"/>
              <a:buNone/>
              <a:defRPr/>
            </a:pPr>
            <a:r>
              <a:rPr/>
              <a:t>uvicorn main:app --reload</a:t>
            </a:r>
            <a:endParaRPr/>
          </a:p>
          <a:p>
            <a:pPr marL="0" indent="0">
              <a:buFont typeface="Arial"/>
              <a:buNone/>
              <a:defRPr/>
            </a:pPr>
            <a:endParaRPr/>
          </a:p>
          <a:p>
            <a:pPr marL="0" indent="0">
              <a:buFont typeface="Arial"/>
              <a:buNone/>
              <a:defRPr/>
            </a:pPr>
            <a:r>
              <a:rPr/>
              <a:t># u must to ssee </a:t>
            </a:r>
            <a:endParaRPr/>
          </a:p>
          <a:p>
            <a:pPr marL="0" indent="0">
              <a:buFont typeface="Arial"/>
              <a:buNone/>
              <a:defRPr/>
            </a:pPr>
            <a:r>
              <a:rPr/>
              <a:t> http://127.0.0.1:8000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289690" name="Title 1"/>
          <p:cNvSpPr>
            <a:spLocks noGrp="1"/>
          </p:cNvSpPr>
          <p:nvPr>
            <p:ph type="title"/>
          </p:nvPr>
        </p:nvSpPr>
        <p:spPr bwMode="auto"/>
        <p:txBody>
          <a:bodyPr/>
          <a:lstStyle/>
          <a:p>
            <a:pPr>
              <a:defRPr/>
            </a:pPr>
            <a:r>
              <a:rPr/>
              <a:t>Step 9: Test API (POST)</a:t>
            </a:r>
            <a:endParaRPr/>
          </a:p>
        </p:txBody>
      </p:sp>
      <p:sp>
        <p:nvSpPr>
          <p:cNvPr id="739513239" name="Content Placeholder 2"/>
          <p:cNvSpPr>
            <a:spLocks noGrp="1"/>
          </p:cNvSpPr>
          <p:nvPr>
            <p:ph idx="1"/>
          </p:nvPr>
        </p:nvSpPr>
        <p:spPr bwMode="auto"/>
        <p:txBody>
          <a:bodyPr/>
          <a:lstStyle/>
          <a:p>
            <a:pPr marL="0" indent="0">
              <a:buFont typeface="Arial"/>
              <a:buNone/>
              <a:defRPr/>
            </a:pPr>
            <a:r>
              <a:rPr/>
              <a:t># run </a:t>
            </a:r>
            <a:r>
              <a:rPr/>
              <a:t> the following to CREATE</a:t>
            </a:r>
            <a:endParaRPr/>
          </a:p>
          <a:p>
            <a:pPr marL="0" indent="0">
              <a:buFont typeface="Arial"/>
              <a:buNone/>
              <a:defRPr/>
            </a:pPr>
            <a:endParaRPr/>
          </a:p>
          <a:p>
            <a:pPr marL="0" indent="0">
              <a:buFont typeface="Arial"/>
              <a:buNone/>
              <a:defRPr/>
            </a:pPr>
            <a:r>
              <a:rPr sz="2800"/>
              <a:t>curl -X POST http://localhost:8000/students/</a:t>
            </a:r>
            <a:endParaRPr sz="2800"/>
          </a:p>
          <a:p>
            <a:pPr marL="0" indent="0">
              <a:buFont typeface="Arial"/>
              <a:buNone/>
              <a:defRPr/>
            </a:pPr>
            <a:r>
              <a:rPr sz="2800"/>
              <a:t>-H 'Content-Type: application/json'</a:t>
            </a:r>
            <a:endParaRPr sz="2800"/>
          </a:p>
          <a:p>
            <a:pPr marL="0" indent="0">
              <a:buFont typeface="Arial"/>
              <a:buNone/>
              <a:defRPr/>
            </a:pPr>
            <a:r>
              <a:rPr sz="2800"/>
              <a:t>-d {"student_id":"101","name":"John","grade":3}'</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1282178" name="Title 1"/>
          <p:cNvSpPr>
            <a:spLocks noGrp="1"/>
          </p:cNvSpPr>
          <p:nvPr>
            <p:ph type="title"/>
          </p:nvPr>
        </p:nvSpPr>
        <p:spPr bwMode="auto"/>
        <p:txBody>
          <a:bodyPr/>
          <a:lstStyle/>
          <a:p>
            <a:pPr>
              <a:defRPr/>
            </a:pPr>
            <a:r>
              <a:rPr/>
              <a:t>Step 10: Test API (GET)</a:t>
            </a:r>
            <a:endParaRPr/>
          </a:p>
        </p:txBody>
      </p:sp>
      <p:sp>
        <p:nvSpPr>
          <p:cNvPr id="1191750579" name="Content Placeholder 2"/>
          <p:cNvSpPr>
            <a:spLocks noGrp="1"/>
          </p:cNvSpPr>
          <p:nvPr>
            <p:ph idx="1"/>
          </p:nvPr>
        </p:nvSpPr>
        <p:spPr bwMode="auto"/>
        <p:txBody>
          <a:bodyPr/>
          <a:lstStyle/>
          <a:p>
            <a:pPr marL="0" indent="0">
              <a:buFont typeface="Arial"/>
              <a:buNone/>
              <a:defRPr/>
            </a:pPr>
            <a:endParaRPr/>
          </a:p>
          <a:p>
            <a:pPr marL="0" indent="0">
              <a:buFont typeface="Arial"/>
              <a:buNone/>
              <a:defRPr/>
            </a:pPr>
            <a:r>
              <a:rPr/>
              <a:t># run to READ</a:t>
            </a:r>
            <a:endParaRPr/>
          </a:p>
          <a:p>
            <a:pPr marL="0" indent="0">
              <a:buFont typeface="Arial"/>
              <a:buNone/>
              <a:defRPr/>
            </a:pPr>
            <a:r>
              <a:rPr/>
              <a:t>curl http://localhost:8000/students/101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4141424" name="Title 1"/>
          <p:cNvSpPr>
            <a:spLocks noGrp="1"/>
          </p:cNvSpPr>
          <p:nvPr>
            <p:ph type="title"/>
          </p:nvPr>
        </p:nvSpPr>
        <p:spPr bwMode="auto"/>
        <p:txBody>
          <a:bodyPr/>
          <a:lstStyle/>
          <a:p>
            <a:pPr>
              <a:defRPr/>
            </a:pPr>
            <a:r>
              <a:rPr/>
              <a:t>Step 11: Test API (DELETE)</a:t>
            </a:r>
            <a:endParaRPr/>
          </a:p>
        </p:txBody>
      </p:sp>
      <p:sp>
        <p:nvSpPr>
          <p:cNvPr id="1272219717" name="Content Placeholder 2"/>
          <p:cNvSpPr>
            <a:spLocks noGrp="1"/>
          </p:cNvSpPr>
          <p:nvPr>
            <p:ph idx="1"/>
          </p:nvPr>
        </p:nvSpPr>
        <p:spPr bwMode="auto"/>
        <p:txBody>
          <a:bodyPr/>
          <a:lstStyle/>
          <a:p>
            <a:pPr marL="0" indent="0">
              <a:buFont typeface="Arial"/>
              <a:buNone/>
              <a:defRPr/>
            </a:pPr>
            <a:r>
              <a:rPr/>
              <a:t># run to DELETE</a:t>
            </a:r>
            <a:endParaRPr/>
          </a:p>
          <a:p>
            <a:pPr marL="0" indent="0">
              <a:buFont typeface="Arial"/>
              <a:buNone/>
              <a:defRPr/>
            </a:pPr>
            <a:r>
              <a:rPr sz="2800"/>
              <a:t>curl -X DELETE http://localhost:8000/students/101</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5309279" name="Title 1"/>
          <p:cNvSpPr>
            <a:spLocks noGrp="1"/>
          </p:cNvSpPr>
          <p:nvPr>
            <p:ph type="title"/>
          </p:nvPr>
        </p:nvSpPr>
        <p:spPr bwMode="auto"/>
        <p:txBody>
          <a:bodyPr/>
          <a:lstStyle/>
          <a:p>
            <a:pPr>
              <a:defRPr/>
            </a:pPr>
            <a:r>
              <a:rPr/>
              <a:t>Common Issues</a:t>
            </a:r>
            <a:endParaRPr/>
          </a:p>
        </p:txBody>
      </p:sp>
      <p:sp>
        <p:nvSpPr>
          <p:cNvPr id="105888260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a:t>#Check if server runs</a:t>
            </a:r>
            <a:endParaRPr/>
          </a:p>
          <a:p>
            <a:pPr marL="0" indent="0">
              <a:buFont typeface="Arial"/>
              <a:buNone/>
              <a:defRPr/>
            </a:pPr>
            <a:r>
              <a:rPr lang="en-US" sz="3200" b="0" i="0" u="none" strike="noStrike" cap="none" spc="0">
                <a:solidFill>
                  <a:schemeClr val="tx1"/>
                </a:solidFill>
                <a:latin typeface="Calibri"/>
                <a:ea typeface="Calibri"/>
                <a:cs typeface="Calibri"/>
              </a:rPr>
              <a:t>curl http://127.0.0.1:8000/docs</a:t>
            </a:r>
            <a:endParaRPr/>
          </a:p>
          <a:p>
            <a:pPr>
              <a:defRPr/>
            </a:pPr>
            <a:endParaRPr/>
          </a:p>
          <a:p>
            <a:pPr marL="0" indent="0">
              <a:buFont typeface="Arial"/>
              <a:buNone/>
              <a:defRPr/>
            </a:pPr>
            <a:r>
              <a:rPr/>
              <a:t>#Check ports</a:t>
            </a:r>
            <a:endParaRPr/>
          </a:p>
          <a:p>
            <a:pPr marL="0" indent="0">
              <a:buFont typeface="Arial"/>
              <a:buNone/>
              <a:defRPr/>
            </a:pPr>
            <a:r>
              <a:rPr lang="en-US" sz="3200" b="0" i="0" u="none" strike="noStrike" cap="none" spc="0">
                <a:solidFill>
                  <a:schemeClr val="tx1"/>
                </a:solidFill>
                <a:latin typeface="Calibri"/>
                <a:ea typeface="Calibri"/>
                <a:cs typeface="Calibri"/>
              </a:rPr>
              <a:t>ss -tulnp | grep 8000</a:t>
            </a:r>
            <a:endParaRPr/>
          </a:p>
          <a:p>
            <a:pPr marL="0" indent="0">
              <a:buFont typeface="Arial"/>
              <a:buNone/>
              <a:defRPr/>
            </a:pPr>
            <a:endParaRPr/>
          </a:p>
          <a:p>
            <a:pPr marL="0" indent="0">
              <a:buFont typeface="Arial"/>
              <a:buNone/>
              <a:defRPr/>
            </a:pPr>
            <a:r>
              <a:rPr/>
              <a:t>#Check Docker</a:t>
            </a:r>
            <a:endParaRPr/>
          </a:p>
          <a:p>
            <a:pPr marL="0" indent="0">
              <a:buFont typeface="Arial"/>
              <a:buNone/>
              <a:defRPr/>
            </a:pPr>
            <a:r>
              <a:rPr lang="en-US" sz="2900" b="0" i="0" u="none" strike="noStrike" cap="none" spc="0">
                <a:solidFill>
                  <a:schemeClr val="tx1"/>
                </a:solidFill>
                <a:latin typeface="Calibri"/>
                <a:ea typeface="Calibri"/>
                <a:cs typeface="Calibri"/>
              </a:rPr>
              <a:t>sudo systemctl status docker</a:t>
            </a:r>
            <a:endParaRPr lang="en-US" sz="2900" b="0" i="0" u="none" strike="noStrike" cap="none" spc="0">
              <a:solidFill>
                <a:schemeClr val="tx1"/>
              </a:solidFill>
              <a:latin typeface="Calibri"/>
              <a:ea typeface="Calibri"/>
              <a:cs typeface="Calibri"/>
            </a:endParaRPr>
          </a:p>
          <a:p>
            <a:pPr marL="0" indent="0">
              <a:buFont typeface="Arial"/>
              <a:buNone/>
              <a:defRPr/>
            </a:pPr>
            <a:r>
              <a:rPr lang="en-US" sz="2500" b="0" i="0" u="none" strike="noStrike" cap="none" spc="0">
                <a:solidFill>
                  <a:schemeClr val="tx1"/>
                </a:solidFill>
                <a:latin typeface="Calibri"/>
                <a:ea typeface="Calibri"/>
                <a:cs typeface="Calibri"/>
              </a:rPr>
              <a:t>docker ps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3</cp:revision>
  <dcterms:created xsi:type="dcterms:W3CDTF">2013-01-27T09:14:16Z</dcterms:created>
  <dcterms:modified xsi:type="dcterms:W3CDTF">2026-04-21T06:41:35Z</dcterms:modified>
  <cp:category/>
</cp:coreProperties>
</file>