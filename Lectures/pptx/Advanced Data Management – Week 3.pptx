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 /><Relationship Id="rId41" Type="http://schemas.openxmlformats.org/officeDocument/2006/relationships/tableStyles" Target="tableStyles.xml" /><Relationship Id="rId4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6475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58052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6229191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752368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102793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635988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4715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0641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lecture introduces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conceptual shift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from relational database design to distributed NoSQL architectures.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focus is not only technological but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architectural and conceptual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Companies such as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Netflix, Amazon, and Google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moved beyond purely relational databases because normalized relational models become inefficient at very large scale.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did large-scale systems move beyond relational databases?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relational models rely heavily on joins and strong consistency, which become inefficient in large distributed environments.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985264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C2077A-C161-E807-24E2-551E448B78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008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64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CAP theorem was introduced by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Eric Brewer (2000)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formally proven by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Gilbert and Lynch (2002)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 cloud systems like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 DynamoDB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Bigtable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are designed around CAP trade-offs.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are the three properties of the CAP theorem?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Consistency, Availability, and Partition Tolerance.</a:t>
            </a:r>
            <a:endParaRPr/>
          </a:p>
        </p:txBody>
      </p:sp>
      <p:sp>
        <p:nvSpPr>
          <p:cNvPr id="1802494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68637C-81E4-6B92-0225-FF7D528D08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014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821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Slide Explanation – CAP Theorem Triangle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diagram visually explains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 fundamental properties of distributed systems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triangle contains: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Partition Tolerance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CAP theorem states that: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the presence of a network partition, a distributed system can guarantee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either Consistency or Availability, but not both simultaneously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Property 1 –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 means that: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nodes in the distributed system return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same and most recent data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after an update.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read receives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latest committed write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Banking Systems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transferring money between accounts: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balance must be updated everywhere immediately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node should show an outdated balance.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one node still shows the old value, the system is inconsistent.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does consistency guarantee in distributed databases?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That every read operation returns the most recent write.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Property 2 – 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 means that: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request receives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response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even if some nodes have failed.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continues operating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downtime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 Media Platforms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posting on Twitter or Instagram: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must respond instantly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post may take a few seconds to appear everywhere.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prioritizes availability over strict consistency.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does availability mean in distributed systems?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Every request receives a response even if some nodes fail.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Property 3 – Partition Tolerance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Partition tolerance means that: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continues to operate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 if communication between nodes is lost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 failures are assumed to be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inevitable in distributed environments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Infrastructure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two data centers lose communication: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both continue serving users independently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synchronization happens later.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 AWS multi-region architecture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a network partition?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failure where nodes in a distributed system cannot communicate with each other.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CAP Trade-offs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distributed systems: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Choice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Happens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CP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 preserved, availability sacrificed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 preserved, consistency relaxed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Simple Classroom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Imagine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three servers storing the same data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updates data on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Server 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Suddenly the network fails.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Servers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 and C cannot communicate with 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must choose: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Option 1 — wait for synchronization →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</a:t>
            </a:r>
            <a:b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Option 2 — continue responding →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Both cannot be guaranteed simultaneously.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 Good Exam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 the CAP theorem and describe a real-world system where availability is prioritized over consistency.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CAP theorem states that in distributed systems it is impossible to guarantee consistency, availability, and partition tolerance simultaneously. During network partitions a system must choose between consistency and availability. Social media systems prioritize availability, allowing users to access the service even if data synchronization is delayed.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265072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9C65D4-ECF5-C2D4-D6A0-7CA4D9695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3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320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distributed systems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 partitions are unavoidable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therefore systems must choose between consistency and availability.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Twitter prioritizes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tweets appear immediately even if they are not yet fully synchronized.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must distributed systems sacrifice either consistency or availability during network partitions?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nodes cannot communicate reliably, so the system must choose between returning potentially outdated data or refusing to respond.</a:t>
            </a:r>
            <a:endParaRPr/>
          </a:p>
        </p:txBody>
      </p:sp>
      <p:sp>
        <p:nvSpPr>
          <p:cNvPr id="1907787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D2D204-F6C6-E925-09FF-2B2AAE24D2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936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265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2130849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61504B-9734-EF0D-6C10-C3F10F3F7A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modern systems assume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 is mandatory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therefore architecture focuses on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 vs A trade-offs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	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 Type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CP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	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HBase	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CP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DynamoDB	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is partition tolerance considered mandatory in distributed systems?</a:t>
            </a:r>
            <a:b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network failures are unavoidable in distributed infrastructures.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5844B0-4E57-F9DF-6F0B-F54E4E585C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217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761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modern systems implement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eventual consistency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meaning that data becomes consistent over time.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 shopping carts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historically used eventual consistency to ensure availability during high traffic.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eventual consistency?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consistency model where updates propagate gradually and the system becomes consistent over time.</a:t>
            </a:r>
            <a:endParaRPr/>
          </a:p>
        </p:txBody>
      </p:sp>
      <p:sp>
        <p:nvSpPr>
          <p:cNvPr id="173269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D15B1B-F88F-1EE5-47AA-E0A1F62F88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56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032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818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EC7B2F-3597-932B-E88E-531C741412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193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260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NoSQL emerged mainly to support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Big Data and distributed systems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 parts of large systems often use different databases.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Netflix uses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Cassandra, MySQL, Redis, and ElasticSearch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simultaneously.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are there multiple types of NoSQL databases?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different applications require different data models and performance characteristics.</a:t>
            </a:r>
            <a:endParaRPr/>
          </a:p>
        </p:txBody>
      </p:sp>
      <p:sp>
        <p:nvSpPr>
          <p:cNvPr id="95864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94B0F2-CFD9-FD43-A612-3A1219695F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667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9237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Key–value stores provide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O(1) lookup performance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Redis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widely used for: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caching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session storage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leaderboard counters.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the main advantage of key–value stores?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Simplicity and extremely fast key-based access.</a:t>
            </a:r>
            <a:endParaRPr/>
          </a:p>
        </p:txBody>
      </p:sp>
      <p:sp>
        <p:nvSpPr>
          <p:cNvPr id="1099150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FA220-C8BB-27F9-8699-0DC61D952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186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417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databases allow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schema flexibility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enabling rapid application development.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used by companies like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Adobe and eBay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are document databases popular in web applications?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JSON documents map naturally to application objects and APIs.</a:t>
            </a:r>
            <a:endParaRPr/>
          </a:p>
        </p:txBody>
      </p:sp>
      <p:sp>
        <p:nvSpPr>
          <p:cNvPr id="1065972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E141FA-888C-50B3-B483-834D305253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675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294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Column-family databases are inspired by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Bigtable architecture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Apache Cassandra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by: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Spotify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are column-family databases efficient for large-scale workloads?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they optimize storage and access for large distributed datasets.</a:t>
            </a:r>
            <a:endParaRPr/>
          </a:p>
        </p:txBody>
      </p:sp>
      <p:sp>
        <p:nvSpPr>
          <p:cNvPr id="84847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5A31B7-CC82-7324-90D2-BF6F1948A9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277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551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 databases excel when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relationships are central to the data model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Neo4j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widely used for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fraud detection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financial systems.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should a graph database be used?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When relationships between entities are the primary aspect of the data.</a:t>
            </a:r>
            <a:endParaRPr/>
          </a:p>
        </p:txBody>
      </p:sp>
      <p:sp>
        <p:nvSpPr>
          <p:cNvPr id="1813398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7076B4-74D7-4C35-174E-F6004C34F5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215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930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NoSQL should always follow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requirements analysis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NoSQL always better than relational databases?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No. The appropriate database depends on the system requirements.</a:t>
            </a:r>
            <a:endParaRPr/>
          </a:p>
        </p:txBody>
      </p:sp>
      <p:sp>
        <p:nvSpPr>
          <p:cNvPr id="1769957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15864D-7B3F-297F-28D4-2F0263E7B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226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097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Banking systems still rely heavily on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databases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due to strong consistency requirements.</a:t>
            </a:r>
            <a:endParaRPr/>
          </a:p>
        </p:txBody>
      </p:sp>
      <p:sp>
        <p:nvSpPr>
          <p:cNvPr id="1542180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4F126A-EC1B-55CE-100F-F21255CC9B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588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59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uses: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Redis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ElasticSearch.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polyglot persistence?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multiple database technologies in the same system.</a:t>
            </a:r>
            <a:endParaRPr/>
          </a:p>
        </p:txBody>
      </p:sp>
      <p:sp>
        <p:nvSpPr>
          <p:cNvPr id="597698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10B4C-761E-B234-B116-7909AE55D6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138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24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slide emphasizes that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NoSQL adoption is not a technological trend but an architectural decision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Before selecting a database, architects analyze: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scale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Access patterns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Concurrency requirements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Latency constraints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structure evolution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 relational databases work well for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small to medium systems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but when systems reach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scale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distributed architectures become necessary.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key idea: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database choice follows the architecture, not the opposite.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1 — Netflix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handles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hundreds of millions of users globally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Requirements: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massive scale-out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latency streaming recommendations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Solution: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uses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Apache Cassandra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 distributed NoSQL database.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Characteristics: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replicated across regions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scaling with thousands of nodes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single point of failure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2 — Amazon Shopping Cart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 must handle: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millions of concurrent users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continuous traffic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shopping cart system was historically built using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 Dynamo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 key-value distributed database.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design goals: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 &gt; strong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eventual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fault tolerance.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3 — Instagram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Instagram manages: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billions of photos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millions of likes per second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globally distributed users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architecture uses: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Redis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sharded relational databases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maintain high performance and scalability.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Explanation of Each Requirement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Massive Scale-Out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Instead of upgrading one server (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vertical scaling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systems add more servers (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scaling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uses thousands of servers for distributed storage systems.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Concurrency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Systems must support thousands or millions of simultaneous users.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During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World Cup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Twitter handles millions of tweets per minute.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Latency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Users expect responses in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milliseconds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engines like Google return results in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&lt;200 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Flexible Schemas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applications evolve quickly.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databases allow changing the structure of data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without schema migrations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MongoDB documents may contain different fields.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Distribution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Users are located worldwide.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Systems must replicate data across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regions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platforms replicate databases across continents.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Questions and Answers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1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do large-scale systems prefer horizontal scaling instead of vertical scaling?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scaling allows systems to add more servers dynamically, improving scalability and fault tolerance, while vertical scaling is limited by hardware constraints.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is the difference between scale-up and scale-out?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Scale-up increases the capacity of a single machine, while scale-out adds more machines to the system.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3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are flexible schemas important in modern applications?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application requirements evolve frequently, and schema flexibility allows developers to modify data structures without costly migrations.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4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is global distribution important for large platforms?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reduce latency for users worldwide and ensure service availability even if one region fails.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 Classroom Question (Discussion)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Suppose you are designing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ride-sharing platform like Uber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database architecture would you choose and why?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should mention: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distributed database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latency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geolocation data handling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eventual consistency.</a:t>
            </a:r>
            <a:endParaRPr/>
          </a:p>
        </p:txBody>
      </p:sp>
      <p:sp>
        <p:nvSpPr>
          <p:cNvPr id="1861465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AC60DB-2101-B222-AFCA-ACCE1FA045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639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774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slide emphasizes that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a database is one of the earliest and most critical architectural decisions in system design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engineers mistakenly treat database selection as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later implementation detail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but in reality it determines: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the system scales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data are accessed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failures are handled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the system evolves over time.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database affects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entire system architecture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including: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microservices communication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caching strategies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partitioning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replication mechanisms.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Changing a database later can require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rewriting major parts of the system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Real-World Case Examples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1 — Instagram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Early Instagram used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PostgreSQL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relational storage.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 the platform grew: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billions of photos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millions of interactions per minute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They introduced: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distributed storage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Redis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for caching.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architectural shift allowed Instagram to scale to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hundreds of millions of users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3 — Uber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Uber requires: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extremely low latency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concurrency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availability.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They use a mixture of: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MySQL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Redis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depending on the type of data.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architectural choice ensures both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scalability and reliability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Architectural Insight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 choice determines: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Performance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fast queries execute.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Key-value stores can respond in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milliseconds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Whether the system can support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millions of users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Cassandra scales horizontally across hundreds of nodes.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Reliability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the system behaves during failures.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Distributed databases replicate data across multiple nodes.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Evolution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easily the system adapts to new requirements.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Flexible schemas allow applications to evolve without costly migrations.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Questions and Answers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1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is database choice considered an architectural decision?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it affects system performance, scalability, reliability, and long-term evolution.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is polyglot persistence?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use of multiple database technologies within the same system, each chosen for a specific purpose.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3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is changing a database later in development difficult?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application logic, data models, queries, and infrastructure often depend heavily on the chosen database architecture.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Classroom Discussion Question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You are designing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video streaming platform similar to Netflix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database properties would be most important?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should identify: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availability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distributed replication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latency.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Simple Teaching Analogy (Very Effective in Class)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a database is like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the foundation of a building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foundation is wrong: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building may collapse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fixing it later is extremely expensive.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Similarly, a poor database choice can limit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entire system architecture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796205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364081-2E97-0C5C-DBE1-C05E340710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711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2464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slide highlights that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before choosing a database technology, we must first understand the structure of the data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model defines how data are organized, stored, and related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Different problems require different data models.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Common data models include: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model (tables)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model (JSON documents)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 model (nodes and edges)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Time-series model (timestamp-based data)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key architectural principle is: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 model should match the nature of the data and the queries.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model does not fit the problem, the system becomes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complex, slow, and difficult to maintain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Real-World Case Examples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1 — Banking System (Relational Model)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Banks store structured financial data: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accounts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transactions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These systems use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databases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relationships are well defined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strong consistency is required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transactions must be reliable.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tables: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Customers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Accounts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Transactions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2 — Social Networks (Graph Model)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 networks represent relationships: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 → follows → User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User → likes → Post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 database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 ideal because it efficiently represents relationships.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technology: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Neo4j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for: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social networks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recommendation systems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fraud detection.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3 — Web Applications (Document Model)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Web applications frequently store flexible user data.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the Data Model Matters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the wrong model can create problems such as: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inefficient queries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joins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poor scalability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 maintenance.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Trying to model social networks in relational tables leads to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joins and slow queries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Questions and Answers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1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must the data model fit the problem?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the structure of the data determines how efficiently queries can be executed and how easily the system can scale.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are the main types of data models used in modern databases?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Relational, document, graph, key-value, and time-series models.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3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should a graph database be preferred?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relationships between entities are the primary focus of the system.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Classroom Discussion Question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Suppose you are designing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music streaming platform like Spotify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data models would be appropriate?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may propose: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for user accounts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graph model for recommendations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time-series for listening analytics.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2989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94285F-4CAD-6339-AC7B-5AD7A5F7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472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089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slide introduces a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core principle of modern database architecture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models should be designed based on how the data will be accessed.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traditional relational database design, schemas are often normalized first, and queries are written afterward.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However, in large-scale distributed systems and NoSQL databases, the process is often reversed: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First identify the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important queries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Then design the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model that supports those queries efficiently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approach minimizes: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expensive joins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 communication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latency.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is why many NoSQL systems use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denormalized data structures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Real-World Case Examples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1 — Amazon Product Page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a user opens a product page, the system must display: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product information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price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availability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recommendations.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Instead of querying many tables dynamically, large systems often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store pre-aggregated data structures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so that a single query returns all required information.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reduces latency and improves performance.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2 — Netflix Recommendations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must quickly retrieve: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user’s viewing history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personalized recommendations.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these queries occur constantly, the database is designed to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optimize those specific access patterns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stores many datasets in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Apache Cassandra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where rows are structured around user queries.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3 — Twitter Timeline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a user opens Twitter, the system must quickly retrieve: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recent tweets from followed users.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Instead of joining multiple relational tables, Twitter pre-computes timelines and stores them in optimized data structures for fast retrieval.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Access Patterns Matter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Poor alignment between data models and access patterns leads to: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slow queries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excessive joins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network communication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scalability problems.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Designing data structures based on access patterns ensures: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efficient queries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predictable performance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architecture.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Questions and Answers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1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are access patterns important in database design?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the efficiency of a database depends on how data are read and updated. Designing schemas around common queries improves performance and scalability.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2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does it mean to design for the queries that will actually occur?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means structuring data so that the most frequent and critical queries can be executed efficiently.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3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do NoSQL systems often denormalize data?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optimize common access patterns and avoid expensive joins in distributed environments.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Classroom Discussion Question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Suppose you are designing a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ride-sharing platform like Uber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access patterns are critical?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might identify: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finding nearby drivers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retrieving trip history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updating driver locations in real time.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database schema should be optimized for those operations.</a:t>
            </a:r>
            <a:endParaRPr sz="1200"/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Teaching Insight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of the biggest architectural mistakes is: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Designing a database without understanding how the application will use the data.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system design always begins with </a:t>
            </a:r>
            <a:r>
              <a:rPr lang="en-US" sz="12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access pattern analysis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1991406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A13428-CE69-7860-F92E-3144044AC4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643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4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slide highlights that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scalability must be considered during system design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not after the system becomes large.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systems fail because scalability is treated as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problem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Architects must estimate: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number of users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data volume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request rates.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These factors determine whether the system should be designed for: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Vertical Scaling (Scale-Up)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Increasing the power of a single machine: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CPU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RAM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faster storage.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Upgrading a database server from 16GB RAM to 256GB RAM.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Scaling (Scale-Out)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Adding more machines to the system.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Instead of one powerful server: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servers share the workload.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approach is used by most modern distributed systems.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Real-World Case Examples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1 — Google Search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processes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billions of queries per day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Instead of one large server, Google uses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thousands of distributed machines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that process queries in parallel.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is horizontal scaling.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2 — Netflix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 serves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hundreds of millions of users worldwide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platform runs on thousands of cloud instances across multiple regions.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allows Netflix to scale automatically when demand increases.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 3 — Spotify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Spotify handles millions of music streams simultaneously.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support this workload: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microservices run on distributed clusters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databases scale horizontally across nodes.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Scalability Must Be Designed Early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scalability is not considered early: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 becomes rigid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 bottlenecks appear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redesign becomes necessary.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early startups built monolithic systems that later required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 architectural redesigns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scale.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Questions and Answers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1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is the difference between vertical and horizontal scaling?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Vertical scaling increases the capacity of a single machine, while horizontal scaling distributes the workload across multiple machines.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2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is horizontal scaling preferred in large distributed systems?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it allows systems to grow by adding machines rather than upgrading a single machine, improving scalability and fault tolerance.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Question 3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must scalability be considered during system design?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Because redesigning system architecture after scaling problems appear can be extremely costly and complex.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Classroom Discussion Question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Suppose you are designing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 streaming platform similar to YouTube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type of scaling would be more appropriate and why?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should identify: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scaling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distributed storage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replication.</a:t>
            </a:r>
            <a:endParaRPr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Teaching Insight (Important Concept)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useful architectural principle: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your system can only scale by buying a bigger server, it will eventually reach a limit.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architectures are designed for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horizontal scalability from the beginning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184423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156A9-F7FF-D504-F1DF-0E4A188A8C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940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9987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Consistency models vary depending on the application domain.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Examples of models: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Strong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Eventual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Causal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Read-after-write consistency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Choosing the correct consistency model is a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core architectural decision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Banking System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Banking systems require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strong consistency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If a user transfers €100, both accounts must immediately reflect the correct balance.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 a small delay could produce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incorrect financial states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do some systems accept eventual consistency?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availability and scalability are sometimes more important than immediate consistency.</a:t>
            </a:r>
            <a:endParaRPr/>
          </a:p>
        </p:txBody>
      </p:sp>
      <p:sp>
        <p:nvSpPr>
          <p:cNvPr id="1161080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216E67-1FCF-2633-973D-5F4EA9BA43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170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001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relational model was introduced by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Edgar F. Codd in 1970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is based on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 theory and relational algebra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University Database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table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student_id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1001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Maria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1002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John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row represents one student.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the fundamental unit of data in the relational model?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table row (tuple).</a:t>
            </a:r>
            <a:endParaRPr/>
          </a:p>
        </p:txBody>
      </p:sp>
      <p:sp>
        <p:nvSpPr>
          <p:cNvPr id="2054086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9AA13B-18FA-8764-B88F-C0B58808B9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3149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6663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Primary keys enforce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entity integrity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relational databases.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 Database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customer_id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101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Maria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102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John</a:t>
            </a:r>
            <a:endParaRPr/>
          </a:p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customer_id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ensures that each customer is uniquely identifiable.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must primary keys be unique?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ensure that each record can be uniquely identified.</a:t>
            </a:r>
            <a:endParaRPr/>
          </a:p>
        </p:txBody>
      </p:sp>
      <p:sp>
        <p:nvSpPr>
          <p:cNvPr id="547964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09FA4C-1D6D-3C91-6D09-06177D8A8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932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581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Foreign keys enforce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referential integrity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University Example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table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student_id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1001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Maria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Enrollments table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student_id	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1001	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enrollment references the student record.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referential integrity?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guarantee that relationships between tables remain valid.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929471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B2624-3896-936B-CC20-794B0DE28C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41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1929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Normalization typically follows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 forms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1NF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2NF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3NF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E-commerce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Tables: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Customers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Orders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OrderItems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Normalization avoids duplicating customer information in every order.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normalization?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process of structuring data to reduce redundancy.</a:t>
            </a:r>
            <a:endParaRPr/>
          </a:p>
        </p:txBody>
      </p:sp>
      <p:sp>
        <p:nvSpPr>
          <p:cNvPr id="2053417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229A26-FB31-8B0F-1A5C-808FB3AE5B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210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91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JOIN operations are fundamental to relational query processing.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example</a:t>
            </a: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SELECT Students.name, Grades.grade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FROM Students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JOIN Grades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 Students.student_id = Grades.student_id;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are joins expensive in distributed systems?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they require data transfer across nodes.</a:t>
            </a:r>
            <a:endParaRPr/>
          </a:p>
        </p:txBody>
      </p:sp>
      <p:sp>
        <p:nvSpPr>
          <p:cNvPr id="1147991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5D549E-ED15-1338-5641-C66EC057F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454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75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design philosophy works well for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transactional systems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but becomes problematic at scale.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business analytics system may run hundreds of different SQL queries on normalized tables.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does query-centric mean?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schema is designed to support flexible queries.</a:t>
            </a:r>
            <a:endParaRPr/>
          </a:p>
        </p:txBody>
      </p:sp>
      <p:sp>
        <p:nvSpPr>
          <p:cNvPr id="1824015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611C4-C09C-3A00-85AB-356C673289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273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569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174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3F5BDD-B9CE-873B-9902-E6213C0D69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9439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6793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Distributed joins can require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network round trips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Google's distributed systems often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avoid joins entirely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instead use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denormalized data structures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are joins problematic in distributed systems?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data must be transferred across the network between nodes.</a:t>
            </a:r>
            <a:endParaRPr/>
          </a:p>
        </p:txBody>
      </p:sp>
      <p:sp>
        <p:nvSpPr>
          <p:cNvPr id="405550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8FB48-A3E7-1F8D-7D2A-923E930089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714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013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Good distributed architectures try to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maximize data locality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Cassandra stores related data in the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same partition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avoid distributed joins.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data locality?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Storing related data close together to reduce network communication.</a:t>
            </a:r>
            <a:endParaRPr/>
          </a:p>
        </p:txBody>
      </p:sp>
      <p:sp>
        <p:nvSpPr>
          <p:cNvPr id="1850182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AA6964-0B14-EE88-FD48-7526BCEA67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00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17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is why distributed systems often move away from strict ACID transactions.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 Spanner solves this using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clocks and consensus algorithms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Why is coordination expensive in distributed systems?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Because multiple nodes must synchronize before completing operations.</a:t>
            </a:r>
            <a:endParaRPr/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ACID (Atomicity, Consistency, Isolation, Durability) is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 set of four key properties—Atomicity, Consistency, Isolation, and  Durability—that guarantee database transactions are processed reliably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 ACID ensures data integrity, preventing corruption during failures or  concurrent access by treating operations as all-or-nothing units. It is  critical for financial and transactional systems.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1440080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DE4211-7778-83C6-D90D-236C2285E5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701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54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Latency often increases exponentially with the number of distributed nodes.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Large-scale distributed databases must carefully design data placement to avoid high latency.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latency in distributed systems?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time required for a system to respond to a request.</a:t>
            </a:r>
            <a:endParaRPr/>
          </a:p>
        </p:txBody>
      </p:sp>
      <p:sp>
        <p:nvSpPr>
          <p:cNvPr id="877331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6ED6ED-138F-B401-EAAC-3A1EB5741B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730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900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Lecturer Notes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limitation led to the development of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NoSQL databases and distributed data architectures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Case Example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Companies that adopted NoSQL at scale: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Google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Amazon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Netflix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Facebook.</a:t>
            </a:r>
            <a:endParaRPr/>
          </a:p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Interview Question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the main reason NoSQL systems emerged?</a:t>
            </a:r>
            <a:b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support large-scale distributed systems where relational joins and strong consistency become inefficient.</a:t>
            </a:r>
            <a:endParaRPr/>
          </a:p>
        </p:txBody>
      </p:sp>
      <p:sp>
        <p:nvSpPr>
          <p:cNvPr id="1032979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E1765D-696F-8D15-8737-47B2F2D4D1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208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0769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06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46987A-12CE-7758-A515-6F396694E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02744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42332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732855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95249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95640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103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92689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75515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55805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52196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63166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29424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83854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78632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00563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536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475843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9035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43287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74371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3819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6355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61615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673899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90531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36093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046705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21755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6391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592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39871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56458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2938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7891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369195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768016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03421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653181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85019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150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76053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31358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7808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79592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954490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43491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71270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88427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8970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926320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96692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19271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440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0807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25338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72046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05016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91314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56023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89945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25024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4676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0405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70C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681029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l-GR" sz="57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Advanced Data Management – Week 3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23113786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From the Relational Model to NoSQL: Denormalization and Change of Thinking</a:t>
            </a:r>
            <a:endParaRPr sz="24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5138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CAP Theorem</a:t>
            </a:r>
            <a:endParaRPr b="1"/>
          </a:p>
        </p:txBody>
      </p:sp>
      <p:sp>
        <p:nvSpPr>
          <p:cNvPr id="99451505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CAP theorem is a fundamental theory of distributed systems and explains an unavoidable limitation in large-scale database design.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states that in a distributed data system it is impossible to guarantee simultaneously all three of the following properties: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Consistency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Availability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Partition Tolerance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84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CAP Theorem</a:t>
            </a:r>
            <a:endParaRPr sz="4400" b="1"/>
          </a:p>
        </p:txBody>
      </p:sp>
      <p:pic>
        <p:nvPicPr>
          <p:cNvPr id="135017175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3659427" y="1825623"/>
            <a:ext cx="4873141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2437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the CAP Theorem Says</a:t>
            </a:r>
            <a:endParaRPr b="1"/>
          </a:p>
        </p:txBody>
      </p:sp>
      <p:sp>
        <p:nvSpPr>
          <p:cNvPr id="96885615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CAP theorem states that: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a network partition occurs, a distributed system can guarantee either Consistency or Availability, but not both simultaneously.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other words: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+ P → Availability is sacrificed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+ P → Strong Consistency is sacrificed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third property cannot be maintained.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9906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CAP – Relation with RDBMS and NoSQL</a:t>
            </a:r>
            <a:endParaRPr b="1"/>
          </a:p>
        </p:txBody>
      </p:sp>
      <p:sp>
        <p:nvSpPr>
          <p:cNvPr id="176450586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Traditional RDBMS approach the CA model (Consistency + Availability) assuming reliable networks.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systems are usually designed as: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 systems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 systems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depending on the use case.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cloud and Big Data environments, Partition Tolerance is assumed, therefore the real choice becomes between Consistency and Availability.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C, P OR A Trade-off</a:t>
            </a:r>
            <a:endParaRPr/>
          </a:p>
        </p:txBody>
      </p:sp>
      <p:sp>
        <p:nvSpPr>
          <p:cNvPr id="20292390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Most modern systems assume P is mandatory, therefore architecture focuses on C vs A trade-offs.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 Case Example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graphicFrame>
        <p:nvGraphicFramePr>
          <p:cNvPr id="1225189713" name=""/>
          <p:cNvGraphicFramePr>
            <a:graphicFrameLocks xmlns:a="http://schemas.openxmlformats.org/drawingml/2006/main"/>
          </p:cNvGraphicFramePr>
          <p:nvPr/>
        </p:nvGraphicFramePr>
        <p:xfrm>
          <a:off x="930671" y="3429000"/>
          <a:ext cx="8140699" cy="18414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125774"/>
                <a:gridCol w="5125774"/>
              </a:tblGrid>
              <a:tr h="5745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CAP TYPE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6130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MONGO DB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CP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5745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CASSNDRA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AP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5745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HBASE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CP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  <a:tr h="5745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DYNAMO DB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AP</a:t>
                      </a:r>
                      <a:endParaRPr b="1">
                        <a:latin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0713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CAP Theorem – Conclusion</a:t>
            </a:r>
            <a:endParaRPr b="1"/>
          </a:p>
        </p:txBody>
      </p:sp>
      <p:sp>
        <p:nvSpPr>
          <p:cNvPr id="10711383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CAP theorem explains why: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systems relax strict consistency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eventual consistency is acceptable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designing distributed databases involves conscious trade-offs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Understanding CAP is a necessary foundation for modern data architectures.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269265" name="Title 1"/>
          <p:cNvSpPr>
            <a:spLocks noGrp="1"/>
          </p:cNvSpPr>
          <p:nvPr>
            <p:ph type="title"/>
          </p:nvPr>
        </p:nvSpPr>
        <p:spPr bwMode="auto">
          <a:xfrm>
            <a:off x="831846" y="1709734"/>
            <a:ext cx="10515600" cy="2852733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US" sz="6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Course Roadmap &amp; Architectural Thinking</a:t>
            </a:r>
            <a:endParaRPr b="1"/>
          </a:p>
        </p:txBody>
      </p:sp>
      <p:sp>
        <p:nvSpPr>
          <p:cNvPr id="17692194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6" y="4589460"/>
            <a:ext cx="10515600" cy="15001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334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NoSQL Categories (Overview)</a:t>
            </a:r>
            <a:endParaRPr b="1"/>
          </a:p>
        </p:txBody>
      </p:sp>
      <p:sp>
        <p:nvSpPr>
          <p:cNvPr id="5903040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systems are not a single technology but a family of different data models, each designed for specific workloads, access patterns, and relationships.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classification helps explain why there is no “one database for everything.”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119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Key–Value Stores</a:t>
            </a:r>
            <a:endParaRPr b="1"/>
          </a:p>
        </p:txBody>
      </p:sp>
      <p:sp>
        <p:nvSpPr>
          <p:cNvPr id="192013653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5257800" cy="4351338"/>
          </a:xfrm>
        </p:spPr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stored as key–value pairs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Extremely simple model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Very high performance and scalability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Suitable for caches, sessions, counters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360219105" name=""/>
          <p:cNvPicPr>
            <a:picLocks noChangeAspect="1"/>
          </p:cNvPicPr>
          <p:nvPr/>
        </p:nvPicPr>
        <p:blipFill rotWithShape="1">
          <a:blip r:embed="rId3"/>
          <a:srcRect l="9722" t="15259" r="58366" b="42996"/>
          <a:stretch/>
        </p:blipFill>
        <p:spPr bwMode="auto">
          <a:xfrm flipH="0" flipV="0">
            <a:off x="7189260" y="1981719"/>
            <a:ext cx="3680110" cy="40391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849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l-G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Document Databases</a:t>
            </a:r>
            <a:endParaRPr sz="4400" b="1"/>
          </a:p>
        </p:txBody>
      </p:sp>
      <p:sp>
        <p:nvSpPr>
          <p:cNvPr id="16762973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5311967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stored as documents (JSON-like)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Flexible schema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Natural mapping to application objects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Ideal for web and mobile applications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186379517" name=""/>
          <p:cNvPicPr>
            <a:picLocks noChangeAspect="1"/>
          </p:cNvPicPr>
          <p:nvPr/>
        </p:nvPicPr>
        <p:blipFill rotWithShape="1">
          <a:blip r:embed="rId3"/>
          <a:srcRect l="60702" t="57235" r="4272" b="2875"/>
          <a:stretch/>
        </p:blipFill>
        <p:spPr bwMode="auto">
          <a:xfrm flipH="0" flipV="0">
            <a:off x="7449030" y="1969940"/>
            <a:ext cx="3511458" cy="3355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06301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l-G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Column-Family Stores</a:t>
            </a:r>
            <a:endParaRPr sz="4400" b="1"/>
          </a:p>
        </p:txBody>
      </p:sp>
      <p:sp>
        <p:nvSpPr>
          <p:cNvPr id="8247591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5257800" cy="4351338"/>
          </a:xfrm>
        </p:spPr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organized into columns and column families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Optimized for large-scale analytics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write throughput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in Big Data platforms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309090650" name=""/>
          <p:cNvPicPr>
            <a:picLocks noChangeAspect="1"/>
          </p:cNvPicPr>
          <p:nvPr/>
        </p:nvPicPr>
        <p:blipFill rotWithShape="1">
          <a:blip r:embed="rId3"/>
          <a:srcRect l="59535" t="16680" r="2715" b="45749"/>
          <a:stretch/>
        </p:blipFill>
        <p:spPr bwMode="auto">
          <a:xfrm flipH="0" flipV="0">
            <a:off x="6713011" y="1825623"/>
            <a:ext cx="4242952" cy="3543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13453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l-G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Graph Databases</a:t>
            </a:r>
            <a:endParaRPr sz="4400" b="1"/>
          </a:p>
        </p:txBody>
      </p:sp>
      <p:sp>
        <p:nvSpPr>
          <p:cNvPr id="15534642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52578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represented as nodes and edges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Focus on relationships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Efficient graph traversal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Suitable for social networks, recommendation systems, and knowledge graphs.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2061822871" name=""/>
          <p:cNvPicPr>
            <a:picLocks noChangeAspect="1"/>
          </p:cNvPicPr>
          <p:nvPr/>
        </p:nvPicPr>
        <p:blipFill rotWithShape="1">
          <a:blip r:embed="rId3"/>
          <a:srcRect l="8943" t="55844" r="58755" b="1947"/>
          <a:stretch/>
        </p:blipFill>
        <p:spPr bwMode="auto">
          <a:xfrm flipH="0" flipV="0">
            <a:off x="6842895" y="1825623"/>
            <a:ext cx="4069769" cy="4462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072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When Do We Use NoSQL</a:t>
            </a:r>
            <a:endParaRPr b="1"/>
          </a:p>
        </p:txBody>
      </p:sp>
      <p:sp>
        <p:nvSpPr>
          <p:cNvPr id="19482661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NoSQL is not the default choice and does not replace every database.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Instead, it results from a conscious architectural decision based on system requirements.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842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Not Always</a:t>
            </a:r>
            <a:endParaRPr b="1"/>
          </a:p>
        </p:txBody>
      </p:sp>
      <p:sp>
        <p:nvSpPr>
          <p:cNvPr id="64621310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systems are not a universal solution: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necessary for small applications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ideal for strict transactional systems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superior when strong consistency is required everywhere.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many cases, a traditional RDBMS remains the correct choice.</a:t>
            </a:r>
            <a:endParaRPr sz="2800" b="0" i="0" u="none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8385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Not Everywhere</a:t>
            </a:r>
            <a:endParaRPr b="1"/>
          </a:p>
        </p:txBody>
      </p:sp>
      <p:sp>
        <p:nvSpPr>
          <p:cNvPr id="15340129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 in large systems: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is not used in every subsystem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data require different storage technologies.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Modern practice is polyglot persistence.</a:t>
            </a:r>
            <a:endParaRPr sz="2800" b="0" i="0" u="none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959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Architectural Thinking</a:t>
            </a:r>
            <a:endParaRPr b="1"/>
          </a:p>
        </p:txBody>
      </p:sp>
      <p:sp>
        <p:nvSpPr>
          <p:cNvPr id="190857381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NoSQL is chosen when systems require: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massive scale-out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concurrency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latency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flexible schemas</a:t>
            </a:r>
            <a:endParaRPr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global distribution and high availability.</a:t>
            </a:r>
            <a:endParaRPr lang="en-US" sz="2600" b="0" i="1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453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Database Choice as an Architectural Decision</a:t>
            </a:r>
            <a:endParaRPr b="1"/>
          </a:p>
        </p:txBody>
      </p:sp>
      <p:sp>
        <p:nvSpPr>
          <p:cNvPr id="150511074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Database selection is not a technological trend nor an implementation detail.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is a core architectural decision affecting: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performance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scalability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reliability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evolution.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394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Model</a:t>
            </a:r>
            <a:endParaRPr b="1"/>
          </a:p>
        </p:txBody>
      </p:sp>
      <p:sp>
        <p:nvSpPr>
          <p:cNvPr id="180718932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first fundamental question: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data are structured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entities and relationships exist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 the data model uses tables, documents, graphs, or time-series.</a:t>
            </a:r>
            <a:endParaRPr/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 model must fit the problem naturally.</a:t>
            </a:r>
            <a:endParaRPr sz="2600" b="0" i="0" u="none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779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Access Patterns</a:t>
            </a:r>
            <a:endParaRPr b="1"/>
          </a:p>
        </p:txBody>
      </p:sp>
      <p:sp>
        <p:nvSpPr>
          <p:cNvPr id="4122616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database must be chosen based on: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data are read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they are updated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queries are critical.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design for the queries that will actually occur.</a:t>
            </a:r>
            <a:endParaRPr sz="2600" b="0" i="0" u="none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525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Scalability Needs</a:t>
            </a:r>
            <a:endParaRPr b="1"/>
          </a:p>
        </p:txBody>
      </p:sp>
      <p:sp>
        <p:nvSpPr>
          <p:cNvPr id="1475202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must clearly answer: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much the system will grow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 scaling will be vertical or horizontal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 users will be globally distributed.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 is a design parameter, not an abstract concept.</a:t>
            </a:r>
            <a:endParaRPr sz="2600" b="0" i="0" u="none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122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Consistency Requirements</a:t>
            </a:r>
            <a:endParaRPr b="1"/>
          </a:p>
        </p:txBody>
      </p:sp>
      <p:sp>
        <p:nvSpPr>
          <p:cNvPr id="210902056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Finally, it must be determined: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 strong consistency is required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 eventual consistency is acceptable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operations are critical and which are not.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Consistency is not a binary decision, but a spectrum of requirements depending on the use case.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0260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Relational Data Model</a:t>
            </a:r>
            <a:endParaRPr b="1"/>
          </a:p>
        </p:txBody>
      </p:sp>
      <p:sp>
        <p:nvSpPr>
          <p:cNvPr id="156350859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relational model: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stored in tables, similar to an Excel sheet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Columns represent the type of information stored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 Name, Email, Age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Rows represent a complete record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one specific student</a:t>
            </a: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row describes a real-world object.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22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Primary Key</a:t>
            </a:r>
            <a:endParaRPr b="1"/>
          </a:p>
        </p:txBody>
      </p:sp>
      <p:sp>
        <p:nvSpPr>
          <p:cNvPr id="84650439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Primary Key is a column (or combination of columns) that: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uniquely identifies each row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cannot be duplicated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cannot be NULL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a Students table, the column student_id.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</a:t>
            </a:r>
            <a:endParaRPr lang="en-US" sz="23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uniquely identify exactly one record.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252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Foreign Key</a:t>
            </a:r>
            <a:endParaRPr b="1"/>
          </a:p>
        </p:txBody>
      </p:sp>
      <p:sp>
        <p:nvSpPr>
          <p:cNvPr id="146118573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Foreign Key is a column that: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references the primary key of another table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creates a relationship between tables.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Table Enrollments contains student_id referencing the Students table.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Purpose:</a:t>
            </a:r>
            <a:endParaRPr lang="en-US" sz="27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connect data without duplication.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2767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Relationships Between Tables</a:t>
            </a:r>
            <a:endParaRPr b="1"/>
          </a:p>
        </p:txBody>
      </p:sp>
      <p:sp>
        <p:nvSpPr>
          <p:cNvPr id="146118506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Relationships show </a:t>
            </a: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data are connected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student → many course enrollments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order → one customer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design enables: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duplicated data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better consistency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cleaner database structure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principle is called </a:t>
            </a: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normalization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494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JOINs – Combining Data</a:t>
            </a:r>
            <a:endParaRPr b="1"/>
          </a:p>
        </p:txBody>
      </p:sp>
      <p:sp>
        <p:nvSpPr>
          <p:cNvPr id="168947051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JOINs allow us to: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 data from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tables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dynamically construct results during queries.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 name from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Students</a:t>
            </a:r>
            <a:b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Grade from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Grades</a:t>
            </a:r>
            <a:endParaRPr sz="2800">
              <a:latin typeface="Arial"/>
              <a:cs typeface="Arial"/>
            </a:endParaRPr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 are </a:t>
            </a:r>
            <a:r>
              <a:rPr sz="2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stored together</a:t>
            </a:r>
            <a:r>
              <a:rPr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but combined dynamically.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99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Query-Centric Design</a:t>
            </a:r>
            <a:endParaRPr b="1"/>
          </a:p>
        </p:txBody>
      </p:sp>
      <p:sp>
        <p:nvSpPr>
          <p:cNvPr id="20155498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2"/>
            <a:ext cx="10088834" cy="495011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relational model is query-centric because: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designed to: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 flexible queries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allow dynamic joins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many possible questions.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simple terms: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we think what quearies we want to run, </a:t>
            </a: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then we design the tables.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83907" name="Title 1"/>
          <p:cNvSpPr>
            <a:spLocks noGrp="1"/>
          </p:cNvSpPr>
          <p:nvPr>
            <p:ph type="title"/>
          </p:nvPr>
        </p:nvSpPr>
        <p:spPr bwMode="auto">
          <a:xfrm>
            <a:off x="831847" y="1709735"/>
            <a:ext cx="10515600" cy="2852734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US" sz="6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Why the Relational Model Struggles at Scale</a:t>
            </a:r>
            <a:endParaRPr b="1"/>
          </a:p>
        </p:txBody>
      </p:sp>
      <p:sp>
        <p:nvSpPr>
          <p:cNvPr id="20438083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7" y="4589460"/>
            <a:ext cx="10515600" cy="1500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1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JOIN operations in distributed systems</a:t>
            </a:r>
            <a:endParaRPr b="1"/>
          </a:p>
        </p:txBody>
      </p:sp>
      <p:sp>
        <p:nvSpPr>
          <p:cNvPr id="6139672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71198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l-GR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Ι</a:t>
            </a: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 a small system, all the tables are on the same server. A JOIN simply means: “read two tables from the same disk.”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a distributed environment, however: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table might be on node A,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other table on node B.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do a JOIN: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 must be moved over the network,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synchronized,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then joined.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JOINs become expensive and slow.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1865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Locality Problems</a:t>
            </a:r>
            <a:endParaRPr b="1"/>
          </a:p>
        </p:txBody>
      </p:sp>
      <p:sp>
        <p:nvSpPr>
          <p:cNvPr id="126387783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locality means: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 required for a request should be stored close together.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relational systems:</a:t>
            </a:r>
            <a:endParaRPr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are split across multiple tables</a:t>
            </a:r>
            <a:endParaRPr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queries require many joins.</a:t>
            </a:r>
            <a:endParaRPr lang="en-US" sz="2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576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Complex Node Coordination</a:t>
            </a:r>
            <a:endParaRPr b="1"/>
          </a:p>
        </p:txBody>
      </p:sp>
      <p:sp>
        <p:nvSpPr>
          <p:cNvPr id="129076454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8418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Relational systems rely on: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consistency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transactions (ACID)</a:t>
            </a:r>
            <a:endParaRPr sz="2600"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 distributed systems this requires nodes to: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 data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wait for each other.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 nodes increase, coordination becomes more difficult.</a:t>
            </a:r>
            <a:endParaRPr sz="26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7618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Increased Latency</a:t>
            </a:r>
            <a:endParaRPr b="1"/>
          </a:p>
        </p:txBody>
      </p:sp>
      <p:sp>
        <p:nvSpPr>
          <p:cNvPr id="192212648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factors lead to: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network communication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waiting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 synchronization.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result the system responds more slowly, even for simple queries.</a:t>
            </a:r>
            <a:endParaRPr lang="en-US" sz="2600" b="0" i="0" u="none" strike="noStrike" cap="none" spc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344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Conclusion</a:t>
            </a:r>
            <a:endParaRPr b="1"/>
          </a:p>
        </p:txBody>
      </p:sp>
      <p:sp>
        <p:nvSpPr>
          <p:cNvPr id="98796584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relational model struggles at scale because it relies on: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joins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consistency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distributed coordination.</a:t>
            </a: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just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These work very well on a single server but become expensive in large distributed systems.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468402" name="Title 1"/>
          <p:cNvSpPr>
            <a:spLocks noGrp="1"/>
          </p:cNvSpPr>
          <p:nvPr>
            <p:ph type="ctrTitle"/>
          </p:nvPr>
        </p:nvSpPr>
        <p:spPr bwMode="auto">
          <a:xfrm>
            <a:off x="1523997" y="1122363"/>
            <a:ext cx="9144000" cy="2387596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 lang="el-GR" b="1"/>
              <a:t>Σας Ευχαριστώ</a:t>
            </a:r>
            <a:endParaRPr b="1"/>
          </a:p>
        </p:txBody>
      </p:sp>
      <p:sp>
        <p:nvSpPr>
          <p:cNvPr id="156415152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7" y="3602034"/>
            <a:ext cx="9144000" cy="165575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2026-03-09T22:15:03Z</dcterms:modified>
</cp:coreProperties>
</file>