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80.xml" ContentType="application/vnd.openxmlformats-officedocument.presentationml.notesSlide+xml"/>
  <Override PartName="/ppt/notesSlides/notesSlide79.xml" ContentType="application/vnd.openxmlformats-officedocument.presentationml.notesSlide+xml"/>
  <Override PartName="/ppt/notesSlides/notesSlide77.xml" ContentType="application/vnd.openxmlformats-officedocument.presentationml.notesSlide+xml"/>
  <Override PartName="/ppt/notesSlides/notesSlide71.xml" ContentType="application/vnd.openxmlformats-officedocument.presentationml.notesSlide+xml"/>
  <Override PartName="/ppt/notesSlides/notesSlide69.xml" ContentType="application/vnd.openxmlformats-officedocument.presentationml.notesSlide+xml"/>
  <Override PartName="/ppt/notesSlides/notesSlide66.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62.xml" ContentType="application/vnd.openxmlformats-officedocument.presentationml.notesSlide+xml"/>
  <Override PartName="/ppt/notesSlides/notesSlide35.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74.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56.xml" ContentType="application/vnd.openxmlformats-officedocument.presentationml.notesSlide+xml"/>
  <Override PartName="/ppt/notesSlides/notesSlide22.xml" ContentType="application/vnd.openxmlformats-officedocument.presentationml.notesSlide+xml"/>
  <Override PartName="/ppt/notesSlides/notesSlide67.xml" ContentType="application/vnd.openxmlformats-officedocument.presentationml.notesSlide+xml"/>
  <Override PartName="/ppt/notesSlides/notesSlide21.xml" ContentType="application/vnd.openxmlformats-officedocument.presentationml.notesSlide+xml"/>
  <Override PartName="/ppt/notesSlides/notesSlide76.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68.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notesSlides/notesSlide72.xml" ContentType="application/vnd.openxmlformats-officedocument.presentationml.notesSlide+xml"/>
  <Override PartName="/ppt/notesSlides/notesSlide61.xml" ContentType="application/vnd.openxmlformats-officedocument.presentationml.notesSlide+xml"/>
  <Override PartName="/ppt/notesSlides/notesSlide6.xml" ContentType="application/vnd.openxmlformats-officedocument.presentationml.notesSlide+xml"/>
  <Override PartName="/ppt/slides/slide36.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notesSlides/notesSlide75.xml" ContentType="application/vnd.openxmlformats-officedocument.presentationml.notesSlide+xml"/>
  <Override PartName="/ppt/slides/slide31.xml" ContentType="application/vnd.openxmlformats-officedocument.presentationml.slide+xml"/>
  <Override PartName="/ppt/slides/slide30.xml" ContentType="application/vnd.openxmlformats-officedocument.presentationml.slide+xml"/>
  <Override PartName="/ppt/slides/slide77.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slides/slide15.xml" ContentType="application/vnd.openxmlformats-officedocument.presentationml.slide+xml"/>
  <Override PartName="/ppt/slides/slide40.xml" ContentType="application/vnd.openxmlformats-officedocument.presentationml.slide+xml"/>
  <Override PartName="/ppt/slides/slide24.xml" ContentType="application/vnd.openxmlformats-officedocument.presentationml.slide+xml"/>
  <Override PartName="/ppt/slides/slide27.xml" ContentType="application/vnd.openxmlformats-officedocument.presentationml.slide+xml"/>
  <Override PartName="/ppt/slides/slide69.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notesSlides/notesSlide40.xml" ContentType="application/vnd.openxmlformats-officedocument.presentationml.notesSlide+xml"/>
  <Override PartName="/ppt/slides/slide56.xml" ContentType="application/vnd.openxmlformats-officedocument.presentationml.slide+xml"/>
  <Override PartName="/ppt/slides/slide68.xml" ContentType="application/vnd.openxmlformats-officedocument.presentationml.slide+xml"/>
  <Override PartName="/ppt/slides/slide74.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slides/slide16.xml" ContentType="application/vnd.openxmlformats-officedocument.presentationml.slide+xml"/>
  <Override PartName="/docProps/core.xml" ContentType="application/vnd.openxmlformats-package.core-properties+xml"/>
  <Override PartName="/ppt/slides/slide25.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notesSlides/notesSlide53.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slides/slide28.xml" ContentType="application/vnd.openxmlformats-officedocument.presentationml.slide+xml"/>
  <Override PartName="/ppt/notesSlides/notesSlide15.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1.xml" ContentType="application/vnd.openxmlformats-officedocument.presentationml.slide+xml"/>
  <Override PartName="/ppt/slides/slide38.xml" ContentType="application/vnd.openxmlformats-officedocument.presentationml.slide+xml"/>
  <Override PartName="/ppt/notesSlides/notesSlide27.xml" ContentType="application/vnd.openxmlformats-officedocument.presentationml.notesSlide+xml"/>
  <Override PartName="/ppt/slides/slide61.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viewProps.xml" ContentType="application/vnd.openxmlformats-officedocument.presentationml.viewProps+xml"/>
  <Override PartName="/ppt/slides/slide17.xml" ContentType="application/vnd.openxmlformats-officedocument.presentationml.slide+xml"/>
  <Override PartName="/ppt/notesSlides/notesSlide70.xml" ContentType="application/vnd.openxmlformats-officedocument.presentationml.notesSlide+xml"/>
  <Override PartName="/ppt/slides/slide58.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slides/slide35.xml" ContentType="application/vnd.openxmlformats-officedocument.presentationml.slide+xml"/>
  <Override PartName="/ppt/notesSlides/notesSlide81.xml" ContentType="application/vnd.openxmlformats-officedocument.presentationml.notesSlide+xml"/>
  <Override PartName="/ppt/notesSlides/notesSlide10.xml" ContentType="application/vnd.openxmlformats-officedocument.presentationml.notesSlide+xml"/>
  <Override PartName="/ppt/slides/slide49.xml" ContentType="application/vnd.openxmlformats-officedocument.presentationml.slide+xml"/>
  <Override PartName="/ppt/slides/slide81.xml" ContentType="application/vnd.openxmlformats-officedocument.presentationml.slide+xml"/>
  <Override PartName="/ppt/slides/slide7.xml" ContentType="application/vnd.openxmlformats-officedocument.presentationml.slide+xml"/>
  <Override PartName="/ppt/slides/slide41.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71.xml" ContentType="application/vnd.openxmlformats-officedocument.presentationml.slide+xml"/>
  <Override PartName="/ppt/slides/slide39.xml" ContentType="application/vnd.openxmlformats-officedocument.presentationml.slide+xml"/>
  <Override PartName="/ppt/slides/slide33.xml" ContentType="application/vnd.openxmlformats-officedocument.presentationml.slide+xml"/>
  <Override PartName="/ppt/slides/slide63.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73.xml" ContentType="application/vnd.openxmlformats-officedocument.presentationml.notes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53.xml" ContentType="application/vnd.openxmlformats-officedocument.presentationml.slide+xml"/>
  <Override PartName="/ppt/slides/slide46.xml" ContentType="application/vnd.openxmlformats-officedocument.presentationml.slide+xml"/>
  <Override PartName="/ppt/slides/slide79.xml" ContentType="application/vnd.openxmlformats-officedocument.presentationml.slide+xml"/>
  <Override PartName="/ppt/slides/slide48.xml" ContentType="application/vnd.openxmlformats-officedocument.presentationml.slide+xml"/>
  <Override PartName="/ppt/slides/slide80.xml" ContentType="application/vnd.openxmlformats-officedocument.presentationml.slide+xml"/>
  <Override PartName="/ppt/notesSlides/notesSlide65.xml" ContentType="application/vnd.openxmlformats-officedocument.presentationml.notesSlide+xml"/>
  <Override PartName="/ppt/notesSlides/notesSlide44.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slides/slide9.xml" ContentType="application/vnd.openxmlformats-officedocument.presentationml.slide+xml"/>
  <Override PartName="/ppt/slides/slide50.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notesSlides/notesSlide34.xml" ContentType="application/vnd.openxmlformats-officedocument.presentationml.notesSlide+xml"/>
  <Override PartName="/ppt/slides/slide57.xml" ContentType="application/vnd.openxmlformats-officedocument.presentationml.slide+xml"/>
  <Override PartName="/ppt/notesMasters/notesMaster1.xml" ContentType="application/vnd.openxmlformats-officedocument.presentationml.notesMaster+xml"/>
  <Override PartName="/ppt/slides/slide52.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2.xml" ContentType="application/vnd.openxmlformats-officedocument.presentationml.slide+xml"/>
  <Override PartName="/ppt/notesSlides/notesSlide78.xml" ContentType="application/vnd.openxmlformats-officedocument.presentationml.notesSlide+xml"/>
  <Override PartName="/ppt/slides/slide64.xml" ContentType="application/vnd.openxmlformats-officedocument.presentationml.slide+xml"/>
  <Override PartName="/ppt/slideLayouts/slideLayout1.xml" ContentType="application/vnd.openxmlformats-officedocument.presentationml.slideLayout+xml"/>
  <Override PartName="/ppt/slides/slide65.xml" ContentType="application/vnd.openxmlformats-officedocument.presentationml.slide+xml"/>
  <Override PartName="/ppt/slides/slide72.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43.xml" ContentType="application/vnd.openxmlformats-officedocument.presentationml.slide+xml"/>
  <Override PartName="/ppt/slides/slide70.xml" ContentType="application/vnd.openxmlformats-officedocument.presentationml.slide+xml"/>
  <Override PartName="/ppt/notesSlides/notesSlide1.xml" ContentType="application/vnd.openxmlformats-officedocument.presentationml.notes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73.xml" ContentType="application/vnd.openxmlformats-officedocument.presentationml.slide+xml"/>
  <Override PartName="/ppt/slides/slide75.xml" ContentType="application/vnd.openxmlformats-officedocument.presentationml.slide+xml"/>
  <Override PartName="/ppt/slides/slide54.xml" ContentType="application/vnd.openxmlformats-officedocument.presentationml.slide+xml"/>
  <Override PartName="/ppt/slides/slide76.xml" ContentType="application/vnd.openxmlformats-officedocument.presentationml.slide+xml"/>
  <Override PartName="/ppt/slides/slide78.xml" ContentType="application/vnd.openxmlformats-officedocument.presentationml.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8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notesMaster" Target="notesMasters/notesMaster1.xml"/><Relationship Id="rId85" Type="http://schemas.openxmlformats.org/officeDocument/2006/relationships/presProps" Target="presProps.xml" /><Relationship Id="rId86" Type="http://schemas.openxmlformats.org/officeDocument/2006/relationships/tableStyles" Target="tableStyles.xml" /><Relationship Id="rId8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7858676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57958986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710719016"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73850833"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9908483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21593289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1323068" name="Slide Image Placeholder 1"/>
          <p:cNvSpPr>
            <a:spLocks noChangeAspect="1" noGrp="1" noRot="1"/>
          </p:cNvSpPr>
          <p:nvPr>
            <p:ph type="sldImg"/>
          </p:nvPr>
        </p:nvSpPr>
        <p:spPr bwMode="auto"/>
      </p:sp>
      <p:sp>
        <p:nvSpPr>
          <p:cNvPr id="849020333" name="Notes Placeholder 2"/>
          <p:cNvSpPr>
            <a:spLocks noGrp="1"/>
          </p:cNvSpPr>
          <p:nvPr>
            <p:ph type="body" idx="1"/>
          </p:nvPr>
        </p:nvSpPr>
        <p:spPr bwMode="auto"/>
        <p:txBody>
          <a:bodyPr/>
          <a:lstStyle/>
          <a:p>
            <a:pPr>
              <a:defRPr/>
            </a:pPr>
            <a:r>
              <a:rPr lang="en-US"/>
              <a:t>Welcome to Week 6 of Advanced Data Management.</a:t>
            </a:r>
            <a:br>
              <a:rPr lang="en-US"/>
            </a:br>
            <a:r>
              <a:rPr lang="en-US"/>
              <a:t>Today we shift from theoretical relational models to the document-oriented databases and microservices architectures that power most modern web and mobile applications.</a:t>
            </a:r>
            <a:br>
              <a:rPr lang="en-US"/>
            </a:br>
            <a:r>
              <a:rPr lang="en-US"/>
              <a:t>The lecture is structured in six modules followed by a hands-on lab where you will build a working REST API connected to MongoDB running inside Docker.</a:t>
            </a:r>
            <a:br>
              <a:rPr lang="en-US"/>
            </a:br>
            <a:r>
              <a:rPr lang="en-US"/>
              <a:t>In real projects, document databases power companies like LinkedIn, Forbes, and the New York Times at billion-record scale.</a:t>
            </a:r>
            <a:br>
              <a:rPr lang="en-US"/>
            </a:br>
            <a:endParaRPr lang="en-US"/>
          </a:p>
          <a:p>
            <a:pPr>
              <a:defRPr/>
            </a:pPr>
            <a:r>
              <a:rPr lang="en-US"/>
              <a:t>Question</a:t>
            </a:r>
            <a:br>
              <a:rPr lang="en-US"/>
            </a:br>
            <a:r>
              <a:rPr lang="en-US"/>
              <a:t>Why are document databases taught alongside relational theory in a computer science degree?</a:t>
            </a:r>
            <a:br>
              <a:rPr lang="en-US"/>
            </a:br>
            <a:endParaRPr lang="en-US"/>
          </a:p>
          <a:p>
            <a:pPr>
              <a:defRPr/>
            </a:pPr>
            <a:r>
              <a:rPr lang="en-US"/>
              <a:t>Answer</a:t>
            </a:r>
            <a:br>
              <a:rPr lang="en-US"/>
            </a:br>
            <a:r>
              <a:rPr lang="en-US"/>
              <a:t>Because the vast majority of applications you will build professionally use document databases to eliminate the mismatch between object-oriented code and rigid relational table structures.</a:t>
            </a:r>
            <a:endParaRPr lang="en-US"/>
          </a:p>
        </p:txBody>
      </p:sp>
      <p:sp>
        <p:nvSpPr>
          <p:cNvPr id="1380405879"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0406912" name="Slide Image Placeholder 1"/>
          <p:cNvSpPr>
            <a:spLocks noChangeAspect="1" noGrp="1" noRot="1"/>
          </p:cNvSpPr>
          <p:nvPr>
            <p:ph type="sldImg"/>
          </p:nvPr>
        </p:nvSpPr>
        <p:spPr bwMode="auto"/>
      </p:sp>
      <p:sp>
        <p:nvSpPr>
          <p:cNvPr id="1986936189" name="Notes Placeholder 2"/>
          <p:cNvSpPr>
            <a:spLocks noGrp="1"/>
          </p:cNvSpPr>
          <p:nvPr>
            <p:ph type="body" idx="1"/>
          </p:nvPr>
        </p:nvSpPr>
        <p:spPr bwMode="auto"/>
        <p:txBody>
          <a:bodyPr/>
          <a:lstStyle/>
          <a:p>
            <a:pPr>
              <a:defRPr/>
            </a:pPr>
            <a:endParaRPr/>
          </a:p>
        </p:txBody>
      </p:sp>
      <p:sp>
        <p:nvSpPr>
          <p:cNvPr id="189983757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7582747" name="Slide Image Placeholder 1"/>
          <p:cNvSpPr>
            <a:spLocks noChangeAspect="1" noGrp="1" noRot="1"/>
          </p:cNvSpPr>
          <p:nvPr>
            <p:ph type="sldImg"/>
          </p:nvPr>
        </p:nvSpPr>
        <p:spPr bwMode="auto"/>
      </p:sp>
      <p:sp>
        <p:nvSpPr>
          <p:cNvPr id="1933710442"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Traditional relational databases organize data into </a:t>
            </a:r>
            <a:r>
              <a:rPr sz="1200" b="1" i="0" u="none">
                <a:solidFill>
                  <a:srgbClr val="000000"/>
                </a:solidFill>
                <a:latin typeface="Times New Roman"/>
                <a:ea typeface="Times New Roman"/>
                <a:cs typeface="Times New Roman"/>
              </a:rPr>
              <a:t>tables composed of rows and columns</a:t>
            </a:r>
            <a:r>
              <a:rPr sz="1200" b="0" i="0" u="none">
                <a:solidFill>
                  <a:srgbClr val="000000"/>
                </a:solidFill>
                <a:latin typeface="Times New Roman"/>
                <a:ea typeface="Times New Roman"/>
                <a:cs typeface="Times New Roman"/>
              </a:rPr>
              <a:t>. Information about one real-world entity is usually distributed across multiple tables and connected using </a:t>
            </a:r>
            <a:r>
              <a:rPr sz="1200" b="1" i="0" u="none">
                <a:solidFill>
                  <a:srgbClr val="000000"/>
                </a:solidFill>
                <a:latin typeface="Times New Roman"/>
                <a:ea typeface="Times New Roman"/>
                <a:cs typeface="Times New Roman"/>
              </a:rPr>
              <a:t>foreign keys and JOIN operations</a:t>
            </a:r>
            <a:r>
              <a:rPr sz="1200" b="0" i="0" u="none">
                <a:solidFill>
                  <a:srgbClr val="000000"/>
                </a:solidFill>
                <a:latin typeface="Times New Roman"/>
                <a:ea typeface="Times New Roman"/>
                <a:cs typeface="Times New Roman"/>
              </a:rPr>
              <a:t>. For example, a university database may store students in one table, courses in another table, and enrollments in a third table linking the two.</a:t>
            </a:r>
            <a:endParaRPr/>
          </a:p>
          <a:p>
            <a:pPr>
              <a:defRPr/>
            </a:pPr>
            <a:r>
              <a:rPr sz="1200" b="0" i="0" u="none">
                <a:solidFill>
                  <a:srgbClr val="000000"/>
                </a:solidFill>
                <a:latin typeface="Times New Roman"/>
                <a:ea typeface="Times New Roman"/>
                <a:cs typeface="Times New Roman"/>
              </a:rPr>
              <a:t>Although this structure ensures strong normalization and avoids data duplication, it often increases </a:t>
            </a:r>
            <a:r>
              <a:rPr sz="1200" b="1" i="0" u="none">
                <a:solidFill>
                  <a:srgbClr val="000000"/>
                </a:solidFill>
                <a:latin typeface="Times New Roman"/>
                <a:ea typeface="Times New Roman"/>
                <a:cs typeface="Times New Roman"/>
              </a:rPr>
              <a:t>query complexity</a:t>
            </a:r>
            <a:r>
              <a:rPr sz="1200" b="0" i="0" u="none">
                <a:solidFill>
                  <a:srgbClr val="000000"/>
                </a:solidFill>
                <a:latin typeface="Times New Roman"/>
                <a:ea typeface="Times New Roman"/>
                <a:cs typeface="Times New Roman"/>
              </a:rPr>
              <a:t>. Retrieving a single object from the application perspective, such as a student with all their courses, may require several JOIN operations across multiple tables.</a:t>
            </a:r>
            <a:endParaRPr/>
          </a:p>
          <a:p>
            <a:pPr>
              <a:defRPr/>
            </a:pPr>
            <a:r>
              <a:rPr sz="1200" b="0" i="0" u="none">
                <a:solidFill>
                  <a:srgbClr val="000000"/>
                </a:solidFill>
                <a:latin typeface="Times New Roman"/>
                <a:ea typeface="Times New Roman"/>
                <a:cs typeface="Times New Roman"/>
              </a:rPr>
              <a:t>Document databases approach data modeling differently. Instead of splitting information across many related tables, they store data as </a:t>
            </a:r>
            <a:r>
              <a:rPr sz="1200" b="1" i="0" u="none">
                <a:solidFill>
                  <a:srgbClr val="000000"/>
                </a:solidFill>
                <a:latin typeface="Times New Roman"/>
                <a:ea typeface="Times New Roman"/>
                <a:cs typeface="Times New Roman"/>
              </a:rPr>
              <a:t>self-contained documents</a:t>
            </a:r>
            <a:r>
              <a:rPr sz="1200" b="0" i="0" u="none">
                <a:solidFill>
                  <a:srgbClr val="000000"/>
                </a:solidFill>
                <a:latin typeface="Times New Roman"/>
                <a:ea typeface="Times New Roman"/>
                <a:cs typeface="Times New Roman"/>
              </a:rPr>
              <a:t>. Each document represents one entity and contains all the information needed to describe that entity.</a:t>
            </a:r>
            <a:endParaRPr/>
          </a:p>
          <a:p>
            <a:pPr>
              <a:defRPr/>
            </a:pPr>
            <a:r>
              <a:rPr sz="1200" b="0" i="0" u="none">
                <a:solidFill>
                  <a:srgbClr val="000000"/>
                </a:solidFill>
                <a:latin typeface="Times New Roman"/>
                <a:ea typeface="Times New Roman"/>
                <a:cs typeface="Times New Roman"/>
              </a:rPr>
              <a:t>For instance, instead of storing a student and their courses in separate tables, a document database can store the student object and embed the list of courses directly inside the same document. This design aligns the structure of the database with the structure of the application objects.</a:t>
            </a:r>
            <a:endParaRPr/>
          </a:p>
          <a:p>
            <a:pPr>
              <a:defRPr/>
            </a:pPr>
            <a:r>
              <a:rPr sz="1200" b="0" i="0" u="none">
                <a:solidFill>
                  <a:srgbClr val="000000"/>
                </a:solidFill>
                <a:latin typeface="Times New Roman"/>
                <a:ea typeface="Times New Roman"/>
                <a:cs typeface="Times New Roman"/>
              </a:rPr>
              <a:t>The main advantage is that </a:t>
            </a:r>
            <a:r>
              <a:rPr sz="1200" b="1" i="0" u="none">
                <a:solidFill>
                  <a:srgbClr val="000000"/>
                </a:solidFill>
                <a:latin typeface="Times New Roman"/>
                <a:ea typeface="Times New Roman"/>
                <a:cs typeface="Times New Roman"/>
              </a:rPr>
              <a:t>one query returns the entire object</a:t>
            </a:r>
            <a:r>
              <a:rPr sz="1200" b="0" i="0" u="none">
                <a:solidFill>
                  <a:srgbClr val="000000"/>
                </a:solidFill>
                <a:latin typeface="Times New Roman"/>
                <a:ea typeface="Times New Roman"/>
                <a:cs typeface="Times New Roman"/>
              </a:rPr>
              <a:t>, eliminating the need for complex JOIN operations. This design improves </a:t>
            </a:r>
            <a:r>
              <a:rPr sz="1200" b="1" i="0" u="none">
                <a:solidFill>
                  <a:srgbClr val="000000"/>
                </a:solidFill>
                <a:latin typeface="Times New Roman"/>
                <a:ea typeface="Times New Roman"/>
                <a:cs typeface="Times New Roman"/>
              </a:rPr>
              <a:t>read performance</a:t>
            </a:r>
            <a:r>
              <a:rPr sz="1200" b="0" i="0" u="none">
                <a:solidFill>
                  <a:srgbClr val="000000"/>
                </a:solidFill>
                <a:latin typeface="Times New Roman"/>
                <a:ea typeface="Times New Roman"/>
                <a:cs typeface="Times New Roman"/>
              </a:rPr>
              <a:t>, which is essential for modern web and mobile applications where the majority of operations involve retrieving data.</a:t>
            </a:r>
            <a:endParaRPr/>
          </a:p>
          <a:p>
            <a:pPr>
              <a:defRPr/>
            </a:pPr>
            <a:endParaRPr/>
          </a:p>
          <a:p>
            <a:pPr>
              <a:defRPr/>
            </a:pPr>
            <a:r>
              <a:rPr sz="1400" b="1" i="0" u="none">
                <a:solidFill>
                  <a:srgbClr val="000000"/>
                </a:solidFill>
                <a:latin typeface="Times New Roman"/>
                <a:ea typeface="Times New Roman"/>
                <a:cs typeface="Times New Roman"/>
              </a:rPr>
              <a:t>Real-world Example</a:t>
            </a:r>
            <a:endParaRPr sz="14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Consider an </a:t>
            </a:r>
            <a:r>
              <a:rPr sz="1200" b="1" i="0" u="none">
                <a:solidFill>
                  <a:srgbClr val="000000"/>
                </a:solidFill>
                <a:latin typeface="Times New Roman"/>
                <a:ea typeface="Times New Roman"/>
                <a:cs typeface="Times New Roman"/>
              </a:rPr>
              <a:t>e-commerce platform</a:t>
            </a:r>
            <a:r>
              <a:rPr sz="1200" b="0" i="0" u="none">
                <a:solidFill>
                  <a:srgbClr val="000000"/>
                </a:solidFill>
                <a:latin typeface="Times New Roman"/>
                <a:ea typeface="Times New Roman"/>
                <a:cs typeface="Times New Roman"/>
              </a:rPr>
              <a:t>. In a relational database, order data may be stored in multiple tables: orders, customers, products, and order_items. To display a single order page, the system must perform several JOIN operations.</a:t>
            </a:r>
            <a:endParaRPr/>
          </a:p>
          <a:p>
            <a:pPr>
              <a:defRPr/>
            </a:pPr>
            <a:r>
              <a:rPr sz="1200" b="0" i="0" u="none">
                <a:solidFill>
                  <a:srgbClr val="000000"/>
                </a:solidFill>
                <a:latin typeface="Times New Roman"/>
                <a:ea typeface="Times New Roman"/>
                <a:cs typeface="Times New Roman"/>
              </a:rPr>
              <a:t>In a document database such as MongoDB, the entire order can be stored in one document containing the customer information and all purchased products. The application retrieves the complete order using </a:t>
            </a:r>
            <a:r>
              <a:rPr sz="1200" b="1" i="0" u="none">
                <a:solidFill>
                  <a:srgbClr val="000000"/>
                </a:solidFill>
                <a:latin typeface="Times New Roman"/>
                <a:ea typeface="Times New Roman"/>
                <a:cs typeface="Times New Roman"/>
              </a:rPr>
              <a:t>one query</a:t>
            </a:r>
            <a:r>
              <a:rPr sz="1200" b="0" i="0" u="none">
                <a:solidFill>
                  <a:srgbClr val="000000"/>
                </a:solidFill>
                <a:latin typeface="Times New Roman"/>
                <a:ea typeface="Times New Roman"/>
                <a:cs typeface="Times New Roman"/>
              </a:rPr>
              <a:t>.</a:t>
            </a:r>
            <a:endParaRPr sz="1200" b="0" i="0" u="none">
              <a:solidFill>
                <a:srgbClr val="000000"/>
              </a:solidFill>
              <a:latin typeface="Times New Roman"/>
              <a:ea typeface="Times New Roman"/>
              <a:cs typeface="Times New Roman"/>
            </a:endParaRPr>
          </a:p>
          <a:p>
            <a:pPr>
              <a:defRPr/>
            </a:pPr>
            <a:endParaRPr/>
          </a:p>
          <a:p>
            <a:pPr>
              <a:defRPr/>
            </a:pPr>
            <a:r>
              <a:rPr sz="1400" b="1" i="0" u="none">
                <a:solidFill>
                  <a:srgbClr val="000000"/>
                </a:solidFill>
                <a:latin typeface="Times New Roman"/>
                <a:ea typeface="Times New Roman"/>
                <a:cs typeface="Times New Roman"/>
              </a:rPr>
              <a:t>Interview Questions</a:t>
            </a:r>
            <a:endParaRPr sz="1400" b="1" i="0" u="none">
              <a:solidFill>
                <a:srgbClr val="000000"/>
              </a:solidFill>
              <a:latin typeface="Times New Roman"/>
              <a:ea typeface="Times New Roman"/>
              <a:cs typeface="Times New Roman"/>
            </a:endParaRPr>
          </a:p>
          <a:p>
            <a:pPr>
              <a:defRPr/>
            </a:pPr>
            <a:r>
              <a:rPr sz="1200" b="1" i="0" u="none">
                <a:solidFill>
                  <a:srgbClr val="000000"/>
                </a:solidFill>
                <a:latin typeface="Times New Roman"/>
                <a:ea typeface="Times New Roman"/>
                <a:cs typeface="Times New Roman"/>
              </a:rPr>
              <a:t>Question:</a:t>
            </a:r>
            <a:r>
              <a:rPr sz="1200" b="0" i="0" u="none">
                <a:solidFill>
                  <a:srgbClr val="000000"/>
                </a:solidFill>
                <a:latin typeface="Times New Roman"/>
                <a:ea typeface="Times New Roman"/>
                <a:cs typeface="Times New Roman"/>
              </a:rPr>
              <a:t> Why do document databases avoid JOIN operations?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Because related data is stored together inside the same document, allowing a single query to return the entire object.</a:t>
            </a:r>
            <a:endParaRPr/>
          </a:p>
          <a:p>
            <a:pPr>
              <a:defRPr/>
            </a:pPr>
            <a:r>
              <a:rPr sz="1200" b="1" i="0" u="none">
                <a:solidFill>
                  <a:srgbClr val="000000"/>
                </a:solidFill>
                <a:latin typeface="Times New Roman"/>
                <a:ea typeface="Times New Roman"/>
                <a:cs typeface="Times New Roman"/>
              </a:rPr>
              <a:t>Question:</a:t>
            </a:r>
            <a:r>
              <a:rPr sz="1200" b="0" i="0" u="none">
                <a:solidFill>
                  <a:srgbClr val="000000"/>
                </a:solidFill>
                <a:latin typeface="Times New Roman"/>
                <a:ea typeface="Times New Roman"/>
                <a:cs typeface="Times New Roman"/>
              </a:rPr>
              <a:t> What is the main performance advantage of document databases?</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Faster read operations due to reduced need for JOIN queries.</a:t>
            </a:r>
            <a:endParaRPr/>
          </a:p>
          <a:p>
            <a:pPr>
              <a:defRPr/>
            </a:pPr>
            <a:endParaRPr/>
          </a:p>
          <a:p>
            <a:pPr>
              <a:defRPr/>
            </a:pPr>
            <a:r>
              <a:rPr sz="1400" b="1" i="0" u="none">
                <a:solidFill>
                  <a:srgbClr val="000000"/>
                </a:solidFill>
                <a:latin typeface="Times New Roman"/>
                <a:ea typeface="Times New Roman"/>
                <a:cs typeface="Times New Roman"/>
              </a:rPr>
              <a:t>Key Takeaways</a:t>
            </a:r>
            <a:endParaRPr sz="1400" b="1" i="0" u="none">
              <a:solidFill>
                <a:srgbClr val="000000"/>
              </a:solidFill>
              <a:latin typeface="Times New Roman"/>
              <a:ea typeface="Times New Roman"/>
              <a:cs typeface="Times New Roman"/>
            </a:endParaRPr>
          </a:p>
          <a:p>
            <a:pPr>
              <a:defRPr/>
            </a:pPr>
            <a:r>
              <a:rPr sz="1200" b="1" i="0" u="none">
                <a:solidFill>
                  <a:srgbClr val="000000"/>
                </a:solidFill>
                <a:latin typeface="Times New Roman"/>
                <a:ea typeface="Times New Roman"/>
                <a:cs typeface="Times New Roman"/>
              </a:rPr>
              <a:t>Document databases store data as self-contained objects rather than relational tables.</a:t>
            </a:r>
            <a:br>
              <a:rPr sz="1200" b="1"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Embedding related data eliminates JOIN operations.</a:t>
            </a:r>
            <a:br>
              <a:rPr sz="1200" b="1"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Document models are optimized for application read patterns.</a:t>
            </a:r>
            <a:endParaRPr lang="en-US"/>
          </a:p>
          <a:p>
            <a:pPr>
              <a:defRPr/>
            </a:pPr>
            <a:endParaRPr lang="en-US"/>
          </a:p>
          <a:p>
            <a:pPr>
              <a:defRPr/>
            </a:pPr>
            <a:endParaRPr lang="en-US"/>
          </a:p>
          <a:p>
            <a:pPr>
              <a:defRPr/>
            </a:pPr>
            <a:endParaRPr lang="en-US"/>
          </a:p>
          <a:p>
            <a:pPr>
              <a:defRPr/>
            </a:pPr>
            <a:endParaRPr lang="en-US"/>
          </a:p>
          <a:p>
            <a:pPr>
              <a:defRPr/>
            </a:pPr>
            <a:endParaRPr lang="en-US"/>
          </a:p>
          <a:p>
            <a:pPr>
              <a:defRPr/>
            </a:pPr>
            <a:r>
              <a:rPr lang="en-US"/>
              <a:t>This comparison is the philosophical foundation of the entire lecture.</a:t>
            </a:r>
            <a:br>
              <a:rPr lang="en-US"/>
            </a:br>
            <a:r>
              <a:rPr lang="en-US"/>
              <a:t>In the 1970s, storage was expensive so relational databases minimised duplication by splitting data across tables. Today, storage is cheap but developer time and query latency are expensive.</a:t>
            </a:r>
            <a:br>
              <a:rPr lang="en-US"/>
            </a:br>
            <a:r>
              <a:rPr lang="en-US"/>
              <a:t>Document databases accept some data duplication in exchange for massively simpler and faster reads.</a:t>
            </a:r>
            <a:br>
              <a:rPr lang="en-US"/>
            </a:br>
            <a:r>
              <a:rPr lang="en-US"/>
              <a:t>In real projects, fetching a student profile with enrolled courses in one database read versus five SQL joins makes a measurable difference in API response time — often the difference between 5ms and 80ms.</a:t>
            </a:r>
            <a:br>
              <a:rPr lang="en-US"/>
            </a:br>
            <a:r>
              <a:rPr lang="en-US"/>
              <a:t>Question</a:t>
            </a:r>
            <a:br>
              <a:rPr lang="en-US"/>
            </a:br>
            <a:r>
              <a:rPr lang="en-US"/>
              <a:t>If storage is cheap today, why do some teams still prefer relational databases?</a:t>
            </a:r>
            <a:br>
              <a:rPr lang="en-US"/>
            </a:br>
            <a:r>
              <a:rPr lang="en-US"/>
              <a:t>Answer</a:t>
            </a:r>
            <a:br>
              <a:rPr lang="en-US"/>
            </a:br>
            <a:r>
              <a:rPr lang="en-US"/>
              <a:t>Relational databases enforce ACID guarantees across multiple tables automatically. For financial and inventory systems where an update to two tables must succeed or both must fail, that guarantee is non-negotiable.</a:t>
            </a:r>
            <a:endParaRPr lang="en-US"/>
          </a:p>
        </p:txBody>
      </p:sp>
      <p:sp>
        <p:nvSpPr>
          <p:cNvPr id="2012112969"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7951580" name="Slide Image Placeholder 1"/>
          <p:cNvSpPr>
            <a:spLocks noChangeAspect="1" noGrp="1" noRot="1"/>
          </p:cNvSpPr>
          <p:nvPr>
            <p:ph type="sldImg"/>
          </p:nvPr>
        </p:nvSpPr>
        <p:spPr bwMode="auto"/>
      </p:sp>
      <p:sp>
        <p:nvSpPr>
          <p:cNvPr id="102016049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One of the classic problems in software engineering is the </a:t>
            </a:r>
            <a:r>
              <a:rPr sz="1200" b="1" i="0" u="none">
                <a:solidFill>
                  <a:srgbClr val="000000"/>
                </a:solidFill>
                <a:latin typeface="Times New Roman"/>
                <a:ea typeface="Times New Roman"/>
                <a:cs typeface="Times New Roman"/>
              </a:rPr>
              <a:t>object-relational impedance mismatch</a:t>
            </a:r>
            <a:r>
              <a:rPr sz="1200" b="0" i="0" u="none">
                <a:solidFill>
                  <a:srgbClr val="000000"/>
                </a:solidFill>
                <a:latin typeface="Times New Roman"/>
                <a:ea typeface="Times New Roman"/>
                <a:cs typeface="Times New Roman"/>
              </a:rPr>
              <a:t>. This problem arises because application programming languages use </a:t>
            </a:r>
            <a:r>
              <a:rPr sz="1200" b="1" i="0" u="none">
                <a:solidFill>
                  <a:srgbClr val="000000"/>
                </a:solidFill>
                <a:latin typeface="Times New Roman"/>
                <a:ea typeface="Times New Roman"/>
                <a:cs typeface="Times New Roman"/>
              </a:rPr>
              <a:t>object-oriented structures</a:t>
            </a:r>
            <a:r>
              <a:rPr sz="1200" b="0" i="0" u="none">
                <a:solidFill>
                  <a:srgbClr val="000000"/>
                </a:solidFill>
                <a:latin typeface="Times New Roman"/>
                <a:ea typeface="Times New Roman"/>
                <a:cs typeface="Times New Roman"/>
              </a:rPr>
              <a:t>, while relational databases store data in </a:t>
            </a:r>
            <a:r>
              <a:rPr sz="1200" b="1" i="0" u="none">
                <a:solidFill>
                  <a:srgbClr val="000000"/>
                </a:solidFill>
                <a:latin typeface="Times New Roman"/>
                <a:ea typeface="Times New Roman"/>
                <a:cs typeface="Times New Roman"/>
              </a:rPr>
              <a:t>tabular form</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For example, a student object in an application may contain a list of courses as an array or list. However, relational databases represent this relationship using separate tables connected by foreign keys.</a:t>
            </a:r>
            <a:endParaRPr/>
          </a:p>
          <a:p>
            <a:pPr>
              <a:defRPr/>
            </a:pPr>
            <a:r>
              <a:rPr sz="1200" b="0" i="0" u="none">
                <a:solidFill>
                  <a:srgbClr val="000000"/>
                </a:solidFill>
                <a:latin typeface="Times New Roman"/>
                <a:ea typeface="Times New Roman"/>
                <a:cs typeface="Times New Roman"/>
              </a:rPr>
              <a:t>This difference means that every time the application reads data from the database, it must convert rows into objects and relationships. This conversion process is called </a:t>
            </a:r>
            <a:r>
              <a:rPr sz="1200" b="1" i="0" u="none">
                <a:solidFill>
                  <a:srgbClr val="000000"/>
                </a:solidFill>
                <a:latin typeface="Times New Roman"/>
                <a:ea typeface="Times New Roman"/>
                <a:cs typeface="Times New Roman"/>
              </a:rPr>
              <a:t>object-relational mapping (ORM)</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ORM frameworks such as </a:t>
            </a:r>
            <a:r>
              <a:rPr sz="1200" b="1" i="0" u="none">
                <a:solidFill>
                  <a:srgbClr val="000000"/>
                </a:solidFill>
                <a:latin typeface="Times New Roman"/>
                <a:ea typeface="Times New Roman"/>
                <a:cs typeface="Times New Roman"/>
              </a:rPr>
              <a:t>Hibernate, SQLAlchemy, or Entity Framework</a:t>
            </a:r>
            <a:r>
              <a:rPr sz="1200" b="0" i="0" u="none">
                <a:solidFill>
                  <a:srgbClr val="000000"/>
                </a:solidFill>
                <a:latin typeface="Times New Roman"/>
                <a:ea typeface="Times New Roman"/>
                <a:cs typeface="Times New Roman"/>
              </a:rPr>
              <a:t> automate this translation, but they introduce additional overhead and complexity.</a:t>
            </a:r>
            <a:endParaRPr/>
          </a:p>
          <a:p>
            <a:pPr>
              <a:defRPr/>
            </a:pPr>
            <a:r>
              <a:rPr sz="1200" b="0" i="0" u="none">
                <a:solidFill>
                  <a:srgbClr val="000000"/>
                </a:solidFill>
                <a:latin typeface="Times New Roman"/>
                <a:ea typeface="Times New Roman"/>
                <a:cs typeface="Times New Roman"/>
              </a:rPr>
              <a:t>Document databases eliminate this mismatch by storing data in structures that closely resemble programming objects. A JSON document can represent an object exactly as it appears in the application code, making data retrieval simpler and more efficient.</a:t>
            </a:r>
            <a:endParaRPr/>
          </a:p>
          <a:p>
            <a:pPr>
              <a:defRPr/>
            </a:pPr>
            <a:endParaRPr/>
          </a:p>
          <a:p>
            <a:pPr>
              <a:defRPr/>
            </a:pPr>
            <a:r>
              <a:rPr sz="1400" b="1" i="0" u="none">
                <a:solidFill>
                  <a:srgbClr val="000000"/>
                </a:solidFill>
                <a:latin typeface="Times New Roman"/>
                <a:ea typeface="Times New Roman"/>
                <a:cs typeface="Times New Roman"/>
              </a:rPr>
              <a:t>Real-world Example</a:t>
            </a:r>
            <a:endParaRPr sz="14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In a </a:t>
            </a:r>
            <a:r>
              <a:rPr sz="1200" b="1" i="0" u="none">
                <a:solidFill>
                  <a:srgbClr val="000000"/>
                </a:solidFill>
                <a:latin typeface="Times New Roman"/>
                <a:ea typeface="Times New Roman"/>
                <a:cs typeface="Times New Roman"/>
              </a:rPr>
              <a:t>Node.js web application</a:t>
            </a:r>
            <a:r>
              <a:rPr sz="1200" b="0" i="0" u="none">
                <a:solidFill>
                  <a:srgbClr val="000000"/>
                </a:solidFill>
                <a:latin typeface="Times New Roman"/>
                <a:ea typeface="Times New Roman"/>
                <a:cs typeface="Times New Roman"/>
              </a:rPr>
              <a:t>, objects are commonly represented as JSON structures. MongoDB stores data internally using BSON, which is essentially a binary version of JSON. This means the data retrieved from the database can be directly used in the application without conversion.</a:t>
            </a:r>
            <a:endParaRPr/>
          </a:p>
          <a:p>
            <a:pPr>
              <a:defRPr/>
            </a:pPr>
            <a:endParaRPr/>
          </a:p>
          <a:p>
            <a:pPr>
              <a:defRPr/>
            </a:pPr>
            <a:r>
              <a:rPr sz="1400" b="1" i="0" u="none">
                <a:solidFill>
                  <a:srgbClr val="000000"/>
                </a:solidFill>
                <a:latin typeface="Times New Roman"/>
                <a:ea typeface="Times New Roman"/>
                <a:cs typeface="Times New Roman"/>
              </a:rPr>
              <a:t>Key Takeaways</a:t>
            </a:r>
            <a:endParaRPr sz="1400" b="1" i="0" u="none">
              <a:solidFill>
                <a:srgbClr val="000000"/>
              </a:solidFill>
              <a:latin typeface="Times New Roman"/>
              <a:ea typeface="Times New Roman"/>
              <a:cs typeface="Times New Roman"/>
            </a:endParaRPr>
          </a:p>
          <a:p>
            <a:pPr>
              <a:defRPr/>
            </a:pPr>
            <a:r>
              <a:rPr sz="1200" b="1" i="0" u="none">
                <a:solidFill>
                  <a:srgbClr val="000000"/>
                </a:solidFill>
                <a:latin typeface="Times New Roman"/>
                <a:ea typeface="Times New Roman"/>
                <a:cs typeface="Times New Roman"/>
              </a:rPr>
              <a:t>Object-relational impedance mismatch occurs because object models and relational tables represent data differently.</a:t>
            </a:r>
            <a:br>
              <a:rPr sz="1200" b="1"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ORM frameworks attempt to solve this problem but add complexity.</a:t>
            </a:r>
            <a:br>
              <a:rPr sz="1200" b="1"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Document databases store data in structures that match application objects.</a:t>
            </a:r>
            <a:endParaRPr lang="en-US"/>
          </a:p>
          <a:p>
            <a:pPr>
              <a:defRPr/>
            </a:pPr>
            <a:endParaRPr lang="en-US"/>
          </a:p>
          <a:p>
            <a:pPr>
              <a:defRPr/>
            </a:pPr>
            <a:r>
              <a:rPr lang="en-US"/>
              <a:t>The impedance mismatch is the single biggest motivation for using document databases.</a:t>
            </a:r>
            <a:br>
              <a:rPr lang="en-US"/>
            </a:br>
            <a:r>
              <a:rPr lang="en-US"/>
              <a:t>Developers think in objects and classes. Relational databases think in rows and tables. Every read and write requires a translation that wastes CPU cycles and developer mental energy.</a:t>
            </a:r>
            <a:br>
              <a:rPr lang="en-US"/>
            </a:br>
            <a:r>
              <a:rPr lang="en-US"/>
              <a:t>ORMs were invented to solve this, but they introduce their own complexity and can generate catastrophically inefficient SQL queries.</a:t>
            </a:r>
            <a:br>
              <a:rPr lang="en-US"/>
            </a:br>
            <a:r>
              <a:rPr lang="en-US"/>
              <a:t>In real projects, the N+1 query problem — where loading 100 users triggers 101 database queries — is a direct consequence of the impedance mismatch and is one of the most common performance bugs found in production systems.</a:t>
            </a:r>
            <a:br>
              <a:rPr lang="en-US"/>
            </a:br>
            <a:r>
              <a:rPr lang="en-US"/>
              <a:t>Question</a:t>
            </a:r>
            <a:br>
              <a:rPr lang="en-US"/>
            </a:br>
            <a:r>
              <a:rPr lang="en-US"/>
              <a:t>What is the N+1 query problem and why does it happen?</a:t>
            </a:r>
            <a:br>
              <a:rPr lang="en-US"/>
            </a:br>
            <a:r>
              <a:rPr lang="en-US"/>
              <a:t>Answer</a:t>
            </a:r>
            <a:br>
              <a:rPr lang="en-US"/>
            </a:br>
            <a:r>
              <a:rPr lang="en-US"/>
              <a:t>When an ORM fetches a list of 100 students and then separately queries the database for each student's courses, it runs 1 + 100 = 101 queries. Without lazy loading awareness, developers often don't notice this until the app is in production and database CPU is at 100 percent.</a:t>
            </a:r>
            <a:endParaRPr lang="en-US"/>
          </a:p>
        </p:txBody>
      </p:sp>
      <p:sp>
        <p:nvSpPr>
          <p:cNvPr id="1074042364"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836735" name="Slide Image Placeholder 1"/>
          <p:cNvSpPr>
            <a:spLocks noChangeAspect="1" noGrp="1" noRot="1"/>
          </p:cNvSpPr>
          <p:nvPr>
            <p:ph type="sldImg"/>
          </p:nvPr>
        </p:nvSpPr>
        <p:spPr bwMode="auto"/>
      </p:sp>
      <p:sp>
        <p:nvSpPr>
          <p:cNvPr id="1390671677" name="Notes Placeholder 2"/>
          <p:cNvSpPr>
            <a:spLocks noGrp="1"/>
          </p:cNvSpPr>
          <p:nvPr>
            <p:ph type="body" idx="1"/>
          </p:nvPr>
        </p:nvSpPr>
        <p:spPr bwMode="auto"/>
        <p:txBody>
          <a:bodyPr/>
          <a:lstStyle/>
          <a:p>
            <a:pPr>
              <a:defRPr/>
            </a:pPr>
            <a:r>
              <a:rPr lang="en-US"/>
              <a:t>We now transition from the motivation to the storage layer itself. Document databases are the direct response to the impedance mismatch problem. They store data exactly as the application uses it, which makes the API layer thin and fast.</a:t>
            </a:r>
            <a:endParaRPr lang="en-US"/>
          </a:p>
        </p:txBody>
      </p:sp>
      <p:sp>
        <p:nvSpPr>
          <p:cNvPr id="960249468"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8734128" name="Slide Image Placeholder 1"/>
          <p:cNvSpPr>
            <a:spLocks noChangeAspect="1" noGrp="1" noRot="1"/>
          </p:cNvSpPr>
          <p:nvPr>
            <p:ph type="sldImg"/>
          </p:nvPr>
        </p:nvSpPr>
        <p:spPr bwMode="auto"/>
      </p:sp>
      <p:sp>
        <p:nvSpPr>
          <p:cNvPr id="1085426227"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 </a:t>
            </a:r>
            <a:r>
              <a:rPr sz="1200" b="1" i="0" u="none">
                <a:solidFill>
                  <a:srgbClr val="000000"/>
                </a:solidFill>
                <a:latin typeface="Times New Roman"/>
                <a:ea typeface="Times New Roman"/>
                <a:cs typeface="Times New Roman"/>
              </a:rPr>
              <a:t>document database</a:t>
            </a:r>
            <a:r>
              <a:rPr sz="1200" b="0" i="0" u="none">
                <a:solidFill>
                  <a:srgbClr val="000000"/>
                </a:solidFill>
                <a:latin typeface="Times New Roman"/>
                <a:ea typeface="Times New Roman"/>
                <a:cs typeface="Times New Roman"/>
              </a:rPr>
              <a:t> stores data as documents instead of rows. Each document contains a set of key-value pairs that describe an entity.</a:t>
            </a:r>
            <a:endParaRPr/>
          </a:p>
          <a:p>
            <a:pPr>
              <a:defRPr/>
            </a:pPr>
            <a:r>
              <a:rPr sz="1200" b="0" i="0" u="none">
                <a:solidFill>
                  <a:srgbClr val="000000"/>
                </a:solidFill>
                <a:latin typeface="Times New Roman"/>
                <a:ea typeface="Times New Roman"/>
                <a:cs typeface="Times New Roman"/>
              </a:rPr>
              <a:t>Documents are typically represented in </a:t>
            </a:r>
            <a:r>
              <a:rPr sz="1200" b="1" i="0" u="none">
                <a:solidFill>
                  <a:srgbClr val="000000"/>
                </a:solidFill>
                <a:latin typeface="Times New Roman"/>
                <a:ea typeface="Times New Roman"/>
                <a:cs typeface="Times New Roman"/>
              </a:rPr>
              <a:t>JSON format</a:t>
            </a:r>
            <a:r>
              <a:rPr sz="1200" b="0" i="0" u="none">
                <a:solidFill>
                  <a:srgbClr val="000000"/>
                </a:solidFill>
                <a:latin typeface="Times New Roman"/>
                <a:ea typeface="Times New Roman"/>
                <a:cs typeface="Times New Roman"/>
              </a:rPr>
              <a:t>. JSON is widely used because it is lightweight, human-readable, and supported by almost every programming language.</a:t>
            </a:r>
            <a:endParaRPr/>
          </a:p>
          <a:p>
            <a:pPr>
              <a:defRPr/>
            </a:pPr>
            <a:r>
              <a:rPr sz="1200" b="0" i="0" u="none">
                <a:solidFill>
                  <a:srgbClr val="000000"/>
                </a:solidFill>
                <a:latin typeface="Times New Roman"/>
                <a:ea typeface="Times New Roman"/>
                <a:cs typeface="Times New Roman"/>
              </a:rPr>
              <a:t>Each document contains all the data required to represent one object. Documents can also contain </a:t>
            </a:r>
            <a:r>
              <a:rPr sz="1200" b="1" i="0" u="none">
                <a:solidFill>
                  <a:srgbClr val="000000"/>
                </a:solidFill>
                <a:latin typeface="Times New Roman"/>
                <a:ea typeface="Times New Roman"/>
                <a:cs typeface="Times New Roman"/>
              </a:rPr>
              <a:t>nested objects and arrays</a:t>
            </a:r>
            <a:r>
              <a:rPr sz="1200" b="0" i="0" u="none">
                <a:solidFill>
                  <a:srgbClr val="000000"/>
                </a:solidFill>
                <a:latin typeface="Times New Roman"/>
                <a:ea typeface="Times New Roman"/>
                <a:cs typeface="Times New Roman"/>
              </a:rPr>
              <a:t>, allowing complex hierarchical structures to be stored in a single record.</a:t>
            </a:r>
            <a:endParaRPr/>
          </a:p>
          <a:p>
            <a:pPr>
              <a:defRPr/>
            </a:pPr>
            <a:r>
              <a:rPr sz="1200" b="0" i="0" u="none">
                <a:solidFill>
                  <a:srgbClr val="000000"/>
                </a:solidFill>
                <a:latin typeface="Times New Roman"/>
                <a:ea typeface="Times New Roman"/>
                <a:cs typeface="Times New Roman"/>
              </a:rPr>
              <a:t>Internally, some document databases store documents using </a:t>
            </a:r>
            <a:r>
              <a:rPr sz="1200" b="1" i="0" u="none">
                <a:solidFill>
                  <a:srgbClr val="000000"/>
                </a:solidFill>
                <a:latin typeface="Times New Roman"/>
                <a:ea typeface="Times New Roman"/>
                <a:cs typeface="Times New Roman"/>
              </a:rPr>
              <a:t>Binary JSON (BSON)</a:t>
            </a:r>
            <a:r>
              <a:rPr sz="1200" b="0" i="0" u="none">
                <a:solidFill>
                  <a:srgbClr val="000000"/>
                </a:solidFill>
                <a:latin typeface="Times New Roman"/>
                <a:ea typeface="Times New Roman"/>
                <a:cs typeface="Times New Roman"/>
              </a:rPr>
              <a:t>. BSON extends JSON by supporting additional data types such as dates and binary data, while improving parsing efficiency.</a:t>
            </a:r>
            <a:endParaRPr/>
          </a:p>
          <a:p>
            <a:pPr>
              <a:defRPr/>
            </a:pPr>
            <a:endParaRPr/>
          </a:p>
          <a:p>
            <a:pPr>
              <a:defRPr/>
            </a:pPr>
            <a:r>
              <a:rPr sz="1400" b="1" i="0" u="none">
                <a:solidFill>
                  <a:srgbClr val="000000"/>
                </a:solidFill>
                <a:latin typeface="Times New Roman"/>
                <a:ea typeface="Times New Roman"/>
                <a:cs typeface="Times New Roman"/>
              </a:rPr>
              <a:t>Example Document</a:t>
            </a:r>
            <a:endParaRPr sz="1400" b="1"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"student_id": "12345",</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"name": "Maria",</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"courses":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{"name": "NoSQL", "grade": 8.5}</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This single document contains all the information needed about a student and their courses.</a:t>
            </a:r>
            <a:endParaRPr/>
          </a:p>
          <a:p>
            <a:pPr>
              <a:defRPr/>
            </a:pPr>
            <a:endParaRPr/>
          </a:p>
          <a:p>
            <a:pPr>
              <a:defRPr/>
            </a:pPr>
            <a:r>
              <a:rPr sz="1400" b="1" i="0" u="none">
                <a:solidFill>
                  <a:srgbClr val="000000"/>
                </a:solidFill>
                <a:latin typeface="Times New Roman"/>
                <a:ea typeface="Times New Roman"/>
                <a:cs typeface="Times New Roman"/>
              </a:rPr>
              <a:t>Interview Questions</a:t>
            </a:r>
            <a:endParaRPr sz="1400" b="1" i="0" u="none">
              <a:solidFill>
                <a:srgbClr val="000000"/>
              </a:solidFill>
              <a:latin typeface="Times New Roman"/>
              <a:ea typeface="Times New Roman"/>
              <a:cs typeface="Times New Roman"/>
            </a:endParaRPr>
          </a:p>
          <a:p>
            <a:pPr>
              <a:defRPr/>
            </a:pPr>
            <a:r>
              <a:rPr sz="1200" b="1" i="0" u="none">
                <a:solidFill>
                  <a:srgbClr val="000000"/>
                </a:solidFill>
                <a:latin typeface="Times New Roman"/>
                <a:ea typeface="Times New Roman"/>
                <a:cs typeface="Times New Roman"/>
              </a:rPr>
              <a:t>Question:</a:t>
            </a:r>
            <a:r>
              <a:rPr sz="1200" b="0" i="0" u="none">
                <a:solidFill>
                  <a:srgbClr val="000000"/>
                </a:solidFill>
                <a:latin typeface="Times New Roman"/>
                <a:ea typeface="Times New Roman"/>
                <a:cs typeface="Times New Roman"/>
              </a:rPr>
              <a:t> What is a document in a document database?</a:t>
            </a:r>
            <a:br>
              <a:rPr sz="1200" b="0"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A self-contained data structure representing an entity using key-value pairs, typically in JSON format.</a:t>
            </a:r>
            <a:endParaRPr/>
          </a:p>
          <a:p>
            <a:pPr>
              <a:defRPr/>
            </a:pPr>
            <a:endParaRPr/>
          </a:p>
          <a:p>
            <a:pPr>
              <a:defRPr/>
            </a:pPr>
            <a:r>
              <a:rPr sz="1400" b="1" i="0" u="none">
                <a:solidFill>
                  <a:srgbClr val="000000"/>
                </a:solidFill>
                <a:latin typeface="Times New Roman"/>
                <a:ea typeface="Times New Roman"/>
                <a:cs typeface="Times New Roman"/>
              </a:rPr>
              <a:t>Key Takeaways</a:t>
            </a:r>
            <a:endParaRPr sz="1400" b="1" i="0" u="none">
              <a:solidFill>
                <a:srgbClr val="000000"/>
              </a:solidFill>
              <a:latin typeface="Times New Roman"/>
              <a:ea typeface="Times New Roman"/>
              <a:cs typeface="Times New Roman"/>
            </a:endParaRPr>
          </a:p>
          <a:p>
            <a:pPr>
              <a:defRPr/>
            </a:pPr>
            <a:r>
              <a:rPr sz="1200" b="1" i="0" u="none">
                <a:solidFill>
                  <a:srgbClr val="000000"/>
                </a:solidFill>
                <a:latin typeface="Times New Roman"/>
                <a:ea typeface="Times New Roman"/>
                <a:cs typeface="Times New Roman"/>
              </a:rPr>
              <a:t>Document databases store entities as JSON-like documents.</a:t>
            </a:r>
            <a:br>
              <a:rPr sz="1200" b="1"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Documents can contain nested objects and arrays.</a:t>
            </a:r>
            <a:br>
              <a:rPr sz="1200" b="1" i="0" u="none">
                <a:solidFill>
                  <a:srgbClr val="000000"/>
                </a:solidFill>
                <a:latin typeface="Times New Roman"/>
                <a:ea typeface="Times New Roman"/>
                <a:cs typeface="Times New Roman"/>
              </a:rPr>
            </a:br>
            <a:r>
              <a:rPr sz="1200" b="1" i="0" u="none">
                <a:solidFill>
                  <a:srgbClr val="000000"/>
                </a:solidFill>
                <a:latin typeface="Times New Roman"/>
                <a:ea typeface="Times New Roman"/>
                <a:cs typeface="Times New Roman"/>
              </a:rPr>
              <a:t>Data is stored according to application object structures.</a:t>
            </a:r>
            <a:endParaRPr lang="en-US"/>
          </a:p>
          <a:p>
            <a:pPr>
              <a:defRPr/>
            </a:pPr>
            <a:endParaRPr lang="en-US"/>
          </a:p>
          <a:p>
            <a:pPr>
              <a:defRPr/>
            </a:pPr>
            <a:endParaRPr lang="en-US"/>
          </a:p>
          <a:p>
            <a:pPr>
              <a:defRPr/>
            </a:pPr>
            <a:r>
              <a:rPr lang="en-US"/>
              <a:t>A document database stores data in a single, unified record rather than splitting it across tables.</a:t>
            </a:r>
            <a:br>
              <a:rPr lang="en-US"/>
            </a:br>
            <a:r>
              <a:rPr lang="en-US"/>
              <a:t>In the slide you see the core design philosophy: do not break data apart. This is a direct inversion of relational database normalisation theory.</a:t>
            </a:r>
            <a:br>
              <a:rPr lang="en-US"/>
            </a:br>
            <a:r>
              <a:rPr lang="en-US"/>
              <a:t>The trade-off is intentional: we accept some duplication to gain reading speed and simplicity.</a:t>
            </a:r>
            <a:br>
              <a:rPr lang="en-US"/>
            </a:br>
            <a:r>
              <a:rPr lang="en-US"/>
              <a:t>In real projects, this philosophy results in API endpoints that hit the database once and return a complete object, rather than executing five or ten SQL joins to assemble the same response.</a:t>
            </a:r>
            <a:br>
              <a:rPr lang="en-US"/>
            </a:br>
            <a:r>
              <a:rPr lang="en-US"/>
              <a:t>Question</a:t>
            </a:r>
            <a:br>
              <a:rPr lang="en-US"/>
            </a:br>
            <a:r>
              <a:rPr lang="en-US"/>
              <a:t>If a student has enrolled in three courses, how is this stored differently in a document database versus a relational database?</a:t>
            </a:r>
            <a:br>
              <a:rPr lang="en-US"/>
            </a:br>
            <a:r>
              <a:rPr lang="en-US"/>
              <a:t>Answer</a:t>
            </a:r>
            <a:br>
              <a:rPr lang="en-US"/>
            </a:br>
            <a:r>
              <a:rPr lang="en-US"/>
              <a:t>In a document database, the three courses are stored as an array directly inside the student document. In a relational database, they are stored as three separate rows in an enrollment table that must be joined to the student table on every query.</a:t>
            </a:r>
            <a:endParaRPr lang="en-US"/>
          </a:p>
        </p:txBody>
      </p:sp>
      <p:sp>
        <p:nvSpPr>
          <p:cNvPr id="947231039"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9929408" name="Slide Image Placeholder 1"/>
          <p:cNvSpPr>
            <a:spLocks noChangeAspect="1" noGrp="1" noRot="1"/>
          </p:cNvSpPr>
          <p:nvPr>
            <p:ph type="sldImg"/>
          </p:nvPr>
        </p:nvSpPr>
        <p:spPr bwMode="auto"/>
      </p:sp>
      <p:sp>
        <p:nvSpPr>
          <p:cNvPr id="206558574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When designing a document database schema, the most important principle is to </a:t>
            </a:r>
            <a:r>
              <a:rPr sz="1200" b="1" i="0" u="none">
                <a:solidFill>
                  <a:srgbClr val="000000"/>
                </a:solidFill>
                <a:latin typeface="Times New Roman"/>
                <a:ea typeface="Times New Roman"/>
                <a:cs typeface="Times New Roman"/>
              </a:rPr>
              <a:t>start from the application’s access patterns rather than from normalization rules</a:t>
            </a:r>
            <a:r>
              <a:rPr sz="1200" b="0" i="0" u="none">
                <a:solidFill>
                  <a:srgbClr val="000000"/>
                </a:solidFill>
                <a:latin typeface="Times New Roman"/>
                <a:ea typeface="Times New Roman"/>
                <a:cs typeface="Times New Roman"/>
              </a:rPr>
              <a:t>. In relational database design, the process typically begins with entity relationships and normalization in order to minimize redundancy. However, document databases follow a different philosophy.</a:t>
            </a:r>
            <a:endParaRPr/>
          </a:p>
          <a:p>
            <a:pPr>
              <a:defRPr/>
            </a:pPr>
            <a:r>
              <a:rPr sz="1200" b="0" i="0" u="none">
                <a:solidFill>
                  <a:srgbClr val="000000"/>
                </a:solidFill>
                <a:latin typeface="Times New Roman"/>
                <a:ea typeface="Times New Roman"/>
                <a:cs typeface="Times New Roman"/>
              </a:rPr>
              <a:t>In document databases, we first ask </a:t>
            </a:r>
            <a:r>
              <a:rPr sz="1200" b="1" i="0" u="none">
                <a:solidFill>
                  <a:srgbClr val="000000"/>
                </a:solidFill>
                <a:latin typeface="Times New Roman"/>
                <a:ea typeface="Times New Roman"/>
                <a:cs typeface="Times New Roman"/>
              </a:rPr>
              <a:t>how the application will read the data</a:t>
            </a:r>
            <a:r>
              <a:rPr sz="1200" b="0" i="0" u="none">
                <a:solidFill>
                  <a:srgbClr val="000000"/>
                </a:solidFill>
                <a:latin typeface="Times New Roman"/>
                <a:ea typeface="Times New Roman"/>
                <a:cs typeface="Times New Roman"/>
              </a:rPr>
              <a:t>. If the user interface frequently needs to display a student profile together with their list of courses, then it is often more efficient to store both pieces of information together in the same document.</a:t>
            </a:r>
            <a:endParaRPr/>
          </a:p>
          <a:p>
            <a:pPr>
              <a:defRPr/>
            </a:pPr>
            <a:r>
              <a:rPr sz="1200" b="0" i="0" u="none">
                <a:solidFill>
                  <a:srgbClr val="000000"/>
                </a:solidFill>
                <a:latin typeface="Times New Roman"/>
                <a:ea typeface="Times New Roman"/>
                <a:cs typeface="Times New Roman"/>
              </a:rPr>
              <a:t>This approach improves read performance because the application can retrieve the complete object with a single database query. In contrast, a relational database would require multiple tables and JOIN operations to reconstruct the same object.</a:t>
            </a:r>
            <a:endParaRPr/>
          </a:p>
          <a:p>
            <a:pPr>
              <a:defRPr/>
            </a:pPr>
            <a:r>
              <a:rPr sz="1200" b="0" i="0" u="none">
                <a:solidFill>
                  <a:srgbClr val="000000"/>
                </a:solidFill>
                <a:latin typeface="Times New Roman"/>
                <a:ea typeface="Times New Roman"/>
                <a:cs typeface="Times New Roman"/>
              </a:rPr>
              <a:t>Another important aspect of document thinking is that </a:t>
            </a:r>
            <a:r>
              <a:rPr sz="1200" b="1" i="0" u="none">
                <a:solidFill>
                  <a:srgbClr val="000000"/>
                </a:solidFill>
                <a:latin typeface="Times New Roman"/>
                <a:ea typeface="Times New Roman"/>
                <a:cs typeface="Times New Roman"/>
              </a:rPr>
              <a:t>data duplication is sometimes acceptable</a:t>
            </a:r>
            <a:r>
              <a:rPr sz="1200" b="0" i="0" u="none">
                <a:solidFill>
                  <a:srgbClr val="000000"/>
                </a:solidFill>
                <a:latin typeface="Times New Roman"/>
                <a:ea typeface="Times New Roman"/>
                <a:cs typeface="Times New Roman"/>
              </a:rPr>
              <a:t>. In relational systems duplication is avoided at all costs, but in document databases limited duplication may significantly improve performance by eliminating expensive read operations.</a:t>
            </a:r>
            <a:endParaRPr/>
          </a:p>
          <a:p>
            <a:pPr>
              <a:defRPr/>
            </a:pPr>
            <a:r>
              <a:rPr sz="1200" b="0" i="0" u="none">
                <a:solidFill>
                  <a:srgbClr val="000000"/>
                </a:solidFill>
                <a:latin typeface="Times New Roman"/>
                <a:ea typeface="Times New Roman"/>
                <a:cs typeface="Times New Roman"/>
              </a:rPr>
              <a:t>The key idea is that </a:t>
            </a:r>
            <a:r>
              <a:rPr sz="1200" b="1" i="0" u="none">
                <a:solidFill>
                  <a:srgbClr val="000000"/>
                </a:solidFill>
                <a:latin typeface="Times New Roman"/>
                <a:ea typeface="Times New Roman"/>
                <a:cs typeface="Times New Roman"/>
              </a:rPr>
              <a:t>the database structure should match the shape of the application’s objects</a:t>
            </a:r>
            <a:r>
              <a:rPr sz="1200" b="0" i="0" u="none">
                <a:solidFill>
                  <a:srgbClr val="000000"/>
                </a:solidFill>
                <a:latin typeface="Times New Roman"/>
                <a:ea typeface="Times New Roman"/>
                <a:cs typeface="Times New Roman"/>
              </a:rPr>
              <a:t>, not the other way around.</a:t>
            </a:r>
            <a:endParaRPr/>
          </a:p>
          <a:p>
            <a:pPr>
              <a:defRPr/>
            </a:pPr>
            <a:endParaRPr/>
          </a:p>
          <a:p>
            <a:pPr>
              <a:defRPr/>
            </a:pPr>
            <a:r>
              <a:rPr sz="1200" b="1" i="0" u="none">
                <a:solidFill>
                  <a:srgbClr val="000000"/>
                </a:solidFill>
                <a:latin typeface="Times New Roman"/>
                <a:ea typeface="Times New Roman"/>
                <a:cs typeface="Times New Roman"/>
              </a:rPr>
              <a:t>Real Example</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In a social media application, a user profile page often displays the user's name, profile picture, and the most recent posts. Instead of storing posts in a completely separate structure that requires complex joins, a document database may embed recent posts directly inside the user document.</a:t>
            </a:r>
            <a:endParaRPr/>
          </a:p>
          <a:p>
            <a:pPr>
              <a:defRPr/>
            </a:pPr>
            <a:endParaRPr/>
          </a:p>
          <a:p>
            <a:pPr>
              <a:defRPr/>
            </a:pPr>
            <a:r>
              <a:rPr sz="1200" b="1" i="0" u="none">
                <a:solidFill>
                  <a:srgbClr val="000000"/>
                </a:solidFill>
                <a:latin typeface="Times New Roman"/>
                <a:ea typeface="Times New Roman"/>
                <a:cs typeface="Times New Roman"/>
              </a:rPr>
              <a:t>Key Takeaway</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In document databases, schema design is driven primarily by </a:t>
            </a:r>
            <a:r>
              <a:rPr sz="1200" b="1" i="0" u="none">
                <a:solidFill>
                  <a:srgbClr val="000000"/>
                </a:solidFill>
                <a:latin typeface="Times New Roman"/>
                <a:ea typeface="Times New Roman"/>
                <a:cs typeface="Times New Roman"/>
              </a:rPr>
              <a:t>application access patterns rather than strict normalization rules</a:t>
            </a:r>
            <a:r>
              <a:rPr sz="1200" b="0" i="0" u="none">
                <a:solidFill>
                  <a:srgbClr val="000000"/>
                </a:solidFill>
                <a:latin typeface="Times New Roman"/>
                <a:ea typeface="Times New Roman"/>
                <a:cs typeface="Times New Roman"/>
              </a:rPr>
              <a:t>.</a:t>
            </a:r>
            <a:endParaRPr lang="en-US"/>
          </a:p>
          <a:p>
            <a:pPr>
              <a:defRPr/>
            </a:pPr>
            <a:endParaRPr lang="en-US"/>
          </a:p>
          <a:p>
            <a:pPr>
              <a:defRPr/>
            </a:pPr>
            <a:r>
              <a:rPr lang="en-US"/>
              <a:t>Document thinking requires a fundamental mindset shift from relational database theory.</a:t>
            </a:r>
            <a:br>
              <a:rPr lang="en-US"/>
            </a:br>
            <a:r>
              <a:rPr lang="en-US"/>
              <a:t>In relational design, you start with entities and normalise to eliminate duplication. In document design, you start with the API endpoints and work backwards to storage.</a:t>
            </a:r>
            <a:br>
              <a:rPr lang="en-US"/>
            </a:br>
            <a:r>
              <a:rPr lang="en-US"/>
              <a:t>The question is always: what does this screen on the frontend need to show? Design the document to satisfy that screen in a single query.</a:t>
            </a:r>
            <a:br>
              <a:rPr lang="en-US"/>
            </a:br>
            <a:r>
              <a:rPr lang="en-US"/>
              <a:t>In real projects, teams that apply relational thinking to document databases create deeply nested queries and manual joins in the application code, which is worse than either a well-designed relational schema or a well-designed document schema.</a:t>
            </a:r>
            <a:br>
              <a:rPr lang="en-US"/>
            </a:br>
            <a:r>
              <a:rPr lang="en-US"/>
              <a:t>Question</a:t>
            </a:r>
            <a:br>
              <a:rPr lang="en-US"/>
            </a:br>
            <a:r>
              <a:rPr lang="en-US"/>
              <a:t>What is the primary factor that should dictate how you structure a document?</a:t>
            </a:r>
            <a:br>
              <a:rPr lang="en-US"/>
            </a:br>
            <a:r>
              <a:rPr lang="en-US"/>
              <a:t>Answer</a:t>
            </a:r>
            <a:br>
              <a:rPr lang="en-US"/>
            </a:br>
            <a:r>
              <a:rPr lang="en-US"/>
              <a:t>The exact JSON response that the application's API endpoint needs to return. Start from the frontend's requirement and design the document schema to match it exactly.</a:t>
            </a:r>
            <a:endParaRPr lang="en-US"/>
          </a:p>
        </p:txBody>
      </p:sp>
      <p:sp>
        <p:nvSpPr>
          <p:cNvPr id="94698611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0462908" name="Slide Image Placeholder 1"/>
          <p:cNvSpPr>
            <a:spLocks noChangeAspect="1" noGrp="1" noRot="1"/>
          </p:cNvSpPr>
          <p:nvPr>
            <p:ph type="sldImg"/>
          </p:nvPr>
        </p:nvSpPr>
        <p:spPr bwMode="auto"/>
      </p:sp>
      <p:sp>
        <p:nvSpPr>
          <p:cNvPr id="610043287"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 fundamental concept in document databases is that </a:t>
            </a:r>
            <a:r>
              <a:rPr sz="1200" b="1" i="0" u="none">
                <a:solidFill>
                  <a:srgbClr val="000000"/>
                </a:solidFill>
                <a:latin typeface="Times New Roman"/>
                <a:ea typeface="Times New Roman"/>
                <a:cs typeface="Times New Roman"/>
              </a:rPr>
              <a:t>a single document corresponds directly to a programming object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most modern programming languages, developers work with objects that contain attributes and nested structures. For example, a student object in code might contain fields such as name, email, and a list of enrolled courses.</a:t>
            </a:r>
            <a:endParaRPr/>
          </a:p>
          <a:p>
            <a:pPr>
              <a:defRPr/>
            </a:pPr>
            <a:r>
              <a:rPr sz="1200" b="0" i="0" u="none">
                <a:solidFill>
                  <a:srgbClr val="000000"/>
                </a:solidFill>
                <a:latin typeface="Times New Roman"/>
                <a:ea typeface="Times New Roman"/>
                <a:cs typeface="Times New Roman"/>
              </a:rPr>
              <a:t>Document databases store these objects almost exactly as they appear in the application code. This means that when the application queries the database, it receives a complete object rather than multiple rows that must be reassembled.</a:t>
            </a:r>
            <a:endParaRPr/>
          </a:p>
          <a:p>
            <a:pPr>
              <a:defRPr/>
            </a:pPr>
            <a:r>
              <a:rPr sz="1200" b="0" i="0" u="none">
                <a:solidFill>
                  <a:srgbClr val="000000"/>
                </a:solidFill>
                <a:latin typeface="Times New Roman"/>
                <a:ea typeface="Times New Roman"/>
                <a:cs typeface="Times New Roman"/>
              </a:rPr>
              <a:t>Because of this design, </a:t>
            </a:r>
            <a:r>
              <a:rPr sz="1200" b="1" i="0" u="none">
                <a:solidFill>
                  <a:srgbClr val="000000"/>
                </a:solidFill>
                <a:latin typeface="Times New Roman"/>
                <a:ea typeface="Times New Roman"/>
                <a:cs typeface="Times New Roman"/>
              </a:rPr>
              <a:t>a single database read can return the full object</a:t>
            </a:r>
            <a:r>
              <a:rPr sz="1200" b="0" i="0" u="none">
                <a:solidFill>
                  <a:srgbClr val="000000"/>
                </a:solidFill>
                <a:latin typeface="Times New Roman"/>
                <a:ea typeface="Times New Roman"/>
                <a:cs typeface="Times New Roman"/>
              </a:rPr>
              <a:t>, including all nested data. This greatly simplifies application development and reduces the amount of data processing required by the backend.</a:t>
            </a:r>
            <a:endParaRPr/>
          </a:p>
          <a:p>
            <a:pPr>
              <a:defRPr/>
            </a:pPr>
            <a:r>
              <a:rPr sz="1200" b="0" i="0" u="none">
                <a:solidFill>
                  <a:srgbClr val="000000"/>
                </a:solidFill>
                <a:latin typeface="Times New Roman"/>
                <a:ea typeface="Times New Roman"/>
                <a:cs typeface="Times New Roman"/>
              </a:rPr>
              <a:t>It is important to note that document databases do not completely replace relational databases. Instead, they provide an alternative model that is particularly well suited for applications where data is naturally represented as hierarchical objects.</a:t>
            </a:r>
            <a:endParaRPr/>
          </a:p>
          <a:p>
            <a:pPr>
              <a:defRPr/>
            </a:pPr>
            <a:endParaRPr/>
          </a:p>
          <a:p>
            <a:pPr>
              <a:defRPr/>
            </a:pPr>
            <a:r>
              <a:rPr sz="1200" b="1" i="0" u="none">
                <a:solidFill>
                  <a:srgbClr val="000000"/>
                </a:solidFill>
                <a:latin typeface="Times New Roman"/>
                <a:ea typeface="Times New Roman"/>
                <a:cs typeface="Times New Roman"/>
              </a:rPr>
              <a:t>Real Example</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In a student management system, a student object may include personal information, enrolled courses, and grades. In a document database, all of this information can be stored inside one document, making it easy to retrieve the complete student record with a single query.</a:t>
            </a:r>
            <a:endParaRPr/>
          </a:p>
          <a:p>
            <a:pPr>
              <a:defRPr/>
            </a:pPr>
            <a:endParaRPr/>
          </a:p>
          <a:p>
            <a:pPr>
              <a:defRPr/>
            </a:pPr>
            <a:r>
              <a:rPr sz="1200" b="1" i="0" u="none">
                <a:solidFill>
                  <a:srgbClr val="000000"/>
                </a:solidFill>
                <a:latin typeface="Times New Roman"/>
                <a:ea typeface="Times New Roman"/>
                <a:cs typeface="Times New Roman"/>
              </a:rPr>
              <a:t>Key Takeaway</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Document databases align closely with object-oriented programming by storing </a:t>
            </a:r>
            <a:r>
              <a:rPr sz="1200" b="1" i="0" u="none">
                <a:solidFill>
                  <a:srgbClr val="000000"/>
                </a:solidFill>
                <a:latin typeface="Times New Roman"/>
                <a:ea typeface="Times New Roman"/>
                <a:cs typeface="Times New Roman"/>
              </a:rPr>
              <a:t>entire application objects as single documents</a:t>
            </a:r>
            <a:r>
              <a:rPr sz="1200" b="0" i="0" u="none">
                <a:solidFill>
                  <a:srgbClr val="000000"/>
                </a:solidFill>
                <a:latin typeface="Times New Roman"/>
                <a:ea typeface="Times New Roman"/>
                <a:cs typeface="Times New Roman"/>
              </a:rPr>
              <a:t>.</a:t>
            </a:r>
            <a:endParaRPr lang="en-US"/>
          </a:p>
          <a:p>
            <a:pPr>
              <a:defRPr/>
            </a:pPr>
            <a:endParaRPr lang="en-US"/>
          </a:p>
          <a:p>
            <a:pPr>
              <a:defRPr/>
            </a:pPr>
            <a:r>
              <a:rPr lang="en-US"/>
              <a:t>The mapping between a programming object and a database document is one-to-one.</a:t>
            </a:r>
            <a:br>
              <a:rPr lang="en-US"/>
            </a:br>
            <a:r>
              <a:rPr lang="en-US"/>
              <a:t>This is why document databases are sometimes called object databases. A Java class, a Python dataclass, or a TypeScript interface maps directly to a document schema.</a:t>
            </a:r>
            <a:br>
              <a:rPr lang="en-US"/>
            </a:br>
            <a:r>
              <a:rPr lang="en-US"/>
              <a:t>This direct mapping dramatically reduces the amount of translation code developers need to write.</a:t>
            </a:r>
            <a:br>
              <a:rPr lang="en-US"/>
            </a:br>
            <a:r>
              <a:rPr lang="en-US"/>
              <a:t>In real projects, this alignment means junior developers can contribute to the data layer on their first day because the database structure mirrors the code they are already writing.</a:t>
            </a:r>
            <a:br>
              <a:rPr lang="en-US"/>
            </a:br>
            <a:r>
              <a:rPr lang="en-US"/>
              <a:t>Question</a:t>
            </a:r>
            <a:br>
              <a:rPr lang="en-US"/>
            </a:br>
            <a:r>
              <a:rPr lang="en-US"/>
              <a:t>If document databases map so naturally to objects, why do relational databases still dominate enterprise banking systems?</a:t>
            </a:r>
            <a:br>
              <a:rPr lang="en-US"/>
            </a:br>
            <a:r>
              <a:rPr lang="en-US"/>
              <a:t>Answer</a:t>
            </a:r>
            <a:br>
              <a:rPr lang="en-US"/>
            </a:br>
            <a:r>
              <a:rPr lang="en-US"/>
              <a:t>Banking requires atomic transactions across multiple entities simultaneously — crediting one account while debiting another must both succeed or both fail. Relational databases guarantee this with ACID transactions across tables; document databases traditionally handle this within a single document only.</a:t>
            </a:r>
            <a:endParaRPr lang="en-US"/>
          </a:p>
        </p:txBody>
      </p:sp>
      <p:sp>
        <p:nvSpPr>
          <p:cNvPr id="436503232"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8747002" name="Slide Image Placeholder 1"/>
          <p:cNvSpPr>
            <a:spLocks noChangeAspect="1" noGrp="1" noRot="1"/>
          </p:cNvSpPr>
          <p:nvPr>
            <p:ph type="sldImg"/>
          </p:nvPr>
        </p:nvSpPr>
        <p:spPr bwMode="auto"/>
      </p:sp>
      <p:sp>
        <p:nvSpPr>
          <p:cNvPr id="200422778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JSON stands for </a:t>
            </a:r>
            <a:r>
              <a:rPr sz="1200" b="1" i="0" u="none">
                <a:solidFill>
                  <a:srgbClr val="000000"/>
                </a:solidFill>
                <a:latin typeface="Times New Roman"/>
                <a:ea typeface="Times New Roman"/>
                <a:cs typeface="Times New Roman"/>
              </a:rPr>
              <a:t>JavaScript Object Notation</a:t>
            </a:r>
            <a:r>
              <a:rPr sz="1200" b="0" i="0" u="none">
                <a:solidFill>
                  <a:srgbClr val="000000"/>
                </a:solidFill>
                <a:latin typeface="Times New Roman"/>
                <a:ea typeface="Times New Roman"/>
                <a:cs typeface="Times New Roman"/>
              </a:rPr>
              <a:t>, and it is a lightweight text format used to represent structured data.</a:t>
            </a:r>
            <a:endParaRPr/>
          </a:p>
          <a:p>
            <a:pPr>
              <a:defRPr/>
            </a:pPr>
            <a:r>
              <a:rPr sz="1200" b="0" i="0" u="none">
                <a:solidFill>
                  <a:srgbClr val="000000"/>
                </a:solidFill>
                <a:latin typeface="Times New Roman"/>
                <a:ea typeface="Times New Roman"/>
                <a:cs typeface="Times New Roman"/>
              </a:rPr>
              <a:t>JSON has become the standard format for data exchange in web applications because it is both </a:t>
            </a:r>
            <a:r>
              <a:rPr sz="1200" b="1" i="0" u="none">
                <a:solidFill>
                  <a:srgbClr val="000000"/>
                </a:solidFill>
                <a:latin typeface="Times New Roman"/>
                <a:ea typeface="Times New Roman"/>
                <a:cs typeface="Times New Roman"/>
              </a:rPr>
              <a:t>human-readable and machine-readable</a:t>
            </a:r>
            <a:r>
              <a:rPr sz="1200" b="0" i="0" u="none">
                <a:solidFill>
                  <a:srgbClr val="000000"/>
                </a:solidFill>
                <a:latin typeface="Times New Roman"/>
                <a:ea typeface="Times New Roman"/>
                <a:cs typeface="Times New Roman"/>
              </a:rPr>
              <a:t>. Developers can easily understand JSON structures, while programming languages can parse and generate JSON efficiently.</a:t>
            </a:r>
            <a:endParaRPr/>
          </a:p>
          <a:p>
            <a:pPr>
              <a:defRPr/>
            </a:pPr>
            <a:r>
              <a:rPr sz="1200" b="0" i="0" u="none">
                <a:solidFill>
                  <a:srgbClr val="000000"/>
                </a:solidFill>
                <a:latin typeface="Times New Roman"/>
                <a:ea typeface="Times New Roman"/>
                <a:cs typeface="Times New Roman"/>
              </a:rPr>
              <a:t>Although JSON originated in the JavaScript ecosystem, it is now completely language-independent. Almost every programming language, including Python, Java, C#, and Go, provides built-in libraries for handling JSON data.</a:t>
            </a:r>
            <a:endParaRPr/>
          </a:p>
          <a:p>
            <a:pPr>
              <a:defRPr/>
            </a:pPr>
            <a:r>
              <a:rPr sz="1200" b="0" i="0" u="none">
                <a:solidFill>
                  <a:srgbClr val="000000"/>
                </a:solidFill>
                <a:latin typeface="Times New Roman"/>
                <a:ea typeface="Times New Roman"/>
                <a:cs typeface="Times New Roman"/>
              </a:rPr>
              <a:t>Because of its simplicity and flexibility, JSON is widely used in </a:t>
            </a:r>
            <a:r>
              <a:rPr sz="1200" b="1" i="0" u="none">
                <a:solidFill>
                  <a:srgbClr val="000000"/>
                </a:solidFill>
                <a:latin typeface="Times New Roman"/>
                <a:ea typeface="Times New Roman"/>
                <a:cs typeface="Times New Roman"/>
              </a:rPr>
              <a:t>web APIs, document databases, configuration files, and data exchange between distributed systems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document databases, JSON serves as the natural format for storing documents because it directly represents hierarchical data structures.</a:t>
            </a:r>
            <a:endParaRPr/>
          </a:p>
          <a:p>
            <a:pPr>
              <a:defRPr/>
            </a:pPr>
            <a:endParaRPr/>
          </a:p>
          <a:p>
            <a:pPr>
              <a:defRPr/>
            </a:pPr>
            <a:r>
              <a:rPr sz="1200" b="1" i="0" u="none">
                <a:solidFill>
                  <a:srgbClr val="000000"/>
                </a:solidFill>
                <a:latin typeface="Times New Roman"/>
                <a:ea typeface="Times New Roman"/>
                <a:cs typeface="Times New Roman"/>
              </a:rPr>
              <a:t>Real Example</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When a web application requests user data from a backend server, the server often responds with a JSON object containing the user’s information.</a:t>
            </a:r>
            <a:endParaRPr/>
          </a:p>
          <a:p>
            <a:pPr>
              <a:defRPr/>
            </a:pPr>
            <a:r>
              <a:rPr sz="1200" b="0" i="0" u="none">
                <a:solidFill>
                  <a:srgbClr val="000000"/>
                </a:solidFill>
                <a:latin typeface="Times New Roman"/>
                <a:ea typeface="Times New Roman"/>
                <a:cs typeface="Times New Roman"/>
              </a:rPr>
              <a:t>Example JSON response:</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"name": </a:t>
            </a:r>
            <a:r>
              <a:rPr sz="1000" b="0" i="0" u="none">
                <a:solidFill>
                  <a:srgbClr val="000000"/>
                </a:solidFill>
                <a:latin typeface="Courier New"/>
                <a:ea typeface="Courier New"/>
                <a:cs typeface="Courier New"/>
              </a:rPr>
              <a:t>"Maria Papadopoulou"</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"email": </a:t>
            </a:r>
            <a:r>
              <a:rPr sz="1000" b="0" i="0" u="none">
                <a:solidFill>
                  <a:srgbClr val="000000"/>
                </a:solidFill>
                <a:latin typeface="Courier New"/>
                <a:ea typeface="Courier New"/>
                <a:cs typeface="Courier New"/>
              </a:rPr>
              <a:t>"maria@example.com"</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"courses": [</a:t>
            </a:r>
            <a:r>
              <a:rPr sz="1000" b="0" i="0" u="none">
                <a:solidFill>
                  <a:srgbClr val="000000"/>
                </a:solidFill>
                <a:latin typeface="Courier New"/>
                <a:ea typeface="Courier New"/>
                <a:cs typeface="Courier New"/>
              </a:rPr>
              <a:t>"NoSQL"</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"Machine Learning"</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endParaRPr/>
          </a:p>
          <a:p>
            <a:pPr>
              <a:defRPr/>
            </a:pPr>
            <a:r>
              <a:rPr sz="1200" b="1" i="0" u="none">
                <a:solidFill>
                  <a:srgbClr val="000000"/>
                </a:solidFill>
                <a:latin typeface="Times New Roman"/>
                <a:ea typeface="Times New Roman"/>
                <a:cs typeface="Times New Roman"/>
              </a:rPr>
              <a:t>Key Takeaway</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JSON is the </a:t>
            </a:r>
            <a:r>
              <a:rPr sz="1200" b="1" i="0" u="none">
                <a:solidFill>
                  <a:srgbClr val="000000"/>
                </a:solidFill>
                <a:latin typeface="Times New Roman"/>
                <a:ea typeface="Times New Roman"/>
                <a:cs typeface="Times New Roman"/>
              </a:rPr>
              <a:t>universal data format for modern web applications and document databases</a:t>
            </a:r>
            <a:r>
              <a:rPr sz="1200" b="0" i="0" u="none">
                <a:solidFill>
                  <a:srgbClr val="000000"/>
                </a:solidFill>
                <a:latin typeface="Times New Roman"/>
                <a:ea typeface="Times New Roman"/>
                <a:cs typeface="Times New Roman"/>
              </a:rPr>
              <a:t>.</a:t>
            </a:r>
            <a:endParaRPr lang="en-US"/>
          </a:p>
          <a:p>
            <a:pPr>
              <a:defRPr/>
            </a:pPr>
            <a:endParaRPr lang="en-US"/>
          </a:p>
          <a:p>
            <a:pPr>
              <a:defRPr/>
            </a:pPr>
            <a:r>
              <a:rPr lang="en-US"/>
              <a:t>JSON is the data format that makes APIs and document databases work together seamlessly.</a:t>
            </a:r>
            <a:br>
              <a:rPr lang="en-US"/>
            </a:br>
            <a:r>
              <a:rPr lang="en-US"/>
              <a:t>It began as JavaScript object syntax but became the universal standard for web data exchange because it is simple, readable, and supported by every modern programming language without additional libraries.</a:t>
            </a:r>
            <a:br>
              <a:rPr lang="en-US"/>
            </a:br>
            <a:r>
              <a:rPr lang="en-US"/>
              <a:t>In the slide you see that it is the language of modern apps: APIs send JSON, document databases store JSON, frontends consume JSON.</a:t>
            </a:r>
            <a:br>
              <a:rPr lang="en-US"/>
            </a:br>
            <a:r>
              <a:rPr lang="en-US"/>
              <a:t>In real projects, using JSON end-to-end from database to browser eliminates multiple data transformation steps that add latency and bugs to applications.</a:t>
            </a:r>
            <a:br>
              <a:rPr lang="en-US"/>
            </a:br>
            <a:r>
              <a:rPr lang="en-US"/>
              <a:t>Question</a:t>
            </a:r>
            <a:br>
              <a:rPr lang="en-US"/>
            </a:br>
            <a:r>
              <a:rPr lang="en-US"/>
              <a:t>Why is JSON preferred over XML in modern web development?</a:t>
            </a:r>
            <a:br>
              <a:rPr lang="en-US"/>
            </a:br>
            <a:r>
              <a:rPr lang="en-US"/>
              <a:t>Answer</a:t>
            </a:r>
            <a:br>
              <a:rPr lang="en-US"/>
            </a:br>
            <a:r>
              <a:rPr lang="en-US"/>
              <a:t>JSON is 20 to 40 percent smaller than equivalent XML, maps directly to native programming language objects without transformation code, and is parsed natively by JavaScript — the language of every web browser on earth.</a:t>
            </a:r>
            <a:endParaRPr lang="en-US"/>
          </a:p>
        </p:txBody>
      </p:sp>
      <p:sp>
        <p:nvSpPr>
          <p:cNvPr id="111743649"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4686748" name="Slide Image Placeholder 1"/>
          <p:cNvSpPr>
            <a:spLocks noChangeAspect="1" noGrp="1" noRot="1"/>
          </p:cNvSpPr>
          <p:nvPr>
            <p:ph type="sldImg"/>
          </p:nvPr>
        </p:nvSpPr>
        <p:spPr bwMode="auto"/>
      </p:sp>
      <p:sp>
        <p:nvSpPr>
          <p:cNvPr id="85741480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JSON structures are composed of two fundamental elements: </a:t>
            </a:r>
            <a:r>
              <a:rPr sz="1200" b="1" i="0" u="none">
                <a:solidFill>
                  <a:srgbClr val="000000"/>
                </a:solidFill>
                <a:latin typeface="Times New Roman"/>
                <a:ea typeface="Times New Roman"/>
                <a:cs typeface="Times New Roman"/>
              </a:rPr>
              <a:t>objects and arrays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Objects are collections of key-value pairs enclosed in curly braces. Each key represents the name of a field, while the value represents the data stored in that field.</a:t>
            </a:r>
            <a:endParaRPr/>
          </a:p>
          <a:p>
            <a:pPr>
              <a:defRPr/>
            </a:pPr>
            <a:r>
              <a:rPr sz="1200" b="0" i="0" u="none">
                <a:solidFill>
                  <a:srgbClr val="000000"/>
                </a:solidFill>
                <a:latin typeface="Times New Roman"/>
                <a:ea typeface="Times New Roman"/>
                <a:cs typeface="Times New Roman"/>
              </a:rPr>
              <a:t>Arrays are ordered collections of values enclosed in square brackets. Arrays are often used to represent lists of items such as courses, products, or messages.</a:t>
            </a:r>
            <a:endParaRPr/>
          </a:p>
          <a:p>
            <a:pPr>
              <a:defRPr/>
            </a:pPr>
            <a:r>
              <a:rPr sz="1200" b="0" i="0" u="none">
                <a:solidFill>
                  <a:srgbClr val="000000"/>
                </a:solidFill>
                <a:latin typeface="Times New Roman"/>
                <a:ea typeface="Times New Roman"/>
                <a:cs typeface="Times New Roman"/>
              </a:rPr>
              <a:t>One of the strengths of JSON is that objects and arrays can be nested inside each other, allowing developers to represent complex hierarchical data structures.</a:t>
            </a:r>
            <a:endParaRPr/>
          </a:p>
          <a:p>
            <a:pPr>
              <a:defRPr/>
            </a:pPr>
            <a:r>
              <a:rPr sz="1200" b="0" i="0" u="none">
                <a:solidFill>
                  <a:srgbClr val="000000"/>
                </a:solidFill>
                <a:latin typeface="Times New Roman"/>
                <a:ea typeface="Times New Roman"/>
                <a:cs typeface="Times New Roman"/>
              </a:rPr>
              <a:t>This ability to represent nested data is one of the reasons JSON works so well with document databases.</a:t>
            </a:r>
            <a:endParaRPr/>
          </a:p>
          <a:p>
            <a:pPr>
              <a:defRPr/>
            </a:pPr>
            <a:endParaRPr/>
          </a:p>
          <a:p>
            <a:pPr>
              <a:defRPr/>
            </a:pPr>
            <a:r>
              <a:rPr sz="1200" b="1" i="0" u="none">
                <a:solidFill>
                  <a:srgbClr val="000000"/>
                </a:solidFill>
                <a:latin typeface="Times New Roman"/>
                <a:ea typeface="Times New Roman"/>
                <a:cs typeface="Times New Roman"/>
              </a:rPr>
              <a:t>Real Example</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A student document may contain a nested list of courses, where each course itself is represented as an object.</a:t>
            </a:r>
            <a:endParaRPr/>
          </a:p>
          <a:p>
            <a:pPr>
              <a:defRPr/>
            </a:pPr>
            <a:endParaRPr/>
          </a:p>
          <a:p>
            <a:pPr>
              <a:defRPr/>
            </a:pPr>
            <a:r>
              <a:rPr sz="1200" b="1" i="0" u="none">
                <a:solidFill>
                  <a:srgbClr val="000000"/>
                </a:solidFill>
                <a:latin typeface="Times New Roman"/>
                <a:ea typeface="Times New Roman"/>
                <a:cs typeface="Times New Roman"/>
              </a:rPr>
              <a:t>Key Takeaway</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JSON supports </a:t>
            </a:r>
            <a:r>
              <a:rPr sz="1200" b="1" i="0" u="none">
                <a:solidFill>
                  <a:srgbClr val="000000"/>
                </a:solidFill>
                <a:latin typeface="Times New Roman"/>
                <a:ea typeface="Times New Roman"/>
                <a:cs typeface="Times New Roman"/>
              </a:rPr>
              <a:t>nested structures</a:t>
            </a:r>
            <a:r>
              <a:rPr sz="1200" b="0" i="0" u="none">
                <a:solidFill>
                  <a:srgbClr val="000000"/>
                </a:solidFill>
                <a:latin typeface="Times New Roman"/>
                <a:ea typeface="Times New Roman"/>
                <a:cs typeface="Times New Roman"/>
              </a:rPr>
              <a:t>, allowing complex real-world entities to be represented in a natural hierarchical format.</a:t>
            </a:r>
            <a:endParaRPr lang="en-US"/>
          </a:p>
          <a:p>
            <a:pPr>
              <a:defRPr/>
            </a:pPr>
            <a:endParaRPr lang="en-US"/>
          </a:p>
          <a:p>
            <a:pPr>
              <a:defRPr/>
            </a:pPr>
            <a:r>
              <a:rPr lang="en-US"/>
              <a:t>JSON has a strict but extremely simple syntax with only a handful of rules.</a:t>
            </a:r>
            <a:br>
              <a:rPr lang="en-US"/>
            </a:br>
            <a:r>
              <a:rPr lang="en-US"/>
              <a:t>Everything revolves around the key-value pair: a name followed by a colon followed by a value. Multiple pairs are separated by commas.</a:t>
            </a:r>
            <a:br>
              <a:rPr lang="en-US"/>
            </a:br>
            <a:r>
              <a:rPr lang="en-US"/>
              <a:t>The power of JSON comes from nesting: you can put any value type inside any other, creating hierarchies that match the real complexity of your data.</a:t>
            </a:r>
            <a:br>
              <a:rPr lang="en-US"/>
            </a:br>
            <a:r>
              <a:rPr lang="en-US"/>
              <a:t>In real projects, this simple structure is expressive enough to represent any data model from a simple user profile to a complex e-commerce order with nested line items and shipping addresses.</a:t>
            </a:r>
            <a:br>
              <a:rPr lang="en-US"/>
            </a:br>
            <a:r>
              <a:rPr lang="en-US"/>
              <a:t>Question</a:t>
            </a:r>
            <a:br>
              <a:rPr lang="en-US"/>
            </a:br>
            <a:r>
              <a:rPr lang="en-US"/>
              <a:t>What is the one structural difference between a JSON object and a JSON array?</a:t>
            </a:r>
            <a:br>
              <a:rPr lang="en-US"/>
            </a:br>
            <a:r>
              <a:rPr lang="en-US"/>
              <a:t>Answer</a:t>
            </a:r>
            <a:br>
              <a:rPr lang="en-US"/>
            </a:br>
            <a:r>
              <a:rPr lang="en-US"/>
              <a:t>An object uses curly braces { } and contains named key-value pairs. An array uses square brackets [ ] and contains an ordered list of values with no keys.</a:t>
            </a:r>
            <a:endParaRPr lang="en-US"/>
          </a:p>
        </p:txBody>
      </p:sp>
      <p:sp>
        <p:nvSpPr>
          <p:cNvPr id="594678930"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6745225" name="Slide Image Placeholder 1"/>
          <p:cNvSpPr>
            <a:spLocks noChangeAspect="1" noGrp="1" noRot="1"/>
          </p:cNvSpPr>
          <p:nvPr>
            <p:ph type="sldImg"/>
          </p:nvPr>
        </p:nvSpPr>
        <p:spPr bwMode="auto"/>
      </p:sp>
      <p:sp>
        <p:nvSpPr>
          <p:cNvPr id="708083669"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JSON supports several fundamental data types that allow it to represent different kinds of information.</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string</a:t>
            </a:r>
            <a:r>
              <a:rPr sz="1200" b="0" i="0" u="none">
                <a:solidFill>
                  <a:srgbClr val="000000"/>
                </a:solidFill>
                <a:latin typeface="Times New Roman"/>
                <a:ea typeface="Times New Roman"/>
                <a:cs typeface="Times New Roman"/>
              </a:rPr>
              <a:t> type represents text values and must always be enclosed in double quotes.</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number</a:t>
            </a:r>
            <a:r>
              <a:rPr sz="1200" b="0" i="0" u="none">
                <a:solidFill>
                  <a:srgbClr val="000000"/>
                </a:solidFill>
                <a:latin typeface="Times New Roman"/>
                <a:ea typeface="Times New Roman"/>
                <a:cs typeface="Times New Roman"/>
              </a:rPr>
              <a:t> type represents numeric values, which may be integers or floating-point numbers.</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boolean</a:t>
            </a:r>
            <a:r>
              <a:rPr sz="1200" b="0" i="0" u="none">
                <a:solidFill>
                  <a:srgbClr val="000000"/>
                </a:solidFill>
                <a:latin typeface="Times New Roman"/>
                <a:ea typeface="Times New Roman"/>
                <a:cs typeface="Times New Roman"/>
              </a:rPr>
              <a:t> type represents logical values and can be either true or false.</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null</a:t>
            </a:r>
            <a:r>
              <a:rPr sz="1200" b="0" i="0" u="none">
                <a:solidFill>
                  <a:srgbClr val="000000"/>
                </a:solidFill>
                <a:latin typeface="Times New Roman"/>
                <a:ea typeface="Times New Roman"/>
                <a:cs typeface="Times New Roman"/>
              </a:rPr>
              <a:t> value represents the absence of a value.</a:t>
            </a:r>
            <a:endParaRPr/>
          </a:p>
          <a:p>
            <a:pPr>
              <a:defRPr/>
            </a:pPr>
            <a:r>
              <a:rPr sz="1200" b="0" i="0" u="none">
                <a:solidFill>
                  <a:srgbClr val="000000"/>
                </a:solidFill>
                <a:latin typeface="Times New Roman"/>
                <a:ea typeface="Times New Roman"/>
                <a:cs typeface="Times New Roman"/>
              </a:rPr>
              <a:t>JSON also supports composite data types such as </a:t>
            </a:r>
            <a:r>
              <a:rPr sz="1200" b="1" i="0" u="none">
                <a:solidFill>
                  <a:srgbClr val="000000"/>
                </a:solidFill>
                <a:latin typeface="Times New Roman"/>
                <a:ea typeface="Times New Roman"/>
                <a:cs typeface="Times New Roman"/>
              </a:rPr>
              <a:t>arrays and objects</a:t>
            </a:r>
            <a:r>
              <a:rPr sz="1200" b="0" i="0" u="none">
                <a:solidFill>
                  <a:srgbClr val="000000"/>
                </a:solidFill>
                <a:latin typeface="Times New Roman"/>
                <a:ea typeface="Times New Roman"/>
                <a:cs typeface="Times New Roman"/>
              </a:rPr>
              <a:t>, which allow complex data structures to be constructed.</a:t>
            </a:r>
            <a:endParaRPr/>
          </a:p>
          <a:p>
            <a:pPr>
              <a:defRPr/>
            </a:pPr>
            <a:r>
              <a:rPr sz="1200" b="0" i="0" u="none">
                <a:solidFill>
                  <a:srgbClr val="000000"/>
                </a:solidFill>
                <a:latin typeface="Times New Roman"/>
                <a:ea typeface="Times New Roman"/>
                <a:cs typeface="Times New Roman"/>
              </a:rPr>
              <a:t>These data types provide enough flexibility to represent almost any type of application data.</a:t>
            </a:r>
            <a:endParaRPr/>
          </a:p>
          <a:p>
            <a:pPr>
              <a:defRPr/>
            </a:pPr>
            <a:endParaRPr/>
          </a:p>
          <a:p>
            <a:pPr>
              <a:defRPr/>
            </a:pPr>
            <a:r>
              <a:rPr sz="1200" b="1" i="0" u="none">
                <a:solidFill>
                  <a:srgbClr val="000000"/>
                </a:solidFill>
                <a:latin typeface="Times New Roman"/>
                <a:ea typeface="Times New Roman"/>
                <a:cs typeface="Times New Roman"/>
              </a:rPr>
              <a:t>Key Takeaway</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JSON includes </a:t>
            </a:r>
            <a:r>
              <a:rPr sz="1200" b="1" i="0" u="none">
                <a:solidFill>
                  <a:srgbClr val="000000"/>
                </a:solidFill>
                <a:latin typeface="Times New Roman"/>
                <a:ea typeface="Times New Roman"/>
                <a:cs typeface="Times New Roman"/>
              </a:rPr>
              <a:t>primitive data types and composite structures</a:t>
            </a:r>
            <a:r>
              <a:rPr sz="1200" b="0" i="0" u="none">
                <a:solidFill>
                  <a:srgbClr val="000000"/>
                </a:solidFill>
                <a:latin typeface="Times New Roman"/>
                <a:ea typeface="Times New Roman"/>
                <a:cs typeface="Times New Roman"/>
              </a:rPr>
              <a:t>, enabling flexible representation of structured data.</a:t>
            </a:r>
            <a:endParaRPr lang="en-US"/>
          </a:p>
          <a:p>
            <a:pPr>
              <a:defRPr/>
            </a:pPr>
            <a:endParaRPr lang="en-US"/>
          </a:p>
          <a:p>
            <a:pPr>
              <a:defRPr/>
            </a:pPr>
            <a:endParaRPr lang="en-US"/>
          </a:p>
          <a:p>
            <a:pPr>
              <a:defRPr/>
            </a:pPr>
            <a:r>
              <a:rPr lang="en-US"/>
              <a:t>JSON supports the fundamental types used in all programming languages.</a:t>
            </a:r>
            <a:br>
              <a:rPr lang="en-US"/>
            </a:br>
            <a:r>
              <a:rPr lang="en-US"/>
              <a:t>Unlike SQL column types (VARCHAR, INT, FLOAT), JSON types are flexible: a number field can hold 8.5 or 8500 or 0 without changing the schema.</a:t>
            </a:r>
            <a:br>
              <a:rPr lang="en-US"/>
            </a:br>
            <a:r>
              <a:rPr lang="en-US"/>
              <a:t>The null type explicitly signals that a field is intentionally absent or unknown, which is semantically different from a field being missing entirely — a distinction that matters in schema versioning.</a:t>
            </a:r>
            <a:br>
              <a:rPr lang="en-US"/>
            </a:br>
            <a:r>
              <a:rPr lang="en-US"/>
              <a:t>In real projects, you must validate these types at the API boundary. If a form submits age as the string '23' instead of the number 23, the database will accept it but arithmetic operations on that field will fail silently.</a:t>
            </a:r>
            <a:br>
              <a:rPr lang="en-US"/>
            </a:br>
            <a:r>
              <a:rPr lang="en-US"/>
              <a:t>Question</a:t>
            </a:r>
            <a:br>
              <a:rPr lang="en-US"/>
            </a:br>
            <a:r>
              <a:rPr lang="en-US"/>
              <a:t>Does pure JSON have a native Date type?</a:t>
            </a:r>
            <a:br>
              <a:rPr lang="en-US"/>
            </a:br>
            <a:r>
              <a:rPr lang="en-US"/>
              <a:t>Answer</a:t>
            </a:r>
            <a:br>
              <a:rPr lang="en-US"/>
            </a:br>
            <a:r>
              <a:rPr lang="en-US"/>
              <a:t>No. Dates are stored as ISO 8601 strings ('2025-09-01T09:00:00Z') or as Unix timestamps (a number). The application code is responsible for parsing them into proper date objects.</a:t>
            </a:r>
            <a:endParaRPr lang="en-US"/>
          </a:p>
        </p:txBody>
      </p:sp>
      <p:sp>
        <p:nvSpPr>
          <p:cNvPr id="1881079217"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6028590" name="Slide Image Placeholder 1"/>
          <p:cNvSpPr>
            <a:spLocks noChangeAspect="1" noGrp="1" noRot="1"/>
          </p:cNvSpPr>
          <p:nvPr>
            <p:ph type="sldImg"/>
          </p:nvPr>
        </p:nvSpPr>
        <p:spPr bwMode="auto"/>
      </p:sp>
      <p:sp>
        <p:nvSpPr>
          <p:cNvPr id="139616443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One of the most powerful features of JSON is the ability to create </a:t>
            </a:r>
            <a:r>
              <a:rPr sz="1200" b="1" i="0" u="none">
                <a:solidFill>
                  <a:srgbClr val="000000"/>
                </a:solidFill>
                <a:latin typeface="Times New Roman"/>
                <a:ea typeface="Times New Roman"/>
                <a:cs typeface="Times New Roman"/>
              </a:rPr>
              <a:t>nested structures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a nested structure, objects may contain other objects, and arrays may contain objects as elements. This allows developers to model real-world hierarchical relationships directly within a single document.</a:t>
            </a:r>
            <a:endParaRPr/>
          </a:p>
          <a:p>
            <a:pPr>
              <a:defRPr/>
            </a:pPr>
            <a:r>
              <a:rPr sz="1200" b="0" i="0" u="none">
                <a:solidFill>
                  <a:srgbClr val="000000"/>
                </a:solidFill>
                <a:latin typeface="Times New Roman"/>
                <a:ea typeface="Times New Roman"/>
                <a:cs typeface="Times New Roman"/>
              </a:rPr>
              <a:t>In relational databases, these relationships would typically require multiple tables and foreign keys. In document databases, nested structures allow the same information to be stored together in one place.</a:t>
            </a:r>
            <a:endParaRPr/>
          </a:p>
          <a:p>
            <a:pPr>
              <a:defRPr/>
            </a:pPr>
            <a:r>
              <a:rPr sz="1200" b="0" i="0" u="none">
                <a:solidFill>
                  <a:srgbClr val="000000"/>
                </a:solidFill>
                <a:latin typeface="Times New Roman"/>
                <a:ea typeface="Times New Roman"/>
                <a:cs typeface="Times New Roman"/>
              </a:rPr>
              <a:t>This approach improves performance because retrieving the document returns the entire hierarchy at once.</a:t>
            </a:r>
            <a:endParaRPr/>
          </a:p>
          <a:p>
            <a:pPr>
              <a:defRPr/>
            </a:pPr>
            <a:endParaRPr/>
          </a:p>
          <a:p>
            <a:pPr>
              <a:defRPr/>
            </a:pPr>
            <a:r>
              <a:rPr sz="1200" b="1" i="0" u="none">
                <a:solidFill>
                  <a:srgbClr val="000000"/>
                </a:solidFill>
                <a:latin typeface="Times New Roman"/>
                <a:ea typeface="Times New Roman"/>
                <a:cs typeface="Times New Roman"/>
              </a:rPr>
              <a:t>Real Example</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A student document may contain a list of courses, where each course contains fields such as name, instructor, and grade.</a:t>
            </a:r>
            <a:endParaRPr sz="1200" b="0" i="0" u="none">
              <a:solidFill>
                <a:srgbClr val="000000"/>
              </a:solidFill>
              <a:latin typeface="Times New Roman"/>
              <a:ea typeface="Times New Roman"/>
              <a:cs typeface="Times New Roman"/>
            </a:endParaRPr>
          </a:p>
          <a:p>
            <a:pPr>
              <a:defRPr/>
            </a:pPr>
            <a:endParaRPr/>
          </a:p>
          <a:p>
            <a:pPr>
              <a:defRPr/>
            </a:pPr>
            <a:r>
              <a:rPr sz="1200" b="1" i="0" u="none">
                <a:solidFill>
                  <a:srgbClr val="000000"/>
                </a:solidFill>
                <a:latin typeface="Times New Roman"/>
                <a:ea typeface="Times New Roman"/>
                <a:cs typeface="Times New Roman"/>
              </a:rPr>
              <a:t>Key Takeaway</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Nested JSON structures allow </a:t>
            </a:r>
            <a:r>
              <a:rPr sz="1200" b="1" i="0" u="none">
                <a:solidFill>
                  <a:srgbClr val="000000"/>
                </a:solidFill>
                <a:latin typeface="Times New Roman"/>
                <a:ea typeface="Times New Roman"/>
                <a:cs typeface="Times New Roman"/>
              </a:rPr>
              <a:t>hierarchical data modeling without JOIN operations</a:t>
            </a:r>
            <a:r>
              <a:rPr sz="1200" b="0" i="0" u="none">
                <a:solidFill>
                  <a:srgbClr val="000000"/>
                </a:solidFill>
                <a:latin typeface="Times New Roman"/>
                <a:ea typeface="Times New Roman"/>
                <a:cs typeface="Times New Roman"/>
              </a:rPr>
              <a:t>.</a:t>
            </a:r>
            <a:endParaRPr lang="en-US"/>
          </a:p>
          <a:p>
            <a:pPr>
              <a:defRPr/>
            </a:pPr>
            <a:endParaRPr lang="en-US"/>
          </a:p>
          <a:p>
            <a:pPr>
              <a:defRPr/>
            </a:pPr>
            <a:r>
              <a:rPr lang="en-US"/>
              <a:t>Nesting is the most powerful and distinctive feature of JSON and document databases.</a:t>
            </a:r>
            <a:br>
              <a:rPr lang="en-US"/>
            </a:br>
            <a:r>
              <a:rPr lang="en-US"/>
              <a:t>Instead of referencing another table with a foreign key, you put the related data directly inside the parent document. An order document contains an embedded array of line items, each of which contains a nested product reference.</a:t>
            </a:r>
            <a:br>
              <a:rPr lang="en-US"/>
            </a:br>
            <a:r>
              <a:rPr lang="en-US"/>
              <a:t>This mirrors how we naturally describe data in conversation: a student has a name and a list of courses, each course has a name and a grade.</a:t>
            </a:r>
            <a:br>
              <a:rPr lang="en-US"/>
            </a:br>
            <a:r>
              <a:rPr lang="en-US"/>
              <a:t>In real projects, nesting eliminates the most expensive part of relational queries — the JOIN operation — which can consume up to 80 percent of query execution time on complex queries.</a:t>
            </a:r>
            <a:br>
              <a:rPr lang="en-US"/>
            </a:br>
            <a:r>
              <a:rPr lang="en-US"/>
              <a:t>Question</a:t>
            </a:r>
            <a:br>
              <a:rPr lang="en-US"/>
            </a:br>
            <a:r>
              <a:rPr lang="en-US"/>
              <a:t>When should you NOT nest data and instead reference it with an ID?</a:t>
            </a:r>
            <a:br>
              <a:rPr lang="en-US"/>
            </a:br>
            <a:r>
              <a:rPr lang="en-US"/>
              <a:t>Answer</a:t>
            </a:r>
            <a:br>
              <a:rPr lang="en-US"/>
            </a:br>
            <a:r>
              <a:rPr lang="en-US"/>
              <a:t>When the nested data grows without bound, when it is shared across many parent documents, or when you frequently need to query the nested data independently of the parent.</a:t>
            </a:r>
            <a:endParaRPr lang="en-US"/>
          </a:p>
        </p:txBody>
      </p:sp>
      <p:sp>
        <p:nvSpPr>
          <p:cNvPr id="416256784"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9040083" name="Slide Image Placeholder 1"/>
          <p:cNvSpPr>
            <a:spLocks noChangeAspect="1" noGrp="1" noRot="1"/>
          </p:cNvSpPr>
          <p:nvPr>
            <p:ph type="sldImg"/>
          </p:nvPr>
        </p:nvSpPr>
        <p:spPr bwMode="auto"/>
      </p:sp>
      <p:sp>
        <p:nvSpPr>
          <p:cNvPr id="1813059361"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 simple document resembles a traditional database row, containing only basic fields such as ID, name, and email.</a:t>
            </a:r>
            <a:endParaRPr/>
          </a:p>
          <a:p>
            <a:pPr>
              <a:defRPr/>
            </a:pPr>
            <a:r>
              <a:rPr sz="1200" b="0" i="0" u="none">
                <a:solidFill>
                  <a:srgbClr val="000000"/>
                </a:solidFill>
                <a:latin typeface="Times New Roman"/>
                <a:ea typeface="Times New Roman"/>
                <a:cs typeface="Times New Roman"/>
              </a:rPr>
              <a:t>A nested document, on the other hand, contains embedded structures such as arrays of objects.</a:t>
            </a:r>
            <a:endParaRPr/>
          </a:p>
          <a:p>
            <a:pPr>
              <a:defRPr/>
            </a:pPr>
            <a:r>
              <a:rPr sz="1200" b="0" i="0" u="none">
                <a:solidFill>
                  <a:srgbClr val="000000"/>
                </a:solidFill>
                <a:latin typeface="Times New Roman"/>
                <a:ea typeface="Times New Roman"/>
                <a:cs typeface="Times New Roman"/>
              </a:rPr>
              <a:t>The nested document approach allows related data to be stored together inside the same document.</a:t>
            </a:r>
            <a:endParaRPr/>
          </a:p>
          <a:p>
            <a:pPr>
              <a:defRPr/>
            </a:pPr>
            <a:r>
              <a:rPr sz="1200" b="0" i="0" u="none">
                <a:solidFill>
                  <a:srgbClr val="000000"/>
                </a:solidFill>
                <a:latin typeface="Times New Roman"/>
                <a:ea typeface="Times New Roman"/>
                <a:cs typeface="Times New Roman"/>
              </a:rPr>
              <a:t>This design improves read efficiency because the database can retrieve all related information in a single operation.</a:t>
            </a:r>
            <a:endParaRPr/>
          </a:p>
          <a:p>
            <a:pPr>
              <a:defRPr/>
            </a:pPr>
            <a:endParaRPr/>
          </a:p>
          <a:p>
            <a:pPr>
              <a:defRPr/>
            </a:pPr>
            <a:r>
              <a:rPr sz="1200" b="1" i="0" u="none">
                <a:solidFill>
                  <a:srgbClr val="000000"/>
                </a:solidFill>
                <a:latin typeface="Times New Roman"/>
                <a:ea typeface="Times New Roman"/>
                <a:cs typeface="Times New Roman"/>
              </a:rPr>
              <a:t>Key Takeaway</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Nested documents provide </a:t>
            </a:r>
            <a:r>
              <a:rPr sz="1200" b="1" i="0" u="none">
                <a:solidFill>
                  <a:srgbClr val="000000"/>
                </a:solidFill>
                <a:latin typeface="Times New Roman"/>
                <a:ea typeface="Times New Roman"/>
                <a:cs typeface="Times New Roman"/>
              </a:rPr>
              <a:t>better alignment with real-world data relationships</a:t>
            </a:r>
            <a:r>
              <a:rPr sz="1200" b="0" i="0" u="none">
                <a:solidFill>
                  <a:srgbClr val="000000"/>
                </a:solidFill>
                <a:latin typeface="Times New Roman"/>
                <a:ea typeface="Times New Roman"/>
                <a:cs typeface="Times New Roman"/>
              </a:rPr>
              <a:t> and improve retrieval performance.</a:t>
            </a:r>
            <a:endParaRPr lang="en-US"/>
          </a:p>
          <a:p>
            <a:pPr>
              <a:defRPr/>
            </a:pPr>
            <a:endParaRPr lang="en-US"/>
          </a:p>
          <a:p>
            <a:pPr>
              <a:defRPr/>
            </a:pPr>
            <a:endParaRPr lang="en-US"/>
          </a:p>
          <a:p>
            <a:pPr>
              <a:defRPr/>
            </a:pPr>
            <a:r>
              <a:rPr lang="en-US"/>
              <a:t>These two examples illustrate the practical difference in document design.</a:t>
            </a:r>
            <a:br>
              <a:rPr lang="en-US"/>
            </a:br>
            <a:r>
              <a:rPr lang="en-US"/>
              <a:t>The simple document is flat, like a single row in a relational table. It contains only scalar values.</a:t>
            </a:r>
            <a:br>
              <a:rPr lang="en-US"/>
            </a:br>
            <a:r>
              <a:rPr lang="en-US"/>
              <a:t>The nested document contains an array of course objects embedded directly inside the student. This is the document database way of representing a one-to-many relationship.</a:t>
            </a:r>
            <a:br>
              <a:rPr lang="en-US"/>
            </a:br>
            <a:r>
              <a:rPr lang="en-US"/>
              <a:t>In real projects, when the API requests Maria's profile, the database fetches both her personal information and her course history in the same operation — one disk seek, one network round trip, one complete response.</a:t>
            </a:r>
            <a:br>
              <a:rPr lang="en-US"/>
            </a:br>
            <a:r>
              <a:rPr lang="en-US"/>
              <a:t>Question</a:t>
            </a:r>
            <a:br>
              <a:rPr lang="en-US"/>
            </a:br>
            <a:r>
              <a:rPr lang="en-US"/>
              <a:t>In the nested example, does a separate 'courses' collection need to exist in the database?</a:t>
            </a:r>
            <a:br>
              <a:rPr lang="en-US"/>
            </a:br>
            <a:r>
              <a:rPr lang="en-US"/>
              <a:t>Answer</a:t>
            </a:r>
            <a:br>
              <a:rPr lang="en-US"/>
            </a:br>
            <a:r>
              <a:rPr lang="en-US"/>
              <a:t>No. The courses are embedded directly in the student document because they are exclusively owned by that student. A separate collection would only be needed if courses needed to be accessed and queried independently.</a:t>
            </a:r>
            <a:endParaRPr lang="en-US"/>
          </a:p>
        </p:txBody>
      </p:sp>
      <p:sp>
        <p:nvSpPr>
          <p:cNvPr id="705946938"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6941864" name="Slide Image Placeholder 1"/>
          <p:cNvSpPr>
            <a:spLocks noChangeAspect="1" noGrp="1" noRot="1"/>
          </p:cNvSpPr>
          <p:nvPr>
            <p:ph type="sldImg"/>
          </p:nvPr>
        </p:nvSpPr>
        <p:spPr bwMode="auto"/>
      </p:sp>
      <p:sp>
        <p:nvSpPr>
          <p:cNvPr id="296614732"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While JSON is used as a human-readable format, many document databases internally store documents using </a:t>
            </a:r>
            <a:r>
              <a:rPr sz="1200" b="1" i="0" u="none">
                <a:solidFill>
                  <a:srgbClr val="000000"/>
                </a:solidFill>
                <a:latin typeface="Times New Roman"/>
                <a:ea typeface="Times New Roman"/>
                <a:cs typeface="Times New Roman"/>
              </a:rPr>
              <a:t>BSON (Binary JSON)</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BSON is a binary-encoded format designed to improve storage efficiency and parsing speed.</a:t>
            </a:r>
            <a:endParaRPr/>
          </a:p>
          <a:p>
            <a:pPr>
              <a:defRPr/>
            </a:pPr>
            <a:r>
              <a:rPr sz="1200" b="0" i="0" u="none">
                <a:solidFill>
                  <a:srgbClr val="000000"/>
                </a:solidFill>
                <a:latin typeface="Times New Roman"/>
                <a:ea typeface="Times New Roman"/>
                <a:cs typeface="Times New Roman"/>
              </a:rPr>
              <a:t>Unlike JSON, BSON supports additional data types such as dates, binary data, and object identifiers.</a:t>
            </a:r>
            <a:endParaRPr/>
          </a:p>
          <a:p>
            <a:pPr>
              <a:defRPr/>
            </a:pPr>
            <a:r>
              <a:rPr sz="1200" b="0" i="0" u="none">
                <a:solidFill>
                  <a:srgbClr val="000000"/>
                </a:solidFill>
                <a:latin typeface="Times New Roman"/>
                <a:ea typeface="Times New Roman"/>
                <a:cs typeface="Times New Roman"/>
              </a:rPr>
              <a:t>Because BSON is stored in binary format, it can be parsed more efficiently by the database engine.</a:t>
            </a:r>
            <a:endParaRPr/>
          </a:p>
          <a:p>
            <a:pPr>
              <a:defRPr/>
            </a:pPr>
            <a:r>
              <a:rPr sz="1200" b="0" i="0" u="none">
                <a:solidFill>
                  <a:srgbClr val="000000"/>
                </a:solidFill>
                <a:latin typeface="Times New Roman"/>
                <a:ea typeface="Times New Roman"/>
                <a:cs typeface="Times New Roman"/>
              </a:rPr>
              <a:t>MongoDB uses BSON internally while still allowing developers to interact with documents using JSON-like syntax.</a:t>
            </a:r>
            <a:endParaRPr/>
          </a:p>
          <a:p>
            <a:pPr>
              <a:defRPr/>
            </a:pPr>
            <a:endParaRPr/>
          </a:p>
          <a:p>
            <a:pPr>
              <a:defRPr/>
            </a:pPr>
            <a:r>
              <a:rPr sz="1200" b="1" i="0" u="none">
                <a:solidFill>
                  <a:srgbClr val="000000"/>
                </a:solidFill>
                <a:latin typeface="Times New Roman"/>
                <a:ea typeface="Times New Roman"/>
                <a:cs typeface="Times New Roman"/>
              </a:rPr>
              <a:t>Key Takeaway</a:t>
            </a:r>
            <a:endParaRPr sz="12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BSON extends JSON with additional data types and improved performance for database operations.</a:t>
            </a:r>
            <a:endParaRPr lang="en-US"/>
          </a:p>
          <a:p>
            <a:pPr>
              <a:defRPr/>
            </a:pPr>
            <a:endParaRPr lang="en-US"/>
          </a:p>
          <a:p>
            <a:pPr>
              <a:defRPr/>
            </a:pPr>
            <a:r>
              <a:rPr lang="en-US"/>
              <a:t>While JSON is ideal for API communication, it is inefficient for database storage.</a:t>
            </a:r>
            <a:br>
              <a:rPr lang="en-US"/>
            </a:br>
            <a:r>
              <a:rPr lang="en-US"/>
              <a:t>BSON converts JSON into binary data that the database can parse and search orders of magnitude faster than text. It also adds data types that pure JSON lacks, such as native dates and binary blobs.</a:t>
            </a:r>
            <a:br>
              <a:rPr lang="en-US"/>
            </a:br>
            <a:r>
              <a:rPr lang="en-US"/>
              <a:t>Developers never interact with BSON directly — they write and read JSON. The database transparently converts between them on every read and write.</a:t>
            </a:r>
            <a:br>
              <a:rPr lang="en-US"/>
            </a:br>
            <a:r>
              <a:rPr lang="en-US"/>
              <a:t>In real projects, BSON's addition of the native Date type is critically important because comparing, sorting, and indexing dates stored as BSON dates is dramatically faster than doing the same with date strings.</a:t>
            </a:r>
            <a:br>
              <a:rPr lang="en-US"/>
            </a:br>
            <a:r>
              <a:rPr lang="en-US"/>
              <a:t>Question</a:t>
            </a:r>
            <a:br>
              <a:rPr lang="en-US"/>
            </a:br>
            <a:r>
              <a:rPr lang="en-US"/>
              <a:t>Why don't APIs transmit BSON instead of JSON if BSON is faster to parse?</a:t>
            </a:r>
            <a:br>
              <a:rPr lang="en-US"/>
            </a:br>
            <a:r>
              <a:rPr lang="en-US"/>
              <a:t>Answer</a:t>
            </a:r>
            <a:br>
              <a:rPr lang="en-US"/>
            </a:br>
            <a:r>
              <a:rPr lang="en-US"/>
              <a:t>Because web browsers natively understand JSON and JavaScript can parse it without any library. BSON is a binary format that web browsers cannot process, and it is harder for developers to inspect in network tools. JSON's human-readability is a feature, not a bug, in API communication.</a:t>
            </a:r>
            <a:endParaRPr lang="en-US"/>
          </a:p>
        </p:txBody>
      </p:sp>
      <p:sp>
        <p:nvSpPr>
          <p:cNvPr id="2057434386"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4343293" name="Slide Image Placeholder 1"/>
          <p:cNvSpPr>
            <a:spLocks noChangeAspect="1" noGrp="1" noRot="1"/>
          </p:cNvSpPr>
          <p:nvPr>
            <p:ph type="sldImg"/>
          </p:nvPr>
        </p:nvSpPr>
        <p:spPr bwMode="auto"/>
      </p:sp>
      <p:sp>
        <p:nvSpPr>
          <p:cNvPr id="1515492407"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Several document database systems are widely used in modern applications.</a:t>
            </a:r>
            <a:endParaRPr/>
          </a:p>
          <a:p>
            <a:pPr>
              <a:defRPr/>
            </a:pPr>
            <a:r>
              <a:rPr sz="1200" b="0" i="0" u="none">
                <a:solidFill>
                  <a:srgbClr val="000000"/>
                </a:solidFill>
                <a:latin typeface="Times New Roman"/>
                <a:ea typeface="Times New Roman"/>
                <a:cs typeface="Times New Roman"/>
              </a:rPr>
              <a:t>MongoDB is currently the most popular document database and has a large ecosystem of tools and cloud services.</a:t>
            </a:r>
            <a:endParaRPr/>
          </a:p>
          <a:p>
            <a:pPr>
              <a:defRPr/>
            </a:pPr>
            <a:r>
              <a:rPr sz="1200" b="0" i="0" u="none">
                <a:solidFill>
                  <a:srgbClr val="000000"/>
                </a:solidFill>
                <a:latin typeface="Times New Roman"/>
                <a:ea typeface="Times New Roman"/>
                <a:cs typeface="Times New Roman"/>
              </a:rPr>
              <a:t>CouchDB focuses on distributed replication and offline-first applications.</a:t>
            </a:r>
            <a:endParaRPr/>
          </a:p>
          <a:p>
            <a:pPr>
              <a:defRPr/>
            </a:pPr>
            <a:r>
              <a:rPr sz="1200" b="0" i="0" u="none">
                <a:solidFill>
                  <a:srgbClr val="000000"/>
                </a:solidFill>
                <a:latin typeface="Times New Roman"/>
                <a:ea typeface="Times New Roman"/>
                <a:cs typeface="Times New Roman"/>
              </a:rPr>
              <a:t>RavenDB is designed primarily for enterprise applications, especially in the .NET ecosystem.</a:t>
            </a:r>
            <a:endParaRPr/>
          </a:p>
          <a:p>
            <a:pPr>
              <a:defRPr/>
            </a:pPr>
            <a:r>
              <a:rPr sz="1200" b="0" i="0" u="none">
                <a:solidFill>
                  <a:srgbClr val="000000"/>
                </a:solidFill>
                <a:latin typeface="Times New Roman"/>
                <a:ea typeface="Times New Roman"/>
                <a:cs typeface="Times New Roman"/>
              </a:rPr>
              <a:t>Firebase Firestore is widely used in mobile applications due to its real-time synchronization capabilities.</a:t>
            </a:r>
            <a:endParaRPr/>
          </a:p>
          <a:p>
            <a:pPr>
              <a:defRPr/>
            </a:pPr>
            <a:r>
              <a:rPr sz="1200" b="0" i="0" u="none">
                <a:solidFill>
                  <a:srgbClr val="000000"/>
                </a:solidFill>
                <a:latin typeface="Times New Roman"/>
                <a:ea typeface="Times New Roman"/>
                <a:cs typeface="Times New Roman"/>
              </a:rPr>
              <a:t>Amazon DocumentDB provides a managed document database service compatible with MongoDB APIs.</a:t>
            </a:r>
            <a:endParaRPr/>
          </a:p>
          <a:p>
            <a:pPr>
              <a:defRPr/>
            </a:pPr>
            <a:r>
              <a:rPr sz="1200" b="0" i="0" u="none">
                <a:solidFill>
                  <a:srgbClr val="000000"/>
                </a:solidFill>
                <a:latin typeface="Times New Roman"/>
                <a:ea typeface="Times New Roman"/>
                <a:cs typeface="Times New Roman"/>
              </a:rPr>
              <a:t>Each of these systems supports the document data model but targets different use cases.</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Different document databases provide specialized features depending on application requirements.</a:t>
            </a:r>
            <a:endParaRPr lang="en-US"/>
          </a:p>
          <a:p>
            <a:pPr>
              <a:defRPr/>
            </a:pPr>
            <a:endParaRPr lang="en-US"/>
          </a:p>
          <a:p>
            <a:pPr>
              <a:defRPr/>
            </a:pPr>
            <a:r>
              <a:rPr lang="en-US"/>
              <a:t>Document databases are a category with multiple strong implementations, each with distinct trade-offs.</a:t>
            </a:r>
            <a:br>
              <a:rPr lang="en-US"/>
            </a:br>
            <a:r>
              <a:rPr lang="en-US"/>
              <a:t>MongoDB dominates market share and has the richest tooling ecosystem, making it the default choice for most teams starting fresh.</a:t>
            </a:r>
            <a:br>
              <a:rPr lang="en-US"/>
            </a:br>
            <a:r>
              <a:rPr lang="en-US"/>
              <a:t>CouchDB excels at replication and offline-first scenarios — used in applications that must work without internet access and sync when connectivity returns.</a:t>
            </a:r>
            <a:br>
              <a:rPr lang="en-US"/>
            </a:br>
            <a:r>
              <a:rPr lang="en-US"/>
              <a:t>In real projects, choosing between these databases depends on your team's existing expertise, your cloud provider, compliance requirements, and whether you need real-time data synchronisation.</a:t>
            </a:r>
            <a:br>
              <a:rPr lang="en-US"/>
            </a:br>
            <a:r>
              <a:rPr lang="en-US"/>
              <a:t>Question</a:t>
            </a:r>
            <a:br>
              <a:rPr lang="en-US"/>
            </a:br>
            <a:r>
              <a:rPr lang="en-US"/>
              <a:t>Why might a company choose Firebase Firestore over self-hosted MongoDB?</a:t>
            </a:r>
            <a:br>
              <a:rPr lang="en-US"/>
            </a:br>
            <a:r>
              <a:rPr lang="en-US"/>
              <a:t>Answer</a:t>
            </a:r>
            <a:br>
              <a:rPr lang="en-US"/>
            </a:br>
            <a:r>
              <a:rPr lang="en-US"/>
              <a:t>Firebase Firestore offers real-time updates pushed to all connected clients automatically, built-in authentication, and zero infrastructure management. For mobile apps where real-time sync and rapid development matter more than full query flexibility, it is often the better choice.</a:t>
            </a:r>
            <a:endParaRPr lang="en-US"/>
          </a:p>
        </p:txBody>
      </p:sp>
      <p:sp>
        <p:nvSpPr>
          <p:cNvPr id="103574835"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8815955" name="Slide Image Placeholder 1"/>
          <p:cNvSpPr>
            <a:spLocks noChangeAspect="1" noGrp="1" noRot="1"/>
          </p:cNvSpPr>
          <p:nvPr>
            <p:ph type="sldImg"/>
          </p:nvPr>
        </p:nvSpPr>
        <p:spPr bwMode="auto"/>
      </p:sp>
      <p:sp>
        <p:nvSpPr>
          <p:cNvPr id="453837899"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CouchDB is a </a:t>
            </a:r>
            <a:r>
              <a:rPr sz="1200" b="1" i="0" u="none">
                <a:solidFill>
                  <a:srgbClr val="000000"/>
                </a:solidFill>
                <a:latin typeface="Times New Roman"/>
                <a:ea typeface="Times New Roman"/>
                <a:cs typeface="Times New Roman"/>
              </a:rPr>
              <a:t>document-oriented NoSQL database</a:t>
            </a:r>
            <a:r>
              <a:rPr sz="1200" b="0" i="0" u="none">
                <a:solidFill>
                  <a:srgbClr val="000000"/>
                </a:solidFill>
                <a:latin typeface="Times New Roman"/>
                <a:ea typeface="Times New Roman"/>
                <a:cs typeface="Times New Roman"/>
              </a:rPr>
              <a:t> designed with a strong focus on </a:t>
            </a:r>
            <a:r>
              <a:rPr sz="1200" b="1" i="0" u="none">
                <a:solidFill>
                  <a:srgbClr val="000000"/>
                </a:solidFill>
                <a:latin typeface="Times New Roman"/>
                <a:ea typeface="Times New Roman"/>
                <a:cs typeface="Times New Roman"/>
              </a:rPr>
              <a:t>reliability, distributed operation, and data synchronization across multiple systems</a:t>
            </a:r>
            <a:r>
              <a:rPr sz="1200" b="0" i="0" u="none">
                <a:solidFill>
                  <a:srgbClr val="000000"/>
                </a:solidFill>
                <a:latin typeface="Times New Roman"/>
                <a:ea typeface="Times New Roman"/>
                <a:cs typeface="Times New Roman"/>
              </a:rPr>
              <a:t>. Unlike many traditional databases that focus primarily on centralized storage, CouchDB was built from the beginning to support </a:t>
            </a:r>
            <a:r>
              <a:rPr sz="1200" b="1" i="0" u="none">
                <a:solidFill>
                  <a:srgbClr val="000000"/>
                </a:solidFill>
                <a:latin typeface="Times New Roman"/>
                <a:ea typeface="Times New Roman"/>
                <a:cs typeface="Times New Roman"/>
              </a:rPr>
              <a:t>distributed environments and applications that may operate offline</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CouchDB, all data is stored as </a:t>
            </a:r>
            <a:r>
              <a:rPr sz="1200" b="1" i="0" u="none">
                <a:solidFill>
                  <a:srgbClr val="000000"/>
                </a:solidFill>
                <a:latin typeface="Times New Roman"/>
                <a:ea typeface="Times New Roman"/>
                <a:cs typeface="Times New Roman"/>
              </a:rPr>
              <a:t>JSON documents</a:t>
            </a:r>
            <a:r>
              <a:rPr sz="1200" b="0" i="0" u="none">
                <a:solidFill>
                  <a:srgbClr val="000000"/>
                </a:solidFill>
                <a:latin typeface="Times New Roman"/>
                <a:ea typeface="Times New Roman"/>
                <a:cs typeface="Times New Roman"/>
              </a:rPr>
              <a:t>, and the database itself communicates using </a:t>
            </a:r>
            <a:r>
              <a:rPr sz="1200" b="1" i="0" u="none">
                <a:solidFill>
                  <a:srgbClr val="000000"/>
                </a:solidFill>
                <a:latin typeface="Times New Roman"/>
                <a:ea typeface="Times New Roman"/>
                <a:cs typeface="Times New Roman"/>
              </a:rPr>
              <a:t>HTTP as its native protocol</a:t>
            </a:r>
            <a:r>
              <a:rPr sz="1200" b="0" i="0" u="none">
                <a:solidFill>
                  <a:srgbClr val="000000"/>
                </a:solidFill>
                <a:latin typeface="Times New Roman"/>
                <a:ea typeface="Times New Roman"/>
                <a:cs typeface="Times New Roman"/>
              </a:rPr>
              <a:t>. This means that interacting with CouchDB does not require specialized database drivers. Instead, applications can interact with the database using simple HTTP requests such as GET, POST, PUT, and DELETE. In practice, this makes CouchDB behave similarly to a web service.</a:t>
            </a:r>
            <a:endParaRPr/>
          </a:p>
          <a:p>
            <a:pPr>
              <a:defRPr/>
            </a:pPr>
            <a:r>
              <a:rPr sz="1200" b="0" i="0" u="none">
                <a:solidFill>
                  <a:srgbClr val="000000"/>
                </a:solidFill>
                <a:latin typeface="Times New Roman"/>
                <a:ea typeface="Times New Roman"/>
                <a:cs typeface="Times New Roman"/>
              </a:rPr>
              <a:t>One of the most important ideas behind CouchDB is the concept of </a:t>
            </a:r>
            <a:r>
              <a:rPr sz="1200" b="1" i="0" u="none">
                <a:solidFill>
                  <a:srgbClr val="000000"/>
                </a:solidFill>
                <a:latin typeface="Times New Roman"/>
                <a:ea typeface="Times New Roman"/>
                <a:cs typeface="Times New Roman"/>
              </a:rPr>
              <a:t>offline-first applications</a:t>
            </a:r>
            <a:r>
              <a:rPr sz="1200" b="0" i="0" u="none">
                <a:solidFill>
                  <a:srgbClr val="000000"/>
                </a:solidFill>
                <a:latin typeface="Times New Roman"/>
                <a:ea typeface="Times New Roman"/>
                <a:cs typeface="Times New Roman"/>
              </a:rPr>
              <a:t>. Many modern applications must operate in environments where internet connectivity is not guaranteed. CouchDB allows applications to store data locally and then synchronize that data with a central server once connectivity is restored.</a:t>
            </a:r>
            <a:endParaRPr/>
          </a:p>
          <a:p>
            <a:pPr>
              <a:defRPr/>
            </a:pPr>
            <a:r>
              <a:rPr sz="1200" b="0" i="0" u="none">
                <a:solidFill>
                  <a:srgbClr val="000000"/>
                </a:solidFill>
                <a:latin typeface="Times New Roman"/>
                <a:ea typeface="Times New Roman"/>
                <a:cs typeface="Times New Roman"/>
              </a:rPr>
              <a:t>Because of this capability, CouchDB is often used in applications such as </a:t>
            </a:r>
            <a:r>
              <a:rPr sz="1200" b="1" i="0" u="none">
                <a:solidFill>
                  <a:srgbClr val="000000"/>
                </a:solidFill>
                <a:latin typeface="Times New Roman"/>
                <a:ea typeface="Times New Roman"/>
                <a:cs typeface="Times New Roman"/>
              </a:rPr>
              <a:t>mobile apps, distributed IoT systems, and remote data collection systems</a:t>
            </a:r>
            <a:r>
              <a:rPr sz="1200" b="0" i="0" u="none">
                <a:solidFill>
                  <a:srgbClr val="000000"/>
                </a:solidFill>
                <a:latin typeface="Times New Roman"/>
                <a:ea typeface="Times New Roman"/>
                <a:cs typeface="Times New Roman"/>
              </a:rPr>
              <a:t>, where devices must function independently for periods of time before reconnecting to the network.</a:t>
            </a:r>
            <a:endParaRPr/>
          </a:p>
          <a:p>
            <a:pPr>
              <a:defRPr/>
            </a:pPr>
            <a:endParaRPr/>
          </a:p>
          <a:p>
            <a:pPr>
              <a:defRPr/>
            </a:pPr>
            <a:r>
              <a:rPr sz="1400" b="1" i="0" u="none">
                <a:solidFill>
                  <a:srgbClr val="000000"/>
                </a:solidFill>
                <a:latin typeface="Times New Roman"/>
                <a:ea typeface="Times New Roman"/>
                <a:cs typeface="Times New Roman"/>
              </a:rPr>
              <a:t>Real-world Example</a:t>
            </a:r>
            <a:endParaRPr sz="1400" b="1"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Consider a </a:t>
            </a:r>
            <a:r>
              <a:rPr sz="1200" b="1" i="0" u="none">
                <a:solidFill>
                  <a:srgbClr val="000000"/>
                </a:solidFill>
                <a:latin typeface="Times New Roman"/>
                <a:ea typeface="Times New Roman"/>
                <a:cs typeface="Times New Roman"/>
              </a:rPr>
              <a:t>field data collection application used by environmental researchers</a:t>
            </a:r>
            <a:r>
              <a:rPr sz="1200" b="0" i="0" u="none">
                <a:solidFill>
                  <a:srgbClr val="000000"/>
                </a:solidFill>
                <a:latin typeface="Times New Roman"/>
                <a:ea typeface="Times New Roman"/>
                <a:cs typeface="Times New Roman"/>
              </a:rPr>
              <a:t>. Scientists may collect measurements in remote locations where internet access is unavailable. Their mobile devices store the collected data locally using CouchDB. When they return to an area with connectivity, the local database automatically synchronizes with the central database.</a:t>
            </a:r>
            <a:endParaRPr/>
          </a:p>
          <a:p>
            <a:pPr>
              <a:defRPr/>
            </a:pPr>
            <a:endParaRPr/>
          </a:p>
          <a:p>
            <a:pPr>
              <a:defRPr/>
            </a:pPr>
            <a:r>
              <a:rPr sz="1400" b="1" i="0" u="none">
                <a:solidFill>
                  <a:srgbClr val="000000"/>
                </a:solidFill>
                <a:latin typeface="Times New Roman"/>
                <a:ea typeface="Times New Roman"/>
                <a:cs typeface="Times New Roman"/>
              </a:rPr>
              <a:t>Interview Question</a:t>
            </a:r>
            <a:endParaRPr sz="1400" b="1" i="0" u="none">
              <a:solidFill>
                <a:srgbClr val="000000"/>
              </a:solidFill>
              <a:latin typeface="Times New Roman"/>
              <a:ea typeface="Times New Roman"/>
              <a:cs typeface="Times New Roman"/>
            </a:endParaRPr>
          </a:p>
          <a:p>
            <a:pPr>
              <a:defRPr/>
            </a:pPr>
            <a:r>
              <a:rPr sz="1200" b="1" i="0" u="none">
                <a:solidFill>
                  <a:srgbClr val="000000"/>
                </a:solidFill>
                <a:latin typeface="Times New Roman"/>
                <a:ea typeface="Times New Roman"/>
                <a:cs typeface="Times New Roman"/>
              </a:rPr>
              <a:t>Question:</a:t>
            </a:r>
            <a:r>
              <a:rPr sz="1200" b="0" i="0" u="none">
                <a:solidFill>
                  <a:srgbClr val="000000"/>
                </a:solidFill>
                <a:latin typeface="Times New Roman"/>
                <a:ea typeface="Times New Roman"/>
                <a:cs typeface="Times New Roman"/>
              </a:rPr>
              <a:t> Why is CouchDB considered suitable for distributed systems?</a:t>
            </a:r>
            <a:endParaRPr/>
          </a:p>
          <a:p>
            <a:pPr>
              <a:defRPr/>
            </a:pPr>
            <a:r>
              <a:rPr sz="1200" b="1" i="0" u="none">
                <a:solidFill>
                  <a:srgbClr val="000000"/>
                </a:solidFill>
                <a:latin typeface="Times New Roman"/>
                <a:ea typeface="Times New Roman"/>
                <a:cs typeface="Times New Roman"/>
              </a:rPr>
              <a:t>Answer:</a:t>
            </a:r>
            <a:r>
              <a:rPr sz="1200" b="0" i="0" u="none">
                <a:solidFill>
                  <a:srgbClr val="000000"/>
                </a:solidFill>
                <a:latin typeface="Times New Roman"/>
                <a:ea typeface="Times New Roman"/>
                <a:cs typeface="Times New Roman"/>
              </a:rPr>
              <a:t> Because it supports built-in replication and synchronization between multiple database instances, allowing applications to operate offline and synchronize later.</a:t>
            </a:r>
            <a:endParaRPr/>
          </a:p>
          <a:p>
            <a:pPr>
              <a:defRPr/>
            </a:pPr>
            <a:endParaRPr/>
          </a:p>
          <a:p>
            <a:pPr>
              <a:defRPr/>
            </a:pPr>
            <a:r>
              <a:rPr sz="1400" b="1" i="0" u="none">
                <a:solidFill>
                  <a:srgbClr val="000000"/>
                </a:solidFill>
                <a:latin typeface="Times New Roman"/>
                <a:ea typeface="Times New Roman"/>
                <a:cs typeface="Times New Roman"/>
              </a:rPr>
              <a:t>Key Takeaway</a:t>
            </a:r>
            <a:endParaRPr sz="1400" b="1" i="0" u="none">
              <a:solidFill>
                <a:srgbClr val="000000"/>
              </a:solidFill>
              <a:latin typeface="Times New Roman"/>
              <a:ea typeface="Times New Roman"/>
              <a:cs typeface="Times New Roman"/>
            </a:endParaRPr>
          </a:p>
          <a:p>
            <a:pPr>
              <a:defRPr/>
            </a:pPr>
            <a:r>
              <a:rPr sz="1200" b="1" i="0" u="none">
                <a:solidFill>
                  <a:srgbClr val="000000"/>
                </a:solidFill>
                <a:latin typeface="Times New Roman"/>
                <a:ea typeface="Times New Roman"/>
                <a:cs typeface="Times New Roman"/>
              </a:rPr>
              <a:t>CouchDB is designed for distributed environments and offline-first applications where reliable synchronization between systems is essential.</a:t>
            </a:r>
            <a:endParaRPr lang="en-US"/>
          </a:p>
          <a:p>
            <a:pPr>
              <a:defRPr/>
            </a:pPr>
            <a:endParaRPr lang="en-US"/>
          </a:p>
          <a:p>
            <a:pPr>
              <a:defRPr/>
            </a:pPr>
            <a:r>
              <a:rPr lang="en-US"/>
              <a:t>CouchDB was designed from the ground up as a database that speaks HTTP natively.</a:t>
            </a:r>
            <a:br>
              <a:rPr lang="en-US"/>
            </a:br>
            <a:r>
              <a:rPr lang="en-US"/>
              <a:t>Its HTTP API means you can create a document with a curl command or even a browser — there is no special client library required, which makes it easy to integrate with any language or platform that can make web requests.</a:t>
            </a:r>
            <a:br>
              <a:rPr lang="en-US"/>
            </a:br>
            <a:r>
              <a:rPr lang="en-US"/>
              <a:t>The choice of Erlang as the implementation language is significant: Erlang was built for telecom systems that must handle millions of concurrent connections and never go down. That same fault-tolerance is inherited by CouchDB.</a:t>
            </a:r>
            <a:br>
              <a:rPr lang="en-US"/>
            </a:br>
            <a:r>
              <a:rPr lang="en-US"/>
              <a:t>In real projects, CouchDB is used by the npm registry — the JavaScript package manager that serves billions of package downloads per month — because its built-in replication makes it easy to mirror the registry across data centres worldwide.</a:t>
            </a:r>
            <a:br>
              <a:rPr lang="en-US"/>
            </a:br>
            <a:r>
              <a:rPr lang="en-US"/>
              <a:t>Question</a:t>
            </a:r>
            <a:br>
              <a:rPr lang="en-US"/>
            </a:br>
            <a:r>
              <a:rPr lang="en-US"/>
              <a:t>Why does having an HTTP API instead of a binary protocol make CouchDB easier to integrate into new systems?</a:t>
            </a:r>
            <a:br>
              <a:rPr lang="en-US"/>
            </a:br>
            <a:r>
              <a:rPr lang="en-US"/>
              <a:t>Answer</a:t>
            </a:r>
            <a:br>
              <a:rPr lang="en-US"/>
            </a:br>
            <a:r>
              <a:rPr lang="en-US"/>
              <a:t>Every programming language and every operating system has built-in HTTP support. A binary protocol requires a specific driver for each language. With CouchDB, a bash script using curl, a Python script using requests, or a mobile app can all query the database without installing any additional library.</a:t>
            </a:r>
            <a:endParaRPr lang="en-US"/>
          </a:p>
        </p:txBody>
      </p:sp>
      <p:sp>
        <p:nvSpPr>
          <p:cNvPr id="419662614"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534765" name="Slide Image Placeholder 1"/>
          <p:cNvSpPr>
            <a:spLocks noChangeAspect="1" noGrp="1" noRot="1"/>
          </p:cNvSpPr>
          <p:nvPr>
            <p:ph type="sldImg"/>
          </p:nvPr>
        </p:nvSpPr>
        <p:spPr bwMode="auto"/>
      </p:sp>
      <p:sp>
        <p:nvSpPr>
          <p:cNvPr id="893959694"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 defining feature of </a:t>
            </a:r>
            <a:r>
              <a:rPr sz="1200" b="1" i="0" u="none">
                <a:solidFill>
                  <a:srgbClr val="000000"/>
                </a:solidFill>
                <a:latin typeface="Times New Roman"/>
                <a:ea typeface="Times New Roman"/>
                <a:cs typeface="Times New Roman"/>
              </a:rPr>
              <a:t>Apache CouchDB</a:t>
            </a:r>
            <a:r>
              <a:rPr sz="1200" b="0" i="0" u="none">
                <a:solidFill>
                  <a:srgbClr val="000000"/>
                </a:solidFill>
                <a:latin typeface="Times New Roman"/>
                <a:ea typeface="Times New Roman"/>
                <a:cs typeface="Times New Roman"/>
              </a:rPr>
              <a:t> is its replication mechanism, which allows multiple database instances to synchronize data automatically across distributed environments. Replication in CouchDB is </a:t>
            </a:r>
            <a:r>
              <a:rPr sz="1200" b="1" i="0" u="none">
                <a:solidFill>
                  <a:srgbClr val="000000"/>
                </a:solidFill>
                <a:latin typeface="Times New Roman"/>
                <a:ea typeface="Times New Roman"/>
                <a:cs typeface="Times New Roman"/>
              </a:rPr>
              <a:t>bidirectional</a:t>
            </a:r>
            <a:r>
              <a:rPr sz="1200" b="0" i="0" u="none">
                <a:solidFill>
                  <a:srgbClr val="000000"/>
                </a:solidFill>
                <a:latin typeface="Times New Roman"/>
                <a:ea typeface="Times New Roman"/>
                <a:cs typeface="Times New Roman"/>
              </a:rPr>
              <a:t>, meaning that updates can flow in both directions between databases.</a:t>
            </a:r>
            <a:endParaRPr/>
          </a:p>
          <a:p>
            <a:pPr>
              <a:defRPr/>
            </a:pPr>
            <a:r>
              <a:rPr sz="1200" b="0" i="0" u="none">
                <a:solidFill>
                  <a:srgbClr val="000000"/>
                </a:solidFill>
                <a:latin typeface="Times New Roman"/>
                <a:ea typeface="Times New Roman"/>
                <a:cs typeface="Times New Roman"/>
              </a:rPr>
              <a:t>For example, a local database running on a mobile device can synchronize with a central database hosted on a cloud server. Any updates made locally are eventually transmitted to the server, while updates made on the server propagate back to the device. This design enables applications to operate reliably even in environments with intermittent or unreliable network connectivity.</a:t>
            </a:r>
            <a:endParaRPr/>
          </a:p>
          <a:p>
            <a:pPr>
              <a:defRPr/>
            </a:pPr>
            <a:r>
              <a:rPr sz="1200" b="0" i="0" u="none">
                <a:solidFill>
                  <a:srgbClr val="000000"/>
                </a:solidFill>
                <a:latin typeface="Times New Roman"/>
                <a:ea typeface="Times New Roman"/>
                <a:cs typeface="Times New Roman"/>
              </a:rPr>
              <a:t>CouchDB was designed with an </a:t>
            </a:r>
            <a:r>
              <a:rPr sz="1200" b="1" i="0" u="none">
                <a:solidFill>
                  <a:srgbClr val="000000"/>
                </a:solidFill>
                <a:latin typeface="Times New Roman"/>
                <a:ea typeface="Times New Roman"/>
                <a:cs typeface="Times New Roman"/>
              </a:rPr>
              <a:t>offline-first philosophy</a:t>
            </a:r>
            <a:r>
              <a:rPr sz="1200" b="0" i="0" u="none">
                <a:solidFill>
                  <a:srgbClr val="000000"/>
                </a:solidFill>
                <a:latin typeface="Times New Roman"/>
                <a:ea typeface="Times New Roman"/>
                <a:cs typeface="Times New Roman"/>
              </a:rPr>
              <a:t>. The database can run both on servers and on end-user devices such as laptops, tablets, or mobile phones. When a device is offline, data is written locally without any interruption to the user experience. Once connectivity is restored, the local database automatically synchronizes its changes with other replicas. This synchronization occurs transparently, without requiring manual intervention from developers or users.</a:t>
            </a:r>
            <a:endParaRPr/>
          </a:p>
          <a:p>
            <a:pPr>
              <a:defRPr/>
            </a:pPr>
            <a:r>
              <a:rPr sz="1200" b="0" i="0" u="none">
                <a:solidFill>
                  <a:srgbClr val="000000"/>
                </a:solidFill>
                <a:latin typeface="Times New Roman"/>
                <a:ea typeface="Times New Roman"/>
                <a:cs typeface="Times New Roman"/>
              </a:rPr>
              <a:t>Another important component of CouchDB’s architecture is its use of </a:t>
            </a:r>
            <a:r>
              <a:rPr sz="1200" b="1" i="0" u="none">
                <a:solidFill>
                  <a:srgbClr val="000000"/>
                </a:solidFill>
                <a:latin typeface="Times New Roman"/>
                <a:ea typeface="Times New Roman"/>
                <a:cs typeface="Times New Roman"/>
              </a:rPr>
              <a:t>Multi-Version Concurrency Control (MVCC)</a:t>
            </a:r>
            <a:r>
              <a:rPr sz="1200" b="0" i="0" u="none">
                <a:solidFill>
                  <a:srgbClr val="000000"/>
                </a:solidFill>
                <a:latin typeface="Times New Roman"/>
                <a:ea typeface="Times New Roman"/>
                <a:cs typeface="Times New Roman"/>
              </a:rPr>
              <a:t>. Instead of locking documents during updates, CouchDB creates a </a:t>
            </a:r>
            <a:r>
              <a:rPr sz="1200" b="1" i="0" u="none">
                <a:solidFill>
                  <a:srgbClr val="000000"/>
                </a:solidFill>
                <a:latin typeface="Times New Roman"/>
                <a:ea typeface="Times New Roman"/>
                <a:cs typeface="Times New Roman"/>
              </a:rPr>
              <a:t>new version of a document each time it is modified</a:t>
            </a:r>
            <a:r>
              <a:rPr sz="1200" b="0" i="0" u="none">
                <a:solidFill>
                  <a:srgbClr val="000000"/>
                </a:solidFill>
                <a:latin typeface="Times New Roman"/>
                <a:ea typeface="Times New Roman"/>
                <a:cs typeface="Times New Roman"/>
              </a:rPr>
              <a:t>. This approach ensures that read and write operations do not block each other. Readers always see a consistent snapshot of the database at the moment their query started, while writers can continue updating documents in parallel. As a result, the system can handle high levels of concurrency without the performance bottlenecks associated with traditional locking mechanisms.</a:t>
            </a:r>
            <a:endParaRPr/>
          </a:p>
          <a:p>
            <a:pPr>
              <a:defRPr/>
            </a:pPr>
            <a:r>
              <a:rPr sz="1200" b="0" i="0" u="none">
                <a:solidFill>
                  <a:srgbClr val="000000"/>
                </a:solidFill>
                <a:latin typeface="Times New Roman"/>
                <a:ea typeface="Times New Roman"/>
                <a:cs typeface="Times New Roman"/>
              </a:rPr>
              <a:t>Conflicts may occur when the same document is modified independently in multiple replicas before synchronization occurs. Rather than automatically overwriting one version with another, CouchDB </a:t>
            </a:r>
            <a:r>
              <a:rPr sz="1200" b="1" i="0" u="none">
                <a:solidFill>
                  <a:srgbClr val="000000"/>
                </a:solidFill>
                <a:latin typeface="Times New Roman"/>
                <a:ea typeface="Times New Roman"/>
                <a:cs typeface="Times New Roman"/>
              </a:rPr>
              <a:t>preserves both conflicting versions of the document</a:t>
            </a:r>
            <a:r>
              <a:rPr sz="1200" b="0" i="0" u="none">
                <a:solidFill>
                  <a:srgbClr val="000000"/>
                </a:solidFill>
                <a:latin typeface="Times New Roman"/>
                <a:ea typeface="Times New Roman"/>
                <a:cs typeface="Times New Roman"/>
              </a:rPr>
              <a:t>. The database detects and records the conflict but leaves the resolution decision to the application layer. This design is intentional: the application typically has the necessary business logic to determine which version should prevail or whether the two versions should be merged.</a:t>
            </a:r>
            <a:endParaRPr/>
          </a:p>
          <a:p>
            <a:pPr>
              <a:defRPr/>
            </a:pPr>
            <a:r>
              <a:rPr sz="1200" b="0" i="0" u="none">
                <a:solidFill>
                  <a:srgbClr val="000000"/>
                </a:solidFill>
                <a:latin typeface="Times New Roman"/>
                <a:ea typeface="Times New Roman"/>
                <a:cs typeface="Times New Roman"/>
              </a:rPr>
              <a:t>A practical example of this model can be seen in note-taking applications such as </a:t>
            </a:r>
            <a:r>
              <a:rPr sz="1200" b="1" i="0" u="none">
                <a:solidFill>
                  <a:srgbClr val="000000"/>
                </a:solidFill>
                <a:latin typeface="Times New Roman"/>
                <a:ea typeface="Times New Roman"/>
                <a:cs typeface="Times New Roman"/>
              </a:rPr>
              <a:t>Evernote</a:t>
            </a:r>
            <a:r>
              <a:rPr sz="1200" b="0" i="0" u="none">
                <a:solidFill>
                  <a:srgbClr val="000000"/>
                </a:solidFill>
                <a:latin typeface="Times New Roman"/>
                <a:ea typeface="Times New Roman"/>
                <a:cs typeface="Times New Roman"/>
              </a:rPr>
              <a:t> or </a:t>
            </a:r>
            <a:r>
              <a:rPr sz="1200" b="1" i="0" u="none">
                <a:solidFill>
                  <a:srgbClr val="000000"/>
                </a:solidFill>
                <a:latin typeface="Times New Roman"/>
                <a:ea typeface="Times New Roman"/>
                <a:cs typeface="Times New Roman"/>
              </a:rPr>
              <a:t>Notion</a:t>
            </a:r>
            <a:r>
              <a:rPr sz="1200" b="0" i="0" u="none">
                <a:solidFill>
                  <a:srgbClr val="000000"/>
                </a:solidFill>
                <a:latin typeface="Times New Roman"/>
                <a:ea typeface="Times New Roman"/>
                <a:cs typeface="Times New Roman"/>
              </a:rPr>
              <a:t>, where users may edit the same note across multiple devices. Each device maintains a local copy of the database, allowing the user to work even without internet connectivity. When the devices reconnect, changes are synchronized across all replicas.</a:t>
            </a:r>
            <a:endParaRPr/>
          </a:p>
          <a:p>
            <a:pPr>
              <a:defRPr/>
            </a:pPr>
            <a:r>
              <a:rPr sz="1200" b="0" i="0" u="none">
                <a:solidFill>
                  <a:srgbClr val="000000"/>
                </a:solidFill>
                <a:latin typeface="Times New Roman"/>
                <a:ea typeface="Times New Roman"/>
                <a:cs typeface="Times New Roman"/>
              </a:rPr>
              <a:t>In real-world deployments, CouchDB has been used in applications supporting humanitarian or field operations. For example, international aid organizations deploy data collection applications on mobile devices used by field workers operating in regions with limited or no internet access. Workers collect information locally throughout the day, and once they reach an area with connectivity—such as a town with Wi-Fi—the device automatically synchronizes the collected data with the central server. This approach ensures that critical information is never lost and that the system remains usable even in disconnected environments.</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CouchDB’s architecture combines </a:t>
            </a:r>
            <a:r>
              <a:rPr sz="1200" b="1" i="0" u="none">
                <a:solidFill>
                  <a:srgbClr val="000000"/>
                </a:solidFill>
                <a:latin typeface="Times New Roman"/>
                <a:ea typeface="Times New Roman"/>
                <a:cs typeface="Times New Roman"/>
              </a:rPr>
              <a:t>offline-first replication, MVCC, and application-level conflict resolution</a:t>
            </a:r>
            <a:r>
              <a:rPr sz="1200" b="0" i="0" u="none">
                <a:solidFill>
                  <a:srgbClr val="000000"/>
                </a:solidFill>
                <a:latin typeface="Times New Roman"/>
                <a:ea typeface="Times New Roman"/>
                <a:cs typeface="Times New Roman"/>
              </a:rPr>
              <a:t> to support distributed systems where multiple database instances synchronize data automatically while maintaining high availability and concurrency.</a:t>
            </a:r>
            <a:endParaRPr/>
          </a:p>
          <a:p>
            <a:pPr>
              <a:defRPr/>
            </a:pPr>
            <a:r>
              <a:rPr sz="1200" b="1" i="0" u="none">
                <a:solidFill>
                  <a:srgbClr val="000000"/>
                </a:solidFill>
                <a:latin typeface="Times New Roman"/>
                <a:ea typeface="Times New Roman"/>
                <a:cs typeface="Times New Roman"/>
              </a:rPr>
              <a:t>Interview Question</a:t>
            </a:r>
            <a:endParaRPr/>
          </a:p>
          <a:p>
            <a:pPr>
              <a:defRPr/>
            </a:pPr>
            <a:r>
              <a:rPr sz="1200" b="0" i="0" u="none">
                <a:solidFill>
                  <a:srgbClr val="000000"/>
                </a:solidFill>
                <a:latin typeface="Times New Roman"/>
                <a:ea typeface="Times New Roman"/>
                <a:cs typeface="Times New Roman"/>
              </a:rPr>
              <a:t>What is MVCC and why is it useful in databases that handle simultaneous reads and writes?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Multi-Version Concurrency Control (MVCC) maintains multiple versions of a document or record simultaneously. When a write occurs, the database creates a new version instead of modifying the existing one. Readers access a consistent snapshot of the data that existed when their query began, without waiting for write operations to finish. This eliminates read-write locking conflicts and significantly improves performance in systems with high concurrent workloads.</a:t>
            </a:r>
            <a:endParaRPr/>
          </a:p>
          <a:p>
            <a:pPr>
              <a:defRPr/>
            </a:pPr>
            <a:endParaRPr/>
          </a:p>
        </p:txBody>
      </p:sp>
      <p:sp>
        <p:nvSpPr>
          <p:cNvPr id="44065407"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9266569" name="Slide Image Placeholder 1"/>
          <p:cNvSpPr>
            <a:spLocks noChangeAspect="1" noGrp="1" noRot="1"/>
          </p:cNvSpPr>
          <p:nvPr>
            <p:ph type="sldImg"/>
          </p:nvPr>
        </p:nvSpPr>
        <p:spPr bwMode="auto"/>
      </p:sp>
      <p:sp>
        <p:nvSpPr>
          <p:cNvPr id="947073541" name="Notes Placeholder 2"/>
          <p:cNvSpPr>
            <a:spLocks noGrp="1"/>
          </p:cNvSpPr>
          <p:nvPr>
            <p:ph type="body" idx="1"/>
          </p:nvPr>
        </p:nvSpPr>
        <p:spPr bwMode="auto"/>
        <p:txBody>
          <a:bodyPr/>
          <a:lstStyle/>
          <a:p>
            <a:pPr>
              <a:defRPr/>
            </a:pPr>
            <a:r>
              <a:rPr sz="1200" b="1" i="0" u="none">
                <a:solidFill>
                  <a:srgbClr val="000000"/>
                </a:solidFill>
                <a:latin typeface="Times New Roman"/>
                <a:ea typeface="Times New Roman"/>
                <a:cs typeface="Times New Roman"/>
              </a:rPr>
              <a:t>RavenDB</a:t>
            </a:r>
            <a:r>
              <a:rPr sz="1200" b="0" i="0" u="none">
                <a:solidFill>
                  <a:srgbClr val="000000"/>
                </a:solidFill>
                <a:latin typeface="Times New Roman"/>
                <a:ea typeface="Times New Roman"/>
                <a:cs typeface="Times New Roman"/>
              </a:rPr>
              <a:t> is a document-oriented database designed primarily for enterprise applications. It was created with the goal of making NoSQL databases easier to use for developers, particularly those working in the </a:t>
            </a:r>
            <a:r>
              <a:rPr sz="1200" b="1" i="0" u="none">
                <a:solidFill>
                  <a:srgbClr val="000000"/>
                </a:solidFill>
                <a:latin typeface="Times New Roman"/>
                <a:ea typeface="Times New Roman"/>
                <a:cs typeface="Times New Roman"/>
              </a:rPr>
              <a:t>.NET ecosystem</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Many NoSQL systems require developers to manually configure indexes, tune queries, and manage various database internals before achieving good performance. RavenDB was built to reduce this complexity. One of its most distinctive features is </a:t>
            </a:r>
            <a:r>
              <a:rPr sz="1200" b="1" i="0" u="none">
                <a:solidFill>
                  <a:srgbClr val="000000"/>
                </a:solidFill>
                <a:latin typeface="Times New Roman"/>
                <a:ea typeface="Times New Roman"/>
                <a:cs typeface="Times New Roman"/>
              </a:rPr>
              <a:t>automatic indexing</a:t>
            </a:r>
            <a:r>
              <a:rPr sz="1200" b="0" i="0" u="none">
                <a:solidFill>
                  <a:srgbClr val="000000"/>
                </a:solidFill>
                <a:latin typeface="Times New Roman"/>
                <a:ea typeface="Times New Roman"/>
                <a:cs typeface="Times New Roman"/>
              </a:rPr>
              <a:t>. Instead of requiring developers to explicitly design and maintain database indexes, RavenDB observes query patterns and automatically creates the appropriate indexes to optimize performance. This approach allows developers to focus on application logic rather than low-level database optimization.</a:t>
            </a:r>
            <a:endParaRPr/>
          </a:p>
          <a:p>
            <a:pPr>
              <a:defRPr/>
            </a:pPr>
            <a:r>
              <a:rPr sz="1200" b="0" i="0" u="none">
                <a:solidFill>
                  <a:srgbClr val="000000"/>
                </a:solidFill>
                <a:latin typeface="Times New Roman"/>
                <a:ea typeface="Times New Roman"/>
                <a:cs typeface="Times New Roman"/>
              </a:rPr>
              <a:t>The philosophy behind RavenDB is that developers should be able to build applications quickly without needing deep expertise in database internals such as index structures or query planning. This design philosophy emerged from the frustration that many early NoSQL systems required significant operational knowledge before they could be used effectively in production environments.</a:t>
            </a:r>
            <a:endParaRPr/>
          </a:p>
          <a:p>
            <a:pPr>
              <a:defRPr/>
            </a:pPr>
            <a:r>
              <a:rPr sz="1200" b="0" i="0" u="none">
                <a:solidFill>
                  <a:srgbClr val="000000"/>
                </a:solidFill>
                <a:latin typeface="Times New Roman"/>
                <a:ea typeface="Times New Roman"/>
                <a:cs typeface="Times New Roman"/>
              </a:rPr>
              <a:t>RavenDB integrates particularly well with programming languages used in the Microsoft ecosystem, especially </a:t>
            </a:r>
            <a:r>
              <a:rPr sz="1200" b="1" i="0" u="none">
                <a:solidFill>
                  <a:srgbClr val="000000"/>
                </a:solidFill>
                <a:latin typeface="Times New Roman"/>
                <a:ea typeface="Times New Roman"/>
                <a:cs typeface="Times New Roman"/>
              </a:rPr>
              <a:t>C#</a:t>
            </a:r>
            <a:r>
              <a:rPr sz="1200" b="0" i="0" u="none">
                <a:solidFill>
                  <a:srgbClr val="000000"/>
                </a:solidFill>
                <a:latin typeface="Times New Roman"/>
                <a:ea typeface="Times New Roman"/>
                <a:cs typeface="Times New Roman"/>
              </a:rPr>
              <a:t>. It provides native support for </a:t>
            </a:r>
            <a:r>
              <a:rPr sz="1200" b="1" i="0" u="none">
                <a:solidFill>
                  <a:srgbClr val="000000"/>
                </a:solidFill>
                <a:latin typeface="Times New Roman"/>
                <a:ea typeface="Times New Roman"/>
                <a:cs typeface="Times New Roman"/>
              </a:rPr>
              <a:t>Language Integrated Query (LINQ)</a:t>
            </a:r>
            <a:r>
              <a:rPr sz="1200" b="0" i="0" u="none">
                <a:solidFill>
                  <a:srgbClr val="000000"/>
                </a:solidFill>
                <a:latin typeface="Times New Roman"/>
                <a:ea typeface="Times New Roman"/>
                <a:cs typeface="Times New Roman"/>
              </a:rPr>
              <a:t>, allowing developers to write database queries using standard C# syntax rather than string-based query languages. This tight integration makes RavenDB especially attractive for development teams building enterprise systems on the .NET platform.</a:t>
            </a:r>
            <a:endParaRPr/>
          </a:p>
          <a:p>
            <a:pPr>
              <a:defRPr/>
            </a:pPr>
            <a:r>
              <a:rPr sz="1200" b="0" i="0" u="none">
                <a:solidFill>
                  <a:srgbClr val="000000"/>
                </a:solidFill>
                <a:latin typeface="Times New Roman"/>
                <a:ea typeface="Times New Roman"/>
                <a:cs typeface="Times New Roman"/>
              </a:rPr>
              <a:t>In real-world projects, RavenDB is often used by organizations that develop enterprise software using Microsoft technologies. For example, a company building a large-scale </a:t>
            </a:r>
            <a:r>
              <a:rPr sz="1200" b="1" i="0" u="none">
                <a:solidFill>
                  <a:srgbClr val="000000"/>
                </a:solidFill>
                <a:latin typeface="Times New Roman"/>
                <a:ea typeface="Times New Roman"/>
                <a:cs typeface="Times New Roman"/>
              </a:rPr>
              <a:t>Enterprise Resource Planning (ERP)</a:t>
            </a:r>
            <a:r>
              <a:rPr sz="1200" b="0" i="0" u="none">
                <a:solidFill>
                  <a:srgbClr val="000000"/>
                </a:solidFill>
                <a:latin typeface="Times New Roman"/>
                <a:ea typeface="Times New Roman"/>
                <a:cs typeface="Times New Roman"/>
              </a:rPr>
              <a:t> system in C# and .NET might use RavenDB to store business entities such as customers, invoices, orders, and product information. The document model allows flexible representation of complex business objects, while automatic indexing ensures efficient query performance without extensive database tuning.</a:t>
            </a:r>
            <a:endParaRPr/>
          </a:p>
          <a:p>
            <a:pPr>
              <a:defRPr/>
            </a:pPr>
            <a:r>
              <a:rPr sz="1200" b="0" i="0" u="none">
                <a:solidFill>
                  <a:srgbClr val="000000"/>
                </a:solidFill>
                <a:latin typeface="Times New Roman"/>
                <a:ea typeface="Times New Roman"/>
                <a:cs typeface="Times New Roman"/>
              </a:rPr>
              <a:t>Compared to other document databases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RavenDB adopts a different philosophy regarding index management. In MongoDB, developers are responsible for explicitly creating and maintaining indexes to support application queries. RavenDB, by contrast, assumes that most developers should not need to reason about internal index structures such as B-trees in order to achieve good performance. Instead, the database dynamically generates and maintains indexes based on observed query patterns.</a:t>
            </a:r>
            <a:endParaRPr/>
          </a:p>
          <a:p>
            <a:pPr>
              <a:defRPr/>
            </a:pPr>
            <a:r>
              <a:rPr sz="1200" b="0" i="0" u="none">
                <a:solidFill>
                  <a:srgbClr val="000000"/>
                </a:solidFill>
                <a:latin typeface="Times New Roman"/>
                <a:ea typeface="Times New Roman"/>
                <a:cs typeface="Times New Roman"/>
              </a:rPr>
              <a:t>This developer-focused approach makes RavenDB particularly appealing for enterprise development teams that want the flexibility of a NoSQL document database while maintaining a development experience similar to frameworks such as </a:t>
            </a:r>
            <a:r>
              <a:rPr sz="1200" b="1" i="0" u="none">
                <a:solidFill>
                  <a:srgbClr val="000000"/>
                </a:solidFill>
                <a:latin typeface="Times New Roman"/>
                <a:ea typeface="Times New Roman"/>
                <a:cs typeface="Times New Roman"/>
              </a:rPr>
              <a:t>Entity Framework</a:t>
            </a:r>
            <a:r>
              <a:rPr sz="1200" b="0" i="0" u="none">
                <a:solidFill>
                  <a:srgbClr val="000000"/>
                </a:solidFill>
                <a:latin typeface="Times New Roman"/>
                <a:ea typeface="Times New Roman"/>
                <a:cs typeface="Times New Roman"/>
              </a:rPr>
              <a:t> in the .NET ecosystem.</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RavenDB emphasizes </a:t>
            </a:r>
            <a:r>
              <a:rPr sz="1200" b="1" i="0" u="none">
                <a:solidFill>
                  <a:srgbClr val="000000"/>
                </a:solidFill>
                <a:latin typeface="Times New Roman"/>
                <a:ea typeface="Times New Roman"/>
                <a:cs typeface="Times New Roman"/>
              </a:rPr>
              <a:t>developer productivity and enterprise reliability</a:t>
            </a:r>
            <a:r>
              <a:rPr sz="1200" b="0" i="0" u="none">
                <a:solidFill>
                  <a:srgbClr val="000000"/>
                </a:solidFill>
                <a:latin typeface="Times New Roman"/>
                <a:ea typeface="Times New Roman"/>
                <a:cs typeface="Times New Roman"/>
              </a:rPr>
              <a:t> by combining document-oriented storage with automatic indexing and strong integration with the .NET development environment.</a:t>
            </a:r>
            <a:endParaRPr/>
          </a:p>
          <a:p>
            <a:pPr>
              <a:defRPr/>
            </a:pPr>
            <a:r>
              <a:rPr sz="1200" b="1" i="0" u="none">
                <a:solidFill>
                  <a:srgbClr val="000000"/>
                </a:solidFill>
                <a:latin typeface="Times New Roman"/>
                <a:ea typeface="Times New Roman"/>
                <a:cs typeface="Times New Roman"/>
              </a:rPr>
              <a:t>Interview Question</a:t>
            </a:r>
            <a:endParaRPr/>
          </a:p>
          <a:p>
            <a:pPr>
              <a:defRPr/>
            </a:pPr>
            <a:r>
              <a:rPr sz="1200" b="0" i="0" u="none">
                <a:solidFill>
                  <a:srgbClr val="000000"/>
                </a:solidFill>
                <a:latin typeface="Times New Roman"/>
                <a:ea typeface="Times New Roman"/>
                <a:cs typeface="Times New Roman"/>
              </a:rPr>
              <a:t>What makes RavenDB particularly attractive for enterprise developers?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RavenDB offers strong integration with .NET technologies, especially through native support for C# and LINQ queries. In addition, its automatic indexing system reduces the need for manual database optimization, allowing developers to build applications quickly without extensive knowledge of database internals.</a:t>
            </a:r>
            <a:endParaRPr/>
          </a:p>
          <a:p>
            <a:pPr>
              <a:defRPr/>
            </a:pPr>
            <a:r>
              <a:rPr sz="1200" b="1" i="0" u="none">
                <a:solidFill>
                  <a:srgbClr val="000000"/>
                </a:solidFill>
                <a:latin typeface="Times New Roman"/>
                <a:ea typeface="Times New Roman"/>
                <a:cs typeface="Times New Roman"/>
              </a:rPr>
              <a:t>Additional Interview Question</a:t>
            </a:r>
            <a:endParaRPr/>
          </a:p>
          <a:p>
            <a:pPr>
              <a:defRPr/>
            </a:pPr>
            <a:r>
              <a:rPr sz="1200" b="0" i="0" u="none">
                <a:solidFill>
                  <a:srgbClr val="000000"/>
                </a:solidFill>
                <a:latin typeface="Times New Roman"/>
                <a:ea typeface="Times New Roman"/>
                <a:cs typeface="Times New Roman"/>
              </a:rPr>
              <a:t>What is LINQ and why is first-class LINQ support important for .NET developers?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LINQ (Language Integrated Query) is a C# feature that allows developers to write database queries using native C# syntax with full type checking and IDE support such as autocomplete. Because queries are written as standard C# expressions rather than embedded query strings, many runtime errors—such as syntax mistakes or incorrect field names—are caught during compilation, improving reliability and developer productivity.</a:t>
            </a:r>
            <a:endParaRPr/>
          </a:p>
          <a:p>
            <a:pPr>
              <a:defRPr/>
            </a:pPr>
            <a:endParaRPr/>
          </a:p>
        </p:txBody>
      </p:sp>
      <p:sp>
        <p:nvSpPr>
          <p:cNvPr id="1070182219"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033275" name="Slide Image Placeholder 1"/>
          <p:cNvSpPr>
            <a:spLocks noChangeAspect="1" noGrp="1" noRot="1"/>
          </p:cNvSpPr>
          <p:nvPr>
            <p:ph type="sldImg"/>
          </p:nvPr>
        </p:nvSpPr>
        <p:spPr bwMode="auto"/>
      </p:sp>
      <p:sp>
        <p:nvSpPr>
          <p:cNvPr id="1706125440" name="Notes Placeholder 2"/>
          <p:cNvSpPr>
            <a:spLocks noGrp="1"/>
          </p:cNvSpPr>
          <p:nvPr>
            <p:ph type="body" idx="1"/>
          </p:nvPr>
        </p:nvSpPr>
        <p:spPr bwMode="auto"/>
        <p:txBody>
          <a:bodyPr/>
          <a:lstStyle/>
          <a:p>
            <a:pPr>
              <a:defRPr/>
            </a:pPr>
            <a:r>
              <a:rPr sz="1200" b="1" i="0" u="none">
                <a:solidFill>
                  <a:srgbClr val="000000"/>
                </a:solidFill>
                <a:latin typeface="Times New Roman"/>
                <a:ea typeface="Times New Roman"/>
                <a:cs typeface="Times New Roman"/>
              </a:rPr>
              <a:t>RavenDB</a:t>
            </a:r>
            <a:r>
              <a:rPr sz="1200" b="0" i="0" u="none">
                <a:solidFill>
                  <a:srgbClr val="000000"/>
                </a:solidFill>
                <a:latin typeface="Times New Roman"/>
                <a:ea typeface="Times New Roman"/>
                <a:cs typeface="Times New Roman"/>
              </a:rPr>
              <a:t> includes several advanced features designed to support </a:t>
            </a:r>
            <a:r>
              <a:rPr sz="1200" b="1" i="0" u="none">
                <a:solidFill>
                  <a:srgbClr val="000000"/>
                </a:solidFill>
                <a:latin typeface="Times New Roman"/>
                <a:ea typeface="Times New Roman"/>
                <a:cs typeface="Times New Roman"/>
              </a:rPr>
              <a:t>large-scale enterprise applications</a:t>
            </a:r>
            <a:r>
              <a:rPr sz="1200" b="0" i="0" u="none">
                <a:solidFill>
                  <a:srgbClr val="000000"/>
                </a:solidFill>
                <a:latin typeface="Times New Roman"/>
                <a:ea typeface="Times New Roman"/>
                <a:cs typeface="Times New Roman"/>
              </a:rPr>
              <a:t>. One of its most important capabilities is support for </a:t>
            </a:r>
            <a:r>
              <a:rPr sz="1200" b="1" i="0" u="none">
                <a:solidFill>
                  <a:srgbClr val="000000"/>
                </a:solidFill>
                <a:latin typeface="Times New Roman"/>
                <a:ea typeface="Times New Roman"/>
                <a:cs typeface="Times New Roman"/>
              </a:rPr>
              <a:t>ACID transactions (Atomicity, Consistency, Isolation, Durability)</a:t>
            </a:r>
            <a:r>
              <a:rPr sz="1200" b="0" i="0" u="none">
                <a:solidFill>
                  <a:srgbClr val="000000"/>
                </a:solidFill>
                <a:latin typeface="Times New Roman"/>
                <a:ea typeface="Times New Roman"/>
                <a:cs typeface="Times New Roman"/>
              </a:rPr>
              <a:t> across multiple documents. This ensures that complex operations affecting several documents remain </a:t>
            </a:r>
            <a:r>
              <a:rPr sz="1200" b="1" i="0" u="none">
                <a:solidFill>
                  <a:srgbClr val="000000"/>
                </a:solidFill>
                <a:latin typeface="Times New Roman"/>
                <a:ea typeface="Times New Roman"/>
                <a:cs typeface="Times New Roman"/>
              </a:rPr>
              <a:t>transactionally safe and strongly consistent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Many NoSQL databases prioritize horizontal scalability and eventual consistency, often limiting transactional guarantees to single-document operations. RavenDB takes a different approach by supporting </a:t>
            </a:r>
            <a:r>
              <a:rPr sz="1200" b="1" i="0" u="none">
                <a:solidFill>
                  <a:srgbClr val="000000"/>
                </a:solidFill>
                <a:latin typeface="Times New Roman"/>
                <a:ea typeface="Times New Roman"/>
                <a:cs typeface="Times New Roman"/>
              </a:rPr>
              <a:t>multi-document ACID transactions by default</a:t>
            </a:r>
            <a:r>
              <a:rPr sz="1200" b="0" i="0" u="none">
                <a:solidFill>
                  <a:srgbClr val="000000"/>
                </a:solidFill>
                <a:latin typeface="Times New Roman"/>
                <a:ea typeface="Times New Roman"/>
                <a:cs typeface="Times New Roman"/>
              </a:rPr>
              <a:t>. When developers perform operations within a database session, all changes are committed together or rolled back entirely if an error occurs. This model closely resembles the transactional behavior familiar to developers using frameworks such as </a:t>
            </a:r>
            <a:r>
              <a:rPr sz="1200" b="1" i="0" u="none">
                <a:solidFill>
                  <a:srgbClr val="000000"/>
                </a:solidFill>
                <a:latin typeface="Times New Roman"/>
                <a:ea typeface="Times New Roman"/>
                <a:cs typeface="Times New Roman"/>
              </a:rPr>
              <a:t>Entity Framework</a:t>
            </a:r>
            <a:r>
              <a:rPr sz="1200" b="0" i="0" u="none">
                <a:solidFill>
                  <a:srgbClr val="000000"/>
                </a:solidFill>
                <a:latin typeface="Times New Roman"/>
                <a:ea typeface="Times New Roman"/>
                <a:cs typeface="Times New Roman"/>
              </a:rPr>
              <a:t> in the .NET ecosystem, making the database easier to adopt in enterprise environments.</a:t>
            </a:r>
            <a:endParaRPr/>
          </a:p>
          <a:p>
            <a:pPr>
              <a:defRPr/>
            </a:pPr>
            <a:r>
              <a:rPr sz="1200" b="0" i="0" u="none">
                <a:solidFill>
                  <a:srgbClr val="000000"/>
                </a:solidFill>
                <a:latin typeface="Times New Roman"/>
                <a:ea typeface="Times New Roman"/>
                <a:cs typeface="Times New Roman"/>
              </a:rPr>
              <a:t>Another important capability of RavenDB is its </a:t>
            </a:r>
            <a:r>
              <a:rPr sz="1200" b="1" i="0" u="none">
                <a:solidFill>
                  <a:srgbClr val="000000"/>
                </a:solidFill>
                <a:latin typeface="Times New Roman"/>
                <a:ea typeface="Times New Roman"/>
                <a:cs typeface="Times New Roman"/>
              </a:rPr>
              <a:t>built-in full-text search</a:t>
            </a:r>
            <a:r>
              <a:rPr sz="1200" b="0" i="0" u="none">
                <a:solidFill>
                  <a:srgbClr val="000000"/>
                </a:solidFill>
                <a:latin typeface="Times New Roman"/>
                <a:ea typeface="Times New Roman"/>
                <a:cs typeface="Times New Roman"/>
              </a:rPr>
              <a:t>, powered by the </a:t>
            </a:r>
            <a:r>
              <a:rPr sz="1200" b="1" i="0" u="none">
                <a:solidFill>
                  <a:srgbClr val="000000"/>
                </a:solidFill>
                <a:latin typeface="Times New Roman"/>
                <a:ea typeface="Times New Roman"/>
                <a:cs typeface="Times New Roman"/>
              </a:rPr>
              <a:t>Apache Lucene</a:t>
            </a:r>
            <a:r>
              <a:rPr sz="1200" b="0" i="0" u="none">
                <a:solidFill>
                  <a:srgbClr val="000000"/>
                </a:solidFill>
                <a:latin typeface="Times New Roman"/>
                <a:ea typeface="Times New Roman"/>
                <a:cs typeface="Times New Roman"/>
              </a:rPr>
              <a:t> search engine. Full-text search allows applications to efficiently query large collections of text-based documents, supporting features such as keyword searches, phrase searches, and relevance ranking. Because this capability is integrated directly into the database, development teams do not need to deploy and maintain a separate search platform such as </a:t>
            </a:r>
            <a:r>
              <a:rPr sz="1200" b="1" i="0" u="none">
                <a:solidFill>
                  <a:srgbClr val="000000"/>
                </a:solidFill>
                <a:latin typeface="Times New Roman"/>
                <a:ea typeface="Times New Roman"/>
                <a:cs typeface="Times New Roman"/>
              </a:rPr>
              <a:t>Elasticsearch</a:t>
            </a:r>
            <a:r>
              <a:rPr sz="1200" b="0" i="0" u="none">
                <a:solidFill>
                  <a:srgbClr val="000000"/>
                </a:solidFill>
                <a:latin typeface="Times New Roman"/>
                <a:ea typeface="Times New Roman"/>
                <a:cs typeface="Times New Roman"/>
              </a:rPr>
              <a:t>, reducing operational complexity and infrastructure costs.</a:t>
            </a:r>
            <a:endParaRPr/>
          </a:p>
          <a:p>
            <a:pPr>
              <a:defRPr/>
            </a:pPr>
            <a:r>
              <a:rPr sz="1200" b="0" i="0" u="none">
                <a:solidFill>
                  <a:srgbClr val="000000"/>
                </a:solidFill>
                <a:latin typeface="Times New Roman"/>
                <a:ea typeface="Times New Roman"/>
                <a:cs typeface="Times New Roman"/>
              </a:rPr>
              <a:t>RavenDB also includes </a:t>
            </a:r>
            <a:r>
              <a:rPr sz="1200" b="1" i="0" u="none">
                <a:solidFill>
                  <a:srgbClr val="000000"/>
                </a:solidFill>
                <a:latin typeface="Times New Roman"/>
                <a:ea typeface="Times New Roman"/>
                <a:cs typeface="Times New Roman"/>
              </a:rPr>
              <a:t>automatic indexing</a:t>
            </a:r>
            <a:r>
              <a:rPr sz="1200" b="0" i="0" u="none">
                <a:solidFill>
                  <a:srgbClr val="000000"/>
                </a:solidFill>
                <a:latin typeface="Times New Roman"/>
                <a:ea typeface="Times New Roman"/>
                <a:cs typeface="Times New Roman"/>
              </a:rPr>
              <a:t>, a feature that significantly improves developer productivity. Instead of requiring developers to manually create indexes for every query pattern, RavenDB monitors how queries are executed and automatically generates the appropriate indexes to optimize performance. This approach allows applications to achieve efficient query execution without requiring deep expertise in database internals such as index structures or query optimization.</a:t>
            </a:r>
            <a:endParaRPr/>
          </a:p>
          <a:p>
            <a:pPr>
              <a:defRPr/>
            </a:pPr>
            <a:r>
              <a:rPr sz="1200" b="0" i="0" u="none">
                <a:solidFill>
                  <a:srgbClr val="000000"/>
                </a:solidFill>
                <a:latin typeface="Times New Roman"/>
                <a:ea typeface="Times New Roman"/>
                <a:cs typeface="Times New Roman"/>
              </a:rPr>
              <a:t>Another feature used in real-world systems is </a:t>
            </a:r>
            <a:r>
              <a:rPr sz="1200" b="1" i="0" u="none">
                <a:solidFill>
                  <a:srgbClr val="000000"/>
                </a:solidFill>
                <a:latin typeface="Times New Roman"/>
                <a:ea typeface="Times New Roman"/>
                <a:cs typeface="Times New Roman"/>
              </a:rPr>
              <a:t>subscriptions</a:t>
            </a:r>
            <a:r>
              <a:rPr sz="1200" b="0" i="0" u="none">
                <a:solidFill>
                  <a:srgbClr val="000000"/>
                </a:solidFill>
                <a:latin typeface="Times New Roman"/>
                <a:ea typeface="Times New Roman"/>
                <a:cs typeface="Times New Roman"/>
              </a:rPr>
              <a:t>, which enable applications to react to data changes in real time. When a document is updated, subscribed services automatically receive notifications about the change. This mechanism can be used to build event-driven architectures without relying on inefficient polling mechanisms.</a:t>
            </a:r>
            <a:endParaRPr/>
          </a:p>
          <a:p>
            <a:pPr>
              <a:defRPr/>
            </a:pPr>
            <a:r>
              <a:rPr sz="1200" b="0" i="0" u="none">
                <a:solidFill>
                  <a:srgbClr val="000000"/>
                </a:solidFill>
                <a:latin typeface="Times New Roman"/>
                <a:ea typeface="Times New Roman"/>
                <a:cs typeface="Times New Roman"/>
              </a:rPr>
              <a:t>A practical example can be seen in enterprise content management systems, where thousands or millions of documents must be searchable. RavenDB’s integrated search capabilities allow users to quickly locate documents containing specific words or phrases without relying on an external search engine. In educational platforms, for instance, a subscription mechanism could trigger real-time notifications when a student's grade document is updated, allowing other services to react immediately.</a:t>
            </a:r>
            <a:endParaRPr/>
          </a:p>
          <a:p>
            <a:pPr>
              <a:defRPr/>
            </a:pPr>
            <a:r>
              <a:rPr sz="1200" b="0" i="0" u="none">
                <a:solidFill>
                  <a:srgbClr val="000000"/>
                </a:solidFill>
                <a:latin typeface="Times New Roman"/>
                <a:ea typeface="Times New Roman"/>
                <a:cs typeface="Times New Roman"/>
              </a:rPr>
              <a:t>From a systems perspective, implementing </a:t>
            </a:r>
            <a:r>
              <a:rPr sz="1200" b="1" i="0" u="none">
                <a:solidFill>
                  <a:srgbClr val="000000"/>
                </a:solidFill>
                <a:latin typeface="Times New Roman"/>
                <a:ea typeface="Times New Roman"/>
                <a:cs typeface="Times New Roman"/>
              </a:rPr>
              <a:t>ACID transactions across multiple documents in a distributed database environment is significantly more complex than in traditional single-server relational databases</a:t>
            </a:r>
            <a:r>
              <a:rPr sz="1200" b="0" i="0" u="none">
                <a:solidFill>
                  <a:srgbClr val="000000"/>
                </a:solidFill>
                <a:latin typeface="Times New Roman"/>
                <a:ea typeface="Times New Roman"/>
                <a:cs typeface="Times New Roman"/>
              </a:rPr>
              <a:t>. In distributed systems, documents may be stored on different physical servers. Ensuring that a transaction either commits or rolls back completely requires coordination across multiple nodes, typically using protocols such as </a:t>
            </a:r>
            <a:r>
              <a:rPr sz="1200" b="1" i="0" u="none">
                <a:solidFill>
                  <a:srgbClr val="000000"/>
                </a:solidFill>
                <a:latin typeface="Times New Roman"/>
                <a:ea typeface="Times New Roman"/>
                <a:cs typeface="Times New Roman"/>
              </a:rPr>
              <a:t>two-phase commit</a:t>
            </a:r>
            <a:r>
              <a:rPr sz="1200" b="0" i="0" u="none">
                <a:solidFill>
                  <a:srgbClr val="000000"/>
                </a:solidFill>
                <a:latin typeface="Times New Roman"/>
                <a:ea typeface="Times New Roman"/>
                <a:cs typeface="Times New Roman"/>
              </a:rPr>
              <a:t>. During this process, participating nodes must agree to commit the transaction. If a failure occurs—for example, due to a network interruption—the system must ensure that all nodes roll back the operation to preserve consistency. This requirement introduces additional complexity and latency, which is why many distributed NoSQL systems avoid providing strong transactional guarantees.</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RavenDB provides several enterprise-grade capabilities, including </a:t>
            </a:r>
            <a:r>
              <a:rPr sz="1200" b="1" i="0" u="none">
                <a:solidFill>
                  <a:srgbClr val="000000"/>
                </a:solidFill>
                <a:latin typeface="Times New Roman"/>
                <a:ea typeface="Times New Roman"/>
                <a:cs typeface="Times New Roman"/>
              </a:rPr>
              <a:t>multi-document ACID transactions, built-in full-text search, automatic indexing, and real-time subscription mechanisms</a:t>
            </a:r>
            <a:r>
              <a:rPr sz="1200" b="0" i="0" u="none">
                <a:solidFill>
                  <a:srgbClr val="000000"/>
                </a:solidFill>
                <a:latin typeface="Times New Roman"/>
                <a:ea typeface="Times New Roman"/>
                <a:cs typeface="Times New Roman"/>
              </a:rPr>
              <a:t>, making it particularly suitable for enterprise applications built on the .NET platform.</a:t>
            </a:r>
            <a:endParaRPr/>
          </a:p>
          <a:p>
            <a:pPr>
              <a:defRPr/>
            </a:pPr>
            <a:r>
              <a:rPr sz="1200" b="1" i="0" u="none">
                <a:solidFill>
                  <a:srgbClr val="000000"/>
                </a:solidFill>
                <a:latin typeface="Times New Roman"/>
                <a:ea typeface="Times New Roman"/>
                <a:cs typeface="Times New Roman"/>
              </a:rPr>
              <a:t>Interview Question</a:t>
            </a:r>
            <a:endParaRPr/>
          </a:p>
          <a:p>
            <a:pPr>
              <a:defRPr/>
            </a:pPr>
            <a:r>
              <a:rPr sz="1200" b="0" i="0" u="none">
                <a:solidFill>
                  <a:srgbClr val="000000"/>
                </a:solidFill>
                <a:latin typeface="Times New Roman"/>
                <a:ea typeface="Times New Roman"/>
                <a:cs typeface="Times New Roman"/>
              </a:rPr>
              <a:t>What is the advantage of automatic indexing?</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Automatic indexing allows the database to monitor query patterns and automatically create indexes that optimize performance. This eliminates the need for developers to manually configure indexes while still ensuring efficient query execution.</a:t>
            </a:r>
            <a:endParaRPr/>
          </a:p>
          <a:p>
            <a:pPr>
              <a:defRPr/>
            </a:pPr>
            <a:r>
              <a:rPr sz="1200" b="1" i="0" u="none">
                <a:solidFill>
                  <a:srgbClr val="000000"/>
                </a:solidFill>
                <a:latin typeface="Times New Roman"/>
                <a:ea typeface="Times New Roman"/>
                <a:cs typeface="Times New Roman"/>
              </a:rPr>
              <a:t>Additional Interview Question</a:t>
            </a:r>
            <a:endParaRPr/>
          </a:p>
          <a:p>
            <a:pPr>
              <a:defRPr/>
            </a:pPr>
            <a:r>
              <a:rPr sz="1200" b="0" i="0" u="none">
                <a:solidFill>
                  <a:srgbClr val="000000"/>
                </a:solidFill>
                <a:latin typeface="Times New Roman"/>
                <a:ea typeface="Times New Roman"/>
                <a:cs typeface="Times New Roman"/>
              </a:rPr>
              <a:t>Why is implementing ACID transactions across multiple documents more difficult in distributed document databases than in single-server relational systems?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In distributed systems, data may be stored across multiple physical nodes. Ensuring atomicity across these nodes requires coordination protocols such as two-phase commit, where all participating nodes must agree to commit the transaction. If any node fails during this process, the entire transaction must be rolled back, which introduces additional complexity and latency compared to transactions on a single server.</a:t>
            </a:r>
            <a:endParaRPr/>
          </a:p>
        </p:txBody>
      </p:sp>
      <p:sp>
        <p:nvSpPr>
          <p:cNvPr id="1373825762"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1398621" name="Slide Image Placeholder 1"/>
          <p:cNvSpPr>
            <a:spLocks noChangeAspect="1" noGrp="1" noRot="1"/>
          </p:cNvSpPr>
          <p:nvPr>
            <p:ph type="sldImg"/>
          </p:nvPr>
        </p:nvSpPr>
        <p:spPr bwMode="auto"/>
      </p:sp>
      <p:sp>
        <p:nvSpPr>
          <p:cNvPr id="413065674"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Different document databases are designed with different architectural priorities, and selecting the most appropriate system depends on the specific requirements of the application. There is no universally superior database; instead, the optimal choice depends on factors such as the development environment, scalability requirements, offline capabilities, and real-time synchronization needs.</a:t>
            </a:r>
            <a:endParaRPr/>
          </a:p>
          <a:p>
            <a:pPr>
              <a:defRPr/>
            </a:pP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is currently the most widely used document database and is often considered the default choice for general-purpose applications. Its popularity is largely due to its extensive ecosystem, strong community support, and large volume of learning resources, tutorials, and third-party integrations. Because many developers are already familiar with MongoDB and many frameworks support it directly, it is often the safest starting point when no specific constraints dictate a different solution.</a:t>
            </a:r>
            <a:endParaRPr/>
          </a:p>
          <a:p>
            <a:pPr>
              <a:defRPr/>
            </a:pPr>
            <a:r>
              <a:rPr sz="1200" b="1" i="0" u="none">
                <a:solidFill>
                  <a:srgbClr val="000000"/>
                </a:solidFill>
                <a:latin typeface="Times New Roman"/>
                <a:ea typeface="Times New Roman"/>
                <a:cs typeface="Times New Roman"/>
              </a:rPr>
              <a:t>Apache CouchDB</a:t>
            </a:r>
            <a:r>
              <a:rPr sz="1200" b="0" i="0" u="none">
                <a:solidFill>
                  <a:srgbClr val="000000"/>
                </a:solidFill>
                <a:latin typeface="Times New Roman"/>
                <a:ea typeface="Times New Roman"/>
                <a:cs typeface="Times New Roman"/>
              </a:rPr>
              <a:t>, on the other hand, is particularly well suited for applications that require </a:t>
            </a:r>
            <a:r>
              <a:rPr sz="1200" b="1" i="0" u="none">
                <a:solidFill>
                  <a:srgbClr val="000000"/>
                </a:solidFill>
                <a:latin typeface="Times New Roman"/>
                <a:ea typeface="Times New Roman"/>
                <a:cs typeface="Times New Roman"/>
              </a:rPr>
              <a:t>offline-first functionality and automatic synchronization</a:t>
            </a:r>
            <a:r>
              <a:rPr sz="1200" b="0" i="0" u="none">
                <a:solidFill>
                  <a:srgbClr val="000000"/>
                </a:solidFill>
                <a:latin typeface="Times New Roman"/>
                <a:ea typeface="Times New Roman"/>
                <a:cs typeface="Times New Roman"/>
              </a:rPr>
              <a:t> between devices. CouchDB’s replication model allows distributed databases to synchronize data automatically once connectivity becomes available. This makes it ideal for applications operating in environments with unreliable or intermittent internet connections.</a:t>
            </a:r>
            <a:endParaRPr/>
          </a:p>
          <a:p>
            <a:pPr>
              <a:defRPr/>
            </a:pPr>
            <a:r>
              <a:rPr sz="1200" b="1" i="0" u="none">
                <a:solidFill>
                  <a:srgbClr val="000000"/>
                </a:solidFill>
                <a:latin typeface="Times New Roman"/>
                <a:ea typeface="Times New Roman"/>
                <a:cs typeface="Times New Roman"/>
              </a:rPr>
              <a:t>RavenDB</a:t>
            </a:r>
            <a:r>
              <a:rPr sz="1200" b="0" i="0" u="none">
                <a:solidFill>
                  <a:srgbClr val="000000"/>
                </a:solidFill>
                <a:latin typeface="Times New Roman"/>
                <a:ea typeface="Times New Roman"/>
                <a:cs typeface="Times New Roman"/>
              </a:rPr>
              <a:t> is designed primarily for enterprise systems, especially those built using </a:t>
            </a:r>
            <a:r>
              <a:rPr sz="1200" b="1" i="0" u="none">
                <a:solidFill>
                  <a:srgbClr val="000000"/>
                </a:solidFill>
                <a:latin typeface="Times New Roman"/>
                <a:ea typeface="Times New Roman"/>
                <a:cs typeface="Times New Roman"/>
              </a:rPr>
              <a:t>.NET technologies</a:t>
            </a:r>
            <a:r>
              <a:rPr sz="1200" b="0" i="0" u="none">
                <a:solidFill>
                  <a:srgbClr val="000000"/>
                </a:solidFill>
                <a:latin typeface="Times New Roman"/>
                <a:ea typeface="Times New Roman"/>
                <a:cs typeface="Times New Roman"/>
              </a:rPr>
              <a:t>. Its strong integration with languages such as C# and features such as automatic indexing and multi-document ACID transactions make it attractive for enterprise development teams that want the flexibility of a document database while maintaining a familiar development experience.</a:t>
            </a:r>
            <a:endParaRPr/>
          </a:p>
          <a:p>
            <a:pPr>
              <a:defRPr/>
            </a:pPr>
            <a:r>
              <a:rPr sz="1200" b="0" i="0" u="none">
                <a:solidFill>
                  <a:srgbClr val="000000"/>
                </a:solidFill>
                <a:latin typeface="Times New Roman"/>
                <a:ea typeface="Times New Roman"/>
                <a:cs typeface="Times New Roman"/>
              </a:rPr>
              <a:t>For mobile and real-time applications, </a:t>
            </a:r>
            <a:r>
              <a:rPr sz="1200" b="1" i="0" u="none">
                <a:solidFill>
                  <a:srgbClr val="000000"/>
                </a:solidFill>
                <a:latin typeface="Times New Roman"/>
                <a:ea typeface="Times New Roman"/>
                <a:cs typeface="Times New Roman"/>
              </a:rPr>
              <a:t>Firebase Firestore</a:t>
            </a:r>
            <a:r>
              <a:rPr sz="1200" b="0" i="0" u="none">
                <a:solidFill>
                  <a:srgbClr val="000000"/>
                </a:solidFill>
                <a:latin typeface="Times New Roman"/>
                <a:ea typeface="Times New Roman"/>
                <a:cs typeface="Times New Roman"/>
              </a:rPr>
              <a:t> is frequently chosen because it provides </a:t>
            </a:r>
            <a:r>
              <a:rPr sz="1200" b="1" i="0" u="none">
                <a:solidFill>
                  <a:srgbClr val="000000"/>
                </a:solidFill>
                <a:latin typeface="Times New Roman"/>
                <a:ea typeface="Times New Roman"/>
                <a:cs typeface="Times New Roman"/>
              </a:rPr>
              <a:t>automatic synchronization between devices and real-time data updates</a:t>
            </a:r>
            <a:r>
              <a:rPr sz="1200" b="0" i="0" u="none">
                <a:solidFill>
                  <a:srgbClr val="000000"/>
                </a:solidFill>
                <a:latin typeface="Times New Roman"/>
                <a:ea typeface="Times New Roman"/>
                <a:cs typeface="Times New Roman"/>
              </a:rPr>
              <a:t>. Firestore simplifies the development of applications where users must see data changes instantly across multiple devices.</a:t>
            </a:r>
            <a:endParaRPr/>
          </a:p>
          <a:p>
            <a:pPr>
              <a:defRPr/>
            </a:pPr>
            <a:r>
              <a:rPr sz="1200" b="0" i="0" u="none">
                <a:solidFill>
                  <a:srgbClr val="000000"/>
                </a:solidFill>
                <a:latin typeface="Times New Roman"/>
                <a:ea typeface="Times New Roman"/>
                <a:cs typeface="Times New Roman"/>
              </a:rPr>
              <a:t>In many real-world architectures, organizations combine multiple databases in order to leverage their respective strengths. For example, a system might use MongoDB as the primary backend database for storing application data while using Firebase Firestore to synchronize data in real time with mobile clients. This approach allows each technology to be used where it performs best instead of forcing a single database to handle all responsibilities.</a:t>
            </a:r>
            <a:endParaRPr/>
          </a:p>
          <a:p>
            <a:pPr>
              <a:defRPr/>
            </a:pPr>
            <a:r>
              <a:rPr sz="1200" b="0" i="0" u="none">
                <a:solidFill>
                  <a:srgbClr val="000000"/>
                </a:solidFill>
                <a:latin typeface="Times New Roman"/>
                <a:ea typeface="Times New Roman"/>
                <a:cs typeface="Times New Roman"/>
              </a:rPr>
              <a:t>Another common pattern appears in applications designed for environments with unreliable internet connectivity. In these systems, mobile devices may use </a:t>
            </a:r>
            <a:r>
              <a:rPr sz="1200" b="1" i="0" u="none">
                <a:solidFill>
                  <a:srgbClr val="000000"/>
                </a:solidFill>
                <a:latin typeface="Times New Roman"/>
                <a:ea typeface="Times New Roman"/>
                <a:cs typeface="Times New Roman"/>
              </a:rPr>
              <a:t>PouchDB</a:t>
            </a:r>
            <a:r>
              <a:rPr sz="1200" b="0" i="0" u="none">
                <a:solidFill>
                  <a:srgbClr val="000000"/>
                </a:solidFill>
                <a:latin typeface="Times New Roman"/>
                <a:ea typeface="Times New Roman"/>
                <a:cs typeface="Times New Roman"/>
              </a:rPr>
              <a:t>, a local database designed to synchronize seamlessly with CouchDB. Users can continue working offline, storing data locally on their devices, and once connectivity becomes available the data is automatically synchronized with a central CouchDB server. This architecture has been successfully used in real-world deployments such as health data collection systems used by international humanitarian organizations operating in remote regions.</a:t>
            </a:r>
            <a:endParaRPr/>
          </a:p>
          <a:p>
            <a:pPr>
              <a:defRPr/>
            </a:pPr>
            <a:r>
              <a:rPr sz="1200" b="0" i="0" u="none">
                <a:solidFill>
                  <a:srgbClr val="000000"/>
                </a:solidFill>
                <a:latin typeface="Times New Roman"/>
                <a:ea typeface="Times New Roman"/>
                <a:cs typeface="Times New Roman"/>
              </a:rPr>
              <a:t>For example, a startup building a </a:t>
            </a:r>
            <a:r>
              <a:rPr sz="1200" b="1" i="0" u="none">
                <a:solidFill>
                  <a:srgbClr val="000000"/>
                </a:solidFill>
                <a:latin typeface="Times New Roman"/>
                <a:ea typeface="Times New Roman"/>
                <a:cs typeface="Times New Roman"/>
              </a:rPr>
              <a:t>real-time mobile chat application</a:t>
            </a:r>
            <a:r>
              <a:rPr sz="1200" b="0" i="0" u="none">
                <a:solidFill>
                  <a:srgbClr val="000000"/>
                </a:solidFill>
                <a:latin typeface="Times New Roman"/>
                <a:ea typeface="Times New Roman"/>
                <a:cs typeface="Times New Roman"/>
              </a:rPr>
              <a:t> might select Firebase Firestore because it automatically synchronizes messages across all connected devices. Conversely, a healthcare data collection application deployed in rural regions with unreliable connectivity would benefit from a </a:t>
            </a:r>
            <a:r>
              <a:rPr sz="1200" b="1" i="0" u="none">
                <a:solidFill>
                  <a:srgbClr val="000000"/>
                </a:solidFill>
                <a:latin typeface="Times New Roman"/>
                <a:ea typeface="Times New Roman"/>
                <a:cs typeface="Times New Roman"/>
              </a:rPr>
              <a:t>PouchDB–CouchDB synchronization model</a:t>
            </a:r>
            <a:r>
              <a:rPr sz="1200" b="0" i="0" u="none">
                <a:solidFill>
                  <a:srgbClr val="000000"/>
                </a:solidFill>
                <a:latin typeface="Times New Roman"/>
                <a:ea typeface="Times New Roman"/>
                <a:cs typeface="Times New Roman"/>
              </a:rPr>
              <a:t>, ensuring that data collected offline is safely synchronized once internet access becomes available.</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Different document databases excel in different scenarios. Selecting the appropriate system depends on the </a:t>
            </a:r>
            <a:r>
              <a:rPr sz="1200" b="1" i="0" u="none">
                <a:solidFill>
                  <a:srgbClr val="000000"/>
                </a:solidFill>
                <a:latin typeface="Times New Roman"/>
                <a:ea typeface="Times New Roman"/>
                <a:cs typeface="Times New Roman"/>
              </a:rPr>
              <a:t>application’s operational requirements, development environment, and data synchronization needs</a:t>
            </a:r>
            <a:r>
              <a:rPr sz="1200" b="0" i="0" u="none">
                <a:solidFill>
                  <a:srgbClr val="000000"/>
                </a:solidFill>
                <a:latin typeface="Times New Roman"/>
                <a:ea typeface="Times New Roman"/>
                <a:cs typeface="Times New Roman"/>
              </a:rPr>
              <a:t>, rather than on which database is considered technically superior.</a:t>
            </a:r>
            <a:endParaRPr/>
          </a:p>
          <a:p>
            <a:pPr>
              <a:defRPr/>
            </a:pPr>
            <a:r>
              <a:rPr sz="1200" b="1" i="0" u="none">
                <a:solidFill>
                  <a:srgbClr val="000000"/>
                </a:solidFill>
                <a:latin typeface="Times New Roman"/>
                <a:ea typeface="Times New Roman"/>
                <a:cs typeface="Times New Roman"/>
              </a:rPr>
              <a:t>Interview Question</a:t>
            </a:r>
            <a:endParaRPr/>
          </a:p>
          <a:p>
            <a:pPr>
              <a:defRPr/>
            </a:pPr>
            <a:r>
              <a:rPr sz="1200" b="0" i="0" u="none">
                <a:solidFill>
                  <a:srgbClr val="000000"/>
                </a:solidFill>
                <a:latin typeface="Times New Roman"/>
                <a:ea typeface="Times New Roman"/>
                <a:cs typeface="Times New Roman"/>
              </a:rPr>
              <a:t>A startup is building a health data application for clinics in rural Africa using React Native, where internet connectivity is unreliable. Which database architecture makes the most sense?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A combination of PouchDB on the mobile device and CouchDB on the server is the most appropriate architecture. Data is stored locally on the device using PouchDB while the application operates offline. When connectivity becomes available, PouchDB automatically synchronizes the locally stored data with the central CouchDB server. This offline-first synchronization model is specifically designed for environments with intermittent connectivity and has been successfully used in several real-world humanitarian applications.</a:t>
            </a:r>
            <a:endParaRPr/>
          </a:p>
          <a:p>
            <a:pPr>
              <a:defRPr/>
            </a:pPr>
            <a:endParaRPr/>
          </a:p>
        </p:txBody>
      </p:sp>
      <p:sp>
        <p:nvSpPr>
          <p:cNvPr id="43420740"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6305851" name="Slide Image Placeholder 1"/>
          <p:cNvSpPr>
            <a:spLocks noChangeAspect="1" noGrp="1" noRot="1"/>
          </p:cNvSpPr>
          <p:nvPr>
            <p:ph type="sldImg"/>
          </p:nvPr>
        </p:nvSpPr>
        <p:spPr bwMode="auto"/>
      </p:sp>
      <p:sp>
        <p:nvSpPr>
          <p:cNvPr id="2096921534"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Document databases are designed with the understanding that </a:t>
            </a:r>
            <a:r>
              <a:rPr sz="1200" b="1" i="0" u="none">
                <a:solidFill>
                  <a:srgbClr val="000000"/>
                </a:solidFill>
                <a:latin typeface="Times New Roman"/>
                <a:ea typeface="Times New Roman"/>
                <a:cs typeface="Times New Roman"/>
              </a:rPr>
              <a:t>applications evolve continuously over time</a:t>
            </a:r>
            <a:r>
              <a:rPr sz="1200" b="0" i="0" u="none">
                <a:solidFill>
                  <a:srgbClr val="000000"/>
                </a:solidFill>
                <a:latin typeface="Times New Roman"/>
                <a:ea typeface="Times New Roman"/>
                <a:cs typeface="Times New Roman"/>
              </a:rPr>
              <a:t>. In real production systems, the data model defined at the beginning of a project rarely remains stable. As new features are introduced, business requirements change, and applications grow, the structure of the stored data must also evolve.</a:t>
            </a:r>
            <a:endParaRPr/>
          </a:p>
          <a:p>
            <a:pPr>
              <a:defRPr/>
            </a:pPr>
            <a:r>
              <a:rPr sz="1200" b="0" i="0" u="none">
                <a:solidFill>
                  <a:srgbClr val="000000"/>
                </a:solidFill>
                <a:latin typeface="Times New Roman"/>
                <a:ea typeface="Times New Roman"/>
                <a:cs typeface="Times New Roman"/>
              </a:rPr>
              <a:t>In traditional relational database systems, modifying the schema typically requires </a:t>
            </a:r>
            <a:r>
              <a:rPr sz="1200" b="1" i="0" u="none">
                <a:solidFill>
                  <a:srgbClr val="000000"/>
                </a:solidFill>
                <a:latin typeface="Times New Roman"/>
                <a:ea typeface="Times New Roman"/>
                <a:cs typeface="Times New Roman"/>
              </a:rPr>
              <a:t>schema migrations</a:t>
            </a:r>
            <a:r>
              <a:rPr sz="1200" b="0" i="0" u="none">
                <a:solidFill>
                  <a:srgbClr val="000000"/>
                </a:solidFill>
                <a:latin typeface="Times New Roman"/>
                <a:ea typeface="Times New Roman"/>
                <a:cs typeface="Times New Roman"/>
              </a:rPr>
              <a:t>, such as altering tables, adding or removing columns, or transforming existing records. These operations can be disruptive because they often require maintenance windows, careful migration scripts, and the risk of temporarily blocking access to the database.</a:t>
            </a:r>
            <a:endParaRPr/>
          </a:p>
          <a:p>
            <a:pPr>
              <a:defRPr/>
            </a:pPr>
            <a:r>
              <a:rPr sz="1200" b="0" i="0" u="none">
                <a:solidFill>
                  <a:srgbClr val="000000"/>
                </a:solidFill>
                <a:latin typeface="Times New Roman"/>
                <a:ea typeface="Times New Roman"/>
                <a:cs typeface="Times New Roman"/>
              </a:rPr>
              <a:t>Document databases address this challenge through </a:t>
            </a:r>
            <a:r>
              <a:rPr sz="1200" b="1" i="0" u="none">
                <a:solidFill>
                  <a:srgbClr val="000000"/>
                </a:solidFill>
                <a:latin typeface="Times New Roman"/>
                <a:ea typeface="Times New Roman"/>
                <a:cs typeface="Times New Roman"/>
              </a:rPr>
              <a:t>schema flexibility</a:t>
            </a:r>
            <a:r>
              <a:rPr sz="1200" b="0" i="0" u="none">
                <a:solidFill>
                  <a:srgbClr val="000000"/>
                </a:solidFill>
                <a:latin typeface="Times New Roman"/>
                <a:ea typeface="Times New Roman"/>
                <a:cs typeface="Times New Roman"/>
              </a:rPr>
              <a:t>. Instead of enforcing a rigid structure for all records, each document can store its own structure independently. This means that new fields can be introduced gradually as the application evolves, without requiring a global schema modification across the entire dataset.</a:t>
            </a:r>
            <a:endParaRPr/>
          </a:p>
          <a:p>
            <a:pPr>
              <a:defRPr/>
            </a:pPr>
            <a:r>
              <a:rPr sz="1200" b="0" i="0" u="none">
                <a:solidFill>
                  <a:srgbClr val="000000"/>
                </a:solidFill>
                <a:latin typeface="Times New Roman"/>
                <a:ea typeface="Times New Roman"/>
                <a:cs typeface="Times New Roman"/>
              </a:rPr>
              <a:t>As a result, different versions of documents can coexist within the same collection. Older documents remain valid even if newer documents include additional attributes or slightly different structures. The application logic can handle these variations while the system continues to operate normally.</a:t>
            </a:r>
            <a:endParaRPr/>
          </a:p>
          <a:p>
            <a:pPr>
              <a:defRPr/>
            </a:pPr>
            <a:r>
              <a:rPr sz="1200" b="0" i="0" u="none">
                <a:solidFill>
                  <a:srgbClr val="000000"/>
                </a:solidFill>
                <a:latin typeface="Times New Roman"/>
                <a:ea typeface="Times New Roman"/>
                <a:cs typeface="Times New Roman"/>
              </a:rPr>
              <a:t>This flexibility allows development teams to </a:t>
            </a:r>
            <a:r>
              <a:rPr sz="1200" b="1" i="0" u="none">
                <a:solidFill>
                  <a:srgbClr val="000000"/>
                </a:solidFill>
                <a:latin typeface="Times New Roman"/>
                <a:ea typeface="Times New Roman"/>
                <a:cs typeface="Times New Roman"/>
              </a:rPr>
              <a:t>deploy new application features without downtime</a:t>
            </a:r>
            <a:r>
              <a:rPr sz="1200" b="0" i="0" u="none">
                <a:solidFill>
                  <a:srgbClr val="000000"/>
                </a:solidFill>
                <a:latin typeface="Times New Roman"/>
                <a:ea typeface="Times New Roman"/>
                <a:cs typeface="Times New Roman"/>
              </a:rPr>
              <a:t>, avoiding large-scale database migrations that would otherwise interrupt service. In practice, schema flexibility enables systems to evolve incrementally, supporting continuous deployment and rapid iteration.</a:t>
            </a:r>
            <a:endParaRPr/>
          </a:p>
          <a:p>
            <a:pPr>
              <a:defRPr/>
            </a:pPr>
            <a:r>
              <a:rPr sz="1200" b="1" i="0" u="none">
                <a:solidFill>
                  <a:srgbClr val="000000"/>
                </a:solidFill>
                <a:latin typeface="Times New Roman"/>
                <a:ea typeface="Times New Roman"/>
                <a:cs typeface="Times New Roman"/>
              </a:rPr>
              <a:t>Key idea</a:t>
            </a:r>
            <a:endParaRPr/>
          </a:p>
          <a:p>
            <a:pPr>
              <a:defRPr/>
            </a:pPr>
            <a:r>
              <a:rPr sz="1200" b="0" i="0" u="none">
                <a:solidFill>
                  <a:srgbClr val="000000"/>
                </a:solidFill>
                <a:latin typeface="Times New Roman"/>
                <a:ea typeface="Times New Roman"/>
                <a:cs typeface="Times New Roman"/>
              </a:rPr>
              <a:t>In real-world software systems, data models inevitably change. Document databases embrace this reality by allowing schema evolution to occur gradually, ensuring that applications can continue operating while the underlying data structure evolves.</a:t>
            </a:r>
            <a:endParaRPr/>
          </a:p>
        </p:txBody>
      </p:sp>
      <p:sp>
        <p:nvSpPr>
          <p:cNvPr id="1554430169"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0181058" name="Slide Image Placeholder 1"/>
          <p:cNvSpPr>
            <a:spLocks noChangeAspect="1" noGrp="1" noRot="1"/>
          </p:cNvSpPr>
          <p:nvPr>
            <p:ph type="sldImg"/>
          </p:nvPr>
        </p:nvSpPr>
        <p:spPr bwMode="auto"/>
      </p:sp>
      <p:sp>
        <p:nvSpPr>
          <p:cNvPr id="1139968090"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One of the most important advantages of document databases is </a:t>
            </a:r>
            <a:r>
              <a:rPr sz="1200" b="1" i="0" u="none">
                <a:solidFill>
                  <a:srgbClr val="000000"/>
                </a:solidFill>
                <a:latin typeface="Times New Roman"/>
                <a:ea typeface="Times New Roman"/>
                <a:cs typeface="Times New Roman"/>
              </a:rPr>
              <a:t>schema flexibility</a:t>
            </a:r>
            <a:r>
              <a:rPr sz="1200" b="0" i="0" u="none">
                <a:solidFill>
                  <a:srgbClr val="000000"/>
                </a:solidFill>
                <a:latin typeface="Times New Roman"/>
                <a:ea typeface="Times New Roman"/>
                <a:cs typeface="Times New Roman"/>
              </a:rPr>
              <a:t>. In traditional relational databases, the schema strictly defines the structure of tables. Every row must conform to the same predefined set of columns and data types. As a result, modifying the data structure—such as adding new fields or changing existing ones—typically requires </a:t>
            </a:r>
            <a:r>
              <a:rPr sz="1200" b="1" i="0" u="none">
                <a:solidFill>
                  <a:srgbClr val="000000"/>
                </a:solidFill>
                <a:latin typeface="Times New Roman"/>
                <a:ea typeface="Times New Roman"/>
                <a:cs typeface="Times New Roman"/>
              </a:rPr>
              <a:t>schema migrations</a:t>
            </a:r>
            <a:r>
              <a:rPr sz="1200" b="0" i="0" u="none">
                <a:solidFill>
                  <a:srgbClr val="000000"/>
                </a:solidFill>
                <a:latin typeface="Times New Roman"/>
                <a:ea typeface="Times New Roman"/>
                <a:cs typeface="Times New Roman"/>
              </a:rPr>
              <a:t>, which can be complex, time-consuming, and sometimes require temporary downtime.</a:t>
            </a:r>
            <a:endParaRPr/>
          </a:p>
          <a:p>
            <a:pPr>
              <a:defRPr/>
            </a:pPr>
            <a:r>
              <a:rPr sz="1200" b="0" i="0" u="none">
                <a:solidFill>
                  <a:srgbClr val="000000"/>
                </a:solidFill>
                <a:latin typeface="Times New Roman"/>
                <a:ea typeface="Times New Roman"/>
                <a:cs typeface="Times New Roman"/>
              </a:rPr>
              <a:t>Document databases approach this problem differently. Instead of enforcing a rigid structure at the database level, they allow documents within the same collection to have </a:t>
            </a:r>
            <a:r>
              <a:rPr sz="1200" b="1" i="0" u="none">
                <a:solidFill>
                  <a:srgbClr val="000000"/>
                </a:solidFill>
                <a:latin typeface="Times New Roman"/>
                <a:ea typeface="Times New Roman"/>
                <a:cs typeface="Times New Roman"/>
              </a:rPr>
              <a:t>different internal structures</a:t>
            </a:r>
            <a:r>
              <a:rPr sz="1200" b="0" i="0" u="none">
                <a:solidFill>
                  <a:srgbClr val="000000"/>
                </a:solidFill>
                <a:latin typeface="Times New Roman"/>
                <a:ea typeface="Times New Roman"/>
                <a:cs typeface="Times New Roman"/>
              </a:rPr>
              <a:t>. Although a logical schema still exists, it is not strictly enforced by the database engine. This means that developers can introduce new fields or modify document structures gradually as application requirements evolve.</a:t>
            </a:r>
            <a:endParaRPr/>
          </a:p>
          <a:p>
            <a:pPr>
              <a:defRPr/>
            </a:pPr>
            <a:r>
              <a:rPr sz="1200" b="0" i="0" u="none">
                <a:solidFill>
                  <a:srgbClr val="000000"/>
                </a:solidFill>
                <a:latin typeface="Times New Roman"/>
                <a:ea typeface="Times New Roman"/>
                <a:cs typeface="Times New Roman"/>
              </a:rPr>
              <a:t>For this reason, document databases are sometimes described as </a:t>
            </a:r>
            <a:r>
              <a:rPr sz="1200" b="1" i="0" u="none">
                <a:solidFill>
                  <a:srgbClr val="000000"/>
                </a:solidFill>
                <a:latin typeface="Times New Roman"/>
                <a:ea typeface="Times New Roman"/>
                <a:cs typeface="Times New Roman"/>
              </a:rPr>
              <a:t>“schemaless.”</a:t>
            </a:r>
            <a:r>
              <a:rPr sz="1200" b="0" i="0" u="none">
                <a:solidFill>
                  <a:srgbClr val="000000"/>
                </a:solidFill>
                <a:latin typeface="Times New Roman"/>
                <a:ea typeface="Times New Roman"/>
                <a:cs typeface="Times New Roman"/>
              </a:rPr>
              <a:t> However, this term can be misleading. A schema still exists, but it typically resides in the </a:t>
            </a:r>
            <a:r>
              <a:rPr sz="1200" b="1" i="0" u="none">
                <a:solidFill>
                  <a:srgbClr val="000000"/>
                </a:solidFill>
                <a:latin typeface="Times New Roman"/>
                <a:ea typeface="Times New Roman"/>
                <a:cs typeface="Times New Roman"/>
              </a:rPr>
              <a:t>application layer rather than in the database system</a:t>
            </a:r>
            <a:r>
              <a:rPr sz="1200" b="0" i="0" u="none">
                <a:solidFill>
                  <a:srgbClr val="000000"/>
                </a:solidFill>
                <a:latin typeface="Times New Roman"/>
                <a:ea typeface="Times New Roman"/>
                <a:cs typeface="Times New Roman"/>
              </a:rPr>
              <a:t>. The application code defines what the structure of a valid document should be and is responsible for ensuring that incoming data conforms to this structure.</a:t>
            </a:r>
            <a:endParaRPr/>
          </a:p>
          <a:p>
            <a:pPr>
              <a:defRPr/>
            </a:pPr>
            <a:r>
              <a:rPr sz="1200" b="0" i="0" u="none">
                <a:solidFill>
                  <a:srgbClr val="000000"/>
                </a:solidFill>
                <a:latin typeface="Times New Roman"/>
                <a:ea typeface="Times New Roman"/>
                <a:cs typeface="Times New Roman"/>
              </a:rPr>
              <a:t>This design choice shifts responsibility from the database administrator to the application developer. While the database focuses on storing and retrieving documents efficiently, the application layer ensures that the stored data follows the intended structure. In modern software architectures, this validation is usually implemented within the </a:t>
            </a:r>
            <a:r>
              <a:rPr sz="1200" b="1" i="0" u="none">
                <a:solidFill>
                  <a:srgbClr val="000000"/>
                </a:solidFill>
                <a:latin typeface="Times New Roman"/>
                <a:ea typeface="Times New Roman"/>
                <a:cs typeface="Times New Roman"/>
              </a:rPr>
              <a:t>backend API layer</a:t>
            </a:r>
            <a:r>
              <a:rPr sz="1200" b="0" i="0" u="none">
                <a:solidFill>
                  <a:srgbClr val="000000"/>
                </a:solidFill>
                <a:latin typeface="Times New Roman"/>
                <a:ea typeface="Times New Roman"/>
                <a:cs typeface="Times New Roman"/>
              </a:rPr>
              <a:t>, which verifies incoming data before it is written to the database.</a:t>
            </a:r>
            <a:endParaRPr/>
          </a:p>
          <a:p>
            <a:pPr>
              <a:defRPr/>
            </a:pPr>
            <a:r>
              <a:rPr sz="1200" b="0" i="0" u="none">
                <a:solidFill>
                  <a:srgbClr val="000000"/>
                </a:solidFill>
                <a:latin typeface="Times New Roman"/>
                <a:ea typeface="Times New Roman"/>
                <a:cs typeface="Times New Roman"/>
              </a:rPr>
              <a:t>In practice, this flexibility allows development teams to evolve their data models rapidly. Developers can add new fields or modify document structures without executing large database migrations or interrupting the availability of the system. This capability supports modern development practices such as </a:t>
            </a:r>
            <a:r>
              <a:rPr sz="1200" b="1" i="0" u="none">
                <a:solidFill>
                  <a:srgbClr val="000000"/>
                </a:solidFill>
                <a:latin typeface="Times New Roman"/>
                <a:ea typeface="Times New Roman"/>
                <a:cs typeface="Times New Roman"/>
              </a:rPr>
              <a:t>continuous deployment and rapid feature iteration</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 practical example can be found in an e-commerce system. Initially, the system may store only basic customer information such as name and email address. Later, as the application evolves, developers may add fields for customer preferences, loyalty status, or purchase history. Because document databases allow documents to vary in structure, these new attributes can be introduced without modifying existing records or performing costly migrations.</a:t>
            </a:r>
            <a:endParaRPr/>
          </a:p>
          <a:p>
            <a:pPr>
              <a:defRPr/>
            </a:pPr>
            <a:r>
              <a:rPr sz="1200" b="0" i="0" u="none">
                <a:solidFill>
                  <a:srgbClr val="000000"/>
                </a:solidFill>
                <a:latin typeface="Times New Roman"/>
                <a:ea typeface="Times New Roman"/>
                <a:cs typeface="Times New Roman"/>
              </a:rPr>
              <a:t>To ensure data quality, applications typically implement validation mechanisms before writing data to the database. For example, backend systems may use validation libraries such as </a:t>
            </a:r>
            <a:r>
              <a:rPr sz="1200" b="1" i="0" u="none">
                <a:solidFill>
                  <a:srgbClr val="000000"/>
                </a:solidFill>
                <a:latin typeface="Times New Roman"/>
                <a:ea typeface="Times New Roman"/>
                <a:cs typeface="Times New Roman"/>
              </a:rPr>
              <a:t>Pydantic</a:t>
            </a:r>
            <a:r>
              <a:rPr sz="1200" b="0" i="0" u="none">
                <a:solidFill>
                  <a:srgbClr val="000000"/>
                </a:solidFill>
                <a:latin typeface="Times New Roman"/>
                <a:ea typeface="Times New Roman"/>
                <a:cs typeface="Times New Roman"/>
              </a:rPr>
              <a:t> in Python or </a:t>
            </a:r>
            <a:r>
              <a:rPr sz="1200" b="1" i="0" u="none">
                <a:solidFill>
                  <a:srgbClr val="000000"/>
                </a:solidFill>
                <a:latin typeface="Times New Roman"/>
                <a:ea typeface="Times New Roman"/>
                <a:cs typeface="Times New Roman"/>
              </a:rPr>
              <a:t>Joi</a:t>
            </a:r>
            <a:r>
              <a:rPr sz="1200" b="0" i="0" u="none">
                <a:solidFill>
                  <a:srgbClr val="000000"/>
                </a:solidFill>
                <a:latin typeface="Times New Roman"/>
                <a:ea typeface="Times New Roman"/>
                <a:cs typeface="Times New Roman"/>
              </a:rPr>
              <a:t> in Node.js to verify that incoming data matches the expected schema. Only validated data is then stored in the database.</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Schema flexibility allows document structures to evolve gradually as applications grow, enabling developers to introduce new features without performing costly database migrations or interrupting system availability.</a:t>
            </a:r>
            <a:endParaRPr/>
          </a:p>
          <a:p>
            <a:pPr>
              <a:defRPr/>
            </a:pPr>
            <a:r>
              <a:rPr sz="1200" b="1" i="0" u="none">
                <a:solidFill>
                  <a:srgbClr val="000000"/>
                </a:solidFill>
                <a:latin typeface="Times New Roman"/>
                <a:ea typeface="Times New Roman"/>
                <a:cs typeface="Times New Roman"/>
              </a:rPr>
              <a:t>Interview Question</a:t>
            </a:r>
            <a:endParaRPr/>
          </a:p>
          <a:p>
            <a:pPr>
              <a:defRPr/>
            </a:pPr>
            <a:r>
              <a:rPr sz="1200" b="0" i="0" u="none">
                <a:solidFill>
                  <a:srgbClr val="000000"/>
                </a:solidFill>
                <a:latin typeface="Times New Roman"/>
                <a:ea typeface="Times New Roman"/>
                <a:cs typeface="Times New Roman"/>
              </a:rPr>
              <a:t>If the database does not enforce the schema, what prevents poorly structured data from being stored?</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In most modern systems, schema validation is performed in the backend API layer. Incoming requests are validated against a defined schema using libraries such as Pydantic or Joi before the data is written to the database. This ensures that only correctly structured data is stored, even though the database itself does not strictly enforce the schema.</a:t>
            </a:r>
            <a:endParaRPr/>
          </a:p>
        </p:txBody>
      </p:sp>
      <p:sp>
        <p:nvSpPr>
          <p:cNvPr id="1524855774"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3346467" name="Slide Image Placeholder 1"/>
          <p:cNvSpPr>
            <a:spLocks noChangeAspect="1" noGrp="1" noRot="1"/>
          </p:cNvSpPr>
          <p:nvPr>
            <p:ph type="sldImg"/>
          </p:nvPr>
        </p:nvSpPr>
        <p:spPr bwMode="auto"/>
      </p:sp>
      <p:sp>
        <p:nvSpPr>
          <p:cNvPr id="1367779811" name="Notes Placeholder 2"/>
          <p:cNvSpPr>
            <a:spLocks noGrp="1"/>
          </p:cNvSpPr>
          <p:nvPr>
            <p:ph type="body" idx="1"/>
          </p:nvPr>
        </p:nvSpPr>
        <p:spPr bwMode="auto"/>
        <p:txBody>
          <a:bodyPr/>
          <a:lstStyle/>
          <a:p>
            <a:pPr>
              <a:defRPr/>
            </a:pPr>
            <a:r>
              <a:rPr lang="en-US">
                <a:latin typeface="Times New Roman"/>
                <a:ea typeface="Times New Roman"/>
                <a:cs typeface="Times New Roman"/>
              </a:rPr>
              <a:t>Modern agile software development releases code continuously. A team shipping updates multiple times per day cannot stop to coordinate database migrations each time.</a:t>
            </a:r>
            <a:br>
              <a:rPr lang="en-US">
                <a:latin typeface="Times New Roman"/>
                <a:ea typeface="Times New Roman"/>
                <a:cs typeface="Times New Roman"/>
              </a:rPr>
            </a:br>
            <a:r>
              <a:rPr lang="en-US">
                <a:latin typeface="Times New Roman"/>
                <a:ea typeface="Times New Roman"/>
                <a:cs typeface="Times New Roman"/>
              </a:rPr>
              <a:t>When a new feature requires a new field, you add it to new documents and update your code to handle its absence in old ones. Old documents are not touched until it becomes necessary.</a:t>
            </a:r>
            <a:br>
              <a:rPr lang="en-US">
                <a:latin typeface="Times New Roman"/>
                <a:ea typeface="Times New Roman"/>
                <a:cs typeface="Times New Roman"/>
              </a:rPr>
            </a:br>
            <a:r>
              <a:rPr lang="en-US">
                <a:latin typeface="Times New Roman"/>
                <a:ea typeface="Times New Roman"/>
                <a:cs typeface="Times New Roman"/>
              </a:rPr>
              <a:t>In real projects, adding a 'loyalty_points' field to a user profile table with 50 million rows in a relational database might require a multi-hour migration with a read-only maintenance window. In a document database, new documents get the field immediately and old ones handle it as absent — no migration needed.</a:t>
            </a:r>
            <a:br>
              <a:rPr lang="en-US">
                <a:latin typeface="Times New Roman"/>
                <a:ea typeface="Times New Roman"/>
                <a:cs typeface="Times New Roman"/>
              </a:rPr>
            </a:br>
            <a:endParaRPr>
              <a:latin typeface="Times New Roman"/>
              <a:cs typeface="Times New Roman"/>
            </a:endParaRPr>
          </a:p>
          <a:p>
            <a:pPr>
              <a:defRPr/>
            </a:pPr>
            <a:r>
              <a:rPr lang="en-US">
                <a:latin typeface="Times New Roman"/>
                <a:ea typeface="Times New Roman"/>
                <a:cs typeface="Times New Roman"/>
              </a:rPr>
              <a:t>Question</a:t>
            </a:r>
            <a:br>
              <a:rPr lang="en-US">
                <a:latin typeface="Times New Roman"/>
                <a:ea typeface="Times New Roman"/>
                <a:cs typeface="Times New Roman"/>
              </a:rPr>
            </a:br>
            <a:r>
              <a:rPr lang="en-US">
                <a:latin typeface="Times New Roman"/>
                <a:ea typeface="Times New Roman"/>
                <a:cs typeface="Times New Roman"/>
              </a:rPr>
              <a:t>What happens to the 50 million existing user documents when you start saving new users with an additional 'loyalty_points' field?</a:t>
            </a:r>
            <a:br>
              <a:rPr lang="en-US">
                <a:latin typeface="Times New Roman"/>
                <a:ea typeface="Times New Roman"/>
                <a:cs typeface="Times New Roman"/>
              </a:rPr>
            </a:br>
            <a:endParaRPr>
              <a:latin typeface="Times New Roman"/>
              <a:cs typeface="Times New Roman"/>
            </a:endParaRPr>
          </a:p>
          <a:p>
            <a:pPr>
              <a:defRPr/>
            </a:pPr>
            <a:r>
              <a:rPr lang="en-US">
                <a:latin typeface="Times New Roman"/>
                <a:ea typeface="Times New Roman"/>
                <a:cs typeface="Times New Roman"/>
              </a:rPr>
              <a:t>Answer</a:t>
            </a:r>
            <a:br>
              <a:rPr lang="en-US">
                <a:latin typeface="Times New Roman"/>
                <a:ea typeface="Times New Roman"/>
                <a:cs typeface="Times New Roman"/>
              </a:rPr>
            </a:br>
            <a:r>
              <a:rPr lang="en-US">
                <a:latin typeface="Times New Roman"/>
                <a:ea typeface="Times New Roman"/>
                <a:cs typeface="Times New Roman"/>
              </a:rPr>
              <a:t>Nothing. They remain exactly as they were. The application code must be written to safely handle the case where this field is absent — typically using a default value of zero or null.</a:t>
            </a:r>
            <a:endParaRPr>
              <a:latin typeface="Times New Roman"/>
              <a:cs typeface="Times New Roman"/>
            </a:endParaRPr>
          </a:p>
        </p:txBody>
      </p:sp>
      <p:sp>
        <p:nvSpPr>
          <p:cNvPr id="1118858409"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2615984" name="Slide Image Placeholder 1"/>
          <p:cNvSpPr>
            <a:spLocks noChangeAspect="1" noGrp="1" noRot="1"/>
          </p:cNvSpPr>
          <p:nvPr>
            <p:ph type="sldImg"/>
          </p:nvPr>
        </p:nvSpPr>
        <p:spPr bwMode="auto"/>
      </p:sp>
      <p:sp>
        <p:nvSpPr>
          <p:cNvPr id="118027394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Extending the discussion on </a:t>
            </a:r>
            <a:r>
              <a:rPr sz="1200" b="1" i="0" u="none">
                <a:solidFill>
                  <a:srgbClr val="000000"/>
                </a:solidFill>
                <a:latin typeface="Times New Roman"/>
                <a:ea typeface="Times New Roman"/>
                <a:cs typeface="Times New Roman"/>
              </a:rPr>
              <a:t>incremental schema evolution in document databases</a:t>
            </a:r>
            <a:r>
              <a:rPr sz="1200" b="0" i="0" u="none">
                <a:solidFill>
                  <a:srgbClr val="000000"/>
                </a:solidFill>
                <a:latin typeface="Times New Roman"/>
                <a:ea typeface="Times New Roman"/>
                <a:cs typeface="Times New Roman"/>
              </a:rPr>
              <a:t>, it is useful to contrast this approach with the way schema changes are handled in traditional relational database systems.</a:t>
            </a:r>
            <a:endParaRPr/>
          </a:p>
          <a:p>
            <a:pPr>
              <a:defRPr/>
            </a:pPr>
            <a:r>
              <a:rPr sz="1200" b="0" i="0" u="none">
                <a:solidFill>
                  <a:srgbClr val="000000"/>
                </a:solidFill>
                <a:latin typeface="Times New Roman"/>
                <a:ea typeface="Times New Roman"/>
                <a:cs typeface="Times New Roman"/>
              </a:rPr>
              <a:t>Relational databases enforce </a:t>
            </a:r>
            <a:r>
              <a:rPr sz="1200" b="1" i="0" u="none">
                <a:solidFill>
                  <a:srgbClr val="000000"/>
                </a:solidFill>
                <a:latin typeface="Times New Roman"/>
                <a:ea typeface="Times New Roman"/>
                <a:cs typeface="Times New Roman"/>
              </a:rPr>
              <a:t>strict schemas at the storage level</a:t>
            </a:r>
            <a:r>
              <a:rPr sz="1200" b="0" i="0" u="none">
                <a:solidFill>
                  <a:srgbClr val="000000"/>
                </a:solidFill>
                <a:latin typeface="Times New Roman"/>
                <a:ea typeface="Times New Roman"/>
                <a:cs typeface="Times New Roman"/>
              </a:rPr>
              <a:t>. The structure of a table—its columns, data types, and constraints—must be identical for every row. While this design provides strong guarantees about data integrity, it can create challenges when systems need to evolve quickly.</a:t>
            </a:r>
            <a:endParaRPr/>
          </a:p>
          <a:p>
            <a:pPr>
              <a:defRPr/>
            </a:pPr>
            <a:r>
              <a:rPr sz="1200" b="0" i="0" u="none">
                <a:solidFill>
                  <a:srgbClr val="000000"/>
                </a:solidFill>
                <a:latin typeface="Times New Roman"/>
                <a:ea typeface="Times New Roman"/>
                <a:cs typeface="Times New Roman"/>
              </a:rPr>
              <a:t>When a schema change is required, relational databases typically perform operations such as </a:t>
            </a:r>
            <a:r>
              <a:rPr sz="1000" b="0" i="0" u="none">
                <a:solidFill>
                  <a:srgbClr val="000000"/>
                </a:solidFill>
                <a:latin typeface="Courier New"/>
                <a:ea typeface="Courier New"/>
                <a:cs typeface="Courier New"/>
              </a:rPr>
              <a:t>ALTER TABLE</a:t>
            </a:r>
            <a:r>
              <a:rPr sz="1200" b="0" i="0" u="none">
                <a:solidFill>
                  <a:srgbClr val="000000"/>
                </a:solidFill>
                <a:latin typeface="Times New Roman"/>
                <a:ea typeface="Times New Roman"/>
                <a:cs typeface="Times New Roman"/>
              </a:rPr>
              <a:t>. For large datasets, these operations can be extremely expensive because the database may need to </a:t>
            </a:r>
            <a:r>
              <a:rPr sz="1200" b="1" i="0" u="none">
                <a:solidFill>
                  <a:srgbClr val="000000"/>
                </a:solidFill>
                <a:latin typeface="Times New Roman"/>
                <a:ea typeface="Times New Roman"/>
                <a:cs typeface="Times New Roman"/>
              </a:rPr>
              <a:t>rewrite every row on disk</a:t>
            </a:r>
            <a:r>
              <a:rPr sz="1200" b="0" i="0" u="none">
                <a:solidFill>
                  <a:srgbClr val="000000"/>
                </a:solidFill>
                <a:latin typeface="Times New Roman"/>
                <a:ea typeface="Times New Roman"/>
                <a:cs typeface="Times New Roman"/>
              </a:rPr>
              <a:t> in order to accommodate the new structure. In many cases, the table may be locked during this process, temporarily preventing the application from reading or writing data.</a:t>
            </a:r>
            <a:endParaRPr/>
          </a:p>
          <a:p>
            <a:pPr>
              <a:defRPr/>
            </a:pPr>
            <a:r>
              <a:rPr sz="1200" b="0" i="0" u="none">
                <a:solidFill>
                  <a:srgbClr val="000000"/>
                </a:solidFill>
                <a:latin typeface="Times New Roman"/>
                <a:ea typeface="Times New Roman"/>
                <a:cs typeface="Times New Roman"/>
              </a:rPr>
              <a:t>For databases containing millions or even billions of records, such migrations can take </a:t>
            </a:r>
            <a:r>
              <a:rPr sz="1200" b="1" i="0" u="none">
                <a:solidFill>
                  <a:srgbClr val="000000"/>
                </a:solidFill>
                <a:latin typeface="Times New Roman"/>
                <a:ea typeface="Times New Roman"/>
                <a:cs typeface="Times New Roman"/>
              </a:rPr>
              <a:t>hours or days to complete</a:t>
            </a:r>
            <a:r>
              <a:rPr sz="1200" b="0" i="0" u="none">
                <a:solidFill>
                  <a:srgbClr val="000000"/>
                </a:solidFill>
                <a:latin typeface="Times New Roman"/>
                <a:ea typeface="Times New Roman"/>
                <a:cs typeface="Times New Roman"/>
              </a:rPr>
              <a:t>. Because of the risk of service disruption, these operations are often scheduled during carefully planned maintenance windows. In real production environments, database migrations are among the most stressful events in a development team's lifecycle. They are frequently scheduled during low-traffic periods—such as late at night or on weekends—and require experienced engineers to monitor the process in case problems occur.</a:t>
            </a:r>
            <a:endParaRPr/>
          </a:p>
          <a:p>
            <a:pPr>
              <a:defRPr/>
            </a:pPr>
            <a:r>
              <a:rPr sz="1200" b="0" i="0" u="none">
                <a:solidFill>
                  <a:srgbClr val="000000"/>
                </a:solidFill>
                <a:latin typeface="Times New Roman"/>
                <a:ea typeface="Times New Roman"/>
                <a:cs typeface="Times New Roman"/>
              </a:rPr>
              <a:t>Large technology companies have developed specialized tools to mitigate these risks. For example, organizations such as </a:t>
            </a:r>
            <a:r>
              <a:rPr sz="1200" b="1" i="0" u="none">
                <a:solidFill>
                  <a:srgbClr val="000000"/>
                </a:solidFill>
                <a:latin typeface="Times New Roman"/>
                <a:ea typeface="Times New Roman"/>
                <a:cs typeface="Times New Roman"/>
              </a:rPr>
              <a:t>Google</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Meta</a:t>
            </a:r>
            <a:r>
              <a:rPr sz="1200" b="0" i="0" u="none">
                <a:solidFill>
                  <a:srgbClr val="000000"/>
                </a:solidFill>
                <a:latin typeface="Times New Roman"/>
                <a:ea typeface="Times New Roman"/>
                <a:cs typeface="Times New Roman"/>
              </a:rPr>
              <a:t> often rely on advanced migration utilities such as </a:t>
            </a:r>
            <a:r>
              <a:rPr sz="1200" b="1" i="0" u="none">
                <a:solidFill>
                  <a:srgbClr val="000000"/>
                </a:solidFill>
                <a:latin typeface="Times New Roman"/>
                <a:ea typeface="Times New Roman"/>
                <a:cs typeface="Times New Roman"/>
              </a:rPr>
              <a:t>pt-online-schema-change</a:t>
            </a:r>
            <a:r>
              <a:rPr sz="1200" b="0" i="0" u="none">
                <a:solidFill>
                  <a:srgbClr val="000000"/>
                </a:solidFill>
                <a:latin typeface="Times New Roman"/>
                <a:ea typeface="Times New Roman"/>
                <a:cs typeface="Times New Roman"/>
              </a:rPr>
              <a:t> or </a:t>
            </a:r>
            <a:r>
              <a:rPr sz="1200" b="1" i="0" u="none">
                <a:solidFill>
                  <a:srgbClr val="000000"/>
                </a:solidFill>
                <a:latin typeface="Times New Roman"/>
                <a:ea typeface="Times New Roman"/>
                <a:cs typeface="Times New Roman"/>
              </a:rPr>
              <a:t>gh-ost</a:t>
            </a:r>
            <a:r>
              <a:rPr sz="1200" b="0" i="0" u="none">
                <a:solidFill>
                  <a:srgbClr val="000000"/>
                </a:solidFill>
                <a:latin typeface="Times New Roman"/>
                <a:ea typeface="Times New Roman"/>
                <a:cs typeface="Times New Roman"/>
              </a:rPr>
              <a:t>. These tools perform schema migrations using techniques such as shadow tables and background data copying, allowing the migration to occur gradually while the system remains operational. However, these solutions introduce additional complexity and may still create performance overhead during high-load periods.</a:t>
            </a:r>
            <a:endParaRPr/>
          </a:p>
          <a:p>
            <a:pPr>
              <a:defRPr/>
            </a:pPr>
            <a:r>
              <a:rPr sz="1200" b="0" i="0" u="none">
                <a:solidFill>
                  <a:srgbClr val="000000"/>
                </a:solidFill>
                <a:latin typeface="Times New Roman"/>
                <a:ea typeface="Times New Roman"/>
                <a:cs typeface="Times New Roman"/>
              </a:rPr>
              <a:t>Document databases take a fundamentally different approach. Instead of requiring every record to share an identical structure, they allow </a:t>
            </a:r>
            <a:r>
              <a:rPr sz="1200" b="1" i="0" u="none">
                <a:solidFill>
                  <a:srgbClr val="000000"/>
                </a:solidFill>
                <a:latin typeface="Times New Roman"/>
                <a:ea typeface="Times New Roman"/>
                <a:cs typeface="Times New Roman"/>
              </a:rPr>
              <a:t>documents with different schemas to coexist within the same collection</a:t>
            </a:r>
            <a:r>
              <a:rPr sz="1200" b="0" i="0" u="none">
                <a:solidFill>
                  <a:srgbClr val="000000"/>
                </a:solidFill>
                <a:latin typeface="Times New Roman"/>
                <a:ea typeface="Times New Roman"/>
                <a:cs typeface="Times New Roman"/>
              </a:rPr>
              <a:t>. This means that new attributes can be introduced without modifying existing documents or rewriting the entire dataset.</a:t>
            </a:r>
            <a:endParaRPr/>
          </a:p>
          <a:p>
            <a:pPr>
              <a:defRPr/>
            </a:pPr>
            <a:r>
              <a:rPr sz="1200" b="0" i="0" u="none">
                <a:solidFill>
                  <a:srgbClr val="000000"/>
                </a:solidFill>
                <a:latin typeface="Times New Roman"/>
                <a:ea typeface="Times New Roman"/>
                <a:cs typeface="Times New Roman"/>
              </a:rPr>
              <a:t>For example, a social media platform introducing a feature such as </a:t>
            </a:r>
            <a:r>
              <a:rPr sz="1200" b="1" i="0" u="none">
                <a:solidFill>
                  <a:srgbClr val="000000"/>
                </a:solidFill>
                <a:latin typeface="Times New Roman"/>
                <a:ea typeface="Times New Roman"/>
                <a:cs typeface="Times New Roman"/>
              </a:rPr>
              <a:t>profile badges</a:t>
            </a:r>
            <a:r>
              <a:rPr sz="1200" b="0" i="0" u="none">
                <a:solidFill>
                  <a:srgbClr val="000000"/>
                </a:solidFill>
                <a:latin typeface="Times New Roman"/>
                <a:ea typeface="Times New Roman"/>
                <a:cs typeface="Times New Roman"/>
              </a:rPr>
              <a:t> might need to store additional metadata for certain users. In a document database, developers can simply include the new field in newly created or updated user documents. Older documents continue to function normally even if they do not contain the new attribute.</a:t>
            </a:r>
            <a:endParaRPr/>
          </a:p>
          <a:p>
            <a:pPr>
              <a:defRPr/>
            </a:pPr>
            <a:r>
              <a:rPr sz="1200" b="0" i="0" u="none">
                <a:solidFill>
                  <a:srgbClr val="000000"/>
                </a:solidFill>
                <a:latin typeface="Times New Roman"/>
                <a:ea typeface="Times New Roman"/>
                <a:cs typeface="Times New Roman"/>
              </a:rPr>
              <a:t>This flexibility significantly reduces the operational burden associated with schema evolution and supports the rapid iteration cycles typical of modern software development.</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Rigid schemas in relational databases can slow down development in rapidly evolving systems because schema changes often require expensive migrations. Document databases avoid this limitation by allowing multiple document structures to coexist, enabling applications to evolve without disruptive database operations.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How do companies handle schema changes on tables containing billions of rows?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Large organizations often use specialized tools such as pt-online-schema-change or gh-ost. These tools perform migrations in the background by creating shadow tables and copying data gradually while the system remains online. Although this approach reduces downtime, it introduces additional complexity and can still affect system performance under heavy load.</a:t>
            </a:r>
            <a:endParaRPr/>
          </a:p>
        </p:txBody>
      </p:sp>
      <p:sp>
        <p:nvSpPr>
          <p:cNvPr id="210137876" name="Slide Number Placeholder 3"/>
          <p:cNvSpPr>
            <a:spLocks noGrp="1"/>
          </p:cNvSpPr>
          <p:nvPr>
            <p:ph type="sldNum" sz="quarter" idx="10"/>
          </p:nvPr>
        </p:nvSpPr>
        <p:spPr bwMode="auto"/>
        <p:txBody>
          <a:bodyPr/>
          <a:lstStyle/>
          <a:p>
            <a:pPr>
              <a:defRPr/>
            </a:pPr>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436211" name="Slide Image Placeholder 1"/>
          <p:cNvSpPr>
            <a:spLocks noChangeAspect="1" noGrp="1" noRot="1"/>
          </p:cNvSpPr>
          <p:nvPr>
            <p:ph type="sldImg"/>
          </p:nvPr>
        </p:nvSpPr>
        <p:spPr bwMode="auto"/>
      </p:sp>
      <p:sp>
        <p:nvSpPr>
          <p:cNvPr id="1287467978"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Continuing the discussion on </a:t>
            </a:r>
            <a:r>
              <a:rPr sz="1200" b="1" i="0" u="none">
                <a:solidFill>
                  <a:srgbClr val="000000"/>
                </a:solidFill>
                <a:latin typeface="Times New Roman"/>
                <a:ea typeface="Times New Roman"/>
                <a:cs typeface="Times New Roman"/>
              </a:rPr>
              <a:t>schema evolution and incremental data model changes</a:t>
            </a:r>
            <a:r>
              <a:rPr sz="1200" b="0" i="0" u="none">
                <a:solidFill>
                  <a:srgbClr val="000000"/>
                </a:solidFill>
                <a:latin typeface="Times New Roman"/>
                <a:ea typeface="Times New Roman"/>
                <a:cs typeface="Times New Roman"/>
              </a:rPr>
              <a:t>, developers often adopt a technique known as </a:t>
            </a:r>
            <a:r>
              <a:rPr sz="1200" b="1" i="0" u="none">
                <a:solidFill>
                  <a:srgbClr val="000000"/>
                </a:solidFill>
                <a:latin typeface="Times New Roman"/>
                <a:ea typeface="Times New Roman"/>
                <a:cs typeface="Times New Roman"/>
              </a:rPr>
              <a:t>document versioning</a:t>
            </a:r>
            <a:r>
              <a:rPr sz="1200" b="0" i="0" u="none">
                <a:solidFill>
                  <a:srgbClr val="000000"/>
                </a:solidFill>
                <a:latin typeface="Times New Roman"/>
                <a:ea typeface="Times New Roman"/>
                <a:cs typeface="Times New Roman"/>
              </a:rPr>
              <a:t> to manage structural changes safely over time.</a:t>
            </a:r>
            <a:endParaRPr/>
          </a:p>
          <a:p>
            <a:pPr>
              <a:defRPr/>
            </a:pPr>
            <a:r>
              <a:rPr sz="1200" b="0" i="0" u="none">
                <a:solidFill>
                  <a:srgbClr val="000000"/>
                </a:solidFill>
                <a:latin typeface="Times New Roman"/>
                <a:ea typeface="Times New Roman"/>
                <a:cs typeface="Times New Roman"/>
              </a:rPr>
              <a:t>Document versioning is an architectural pattern in which each document contains a field indicating the </a:t>
            </a:r>
            <a:r>
              <a:rPr sz="1200" b="1" i="0" u="none">
                <a:solidFill>
                  <a:srgbClr val="000000"/>
                </a:solidFill>
                <a:latin typeface="Times New Roman"/>
                <a:ea typeface="Times New Roman"/>
                <a:cs typeface="Times New Roman"/>
              </a:rPr>
              <a:t>schema version</a:t>
            </a:r>
            <a:r>
              <a:rPr sz="1200" b="0" i="0" u="none">
                <a:solidFill>
                  <a:srgbClr val="000000"/>
                </a:solidFill>
                <a:latin typeface="Times New Roman"/>
                <a:ea typeface="Times New Roman"/>
                <a:cs typeface="Times New Roman"/>
              </a:rPr>
              <a:t> used when that document was created. When the application retrieves a document from the database, it reads this version field and processes the document according to the structure associated with that version. This mechanism allows multiple document structures to coexist within the same collection while the system gradually transitions to a newer schema.</a:t>
            </a:r>
            <a:endParaRPr/>
          </a:p>
          <a:p>
            <a:pPr>
              <a:defRPr/>
            </a:pPr>
            <a:r>
              <a:rPr sz="1200" b="0" i="0" u="none">
                <a:solidFill>
                  <a:srgbClr val="000000"/>
                </a:solidFill>
                <a:latin typeface="Times New Roman"/>
                <a:ea typeface="Times New Roman"/>
                <a:cs typeface="Times New Roman"/>
              </a:rPr>
              <a:t>Instead of performing a single large migration that modifies every document at once, versioning enables a </a:t>
            </a:r>
            <a:r>
              <a:rPr sz="1200" b="1" i="0" u="none">
                <a:solidFill>
                  <a:srgbClr val="000000"/>
                </a:solidFill>
                <a:latin typeface="Times New Roman"/>
                <a:ea typeface="Times New Roman"/>
                <a:cs typeface="Times New Roman"/>
              </a:rPr>
              <a:t>gradual and non-disruptive evolution of the data model</a:t>
            </a:r>
            <a:r>
              <a:rPr sz="1200" b="0" i="0" u="none">
                <a:solidFill>
                  <a:srgbClr val="000000"/>
                </a:solidFill>
                <a:latin typeface="Times New Roman"/>
                <a:ea typeface="Times New Roman"/>
                <a:cs typeface="Times New Roman"/>
              </a:rPr>
              <a:t>. Newly created documents are stored using the latest schema version, while older documents remain unchanged. When those older documents are read, the application can transform them into the expected structure dynamically.</a:t>
            </a:r>
            <a:endParaRPr/>
          </a:p>
          <a:p>
            <a:pPr>
              <a:defRPr/>
            </a:pPr>
            <a:r>
              <a:rPr sz="1200" b="0" i="0" u="none">
                <a:solidFill>
                  <a:srgbClr val="000000"/>
                </a:solidFill>
                <a:latin typeface="Times New Roman"/>
                <a:ea typeface="Times New Roman"/>
                <a:cs typeface="Times New Roman"/>
              </a:rPr>
              <a:t>For example, an application might initially store user information in a single field called </a:t>
            </a: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In a later version of the system, developers may decide to split this attribute into two separate fields: </a:t>
            </a:r>
            <a:r>
              <a:rPr sz="1000" b="0" i="0" u="none">
                <a:solidFill>
                  <a:srgbClr val="000000"/>
                </a:solidFill>
                <a:latin typeface="Courier New"/>
                <a:ea typeface="Courier New"/>
                <a:cs typeface="Courier New"/>
              </a:rPr>
              <a:t>first_name</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last_name</a:t>
            </a:r>
            <a:r>
              <a:rPr sz="1200" b="0" i="0" u="none">
                <a:solidFill>
                  <a:srgbClr val="000000"/>
                </a:solidFill>
                <a:latin typeface="Times New Roman"/>
                <a:ea typeface="Times New Roman"/>
                <a:cs typeface="Times New Roman"/>
              </a:rPr>
              <a:t>. With document versioning, older documents might still contain the </a:t>
            </a: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field, while newer documents store the two separate attributes. When the application reads a document, it checks the schema version and performs the appropriate transformation if necessary.</a:t>
            </a:r>
            <a:endParaRPr/>
          </a:p>
          <a:p>
            <a:pPr>
              <a:defRPr/>
            </a:pPr>
            <a:r>
              <a:rPr sz="1200" b="0" i="0" u="none">
                <a:solidFill>
                  <a:srgbClr val="000000"/>
                </a:solidFill>
                <a:latin typeface="Times New Roman"/>
                <a:ea typeface="Times New Roman"/>
                <a:cs typeface="Times New Roman"/>
              </a:rPr>
              <a:t>This strategy allows </a:t>
            </a:r>
            <a:r>
              <a:rPr sz="1200" b="1" i="0" u="none">
                <a:solidFill>
                  <a:srgbClr val="000000"/>
                </a:solidFill>
                <a:latin typeface="Times New Roman"/>
                <a:ea typeface="Times New Roman"/>
                <a:cs typeface="Times New Roman"/>
              </a:rPr>
              <a:t>different document versions to coexist for extended periods of time</a:t>
            </a:r>
            <a:r>
              <a:rPr sz="1200" b="0" i="0" u="none">
                <a:solidFill>
                  <a:srgbClr val="000000"/>
                </a:solidFill>
                <a:latin typeface="Times New Roman"/>
                <a:ea typeface="Times New Roman"/>
                <a:cs typeface="Times New Roman"/>
              </a:rPr>
              <a:t>, sometimes for months or even years, without disrupting system availability. Large-scale platforms such as </a:t>
            </a:r>
            <a:r>
              <a:rPr sz="1200" b="1" i="0" u="none">
                <a:solidFill>
                  <a:srgbClr val="000000"/>
                </a:solidFill>
                <a:latin typeface="Times New Roman"/>
                <a:ea typeface="Times New Roman"/>
                <a:cs typeface="Times New Roman"/>
              </a:rPr>
              <a:t>Netflix</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Spotify</a:t>
            </a:r>
            <a:r>
              <a:rPr sz="1200" b="0" i="0" u="none">
                <a:solidFill>
                  <a:srgbClr val="000000"/>
                </a:solidFill>
                <a:latin typeface="Times New Roman"/>
                <a:ea typeface="Times New Roman"/>
                <a:cs typeface="Times New Roman"/>
              </a:rPr>
              <a:t> use similar patterns to deploy schema changes to datasets containing hundreds of millions of records without requiring service downtime.</a:t>
            </a:r>
            <a:endParaRPr/>
          </a:p>
          <a:p>
            <a:pPr>
              <a:defRPr/>
            </a:pPr>
            <a:r>
              <a:rPr sz="1200" b="0" i="0" u="none">
                <a:solidFill>
                  <a:srgbClr val="000000"/>
                </a:solidFill>
                <a:latin typeface="Times New Roman"/>
                <a:ea typeface="Times New Roman"/>
                <a:cs typeface="Times New Roman"/>
              </a:rPr>
              <a:t>The transformation logic required to handle different document versions typically resides in the </a:t>
            </a:r>
            <a:r>
              <a:rPr sz="1200" b="1" i="0" u="none">
                <a:solidFill>
                  <a:srgbClr val="000000"/>
                </a:solidFill>
                <a:latin typeface="Times New Roman"/>
                <a:ea typeface="Times New Roman"/>
                <a:cs typeface="Times New Roman"/>
              </a:rPr>
              <a:t>backend application layer</a:t>
            </a:r>
            <a:r>
              <a:rPr sz="1200" b="0" i="0" u="none">
                <a:solidFill>
                  <a:srgbClr val="000000"/>
                </a:solidFill>
                <a:latin typeface="Times New Roman"/>
                <a:ea typeface="Times New Roman"/>
                <a:cs typeface="Times New Roman"/>
              </a:rPr>
              <a:t>, often implemented in a data-mapping or serialization component. This layer converts documents retrieved from the database into a consistent in-memory structure before passing them to the application’s business logic.</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Document versioning enables safe and gradual schema evolution by allowing multiple document structures to coexist while the application handles compatibility and transformation between versions.</a:t>
            </a:r>
            <a:endParaRPr/>
          </a:p>
          <a:p>
            <a:pPr>
              <a:defRPr/>
            </a:pPr>
            <a:r>
              <a:rPr sz="1200" b="1" i="0" u="none">
                <a:solidFill>
                  <a:srgbClr val="000000"/>
                </a:solidFill>
                <a:latin typeface="Times New Roman"/>
                <a:ea typeface="Times New Roman"/>
                <a:cs typeface="Times New Roman"/>
              </a:rPr>
              <a:t>Interview Question</a:t>
            </a:r>
            <a:endParaRPr/>
          </a:p>
          <a:p>
            <a:pPr>
              <a:defRPr/>
            </a:pPr>
            <a:r>
              <a:rPr sz="1200" b="0" i="0" u="none">
                <a:solidFill>
                  <a:srgbClr val="000000"/>
                </a:solidFill>
                <a:latin typeface="Times New Roman"/>
                <a:ea typeface="Times New Roman"/>
                <a:cs typeface="Times New Roman"/>
              </a:rPr>
              <a:t>Why is schema versioning useful in document databases?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Schema versioning allows applications to support multiple document structures simultaneously. New documents are created using the latest schema, while older documents remain unchanged. The application checks the version of each document and applies the appropriate transformation when it is read, enabling gradual migration without large-scale database updates.</a:t>
            </a:r>
            <a:endParaRPr/>
          </a:p>
          <a:p>
            <a:pPr>
              <a:defRPr/>
            </a:pPr>
            <a:r>
              <a:rPr sz="1200" b="1" i="0" u="none">
                <a:solidFill>
                  <a:srgbClr val="000000"/>
                </a:solidFill>
                <a:latin typeface="Times New Roman"/>
                <a:ea typeface="Times New Roman"/>
                <a:cs typeface="Times New Roman"/>
              </a:rPr>
              <a:t>Additional Interview Question</a:t>
            </a:r>
            <a:endParaRPr/>
          </a:p>
          <a:p>
            <a:pPr>
              <a:defRPr/>
            </a:pPr>
            <a:r>
              <a:rPr sz="1200" b="0" i="0" u="none">
                <a:solidFill>
                  <a:srgbClr val="000000"/>
                </a:solidFill>
                <a:latin typeface="Times New Roman"/>
                <a:ea typeface="Times New Roman"/>
                <a:cs typeface="Times New Roman"/>
              </a:rPr>
              <a:t>Where does the logic that transforms older document versions into the latest structure typically reside?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transformation logic is implemented in the backend application code, usually within a data-mapping or serialization layer. This component normalizes documents retrieved from the database so that the rest of the application always works with the latest in-memory data structure.</a:t>
            </a:r>
            <a:endParaRPr/>
          </a:p>
        </p:txBody>
      </p:sp>
      <p:sp>
        <p:nvSpPr>
          <p:cNvPr id="104862241" name="Slide Number Placeholder 3"/>
          <p:cNvSpPr>
            <a:spLocks noGrp="1"/>
          </p:cNvSpPr>
          <p:nvPr>
            <p:ph type="sldNum" sz="quarter" idx="10"/>
          </p:nvPr>
        </p:nvSpPr>
        <p:spPr bwMode="auto"/>
        <p:txBody>
          <a:bodyPr/>
          <a:lstStyle/>
          <a:p>
            <a:pPr>
              <a:defRPr/>
            </a:pPr>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521540" name="Slide Image Placeholder 1"/>
          <p:cNvSpPr>
            <a:spLocks noChangeAspect="1" noGrp="1" noRot="1"/>
          </p:cNvSpPr>
          <p:nvPr>
            <p:ph type="sldImg"/>
          </p:nvPr>
        </p:nvSpPr>
        <p:spPr bwMode="auto"/>
      </p:sp>
      <p:sp>
        <p:nvSpPr>
          <p:cNvPr id="1786554770"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Building on the previous discussion of </a:t>
            </a:r>
            <a:r>
              <a:rPr sz="1200" b="1" i="0" u="none">
                <a:solidFill>
                  <a:srgbClr val="000000"/>
                </a:solidFill>
                <a:latin typeface="Times New Roman"/>
                <a:ea typeface="Times New Roman"/>
                <a:cs typeface="Times New Roman"/>
              </a:rPr>
              <a:t>document versioning as a strategy for safe schema evolution</a:t>
            </a:r>
            <a:r>
              <a:rPr sz="1200" b="0" i="0" u="none">
                <a:solidFill>
                  <a:srgbClr val="000000"/>
                </a:solidFill>
                <a:latin typeface="Times New Roman"/>
                <a:ea typeface="Times New Roman"/>
                <a:cs typeface="Times New Roman"/>
              </a:rPr>
              <a:t>, we can examine a concrete example that illustrates how versioning works in practice.</a:t>
            </a:r>
            <a:endParaRPr/>
          </a:p>
          <a:p>
            <a:pPr>
              <a:defRPr/>
            </a:pPr>
            <a:r>
              <a:rPr sz="1200" b="0" i="0" u="none">
                <a:solidFill>
                  <a:srgbClr val="000000"/>
                </a:solidFill>
                <a:latin typeface="Times New Roman"/>
                <a:ea typeface="Times New Roman"/>
                <a:cs typeface="Times New Roman"/>
              </a:rPr>
              <a:t>Consider a simple student document stored in a document database. In the first version of the application, the system stores the student’s full name in a single field called </a:t>
            </a: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The document structure might look like the following:</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"name": "Maria Papadopoulou",</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"schema_version": 1</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At some point, the development team realizes that storing the full name as a single string limits the functionality of the system. For example, it becomes difficult to sort students alphabetically by last name or to generate personalized greetings. To support these features, the application evolves so that the name is stored in two separate fields: </a:t>
            </a:r>
            <a:r>
              <a:rPr sz="1000" b="0" i="0" u="none">
                <a:solidFill>
                  <a:srgbClr val="000000"/>
                </a:solidFill>
                <a:latin typeface="Courier New"/>
                <a:ea typeface="Courier New"/>
                <a:cs typeface="Courier New"/>
              </a:rPr>
              <a:t>first_name</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last_name</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the newer version of the application, newly created documents follow the updated structure:</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"first_name": "Maria",</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"last_name": "Papadopoulou",</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"schema_version": 2</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Importantly, the database does </a:t>
            </a:r>
            <a:r>
              <a:rPr sz="1200" b="1" i="0" u="none">
                <a:solidFill>
                  <a:srgbClr val="000000"/>
                </a:solidFill>
                <a:latin typeface="Times New Roman"/>
                <a:ea typeface="Times New Roman"/>
                <a:cs typeface="Times New Roman"/>
              </a:rPr>
              <a:t>not automatically convert existing documents</a:t>
            </a:r>
            <a:r>
              <a:rPr sz="1200" b="0" i="0" u="none">
                <a:solidFill>
                  <a:srgbClr val="000000"/>
                </a:solidFill>
                <a:latin typeface="Times New Roman"/>
                <a:ea typeface="Times New Roman"/>
                <a:cs typeface="Times New Roman"/>
              </a:rPr>
              <a:t> to the new format. Instead, the application checks the value of the </a:t>
            </a:r>
            <a:r>
              <a:rPr sz="1000" b="0" i="0" u="none">
                <a:solidFill>
                  <a:srgbClr val="000000"/>
                </a:solidFill>
                <a:latin typeface="Courier New"/>
                <a:ea typeface="Courier New"/>
                <a:cs typeface="Courier New"/>
              </a:rPr>
              <a:t>schema_version</a:t>
            </a:r>
            <a:r>
              <a:rPr sz="1200" b="0" i="0" u="none">
                <a:solidFill>
                  <a:srgbClr val="000000"/>
                </a:solidFill>
                <a:latin typeface="Times New Roman"/>
                <a:ea typeface="Times New Roman"/>
                <a:cs typeface="Times New Roman"/>
              </a:rPr>
              <a:t> field whenever a document is read. If the document has version 1, the application knows that it must derive the first and last names from the original </a:t>
            </a: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field when processing the data.</a:t>
            </a:r>
            <a:endParaRPr/>
          </a:p>
          <a:p>
            <a:pPr>
              <a:defRPr/>
            </a:pPr>
            <a:r>
              <a:rPr sz="1200" b="0" i="0" u="none">
                <a:solidFill>
                  <a:srgbClr val="000000"/>
                </a:solidFill>
                <a:latin typeface="Times New Roman"/>
                <a:ea typeface="Times New Roman"/>
                <a:cs typeface="Times New Roman"/>
              </a:rPr>
              <a:t>This design allows </a:t>
            </a:r>
            <a:r>
              <a:rPr sz="1200" b="1" i="0" u="none">
                <a:solidFill>
                  <a:srgbClr val="000000"/>
                </a:solidFill>
                <a:latin typeface="Times New Roman"/>
                <a:ea typeface="Times New Roman"/>
                <a:cs typeface="Times New Roman"/>
              </a:rPr>
              <a:t>older and newer document structures to coexist</a:t>
            </a:r>
            <a:r>
              <a:rPr sz="1200" b="0" i="0" u="none">
                <a:solidFill>
                  <a:srgbClr val="000000"/>
                </a:solidFill>
                <a:latin typeface="Times New Roman"/>
                <a:ea typeface="Times New Roman"/>
                <a:cs typeface="Times New Roman"/>
              </a:rPr>
              <a:t> within the same collection without interrupting the operation of the system. New documents immediately adopt the updated structure, while existing documents remain unchanged until they are updated.</a:t>
            </a:r>
            <a:endParaRPr/>
          </a:p>
          <a:p>
            <a:pPr>
              <a:defRPr/>
            </a:pPr>
            <a:r>
              <a:rPr sz="1200" b="0" i="0" u="none">
                <a:solidFill>
                  <a:srgbClr val="000000"/>
                </a:solidFill>
                <a:latin typeface="Times New Roman"/>
                <a:ea typeface="Times New Roman"/>
                <a:cs typeface="Times New Roman"/>
              </a:rPr>
              <a:t>In many systems, a </a:t>
            </a:r>
            <a:r>
              <a:rPr sz="1200" b="1" i="0" u="none">
                <a:solidFill>
                  <a:srgbClr val="000000"/>
                </a:solidFill>
                <a:latin typeface="Times New Roman"/>
                <a:ea typeface="Times New Roman"/>
                <a:cs typeface="Times New Roman"/>
              </a:rPr>
              <a:t>background migration process</a:t>
            </a:r>
            <a:r>
              <a:rPr sz="1200" b="0" i="0" u="none">
                <a:solidFill>
                  <a:srgbClr val="000000"/>
                </a:solidFill>
                <a:latin typeface="Times New Roman"/>
                <a:ea typeface="Times New Roman"/>
                <a:cs typeface="Times New Roman"/>
              </a:rPr>
              <a:t> may gradually convert older documents to the new structure. This process runs at a low priority so that it does not interfere with normal application performance. Over time—possibly over several days or weeks—the system slowly updates older documents until most records follow the new schema.</a:t>
            </a:r>
            <a:endParaRPr/>
          </a:p>
          <a:p>
            <a:pPr>
              <a:defRPr/>
            </a:pPr>
            <a:r>
              <a:rPr sz="1200" b="0" i="0" u="none">
                <a:solidFill>
                  <a:srgbClr val="000000"/>
                </a:solidFill>
                <a:latin typeface="Times New Roman"/>
                <a:ea typeface="Times New Roman"/>
                <a:cs typeface="Times New Roman"/>
              </a:rPr>
              <a:t>A similar situation often occurs in social media platforms. For example, an early version of a system might store a user's </a:t>
            </a:r>
            <a:r>
              <a:rPr sz="1000" b="0" i="0" u="none">
                <a:solidFill>
                  <a:srgbClr val="000000"/>
                </a:solidFill>
                <a:latin typeface="Courier New"/>
                <a:ea typeface="Courier New"/>
                <a:cs typeface="Courier New"/>
              </a:rPr>
              <a:t>location</a:t>
            </a:r>
            <a:r>
              <a:rPr sz="1200" b="0" i="0" u="none">
                <a:solidFill>
                  <a:srgbClr val="000000"/>
                </a:solidFill>
                <a:latin typeface="Times New Roman"/>
                <a:ea typeface="Times New Roman"/>
                <a:cs typeface="Times New Roman"/>
              </a:rPr>
              <a:t> as a single text string. As the platform evolves, developers may decide to store location as separate attributes such as </a:t>
            </a:r>
            <a:r>
              <a:rPr sz="1000" b="0" i="0" u="none">
                <a:solidFill>
                  <a:srgbClr val="000000"/>
                </a:solidFill>
                <a:latin typeface="Courier New"/>
                <a:ea typeface="Courier New"/>
                <a:cs typeface="Courier New"/>
              </a:rPr>
              <a:t>city</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region</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country</a:t>
            </a:r>
            <a:r>
              <a:rPr sz="1200" b="0" i="0" u="none">
                <a:solidFill>
                  <a:srgbClr val="000000"/>
                </a:solidFill>
                <a:latin typeface="Times New Roman"/>
                <a:ea typeface="Times New Roman"/>
                <a:cs typeface="Times New Roman"/>
              </a:rPr>
              <a:t> in order to support more advanced search and filtering features. Using document versioning, both formats can exist simultaneously while the application handles the differences between them.</a:t>
            </a:r>
            <a:endParaRPr/>
          </a:p>
          <a:p>
            <a:pPr>
              <a:defRPr/>
            </a:pPr>
            <a:r>
              <a:rPr sz="1200" b="0" i="0" u="none">
                <a:solidFill>
                  <a:srgbClr val="000000"/>
                </a:solidFill>
                <a:latin typeface="Times New Roman"/>
                <a:ea typeface="Times New Roman"/>
                <a:cs typeface="Times New Roman"/>
              </a:rPr>
              <a:t>The logic required to handle different schema versions is usually straightforward. For example, when processing a version 1 document, the application may simply split the </a:t>
            </a: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field into two components before using the data internally.</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Document versioning enables applications to evolve their data models incrementally. Multiple document structures can coexist, while the application ensures compatibility between older and newer versions of the data.</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Does the database engine need to be modified or reconfigured to support schema versioning?</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No. The database engine does not need any special configuration. The </a:t>
            </a:r>
            <a:r>
              <a:rPr sz="1000" b="0" i="0" u="none">
                <a:solidFill>
                  <a:srgbClr val="000000"/>
                </a:solidFill>
                <a:latin typeface="Courier New"/>
                <a:ea typeface="Courier New"/>
                <a:cs typeface="Courier New"/>
              </a:rPr>
              <a:t>schema_version</a:t>
            </a:r>
            <a:r>
              <a:rPr sz="1200" b="0" i="0" u="none">
                <a:solidFill>
                  <a:srgbClr val="000000"/>
                </a:solidFill>
                <a:latin typeface="Times New Roman"/>
                <a:ea typeface="Times New Roman"/>
                <a:cs typeface="Times New Roman"/>
              </a:rPr>
              <a:t> field is simply stored as a normal attribute within each document. The entire versioning mechanism—including detecting older document formats and transforming them—is implemented entirely within the application code. The database itself remains unaware of the versioning logic.</a:t>
            </a:r>
            <a:endParaRPr/>
          </a:p>
        </p:txBody>
      </p:sp>
      <p:sp>
        <p:nvSpPr>
          <p:cNvPr id="1151192496" name="Slide Number Placeholder 3"/>
          <p:cNvSpPr>
            <a:spLocks noGrp="1"/>
          </p:cNvSpPr>
          <p:nvPr>
            <p:ph type="sldNum" sz="quarter" idx="10"/>
          </p:nvPr>
        </p:nvSpPr>
        <p:spPr bwMode="auto"/>
        <p:txBody>
          <a:bodyPr/>
          <a:lstStyle/>
          <a:p>
            <a:pPr>
              <a:defRPr/>
            </a:pPr>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7765691" name="Slide Image Placeholder 1"/>
          <p:cNvSpPr>
            <a:spLocks noChangeAspect="1" noGrp="1" noRot="1"/>
          </p:cNvSpPr>
          <p:nvPr>
            <p:ph type="sldImg"/>
          </p:nvPr>
        </p:nvSpPr>
        <p:spPr bwMode="auto"/>
      </p:sp>
      <p:sp>
        <p:nvSpPr>
          <p:cNvPr id="367242089"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Building on the previous discussion of </a:t>
            </a:r>
            <a:r>
              <a:rPr sz="1200" b="1" i="0" u="none">
                <a:solidFill>
                  <a:srgbClr val="000000"/>
                </a:solidFill>
                <a:latin typeface="Times New Roman"/>
                <a:ea typeface="Times New Roman"/>
                <a:cs typeface="Times New Roman"/>
              </a:rPr>
              <a:t>schema flexibility, gradual schema evolution, and document versioning</a:t>
            </a:r>
            <a:r>
              <a:rPr sz="1200" b="0" i="0" u="none">
                <a:solidFill>
                  <a:srgbClr val="000000"/>
                </a:solidFill>
                <a:latin typeface="Times New Roman"/>
                <a:ea typeface="Times New Roman"/>
                <a:cs typeface="Times New Roman"/>
              </a:rPr>
              <a:t>, we can now summarize why versioning is such an important technique in modern software systems.</a:t>
            </a:r>
            <a:endParaRPr/>
          </a:p>
          <a:p>
            <a:pPr>
              <a:defRPr/>
            </a:pPr>
            <a:r>
              <a:rPr sz="1200" b="0" i="0" u="none">
                <a:solidFill>
                  <a:srgbClr val="000000"/>
                </a:solidFill>
                <a:latin typeface="Times New Roman"/>
                <a:ea typeface="Times New Roman"/>
                <a:cs typeface="Times New Roman"/>
              </a:rPr>
              <a:t>Document versioning provides several significant advantages for modern development environments. One of the most important is the ability to support </a:t>
            </a:r>
            <a:r>
              <a:rPr sz="1200" b="1" i="0" u="none">
                <a:solidFill>
                  <a:srgbClr val="000000"/>
                </a:solidFill>
                <a:latin typeface="Times New Roman"/>
                <a:ea typeface="Times New Roman"/>
                <a:cs typeface="Times New Roman"/>
              </a:rPr>
              <a:t>zero-downtime deployments</a:t>
            </a:r>
            <a:r>
              <a:rPr sz="1200" b="0" i="0" u="none">
                <a:solidFill>
                  <a:srgbClr val="000000"/>
                </a:solidFill>
                <a:latin typeface="Times New Roman"/>
                <a:ea typeface="Times New Roman"/>
                <a:cs typeface="Times New Roman"/>
              </a:rPr>
              <a:t>. In traditional relational databases, schema changes often require database migrations such as </a:t>
            </a:r>
            <a:r>
              <a:rPr sz="1000" b="0" i="0" u="none">
                <a:solidFill>
                  <a:srgbClr val="000000"/>
                </a:solidFill>
                <a:latin typeface="Courier New"/>
                <a:ea typeface="Courier New"/>
                <a:cs typeface="Courier New"/>
              </a:rPr>
              <a:t>ALTER TABLE</a:t>
            </a:r>
            <a:r>
              <a:rPr sz="1200" b="0" i="0" u="none">
                <a:solidFill>
                  <a:srgbClr val="000000"/>
                </a:solidFill>
                <a:latin typeface="Times New Roman"/>
                <a:ea typeface="Times New Roman"/>
                <a:cs typeface="Times New Roman"/>
              </a:rPr>
              <a:t> operations or large update scripts that modify existing rows. These operations can temporarily block access to data or require carefully scheduled maintenance windows.</a:t>
            </a:r>
            <a:endParaRPr/>
          </a:p>
          <a:p>
            <a:pPr>
              <a:defRPr/>
            </a:pPr>
            <a:r>
              <a:rPr sz="1200" b="0" i="0" u="none">
                <a:solidFill>
                  <a:srgbClr val="000000"/>
                </a:solidFill>
                <a:latin typeface="Times New Roman"/>
                <a:ea typeface="Times New Roman"/>
                <a:cs typeface="Times New Roman"/>
              </a:rPr>
              <a:t>In contrast, document databases allow </a:t>
            </a:r>
            <a:r>
              <a:rPr sz="1200" b="1" i="0" u="none">
                <a:solidFill>
                  <a:srgbClr val="000000"/>
                </a:solidFill>
                <a:latin typeface="Times New Roman"/>
                <a:ea typeface="Times New Roman"/>
                <a:cs typeface="Times New Roman"/>
              </a:rPr>
              <a:t>new documents to adopt an updated schema while older documents remain unchanged</a:t>
            </a:r>
            <a:r>
              <a:rPr sz="1200" b="0" i="0" u="none">
                <a:solidFill>
                  <a:srgbClr val="000000"/>
                </a:solidFill>
                <a:latin typeface="Times New Roman"/>
                <a:ea typeface="Times New Roman"/>
                <a:cs typeface="Times New Roman"/>
              </a:rPr>
              <a:t>. This means schema evolution can occur gradually rather than through a single large migration step. The system continues to operate normally while the data model evolves.</a:t>
            </a:r>
            <a:endParaRPr/>
          </a:p>
          <a:p>
            <a:pPr>
              <a:defRPr/>
            </a:pPr>
            <a:r>
              <a:rPr sz="1200" b="0" i="0" u="none">
                <a:solidFill>
                  <a:srgbClr val="000000"/>
                </a:solidFill>
                <a:latin typeface="Times New Roman"/>
                <a:ea typeface="Times New Roman"/>
                <a:cs typeface="Times New Roman"/>
              </a:rPr>
              <a:t>Another important benefit is </a:t>
            </a:r>
            <a:r>
              <a:rPr sz="1200" b="1" i="0" u="none">
                <a:solidFill>
                  <a:srgbClr val="000000"/>
                </a:solidFill>
                <a:latin typeface="Times New Roman"/>
                <a:ea typeface="Times New Roman"/>
                <a:cs typeface="Times New Roman"/>
              </a:rPr>
              <a:t>backward compatibility</a:t>
            </a:r>
            <a:r>
              <a:rPr sz="1200" b="0" i="0" u="none">
                <a:solidFill>
                  <a:srgbClr val="000000"/>
                </a:solidFill>
                <a:latin typeface="Times New Roman"/>
                <a:ea typeface="Times New Roman"/>
                <a:cs typeface="Times New Roman"/>
              </a:rPr>
              <a:t>. Because older documents remain stored in their original format, the application can continue to process them even after the schema changes. As discussed earlier, the application checks the document’s schema version and applies the appropriate transformation logic when necessary. This allows multiple document structures to coexist safely within the same collection.</a:t>
            </a:r>
            <a:endParaRPr/>
          </a:p>
          <a:p>
            <a:pPr>
              <a:defRPr/>
            </a:pPr>
            <a:r>
              <a:rPr sz="1200" b="0" i="0" u="none">
                <a:solidFill>
                  <a:srgbClr val="000000"/>
                </a:solidFill>
                <a:latin typeface="Times New Roman"/>
                <a:ea typeface="Times New Roman"/>
                <a:cs typeface="Times New Roman"/>
              </a:rPr>
              <a:t>Document versioning also makes </a:t>
            </a:r>
            <a:r>
              <a:rPr sz="1200" b="1" i="0" u="none">
                <a:solidFill>
                  <a:srgbClr val="000000"/>
                </a:solidFill>
                <a:latin typeface="Times New Roman"/>
                <a:ea typeface="Times New Roman"/>
                <a:cs typeface="Times New Roman"/>
              </a:rPr>
              <a:t>rollback procedures much simpler and safer</a:t>
            </a:r>
            <a:r>
              <a:rPr sz="1200" b="0" i="0" u="none">
                <a:solidFill>
                  <a:srgbClr val="000000"/>
                </a:solidFill>
                <a:latin typeface="Times New Roman"/>
                <a:ea typeface="Times New Roman"/>
                <a:cs typeface="Times New Roman"/>
              </a:rPr>
              <a:t>. In relational systems, schema migrations may involve destructive operations. For example, if a migration removes a column using </a:t>
            </a:r>
            <a:r>
              <a:rPr sz="1000" b="0" i="0" u="none">
                <a:solidFill>
                  <a:srgbClr val="000000"/>
                </a:solidFill>
                <a:latin typeface="Courier New"/>
                <a:ea typeface="Courier New"/>
                <a:cs typeface="Courier New"/>
              </a:rPr>
              <a:t>ALTER TABLE</a:t>
            </a:r>
            <a:r>
              <a:rPr sz="1200" b="0" i="0" u="none">
                <a:solidFill>
                  <a:srgbClr val="000000"/>
                </a:solidFill>
                <a:latin typeface="Times New Roman"/>
                <a:ea typeface="Times New Roman"/>
                <a:cs typeface="Times New Roman"/>
              </a:rPr>
              <a:t>, the data previously stored in that column is permanently lost. If the application update later fails, restoring the previous system state may require restoring database backups or performing complex recovery procedures.</a:t>
            </a:r>
            <a:endParaRPr/>
          </a:p>
          <a:p>
            <a:pPr>
              <a:defRPr/>
            </a:pPr>
            <a:r>
              <a:rPr sz="1200" b="0" i="0" u="none">
                <a:solidFill>
                  <a:srgbClr val="000000"/>
                </a:solidFill>
                <a:latin typeface="Times New Roman"/>
                <a:ea typeface="Times New Roman"/>
                <a:cs typeface="Times New Roman"/>
              </a:rPr>
              <a:t>With document versioning, the situation is very different. The database itself is not rewritten during schema evolution. Instead, different document versions coexist in the same collection. If a new application release introduces a problem, developers can simply redeploy the previous version of the application code. Because the data has not been destructively modified, the earlier version of the application can continue to operate normally.</a:t>
            </a:r>
            <a:endParaRPr/>
          </a:p>
          <a:p>
            <a:pPr>
              <a:defRPr/>
            </a:pPr>
            <a:r>
              <a:rPr sz="1200" b="0" i="0" u="none">
                <a:solidFill>
                  <a:srgbClr val="000000"/>
                </a:solidFill>
                <a:latin typeface="Times New Roman"/>
                <a:ea typeface="Times New Roman"/>
                <a:cs typeface="Times New Roman"/>
              </a:rPr>
              <a:t>This approach strongly supports </a:t>
            </a:r>
            <a:r>
              <a:rPr sz="1200" b="1" i="0" u="none">
                <a:solidFill>
                  <a:srgbClr val="000000"/>
                </a:solidFill>
                <a:latin typeface="Times New Roman"/>
                <a:ea typeface="Times New Roman"/>
                <a:cs typeface="Times New Roman"/>
              </a:rPr>
              <a:t>continuous delivery and rapid feature iteration</a:t>
            </a:r>
            <a:r>
              <a:rPr sz="1200" b="0" i="0" u="none">
                <a:solidFill>
                  <a:srgbClr val="000000"/>
                </a:solidFill>
                <a:latin typeface="Times New Roman"/>
                <a:ea typeface="Times New Roman"/>
                <a:cs typeface="Times New Roman"/>
              </a:rPr>
              <a:t>, which are central practices in modern software engineering. Development teams can introduce new fields or modify document structures incrementally without performing large migrations that affect the entire dataset. As a result, schema changes become routine operations that can be deployed frequently with minimal operational risk.</a:t>
            </a:r>
            <a:endParaRPr/>
          </a:p>
          <a:p>
            <a:pPr>
              <a:defRPr/>
            </a:pPr>
            <a:r>
              <a:rPr sz="1200" b="0" i="0" u="none">
                <a:solidFill>
                  <a:srgbClr val="000000"/>
                </a:solidFill>
                <a:latin typeface="Times New Roman"/>
                <a:ea typeface="Times New Roman"/>
                <a:cs typeface="Times New Roman"/>
              </a:rPr>
              <a:t>Large-scale technology companies rely on similar strategies when managing systems containing hundreds of millions of records. Organizations such as </a:t>
            </a:r>
            <a:r>
              <a:rPr sz="1200" b="1" i="0" u="none">
                <a:solidFill>
                  <a:srgbClr val="000000"/>
                </a:solidFill>
                <a:latin typeface="Times New Roman"/>
                <a:ea typeface="Times New Roman"/>
                <a:cs typeface="Times New Roman"/>
              </a:rPr>
              <a:t>Netflix</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Amazon</a:t>
            </a:r>
            <a:r>
              <a:rPr sz="1200" b="0" i="0" u="none">
                <a:solidFill>
                  <a:srgbClr val="000000"/>
                </a:solidFill>
                <a:latin typeface="Times New Roman"/>
                <a:ea typeface="Times New Roman"/>
                <a:cs typeface="Times New Roman"/>
              </a:rPr>
              <a:t> deploy software updates many times per day. Document versioning allows them to introduce new fields gradually while different versions of application services continue to operate simultaneously.</a:t>
            </a:r>
            <a:endParaRPr/>
          </a:p>
          <a:p>
            <a:pPr>
              <a:defRPr/>
            </a:pPr>
            <a:r>
              <a:rPr sz="1200" b="0" i="0" u="none">
                <a:solidFill>
                  <a:srgbClr val="000000"/>
                </a:solidFill>
                <a:latin typeface="Times New Roman"/>
                <a:ea typeface="Times New Roman"/>
                <a:cs typeface="Times New Roman"/>
              </a:rPr>
              <a:t>From a risk management perspective, versioning fundamentally changes how schema evolution is handled. Because the database is not rewritten through large migration scripts, there is no risk of corrupting massive datasets due to a failed update operation. Each document remains valid in the format in which it was originally written. In practice, engineering teams that adopt versioning frequently report </a:t>
            </a:r>
            <a:r>
              <a:rPr sz="1200" b="1" i="0" u="none">
                <a:solidFill>
                  <a:srgbClr val="000000"/>
                </a:solidFill>
                <a:latin typeface="Times New Roman"/>
                <a:ea typeface="Times New Roman"/>
                <a:cs typeface="Times New Roman"/>
              </a:rPr>
              <a:t>shorter deployment cycles, fewer emergency incidents, and less operational stress during releases</a:t>
            </a:r>
            <a:r>
              <a:rPr sz="1200" b="0" i="0" u="none">
                <a:solidFill>
                  <a:srgbClr val="000000"/>
                </a:solidFill>
                <a:latin typeface="Times New Roman"/>
                <a:ea typeface="Times New Roman"/>
                <a:cs typeface="Times New Roman"/>
              </a:rPr>
              <a:t>, because schema changes become predictable and low-risk.</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Document versioning enables flexible schema evolution while maintaining system availability and data integrity. It supports modern development practices such as </a:t>
            </a:r>
            <a:r>
              <a:rPr sz="1200" b="1" i="0" u="none">
                <a:solidFill>
                  <a:srgbClr val="000000"/>
                </a:solidFill>
                <a:latin typeface="Times New Roman"/>
                <a:ea typeface="Times New Roman"/>
                <a:cs typeface="Times New Roman"/>
              </a:rPr>
              <a:t>continuous deployment, safe rollbacks, and rapid feature iteration</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How does document versioning enable rollbacks that would be difficult or impossible with relational schema migrations?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In relational systems, once a migration performs a destructive change—such as dropping a column with </a:t>
            </a:r>
            <a:r>
              <a:rPr sz="1000" b="0" i="0" u="none">
                <a:solidFill>
                  <a:srgbClr val="000000"/>
                </a:solidFill>
                <a:latin typeface="Courier New"/>
                <a:ea typeface="Courier New"/>
                <a:cs typeface="Courier New"/>
              </a:rPr>
              <a:t>ALTER TABLE</a:t>
            </a:r>
            <a:r>
              <a:rPr sz="1200" b="0" i="0" u="none">
                <a:solidFill>
                  <a:srgbClr val="000000"/>
                </a:solidFill>
                <a:latin typeface="Times New Roman"/>
                <a:ea typeface="Times New Roman"/>
                <a:cs typeface="Times New Roman"/>
              </a:rPr>
              <a:t>—the data in that column is permanently lost. Rolling back the system therefore requires restoring backups or performing complex recovery operations. With document versioning, however, older documents remain unchanged when the schema evolves. If a new release fails, developers can simply redeploy the previous version of the application code, which continues to work with the older document structure. The data itself remains intact because no destructive migration occurred.</a:t>
            </a:r>
            <a:endParaRPr/>
          </a:p>
        </p:txBody>
      </p:sp>
      <p:sp>
        <p:nvSpPr>
          <p:cNvPr id="369858439" name="Slide Number Placeholder 3"/>
          <p:cNvSpPr>
            <a:spLocks noGrp="1"/>
          </p:cNvSpPr>
          <p:nvPr>
            <p:ph type="sldNum" sz="quarter" idx="10"/>
          </p:nvPr>
        </p:nvSpPr>
        <p:spPr bwMode="auto"/>
        <p:txBody>
          <a:bodyPr/>
          <a:lstStyle/>
          <a:p>
            <a:pPr>
              <a:defRPr/>
            </a:pPr>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177512" name="Slide Image Placeholder 1"/>
          <p:cNvSpPr>
            <a:spLocks noChangeAspect="1" noGrp="1" noRot="1"/>
          </p:cNvSpPr>
          <p:nvPr>
            <p:ph type="sldImg"/>
          </p:nvPr>
        </p:nvSpPr>
        <p:spPr bwMode="auto"/>
      </p:sp>
      <p:sp>
        <p:nvSpPr>
          <p:cNvPr id="1915479607"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Having examined how document databases support </a:t>
            </a:r>
            <a:r>
              <a:rPr sz="1200" b="1" i="0" u="none">
                <a:solidFill>
                  <a:srgbClr val="000000"/>
                </a:solidFill>
                <a:latin typeface="Times New Roman"/>
                <a:ea typeface="Times New Roman"/>
                <a:cs typeface="Times New Roman"/>
              </a:rPr>
              <a:t>schema flexibility, gradual schema evolution, and versioning</a:t>
            </a:r>
            <a:r>
              <a:rPr sz="1200" b="0" i="0" u="none">
                <a:solidFill>
                  <a:srgbClr val="000000"/>
                </a:solidFill>
                <a:latin typeface="Times New Roman"/>
                <a:ea typeface="Times New Roman"/>
                <a:cs typeface="Times New Roman"/>
              </a:rPr>
              <a:t>, the next step is understanding how developers actually </a:t>
            </a:r>
            <a:r>
              <a:rPr sz="1200" b="1" i="0" u="none">
                <a:solidFill>
                  <a:srgbClr val="000000"/>
                </a:solidFill>
                <a:latin typeface="Times New Roman"/>
                <a:ea typeface="Times New Roman"/>
                <a:cs typeface="Times New Roman"/>
              </a:rPr>
              <a:t>design document structures in practice</a:t>
            </a:r>
            <a:r>
              <a:rPr sz="1200" b="0" i="0" u="none">
                <a:solidFill>
                  <a:srgbClr val="000000"/>
                </a:solidFill>
                <a:latin typeface="Times New Roman"/>
                <a:ea typeface="Times New Roman"/>
                <a:cs typeface="Times New Roman"/>
              </a:rPr>
              <a:t>. Over time, several well-known schema design patterns have emerged that address common modeling challenges in document databases.</a:t>
            </a:r>
            <a:endParaRPr/>
          </a:p>
          <a:p>
            <a:pPr>
              <a:defRPr/>
            </a:pPr>
            <a:r>
              <a:rPr sz="1200" b="0" i="0" u="none">
                <a:solidFill>
                  <a:srgbClr val="000000"/>
                </a:solidFill>
                <a:latin typeface="Times New Roman"/>
                <a:ea typeface="Times New Roman"/>
                <a:cs typeface="Times New Roman"/>
              </a:rPr>
              <a:t>One of the most common patterns is </a:t>
            </a:r>
            <a:r>
              <a:rPr sz="1200" b="1" i="0" u="none">
                <a:solidFill>
                  <a:srgbClr val="000000"/>
                </a:solidFill>
                <a:latin typeface="Times New Roman"/>
                <a:ea typeface="Times New Roman"/>
                <a:cs typeface="Times New Roman"/>
              </a:rPr>
              <a:t>embedding</a:t>
            </a:r>
            <a:r>
              <a:rPr sz="1200" b="0" i="0" u="none">
                <a:solidFill>
                  <a:srgbClr val="000000"/>
                </a:solidFill>
                <a:latin typeface="Times New Roman"/>
                <a:ea typeface="Times New Roman"/>
                <a:cs typeface="Times New Roman"/>
              </a:rPr>
              <a:t>. In this approach, related data is stored directly inside the parent document. Embedding is typically the default choice when the child data is closely tied to the parent and is always accessed together with it. For example, an order document may embed the list of items included in that order. This design improves performance because all relevant information can be retrieved with a single database query.</a:t>
            </a:r>
            <a:endParaRPr/>
          </a:p>
          <a:p>
            <a:pPr>
              <a:defRPr/>
            </a:pPr>
            <a:r>
              <a:rPr sz="1200" b="0" i="0" u="none">
                <a:solidFill>
                  <a:srgbClr val="000000"/>
                </a:solidFill>
                <a:latin typeface="Times New Roman"/>
                <a:ea typeface="Times New Roman"/>
                <a:cs typeface="Times New Roman"/>
              </a:rPr>
              <a:t>Another widely used pattern is </a:t>
            </a:r>
            <a:r>
              <a:rPr sz="1200" b="1" i="0" u="none">
                <a:solidFill>
                  <a:srgbClr val="000000"/>
                </a:solidFill>
                <a:latin typeface="Times New Roman"/>
                <a:ea typeface="Times New Roman"/>
                <a:cs typeface="Times New Roman"/>
              </a:rPr>
              <a:t>referencing</a:t>
            </a:r>
            <a:r>
              <a:rPr sz="1200" b="0" i="0" u="none">
                <a:solidFill>
                  <a:srgbClr val="000000"/>
                </a:solidFill>
                <a:latin typeface="Times New Roman"/>
                <a:ea typeface="Times New Roman"/>
                <a:cs typeface="Times New Roman"/>
              </a:rPr>
              <a:t>. In this model, documents store references—usually identifiers—to other documents located in separate collections. Referencing is useful when the same entity must be shared by many different documents or when the referenced data changes independently. For instance, thousands of orders may reference the same product document stored in a product catalog. By storing only the product ID inside each order, the system avoids duplicating large amounts of data.</a:t>
            </a:r>
            <a:endParaRPr/>
          </a:p>
          <a:p>
            <a:pPr>
              <a:defRPr/>
            </a:pPr>
            <a:r>
              <a:rPr sz="1200" b="0" i="0" u="none">
                <a:solidFill>
                  <a:srgbClr val="000000"/>
                </a:solidFill>
                <a:latin typeface="Times New Roman"/>
                <a:ea typeface="Times New Roman"/>
                <a:cs typeface="Times New Roman"/>
              </a:rPr>
              <a:t>A third pattern is </a:t>
            </a:r>
            <a:r>
              <a:rPr sz="1200" b="1" i="0" u="none">
                <a:solidFill>
                  <a:srgbClr val="000000"/>
                </a:solidFill>
                <a:latin typeface="Times New Roman"/>
                <a:ea typeface="Times New Roman"/>
                <a:cs typeface="Times New Roman"/>
              </a:rPr>
              <a:t>polymorphism</a:t>
            </a:r>
            <a:r>
              <a:rPr sz="1200" b="0" i="0" u="none">
                <a:solidFill>
                  <a:srgbClr val="000000"/>
                </a:solidFill>
                <a:latin typeface="Times New Roman"/>
                <a:ea typeface="Times New Roman"/>
                <a:cs typeface="Times New Roman"/>
              </a:rPr>
              <a:t>, which allows documents with different structures to coexist within the same collection. A field such as </a:t>
            </a:r>
            <a:r>
              <a:rPr sz="1000" b="0" i="0" u="none">
                <a:solidFill>
                  <a:srgbClr val="000000"/>
                </a:solidFill>
                <a:latin typeface="Courier New"/>
                <a:ea typeface="Courier New"/>
                <a:cs typeface="Courier New"/>
              </a:rPr>
              <a:t>type</a:t>
            </a:r>
            <a:r>
              <a:rPr sz="1200" b="0" i="0" u="none">
                <a:solidFill>
                  <a:srgbClr val="000000"/>
                </a:solidFill>
                <a:latin typeface="Times New Roman"/>
                <a:ea typeface="Times New Roman"/>
                <a:cs typeface="Times New Roman"/>
              </a:rPr>
              <a:t> identifies the specific structure of each document. For example, a notifications collection might contain several kinds of notifications—email alerts, push notifications, and SMS messages—each represented by a slightly different document structure. The application determines how to process each document based on its type.</a:t>
            </a:r>
            <a:endParaRPr/>
          </a:p>
          <a:p>
            <a:pPr>
              <a:defRPr/>
            </a:pPr>
            <a:r>
              <a:rPr sz="1200" b="0" i="0" u="none">
                <a:solidFill>
                  <a:srgbClr val="000000"/>
                </a:solidFill>
                <a:latin typeface="Times New Roman"/>
                <a:ea typeface="Times New Roman"/>
                <a:cs typeface="Times New Roman"/>
              </a:rPr>
              <a:t>Another useful pattern is the </a:t>
            </a:r>
            <a:r>
              <a:rPr sz="1200" b="1" i="0" u="none">
                <a:solidFill>
                  <a:srgbClr val="000000"/>
                </a:solidFill>
                <a:latin typeface="Times New Roman"/>
                <a:ea typeface="Times New Roman"/>
                <a:cs typeface="Times New Roman"/>
              </a:rPr>
              <a:t>bucket pattern</a:t>
            </a:r>
            <a:r>
              <a:rPr sz="1200" b="0" i="0" u="none">
                <a:solidFill>
                  <a:srgbClr val="000000"/>
                </a:solidFill>
                <a:latin typeface="Times New Roman"/>
                <a:ea typeface="Times New Roman"/>
                <a:cs typeface="Times New Roman"/>
              </a:rPr>
              <a:t>, which is commonly used for time-series data. Instead of storing each event as an individual document, related events occurring within a specific time interval are grouped into a single document. This approach reduces the total number of documents stored and improves query performance for workloads involving sequential data such as sensor readings, activity logs, or monitoring metrics.</a:t>
            </a:r>
            <a:endParaRPr/>
          </a:p>
          <a:p>
            <a:pPr>
              <a:defRPr/>
            </a:pPr>
            <a:r>
              <a:rPr sz="1200" b="0" i="0" u="none">
                <a:solidFill>
                  <a:srgbClr val="000000"/>
                </a:solidFill>
                <a:latin typeface="Times New Roman"/>
                <a:ea typeface="Times New Roman"/>
                <a:cs typeface="Times New Roman"/>
              </a:rPr>
              <a:t>Finally, </a:t>
            </a:r>
            <a:r>
              <a:rPr sz="1200" b="1" i="0" u="none">
                <a:solidFill>
                  <a:srgbClr val="000000"/>
                </a:solidFill>
                <a:latin typeface="Times New Roman"/>
                <a:ea typeface="Times New Roman"/>
                <a:cs typeface="Times New Roman"/>
              </a:rPr>
              <a:t>schema versioning</a:t>
            </a:r>
            <a:r>
              <a:rPr sz="1200" b="0" i="0" u="none">
                <a:solidFill>
                  <a:srgbClr val="000000"/>
                </a:solidFill>
                <a:latin typeface="Times New Roman"/>
                <a:ea typeface="Times New Roman"/>
                <a:cs typeface="Times New Roman"/>
              </a:rPr>
              <a:t>, discussed earlier, is also considered a schema design pattern. Each document contains a version field that indicates the structure used when the document was created. The application uses this version information to process documents correctly even as the schema evolves.</a:t>
            </a:r>
            <a:endParaRPr/>
          </a:p>
          <a:p>
            <a:pPr>
              <a:defRPr/>
            </a:pPr>
            <a:r>
              <a:rPr sz="1200" b="0" i="0" u="none">
                <a:solidFill>
                  <a:srgbClr val="000000"/>
                </a:solidFill>
                <a:latin typeface="Times New Roman"/>
                <a:ea typeface="Times New Roman"/>
                <a:cs typeface="Times New Roman"/>
              </a:rPr>
              <a:t>These patterns are not mutually exclusive and are often combined within the same system. Choosing the correct pattern depends on how the data is accessed, updated, and shared across the application.</a:t>
            </a:r>
            <a:endParaRPr/>
          </a:p>
          <a:p>
            <a:pPr>
              <a:defRPr/>
            </a:pPr>
            <a:r>
              <a:rPr sz="1200" b="0" i="0" u="none">
                <a:solidFill>
                  <a:srgbClr val="000000"/>
                </a:solidFill>
                <a:latin typeface="Times New Roman"/>
                <a:ea typeface="Times New Roman"/>
                <a:cs typeface="Times New Roman"/>
              </a:rPr>
              <a:t>In real-world projects, understanding and applying these design patterns is critical. A well-designed document schema can scale efficiently and remain maintainable over time, while a poorly designed schema may lead to performance problems or increasing maintenance complexity after the system grows.</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Document schema design patterns—such as embedding, referencing, polymorphism, bucket modeling, and versioning—help developers design document databases that remain both </a:t>
            </a:r>
            <a:r>
              <a:rPr sz="1200" b="1" i="0" u="none">
                <a:solidFill>
                  <a:srgbClr val="000000"/>
                </a:solidFill>
                <a:latin typeface="Times New Roman"/>
                <a:ea typeface="Times New Roman"/>
                <a:cs typeface="Times New Roman"/>
              </a:rPr>
              <a:t>efficient and adaptable as applications evolve</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When should developers choose the referencing pattern instead of embedding?</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Referencing should be used when the referenced entity is shared by many different parent documents, when the referenced data is frequently updated independently, or when embedding the data would cause the parent document to grow excessively. For example, embedding millions of activity log entries inside a single user document would create an unbounded document size, making referencing a more appropriate design choice.</a:t>
            </a:r>
            <a:endParaRPr/>
          </a:p>
          <a:p>
            <a:pPr>
              <a:defRPr/>
            </a:pPr>
            <a:endParaRPr/>
          </a:p>
          <a:p>
            <a:pPr>
              <a:defRPr/>
            </a:pPr>
            <a:endParaRPr/>
          </a:p>
          <a:p>
            <a:pPr>
              <a:defRPr/>
            </a:pPr>
            <a:r>
              <a:rPr sz="1800" b="1" i="0" u="none">
                <a:solidFill>
                  <a:srgbClr val="000000"/>
                </a:solidFill>
                <a:latin typeface="Times New Roman"/>
                <a:ea typeface="Times New Roman"/>
                <a:cs typeface="Times New Roman"/>
              </a:rPr>
              <a:t>Real Example: E-commerce System</a:t>
            </a:r>
            <a:endParaRPr/>
          </a:p>
          <a:p>
            <a:pPr>
              <a:defRPr/>
            </a:pPr>
            <a:r>
              <a:rPr sz="1200" b="0" i="0" u="none">
                <a:solidFill>
                  <a:srgbClr val="000000"/>
                </a:solidFill>
                <a:latin typeface="Times New Roman"/>
                <a:ea typeface="Times New Roman"/>
                <a:cs typeface="Times New Roman"/>
              </a:rPr>
              <a:t>Imagine an online store that sells products and records customer orders.</a:t>
            </a:r>
            <a:endParaRPr/>
          </a:p>
          <a:p>
            <a:pPr>
              <a:defRPr/>
            </a:pPr>
            <a:r>
              <a:rPr sz="1400" b="1" i="0" u="none">
                <a:solidFill>
                  <a:srgbClr val="000000"/>
                </a:solidFill>
                <a:latin typeface="Times New Roman"/>
                <a:ea typeface="Times New Roman"/>
                <a:cs typeface="Times New Roman"/>
              </a:rPr>
              <a:t>Case 1 — Embedding (Order Items)</a:t>
            </a:r>
            <a:endParaRPr/>
          </a:p>
          <a:p>
            <a:pPr>
              <a:defRPr/>
            </a:pPr>
            <a:r>
              <a:rPr sz="1200" b="0" i="0" u="none">
                <a:solidFill>
                  <a:srgbClr val="000000"/>
                </a:solidFill>
                <a:latin typeface="Times New Roman"/>
                <a:ea typeface="Times New Roman"/>
                <a:cs typeface="Times New Roman"/>
              </a:rPr>
              <a:t>When a customer places an order, the order contains a list of items that were purchased at that specific moment.</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"order_id": </a:t>
            </a:r>
            <a:r>
              <a:rPr sz="1000" b="0" i="0" u="none">
                <a:solidFill>
                  <a:srgbClr val="000000"/>
                </a:solidFill>
                <a:latin typeface="Courier New"/>
                <a:ea typeface="Courier New"/>
                <a:cs typeface="Courier New"/>
              </a:rPr>
              <a:t>10045</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"customer_id": </a:t>
            </a:r>
            <a:r>
              <a:rPr sz="1000" b="0" i="0" u="none">
                <a:solidFill>
                  <a:srgbClr val="000000"/>
                </a:solidFill>
                <a:latin typeface="Courier New"/>
                <a:ea typeface="Courier New"/>
                <a:cs typeface="Courier New"/>
              </a:rPr>
              <a:t>872</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"date": </a:t>
            </a:r>
            <a:r>
              <a:rPr sz="1000" b="0" i="0" u="none">
                <a:solidFill>
                  <a:srgbClr val="000000"/>
                </a:solidFill>
                <a:latin typeface="Courier New"/>
                <a:ea typeface="Courier New"/>
                <a:cs typeface="Courier New"/>
              </a:rPr>
              <a:t>"2026-03-23"</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"items":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"product_name": </a:t>
            </a:r>
            <a:r>
              <a:rPr sz="1000" b="0" i="0" u="none">
                <a:solidFill>
                  <a:srgbClr val="000000"/>
                </a:solidFill>
                <a:latin typeface="Courier New"/>
                <a:ea typeface="Courier New"/>
                <a:cs typeface="Courier New"/>
              </a:rPr>
              <a:t>"Wireless Mouse"</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"price": </a:t>
            </a:r>
            <a:r>
              <a:rPr sz="1000" b="0" i="0" u="none">
                <a:solidFill>
                  <a:srgbClr val="000000"/>
                </a:solidFill>
                <a:latin typeface="Courier New"/>
                <a:ea typeface="Courier New"/>
                <a:cs typeface="Courier New"/>
              </a:rPr>
              <a:t>25</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"quantity": </a:t>
            </a:r>
            <a:r>
              <a:rPr sz="1000" b="0" i="0" u="none">
                <a:solidFill>
                  <a:srgbClr val="000000"/>
                </a:solidFill>
                <a:latin typeface="Courier New"/>
                <a:ea typeface="Courier New"/>
                <a:cs typeface="Courier New"/>
              </a:rPr>
              <a:t>1</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"product_name": </a:t>
            </a:r>
            <a:r>
              <a:rPr sz="1000" b="0" i="0" u="none">
                <a:solidFill>
                  <a:srgbClr val="000000"/>
                </a:solidFill>
                <a:latin typeface="Courier New"/>
                <a:ea typeface="Courier New"/>
                <a:cs typeface="Courier New"/>
              </a:rPr>
              <a:t>"Keyboard"</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"price": </a:t>
            </a:r>
            <a:r>
              <a:rPr sz="1000" b="0" i="0" u="none">
                <a:solidFill>
                  <a:srgbClr val="000000"/>
                </a:solidFill>
                <a:latin typeface="Courier New"/>
                <a:ea typeface="Courier New"/>
                <a:cs typeface="Courier New"/>
              </a:rPr>
              <a:t>60</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"quantity": </a:t>
            </a:r>
            <a:r>
              <a:rPr sz="1000" b="0" i="0" u="none">
                <a:solidFill>
                  <a:srgbClr val="000000"/>
                </a:solidFill>
                <a:latin typeface="Courier New"/>
                <a:ea typeface="Courier New"/>
                <a:cs typeface="Courier New"/>
              </a:rPr>
              <a:t>1</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Here the </a:t>
            </a:r>
            <a:r>
              <a:rPr sz="1200" b="1" i="0" u="none">
                <a:solidFill>
                  <a:srgbClr val="000000"/>
                </a:solidFill>
                <a:latin typeface="Times New Roman"/>
                <a:ea typeface="Times New Roman"/>
                <a:cs typeface="Times New Roman"/>
              </a:rPr>
              <a:t>items are embedded inside the order document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is a good design because:</a:t>
            </a:r>
            <a:endParaRPr/>
          </a:p>
          <a:p>
            <a:pPr>
              <a:defRPr/>
            </a:pPr>
            <a:r>
              <a:rPr sz="1200" b="0" i="0" u="none">
                <a:solidFill>
                  <a:srgbClr val="000000"/>
                </a:solidFill>
                <a:latin typeface="Times New Roman"/>
                <a:ea typeface="Times New Roman"/>
                <a:cs typeface="Times New Roman"/>
              </a:rPr>
              <a:t> Order items are </a:t>
            </a:r>
            <a:r>
              <a:rPr sz="1200" b="1" i="0" u="none">
                <a:solidFill>
                  <a:srgbClr val="000000"/>
                </a:solidFill>
                <a:latin typeface="Times New Roman"/>
                <a:ea typeface="Times New Roman"/>
                <a:cs typeface="Times New Roman"/>
              </a:rPr>
              <a:t>only meaningful within the order</a:t>
            </a:r>
            <a:endParaRPr/>
          </a:p>
          <a:p>
            <a:pPr>
              <a:defRPr/>
            </a:pPr>
            <a:r>
              <a:rPr sz="1200" b="0" i="0" u="none">
                <a:solidFill>
                  <a:srgbClr val="000000"/>
                </a:solidFill>
                <a:latin typeface="Times New Roman"/>
                <a:ea typeface="Times New Roman"/>
                <a:cs typeface="Times New Roman"/>
              </a:rPr>
              <a:t> They are </a:t>
            </a:r>
            <a:r>
              <a:rPr sz="1200" b="1" i="0" u="none">
                <a:solidFill>
                  <a:srgbClr val="000000"/>
                </a:solidFill>
                <a:latin typeface="Times New Roman"/>
                <a:ea typeface="Times New Roman"/>
                <a:cs typeface="Times New Roman"/>
              </a:rPr>
              <a:t>always read together with the order</a:t>
            </a:r>
            <a:endParaRPr/>
          </a:p>
          <a:p>
            <a:pPr>
              <a:defRPr/>
            </a:pPr>
            <a:r>
              <a:rPr sz="1200" b="0" i="0" u="none">
                <a:solidFill>
                  <a:srgbClr val="000000"/>
                </a:solidFill>
                <a:latin typeface="Times New Roman"/>
                <a:ea typeface="Times New Roman"/>
                <a:cs typeface="Times New Roman"/>
              </a:rPr>
              <a:t> They </a:t>
            </a:r>
            <a:r>
              <a:rPr sz="1200" b="1" i="0" u="none">
                <a:solidFill>
                  <a:srgbClr val="000000"/>
                </a:solidFill>
                <a:latin typeface="Times New Roman"/>
                <a:ea typeface="Times New Roman"/>
                <a:cs typeface="Times New Roman"/>
              </a:rPr>
              <a:t>never need to be shared across orders</a:t>
            </a:r>
            <a:endParaRPr/>
          </a:p>
          <a:p>
            <a:pPr>
              <a:defRPr/>
            </a:pPr>
            <a:r>
              <a:rPr sz="1200" b="0" i="0" u="none">
                <a:solidFill>
                  <a:srgbClr val="000000"/>
                </a:solidFill>
                <a:latin typeface="Times New Roman"/>
                <a:ea typeface="Times New Roman"/>
                <a:cs typeface="Times New Roman"/>
              </a:rPr>
              <a:t>Embedding allows the application to retrieve the </a:t>
            </a:r>
            <a:r>
              <a:rPr sz="1200" b="1" i="0" u="none">
                <a:solidFill>
                  <a:srgbClr val="000000"/>
                </a:solidFill>
                <a:latin typeface="Times New Roman"/>
                <a:ea typeface="Times New Roman"/>
                <a:cs typeface="Times New Roman"/>
              </a:rPr>
              <a:t>entire order in a single query</a:t>
            </a:r>
            <a:r>
              <a:rPr sz="1200" b="0" i="0" u="none">
                <a:solidFill>
                  <a:srgbClr val="000000"/>
                </a:solidFill>
                <a:latin typeface="Times New Roman"/>
                <a:ea typeface="Times New Roman"/>
                <a:cs typeface="Times New Roman"/>
              </a:rPr>
              <a:t>, which improves performance.</a:t>
            </a:r>
            <a:endParaRPr/>
          </a:p>
          <a:p>
            <a:pPr>
              <a:defRPr/>
            </a:pPr>
            <a:r>
              <a:rPr sz="1400" b="1" i="0" u="none">
                <a:solidFill>
                  <a:srgbClr val="000000"/>
                </a:solidFill>
                <a:latin typeface="Times New Roman"/>
                <a:ea typeface="Times New Roman"/>
                <a:cs typeface="Times New Roman"/>
              </a:rPr>
              <a:t>Case 2 — Referencing (Product Catalog)</a:t>
            </a:r>
            <a:endParaRPr/>
          </a:p>
          <a:p>
            <a:pPr>
              <a:defRPr/>
            </a:pPr>
            <a:r>
              <a:rPr sz="1200" b="0" i="0" u="none">
                <a:solidFill>
                  <a:srgbClr val="000000"/>
                </a:solidFill>
                <a:latin typeface="Times New Roman"/>
                <a:ea typeface="Times New Roman"/>
                <a:cs typeface="Times New Roman"/>
              </a:rPr>
              <a:t>Now consider the </a:t>
            </a:r>
            <a:r>
              <a:rPr sz="1200" b="1" i="0" u="none">
                <a:solidFill>
                  <a:srgbClr val="000000"/>
                </a:solidFill>
                <a:latin typeface="Times New Roman"/>
                <a:ea typeface="Times New Roman"/>
                <a:cs typeface="Times New Roman"/>
              </a:rPr>
              <a:t>product catalog</a:t>
            </a:r>
            <a:r>
              <a:rPr sz="1200" b="0" i="0" u="none">
                <a:solidFill>
                  <a:srgbClr val="000000"/>
                </a:solidFill>
                <a:latin typeface="Times New Roman"/>
                <a:ea typeface="Times New Roman"/>
                <a:cs typeface="Times New Roman"/>
              </a:rPr>
              <a:t>. A product may appear in </a:t>
            </a:r>
            <a:r>
              <a:rPr sz="1200" b="1" i="0" u="none">
                <a:solidFill>
                  <a:srgbClr val="000000"/>
                </a:solidFill>
                <a:latin typeface="Times New Roman"/>
                <a:ea typeface="Times New Roman"/>
                <a:cs typeface="Times New Roman"/>
              </a:rPr>
              <a:t>thousands of orders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Instead of embedding the entire product information inside every order, the order stores a </a:t>
            </a:r>
            <a:r>
              <a:rPr sz="1200" b="1" i="0" u="none">
                <a:solidFill>
                  <a:srgbClr val="000000"/>
                </a:solidFill>
                <a:latin typeface="Times New Roman"/>
                <a:ea typeface="Times New Roman"/>
                <a:cs typeface="Times New Roman"/>
              </a:rPr>
              <a:t>reference to the product ID</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Order document</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"order_id": </a:t>
            </a:r>
            <a:r>
              <a:rPr sz="1000" b="0" i="0" u="none">
                <a:solidFill>
                  <a:srgbClr val="000000"/>
                </a:solidFill>
                <a:latin typeface="Courier New"/>
                <a:ea typeface="Courier New"/>
                <a:cs typeface="Courier New"/>
              </a:rPr>
              <a:t>10045</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"customer_id": </a:t>
            </a:r>
            <a:r>
              <a:rPr sz="1000" b="0" i="0" u="none">
                <a:solidFill>
                  <a:srgbClr val="000000"/>
                </a:solidFill>
                <a:latin typeface="Courier New"/>
                <a:ea typeface="Courier New"/>
                <a:cs typeface="Courier New"/>
              </a:rPr>
              <a:t>872</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"items":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"product_id": </a:t>
            </a:r>
            <a:r>
              <a:rPr sz="1000" b="0" i="0" u="none">
                <a:solidFill>
                  <a:srgbClr val="000000"/>
                </a:solidFill>
                <a:latin typeface="Courier New"/>
                <a:ea typeface="Courier New"/>
                <a:cs typeface="Courier New"/>
              </a:rPr>
              <a:t>"P1001"</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"quantity": </a:t>
            </a:r>
            <a:r>
              <a:rPr sz="1000" b="0" i="0" u="none">
                <a:solidFill>
                  <a:srgbClr val="000000"/>
                </a:solidFill>
                <a:latin typeface="Courier New"/>
                <a:ea typeface="Courier New"/>
                <a:cs typeface="Courier New"/>
              </a:rPr>
              <a:t>1</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1" i="0" u="none">
                <a:solidFill>
                  <a:srgbClr val="000000"/>
                </a:solidFill>
                <a:latin typeface="Times New Roman"/>
                <a:ea typeface="Times New Roman"/>
                <a:cs typeface="Times New Roman"/>
              </a:rPr>
              <a:t>Product document</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"product_id": </a:t>
            </a:r>
            <a:r>
              <a:rPr sz="1000" b="0" i="0" u="none">
                <a:solidFill>
                  <a:srgbClr val="000000"/>
                </a:solidFill>
                <a:latin typeface="Courier New"/>
                <a:ea typeface="Courier New"/>
                <a:cs typeface="Courier New"/>
              </a:rPr>
              <a:t>"P1001"</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"name": </a:t>
            </a:r>
            <a:r>
              <a:rPr sz="1000" b="0" i="0" u="none">
                <a:solidFill>
                  <a:srgbClr val="000000"/>
                </a:solidFill>
                <a:latin typeface="Courier New"/>
                <a:ea typeface="Courier New"/>
                <a:cs typeface="Courier New"/>
              </a:rPr>
              <a:t>"Wireless Mouse"</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"price": </a:t>
            </a:r>
            <a:r>
              <a:rPr sz="1000" b="0" i="0" u="none">
                <a:solidFill>
                  <a:srgbClr val="000000"/>
                </a:solidFill>
                <a:latin typeface="Courier New"/>
                <a:ea typeface="Courier New"/>
                <a:cs typeface="Courier New"/>
              </a:rPr>
              <a:t>25</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"category": </a:t>
            </a:r>
            <a:r>
              <a:rPr sz="1000" b="0" i="0" u="none">
                <a:solidFill>
                  <a:srgbClr val="000000"/>
                </a:solidFill>
                <a:latin typeface="Courier New"/>
                <a:ea typeface="Courier New"/>
                <a:cs typeface="Courier New"/>
              </a:rPr>
              <a:t>"Electronics"</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Here the order </a:t>
            </a:r>
            <a:r>
              <a:rPr sz="1200" b="1" i="0" u="none">
                <a:solidFill>
                  <a:srgbClr val="000000"/>
                </a:solidFill>
                <a:latin typeface="Times New Roman"/>
                <a:ea typeface="Times New Roman"/>
                <a:cs typeface="Times New Roman"/>
              </a:rPr>
              <a:t>references the product document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is better because:</a:t>
            </a:r>
            <a:endParaRPr/>
          </a:p>
          <a:p>
            <a:pPr>
              <a:defRPr/>
            </a:pPr>
            <a:r>
              <a:rPr sz="1200" b="0" i="0" u="none">
                <a:solidFill>
                  <a:srgbClr val="000000"/>
                </a:solidFill>
                <a:latin typeface="Times New Roman"/>
                <a:ea typeface="Times New Roman"/>
                <a:cs typeface="Times New Roman"/>
              </a:rPr>
              <a:t> The </a:t>
            </a:r>
            <a:r>
              <a:rPr sz="1200" b="1" i="0" u="none">
                <a:solidFill>
                  <a:srgbClr val="000000"/>
                </a:solidFill>
                <a:latin typeface="Times New Roman"/>
                <a:ea typeface="Times New Roman"/>
                <a:cs typeface="Times New Roman"/>
              </a:rPr>
              <a:t>product is shared across thousands of orders</a:t>
            </a:r>
            <a:endParaRPr/>
          </a:p>
          <a:p>
            <a:pPr>
              <a:defRPr/>
            </a:pPr>
            <a:r>
              <a:rPr sz="1200" b="0" i="0" u="none">
                <a:solidFill>
                  <a:srgbClr val="000000"/>
                </a:solidFill>
                <a:latin typeface="Times New Roman"/>
                <a:ea typeface="Times New Roman"/>
                <a:cs typeface="Times New Roman"/>
              </a:rPr>
              <a:t> Product details (price, description) may </a:t>
            </a:r>
            <a:r>
              <a:rPr sz="1200" b="1" i="0" u="none">
                <a:solidFill>
                  <a:srgbClr val="000000"/>
                </a:solidFill>
                <a:latin typeface="Times New Roman"/>
                <a:ea typeface="Times New Roman"/>
                <a:cs typeface="Times New Roman"/>
              </a:rPr>
              <a:t>change independently</a:t>
            </a:r>
            <a:endParaRPr/>
          </a:p>
          <a:p>
            <a:pPr>
              <a:defRPr/>
            </a:pPr>
            <a:r>
              <a:rPr sz="1200" b="0" i="0" u="none">
                <a:solidFill>
                  <a:srgbClr val="000000"/>
                </a:solidFill>
                <a:latin typeface="Times New Roman"/>
                <a:ea typeface="Times New Roman"/>
                <a:cs typeface="Times New Roman"/>
              </a:rPr>
              <a:t> Storing the product repeatedly would cause </a:t>
            </a:r>
            <a:r>
              <a:rPr sz="1200" b="1" i="0" u="none">
                <a:solidFill>
                  <a:srgbClr val="000000"/>
                </a:solidFill>
                <a:latin typeface="Times New Roman"/>
                <a:ea typeface="Times New Roman"/>
                <a:cs typeface="Times New Roman"/>
              </a:rPr>
              <a:t>massive data duplication</a:t>
            </a:r>
            <a:endParaRPr/>
          </a:p>
          <a:p>
            <a:pPr>
              <a:defRPr/>
            </a:pPr>
            <a:r>
              <a:rPr sz="1800" b="1" i="0" u="none">
                <a:solidFill>
                  <a:srgbClr val="000000"/>
                </a:solidFill>
                <a:latin typeface="Times New Roman"/>
                <a:ea typeface="Times New Roman"/>
                <a:cs typeface="Times New Roman"/>
              </a:rPr>
              <a:t>Why This Matters in Real Systems</a:t>
            </a:r>
            <a:endParaRPr/>
          </a:p>
          <a:p>
            <a:pPr>
              <a:defRPr/>
            </a:pPr>
            <a:r>
              <a:rPr sz="1200" b="0" i="0" u="none">
                <a:solidFill>
                  <a:srgbClr val="000000"/>
                </a:solidFill>
                <a:latin typeface="Times New Roman"/>
                <a:ea typeface="Times New Roman"/>
                <a:cs typeface="Times New Roman"/>
              </a:rPr>
              <a:t>Large companies such as </a:t>
            </a:r>
            <a:r>
              <a:rPr sz="1200" b="1" i="0" u="none">
                <a:solidFill>
                  <a:srgbClr val="000000"/>
                </a:solidFill>
                <a:latin typeface="Times New Roman"/>
                <a:ea typeface="Times New Roman"/>
                <a:cs typeface="Times New Roman"/>
              </a:rPr>
              <a:t>Amazon</a:t>
            </a:r>
            <a:r>
              <a:rPr sz="1200" b="0" i="0" u="none">
                <a:solidFill>
                  <a:srgbClr val="000000"/>
                </a:solidFill>
                <a:latin typeface="Times New Roman"/>
                <a:ea typeface="Times New Roman"/>
                <a:cs typeface="Times New Roman"/>
              </a:rPr>
              <a:t> use similar patterns:</a:t>
            </a:r>
            <a:endParaRPr/>
          </a:p>
          <a:p>
            <a:pPr>
              <a:defRPr/>
            </a:pPr>
            <a:r>
              <a:rPr sz="1200" b="1" i="0" u="none">
                <a:solidFill>
                  <a:srgbClr val="000000"/>
                </a:solidFill>
                <a:latin typeface="Times New Roman"/>
                <a:ea typeface="Times New Roman"/>
                <a:cs typeface="Times New Roman"/>
              </a:rPr>
              <a:t>Orders embed order items</a:t>
            </a:r>
            <a:r>
              <a:rPr sz="1200" b="0" i="0" u="none">
                <a:solidFill>
                  <a:srgbClr val="000000"/>
                </a:solidFill>
                <a:latin typeface="Times New Roman"/>
                <a:ea typeface="Times New Roman"/>
                <a:cs typeface="Times New Roman"/>
              </a:rPr>
              <a:t> (snapshot of purchase) </a:t>
            </a:r>
            <a:endParaRPr/>
          </a:p>
          <a:p>
            <a:pPr>
              <a:defRPr/>
            </a:pPr>
            <a:r>
              <a:rPr sz="1200" b="1" i="0" u="none">
                <a:solidFill>
                  <a:srgbClr val="000000"/>
                </a:solidFill>
                <a:latin typeface="Times New Roman"/>
                <a:ea typeface="Times New Roman"/>
                <a:cs typeface="Times New Roman"/>
              </a:rPr>
              <a:t>Products are referenced</a:t>
            </a:r>
            <a:r>
              <a:rPr sz="1200" b="0" i="0" u="none">
                <a:solidFill>
                  <a:srgbClr val="000000"/>
                </a:solidFill>
                <a:latin typeface="Times New Roman"/>
                <a:ea typeface="Times New Roman"/>
                <a:cs typeface="Times New Roman"/>
              </a:rPr>
              <a:t> from a central product catalog </a:t>
            </a:r>
            <a:endParaRPr/>
          </a:p>
          <a:p>
            <a:pPr>
              <a:defRPr/>
            </a:pPr>
            <a:r>
              <a:rPr sz="1200" b="0" i="0" u="none">
                <a:solidFill>
                  <a:srgbClr val="000000"/>
                </a:solidFill>
                <a:latin typeface="Times New Roman"/>
                <a:ea typeface="Times New Roman"/>
                <a:cs typeface="Times New Roman"/>
              </a:rPr>
              <a:t>This design ensures:</a:t>
            </a:r>
            <a:endParaRPr/>
          </a:p>
          <a:p>
            <a:pPr>
              <a:defRPr/>
            </a:pPr>
            <a:r>
              <a:rPr sz="1200" b="0" i="0" u="none">
                <a:solidFill>
                  <a:srgbClr val="000000"/>
                </a:solidFill>
                <a:latin typeface="Times New Roman"/>
                <a:ea typeface="Times New Roman"/>
                <a:cs typeface="Times New Roman"/>
              </a:rPr>
              <a:t>Fast reads for orders</a:t>
            </a:r>
            <a:endParaRPr/>
          </a:p>
          <a:p>
            <a:pPr>
              <a:defRPr/>
            </a:pPr>
            <a:r>
              <a:rPr sz="1200" b="0" i="0" u="none">
                <a:solidFill>
                  <a:srgbClr val="000000"/>
                </a:solidFill>
                <a:latin typeface="Times New Roman"/>
                <a:ea typeface="Times New Roman"/>
                <a:cs typeface="Times New Roman"/>
              </a:rPr>
              <a:t>Minimal data duplication</a:t>
            </a:r>
            <a:endParaRPr/>
          </a:p>
          <a:p>
            <a:pPr>
              <a:defRPr/>
            </a:pPr>
            <a:r>
              <a:rPr sz="1200" b="0" i="0" u="none">
                <a:solidFill>
                  <a:srgbClr val="000000"/>
                </a:solidFill>
                <a:latin typeface="Times New Roman"/>
                <a:ea typeface="Times New Roman"/>
                <a:cs typeface="Times New Roman"/>
              </a:rPr>
              <a:t>Independent updates of product information</a:t>
            </a:r>
            <a:endParaRPr/>
          </a:p>
          <a:p>
            <a:pPr>
              <a:defRPr/>
            </a:pPr>
            <a:r>
              <a:rPr sz="1800" b="1" i="0" u="none">
                <a:solidFill>
                  <a:srgbClr val="000000"/>
                </a:solidFill>
                <a:latin typeface="Times New Roman"/>
                <a:ea typeface="Times New Roman"/>
                <a:cs typeface="Times New Roman"/>
              </a:rPr>
              <a:t>Interview Insight</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would embedding product information directly inside every order be problematic?</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the same product may appear in thousands of orders. Embedding it would duplicate the data many times and make updates difficult. Referencing allows a single product document to be shared across many orders.</a:t>
            </a:r>
            <a:endParaRPr/>
          </a:p>
        </p:txBody>
      </p:sp>
      <p:sp>
        <p:nvSpPr>
          <p:cNvPr id="1986179372" name="Slide Number Placeholder 3"/>
          <p:cNvSpPr>
            <a:spLocks noGrp="1"/>
          </p:cNvSpPr>
          <p:nvPr>
            <p:ph type="sldNum" sz="quarter" idx="10"/>
          </p:nvPr>
        </p:nvSpPr>
        <p:spPr bwMode="auto"/>
        <p:txBody>
          <a:bodyPr/>
          <a:lstStyle/>
          <a:p>
            <a:pPr>
              <a:defRPr/>
            </a:pPr>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5367051" name="Slide Image Placeholder 1"/>
          <p:cNvSpPr>
            <a:spLocks noChangeAspect="1" noGrp="1" noRot="1"/>
          </p:cNvSpPr>
          <p:nvPr>
            <p:ph type="sldImg"/>
          </p:nvPr>
        </p:nvSpPr>
        <p:spPr bwMode="auto"/>
      </p:sp>
      <p:sp>
        <p:nvSpPr>
          <p:cNvPr id="420231498" name="Notes Placeholder 2"/>
          <p:cNvSpPr>
            <a:spLocks noGrp="1"/>
          </p:cNvSpPr>
          <p:nvPr>
            <p:ph type="body" idx="1"/>
          </p:nvPr>
        </p:nvSpPr>
        <p:spPr bwMode="auto"/>
        <p:txBody>
          <a:bodyPr/>
          <a:lstStyle/>
          <a:p>
            <a:pPr>
              <a:defRPr/>
            </a:pPr>
            <a:r>
              <a:rPr sz="1800" b="1" i="0" u="none">
                <a:solidFill>
                  <a:srgbClr val="000000"/>
                </a:solidFill>
                <a:latin typeface="Times New Roman"/>
                <a:ea typeface="Times New Roman"/>
                <a:cs typeface="Times New Roman"/>
              </a:rPr>
              <a:t>Real Example: E-commerce System</a:t>
            </a:r>
            <a:endParaRPr/>
          </a:p>
          <a:p>
            <a:pPr>
              <a:defRPr/>
            </a:pPr>
            <a:r>
              <a:rPr sz="1200" b="0" i="0" u="none">
                <a:solidFill>
                  <a:srgbClr val="000000"/>
                </a:solidFill>
                <a:latin typeface="Times New Roman"/>
                <a:ea typeface="Times New Roman"/>
                <a:cs typeface="Times New Roman"/>
              </a:rPr>
              <a:t>Imagine an online store that sells products and records customer orders.</a:t>
            </a:r>
            <a:endParaRPr/>
          </a:p>
          <a:p>
            <a:pPr>
              <a:defRPr/>
            </a:pPr>
            <a:r>
              <a:rPr sz="1400" b="1" i="0" u="none">
                <a:solidFill>
                  <a:srgbClr val="000000"/>
                </a:solidFill>
                <a:latin typeface="Times New Roman"/>
                <a:ea typeface="Times New Roman"/>
                <a:cs typeface="Times New Roman"/>
              </a:rPr>
              <a:t>Case 1 — Embedding (Order Items)</a:t>
            </a:r>
            <a:endParaRPr/>
          </a:p>
          <a:p>
            <a:pPr>
              <a:defRPr/>
            </a:pPr>
            <a:r>
              <a:rPr sz="1200" b="0" i="0" u="none">
                <a:solidFill>
                  <a:srgbClr val="000000"/>
                </a:solidFill>
                <a:latin typeface="Times New Roman"/>
                <a:ea typeface="Times New Roman"/>
                <a:cs typeface="Times New Roman"/>
              </a:rPr>
              <a:t>When a customer places an order, the order contains a list of items that were purchased at that specific moment.</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"order_id": </a:t>
            </a:r>
            <a:r>
              <a:rPr sz="1000" b="0" i="0" u="none">
                <a:solidFill>
                  <a:srgbClr val="000000"/>
                </a:solidFill>
                <a:latin typeface="Courier New"/>
                <a:ea typeface="Courier New"/>
                <a:cs typeface="Courier New"/>
              </a:rPr>
              <a:t>10045</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"customer_id": </a:t>
            </a:r>
            <a:r>
              <a:rPr sz="1000" b="0" i="0" u="none">
                <a:solidFill>
                  <a:srgbClr val="000000"/>
                </a:solidFill>
                <a:latin typeface="Courier New"/>
                <a:ea typeface="Courier New"/>
                <a:cs typeface="Courier New"/>
              </a:rPr>
              <a:t>872</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"date": </a:t>
            </a:r>
            <a:r>
              <a:rPr sz="1000" b="0" i="0" u="none">
                <a:solidFill>
                  <a:srgbClr val="000000"/>
                </a:solidFill>
                <a:latin typeface="Courier New"/>
                <a:ea typeface="Courier New"/>
                <a:cs typeface="Courier New"/>
              </a:rPr>
              <a:t>"2026-03-23"</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"items":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"product_name": </a:t>
            </a:r>
            <a:r>
              <a:rPr sz="1000" b="0" i="0" u="none">
                <a:solidFill>
                  <a:srgbClr val="000000"/>
                </a:solidFill>
                <a:latin typeface="Courier New"/>
                <a:ea typeface="Courier New"/>
                <a:cs typeface="Courier New"/>
              </a:rPr>
              <a:t>"Wireless Mouse"</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"price": </a:t>
            </a:r>
            <a:r>
              <a:rPr sz="1000" b="0" i="0" u="none">
                <a:solidFill>
                  <a:srgbClr val="000000"/>
                </a:solidFill>
                <a:latin typeface="Courier New"/>
                <a:ea typeface="Courier New"/>
                <a:cs typeface="Courier New"/>
              </a:rPr>
              <a:t>25</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"quantity": </a:t>
            </a:r>
            <a:r>
              <a:rPr sz="1000" b="0" i="0" u="none">
                <a:solidFill>
                  <a:srgbClr val="000000"/>
                </a:solidFill>
                <a:latin typeface="Courier New"/>
                <a:ea typeface="Courier New"/>
                <a:cs typeface="Courier New"/>
              </a:rPr>
              <a:t>1</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"product_name": </a:t>
            </a:r>
            <a:r>
              <a:rPr sz="1000" b="0" i="0" u="none">
                <a:solidFill>
                  <a:srgbClr val="000000"/>
                </a:solidFill>
                <a:latin typeface="Courier New"/>
                <a:ea typeface="Courier New"/>
                <a:cs typeface="Courier New"/>
              </a:rPr>
              <a:t>"Keyboard"</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"price": </a:t>
            </a:r>
            <a:r>
              <a:rPr sz="1000" b="0" i="0" u="none">
                <a:solidFill>
                  <a:srgbClr val="000000"/>
                </a:solidFill>
                <a:latin typeface="Courier New"/>
                <a:ea typeface="Courier New"/>
                <a:cs typeface="Courier New"/>
              </a:rPr>
              <a:t>60</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"quantity": </a:t>
            </a:r>
            <a:r>
              <a:rPr sz="1000" b="0" i="0" u="none">
                <a:solidFill>
                  <a:srgbClr val="000000"/>
                </a:solidFill>
                <a:latin typeface="Courier New"/>
                <a:ea typeface="Courier New"/>
                <a:cs typeface="Courier New"/>
              </a:rPr>
              <a:t>1</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Here the </a:t>
            </a:r>
            <a:r>
              <a:rPr sz="1200" b="1" i="0" u="none">
                <a:solidFill>
                  <a:srgbClr val="000000"/>
                </a:solidFill>
                <a:latin typeface="Times New Roman"/>
                <a:ea typeface="Times New Roman"/>
                <a:cs typeface="Times New Roman"/>
              </a:rPr>
              <a:t>items are embedded inside the order document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is a good design because:</a:t>
            </a:r>
            <a:endParaRPr/>
          </a:p>
          <a:p>
            <a:pPr>
              <a:defRPr/>
            </a:pPr>
            <a:r>
              <a:rPr sz="1200" b="0" i="0" u="none">
                <a:solidFill>
                  <a:srgbClr val="000000"/>
                </a:solidFill>
                <a:latin typeface="Times New Roman"/>
                <a:ea typeface="Times New Roman"/>
                <a:cs typeface="Times New Roman"/>
              </a:rPr>
              <a:t> Order items are </a:t>
            </a:r>
            <a:r>
              <a:rPr sz="1200" b="1" i="0" u="none">
                <a:solidFill>
                  <a:srgbClr val="000000"/>
                </a:solidFill>
                <a:latin typeface="Times New Roman"/>
                <a:ea typeface="Times New Roman"/>
                <a:cs typeface="Times New Roman"/>
              </a:rPr>
              <a:t>only meaningful within the order</a:t>
            </a:r>
            <a:endParaRPr/>
          </a:p>
          <a:p>
            <a:pPr>
              <a:defRPr/>
            </a:pPr>
            <a:r>
              <a:rPr sz="1200" b="0" i="0" u="none">
                <a:solidFill>
                  <a:srgbClr val="000000"/>
                </a:solidFill>
                <a:latin typeface="Times New Roman"/>
                <a:ea typeface="Times New Roman"/>
                <a:cs typeface="Times New Roman"/>
              </a:rPr>
              <a:t> They are </a:t>
            </a:r>
            <a:r>
              <a:rPr sz="1200" b="1" i="0" u="none">
                <a:solidFill>
                  <a:srgbClr val="000000"/>
                </a:solidFill>
                <a:latin typeface="Times New Roman"/>
                <a:ea typeface="Times New Roman"/>
                <a:cs typeface="Times New Roman"/>
              </a:rPr>
              <a:t>always read together with the order</a:t>
            </a:r>
            <a:endParaRPr/>
          </a:p>
          <a:p>
            <a:pPr>
              <a:defRPr/>
            </a:pPr>
            <a:r>
              <a:rPr sz="1200" b="0" i="0" u="none">
                <a:solidFill>
                  <a:srgbClr val="000000"/>
                </a:solidFill>
                <a:latin typeface="Times New Roman"/>
                <a:ea typeface="Times New Roman"/>
                <a:cs typeface="Times New Roman"/>
              </a:rPr>
              <a:t> They </a:t>
            </a:r>
            <a:r>
              <a:rPr sz="1200" b="1" i="0" u="none">
                <a:solidFill>
                  <a:srgbClr val="000000"/>
                </a:solidFill>
                <a:latin typeface="Times New Roman"/>
                <a:ea typeface="Times New Roman"/>
                <a:cs typeface="Times New Roman"/>
              </a:rPr>
              <a:t>never need to be shared across orders</a:t>
            </a:r>
            <a:endParaRPr/>
          </a:p>
          <a:p>
            <a:pPr>
              <a:defRPr/>
            </a:pPr>
            <a:r>
              <a:rPr sz="1200" b="0" i="0" u="none">
                <a:solidFill>
                  <a:srgbClr val="000000"/>
                </a:solidFill>
                <a:latin typeface="Times New Roman"/>
                <a:ea typeface="Times New Roman"/>
                <a:cs typeface="Times New Roman"/>
              </a:rPr>
              <a:t>Embedding allows the application to retrieve the </a:t>
            </a:r>
            <a:r>
              <a:rPr sz="1200" b="1" i="0" u="none">
                <a:solidFill>
                  <a:srgbClr val="000000"/>
                </a:solidFill>
                <a:latin typeface="Times New Roman"/>
                <a:ea typeface="Times New Roman"/>
                <a:cs typeface="Times New Roman"/>
              </a:rPr>
              <a:t>entire order in a single query</a:t>
            </a:r>
            <a:r>
              <a:rPr sz="1200" b="0" i="0" u="none">
                <a:solidFill>
                  <a:srgbClr val="000000"/>
                </a:solidFill>
                <a:latin typeface="Times New Roman"/>
                <a:ea typeface="Times New Roman"/>
                <a:cs typeface="Times New Roman"/>
              </a:rPr>
              <a:t>, which improves performance.</a:t>
            </a:r>
            <a:endParaRPr/>
          </a:p>
          <a:p>
            <a:pPr>
              <a:defRPr/>
            </a:pPr>
            <a:r>
              <a:rPr sz="1400" b="1" i="0" u="none">
                <a:solidFill>
                  <a:srgbClr val="000000"/>
                </a:solidFill>
                <a:latin typeface="Times New Roman"/>
                <a:ea typeface="Times New Roman"/>
                <a:cs typeface="Times New Roman"/>
              </a:rPr>
              <a:t>Case 2 — Referencing (Product Catalog)</a:t>
            </a:r>
            <a:endParaRPr/>
          </a:p>
          <a:p>
            <a:pPr>
              <a:defRPr/>
            </a:pPr>
            <a:r>
              <a:rPr sz="1200" b="0" i="0" u="none">
                <a:solidFill>
                  <a:srgbClr val="000000"/>
                </a:solidFill>
                <a:latin typeface="Times New Roman"/>
                <a:ea typeface="Times New Roman"/>
                <a:cs typeface="Times New Roman"/>
              </a:rPr>
              <a:t>Now consider the </a:t>
            </a:r>
            <a:r>
              <a:rPr sz="1200" b="1" i="0" u="none">
                <a:solidFill>
                  <a:srgbClr val="000000"/>
                </a:solidFill>
                <a:latin typeface="Times New Roman"/>
                <a:ea typeface="Times New Roman"/>
                <a:cs typeface="Times New Roman"/>
              </a:rPr>
              <a:t>product catalog</a:t>
            </a:r>
            <a:r>
              <a:rPr sz="1200" b="0" i="0" u="none">
                <a:solidFill>
                  <a:srgbClr val="000000"/>
                </a:solidFill>
                <a:latin typeface="Times New Roman"/>
                <a:ea typeface="Times New Roman"/>
                <a:cs typeface="Times New Roman"/>
              </a:rPr>
              <a:t>. A product may appear in </a:t>
            </a:r>
            <a:r>
              <a:rPr sz="1200" b="1" i="0" u="none">
                <a:solidFill>
                  <a:srgbClr val="000000"/>
                </a:solidFill>
                <a:latin typeface="Times New Roman"/>
                <a:ea typeface="Times New Roman"/>
                <a:cs typeface="Times New Roman"/>
              </a:rPr>
              <a:t>thousands of orders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Instead of embedding the entire product information inside every order, the order stores a </a:t>
            </a:r>
            <a:r>
              <a:rPr sz="1200" b="1" i="0" u="none">
                <a:solidFill>
                  <a:srgbClr val="000000"/>
                </a:solidFill>
                <a:latin typeface="Times New Roman"/>
                <a:ea typeface="Times New Roman"/>
                <a:cs typeface="Times New Roman"/>
              </a:rPr>
              <a:t>reference to the product ID</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Order document</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"order_id": </a:t>
            </a:r>
            <a:r>
              <a:rPr sz="1000" b="0" i="0" u="none">
                <a:solidFill>
                  <a:srgbClr val="000000"/>
                </a:solidFill>
                <a:latin typeface="Courier New"/>
                <a:ea typeface="Courier New"/>
                <a:cs typeface="Courier New"/>
              </a:rPr>
              <a:t>10045</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"customer_id": </a:t>
            </a:r>
            <a:r>
              <a:rPr sz="1000" b="0" i="0" u="none">
                <a:solidFill>
                  <a:srgbClr val="000000"/>
                </a:solidFill>
                <a:latin typeface="Courier New"/>
                <a:ea typeface="Courier New"/>
                <a:cs typeface="Courier New"/>
              </a:rPr>
              <a:t>872</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"items":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"product_id": </a:t>
            </a:r>
            <a:r>
              <a:rPr sz="1000" b="0" i="0" u="none">
                <a:solidFill>
                  <a:srgbClr val="000000"/>
                </a:solidFill>
                <a:latin typeface="Courier New"/>
                <a:ea typeface="Courier New"/>
                <a:cs typeface="Courier New"/>
              </a:rPr>
              <a:t>"P1001"</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"quantity": </a:t>
            </a:r>
            <a:r>
              <a:rPr sz="1000" b="0" i="0" u="none">
                <a:solidFill>
                  <a:srgbClr val="000000"/>
                </a:solidFill>
                <a:latin typeface="Courier New"/>
                <a:ea typeface="Courier New"/>
                <a:cs typeface="Courier New"/>
              </a:rPr>
              <a:t>1</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1" i="0" u="none">
                <a:solidFill>
                  <a:srgbClr val="000000"/>
                </a:solidFill>
                <a:latin typeface="Times New Roman"/>
                <a:ea typeface="Times New Roman"/>
                <a:cs typeface="Times New Roman"/>
              </a:rPr>
              <a:t>Product document</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"product_id": </a:t>
            </a:r>
            <a:r>
              <a:rPr sz="1000" b="0" i="0" u="none">
                <a:solidFill>
                  <a:srgbClr val="000000"/>
                </a:solidFill>
                <a:latin typeface="Courier New"/>
                <a:ea typeface="Courier New"/>
                <a:cs typeface="Courier New"/>
              </a:rPr>
              <a:t>"P1001"</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"name": </a:t>
            </a:r>
            <a:r>
              <a:rPr sz="1000" b="0" i="0" u="none">
                <a:solidFill>
                  <a:srgbClr val="000000"/>
                </a:solidFill>
                <a:latin typeface="Courier New"/>
                <a:ea typeface="Courier New"/>
                <a:cs typeface="Courier New"/>
              </a:rPr>
              <a:t>"Wireless Mouse"</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"price": </a:t>
            </a:r>
            <a:r>
              <a:rPr sz="1000" b="0" i="0" u="none">
                <a:solidFill>
                  <a:srgbClr val="000000"/>
                </a:solidFill>
                <a:latin typeface="Courier New"/>
                <a:ea typeface="Courier New"/>
                <a:cs typeface="Courier New"/>
              </a:rPr>
              <a:t>25</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"category": </a:t>
            </a:r>
            <a:r>
              <a:rPr sz="1000" b="0" i="0" u="none">
                <a:solidFill>
                  <a:srgbClr val="000000"/>
                </a:solidFill>
                <a:latin typeface="Courier New"/>
                <a:ea typeface="Courier New"/>
                <a:cs typeface="Courier New"/>
              </a:rPr>
              <a:t>"Electronics"</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Here the order </a:t>
            </a:r>
            <a:r>
              <a:rPr sz="1200" b="1" i="0" u="none">
                <a:solidFill>
                  <a:srgbClr val="000000"/>
                </a:solidFill>
                <a:latin typeface="Times New Roman"/>
                <a:ea typeface="Times New Roman"/>
                <a:cs typeface="Times New Roman"/>
              </a:rPr>
              <a:t>references the product document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is better because:</a:t>
            </a:r>
            <a:endParaRPr/>
          </a:p>
          <a:p>
            <a:pPr>
              <a:defRPr/>
            </a:pPr>
            <a:r>
              <a:rPr sz="1200" b="0" i="0" u="none">
                <a:solidFill>
                  <a:srgbClr val="000000"/>
                </a:solidFill>
                <a:latin typeface="Times New Roman"/>
                <a:ea typeface="Times New Roman"/>
                <a:cs typeface="Times New Roman"/>
              </a:rPr>
              <a:t> The </a:t>
            </a:r>
            <a:r>
              <a:rPr sz="1200" b="1" i="0" u="none">
                <a:solidFill>
                  <a:srgbClr val="000000"/>
                </a:solidFill>
                <a:latin typeface="Times New Roman"/>
                <a:ea typeface="Times New Roman"/>
                <a:cs typeface="Times New Roman"/>
              </a:rPr>
              <a:t>product is shared across thousands of orders</a:t>
            </a:r>
            <a:endParaRPr/>
          </a:p>
          <a:p>
            <a:pPr>
              <a:defRPr/>
            </a:pPr>
            <a:r>
              <a:rPr sz="1200" b="0" i="0" u="none">
                <a:solidFill>
                  <a:srgbClr val="000000"/>
                </a:solidFill>
                <a:latin typeface="Times New Roman"/>
                <a:ea typeface="Times New Roman"/>
                <a:cs typeface="Times New Roman"/>
              </a:rPr>
              <a:t> Product details (price, description) may </a:t>
            </a:r>
            <a:r>
              <a:rPr sz="1200" b="1" i="0" u="none">
                <a:solidFill>
                  <a:srgbClr val="000000"/>
                </a:solidFill>
                <a:latin typeface="Times New Roman"/>
                <a:ea typeface="Times New Roman"/>
                <a:cs typeface="Times New Roman"/>
              </a:rPr>
              <a:t>change independently</a:t>
            </a:r>
            <a:endParaRPr/>
          </a:p>
          <a:p>
            <a:pPr>
              <a:defRPr/>
            </a:pPr>
            <a:r>
              <a:rPr sz="1200" b="0" i="0" u="none">
                <a:solidFill>
                  <a:srgbClr val="000000"/>
                </a:solidFill>
                <a:latin typeface="Times New Roman"/>
                <a:ea typeface="Times New Roman"/>
                <a:cs typeface="Times New Roman"/>
              </a:rPr>
              <a:t> Storing the product repeatedly would cause </a:t>
            </a:r>
            <a:r>
              <a:rPr sz="1200" b="1" i="0" u="none">
                <a:solidFill>
                  <a:srgbClr val="000000"/>
                </a:solidFill>
                <a:latin typeface="Times New Roman"/>
                <a:ea typeface="Times New Roman"/>
                <a:cs typeface="Times New Roman"/>
              </a:rPr>
              <a:t>massive data duplication</a:t>
            </a:r>
            <a:endParaRPr/>
          </a:p>
          <a:p>
            <a:pPr>
              <a:defRPr/>
            </a:pPr>
            <a:r>
              <a:rPr sz="1800" b="1" i="0" u="none">
                <a:solidFill>
                  <a:srgbClr val="000000"/>
                </a:solidFill>
                <a:latin typeface="Times New Roman"/>
                <a:ea typeface="Times New Roman"/>
                <a:cs typeface="Times New Roman"/>
              </a:rPr>
              <a:t>Why This Matters in Real Systems</a:t>
            </a:r>
            <a:endParaRPr/>
          </a:p>
          <a:p>
            <a:pPr>
              <a:defRPr/>
            </a:pPr>
            <a:r>
              <a:rPr sz="1200" b="0" i="0" u="none">
                <a:solidFill>
                  <a:srgbClr val="000000"/>
                </a:solidFill>
                <a:latin typeface="Times New Roman"/>
                <a:ea typeface="Times New Roman"/>
                <a:cs typeface="Times New Roman"/>
              </a:rPr>
              <a:t>Large companies such as </a:t>
            </a:r>
            <a:r>
              <a:rPr sz="1200" b="1" i="0" u="none">
                <a:solidFill>
                  <a:srgbClr val="000000"/>
                </a:solidFill>
                <a:latin typeface="Times New Roman"/>
                <a:ea typeface="Times New Roman"/>
                <a:cs typeface="Times New Roman"/>
              </a:rPr>
              <a:t>Amazon</a:t>
            </a:r>
            <a:r>
              <a:rPr sz="1200" b="0" i="0" u="none">
                <a:solidFill>
                  <a:srgbClr val="000000"/>
                </a:solidFill>
                <a:latin typeface="Times New Roman"/>
                <a:ea typeface="Times New Roman"/>
                <a:cs typeface="Times New Roman"/>
              </a:rPr>
              <a:t> use similar patterns:</a:t>
            </a:r>
            <a:endParaRPr/>
          </a:p>
          <a:p>
            <a:pPr>
              <a:defRPr/>
            </a:pPr>
            <a:r>
              <a:rPr sz="1200" b="1" i="0" u="none">
                <a:solidFill>
                  <a:srgbClr val="000000"/>
                </a:solidFill>
                <a:latin typeface="Times New Roman"/>
                <a:ea typeface="Times New Roman"/>
                <a:cs typeface="Times New Roman"/>
              </a:rPr>
              <a:t>Orders embed order items</a:t>
            </a:r>
            <a:r>
              <a:rPr sz="1200" b="0" i="0" u="none">
                <a:solidFill>
                  <a:srgbClr val="000000"/>
                </a:solidFill>
                <a:latin typeface="Times New Roman"/>
                <a:ea typeface="Times New Roman"/>
                <a:cs typeface="Times New Roman"/>
              </a:rPr>
              <a:t> (snapshot of purchase) </a:t>
            </a:r>
            <a:endParaRPr/>
          </a:p>
          <a:p>
            <a:pPr>
              <a:defRPr/>
            </a:pPr>
            <a:r>
              <a:rPr sz="1200" b="1" i="0" u="none">
                <a:solidFill>
                  <a:srgbClr val="000000"/>
                </a:solidFill>
                <a:latin typeface="Times New Roman"/>
                <a:ea typeface="Times New Roman"/>
                <a:cs typeface="Times New Roman"/>
              </a:rPr>
              <a:t>Products are referenced</a:t>
            </a:r>
            <a:r>
              <a:rPr sz="1200" b="0" i="0" u="none">
                <a:solidFill>
                  <a:srgbClr val="000000"/>
                </a:solidFill>
                <a:latin typeface="Times New Roman"/>
                <a:ea typeface="Times New Roman"/>
                <a:cs typeface="Times New Roman"/>
              </a:rPr>
              <a:t> from a central product catalog </a:t>
            </a:r>
            <a:endParaRPr/>
          </a:p>
          <a:p>
            <a:pPr>
              <a:defRPr/>
            </a:pPr>
            <a:r>
              <a:rPr sz="1200" b="0" i="0" u="none">
                <a:solidFill>
                  <a:srgbClr val="000000"/>
                </a:solidFill>
                <a:latin typeface="Times New Roman"/>
                <a:ea typeface="Times New Roman"/>
                <a:cs typeface="Times New Roman"/>
              </a:rPr>
              <a:t>This design ensures:</a:t>
            </a:r>
            <a:endParaRPr/>
          </a:p>
          <a:p>
            <a:pPr>
              <a:defRPr/>
            </a:pPr>
            <a:r>
              <a:rPr sz="1200" b="0" i="0" u="none">
                <a:solidFill>
                  <a:srgbClr val="000000"/>
                </a:solidFill>
                <a:latin typeface="Times New Roman"/>
                <a:ea typeface="Times New Roman"/>
                <a:cs typeface="Times New Roman"/>
              </a:rPr>
              <a:t>Fast reads for orders</a:t>
            </a:r>
            <a:endParaRPr/>
          </a:p>
          <a:p>
            <a:pPr>
              <a:defRPr/>
            </a:pPr>
            <a:r>
              <a:rPr sz="1200" b="0" i="0" u="none">
                <a:solidFill>
                  <a:srgbClr val="000000"/>
                </a:solidFill>
                <a:latin typeface="Times New Roman"/>
                <a:ea typeface="Times New Roman"/>
                <a:cs typeface="Times New Roman"/>
              </a:rPr>
              <a:t>Minimal data duplication</a:t>
            </a:r>
            <a:endParaRPr/>
          </a:p>
          <a:p>
            <a:pPr>
              <a:defRPr/>
            </a:pPr>
            <a:r>
              <a:rPr sz="1200" b="0" i="0" u="none">
                <a:solidFill>
                  <a:srgbClr val="000000"/>
                </a:solidFill>
                <a:latin typeface="Times New Roman"/>
                <a:ea typeface="Times New Roman"/>
                <a:cs typeface="Times New Roman"/>
              </a:rPr>
              <a:t>Independent updates of product information</a:t>
            </a:r>
            <a:endParaRPr/>
          </a:p>
          <a:p>
            <a:pPr>
              <a:defRPr/>
            </a:pPr>
            <a:r>
              <a:rPr sz="1800" b="1" i="0" u="none">
                <a:solidFill>
                  <a:srgbClr val="000000"/>
                </a:solidFill>
                <a:latin typeface="Times New Roman"/>
                <a:ea typeface="Times New Roman"/>
                <a:cs typeface="Times New Roman"/>
              </a:rPr>
              <a:t>Interview Insight</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would embedding product information directly inside every order be problematic?</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the same product may appear in thousands of orders. Embedding it would duplicate the data many times and make updates difficult. Referencing allows a single product document to be shared across many orders.</a:t>
            </a:r>
            <a:endParaRPr>
              <a:solidFill>
                <a:schemeClr val="accent1">
                  <a:lumMod val="75000"/>
                </a:schemeClr>
              </a:solidFill>
            </a:endParaRPr>
          </a:p>
        </p:txBody>
      </p:sp>
      <p:sp>
        <p:nvSpPr>
          <p:cNvPr id="628884997" name="Slide Number Placeholder 3"/>
          <p:cNvSpPr>
            <a:spLocks noGrp="1"/>
          </p:cNvSpPr>
          <p:nvPr>
            <p:ph type="sldNum" sz="quarter" idx="10"/>
          </p:nvPr>
        </p:nvSpPr>
        <p:spPr bwMode="auto"/>
        <p:txBody>
          <a:bodyPr/>
          <a:lstStyle/>
          <a:p>
            <a:pPr>
              <a:defRPr/>
            </a:pPr>
            <a:fld id="{9B179052-F91D-F3E2-3657-55DABC0D5A66}"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7781358" name="Slide Image Placeholder 1"/>
          <p:cNvSpPr>
            <a:spLocks noChangeAspect="1" noGrp="1" noRot="1"/>
          </p:cNvSpPr>
          <p:nvPr>
            <p:ph type="sldImg"/>
          </p:nvPr>
        </p:nvSpPr>
        <p:spPr bwMode="auto"/>
      </p:sp>
      <p:sp>
        <p:nvSpPr>
          <p:cNvPr id="1188087932"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Having examined </a:t>
            </a:r>
            <a:r>
              <a:rPr sz="1200" b="1" i="0" u="none">
                <a:solidFill>
                  <a:srgbClr val="000000"/>
                </a:solidFill>
                <a:latin typeface="Times New Roman"/>
                <a:ea typeface="Times New Roman"/>
                <a:cs typeface="Times New Roman"/>
              </a:rPr>
              <a:t>schema design patterns and document modeling</a:t>
            </a:r>
            <a:r>
              <a:rPr sz="1200" b="0" i="0" u="none">
                <a:solidFill>
                  <a:srgbClr val="000000"/>
                </a:solidFill>
                <a:latin typeface="Times New Roman"/>
                <a:ea typeface="Times New Roman"/>
                <a:cs typeface="Times New Roman"/>
              </a:rPr>
              <a:t>, the next critical concept is </a:t>
            </a:r>
            <a:r>
              <a:rPr sz="1200" b="1" i="0" u="none">
                <a:solidFill>
                  <a:srgbClr val="000000"/>
                </a:solidFill>
                <a:latin typeface="Times New Roman"/>
                <a:ea typeface="Times New Roman"/>
                <a:cs typeface="Times New Roman"/>
              </a:rPr>
              <a:t>indexing</a:t>
            </a:r>
            <a:r>
              <a:rPr sz="1200" b="0" i="0" u="none">
                <a:solidFill>
                  <a:srgbClr val="000000"/>
                </a:solidFill>
                <a:latin typeface="Times New Roman"/>
                <a:ea typeface="Times New Roman"/>
                <a:cs typeface="Times New Roman"/>
              </a:rPr>
              <a:t>, which determines how efficiently a database can locate the data requested by an application.</a:t>
            </a:r>
            <a:endParaRPr/>
          </a:p>
          <a:p>
            <a:pPr>
              <a:defRPr/>
            </a:pPr>
            <a:r>
              <a:rPr sz="1200" b="0" i="0" u="none">
                <a:solidFill>
                  <a:srgbClr val="000000"/>
                </a:solidFill>
                <a:latin typeface="Times New Roman"/>
                <a:ea typeface="Times New Roman"/>
                <a:cs typeface="Times New Roman"/>
              </a:rPr>
              <a:t>Even the most carefully designed schema provides little value if the database cannot retrieve information quickly. Without indexes, the database must perform a </a:t>
            </a:r>
            <a:r>
              <a:rPr sz="1200" b="1" i="0" u="none">
                <a:solidFill>
                  <a:srgbClr val="000000"/>
                </a:solidFill>
                <a:latin typeface="Times New Roman"/>
                <a:ea typeface="Times New Roman"/>
                <a:cs typeface="Times New Roman"/>
              </a:rPr>
              <a:t>linear scan</a:t>
            </a:r>
            <a:r>
              <a:rPr sz="1200" b="0" i="0" u="none">
                <a:solidFill>
                  <a:srgbClr val="000000"/>
                </a:solidFill>
                <a:latin typeface="Times New Roman"/>
                <a:ea typeface="Times New Roman"/>
                <a:cs typeface="Times New Roman"/>
              </a:rPr>
              <a:t>, examining every document in a collection to determine whether it matches the query conditions. For collections containing millions of documents, this process becomes extremely slow and can significantly degrade application performance.</a:t>
            </a:r>
            <a:endParaRPr/>
          </a:p>
          <a:p>
            <a:pPr>
              <a:defRPr/>
            </a:pPr>
            <a:r>
              <a:rPr sz="1200" b="0" i="0" u="none">
                <a:solidFill>
                  <a:srgbClr val="000000"/>
                </a:solidFill>
                <a:latin typeface="Times New Roman"/>
                <a:ea typeface="Times New Roman"/>
                <a:cs typeface="Times New Roman"/>
              </a:rPr>
              <a:t>Indexes solve this problem by creating specialized data structures that allow the database to locate relevant documents rapidly. Instead of scanning the entire dataset, the database consults the index to identify the precise location of the documents that satisfy the query conditions. This transforms a potentially expensive full collection scan into a </a:t>
            </a:r>
            <a:r>
              <a:rPr sz="1200" b="1" i="0" u="none">
                <a:solidFill>
                  <a:srgbClr val="000000"/>
                </a:solidFill>
                <a:latin typeface="Times New Roman"/>
                <a:ea typeface="Times New Roman"/>
                <a:cs typeface="Times New Roman"/>
              </a:rPr>
              <a:t>fast lookup operation</a:t>
            </a:r>
            <a:r>
              <a:rPr sz="1200" b="0" i="0" u="none">
                <a:solidFill>
                  <a:srgbClr val="000000"/>
                </a:solidFill>
                <a:latin typeface="Times New Roman"/>
                <a:ea typeface="Times New Roman"/>
                <a:cs typeface="Times New Roman"/>
              </a:rPr>
              <a:t>, often completing in a few milliseconds or less.</a:t>
            </a:r>
            <a:endParaRPr/>
          </a:p>
          <a:p>
            <a:pPr>
              <a:defRPr/>
            </a:pPr>
            <a:r>
              <a:rPr sz="1200" b="0" i="0" u="none">
                <a:solidFill>
                  <a:srgbClr val="000000"/>
                </a:solidFill>
                <a:latin typeface="Times New Roman"/>
                <a:ea typeface="Times New Roman"/>
                <a:cs typeface="Times New Roman"/>
              </a:rPr>
              <a:t>In document databases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indexes are commonly implemented using data structures similar to </a:t>
            </a:r>
            <a:r>
              <a:rPr sz="1200" b="1" i="0" u="none">
                <a:solidFill>
                  <a:srgbClr val="000000"/>
                </a:solidFill>
                <a:latin typeface="Times New Roman"/>
                <a:ea typeface="Times New Roman"/>
                <a:cs typeface="Times New Roman"/>
              </a:rPr>
              <a:t>B-trees</a:t>
            </a:r>
            <a:r>
              <a:rPr sz="1200" b="0" i="0" u="none">
                <a:solidFill>
                  <a:srgbClr val="000000"/>
                </a:solidFill>
                <a:latin typeface="Times New Roman"/>
                <a:ea typeface="Times New Roman"/>
                <a:cs typeface="Times New Roman"/>
              </a:rPr>
              <a:t>, which maintain sorted order and allow efficient search operations. When a query specifies a condition—such as searching for a user by email address—the database uses the index to jump directly to the matching documents rather than inspecting every record.</a:t>
            </a:r>
            <a:endParaRPr/>
          </a:p>
          <a:p>
            <a:pPr>
              <a:defRPr/>
            </a:pPr>
            <a:r>
              <a:rPr sz="1200" b="0" i="0" u="none">
                <a:solidFill>
                  <a:srgbClr val="000000"/>
                </a:solidFill>
                <a:latin typeface="Times New Roman"/>
                <a:ea typeface="Times New Roman"/>
                <a:cs typeface="Times New Roman"/>
              </a:rPr>
              <a:t>Because indexes play such a crucial role in performance, understanding when and how to create them is an essential skill for database engineers. Poor indexing strategies can cause queries to become slow as datasets grow, while well-designed indexes allow systems to scale efficiently even with large volumes of data.</a:t>
            </a:r>
            <a:endParaRPr/>
          </a:p>
          <a:p>
            <a:pPr>
              <a:defRPr/>
            </a:pPr>
            <a:r>
              <a:rPr sz="1200" b="0" i="0" u="none">
                <a:solidFill>
                  <a:srgbClr val="000000"/>
                </a:solidFill>
                <a:latin typeface="Times New Roman"/>
                <a:ea typeface="Times New Roman"/>
                <a:cs typeface="Times New Roman"/>
              </a:rPr>
              <a:t>For this reason, experienced engineers carefully analyze application query patterns and design indexes that support the most common or performance-critical operations.</a:t>
            </a:r>
            <a:endParaRPr/>
          </a:p>
          <a:p>
            <a:pPr>
              <a:defRPr/>
            </a:pPr>
            <a:r>
              <a:rPr sz="1200" b="1" i="0" u="none">
                <a:solidFill>
                  <a:srgbClr val="000000"/>
                </a:solidFill>
                <a:latin typeface="Times New Roman"/>
                <a:ea typeface="Times New Roman"/>
                <a:cs typeface="Times New Roman"/>
              </a:rPr>
              <a:t>Key Idea</a:t>
            </a:r>
            <a:endParaRPr/>
          </a:p>
          <a:p>
            <a:pPr>
              <a:defRPr/>
            </a:pPr>
            <a:r>
              <a:rPr sz="1200" b="0" i="0" u="none">
                <a:solidFill>
                  <a:srgbClr val="000000"/>
                </a:solidFill>
                <a:latin typeface="Times New Roman"/>
                <a:ea typeface="Times New Roman"/>
                <a:cs typeface="Times New Roman"/>
              </a:rPr>
              <a:t>Indexing is the mechanism that transforms a slow scan across millions of documents into a rapid lookup operation. Mastering indexing strategies is a fundamental skill that distinguishes experienced database engineers from beginners.</a:t>
            </a:r>
            <a:endParaRPr/>
          </a:p>
        </p:txBody>
      </p:sp>
      <p:sp>
        <p:nvSpPr>
          <p:cNvPr id="1785413745" name="Slide Number Placeholder 3"/>
          <p:cNvSpPr>
            <a:spLocks noGrp="1"/>
          </p:cNvSpPr>
          <p:nvPr>
            <p:ph type="sldNum" sz="quarter" idx="10"/>
          </p:nvPr>
        </p:nvSpPr>
        <p:spPr bwMode="auto"/>
        <p:txBody>
          <a:bodyPr/>
          <a:lstStyle/>
          <a:p>
            <a:pPr>
              <a:defRPr/>
            </a:pPr>
            <a:fld id="{F7021451-1387-4CA6-816F-3879F97B5CBC}" type="slidenum">
              <a:rPr lang="en-US"/>
              <a:t>29</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0011508" name="Slide Image Placeholder 1"/>
          <p:cNvSpPr>
            <a:spLocks noChangeAspect="1" noGrp="1" noRot="1"/>
          </p:cNvSpPr>
          <p:nvPr>
            <p:ph type="sldImg"/>
          </p:nvPr>
        </p:nvSpPr>
        <p:spPr bwMode="auto"/>
      </p:sp>
      <p:sp>
        <p:nvSpPr>
          <p:cNvPr id="791508509"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An </a:t>
            </a:r>
            <a:r>
              <a:rPr sz="1200" b="1" i="0" u="none">
                <a:solidFill>
                  <a:srgbClr val="000000"/>
                </a:solidFill>
                <a:latin typeface="Times New Roman"/>
                <a:ea typeface="Times New Roman"/>
                <a:cs typeface="Times New Roman"/>
              </a:rPr>
              <a:t>index</a:t>
            </a:r>
            <a:r>
              <a:rPr sz="1200" b="0" i="0" u="none">
                <a:solidFill>
                  <a:srgbClr val="000000"/>
                </a:solidFill>
                <a:latin typeface="Times New Roman"/>
                <a:ea typeface="Times New Roman"/>
                <a:cs typeface="Times New Roman"/>
              </a:rPr>
              <a:t> is a special data structure that allows the database to locate documents quickly without scanning the entire collection. When a query searches for documents based on a specific field, the database can consult the index to find the exact location of the matching records.</a:t>
            </a:r>
            <a:endParaRPr/>
          </a:p>
          <a:p>
            <a:pPr>
              <a:defRPr/>
            </a:pPr>
            <a:r>
              <a:rPr sz="1200" b="0" i="0" u="none">
                <a:solidFill>
                  <a:srgbClr val="000000"/>
                </a:solidFill>
                <a:latin typeface="Times New Roman"/>
                <a:ea typeface="Times New Roman"/>
                <a:cs typeface="Times New Roman"/>
              </a:rPr>
              <a:t>Without an index, the database must perform a </a:t>
            </a:r>
            <a:r>
              <a:rPr sz="1200" b="1" i="0" u="none">
                <a:solidFill>
                  <a:srgbClr val="000000"/>
                </a:solidFill>
                <a:latin typeface="Times New Roman"/>
                <a:ea typeface="Times New Roman"/>
                <a:cs typeface="Times New Roman"/>
              </a:rPr>
              <a:t>collection scan</a:t>
            </a:r>
            <a:r>
              <a:rPr sz="1200" b="0" i="0" u="none">
                <a:solidFill>
                  <a:srgbClr val="000000"/>
                </a:solidFill>
                <a:latin typeface="Times New Roman"/>
                <a:ea typeface="Times New Roman"/>
                <a:cs typeface="Times New Roman"/>
              </a:rPr>
              <a:t>, meaning it examines every document in the collection to determine whether it satisfies the query conditions. While this may be acceptable for small datasets, it becomes extremely inefficient as the number of documents grows to millions or billions.</a:t>
            </a:r>
            <a:endParaRPr/>
          </a:p>
          <a:p>
            <a:pPr>
              <a:defRPr/>
            </a:pPr>
            <a:r>
              <a:rPr sz="1200" b="0" i="0" u="none">
                <a:solidFill>
                  <a:srgbClr val="000000"/>
                </a:solidFill>
                <a:latin typeface="Times New Roman"/>
                <a:ea typeface="Times New Roman"/>
                <a:cs typeface="Times New Roman"/>
              </a:rPr>
              <a:t>Indexes solve this problem by storing the values of specific fields in a structure optimized for fast lookup operations. Most document databases, including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implement indexes using a </a:t>
            </a:r>
            <a:r>
              <a:rPr sz="1200" b="1" i="0" u="none">
                <a:solidFill>
                  <a:srgbClr val="000000"/>
                </a:solidFill>
                <a:latin typeface="Times New Roman"/>
                <a:ea typeface="Times New Roman"/>
                <a:cs typeface="Times New Roman"/>
              </a:rPr>
              <a:t>B-tree</a:t>
            </a:r>
            <a:r>
              <a:rPr sz="1200" b="0" i="0" u="none">
                <a:solidFill>
                  <a:srgbClr val="000000"/>
                </a:solidFill>
                <a:latin typeface="Times New Roman"/>
                <a:ea typeface="Times New Roman"/>
                <a:cs typeface="Times New Roman"/>
              </a:rPr>
              <a:t> data structure. A B-tree keeps indexed values </a:t>
            </a:r>
            <a:r>
              <a:rPr sz="1200" b="1" i="0" u="none">
                <a:solidFill>
                  <a:srgbClr val="000000"/>
                </a:solidFill>
                <a:latin typeface="Times New Roman"/>
                <a:ea typeface="Times New Roman"/>
                <a:cs typeface="Times New Roman"/>
              </a:rPr>
              <a:t>sorted</a:t>
            </a:r>
            <a:r>
              <a:rPr sz="1200" b="0" i="0" u="none">
                <a:solidFill>
                  <a:srgbClr val="000000"/>
                </a:solidFill>
                <a:latin typeface="Times New Roman"/>
                <a:ea typeface="Times New Roman"/>
                <a:cs typeface="Times New Roman"/>
              </a:rPr>
              <a:t>, allowing the database to locate a value using logarithmic search time rather than scanning the entire dataset.</a:t>
            </a:r>
            <a:endParaRPr/>
          </a:p>
          <a:p>
            <a:pPr>
              <a:defRPr/>
            </a:pPr>
            <a:r>
              <a:rPr sz="1200" b="0" i="0" u="none">
                <a:solidFill>
                  <a:srgbClr val="000000"/>
                </a:solidFill>
                <a:latin typeface="Times New Roman"/>
                <a:ea typeface="Times New Roman"/>
                <a:cs typeface="Times New Roman"/>
              </a:rPr>
              <a:t>When a query references a field that has an index, the database can </a:t>
            </a:r>
            <a:r>
              <a:rPr sz="1200" b="1" i="0" u="none">
                <a:solidFill>
                  <a:srgbClr val="000000"/>
                </a:solidFill>
                <a:latin typeface="Times New Roman"/>
                <a:ea typeface="Times New Roman"/>
                <a:cs typeface="Times New Roman"/>
              </a:rPr>
              <a:t>jump directly to the relevant documents</a:t>
            </a:r>
            <a:r>
              <a:rPr sz="1200" b="0" i="0" u="none">
                <a:solidFill>
                  <a:srgbClr val="000000"/>
                </a:solidFill>
                <a:latin typeface="Times New Roman"/>
                <a:ea typeface="Times New Roman"/>
                <a:cs typeface="Times New Roman"/>
              </a:rPr>
              <a:t> instead of checking every record in the collection. This dramatically reduces query execution time.</a:t>
            </a:r>
            <a:endParaRPr/>
          </a:p>
          <a:p>
            <a:pPr>
              <a:defRPr/>
            </a:pPr>
            <a:r>
              <a:rPr sz="1200" b="0" i="0" u="none">
                <a:solidFill>
                  <a:srgbClr val="000000"/>
                </a:solidFill>
                <a:latin typeface="Times New Roman"/>
                <a:ea typeface="Times New Roman"/>
                <a:cs typeface="Times New Roman"/>
              </a:rPr>
              <a:t>A useful analogy is searching for a name in a phone book. Without alphabetical ordering, you would need to read every page to find a person’s phone number. Because the names are sorted alphabetically, however, you can immediately navigate to the correct section. Database indexes work in a similar way by organizing values so that the system can locate data efficiently.</a:t>
            </a:r>
            <a:endParaRPr/>
          </a:p>
          <a:p>
            <a:pPr>
              <a:defRPr/>
            </a:pPr>
            <a:r>
              <a:rPr sz="1200" b="0" i="0" u="none">
                <a:solidFill>
                  <a:srgbClr val="000000"/>
                </a:solidFill>
                <a:latin typeface="Times New Roman"/>
                <a:ea typeface="Times New Roman"/>
                <a:cs typeface="Times New Roman"/>
              </a:rPr>
              <a:t>It is important to note that an index is stored as a </a:t>
            </a:r>
            <a:r>
              <a:rPr sz="1200" b="1" i="0" u="none">
                <a:solidFill>
                  <a:srgbClr val="000000"/>
                </a:solidFill>
                <a:latin typeface="Times New Roman"/>
                <a:ea typeface="Times New Roman"/>
                <a:cs typeface="Times New Roman"/>
              </a:rPr>
              <a:t>separate data structure</a:t>
            </a:r>
            <a:r>
              <a:rPr sz="1200" b="0" i="0" u="none">
                <a:solidFill>
                  <a:srgbClr val="000000"/>
                </a:solidFill>
                <a:latin typeface="Times New Roman"/>
                <a:ea typeface="Times New Roman"/>
                <a:cs typeface="Times New Roman"/>
              </a:rPr>
              <a:t> from the main collection. The database automatically maintains this structure as documents are inserted, updated, or deleted. Whenever a document changes, the database must also update all indexes associated with that collection to keep them consistent.</a:t>
            </a:r>
            <a:endParaRPr/>
          </a:p>
          <a:p>
            <a:pPr>
              <a:defRPr/>
            </a:pPr>
            <a:r>
              <a:rPr sz="1200" b="0" i="0" u="none">
                <a:solidFill>
                  <a:srgbClr val="000000"/>
                </a:solidFill>
                <a:latin typeface="Times New Roman"/>
                <a:ea typeface="Times New Roman"/>
                <a:cs typeface="Times New Roman"/>
              </a:rPr>
              <a:t>In real-world systems, missing indexes are one of the most common causes of performance problems. A query that requires a full collection scan may take hundreds of milliseconds to complete, while the same query using a well-designed index may execute in a fraction of a millisecond—sometimes producing </a:t>
            </a:r>
            <a:r>
              <a:rPr sz="1200" b="1" i="0" u="none">
                <a:solidFill>
                  <a:srgbClr val="000000"/>
                </a:solidFill>
                <a:latin typeface="Times New Roman"/>
                <a:ea typeface="Times New Roman"/>
                <a:cs typeface="Times New Roman"/>
              </a:rPr>
              <a:t>performance improvements of several orders of magnitude</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However, indexes introduce a small trade-off. Because every indexed field must be maintained by the database, write operations become slightly more expensive.</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Indexes dramatically improve query performance by allowing the database to locate documents efficiently, but each additional index increases the cost of insert and update operations.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does adding an index slightly slow down write operations?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Whenever a new document is inserted or an indexed field is updated, the database must modify both the document itself and the associated index structure (typically a B-tree). As a result, the database performs additional work for every write operation. The more indexes a collection has, the more structures </a:t>
            </a:r>
            <a:endParaRPr sz="1200" b="0"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must be updated during each write.</a:t>
            </a:r>
            <a:endParaRPr/>
          </a:p>
        </p:txBody>
      </p:sp>
      <p:sp>
        <p:nvSpPr>
          <p:cNvPr id="2045493794" name="Slide Number Placeholder 3"/>
          <p:cNvSpPr>
            <a:spLocks noGrp="1"/>
          </p:cNvSpPr>
          <p:nvPr>
            <p:ph type="sldNum" sz="quarter" idx="10"/>
          </p:nvPr>
        </p:nvSpPr>
        <p:spPr bwMode="auto"/>
        <p:txBody>
          <a:bodyPr/>
          <a:lstStyle/>
          <a:p>
            <a:pPr>
              <a:defRPr/>
            </a:pPr>
            <a:fld id="{F7021451-1387-4CA6-816F-3879F97B5CBC}" type="slidenum">
              <a:rPr lang="en-US"/>
              <a:t>30</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2362588" name="Slide Image Placeholder 1"/>
          <p:cNvSpPr>
            <a:spLocks noChangeAspect="1" noGrp="1" noRot="1"/>
          </p:cNvSpPr>
          <p:nvPr>
            <p:ph type="sldImg"/>
          </p:nvPr>
        </p:nvSpPr>
        <p:spPr bwMode="auto"/>
      </p:sp>
      <p:sp>
        <p:nvSpPr>
          <p:cNvPr id="948542906"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Real-world Example (Student Information System)</a:t>
            </a:r>
            <a:endParaRPr/>
          </a:p>
          <a:p>
            <a:pPr>
              <a:defRPr/>
            </a:pPr>
            <a:r>
              <a:rPr sz="1200" b="0" i="0" u="none">
                <a:solidFill>
                  <a:srgbClr val="000000"/>
                </a:solidFill>
                <a:latin typeface="Times New Roman"/>
                <a:ea typeface="Times New Roman"/>
                <a:cs typeface="Times New Roman"/>
              </a:rPr>
              <a:t>Consider a </a:t>
            </a:r>
            <a:r>
              <a:rPr sz="1200" b="1" i="0" u="none">
                <a:solidFill>
                  <a:srgbClr val="000000"/>
                </a:solidFill>
                <a:latin typeface="Times New Roman"/>
                <a:ea typeface="Times New Roman"/>
                <a:cs typeface="Times New Roman"/>
              </a:rPr>
              <a:t>university student information system</a:t>
            </a:r>
            <a:r>
              <a:rPr sz="1200" b="0" i="0" u="none">
                <a:solidFill>
                  <a:srgbClr val="000000"/>
                </a:solidFill>
                <a:latin typeface="Times New Roman"/>
                <a:ea typeface="Times New Roman"/>
                <a:cs typeface="Times New Roman"/>
              </a:rPr>
              <a:t> used by a registrar’s office. The database stores a collection containing hundreds of thousands of student documents.</a:t>
            </a:r>
            <a:endParaRPr/>
          </a:p>
          <a:p>
            <a:pPr>
              <a:defRPr/>
            </a:pPr>
            <a:r>
              <a:rPr sz="1200" b="0" i="0" u="none">
                <a:solidFill>
                  <a:srgbClr val="000000"/>
                </a:solidFill>
                <a:latin typeface="Times New Roman"/>
                <a:ea typeface="Times New Roman"/>
                <a:cs typeface="Times New Roman"/>
              </a:rPr>
              <a:t>Each student document might look like this:</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"student_id": </a:t>
            </a:r>
            <a:r>
              <a:rPr sz="1000" b="0" i="0" u="none">
                <a:solidFill>
                  <a:srgbClr val="000000"/>
                </a:solidFill>
                <a:latin typeface="Courier New"/>
                <a:ea typeface="Courier New"/>
                <a:cs typeface="Courier New"/>
              </a:rPr>
              <a:t>"ECE202400123"</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"name": </a:t>
            </a:r>
            <a:r>
              <a:rPr sz="1000" b="0" i="0" u="none">
                <a:solidFill>
                  <a:srgbClr val="000000"/>
                </a:solidFill>
                <a:latin typeface="Courier New"/>
                <a:ea typeface="Courier New"/>
                <a:cs typeface="Courier New"/>
              </a:rPr>
              <a:t>"Maria Papadopoulou"</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"department": </a:t>
            </a:r>
            <a:r>
              <a:rPr sz="1000" b="0" i="0" u="none">
                <a:solidFill>
                  <a:srgbClr val="000000"/>
                </a:solidFill>
                <a:latin typeface="Courier New"/>
                <a:ea typeface="Courier New"/>
                <a:cs typeface="Courier New"/>
              </a:rPr>
              <a:t>"Electrical and Computer Engineering"</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"email": </a:t>
            </a:r>
            <a:r>
              <a:rPr sz="1000" b="0" i="0" u="none">
                <a:solidFill>
                  <a:srgbClr val="000000"/>
                </a:solidFill>
                <a:latin typeface="Courier New"/>
                <a:ea typeface="Courier New"/>
                <a:cs typeface="Courier New"/>
              </a:rPr>
              <a:t>"maria.papadopoulou@uth.gr"</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A very common operation in such systems is searching for a student by </a:t>
            </a:r>
            <a:r>
              <a:rPr sz="1200" b="1" i="0" u="none">
                <a:solidFill>
                  <a:srgbClr val="000000"/>
                </a:solidFill>
                <a:latin typeface="Times New Roman"/>
                <a:ea typeface="Times New Roman"/>
                <a:cs typeface="Times New Roman"/>
              </a:rPr>
              <a:t>student ID</a:t>
            </a:r>
            <a:r>
              <a:rPr sz="1200" b="0" i="0" u="none">
                <a:solidFill>
                  <a:srgbClr val="000000"/>
                </a:solidFill>
                <a:latin typeface="Times New Roman"/>
                <a:ea typeface="Times New Roman"/>
                <a:cs typeface="Times New Roman"/>
              </a:rPr>
              <a:t>. For example, when a professor enters a grade, the system must quickly locate the corresponding student record.</a:t>
            </a:r>
            <a:endParaRPr/>
          </a:p>
          <a:p>
            <a:pPr>
              <a:defRPr/>
            </a:pPr>
            <a:r>
              <a:rPr sz="1200" b="0" i="0" u="none">
                <a:solidFill>
                  <a:srgbClr val="000000"/>
                </a:solidFill>
                <a:latin typeface="Times New Roman"/>
                <a:ea typeface="Times New Roman"/>
                <a:cs typeface="Times New Roman"/>
              </a:rPr>
              <a:t>If the database does </a:t>
            </a:r>
            <a:r>
              <a:rPr sz="1200" b="1" i="0" u="none">
                <a:solidFill>
                  <a:srgbClr val="000000"/>
                </a:solidFill>
                <a:latin typeface="Times New Roman"/>
                <a:ea typeface="Times New Roman"/>
                <a:cs typeface="Times New Roman"/>
              </a:rPr>
              <a:t>not</a:t>
            </a:r>
            <a:r>
              <a:rPr sz="1200" b="0" i="0" u="none">
                <a:solidFill>
                  <a:srgbClr val="000000"/>
                </a:solidFill>
                <a:latin typeface="Times New Roman"/>
                <a:ea typeface="Times New Roman"/>
                <a:cs typeface="Times New Roman"/>
              </a:rPr>
              <a:t> have an index on the field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it must examine every document in the collection to find the correct student. With hundreds of thousands of records, this operation becomes slow and inefficient.</a:t>
            </a:r>
            <a:endParaRPr/>
          </a:p>
          <a:p>
            <a:pPr>
              <a:defRPr/>
            </a:pPr>
            <a:r>
              <a:rPr sz="1200" b="0" i="0" u="none">
                <a:solidFill>
                  <a:srgbClr val="000000"/>
                </a:solidFill>
                <a:latin typeface="Times New Roman"/>
                <a:ea typeface="Times New Roman"/>
                <a:cs typeface="Times New Roman"/>
              </a:rPr>
              <a:t>By creating an index on the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field, the database can locate the correct document almost instantly.</a:t>
            </a:r>
            <a:endParaRPr/>
          </a:p>
          <a:p>
            <a:pPr>
              <a:defRPr/>
            </a:pPr>
            <a:r>
              <a:rPr sz="1200" b="0" i="0" u="none">
                <a:solidFill>
                  <a:srgbClr val="000000"/>
                </a:solidFill>
                <a:latin typeface="Times New Roman"/>
                <a:ea typeface="Times New Roman"/>
                <a:cs typeface="Times New Roman"/>
              </a:rPr>
              <a:t>Example index creation in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a:t>
            </a:r>
            <a:endParaRPr/>
          </a:p>
          <a:p>
            <a:pPr>
              <a:defRPr/>
            </a:pPr>
            <a:r>
              <a:rPr sz="1000" b="0" i="0" u="none">
                <a:solidFill>
                  <a:srgbClr val="000000"/>
                </a:solidFill>
                <a:latin typeface="Courier New"/>
                <a:ea typeface="Courier New"/>
                <a:cs typeface="Courier New"/>
              </a:rPr>
              <a:t>db.students.createIndex({ student_id: 1 })</a:t>
            </a:r>
            <a:endParaRPr/>
          </a:p>
          <a:p>
            <a:pPr>
              <a:defRPr/>
            </a:pPr>
            <a:r>
              <a:rPr sz="1200" b="0" i="0" u="none">
                <a:solidFill>
                  <a:srgbClr val="000000"/>
                </a:solidFill>
                <a:latin typeface="Times New Roman"/>
                <a:ea typeface="Times New Roman"/>
                <a:cs typeface="Times New Roman"/>
              </a:rPr>
              <a:t>Once this index exists, the database uses the index to jump directly to the correct student document instead of scanning the entire collection.</a:t>
            </a:r>
            <a:endParaRPr/>
          </a:p>
          <a:p>
            <a:pPr>
              <a:defRPr/>
            </a:pPr>
            <a:r>
              <a:rPr sz="1200" b="0" i="0" u="none">
                <a:solidFill>
                  <a:srgbClr val="000000"/>
                </a:solidFill>
                <a:latin typeface="Times New Roman"/>
                <a:ea typeface="Times New Roman"/>
                <a:cs typeface="Times New Roman"/>
              </a:rPr>
              <a:t>In practice, the difference can be dramatic. A query that might take </a:t>
            </a:r>
            <a:r>
              <a:rPr sz="1200" b="1" i="0" u="none">
                <a:solidFill>
                  <a:srgbClr val="000000"/>
                </a:solidFill>
                <a:latin typeface="Times New Roman"/>
                <a:ea typeface="Times New Roman"/>
                <a:cs typeface="Times New Roman"/>
              </a:rPr>
              <a:t>200 milliseconds without an index</a:t>
            </a:r>
            <a:r>
              <a:rPr sz="1200" b="0" i="0" u="none">
                <a:solidFill>
                  <a:srgbClr val="000000"/>
                </a:solidFill>
                <a:latin typeface="Times New Roman"/>
                <a:ea typeface="Times New Roman"/>
                <a:cs typeface="Times New Roman"/>
              </a:rPr>
              <a:t> can often execute in </a:t>
            </a:r>
            <a:r>
              <a:rPr sz="1200" b="1" i="0" u="none">
                <a:solidFill>
                  <a:srgbClr val="000000"/>
                </a:solidFill>
                <a:latin typeface="Times New Roman"/>
                <a:ea typeface="Times New Roman"/>
                <a:cs typeface="Times New Roman"/>
              </a:rPr>
              <a:t>less than 1 millisecond with an index</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is why in real-world systems, fields that are frequently used for searching—such as </a:t>
            </a:r>
            <a:r>
              <a:rPr sz="1200" b="1" i="0" u="none">
                <a:solidFill>
                  <a:srgbClr val="000000"/>
                </a:solidFill>
                <a:latin typeface="Times New Roman"/>
                <a:ea typeface="Times New Roman"/>
                <a:cs typeface="Times New Roman"/>
              </a:rPr>
              <a:t>student ID, email address, or username</a:t>
            </a:r>
            <a:r>
              <a:rPr sz="1200" b="0" i="0" u="none">
                <a:solidFill>
                  <a:srgbClr val="000000"/>
                </a:solidFill>
                <a:latin typeface="Times New Roman"/>
                <a:ea typeface="Times New Roman"/>
                <a:cs typeface="Times New Roman"/>
              </a:rPr>
              <a:t>—are almost always indexed.</a:t>
            </a:r>
            <a:endParaRPr/>
          </a:p>
          <a:p>
            <a:pPr>
              <a:defRPr/>
            </a:pPr>
            <a:r>
              <a:rPr sz="1400" b="1" i="0" u="none">
                <a:solidFill>
                  <a:srgbClr val="000000"/>
                </a:solidFill>
                <a:latin typeface="Times New Roman"/>
                <a:ea typeface="Times New Roman"/>
                <a:cs typeface="Times New Roman"/>
              </a:rPr>
              <a:t>Key Insight for Students</a:t>
            </a:r>
            <a:endParaRPr/>
          </a:p>
          <a:p>
            <a:pPr>
              <a:defRPr/>
            </a:pPr>
            <a:r>
              <a:rPr sz="1200" b="0" i="0" u="none">
                <a:solidFill>
                  <a:srgbClr val="000000"/>
                </a:solidFill>
                <a:latin typeface="Times New Roman"/>
                <a:ea typeface="Times New Roman"/>
                <a:cs typeface="Times New Roman"/>
              </a:rPr>
              <a:t>In real systems:</a:t>
            </a:r>
            <a:endParaRPr/>
          </a:p>
          <a:p>
            <a:pPr>
              <a:defRPr/>
            </a:pPr>
            <a:r>
              <a:rPr sz="1200" b="1" i="0" u="none">
                <a:solidFill>
                  <a:srgbClr val="000000"/>
                </a:solidFill>
                <a:latin typeface="Times New Roman"/>
                <a:ea typeface="Times New Roman"/>
                <a:cs typeface="Times New Roman"/>
              </a:rPr>
              <a:t>Primary lookup fields must always be indexed</a:t>
            </a:r>
            <a:endParaRPr/>
          </a:p>
          <a:p>
            <a:pPr>
              <a:defRPr/>
            </a:pPr>
            <a:r>
              <a:rPr sz="1200" b="0" i="0" u="none">
                <a:solidFill>
                  <a:srgbClr val="000000"/>
                </a:solidFill>
                <a:latin typeface="Times New Roman"/>
                <a:ea typeface="Times New Roman"/>
                <a:cs typeface="Times New Roman"/>
              </a:rPr>
              <a:t> Poor indexing is one of the </a:t>
            </a:r>
            <a:r>
              <a:rPr sz="1200" b="1" i="0" u="none">
                <a:solidFill>
                  <a:srgbClr val="000000"/>
                </a:solidFill>
                <a:latin typeface="Times New Roman"/>
                <a:ea typeface="Times New Roman"/>
                <a:cs typeface="Times New Roman"/>
              </a:rPr>
              <a:t>most common causes of slow applications</a:t>
            </a:r>
            <a:endParaRPr/>
          </a:p>
          <a:p>
            <a:pPr>
              <a:defRPr/>
            </a:pPr>
            <a:r>
              <a:rPr sz="1200" b="0" i="0" u="none">
                <a:solidFill>
                  <a:srgbClr val="000000"/>
                </a:solidFill>
                <a:latin typeface="Times New Roman"/>
                <a:ea typeface="Times New Roman"/>
                <a:cs typeface="Times New Roman"/>
              </a:rPr>
              <a:t>Good indexing design is essential for systems that must scale to millions of records</a:t>
            </a:r>
            <a:endParaRPr/>
          </a:p>
        </p:txBody>
      </p:sp>
      <p:sp>
        <p:nvSpPr>
          <p:cNvPr id="481159029" name="Slide Number Placeholder 3"/>
          <p:cNvSpPr>
            <a:spLocks noGrp="1"/>
          </p:cNvSpPr>
          <p:nvPr>
            <p:ph type="sldNum" sz="quarter" idx="10"/>
          </p:nvPr>
        </p:nvSpPr>
        <p:spPr bwMode="auto"/>
        <p:txBody>
          <a:bodyPr/>
          <a:lstStyle/>
          <a:p>
            <a:pPr>
              <a:defRPr/>
            </a:pPr>
            <a:fld id="{7452DC6F-ED85-D2D5-9DC1-572D1B54DECD}"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6717106" name="Slide Image Placeholder 1"/>
          <p:cNvSpPr>
            <a:spLocks noChangeAspect="1" noGrp="1" noRot="1"/>
          </p:cNvSpPr>
          <p:nvPr>
            <p:ph type="sldImg"/>
          </p:nvPr>
        </p:nvSpPr>
        <p:spPr bwMode="auto"/>
      </p:sp>
      <p:sp>
        <p:nvSpPr>
          <p:cNvPr id="557302879"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Extending the previous discussion on how indexes enable fast lookups, it is important to understand </a:t>
            </a:r>
            <a:r>
              <a:rPr sz="1200" b="1" i="0" u="none">
                <a:solidFill>
                  <a:srgbClr val="000000"/>
                </a:solidFill>
                <a:latin typeface="Times New Roman"/>
                <a:ea typeface="Times New Roman"/>
                <a:cs typeface="Times New Roman"/>
              </a:rPr>
              <a:t>why indexes scale so effectively as datasets grow</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Indexes are essential for building high-performance database systems because they change the </a:t>
            </a:r>
            <a:r>
              <a:rPr sz="1200" b="1" i="0" u="none">
                <a:solidFill>
                  <a:srgbClr val="000000"/>
                </a:solidFill>
                <a:latin typeface="Times New Roman"/>
                <a:ea typeface="Times New Roman"/>
                <a:cs typeface="Times New Roman"/>
              </a:rPr>
              <a:t>mathematical cost of searching for data</a:t>
            </a:r>
            <a:r>
              <a:rPr sz="1200" b="0" i="0" u="none">
                <a:solidFill>
                  <a:srgbClr val="000000"/>
                </a:solidFill>
                <a:latin typeface="Times New Roman"/>
                <a:ea typeface="Times New Roman"/>
                <a:cs typeface="Times New Roman"/>
              </a:rPr>
              <a:t>. Without an index, the database must examine documents one by one until it finds a match. This type of operation grows </a:t>
            </a:r>
            <a:r>
              <a:rPr sz="1200" b="1" i="0" u="none">
                <a:solidFill>
                  <a:srgbClr val="000000"/>
                </a:solidFill>
                <a:latin typeface="Times New Roman"/>
                <a:ea typeface="Times New Roman"/>
                <a:cs typeface="Times New Roman"/>
              </a:rPr>
              <a:t>linearly with the size of the dataset</a:t>
            </a:r>
            <a:r>
              <a:rPr sz="1200" b="0" i="0" u="none">
                <a:solidFill>
                  <a:srgbClr val="000000"/>
                </a:solidFill>
                <a:latin typeface="Times New Roman"/>
                <a:ea typeface="Times New Roman"/>
                <a:cs typeface="Times New Roman"/>
              </a:rPr>
              <a:t>, which is described as </a:t>
            </a:r>
            <a:r>
              <a:rPr sz="1200" b="1" i="0" u="none">
                <a:solidFill>
                  <a:srgbClr val="000000"/>
                </a:solidFill>
                <a:latin typeface="Times New Roman"/>
                <a:ea typeface="Times New Roman"/>
                <a:cs typeface="Times New Roman"/>
              </a:rPr>
              <a:t>O(N)</a:t>
            </a:r>
            <a:r>
              <a:rPr sz="1200" b="0" i="0" u="none">
                <a:solidFill>
                  <a:srgbClr val="000000"/>
                </a:solidFill>
                <a:latin typeface="Times New Roman"/>
                <a:ea typeface="Times New Roman"/>
                <a:cs typeface="Times New Roman"/>
              </a:rPr>
              <a:t> time complexity. If a collection contains one million documents, the system may need to examine all one million records to answer a query.</a:t>
            </a:r>
            <a:endParaRPr/>
          </a:p>
          <a:p>
            <a:pPr>
              <a:defRPr/>
            </a:pPr>
            <a:r>
              <a:rPr sz="1200" b="0" i="0" u="none">
                <a:solidFill>
                  <a:srgbClr val="000000"/>
                </a:solidFill>
                <a:latin typeface="Times New Roman"/>
                <a:ea typeface="Times New Roman"/>
                <a:cs typeface="Times New Roman"/>
              </a:rPr>
              <a:t>Indexes dramatically reduce this cost. Because indexed values are stored in a </a:t>
            </a:r>
            <a:r>
              <a:rPr sz="1200" b="1" i="0" u="none">
                <a:solidFill>
                  <a:srgbClr val="000000"/>
                </a:solidFill>
                <a:latin typeface="Times New Roman"/>
                <a:ea typeface="Times New Roman"/>
                <a:cs typeface="Times New Roman"/>
              </a:rPr>
              <a:t>sorted structure (typically a B-tree)</a:t>
            </a:r>
            <a:r>
              <a:rPr sz="1200" b="0" i="0" u="none">
                <a:solidFill>
                  <a:srgbClr val="000000"/>
                </a:solidFill>
                <a:latin typeface="Times New Roman"/>
                <a:ea typeface="Times New Roman"/>
                <a:cs typeface="Times New Roman"/>
              </a:rPr>
              <a:t>, the database can locate data using a </a:t>
            </a:r>
            <a:r>
              <a:rPr sz="1200" b="1" i="0" u="none">
                <a:solidFill>
                  <a:srgbClr val="000000"/>
                </a:solidFill>
                <a:latin typeface="Times New Roman"/>
                <a:ea typeface="Times New Roman"/>
                <a:cs typeface="Times New Roman"/>
              </a:rPr>
              <a:t>logarithmic search</a:t>
            </a:r>
            <a:r>
              <a:rPr sz="1200" b="0" i="0" u="none">
                <a:solidFill>
                  <a:srgbClr val="000000"/>
                </a:solidFill>
                <a:latin typeface="Times New Roman"/>
                <a:ea typeface="Times New Roman"/>
                <a:cs typeface="Times New Roman"/>
              </a:rPr>
              <a:t>, written as </a:t>
            </a:r>
            <a:r>
              <a:rPr sz="1200" b="1" i="0" u="none">
                <a:solidFill>
                  <a:srgbClr val="000000"/>
                </a:solidFill>
                <a:latin typeface="Times New Roman"/>
                <a:ea typeface="Times New Roman"/>
                <a:cs typeface="Times New Roman"/>
              </a:rPr>
              <a:t>O(log N)</a:t>
            </a:r>
            <a:r>
              <a:rPr sz="1200" b="0" i="0" u="none">
                <a:solidFill>
                  <a:srgbClr val="000000"/>
                </a:solidFill>
                <a:latin typeface="Times New Roman"/>
                <a:ea typeface="Times New Roman"/>
                <a:cs typeface="Times New Roman"/>
              </a:rPr>
              <a:t>. Instead of checking every document, the database repeatedly divides the search space until the correct value is found.</a:t>
            </a:r>
            <a:endParaRPr/>
          </a:p>
          <a:p>
            <a:pPr>
              <a:defRPr/>
            </a:pPr>
            <a:r>
              <a:rPr sz="1200" b="0" i="0" u="none">
                <a:solidFill>
                  <a:srgbClr val="000000"/>
                </a:solidFill>
                <a:latin typeface="Times New Roman"/>
                <a:ea typeface="Times New Roman"/>
                <a:cs typeface="Times New Roman"/>
              </a:rPr>
              <a:t>The difference between these two growth rates is enormous in practice. For example, searching for a value among one million documents without an index may require up to </a:t>
            </a:r>
            <a:r>
              <a:rPr sz="1200" b="1" i="0" u="none">
                <a:solidFill>
                  <a:srgbClr val="000000"/>
                </a:solidFill>
                <a:latin typeface="Times New Roman"/>
                <a:ea typeface="Times New Roman"/>
                <a:cs typeface="Times New Roman"/>
              </a:rPr>
              <a:t>one million comparisons</a:t>
            </a:r>
            <a:r>
              <a:rPr sz="1200" b="0" i="0" u="none">
                <a:solidFill>
                  <a:srgbClr val="000000"/>
                </a:solidFill>
                <a:latin typeface="Times New Roman"/>
                <a:ea typeface="Times New Roman"/>
                <a:cs typeface="Times New Roman"/>
              </a:rPr>
              <a:t>. With a B-tree index, however, the database may need only about </a:t>
            </a:r>
            <a:r>
              <a:rPr sz="1200" b="1" i="0" u="none">
                <a:solidFill>
                  <a:srgbClr val="000000"/>
                </a:solidFill>
                <a:latin typeface="Times New Roman"/>
                <a:ea typeface="Times New Roman"/>
                <a:cs typeface="Times New Roman"/>
              </a:rPr>
              <a:t>twenty comparisons</a:t>
            </a:r>
            <a:r>
              <a:rPr sz="1200" b="0" i="0" u="none">
                <a:solidFill>
                  <a:srgbClr val="000000"/>
                </a:solidFill>
                <a:latin typeface="Times New Roman"/>
                <a:ea typeface="Times New Roman"/>
                <a:cs typeface="Times New Roman"/>
              </a:rPr>
              <a:t>, because log₂(1,000,000) is approximately 20. This is not a small optimization—it can transform a query that takes seconds into one that completes in a few milliseconds.</a:t>
            </a:r>
            <a:endParaRPr/>
          </a:p>
          <a:p>
            <a:pPr>
              <a:defRPr/>
            </a:pPr>
            <a:r>
              <a:rPr sz="1200" b="0" i="0" u="none">
                <a:solidFill>
                  <a:srgbClr val="000000"/>
                </a:solidFill>
                <a:latin typeface="Times New Roman"/>
                <a:ea typeface="Times New Roman"/>
                <a:cs typeface="Times New Roman"/>
              </a:rPr>
              <a:t>Indexes also scale extremely well as datasets grow. If the collection expands from </a:t>
            </a:r>
            <a:r>
              <a:rPr sz="1200" b="1" i="0" u="none">
                <a:solidFill>
                  <a:srgbClr val="000000"/>
                </a:solidFill>
                <a:latin typeface="Times New Roman"/>
                <a:ea typeface="Times New Roman"/>
                <a:cs typeface="Times New Roman"/>
              </a:rPr>
              <a:t>1 million to 100 million documents</a:t>
            </a:r>
            <a:r>
              <a:rPr sz="1200" b="0" i="0" u="none">
                <a:solidFill>
                  <a:srgbClr val="000000"/>
                </a:solidFill>
                <a:latin typeface="Times New Roman"/>
                <a:ea typeface="Times New Roman"/>
                <a:cs typeface="Times New Roman"/>
              </a:rPr>
              <a:t>, an indexed search requires only a few additional comparisons. Since log₂(100,000,000) is approximately </a:t>
            </a:r>
            <a:r>
              <a:rPr sz="1200" b="1" i="0" u="none">
                <a:solidFill>
                  <a:srgbClr val="000000"/>
                </a:solidFill>
                <a:latin typeface="Times New Roman"/>
                <a:ea typeface="Times New Roman"/>
                <a:cs typeface="Times New Roman"/>
              </a:rPr>
              <a:t>27</a:t>
            </a:r>
            <a:r>
              <a:rPr sz="1200" b="0" i="0" u="none">
                <a:solidFill>
                  <a:srgbClr val="000000"/>
                </a:solidFill>
                <a:latin typeface="Times New Roman"/>
                <a:ea typeface="Times New Roman"/>
                <a:cs typeface="Times New Roman"/>
              </a:rPr>
              <a:t>, the database performs only about seven more comparisons than before. In other words, increasing the dataset size by </a:t>
            </a:r>
            <a:r>
              <a:rPr sz="1200" b="1" i="0" u="none">
                <a:solidFill>
                  <a:srgbClr val="000000"/>
                </a:solidFill>
                <a:latin typeface="Times New Roman"/>
                <a:ea typeface="Times New Roman"/>
                <a:cs typeface="Times New Roman"/>
              </a:rPr>
              <a:t>100 times increases the search cost by only about 35 percent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However, indexes introduce an important trade-off. Because the index is a separate data structure maintained by the database, it must be updated whenever documents are inserted, deleted, or when indexed fields are modified. Each write operation therefore requires additional work to keep the index consistent. As a result, </a:t>
            </a:r>
            <a:r>
              <a:rPr sz="1200" b="1" i="0" u="none">
                <a:solidFill>
                  <a:srgbClr val="000000"/>
                </a:solidFill>
                <a:latin typeface="Times New Roman"/>
                <a:ea typeface="Times New Roman"/>
                <a:cs typeface="Times New Roman"/>
              </a:rPr>
              <a:t>reads become faster, but writes become slightly slower</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For this reason, developers must carefully decide which fields should be indexed. Indexes should typically be created on fields that are frequently used in search conditions, filtering operations, or sorting queries.</a:t>
            </a:r>
            <a:endParaRPr/>
          </a:p>
          <a:p>
            <a:pPr>
              <a:defRPr/>
            </a:pPr>
            <a:r>
              <a:rPr sz="1200" b="0" i="0" u="none">
                <a:solidFill>
                  <a:srgbClr val="000000"/>
                </a:solidFill>
                <a:latin typeface="Times New Roman"/>
                <a:ea typeface="Times New Roman"/>
                <a:cs typeface="Times New Roman"/>
              </a:rPr>
              <a:t>A practical example can be seen in a university information system. Suppose the system frequently searches for students using their </a:t>
            </a:r>
            <a:r>
              <a:rPr sz="1200" b="1" i="0" u="none">
                <a:solidFill>
                  <a:srgbClr val="000000"/>
                </a:solidFill>
                <a:latin typeface="Times New Roman"/>
                <a:ea typeface="Times New Roman"/>
                <a:cs typeface="Times New Roman"/>
              </a:rPr>
              <a:t>email address</a:t>
            </a:r>
            <a:r>
              <a:rPr sz="1200" b="0" i="0" u="none">
                <a:solidFill>
                  <a:srgbClr val="000000"/>
                </a:solidFill>
                <a:latin typeface="Times New Roman"/>
                <a:ea typeface="Times New Roman"/>
                <a:cs typeface="Times New Roman"/>
              </a:rPr>
              <a:t>. By creating an index on the email field, the database can locate the corresponding student document immediately, even if the student collection grows to hundreds of thousands or millions of records. Without such an index, the database would need to scan the entire collection for every search operation.</a:t>
            </a:r>
            <a:endParaRPr/>
          </a:p>
          <a:p>
            <a:pPr>
              <a:defRPr/>
            </a:pPr>
            <a:r>
              <a:rPr sz="1200" b="0" i="0" u="none">
                <a:solidFill>
                  <a:srgbClr val="000000"/>
                </a:solidFill>
                <a:latin typeface="Times New Roman"/>
                <a:ea typeface="Times New Roman"/>
                <a:cs typeface="Times New Roman"/>
              </a:rPr>
              <a:t>In production systems, the importance of indexes becomes very clear. If a heavily used database suddenly loses its indexes—for example due to corruption or configuration errors—query performance can degrade dramatically. Because every query falls back to a full collection scan, the system may quickly become overloaded under normal traffic.</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Indexes drastically accelerate read operations by enabling logarithmic search instead of linear scans. However, because index structures must be maintained during writes, developers must balance read performance against the additional cost of maintaining indexes.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a collection grows from 1 million to 100 million documents, how many more comparisons does an indexed query require?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An indexed search on one million documents requires roughly </a:t>
            </a:r>
            <a:r>
              <a:rPr sz="1200" b="1" i="0" u="none">
                <a:solidFill>
                  <a:srgbClr val="000000"/>
                </a:solidFill>
                <a:latin typeface="Times New Roman"/>
                <a:ea typeface="Times New Roman"/>
                <a:cs typeface="Times New Roman"/>
              </a:rPr>
              <a:t>20 comparisons</a:t>
            </a:r>
            <a:r>
              <a:rPr sz="1200" b="0" i="0" u="none">
                <a:solidFill>
                  <a:srgbClr val="000000"/>
                </a:solidFill>
                <a:latin typeface="Times New Roman"/>
                <a:ea typeface="Times New Roman"/>
                <a:cs typeface="Times New Roman"/>
              </a:rPr>
              <a:t>. When the dataset grows to one hundred million documents, the search requires approximately </a:t>
            </a:r>
            <a:r>
              <a:rPr sz="1200" b="1" i="0" u="none">
                <a:solidFill>
                  <a:srgbClr val="000000"/>
                </a:solidFill>
                <a:latin typeface="Times New Roman"/>
                <a:ea typeface="Times New Roman"/>
                <a:cs typeface="Times New Roman"/>
              </a:rPr>
              <a:t>27 comparisons</a:t>
            </a:r>
            <a:r>
              <a:rPr sz="1200" b="0" i="0" u="none">
                <a:solidFill>
                  <a:srgbClr val="000000"/>
                </a:solidFill>
                <a:latin typeface="Times New Roman"/>
                <a:ea typeface="Times New Roman"/>
                <a:cs typeface="Times New Roman"/>
              </a:rPr>
              <a:t>. This demonstrates the scalability of logarithmic search: increasing the dataset by a factor of one hundred adds only a small number of additional comparisons.</a:t>
            </a:r>
            <a:endParaRPr/>
          </a:p>
        </p:txBody>
      </p:sp>
      <p:sp>
        <p:nvSpPr>
          <p:cNvPr id="1851068344" name="Slide Number Placeholder 3"/>
          <p:cNvSpPr>
            <a:spLocks noGrp="1"/>
          </p:cNvSpPr>
          <p:nvPr>
            <p:ph type="sldNum" sz="quarter" idx="10"/>
          </p:nvPr>
        </p:nvSpPr>
        <p:spPr bwMode="auto"/>
        <p:txBody>
          <a:bodyPr/>
          <a:lstStyle/>
          <a:p>
            <a:pPr>
              <a:defRPr/>
            </a:pPr>
            <a:fld id="{F7021451-1387-4CA6-816F-3879F97B5CBC}" type="slidenum">
              <a:rPr lang="en-US"/>
              <a:t>31</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2458471" name="Slide Image Placeholder 1"/>
          <p:cNvSpPr>
            <a:spLocks noChangeAspect="1" noGrp="1" noRot="1"/>
          </p:cNvSpPr>
          <p:nvPr>
            <p:ph type="sldImg"/>
          </p:nvPr>
        </p:nvSpPr>
        <p:spPr bwMode="auto"/>
      </p:sp>
      <p:sp>
        <p:nvSpPr>
          <p:cNvPr id="480247314"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Real-world Example (University Course Registration System)</a:t>
            </a:r>
            <a:endParaRPr/>
          </a:p>
          <a:p>
            <a:pPr>
              <a:defRPr/>
            </a:pPr>
            <a:r>
              <a:rPr sz="1200" b="0" i="0" u="none">
                <a:solidFill>
                  <a:srgbClr val="000000"/>
                </a:solidFill>
                <a:latin typeface="Times New Roman"/>
                <a:ea typeface="Times New Roman"/>
                <a:cs typeface="Times New Roman"/>
              </a:rPr>
              <a:t>Consider a </a:t>
            </a:r>
            <a:r>
              <a:rPr sz="1200" b="1" i="0" u="none">
                <a:solidFill>
                  <a:srgbClr val="000000"/>
                </a:solidFill>
                <a:latin typeface="Times New Roman"/>
                <a:ea typeface="Times New Roman"/>
                <a:cs typeface="Times New Roman"/>
              </a:rPr>
              <a:t>university course registration platform</a:t>
            </a:r>
            <a:r>
              <a:rPr sz="1200" b="0" i="0" u="none">
                <a:solidFill>
                  <a:srgbClr val="000000"/>
                </a:solidFill>
                <a:latin typeface="Times New Roman"/>
                <a:ea typeface="Times New Roman"/>
                <a:cs typeface="Times New Roman"/>
              </a:rPr>
              <a:t> used by thousands of students during enrollment periods. The system stores a collection of course registrations in a document database such as </a:t>
            </a:r>
            <a:r>
              <a:rPr sz="1200" b="0"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 registration document might look like this:</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"registration_id": </a:t>
            </a:r>
            <a:r>
              <a:rPr sz="1000" b="0" i="0" u="none">
                <a:solidFill>
                  <a:srgbClr val="000000"/>
                </a:solidFill>
                <a:latin typeface="Courier New"/>
                <a:ea typeface="Courier New"/>
                <a:cs typeface="Courier New"/>
              </a:rPr>
              <a:t>"REG938201"</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"student_id": </a:t>
            </a:r>
            <a:r>
              <a:rPr sz="1000" b="0" i="0" u="none">
                <a:solidFill>
                  <a:srgbClr val="000000"/>
                </a:solidFill>
                <a:latin typeface="Courier New"/>
                <a:ea typeface="Courier New"/>
                <a:cs typeface="Courier New"/>
              </a:rPr>
              <a:t>"ECE202400123"</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"course_id": </a:t>
            </a:r>
            <a:r>
              <a:rPr sz="1000" b="0" i="0" u="none">
                <a:solidFill>
                  <a:srgbClr val="000000"/>
                </a:solidFill>
                <a:latin typeface="Courier New"/>
                <a:ea typeface="Courier New"/>
                <a:cs typeface="Courier New"/>
              </a:rPr>
              <a:t>"ECE460"</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"semester": </a:t>
            </a:r>
            <a:r>
              <a:rPr sz="1000" b="0" i="0" u="none">
                <a:solidFill>
                  <a:srgbClr val="000000"/>
                </a:solidFill>
                <a:latin typeface="Courier New"/>
                <a:ea typeface="Courier New"/>
                <a:cs typeface="Courier New"/>
              </a:rPr>
              <a:t>"Spring 2026"</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"grade": </a:t>
            </a:r>
            <a:r>
              <a:rPr sz="1000" b="0" i="0" u="none">
                <a:solidFill>
                  <a:srgbClr val="000000"/>
                </a:solidFill>
                <a:latin typeface="Courier New"/>
                <a:ea typeface="Courier New"/>
                <a:cs typeface="Courier New"/>
              </a:rPr>
              <a:t>null</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During the registration period, one of the most common operations is retrieving </a:t>
            </a:r>
            <a:r>
              <a:rPr sz="1200" b="1" i="0" u="none">
                <a:solidFill>
                  <a:srgbClr val="000000"/>
                </a:solidFill>
                <a:latin typeface="Times New Roman"/>
                <a:ea typeface="Times New Roman"/>
                <a:cs typeface="Times New Roman"/>
              </a:rPr>
              <a:t>all courses registered by a specific student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For example, the system frequently runs queries like:</a:t>
            </a:r>
            <a:endParaRPr/>
          </a:p>
          <a:p>
            <a:pPr>
              <a:defRPr/>
            </a:pPr>
            <a:r>
              <a:rPr sz="1000" b="0" i="0" u="none">
                <a:solidFill>
                  <a:srgbClr val="000000"/>
                </a:solidFill>
                <a:latin typeface="Courier New"/>
                <a:ea typeface="Courier New"/>
                <a:cs typeface="Courier New"/>
              </a:rPr>
              <a:t>Find all registrations where student_id = "ECE202400123"</a:t>
            </a:r>
            <a:endParaRPr/>
          </a:p>
          <a:p>
            <a:pPr>
              <a:defRPr/>
            </a:pPr>
            <a:r>
              <a:rPr sz="1400" b="1" i="0" u="none">
                <a:solidFill>
                  <a:srgbClr val="000000"/>
                </a:solidFill>
                <a:latin typeface="Times New Roman"/>
                <a:ea typeface="Times New Roman"/>
                <a:cs typeface="Times New Roman"/>
              </a:rPr>
              <a:t>Without an Index</a:t>
            </a:r>
            <a:endParaRPr/>
          </a:p>
          <a:p>
            <a:pPr>
              <a:defRPr/>
            </a:pPr>
            <a:r>
              <a:rPr sz="1200" b="0" i="0" u="none">
                <a:solidFill>
                  <a:srgbClr val="000000"/>
                </a:solidFill>
                <a:latin typeface="Times New Roman"/>
                <a:ea typeface="Times New Roman"/>
                <a:cs typeface="Times New Roman"/>
              </a:rPr>
              <a:t>If the collection contains </a:t>
            </a:r>
            <a:r>
              <a:rPr sz="1200" b="1" i="0" u="none">
                <a:solidFill>
                  <a:srgbClr val="000000"/>
                </a:solidFill>
                <a:latin typeface="Times New Roman"/>
                <a:ea typeface="Times New Roman"/>
                <a:cs typeface="Times New Roman"/>
              </a:rPr>
              <a:t>10 million registrations</a:t>
            </a:r>
            <a:r>
              <a:rPr sz="1200" b="0" i="0" u="none">
                <a:solidFill>
                  <a:srgbClr val="000000"/>
                </a:solidFill>
                <a:latin typeface="Times New Roman"/>
                <a:ea typeface="Times New Roman"/>
                <a:cs typeface="Times New Roman"/>
              </a:rPr>
              <a:t>, the database must check every document to see whether the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matches.</a:t>
            </a:r>
            <a:endParaRPr/>
          </a:p>
          <a:p>
            <a:pPr>
              <a:defRPr/>
            </a:pPr>
            <a:r>
              <a:rPr sz="1200" b="0" i="0" u="none">
                <a:solidFill>
                  <a:srgbClr val="000000"/>
                </a:solidFill>
                <a:latin typeface="Times New Roman"/>
                <a:ea typeface="Times New Roman"/>
                <a:cs typeface="Times New Roman"/>
              </a:rPr>
              <a:t>This means:</a:t>
            </a:r>
            <a:endParaRPr/>
          </a:p>
          <a:p>
            <a:pPr>
              <a:defRPr/>
            </a:pPr>
            <a:r>
              <a:rPr sz="1200" b="1" i="0" u="none">
                <a:solidFill>
                  <a:srgbClr val="000000"/>
                </a:solidFill>
                <a:latin typeface="Times New Roman"/>
                <a:ea typeface="Times New Roman"/>
                <a:cs typeface="Times New Roman"/>
              </a:rPr>
              <a:t>10,000,000 comparisons</a:t>
            </a:r>
            <a:endParaRPr/>
          </a:p>
          <a:p>
            <a:pPr>
              <a:defRPr/>
            </a:pPr>
            <a:r>
              <a:rPr sz="1200" b="0" i="0" u="none">
                <a:solidFill>
                  <a:srgbClr val="000000"/>
                </a:solidFill>
                <a:latin typeface="Times New Roman"/>
                <a:ea typeface="Times New Roman"/>
                <a:cs typeface="Times New Roman"/>
              </a:rPr>
              <a:t>Slow response times</a:t>
            </a:r>
            <a:endParaRPr/>
          </a:p>
          <a:p>
            <a:pPr>
              <a:defRPr/>
            </a:pPr>
            <a:r>
              <a:rPr sz="1200" b="0" i="0" u="none">
                <a:solidFill>
                  <a:srgbClr val="000000"/>
                </a:solidFill>
                <a:latin typeface="Times New Roman"/>
                <a:ea typeface="Times New Roman"/>
                <a:cs typeface="Times New Roman"/>
              </a:rPr>
              <a:t>Heavy CPU usage during peak hours (e.g., registration week)</a:t>
            </a:r>
            <a:endParaRPr/>
          </a:p>
          <a:p>
            <a:pPr>
              <a:defRPr/>
            </a:pPr>
            <a:r>
              <a:rPr sz="1200" b="0" i="0" u="none">
                <a:solidFill>
                  <a:srgbClr val="000000"/>
                </a:solidFill>
                <a:latin typeface="Times New Roman"/>
                <a:ea typeface="Times New Roman"/>
                <a:cs typeface="Times New Roman"/>
              </a:rPr>
              <a:t>If thousands of students are querying the system simultaneously, the database can quickly become overloaded.</a:t>
            </a:r>
            <a:endParaRPr/>
          </a:p>
          <a:p>
            <a:pPr>
              <a:defRPr/>
            </a:pPr>
            <a:r>
              <a:rPr sz="1400" b="1" i="0" u="none">
                <a:solidFill>
                  <a:srgbClr val="000000"/>
                </a:solidFill>
                <a:latin typeface="Times New Roman"/>
                <a:ea typeface="Times New Roman"/>
                <a:cs typeface="Times New Roman"/>
              </a:rPr>
              <a:t>With an Index</a:t>
            </a:r>
            <a:endParaRPr/>
          </a:p>
          <a:p>
            <a:pPr>
              <a:defRPr/>
            </a:pPr>
            <a:r>
              <a:rPr sz="1200" b="0" i="0" u="none">
                <a:solidFill>
                  <a:srgbClr val="000000"/>
                </a:solidFill>
                <a:latin typeface="Times New Roman"/>
                <a:ea typeface="Times New Roman"/>
                <a:cs typeface="Times New Roman"/>
              </a:rPr>
              <a:t>If an index is created on the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field:</a:t>
            </a:r>
            <a:endParaRPr/>
          </a:p>
          <a:p>
            <a:pPr>
              <a:defRPr/>
            </a:pPr>
            <a:r>
              <a:rPr sz="1000" b="0" i="0" u="none">
                <a:solidFill>
                  <a:srgbClr val="000000"/>
                </a:solidFill>
                <a:latin typeface="Courier New"/>
                <a:ea typeface="Courier New"/>
                <a:cs typeface="Courier New"/>
              </a:rPr>
              <a:t>db.registrations.createIndex({ student_id: 1 })</a:t>
            </a:r>
            <a:endParaRPr/>
          </a:p>
          <a:p>
            <a:pPr>
              <a:defRPr/>
            </a:pPr>
            <a:r>
              <a:rPr sz="1200" b="0" i="0" u="none">
                <a:solidFill>
                  <a:srgbClr val="000000"/>
                </a:solidFill>
                <a:latin typeface="Times New Roman"/>
                <a:ea typeface="Times New Roman"/>
                <a:cs typeface="Times New Roman"/>
              </a:rPr>
              <a:t>the database uses the B-tree index to jump directly to the relevant records.</a:t>
            </a:r>
            <a:endParaRPr/>
          </a:p>
          <a:p>
            <a:pPr>
              <a:defRPr/>
            </a:pPr>
            <a:r>
              <a:rPr sz="1200" b="0" i="0" u="none">
                <a:solidFill>
                  <a:srgbClr val="000000"/>
                </a:solidFill>
                <a:latin typeface="Times New Roman"/>
                <a:ea typeface="Times New Roman"/>
                <a:cs typeface="Times New Roman"/>
              </a:rPr>
              <a:t>Instead of scanning </a:t>
            </a:r>
            <a:r>
              <a:rPr sz="1200" b="1" i="0" u="none">
                <a:solidFill>
                  <a:srgbClr val="000000"/>
                </a:solidFill>
                <a:latin typeface="Times New Roman"/>
                <a:ea typeface="Times New Roman"/>
                <a:cs typeface="Times New Roman"/>
              </a:rPr>
              <a:t>10 million documents</a:t>
            </a:r>
            <a:r>
              <a:rPr sz="1200" b="0" i="0" u="none">
                <a:solidFill>
                  <a:srgbClr val="000000"/>
                </a:solidFill>
                <a:latin typeface="Times New Roman"/>
                <a:ea typeface="Times New Roman"/>
                <a:cs typeface="Times New Roman"/>
              </a:rPr>
              <a:t>, the system performs roughly:</a:t>
            </a:r>
            <a:endParaRPr/>
          </a:p>
          <a:p>
            <a:pPr>
              <a:defRPr/>
            </a:pPr>
            <a:r>
              <a:rPr sz="1200" b="1" i="0" u="none">
                <a:solidFill>
                  <a:srgbClr val="000000"/>
                </a:solidFill>
                <a:latin typeface="Times New Roman"/>
                <a:ea typeface="Times New Roman"/>
                <a:cs typeface="Times New Roman"/>
              </a:rPr>
              <a:t>log₂(10,000,000) ≈ 24 comparisons</a:t>
            </a:r>
            <a:endParaRPr/>
          </a:p>
          <a:p>
            <a:pPr>
              <a:defRPr/>
            </a:pPr>
            <a:r>
              <a:rPr sz="1200" b="0" i="0" u="none">
                <a:solidFill>
                  <a:srgbClr val="000000"/>
                </a:solidFill>
                <a:latin typeface="Times New Roman"/>
                <a:ea typeface="Times New Roman"/>
                <a:cs typeface="Times New Roman"/>
              </a:rPr>
              <a:t>The query that might take </a:t>
            </a:r>
            <a:r>
              <a:rPr sz="1200" b="1" i="0" u="none">
                <a:solidFill>
                  <a:srgbClr val="000000"/>
                </a:solidFill>
                <a:latin typeface="Times New Roman"/>
                <a:ea typeface="Times New Roman"/>
                <a:cs typeface="Times New Roman"/>
              </a:rPr>
              <a:t>seconds without an index</a:t>
            </a:r>
            <a:r>
              <a:rPr sz="1200" b="0" i="0" u="none">
                <a:solidFill>
                  <a:srgbClr val="000000"/>
                </a:solidFill>
                <a:latin typeface="Times New Roman"/>
                <a:ea typeface="Times New Roman"/>
                <a:cs typeface="Times New Roman"/>
              </a:rPr>
              <a:t> now executes in </a:t>
            </a:r>
            <a:r>
              <a:rPr sz="1200" b="1" i="0" u="none">
                <a:solidFill>
                  <a:srgbClr val="000000"/>
                </a:solidFill>
                <a:latin typeface="Times New Roman"/>
                <a:ea typeface="Times New Roman"/>
                <a:cs typeface="Times New Roman"/>
              </a:rPr>
              <a:t>a few milliseconds</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Why This Matters in Real Systems</a:t>
            </a:r>
            <a:endParaRPr/>
          </a:p>
          <a:p>
            <a:pPr>
              <a:defRPr/>
            </a:pPr>
            <a:r>
              <a:rPr sz="1200" b="0" i="0" u="none">
                <a:solidFill>
                  <a:srgbClr val="000000"/>
                </a:solidFill>
                <a:latin typeface="Times New Roman"/>
                <a:ea typeface="Times New Roman"/>
                <a:cs typeface="Times New Roman"/>
              </a:rPr>
              <a:t>During course registration periods:</a:t>
            </a:r>
            <a:endParaRPr/>
          </a:p>
          <a:p>
            <a:pPr>
              <a:defRPr/>
            </a:pPr>
            <a:r>
              <a:rPr sz="1200" b="1" i="0" u="none">
                <a:solidFill>
                  <a:srgbClr val="000000"/>
                </a:solidFill>
                <a:latin typeface="Times New Roman"/>
                <a:ea typeface="Times New Roman"/>
                <a:cs typeface="Times New Roman"/>
              </a:rPr>
              <a:t>Thousands of students log in simultaneously</a:t>
            </a:r>
            <a:endParaRPr/>
          </a:p>
          <a:p>
            <a:pPr>
              <a:defRPr/>
            </a:pPr>
            <a:r>
              <a:rPr sz="1200" b="0" i="0" u="none">
                <a:solidFill>
                  <a:srgbClr val="000000"/>
                </a:solidFill>
                <a:latin typeface="Times New Roman"/>
                <a:ea typeface="Times New Roman"/>
                <a:cs typeface="Times New Roman"/>
              </a:rPr>
              <a:t>Each student checks their registered courses</a:t>
            </a:r>
            <a:endParaRPr/>
          </a:p>
          <a:p>
            <a:pPr>
              <a:defRPr/>
            </a:pPr>
            <a:r>
              <a:rPr sz="1200" b="0" i="0" u="none">
                <a:solidFill>
                  <a:srgbClr val="000000"/>
                </a:solidFill>
                <a:latin typeface="Times New Roman"/>
                <a:ea typeface="Times New Roman"/>
                <a:cs typeface="Times New Roman"/>
              </a:rPr>
              <a:t>Professors and administrative staff run queries continuously</a:t>
            </a:r>
            <a:endParaRPr/>
          </a:p>
          <a:p>
            <a:pPr>
              <a:defRPr/>
            </a:pPr>
            <a:r>
              <a:rPr sz="1200" b="0" i="0" u="none">
                <a:solidFill>
                  <a:srgbClr val="000000"/>
                </a:solidFill>
                <a:latin typeface="Times New Roman"/>
                <a:ea typeface="Times New Roman"/>
                <a:cs typeface="Times New Roman"/>
              </a:rPr>
              <a:t>Without proper indexing, the system would become </a:t>
            </a:r>
            <a:r>
              <a:rPr sz="1200" b="1" i="0" u="none">
                <a:solidFill>
                  <a:srgbClr val="000000"/>
                </a:solidFill>
                <a:latin typeface="Times New Roman"/>
                <a:ea typeface="Times New Roman"/>
                <a:cs typeface="Times New Roman"/>
              </a:rPr>
              <a:t>extremely slow or completely unusable</a:t>
            </a:r>
            <a:r>
              <a:rPr sz="1200" b="0" i="0" u="none">
                <a:solidFill>
                  <a:srgbClr val="000000"/>
                </a:solidFill>
                <a:latin typeface="Times New Roman"/>
                <a:ea typeface="Times New Roman"/>
                <a:cs typeface="Times New Roman"/>
              </a:rPr>
              <a:t> under this load.</a:t>
            </a:r>
            <a:endParaRPr/>
          </a:p>
          <a:p>
            <a:pPr>
              <a:defRPr/>
            </a:pPr>
            <a:r>
              <a:rPr sz="1200" b="0" i="0" u="none">
                <a:solidFill>
                  <a:srgbClr val="000000"/>
                </a:solidFill>
                <a:latin typeface="Times New Roman"/>
                <a:ea typeface="Times New Roman"/>
                <a:cs typeface="Times New Roman"/>
              </a:rPr>
              <a:t>With the correct index in place, the system can scale smoothly even as the number of registrations grows to tens of millions.</a:t>
            </a:r>
            <a:endParaRPr/>
          </a:p>
          <a:p>
            <a:pPr>
              <a:defRPr/>
            </a:pPr>
            <a:r>
              <a:rPr sz="1400" b="1" i="0" u="none">
                <a:solidFill>
                  <a:srgbClr val="000000"/>
                </a:solidFill>
                <a:latin typeface="Times New Roman"/>
                <a:ea typeface="Times New Roman"/>
                <a:cs typeface="Times New Roman"/>
              </a:rPr>
              <a:t>Key Lesson for Students</a:t>
            </a:r>
            <a:endParaRPr/>
          </a:p>
          <a:p>
            <a:pPr>
              <a:defRPr/>
            </a:pPr>
            <a:r>
              <a:rPr sz="1200" b="0" i="0" u="none">
                <a:solidFill>
                  <a:srgbClr val="000000"/>
                </a:solidFill>
                <a:latin typeface="Times New Roman"/>
                <a:ea typeface="Times New Roman"/>
                <a:cs typeface="Times New Roman"/>
              </a:rPr>
              <a:t>In real database systems:</a:t>
            </a:r>
            <a:endParaRPr/>
          </a:p>
          <a:p>
            <a:pPr>
              <a:defRPr/>
            </a:pPr>
            <a:r>
              <a:rPr sz="1200" b="0" i="0" u="none">
                <a:solidFill>
                  <a:srgbClr val="000000"/>
                </a:solidFill>
                <a:latin typeface="Times New Roman"/>
                <a:ea typeface="Times New Roman"/>
                <a:cs typeface="Times New Roman"/>
              </a:rPr>
              <a:t> Frequently searched fields </a:t>
            </a:r>
            <a:r>
              <a:rPr sz="1200" b="1" i="0" u="none">
                <a:solidFill>
                  <a:srgbClr val="000000"/>
                </a:solidFill>
                <a:latin typeface="Times New Roman"/>
                <a:ea typeface="Times New Roman"/>
                <a:cs typeface="Times New Roman"/>
              </a:rPr>
              <a:t>must be indexed</a:t>
            </a:r>
            <a:endParaRPr/>
          </a:p>
          <a:p>
            <a:pPr>
              <a:defRPr/>
            </a:pPr>
            <a:r>
              <a:rPr sz="1200" b="0" i="0" u="none">
                <a:solidFill>
                  <a:srgbClr val="000000"/>
                </a:solidFill>
                <a:latin typeface="Times New Roman"/>
                <a:ea typeface="Times New Roman"/>
                <a:cs typeface="Times New Roman"/>
              </a:rPr>
              <a:t> Poor indexing design is one of the </a:t>
            </a:r>
            <a:r>
              <a:rPr sz="1200" b="1" i="0" u="none">
                <a:solidFill>
                  <a:srgbClr val="000000"/>
                </a:solidFill>
                <a:latin typeface="Times New Roman"/>
                <a:ea typeface="Times New Roman"/>
                <a:cs typeface="Times New Roman"/>
              </a:rPr>
              <a:t>most common causes of slow applications</a:t>
            </a:r>
            <a:endParaRPr/>
          </a:p>
          <a:p>
            <a:pPr>
              <a:defRPr/>
            </a:pPr>
            <a:r>
              <a:rPr sz="1200" b="0" i="0" u="none">
                <a:solidFill>
                  <a:srgbClr val="000000"/>
                </a:solidFill>
                <a:latin typeface="Times New Roman"/>
                <a:ea typeface="Times New Roman"/>
                <a:cs typeface="Times New Roman"/>
              </a:rPr>
              <a:t> Proper indexing is essential for systems that must support </a:t>
            </a:r>
            <a:r>
              <a:rPr sz="1200" b="1" i="0" u="none">
                <a:solidFill>
                  <a:srgbClr val="000000"/>
                </a:solidFill>
                <a:latin typeface="Times New Roman"/>
                <a:ea typeface="Times New Roman"/>
                <a:cs typeface="Times New Roman"/>
              </a:rPr>
              <a:t>large datasets and many concurrent users</a:t>
            </a:r>
            <a:r>
              <a:rPr sz="1200" b="0" i="0" u="none">
                <a:solidFill>
                  <a:srgbClr val="000000"/>
                </a:solidFill>
                <a:latin typeface="Times New Roman"/>
                <a:ea typeface="Times New Roman"/>
                <a:cs typeface="Times New Roman"/>
              </a:rPr>
              <a:t>.</a:t>
            </a:r>
            <a:endParaRPr/>
          </a:p>
        </p:txBody>
      </p:sp>
      <p:sp>
        <p:nvSpPr>
          <p:cNvPr id="1164626074" name="Slide Number Placeholder 3"/>
          <p:cNvSpPr>
            <a:spLocks noGrp="1"/>
          </p:cNvSpPr>
          <p:nvPr>
            <p:ph type="sldNum" sz="quarter" idx="10"/>
          </p:nvPr>
        </p:nvSpPr>
        <p:spPr bwMode="auto"/>
        <p:txBody>
          <a:bodyPr/>
          <a:lstStyle/>
          <a:p>
            <a:pPr>
              <a:defRPr/>
            </a:pPr>
            <a:fld id="{229FA255-E544-1DE3-7EDD-A14B13D60A0D}"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7617629" name="Slide Image Placeholder 1"/>
          <p:cNvSpPr>
            <a:spLocks noChangeAspect="1" noGrp="1" noRot="1"/>
          </p:cNvSpPr>
          <p:nvPr>
            <p:ph type="sldImg"/>
          </p:nvPr>
        </p:nvSpPr>
        <p:spPr bwMode="auto"/>
      </p:sp>
      <p:sp>
        <p:nvSpPr>
          <p:cNvPr id="7572766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Each index is stored as an additional data structure maintained by the database. This means that indexes consume </a:t>
            </a:r>
            <a:r>
              <a:rPr sz="1200" b="1" i="0" u="none">
                <a:solidFill>
                  <a:srgbClr val="000000"/>
                </a:solidFill>
                <a:latin typeface="Times New Roman"/>
                <a:ea typeface="Times New Roman"/>
                <a:cs typeface="Times New Roman"/>
              </a:rPr>
              <a:t>extra disk space</a:t>
            </a:r>
            <a:r>
              <a:rPr sz="1200" b="0" i="0" u="none">
                <a:solidFill>
                  <a:srgbClr val="000000"/>
                </a:solidFill>
                <a:latin typeface="Times New Roman"/>
                <a:ea typeface="Times New Roman"/>
                <a:cs typeface="Times New Roman"/>
              </a:rPr>
              <a:t> and must be updated whenever documents are inserted, deleted, or when indexed fields change. As a result, every additional index slightly increases the cost of write operations.</a:t>
            </a:r>
            <a:endParaRPr/>
          </a:p>
          <a:p>
            <a:pPr>
              <a:defRPr/>
            </a:pPr>
            <a:r>
              <a:rPr sz="1200" b="0" i="0" u="none">
                <a:solidFill>
                  <a:srgbClr val="000000"/>
                </a:solidFill>
                <a:latin typeface="Times New Roman"/>
                <a:ea typeface="Times New Roman"/>
                <a:cs typeface="Times New Roman"/>
              </a:rPr>
              <a:t>If a collection contains too many indexes—for example dozens of indexes across many fields—the system may experience </a:t>
            </a:r>
            <a:r>
              <a:rPr sz="1200" b="1" i="0" u="none">
                <a:solidFill>
                  <a:srgbClr val="000000"/>
                </a:solidFill>
                <a:latin typeface="Times New Roman"/>
                <a:ea typeface="Times New Roman"/>
                <a:cs typeface="Times New Roman"/>
              </a:rPr>
              <a:t>significantly slower write performance</a:t>
            </a:r>
            <a:r>
              <a:rPr sz="1200" b="0" i="0" u="none">
                <a:solidFill>
                  <a:srgbClr val="000000"/>
                </a:solidFill>
                <a:latin typeface="Times New Roman"/>
                <a:ea typeface="Times New Roman"/>
                <a:cs typeface="Times New Roman"/>
              </a:rPr>
              <a:t>. In extreme cases, applications that perform frequent inserts or updates can become severely degraded because the database must maintain many index structures simultaneously.</a:t>
            </a:r>
            <a:endParaRPr/>
          </a:p>
          <a:p>
            <a:pPr>
              <a:defRPr/>
            </a:pPr>
            <a:r>
              <a:rPr sz="1200" b="0" i="0" u="none">
                <a:solidFill>
                  <a:srgbClr val="000000"/>
                </a:solidFill>
                <a:latin typeface="Times New Roman"/>
                <a:ea typeface="Times New Roman"/>
                <a:cs typeface="Times New Roman"/>
              </a:rPr>
              <a:t>For this reason, experienced engineers follow a </a:t>
            </a:r>
            <a:r>
              <a:rPr sz="1200" b="1" i="0" u="none">
                <a:solidFill>
                  <a:srgbClr val="000000"/>
                </a:solidFill>
                <a:latin typeface="Times New Roman"/>
                <a:ea typeface="Times New Roman"/>
                <a:cs typeface="Times New Roman"/>
              </a:rPr>
              <a:t>measured and iterative process</a:t>
            </a:r>
            <a:r>
              <a:rPr sz="1200" b="0" i="0" u="none">
                <a:solidFill>
                  <a:srgbClr val="000000"/>
                </a:solidFill>
                <a:latin typeface="Times New Roman"/>
                <a:ea typeface="Times New Roman"/>
                <a:cs typeface="Times New Roman"/>
              </a:rPr>
              <a:t> when designing indexes. Instead of creating indexes for every possible field in advance, developers typically deploy the application first and then observe how the system behaves under real workloads.</a:t>
            </a:r>
            <a:endParaRPr/>
          </a:p>
          <a:p>
            <a:pPr>
              <a:defRPr/>
            </a:pPr>
            <a:r>
              <a:rPr sz="1200" b="0" i="0" u="none">
                <a:solidFill>
                  <a:srgbClr val="000000"/>
                </a:solidFill>
                <a:latin typeface="Times New Roman"/>
                <a:ea typeface="Times New Roman"/>
                <a:cs typeface="Times New Roman"/>
              </a:rPr>
              <a:t>Modern database systems provide </a:t>
            </a:r>
            <a:r>
              <a:rPr sz="1200" b="1" i="0" u="none">
                <a:solidFill>
                  <a:srgbClr val="000000"/>
                </a:solidFill>
                <a:latin typeface="Times New Roman"/>
                <a:ea typeface="Times New Roman"/>
                <a:cs typeface="Times New Roman"/>
              </a:rPr>
              <a:t>profiling and monitoring tools</a:t>
            </a:r>
            <a:r>
              <a:rPr sz="1200" b="0" i="0" u="none">
                <a:solidFill>
                  <a:srgbClr val="000000"/>
                </a:solidFill>
                <a:latin typeface="Times New Roman"/>
                <a:ea typeface="Times New Roman"/>
                <a:cs typeface="Times New Roman"/>
              </a:rPr>
              <a:t> that allow engineers to identify slow queries and analyze their execution plans. When a query performs a full collection scan and becomes a performance bottleneck, developers can then create a targeted index that directly supports that specific query pattern.</a:t>
            </a:r>
            <a:endParaRPr/>
          </a:p>
          <a:p>
            <a:pPr>
              <a:defRPr/>
            </a:pPr>
            <a:r>
              <a:rPr sz="1200" b="0" i="0" u="none">
                <a:solidFill>
                  <a:srgbClr val="000000"/>
                </a:solidFill>
                <a:latin typeface="Times New Roman"/>
                <a:ea typeface="Times New Roman"/>
                <a:cs typeface="Times New Roman"/>
              </a:rPr>
              <a:t>In real-world systems, database performance tuning is therefore an </a:t>
            </a:r>
            <a:r>
              <a:rPr sz="1200" b="1" i="0" u="none">
                <a:solidFill>
                  <a:srgbClr val="000000"/>
                </a:solidFill>
                <a:latin typeface="Times New Roman"/>
                <a:ea typeface="Times New Roman"/>
                <a:cs typeface="Times New Roman"/>
              </a:rPr>
              <a:t>iterative optimization process</a:t>
            </a:r>
            <a:r>
              <a:rPr sz="1200" b="0" i="0" u="none">
                <a:solidFill>
                  <a:srgbClr val="000000"/>
                </a:solidFill>
                <a:latin typeface="Times New Roman"/>
                <a:ea typeface="Times New Roman"/>
                <a:cs typeface="Times New Roman"/>
              </a:rPr>
              <a:t>. Engineers monitor query execution statistics, detect inefficient queries, and introduce the minimum number of indexes necessary to resolve those bottlenecks.</a:t>
            </a:r>
            <a:endParaRPr/>
          </a:p>
          <a:p>
            <a:pPr>
              <a:defRPr/>
            </a:pPr>
            <a:r>
              <a:rPr sz="1200" b="0" i="0" u="none">
                <a:solidFill>
                  <a:srgbClr val="000000"/>
                </a:solidFill>
                <a:latin typeface="Times New Roman"/>
                <a:ea typeface="Times New Roman"/>
                <a:cs typeface="Times New Roman"/>
              </a:rPr>
              <a:t>An important aspect of index design is </a:t>
            </a:r>
            <a:r>
              <a:rPr sz="1200" b="1" i="0" u="none">
                <a:solidFill>
                  <a:srgbClr val="000000"/>
                </a:solidFill>
                <a:latin typeface="Times New Roman"/>
                <a:ea typeface="Times New Roman"/>
                <a:cs typeface="Times New Roman"/>
              </a:rPr>
              <a:t>selectivity</a:t>
            </a:r>
            <a:r>
              <a:rPr sz="1200" b="0" i="0" u="none">
                <a:solidFill>
                  <a:srgbClr val="000000"/>
                </a:solidFill>
                <a:latin typeface="Times New Roman"/>
                <a:ea typeface="Times New Roman"/>
                <a:cs typeface="Times New Roman"/>
              </a:rPr>
              <a:t>, which refers to how effectively an index narrows the search space. Fields with many distinct values—such as email addresses or unique identifiers—are excellent candidates for indexing because they allow the database to quickly isolate a small subset of documents.</a:t>
            </a:r>
            <a:endParaRPr/>
          </a:p>
          <a:p>
            <a:pPr>
              <a:defRPr/>
            </a:pPr>
            <a:r>
              <a:rPr sz="1200" b="0" i="0" u="none">
                <a:solidFill>
                  <a:srgbClr val="000000"/>
                </a:solidFill>
                <a:latin typeface="Times New Roman"/>
                <a:ea typeface="Times New Roman"/>
                <a:cs typeface="Times New Roman"/>
              </a:rPr>
              <a:t>Conversely, fields with very few distinct values may provide little benefit when indexed. For example, consider a large user collection containing a boolean field called </a:t>
            </a:r>
            <a:r>
              <a:rPr sz="1000" b="0" i="0" u="none">
                <a:solidFill>
                  <a:srgbClr val="000000"/>
                </a:solidFill>
                <a:latin typeface="Courier New"/>
                <a:ea typeface="Courier New"/>
                <a:cs typeface="Courier New"/>
              </a:rPr>
              <a:t>is_active</a:t>
            </a:r>
            <a:r>
              <a:rPr sz="1200" b="0" i="0" u="none">
                <a:solidFill>
                  <a:srgbClr val="000000"/>
                </a:solidFill>
                <a:latin typeface="Times New Roman"/>
                <a:ea typeface="Times New Roman"/>
                <a:cs typeface="Times New Roman"/>
              </a:rPr>
              <a:t>. If 95% of the users are active, a query searching for </a:t>
            </a:r>
            <a:r>
              <a:rPr sz="1000" b="0" i="0" u="none">
                <a:solidFill>
                  <a:srgbClr val="000000"/>
                </a:solidFill>
                <a:latin typeface="Courier New"/>
                <a:ea typeface="Courier New"/>
                <a:cs typeface="Courier New"/>
              </a:rPr>
              <a:t>is_active = true</a:t>
            </a:r>
            <a:r>
              <a:rPr sz="1200" b="0" i="0" u="none">
                <a:solidFill>
                  <a:srgbClr val="000000"/>
                </a:solidFill>
                <a:latin typeface="Times New Roman"/>
                <a:ea typeface="Times New Roman"/>
                <a:cs typeface="Times New Roman"/>
              </a:rPr>
              <a:t> still matches most of the collection. In this case, the index does not significantly reduce the number of documents that must be examined.</a:t>
            </a:r>
            <a:endParaRPr/>
          </a:p>
          <a:p>
            <a:pPr>
              <a:defRPr/>
            </a:pPr>
            <a:r>
              <a:rPr sz="1200" b="0" i="0" u="none">
                <a:solidFill>
                  <a:srgbClr val="000000"/>
                </a:solidFill>
                <a:latin typeface="Times New Roman"/>
                <a:ea typeface="Times New Roman"/>
                <a:cs typeface="Times New Roman"/>
              </a:rPr>
              <a:t>Because the index provides little filtering advantage, the database query planner may decide that scanning the entire collection is actually faster than using the index. This illustrates why index design must consider </a:t>
            </a:r>
            <a:r>
              <a:rPr sz="1200" b="1" i="0" u="none">
                <a:solidFill>
                  <a:srgbClr val="000000"/>
                </a:solidFill>
                <a:latin typeface="Times New Roman"/>
                <a:ea typeface="Times New Roman"/>
                <a:cs typeface="Times New Roman"/>
              </a:rPr>
              <a:t>data distribution and query patterns</a:t>
            </a:r>
            <a:r>
              <a:rPr sz="1200" b="0" i="0" u="none">
                <a:solidFill>
                  <a:srgbClr val="000000"/>
                </a:solidFill>
                <a:latin typeface="Times New Roman"/>
                <a:ea typeface="Times New Roman"/>
                <a:cs typeface="Times New Roman"/>
              </a:rPr>
              <a:t>, not just the presence of searchable fields.</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Effective indexing requires careful analysis of real query workloads. Developers should create indexes only for fields that significantly reduce the search space and support frequently executed queries.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is it often a mistake to add an index to a boolean field such as </a:t>
            </a:r>
            <a:r>
              <a:rPr sz="1000" b="0" i="0" u="none">
                <a:solidFill>
                  <a:srgbClr val="000000"/>
                </a:solidFill>
                <a:latin typeface="Courier New"/>
                <a:ea typeface="Courier New"/>
                <a:cs typeface="Courier New"/>
              </a:rPr>
              <a:t>is_active</a:t>
            </a:r>
            <a:r>
              <a:rPr sz="1200" b="0" i="0" u="none">
                <a:solidFill>
                  <a:srgbClr val="000000"/>
                </a:solidFill>
                <a:latin typeface="Times New Roman"/>
                <a:ea typeface="Times New Roman"/>
                <a:cs typeface="Times New Roman"/>
              </a:rPr>
              <a:t> in a large user collection?</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If most documents share the same value—for example, if 95% of users have </a:t>
            </a:r>
            <a:r>
              <a:rPr sz="1000" b="0" i="0" u="none">
                <a:solidFill>
                  <a:srgbClr val="000000"/>
                </a:solidFill>
                <a:latin typeface="Courier New"/>
                <a:ea typeface="Courier New"/>
                <a:cs typeface="Courier New"/>
              </a:rPr>
              <a:t>is_active = true</a:t>
            </a:r>
            <a:r>
              <a:rPr sz="1200" b="0" i="0" u="none">
                <a:solidFill>
                  <a:srgbClr val="000000"/>
                </a:solidFill>
                <a:latin typeface="Times New Roman"/>
                <a:ea typeface="Times New Roman"/>
                <a:cs typeface="Times New Roman"/>
              </a:rPr>
              <a:t>—the index does not meaningfully narrow the search space. The query still matches nearly the entire dataset, so the database may ignore the index and perform a full collection scan instead. In such cases, the index provides little benefit while still adding overhead to write operations.</a:t>
            </a:r>
            <a:endParaRPr lang="en-US"/>
          </a:p>
        </p:txBody>
      </p:sp>
      <p:sp>
        <p:nvSpPr>
          <p:cNvPr id="330835541" name="Slide Number Placeholder 3"/>
          <p:cNvSpPr>
            <a:spLocks noGrp="1"/>
          </p:cNvSpPr>
          <p:nvPr>
            <p:ph type="sldNum" sz="quarter" idx="10"/>
          </p:nvPr>
        </p:nvSpPr>
        <p:spPr bwMode="auto"/>
        <p:txBody>
          <a:bodyPr/>
          <a:lstStyle/>
          <a:p>
            <a:pPr>
              <a:defRPr/>
            </a:pPr>
            <a:fld id="{F7021451-1387-4CA6-816F-3879F97B5CBC}" type="slidenum">
              <a:rPr lang="en-US"/>
              <a:t>32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6652863" name="Slide Image Placeholder 1"/>
          <p:cNvSpPr>
            <a:spLocks noChangeAspect="1" noGrp="1" noRot="1"/>
          </p:cNvSpPr>
          <p:nvPr>
            <p:ph type="sldImg"/>
          </p:nvPr>
        </p:nvSpPr>
        <p:spPr bwMode="auto"/>
      </p:sp>
      <p:sp>
        <p:nvSpPr>
          <p:cNvPr id="1460673829"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understanding </a:t>
            </a:r>
            <a:r>
              <a:rPr sz="1200" b="1" i="0" u="none">
                <a:solidFill>
                  <a:srgbClr val="000000"/>
                </a:solidFill>
                <a:latin typeface="Times New Roman"/>
                <a:ea typeface="Times New Roman"/>
                <a:cs typeface="Times New Roman"/>
              </a:rPr>
              <a:t>why indexes are important and how they should be designed carefully</a:t>
            </a:r>
            <a:r>
              <a:rPr sz="1200" b="0" i="0" u="none">
                <a:solidFill>
                  <a:srgbClr val="000000"/>
                </a:solidFill>
                <a:latin typeface="Times New Roman"/>
                <a:ea typeface="Times New Roman"/>
                <a:cs typeface="Times New Roman"/>
              </a:rPr>
              <a:t>, it is also useful to examine the </a:t>
            </a:r>
            <a:r>
              <a:rPr sz="1200" b="1" i="0" u="none">
                <a:solidFill>
                  <a:srgbClr val="000000"/>
                </a:solidFill>
                <a:latin typeface="Times New Roman"/>
                <a:ea typeface="Times New Roman"/>
                <a:cs typeface="Times New Roman"/>
              </a:rPr>
              <a:t>different types of indexes available in document databases</a:t>
            </a:r>
            <a:r>
              <a:rPr sz="1200" b="0" i="0" u="none">
                <a:solidFill>
                  <a:srgbClr val="000000"/>
                </a:solidFill>
                <a:latin typeface="Times New Roman"/>
                <a:ea typeface="Times New Roman"/>
                <a:cs typeface="Times New Roman"/>
              </a:rPr>
              <a:t>. These index types allow developers to optimize databases for different query patterns and application requirements.</a:t>
            </a:r>
            <a:endParaRPr/>
          </a:p>
          <a:p>
            <a:pPr>
              <a:defRPr/>
            </a:pPr>
            <a:r>
              <a:rPr sz="1200" b="0" i="0" u="none">
                <a:solidFill>
                  <a:srgbClr val="000000"/>
                </a:solidFill>
                <a:latin typeface="Times New Roman"/>
                <a:ea typeface="Times New Roman"/>
                <a:cs typeface="Times New Roman"/>
              </a:rPr>
              <a:t>The most common type is the </a:t>
            </a:r>
            <a:r>
              <a:rPr sz="1200" b="1" i="0" u="none">
                <a:solidFill>
                  <a:srgbClr val="000000"/>
                </a:solidFill>
                <a:latin typeface="Times New Roman"/>
                <a:ea typeface="Times New Roman"/>
                <a:cs typeface="Times New Roman"/>
              </a:rPr>
              <a:t>single-field index</a:t>
            </a:r>
            <a:r>
              <a:rPr sz="1200" b="0" i="0" u="none">
                <a:solidFill>
                  <a:srgbClr val="000000"/>
                </a:solidFill>
                <a:latin typeface="Times New Roman"/>
                <a:ea typeface="Times New Roman"/>
                <a:cs typeface="Times New Roman"/>
              </a:rPr>
              <a:t>, which is created on a single attribute of a document. This type of index is frequently used for fields that are commonly searched, such as email addresses, usernames, or unique identifiers. By indexing one field, the database can quickly locate documents that match a specific value.</a:t>
            </a:r>
            <a:endParaRPr/>
          </a:p>
          <a:p>
            <a:pPr>
              <a:defRPr/>
            </a:pPr>
            <a:r>
              <a:rPr sz="1200" b="0" i="0" u="none">
                <a:solidFill>
                  <a:srgbClr val="000000"/>
                </a:solidFill>
                <a:latin typeface="Times New Roman"/>
                <a:ea typeface="Times New Roman"/>
                <a:cs typeface="Times New Roman"/>
              </a:rPr>
              <a:t>A more advanced option is the </a:t>
            </a:r>
            <a:r>
              <a:rPr sz="1200" b="1" i="0" u="none">
                <a:solidFill>
                  <a:srgbClr val="000000"/>
                </a:solidFill>
                <a:latin typeface="Times New Roman"/>
                <a:ea typeface="Times New Roman"/>
                <a:cs typeface="Times New Roman"/>
              </a:rPr>
              <a:t>compound index</a:t>
            </a:r>
            <a:r>
              <a:rPr sz="1200" b="0" i="0" u="none">
                <a:solidFill>
                  <a:srgbClr val="000000"/>
                </a:solidFill>
                <a:latin typeface="Times New Roman"/>
                <a:ea typeface="Times New Roman"/>
                <a:cs typeface="Times New Roman"/>
              </a:rPr>
              <a:t>, which includes multiple fields. Compound indexes are useful when queries filter documents using more than one attribute. For example, an index on </a:t>
            </a:r>
            <a:r>
              <a:rPr sz="1000" b="0" i="0" u="none">
                <a:solidFill>
                  <a:srgbClr val="000000"/>
                </a:solidFill>
                <a:latin typeface="Courier New"/>
                <a:ea typeface="Courier New"/>
                <a:cs typeface="Courier New"/>
              </a:rPr>
              <a:t>(city, age)</a:t>
            </a:r>
            <a:r>
              <a:rPr sz="1200" b="0" i="0" u="none">
                <a:solidFill>
                  <a:srgbClr val="000000"/>
                </a:solidFill>
                <a:latin typeface="Times New Roman"/>
                <a:ea typeface="Times New Roman"/>
                <a:cs typeface="Times New Roman"/>
              </a:rPr>
              <a:t> allows the database to efficiently process queries that search for students in a specific city or for students in a specific city and age combination. However, the </a:t>
            </a:r>
            <a:r>
              <a:rPr sz="1200" b="1" i="0" u="none">
                <a:solidFill>
                  <a:srgbClr val="000000"/>
                </a:solidFill>
                <a:latin typeface="Times New Roman"/>
                <a:ea typeface="Times New Roman"/>
                <a:cs typeface="Times New Roman"/>
              </a:rPr>
              <a:t>order of fields in a compound index is very important</a:t>
            </a:r>
            <a:r>
              <a:rPr sz="1200" b="0" i="0" u="none">
                <a:solidFill>
                  <a:srgbClr val="000000"/>
                </a:solidFill>
                <a:latin typeface="Times New Roman"/>
                <a:ea typeface="Times New Roman"/>
                <a:cs typeface="Times New Roman"/>
              </a:rPr>
              <a:t>. Because indexes are organized sequentially, the database can efficiently use the index when queries filter on the </a:t>
            </a:r>
            <a:r>
              <a:rPr sz="1200" b="1" i="0" u="none">
                <a:solidFill>
                  <a:srgbClr val="000000"/>
                </a:solidFill>
                <a:latin typeface="Times New Roman"/>
                <a:ea typeface="Times New Roman"/>
                <a:cs typeface="Times New Roman"/>
              </a:rPr>
              <a:t>leftmost fields</a:t>
            </a:r>
            <a:r>
              <a:rPr sz="1200" b="0" i="0" u="none">
                <a:solidFill>
                  <a:srgbClr val="000000"/>
                </a:solidFill>
                <a:latin typeface="Times New Roman"/>
                <a:ea typeface="Times New Roman"/>
                <a:cs typeface="Times New Roman"/>
              </a:rPr>
              <a:t> in the index definition.</a:t>
            </a:r>
            <a:endParaRPr/>
          </a:p>
          <a:p>
            <a:pPr>
              <a:defRPr/>
            </a:pPr>
            <a:r>
              <a:rPr sz="1200" b="0" i="0" u="none">
                <a:solidFill>
                  <a:srgbClr val="000000"/>
                </a:solidFill>
                <a:latin typeface="Times New Roman"/>
                <a:ea typeface="Times New Roman"/>
                <a:cs typeface="Times New Roman"/>
              </a:rPr>
              <a:t>Document databases also support </a:t>
            </a:r>
            <a:r>
              <a:rPr sz="1200" b="1" i="0" u="none">
                <a:solidFill>
                  <a:srgbClr val="000000"/>
                </a:solidFill>
                <a:latin typeface="Times New Roman"/>
                <a:ea typeface="Times New Roman"/>
                <a:cs typeface="Times New Roman"/>
              </a:rPr>
              <a:t>text indexes</a:t>
            </a:r>
            <a:r>
              <a:rPr sz="1200" b="0" i="0" u="none">
                <a:solidFill>
                  <a:srgbClr val="000000"/>
                </a:solidFill>
                <a:latin typeface="Times New Roman"/>
                <a:ea typeface="Times New Roman"/>
                <a:cs typeface="Times New Roman"/>
              </a:rPr>
              <a:t>, which allow the database to search within string fields. These indexes enable basic full-text search capabilities such as finding documents containing specific words or phrases. For example, a course database might use a text index to search for courses that mention “machine learning” in their description. In many applications, this type of indexing supports built-in search functionality before organizations adopt dedicated search systems such as </a:t>
            </a:r>
            <a:r>
              <a:rPr sz="1200" b="1" i="0" u="none">
                <a:solidFill>
                  <a:srgbClr val="000000"/>
                </a:solidFill>
                <a:latin typeface="Times New Roman"/>
                <a:ea typeface="Times New Roman"/>
                <a:cs typeface="Times New Roman"/>
              </a:rPr>
              <a:t>Elasticsearch</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Another specialized index type is the </a:t>
            </a:r>
            <a:r>
              <a:rPr sz="1200" b="1" i="0" u="none">
                <a:solidFill>
                  <a:srgbClr val="000000"/>
                </a:solidFill>
                <a:latin typeface="Times New Roman"/>
                <a:ea typeface="Times New Roman"/>
                <a:cs typeface="Times New Roman"/>
              </a:rPr>
              <a:t>geospatial index</a:t>
            </a:r>
            <a:r>
              <a:rPr sz="1200" b="0" i="0" u="none">
                <a:solidFill>
                  <a:srgbClr val="000000"/>
                </a:solidFill>
                <a:latin typeface="Times New Roman"/>
                <a:ea typeface="Times New Roman"/>
                <a:cs typeface="Times New Roman"/>
              </a:rPr>
              <a:t>, which supports queries involving geographic coordinates. These indexes are designed to efficiently compute spatial relationships such as distance between locations. Applications that show nearby services—such as finding restaurants within a certain distance—rely on geospatial indexes to perform these calculations efficiently.</a:t>
            </a:r>
            <a:endParaRPr/>
          </a:p>
          <a:p>
            <a:pPr>
              <a:defRPr/>
            </a:pPr>
            <a:r>
              <a:rPr sz="1200" b="0" i="0" u="none">
                <a:solidFill>
                  <a:srgbClr val="000000"/>
                </a:solidFill>
                <a:latin typeface="Times New Roman"/>
                <a:ea typeface="Times New Roman"/>
                <a:cs typeface="Times New Roman"/>
              </a:rPr>
              <a:t>Finally, document databases can enforce data integrity using a </a:t>
            </a:r>
            <a:r>
              <a:rPr sz="1200" b="1" i="0" u="none">
                <a:solidFill>
                  <a:srgbClr val="000000"/>
                </a:solidFill>
                <a:latin typeface="Times New Roman"/>
                <a:ea typeface="Times New Roman"/>
                <a:cs typeface="Times New Roman"/>
              </a:rPr>
              <a:t>unique index</a:t>
            </a:r>
            <a:r>
              <a:rPr sz="1200" b="0" i="0" u="none">
                <a:solidFill>
                  <a:srgbClr val="000000"/>
                </a:solidFill>
                <a:latin typeface="Times New Roman"/>
                <a:ea typeface="Times New Roman"/>
                <a:cs typeface="Times New Roman"/>
              </a:rPr>
              <a:t>. A unique index guarantees that no two documents contain the same value for the indexed field. This is commonly used for attributes that must be unique, such as usernames, student IDs, or email addresses.</a:t>
            </a:r>
            <a:endParaRPr/>
          </a:p>
          <a:p>
            <a:pPr>
              <a:defRPr/>
            </a:pPr>
            <a:r>
              <a:rPr sz="1200" b="0" i="0" u="none">
                <a:solidFill>
                  <a:srgbClr val="000000"/>
                </a:solidFill>
                <a:latin typeface="Times New Roman"/>
                <a:ea typeface="Times New Roman"/>
                <a:cs typeface="Times New Roman"/>
              </a:rPr>
              <a:t>In real-world applications, these different index types are often combined to support a wide range of query patterns. Understanding which type of index to use—and how to structure compound indexes correctly—is essential for designing high-performance database systems.</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Document databases provide multiple index types—including single-field, compound, text, geospatial, and unique indexes—allowing developers to optimize databases for many different types of queries.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a compound index is created on </a:t>
            </a:r>
            <a:r>
              <a:rPr sz="1000" b="0" i="0" u="none">
                <a:solidFill>
                  <a:srgbClr val="000000"/>
                </a:solidFill>
                <a:latin typeface="Courier New"/>
                <a:ea typeface="Courier New"/>
                <a:cs typeface="Courier New"/>
              </a:rPr>
              <a:t>(city, age)</a:t>
            </a:r>
            <a:r>
              <a:rPr sz="1200" b="0" i="0" u="none">
                <a:solidFill>
                  <a:srgbClr val="000000"/>
                </a:solidFill>
                <a:latin typeface="Times New Roman"/>
                <a:ea typeface="Times New Roman"/>
                <a:cs typeface="Times New Roman"/>
              </a:rPr>
              <a:t>, can it be used efficiently to find all students aged 22 without filtering by city?</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No. Compound indexes are most efficient when queries filter on the </a:t>
            </a:r>
            <a:r>
              <a:rPr sz="1200" b="1" i="0" u="none">
                <a:solidFill>
                  <a:srgbClr val="000000"/>
                </a:solidFill>
                <a:latin typeface="Times New Roman"/>
                <a:ea typeface="Times New Roman"/>
                <a:cs typeface="Times New Roman"/>
              </a:rPr>
              <a:t>leftmost fields in the index definition</a:t>
            </a:r>
            <a:r>
              <a:rPr sz="1200" b="0" i="0" u="none">
                <a:solidFill>
                  <a:srgbClr val="000000"/>
                </a:solidFill>
                <a:latin typeface="Times New Roman"/>
                <a:ea typeface="Times New Roman"/>
                <a:cs typeface="Times New Roman"/>
              </a:rPr>
              <a:t>. In an index defined as </a:t>
            </a:r>
            <a:r>
              <a:rPr sz="1000" b="0" i="0" u="none">
                <a:solidFill>
                  <a:srgbClr val="000000"/>
                </a:solidFill>
                <a:latin typeface="Courier New"/>
                <a:ea typeface="Courier New"/>
                <a:cs typeface="Courier New"/>
              </a:rPr>
              <a:t>(city, age)</a:t>
            </a:r>
            <a:r>
              <a:rPr sz="1200" b="0" i="0" u="none">
                <a:solidFill>
                  <a:srgbClr val="000000"/>
                </a:solidFill>
                <a:latin typeface="Times New Roman"/>
                <a:ea typeface="Times New Roman"/>
                <a:cs typeface="Times New Roman"/>
              </a:rPr>
              <a:t>, the database can efficiently handle queries that filter by </a:t>
            </a:r>
            <a:r>
              <a:rPr sz="1000" b="0" i="0" u="none">
                <a:solidFill>
                  <a:srgbClr val="000000"/>
                </a:solidFill>
                <a:latin typeface="Courier New"/>
                <a:ea typeface="Courier New"/>
                <a:cs typeface="Courier New"/>
              </a:rPr>
              <a:t>city</a:t>
            </a:r>
            <a:r>
              <a:rPr sz="1200" b="0" i="0" u="none">
                <a:solidFill>
                  <a:srgbClr val="000000"/>
                </a:solidFill>
                <a:latin typeface="Times New Roman"/>
                <a:ea typeface="Times New Roman"/>
                <a:cs typeface="Times New Roman"/>
              </a:rPr>
              <a:t> or by </a:t>
            </a:r>
            <a:r>
              <a:rPr sz="1000" b="0" i="0" u="none">
                <a:solidFill>
                  <a:srgbClr val="000000"/>
                </a:solidFill>
                <a:latin typeface="Courier New"/>
                <a:ea typeface="Courier New"/>
                <a:cs typeface="Courier New"/>
              </a:rPr>
              <a:t>city</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age</a:t>
            </a:r>
            <a:r>
              <a:rPr sz="1200" b="0" i="0" u="none">
                <a:solidFill>
                  <a:srgbClr val="000000"/>
                </a:solidFill>
                <a:latin typeface="Times New Roman"/>
                <a:ea typeface="Times New Roman"/>
                <a:cs typeface="Times New Roman"/>
              </a:rPr>
              <a:t> together. However, a query filtering only by </a:t>
            </a:r>
            <a:r>
              <a:rPr sz="1000" b="0" i="0" u="none">
                <a:solidFill>
                  <a:srgbClr val="000000"/>
                </a:solidFill>
                <a:latin typeface="Courier New"/>
                <a:ea typeface="Courier New"/>
                <a:cs typeface="Courier New"/>
              </a:rPr>
              <a:t>age</a:t>
            </a:r>
            <a:r>
              <a:rPr sz="1200" b="0" i="0" u="none">
                <a:solidFill>
                  <a:srgbClr val="000000"/>
                </a:solidFill>
                <a:latin typeface="Times New Roman"/>
                <a:ea typeface="Times New Roman"/>
                <a:cs typeface="Times New Roman"/>
              </a:rPr>
              <a:t> cannot effectively use this index because </a:t>
            </a:r>
            <a:r>
              <a:rPr sz="1000" b="0" i="0" u="none">
                <a:solidFill>
                  <a:srgbClr val="000000"/>
                </a:solidFill>
                <a:latin typeface="Courier New"/>
                <a:ea typeface="Courier New"/>
                <a:cs typeface="Courier New"/>
              </a:rPr>
              <a:t>city</a:t>
            </a:r>
            <a:r>
              <a:rPr sz="1200" b="0" i="0" u="none">
                <a:solidFill>
                  <a:srgbClr val="000000"/>
                </a:solidFill>
                <a:latin typeface="Times New Roman"/>
                <a:ea typeface="Times New Roman"/>
                <a:cs typeface="Times New Roman"/>
              </a:rPr>
              <a:t> is the leading field in the index structure.</a:t>
            </a:r>
            <a:endParaRPr/>
          </a:p>
        </p:txBody>
      </p:sp>
      <p:sp>
        <p:nvSpPr>
          <p:cNvPr id="906097911" name="Slide Number Placeholder 3"/>
          <p:cNvSpPr>
            <a:spLocks noGrp="1"/>
          </p:cNvSpPr>
          <p:nvPr>
            <p:ph type="sldNum" sz="quarter" idx="10"/>
          </p:nvPr>
        </p:nvSpPr>
        <p:spPr bwMode="auto"/>
        <p:txBody>
          <a:bodyPr/>
          <a:lstStyle/>
          <a:p>
            <a:pPr>
              <a:defRPr/>
            </a:pPr>
            <a:fld id="{F7021451-1387-4CA6-816F-3879F97B5CBC}" type="slidenum">
              <a:rPr lang="en-US"/>
              <a:t>33</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2663395" name="Slide Image Placeholder 1"/>
          <p:cNvSpPr>
            <a:spLocks noChangeAspect="1" noGrp="1" noRot="1"/>
          </p:cNvSpPr>
          <p:nvPr>
            <p:ph type="sldImg"/>
          </p:nvPr>
        </p:nvSpPr>
        <p:spPr bwMode="auto"/>
      </p:sp>
      <p:sp>
        <p:nvSpPr>
          <p:cNvPr id="1428138710"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understanding the different types of indexes and how they support query performance, it is useful to examine </a:t>
            </a:r>
            <a:r>
              <a:rPr sz="1200" b="1" i="0" u="none">
                <a:solidFill>
                  <a:srgbClr val="000000"/>
                </a:solidFill>
                <a:latin typeface="Times New Roman"/>
                <a:ea typeface="Times New Roman"/>
                <a:cs typeface="Times New Roman"/>
              </a:rPr>
              <a:t>how indexes are actually created and what happens inside the database when an index is built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document databases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creating an index is typically performed with a single command. For example:</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users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createIndex({ email: </a:t>
            </a:r>
            <a:r>
              <a:rPr sz="1000" b="0" i="0" u="none">
                <a:solidFill>
                  <a:srgbClr val="000000"/>
                </a:solidFill>
                <a:latin typeface="Courier New"/>
                <a:ea typeface="Courier New"/>
                <a:cs typeface="Courier New"/>
              </a:rPr>
              <a:t>1</a:t>
            </a:r>
            <a:r>
              <a:rPr sz="1000" b="0" i="0" u="none">
                <a:solidFill>
                  <a:srgbClr val="000000"/>
                </a:solidFill>
                <a:latin typeface="Courier New"/>
                <a:ea typeface="Courier New"/>
                <a:cs typeface="Courier New"/>
              </a:rPr>
              <a:t> })</a:t>
            </a:r>
            <a:endParaRPr/>
          </a:p>
          <a:p>
            <a:pPr>
              <a:defRPr/>
            </a:pPr>
            <a:r>
              <a:rPr sz="1200" b="0" i="0" u="none">
                <a:solidFill>
                  <a:srgbClr val="000000"/>
                </a:solidFill>
                <a:latin typeface="Times New Roman"/>
                <a:ea typeface="Times New Roman"/>
                <a:cs typeface="Times New Roman"/>
              </a:rPr>
              <a:t>In this command, the value </a:t>
            </a:r>
            <a:r>
              <a:rPr sz="1000" b="1" i="0" u="none">
                <a:solidFill>
                  <a:srgbClr val="000000"/>
                </a:solidFill>
                <a:latin typeface="Courier New"/>
                <a:ea typeface="Courier New"/>
                <a:cs typeface="Courier New"/>
              </a:rPr>
              <a:t>1</a:t>
            </a:r>
            <a:r>
              <a:rPr sz="1200" b="0" i="0" u="none">
                <a:solidFill>
                  <a:srgbClr val="000000"/>
                </a:solidFill>
                <a:latin typeface="Times New Roman"/>
                <a:ea typeface="Times New Roman"/>
                <a:cs typeface="Times New Roman"/>
              </a:rPr>
              <a:t> specifies that the index should be organized in </a:t>
            </a:r>
            <a:r>
              <a:rPr sz="1200" b="1" i="0" u="none">
                <a:solidFill>
                  <a:srgbClr val="000000"/>
                </a:solidFill>
                <a:latin typeface="Times New Roman"/>
                <a:ea typeface="Times New Roman"/>
                <a:cs typeface="Times New Roman"/>
              </a:rPr>
              <a:t>ascending order</a:t>
            </a:r>
            <a:r>
              <a:rPr sz="1200" b="0" i="0" u="none">
                <a:solidFill>
                  <a:srgbClr val="000000"/>
                </a:solidFill>
                <a:latin typeface="Times New Roman"/>
                <a:ea typeface="Times New Roman"/>
                <a:cs typeface="Times New Roman"/>
              </a:rPr>
              <a:t>. This ordering is efficient for queries that retrieve results alphabetically (A–Z) or chronologically from oldest to newest. If queries frequently require the reverse order—such as retrieving the most recent records first—the index can instead be created using </a:t>
            </a:r>
            <a:r>
              <a:rPr sz="1000" b="1" i="0" u="none">
                <a:solidFill>
                  <a:srgbClr val="000000"/>
                </a:solidFill>
                <a:latin typeface="Courier New"/>
                <a:ea typeface="Courier New"/>
                <a:cs typeface="Courier New"/>
              </a:rPr>
              <a:t>-1</a:t>
            </a:r>
            <a:r>
              <a:rPr sz="1200" b="0" i="0" u="none">
                <a:solidFill>
                  <a:srgbClr val="000000"/>
                </a:solidFill>
                <a:latin typeface="Times New Roman"/>
                <a:ea typeface="Times New Roman"/>
                <a:cs typeface="Times New Roman"/>
              </a:rPr>
              <a:t>, which stores values in descending order.</a:t>
            </a:r>
            <a:endParaRPr/>
          </a:p>
          <a:p>
            <a:pPr>
              <a:defRPr/>
            </a:pPr>
            <a:r>
              <a:rPr sz="1200" b="0" i="0" u="none">
                <a:solidFill>
                  <a:srgbClr val="000000"/>
                </a:solidFill>
                <a:latin typeface="Times New Roman"/>
                <a:ea typeface="Times New Roman"/>
                <a:cs typeface="Times New Roman"/>
              </a:rPr>
              <a:t>Although creating an index requires only a single command, the operation has important implications for the database system. When an index is created on an </a:t>
            </a:r>
            <a:r>
              <a:rPr sz="1200" b="1" i="0" u="none">
                <a:solidFill>
                  <a:srgbClr val="000000"/>
                </a:solidFill>
                <a:latin typeface="Times New Roman"/>
                <a:ea typeface="Times New Roman"/>
                <a:cs typeface="Times New Roman"/>
              </a:rPr>
              <a:t>existing collection</a:t>
            </a:r>
            <a:r>
              <a:rPr sz="1200" b="0" i="0" u="none">
                <a:solidFill>
                  <a:srgbClr val="000000"/>
                </a:solidFill>
                <a:latin typeface="Times New Roman"/>
                <a:ea typeface="Times New Roman"/>
                <a:cs typeface="Times New Roman"/>
              </a:rPr>
              <a:t>, the database must scan all documents currently stored in that collection in order to build the initial index structure. For collections containing millions of documents, this process may take minutes or even hours depending on the size of the dataset and the available system resources.</a:t>
            </a:r>
            <a:endParaRPr/>
          </a:p>
          <a:p>
            <a:pPr>
              <a:defRPr/>
            </a:pPr>
            <a:r>
              <a:rPr sz="1200" b="0" i="0" u="none">
                <a:solidFill>
                  <a:srgbClr val="000000"/>
                </a:solidFill>
                <a:latin typeface="Times New Roman"/>
                <a:ea typeface="Times New Roman"/>
                <a:cs typeface="Times New Roman"/>
              </a:rPr>
              <a:t>In production systems, this process must be performed carefully because building an index consumes </a:t>
            </a:r>
            <a:r>
              <a:rPr sz="1200" b="1" i="0" u="none">
                <a:solidFill>
                  <a:srgbClr val="000000"/>
                </a:solidFill>
                <a:latin typeface="Times New Roman"/>
                <a:ea typeface="Times New Roman"/>
                <a:cs typeface="Times New Roman"/>
              </a:rPr>
              <a:t>CPU, memory, and disk I/O resources</a:t>
            </a:r>
            <a:r>
              <a:rPr sz="1200" b="0" i="0" u="none">
                <a:solidFill>
                  <a:srgbClr val="000000"/>
                </a:solidFill>
                <a:latin typeface="Times New Roman"/>
                <a:ea typeface="Times New Roman"/>
                <a:cs typeface="Times New Roman"/>
              </a:rPr>
              <a:t>. While the database constructs the index, it reads large portions of the dataset and writes the index structure to disk. If not managed carefully, this workload can compete with normal application queries and temporarily slow down the system.</a:t>
            </a:r>
            <a:endParaRPr/>
          </a:p>
          <a:p>
            <a:pPr>
              <a:defRPr/>
            </a:pPr>
            <a:r>
              <a:rPr sz="1200" b="0" i="0" u="none">
                <a:solidFill>
                  <a:srgbClr val="000000"/>
                </a:solidFill>
                <a:latin typeface="Times New Roman"/>
                <a:ea typeface="Times New Roman"/>
                <a:cs typeface="Times New Roman"/>
              </a:rPr>
              <a:t>To reduce the impact on running applications, modern database systems support </a:t>
            </a:r>
            <a:r>
              <a:rPr sz="1200" b="1" i="0" u="none">
                <a:solidFill>
                  <a:srgbClr val="000000"/>
                </a:solidFill>
                <a:latin typeface="Times New Roman"/>
                <a:ea typeface="Times New Roman"/>
                <a:cs typeface="Times New Roman"/>
              </a:rPr>
              <a:t>background index creation</a:t>
            </a:r>
            <a:r>
              <a:rPr sz="1200" b="0" i="0" u="none">
                <a:solidFill>
                  <a:srgbClr val="000000"/>
                </a:solidFill>
                <a:latin typeface="Times New Roman"/>
                <a:ea typeface="Times New Roman"/>
                <a:cs typeface="Times New Roman"/>
              </a:rPr>
              <a:t>. When an index is built in the background, the collection remains available for both read and write operations while the index is constructed. This allows systems to continue serving users even while new indexes are being added.</a:t>
            </a:r>
            <a:endParaRPr/>
          </a:p>
          <a:p>
            <a:pPr>
              <a:defRPr/>
            </a:pPr>
            <a:r>
              <a:rPr sz="1200" b="0" i="0" u="none">
                <a:solidFill>
                  <a:srgbClr val="000000"/>
                </a:solidFill>
                <a:latin typeface="Times New Roman"/>
                <a:ea typeface="Times New Roman"/>
                <a:cs typeface="Times New Roman"/>
              </a:rPr>
              <a:t>In real-world deployments, database administrators often schedule large index creation tasks during periods of lower activity or monitor the process carefully to ensure that it does not negatively affect application performance.</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Although creating an index requires only a simple command, building the index may involve scanning the entire collection. For large datasets, index creation must be managed carefully to avoid performance disruptions.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does the value </a:t>
            </a:r>
            <a:r>
              <a:rPr sz="1000" b="0" i="0" u="none">
                <a:solidFill>
                  <a:srgbClr val="000000"/>
                </a:solidFill>
                <a:latin typeface="Courier New"/>
                <a:ea typeface="Courier New"/>
                <a:cs typeface="Courier New"/>
              </a:rPr>
              <a:t>1</a:t>
            </a:r>
            <a:r>
              <a:rPr sz="1200" b="0" i="0" u="none">
                <a:solidFill>
                  <a:srgbClr val="000000"/>
                </a:solidFill>
                <a:latin typeface="Times New Roman"/>
                <a:ea typeface="Times New Roman"/>
                <a:cs typeface="Times New Roman"/>
              </a:rPr>
              <a:t> represent in the command </a:t>
            </a:r>
            <a:r>
              <a:rPr sz="1000" b="0" i="0" u="none">
                <a:solidFill>
                  <a:srgbClr val="000000"/>
                </a:solidFill>
                <a:latin typeface="Courier New"/>
                <a:ea typeface="Courier New"/>
                <a:cs typeface="Courier New"/>
              </a:rPr>
              <a:t>createIndex({ email: 1 })</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value </a:t>
            </a:r>
            <a:r>
              <a:rPr sz="1000" b="0" i="0" u="none">
                <a:solidFill>
                  <a:srgbClr val="000000"/>
                </a:solidFill>
                <a:latin typeface="Courier New"/>
                <a:ea typeface="Courier New"/>
                <a:cs typeface="Courier New"/>
              </a:rPr>
              <a:t>1</a:t>
            </a:r>
            <a:r>
              <a:rPr sz="1200" b="0" i="0" u="none">
                <a:solidFill>
                  <a:srgbClr val="000000"/>
                </a:solidFill>
                <a:latin typeface="Times New Roman"/>
                <a:ea typeface="Times New Roman"/>
                <a:cs typeface="Times New Roman"/>
              </a:rPr>
              <a:t> instructs the database to store the indexed values in </a:t>
            </a:r>
            <a:r>
              <a:rPr sz="1200" b="1" i="0" u="none">
                <a:solidFill>
                  <a:srgbClr val="000000"/>
                </a:solidFill>
                <a:latin typeface="Times New Roman"/>
                <a:ea typeface="Times New Roman"/>
                <a:cs typeface="Times New Roman"/>
              </a:rPr>
              <a:t>ascending order</a:t>
            </a:r>
            <a:r>
              <a:rPr sz="1200" b="0" i="0" u="none">
                <a:solidFill>
                  <a:srgbClr val="000000"/>
                </a:solidFill>
                <a:latin typeface="Times New Roman"/>
                <a:ea typeface="Times New Roman"/>
                <a:cs typeface="Times New Roman"/>
              </a:rPr>
              <a:t>. For example, email addresses would be organized alphabetically from </a:t>
            </a:r>
            <a:r>
              <a:rPr sz="1000" b="0" i="0" u="none">
                <a:solidFill>
                  <a:srgbClr val="000000"/>
                </a:solidFill>
                <a:latin typeface="Courier New"/>
                <a:ea typeface="Courier New"/>
                <a:cs typeface="Courier New"/>
              </a:rPr>
              <a:t>a@example.com</a:t>
            </a:r>
            <a:r>
              <a:rPr sz="1200" b="0" i="0" u="none">
                <a:solidFill>
                  <a:srgbClr val="000000"/>
                </a:solidFill>
                <a:latin typeface="Times New Roman"/>
                <a:ea typeface="Times New Roman"/>
                <a:cs typeface="Times New Roman"/>
              </a:rPr>
              <a:t> to </a:t>
            </a:r>
            <a:r>
              <a:rPr sz="1000" b="0" i="0" u="none">
                <a:solidFill>
                  <a:srgbClr val="000000"/>
                </a:solidFill>
                <a:latin typeface="Courier New"/>
                <a:ea typeface="Courier New"/>
                <a:cs typeface="Courier New"/>
              </a:rPr>
              <a:t>z@example.com</a:t>
            </a:r>
            <a:r>
              <a:rPr sz="1200" b="0" i="0" u="none">
                <a:solidFill>
                  <a:srgbClr val="000000"/>
                </a:solidFill>
                <a:latin typeface="Times New Roman"/>
                <a:ea typeface="Times New Roman"/>
                <a:cs typeface="Times New Roman"/>
              </a:rPr>
              <a:t>. This ordering allows the database to perform efficient range queries and sorting operations on the indexed field.</a:t>
            </a:r>
            <a:endParaRPr/>
          </a:p>
        </p:txBody>
      </p:sp>
      <p:sp>
        <p:nvSpPr>
          <p:cNvPr id="593205993" name="Slide Number Placeholder 3"/>
          <p:cNvSpPr>
            <a:spLocks noGrp="1"/>
          </p:cNvSpPr>
          <p:nvPr>
            <p:ph type="sldNum" sz="quarter" idx="10"/>
          </p:nvPr>
        </p:nvSpPr>
        <p:spPr bwMode="auto"/>
        <p:txBody>
          <a:bodyPr/>
          <a:lstStyle/>
          <a:p>
            <a:pPr>
              <a:defRPr/>
            </a:pPr>
            <a:fld id="{F7021451-1387-4CA6-816F-3879F97B5CBC}" type="slidenum">
              <a:rPr lang="en-US"/>
              <a:t>34</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2282858" name="Slide Image Placeholder 1"/>
          <p:cNvSpPr>
            <a:spLocks noChangeAspect="1" noGrp="1" noRot="1"/>
          </p:cNvSpPr>
          <p:nvPr>
            <p:ph type="sldImg"/>
          </p:nvPr>
        </p:nvSpPr>
        <p:spPr bwMode="auto"/>
      </p:sp>
      <p:sp>
        <p:nvSpPr>
          <p:cNvPr id="1801300025"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 </a:t>
            </a:r>
            <a:r>
              <a:rPr sz="1200" b="1" i="0" u="none">
                <a:solidFill>
                  <a:srgbClr val="000000"/>
                </a:solidFill>
                <a:latin typeface="Times New Roman"/>
                <a:ea typeface="Times New Roman"/>
                <a:cs typeface="Times New Roman"/>
              </a:rPr>
              <a:t>query</a:t>
            </a:r>
            <a:r>
              <a:rPr sz="1200" b="0" i="0" u="none">
                <a:solidFill>
                  <a:srgbClr val="000000"/>
                </a:solidFill>
                <a:latin typeface="Times New Roman"/>
                <a:ea typeface="Times New Roman"/>
                <a:cs typeface="Times New Roman"/>
              </a:rPr>
              <a:t> is a structured request sent to the database asking for documents that satisfy specific conditions. In document databases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queries are typically expressed using a </a:t>
            </a:r>
            <a:r>
              <a:rPr sz="1200" b="1" i="0" u="none">
                <a:solidFill>
                  <a:srgbClr val="000000"/>
                </a:solidFill>
                <a:latin typeface="Times New Roman"/>
                <a:ea typeface="Times New Roman"/>
                <a:cs typeface="Times New Roman"/>
              </a:rPr>
              <a:t>JSON-like syntax</a:t>
            </a:r>
            <a:r>
              <a:rPr sz="1200" b="0" i="0" u="none">
                <a:solidFill>
                  <a:srgbClr val="000000"/>
                </a:solidFill>
                <a:latin typeface="Times New Roman"/>
                <a:ea typeface="Times New Roman"/>
                <a:cs typeface="Times New Roman"/>
              </a:rPr>
              <a:t> that describes the criteria documents must match.</a:t>
            </a:r>
            <a:endParaRPr/>
          </a:p>
          <a:p>
            <a:pPr>
              <a:defRPr/>
            </a:pPr>
            <a:r>
              <a:rPr sz="1200" b="0" i="0" u="none">
                <a:solidFill>
                  <a:srgbClr val="000000"/>
                </a:solidFill>
                <a:latin typeface="Times New Roman"/>
                <a:ea typeface="Times New Roman"/>
                <a:cs typeface="Times New Roman"/>
              </a:rPr>
              <a:t>In practice, issuing a query is equivalent to </a:t>
            </a:r>
            <a:r>
              <a:rPr sz="1200" b="1" i="0" u="none">
                <a:solidFill>
                  <a:srgbClr val="000000"/>
                </a:solidFill>
                <a:latin typeface="Times New Roman"/>
                <a:ea typeface="Times New Roman"/>
                <a:cs typeface="Times New Roman"/>
              </a:rPr>
              <a:t>asking the database a question in its own language</a:t>
            </a:r>
            <a:r>
              <a:rPr sz="1200" b="0" i="0" u="none">
                <a:solidFill>
                  <a:srgbClr val="000000"/>
                </a:solidFill>
                <a:latin typeface="Times New Roman"/>
                <a:ea typeface="Times New Roman"/>
                <a:cs typeface="Times New Roman"/>
              </a:rPr>
              <a:t>. The developer provides a JSON object that defines the filtering conditions, and the database returns all documents that match those conditions. The results are usually returned as a set of JSON documents that can be directly consumed by the application.</a:t>
            </a:r>
            <a:endParaRPr/>
          </a:p>
          <a:p>
            <a:pPr>
              <a:defRPr/>
            </a:pPr>
            <a:r>
              <a:rPr sz="1200" b="0" i="0" u="none">
                <a:solidFill>
                  <a:srgbClr val="000000"/>
                </a:solidFill>
                <a:latin typeface="Times New Roman"/>
                <a:ea typeface="Times New Roman"/>
                <a:cs typeface="Times New Roman"/>
              </a:rPr>
              <a:t>For example, a query searching for students in a particular department might look like this:</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 department: </a:t>
            </a:r>
            <a:r>
              <a:rPr sz="1000" b="0" i="0" u="none">
                <a:solidFill>
                  <a:srgbClr val="000000"/>
                </a:solidFill>
                <a:latin typeface="Courier New"/>
                <a:ea typeface="Courier New"/>
                <a:cs typeface="Courier New"/>
              </a:rPr>
              <a:t>"Electrical and Computer Engineering"</a:t>
            </a:r>
            <a:r>
              <a:rPr sz="1000" b="0" i="0" u="none">
                <a:solidFill>
                  <a:srgbClr val="000000"/>
                </a:solidFill>
                <a:latin typeface="Courier New"/>
                <a:ea typeface="Courier New"/>
                <a:cs typeface="Courier New"/>
              </a:rPr>
              <a:t> })</a:t>
            </a:r>
            <a:endParaRPr/>
          </a:p>
          <a:p>
            <a:pPr>
              <a:defRPr/>
            </a:pPr>
            <a:r>
              <a:rPr sz="1200" b="0" i="0" u="none">
                <a:solidFill>
                  <a:srgbClr val="000000"/>
                </a:solidFill>
                <a:latin typeface="Times New Roman"/>
                <a:ea typeface="Times New Roman"/>
                <a:cs typeface="Times New Roman"/>
              </a:rPr>
              <a:t>When a query is submitted, the database engine analyzes it and determines the most efficient way to retrieve the requested documents. This decision is made by an internal component known as the </a:t>
            </a:r>
            <a:r>
              <a:rPr sz="1200" b="1" i="0" u="none">
                <a:solidFill>
                  <a:srgbClr val="000000"/>
                </a:solidFill>
                <a:latin typeface="Times New Roman"/>
                <a:ea typeface="Times New Roman"/>
                <a:cs typeface="Times New Roman"/>
              </a:rPr>
              <a:t>query planner</a:t>
            </a:r>
            <a:r>
              <a:rPr sz="1200" b="0" i="0" u="none">
                <a:solidFill>
                  <a:srgbClr val="000000"/>
                </a:solidFill>
                <a:latin typeface="Times New Roman"/>
                <a:ea typeface="Times New Roman"/>
                <a:cs typeface="Times New Roman"/>
              </a:rPr>
              <a:t>. The query planner evaluates the available indexes, estimates the cost of different execution strategies, and chooses the one expected to perform best.</a:t>
            </a:r>
            <a:endParaRPr/>
          </a:p>
          <a:p>
            <a:pPr>
              <a:defRPr/>
            </a:pPr>
            <a:r>
              <a:rPr sz="1200" b="0" i="0" u="none">
                <a:solidFill>
                  <a:srgbClr val="000000"/>
                </a:solidFill>
                <a:latin typeface="Times New Roman"/>
                <a:ea typeface="Times New Roman"/>
                <a:cs typeface="Times New Roman"/>
              </a:rPr>
              <a:t>If suitable indexes exist, the query planner automatically uses them to accelerate the search. If no relevant index is available—or if using an index would not significantly improve performance—the database may perform a </a:t>
            </a:r>
            <a:r>
              <a:rPr sz="1200" b="1" i="0" u="none">
                <a:solidFill>
                  <a:srgbClr val="000000"/>
                </a:solidFill>
                <a:latin typeface="Times New Roman"/>
                <a:ea typeface="Times New Roman"/>
                <a:cs typeface="Times New Roman"/>
              </a:rPr>
              <a:t>collection scan</a:t>
            </a:r>
            <a:r>
              <a:rPr sz="1200" b="0" i="0" u="none">
                <a:solidFill>
                  <a:srgbClr val="000000"/>
                </a:solidFill>
                <a:latin typeface="Times New Roman"/>
                <a:ea typeface="Times New Roman"/>
                <a:cs typeface="Times New Roman"/>
              </a:rPr>
              <a:t> instead.</a:t>
            </a:r>
            <a:endParaRPr/>
          </a:p>
          <a:p>
            <a:pPr>
              <a:defRPr/>
            </a:pPr>
            <a:r>
              <a:rPr sz="1200" b="0" i="0" u="none">
                <a:solidFill>
                  <a:srgbClr val="000000"/>
                </a:solidFill>
                <a:latin typeface="Times New Roman"/>
                <a:ea typeface="Times New Roman"/>
                <a:cs typeface="Times New Roman"/>
              </a:rPr>
              <a:t>In real-world systems, developers often need to understand how their queries are executed. Document databases therefore provide diagnostic tools that reveal the execution strategy chosen by the query planner. In MongoDB, developers commonly use the </a:t>
            </a:r>
            <a:r>
              <a:rPr sz="1000" b="1" i="0" u="none">
                <a:solidFill>
                  <a:srgbClr val="000000"/>
                </a:solidFill>
                <a:latin typeface="Courier New"/>
                <a:ea typeface="Courier New"/>
                <a:cs typeface="Courier New"/>
              </a:rPr>
              <a:t>explain()</a:t>
            </a:r>
            <a:r>
              <a:rPr sz="1200" b="0" i="0" u="none">
                <a:solidFill>
                  <a:srgbClr val="000000"/>
                </a:solidFill>
                <a:latin typeface="Times New Roman"/>
                <a:ea typeface="Times New Roman"/>
                <a:cs typeface="Times New Roman"/>
              </a:rPr>
              <a:t> method to inspect the execution plan of a query and verify whether the database is using the expected indexes efficiently.</a:t>
            </a:r>
            <a:endParaRPr/>
          </a:p>
          <a:p>
            <a:pPr>
              <a:defRPr/>
            </a:pPr>
            <a:r>
              <a:rPr sz="1200" b="0" i="0" u="none">
                <a:solidFill>
                  <a:srgbClr val="000000"/>
                </a:solidFill>
                <a:latin typeface="Times New Roman"/>
                <a:ea typeface="Times New Roman"/>
                <a:cs typeface="Times New Roman"/>
              </a:rPr>
              <a:t>For example:</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 department: </a:t>
            </a:r>
            <a:r>
              <a:rPr sz="1000" b="0" i="0" u="none">
                <a:solidFill>
                  <a:srgbClr val="000000"/>
                </a:solidFill>
                <a:latin typeface="Courier New"/>
                <a:ea typeface="Courier New"/>
                <a:cs typeface="Courier New"/>
              </a:rPr>
              <a:t>"ECE"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explain()</a:t>
            </a:r>
            <a:endParaRPr/>
          </a:p>
          <a:p>
            <a:pPr>
              <a:defRPr/>
            </a:pPr>
            <a:r>
              <a:rPr sz="1200" b="0" i="0" u="none">
                <a:solidFill>
                  <a:srgbClr val="000000"/>
                </a:solidFill>
                <a:latin typeface="Times New Roman"/>
                <a:ea typeface="Times New Roman"/>
                <a:cs typeface="Times New Roman"/>
              </a:rPr>
              <a:t>This command shows whether the query uses an index or performs a full collection scan, along with additional details about the execution strategy.</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 query is a structured request that retrieves documents matching specified conditions. The database’s query planner automatically determines the most efficient execution strategy, typically using indexes when available.</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Can a developer force the database to use a specific index for a query?</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Yes. In systems such as MongoDB, developers can provide a </a:t>
            </a:r>
            <a:r>
              <a:rPr sz="1200" b="1" i="0" u="none">
                <a:solidFill>
                  <a:srgbClr val="000000"/>
                </a:solidFill>
                <a:latin typeface="Times New Roman"/>
                <a:ea typeface="Times New Roman"/>
                <a:cs typeface="Times New Roman"/>
              </a:rPr>
              <a:t>query hint</a:t>
            </a:r>
            <a:r>
              <a:rPr sz="1200" b="0" i="0" u="none">
                <a:solidFill>
                  <a:srgbClr val="000000"/>
                </a:solidFill>
                <a:latin typeface="Times New Roman"/>
                <a:ea typeface="Times New Roman"/>
                <a:cs typeface="Times New Roman"/>
              </a:rPr>
              <a:t> that instructs the database to use a specific index. However, this should be done cautiously and only after careful analysis. Overriding the query planner can lead to performance problems if the data distribution or query patterns change over time.</a:t>
            </a:r>
            <a:endParaRPr/>
          </a:p>
        </p:txBody>
      </p:sp>
      <p:sp>
        <p:nvSpPr>
          <p:cNvPr id="1124183119" name="Slide Number Placeholder 3"/>
          <p:cNvSpPr>
            <a:spLocks noGrp="1"/>
          </p:cNvSpPr>
          <p:nvPr>
            <p:ph type="sldNum" sz="quarter" idx="10"/>
          </p:nvPr>
        </p:nvSpPr>
        <p:spPr bwMode="auto"/>
        <p:txBody>
          <a:bodyPr/>
          <a:lstStyle/>
          <a:p>
            <a:pPr>
              <a:defRPr/>
            </a:pPr>
            <a:fld id="{F7021451-1387-4CA6-816F-3879F97B5CBC}" type="slidenum">
              <a:rPr lang="en-US"/>
              <a:t>35</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8527715" name="Slide Image Placeholder 1"/>
          <p:cNvSpPr>
            <a:spLocks noChangeAspect="1" noGrp="1" noRot="1"/>
          </p:cNvSpPr>
          <p:nvPr>
            <p:ph type="sldImg"/>
          </p:nvPr>
        </p:nvSpPr>
        <p:spPr bwMode="auto"/>
      </p:sp>
      <p:sp>
        <p:nvSpPr>
          <p:cNvPr id="1609200377"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understanding how indexes enable fast data retrieval, the next concept to examine is </a:t>
            </a:r>
            <a:r>
              <a:rPr sz="1200" b="1" i="0" u="none">
                <a:solidFill>
                  <a:srgbClr val="000000"/>
                </a:solidFill>
                <a:latin typeface="Times New Roman"/>
                <a:ea typeface="Times New Roman"/>
                <a:cs typeface="Times New Roman"/>
              </a:rPr>
              <a:t>queries</a:t>
            </a:r>
            <a:r>
              <a:rPr sz="1200" b="0" i="0" u="none">
                <a:solidFill>
                  <a:srgbClr val="000000"/>
                </a:solidFill>
                <a:latin typeface="Times New Roman"/>
                <a:ea typeface="Times New Roman"/>
                <a:cs typeface="Times New Roman"/>
              </a:rPr>
              <a:t>, which are the mechanism through which applications request data from a database.</a:t>
            </a:r>
            <a:endParaRPr/>
          </a:p>
          <a:p>
            <a:pPr>
              <a:defRPr/>
            </a:pPr>
            <a:r>
              <a:rPr sz="1200" b="0" i="0" u="none">
                <a:solidFill>
                  <a:srgbClr val="000000"/>
                </a:solidFill>
                <a:latin typeface="Times New Roman"/>
                <a:ea typeface="Times New Roman"/>
                <a:cs typeface="Times New Roman"/>
              </a:rPr>
              <a:t>A </a:t>
            </a:r>
            <a:r>
              <a:rPr sz="1200" b="1" i="0" u="none">
                <a:solidFill>
                  <a:srgbClr val="000000"/>
                </a:solidFill>
                <a:latin typeface="Times New Roman"/>
                <a:ea typeface="Times New Roman"/>
                <a:cs typeface="Times New Roman"/>
              </a:rPr>
              <a:t>query</a:t>
            </a:r>
            <a:r>
              <a:rPr sz="1200" b="0" i="0" u="none">
                <a:solidFill>
                  <a:srgbClr val="000000"/>
                </a:solidFill>
                <a:latin typeface="Times New Roman"/>
                <a:ea typeface="Times New Roman"/>
                <a:cs typeface="Times New Roman"/>
              </a:rPr>
              <a:t> is a structured request sent to the database asking for documents that satisfy specific conditions. In document databases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queries are typically expressed using a </a:t>
            </a:r>
            <a:r>
              <a:rPr sz="1200" b="1" i="0" u="none">
                <a:solidFill>
                  <a:srgbClr val="000000"/>
                </a:solidFill>
                <a:latin typeface="Times New Roman"/>
                <a:ea typeface="Times New Roman"/>
                <a:cs typeface="Times New Roman"/>
              </a:rPr>
              <a:t>JSON-like syntax</a:t>
            </a:r>
            <a:r>
              <a:rPr sz="1200" b="0" i="0" u="none">
                <a:solidFill>
                  <a:srgbClr val="000000"/>
                </a:solidFill>
                <a:latin typeface="Times New Roman"/>
                <a:ea typeface="Times New Roman"/>
                <a:cs typeface="Times New Roman"/>
              </a:rPr>
              <a:t> that describes the criteria documents must match.</a:t>
            </a:r>
            <a:endParaRPr/>
          </a:p>
          <a:p>
            <a:pPr>
              <a:defRPr/>
            </a:pPr>
            <a:r>
              <a:rPr sz="1200" b="0" i="0" u="none">
                <a:solidFill>
                  <a:srgbClr val="000000"/>
                </a:solidFill>
                <a:latin typeface="Times New Roman"/>
                <a:ea typeface="Times New Roman"/>
                <a:cs typeface="Times New Roman"/>
              </a:rPr>
              <a:t>In practice, issuing a query is equivalent to </a:t>
            </a:r>
            <a:r>
              <a:rPr sz="1200" b="1" i="0" u="none">
                <a:solidFill>
                  <a:srgbClr val="000000"/>
                </a:solidFill>
                <a:latin typeface="Times New Roman"/>
                <a:ea typeface="Times New Roman"/>
                <a:cs typeface="Times New Roman"/>
              </a:rPr>
              <a:t>asking the database a question in its own language</a:t>
            </a:r>
            <a:r>
              <a:rPr sz="1200" b="0" i="0" u="none">
                <a:solidFill>
                  <a:srgbClr val="000000"/>
                </a:solidFill>
                <a:latin typeface="Times New Roman"/>
                <a:ea typeface="Times New Roman"/>
                <a:cs typeface="Times New Roman"/>
              </a:rPr>
              <a:t>. The developer provides a JSON object that defines the filtering conditions, and the database returns all documents that match those conditions. The results are usually returned as a set of JSON documents that can be directly consumed by the application.</a:t>
            </a:r>
            <a:endParaRPr/>
          </a:p>
          <a:p>
            <a:pPr>
              <a:defRPr/>
            </a:pPr>
            <a:r>
              <a:rPr sz="1200" b="0" i="0" u="none">
                <a:solidFill>
                  <a:srgbClr val="000000"/>
                </a:solidFill>
                <a:latin typeface="Times New Roman"/>
                <a:ea typeface="Times New Roman"/>
                <a:cs typeface="Times New Roman"/>
              </a:rPr>
              <a:t>For example, a query searching for students in a particular department might look like this:</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 department: </a:t>
            </a:r>
            <a:r>
              <a:rPr sz="1000" b="0" i="0" u="none">
                <a:solidFill>
                  <a:srgbClr val="000000"/>
                </a:solidFill>
                <a:latin typeface="Courier New"/>
                <a:ea typeface="Courier New"/>
                <a:cs typeface="Courier New"/>
              </a:rPr>
              <a:t>"Electrical and Computer Engineering"</a:t>
            </a:r>
            <a:r>
              <a:rPr sz="1000" b="0" i="0" u="none">
                <a:solidFill>
                  <a:srgbClr val="000000"/>
                </a:solidFill>
                <a:latin typeface="Courier New"/>
                <a:ea typeface="Courier New"/>
                <a:cs typeface="Courier New"/>
              </a:rPr>
              <a:t> })</a:t>
            </a:r>
            <a:endParaRPr/>
          </a:p>
          <a:p>
            <a:pPr>
              <a:defRPr/>
            </a:pPr>
            <a:r>
              <a:rPr sz="1200" b="0" i="0" u="none">
                <a:solidFill>
                  <a:srgbClr val="000000"/>
                </a:solidFill>
                <a:latin typeface="Times New Roman"/>
                <a:ea typeface="Times New Roman"/>
                <a:cs typeface="Times New Roman"/>
              </a:rPr>
              <a:t>When a query is submitted, the database engine analyzes it and determines the most efficient way to retrieve the requested documents. This decision is made by an internal component known as the </a:t>
            </a:r>
            <a:r>
              <a:rPr sz="1200" b="1" i="0" u="none">
                <a:solidFill>
                  <a:srgbClr val="000000"/>
                </a:solidFill>
                <a:latin typeface="Times New Roman"/>
                <a:ea typeface="Times New Roman"/>
                <a:cs typeface="Times New Roman"/>
              </a:rPr>
              <a:t>query planner</a:t>
            </a:r>
            <a:r>
              <a:rPr sz="1200" b="0" i="0" u="none">
                <a:solidFill>
                  <a:srgbClr val="000000"/>
                </a:solidFill>
                <a:latin typeface="Times New Roman"/>
                <a:ea typeface="Times New Roman"/>
                <a:cs typeface="Times New Roman"/>
              </a:rPr>
              <a:t>. The query planner evaluates the available indexes, estimates the cost of different execution strategies, and chooses the one expected to perform best.</a:t>
            </a:r>
            <a:endParaRPr/>
          </a:p>
          <a:p>
            <a:pPr>
              <a:defRPr/>
            </a:pPr>
            <a:r>
              <a:rPr sz="1200" b="0" i="0" u="none">
                <a:solidFill>
                  <a:srgbClr val="000000"/>
                </a:solidFill>
                <a:latin typeface="Times New Roman"/>
                <a:ea typeface="Times New Roman"/>
                <a:cs typeface="Times New Roman"/>
              </a:rPr>
              <a:t>If suitable indexes exist, the query planner automatically uses them to accelerate the search. If no relevant index is available—or if using an index would not significantly improve performance—the database may perform a </a:t>
            </a:r>
            <a:r>
              <a:rPr sz="1200" b="1" i="0" u="none">
                <a:solidFill>
                  <a:srgbClr val="000000"/>
                </a:solidFill>
                <a:latin typeface="Times New Roman"/>
                <a:ea typeface="Times New Roman"/>
                <a:cs typeface="Times New Roman"/>
              </a:rPr>
              <a:t>collection scan</a:t>
            </a:r>
            <a:r>
              <a:rPr sz="1200" b="0" i="0" u="none">
                <a:solidFill>
                  <a:srgbClr val="000000"/>
                </a:solidFill>
                <a:latin typeface="Times New Roman"/>
                <a:ea typeface="Times New Roman"/>
                <a:cs typeface="Times New Roman"/>
              </a:rPr>
              <a:t> instead.</a:t>
            </a:r>
            <a:endParaRPr/>
          </a:p>
          <a:p>
            <a:pPr>
              <a:defRPr/>
            </a:pPr>
            <a:r>
              <a:rPr sz="1200" b="0" i="0" u="none">
                <a:solidFill>
                  <a:srgbClr val="000000"/>
                </a:solidFill>
                <a:latin typeface="Times New Roman"/>
                <a:ea typeface="Times New Roman"/>
                <a:cs typeface="Times New Roman"/>
              </a:rPr>
              <a:t>In real-world systems, developers often need to understand how their queries are executed. Document databases therefore provide diagnostic tools that reveal the execution strategy chosen by the query planner. In MongoDB, developers commonly use the </a:t>
            </a:r>
            <a:r>
              <a:rPr sz="1000" b="1" i="0" u="none">
                <a:solidFill>
                  <a:srgbClr val="000000"/>
                </a:solidFill>
                <a:latin typeface="Courier New"/>
                <a:ea typeface="Courier New"/>
                <a:cs typeface="Courier New"/>
              </a:rPr>
              <a:t>explain()</a:t>
            </a:r>
            <a:r>
              <a:rPr sz="1200" b="0" i="0" u="none">
                <a:solidFill>
                  <a:srgbClr val="000000"/>
                </a:solidFill>
                <a:latin typeface="Times New Roman"/>
                <a:ea typeface="Times New Roman"/>
                <a:cs typeface="Times New Roman"/>
              </a:rPr>
              <a:t> method to inspect the execution plan of a query and verify whether the database is using the expected indexes efficiently.</a:t>
            </a:r>
            <a:endParaRPr/>
          </a:p>
          <a:p>
            <a:pPr>
              <a:defRPr/>
            </a:pPr>
            <a:r>
              <a:rPr sz="1200" b="0" i="0" u="none">
                <a:solidFill>
                  <a:srgbClr val="000000"/>
                </a:solidFill>
                <a:latin typeface="Times New Roman"/>
                <a:ea typeface="Times New Roman"/>
                <a:cs typeface="Times New Roman"/>
              </a:rPr>
              <a:t>For example:</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 department: </a:t>
            </a:r>
            <a:r>
              <a:rPr sz="1000" b="0" i="0" u="none">
                <a:solidFill>
                  <a:srgbClr val="000000"/>
                </a:solidFill>
                <a:latin typeface="Courier New"/>
                <a:ea typeface="Courier New"/>
                <a:cs typeface="Courier New"/>
              </a:rPr>
              <a:t>"ECE"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explain()</a:t>
            </a:r>
            <a:endParaRPr/>
          </a:p>
          <a:p>
            <a:pPr>
              <a:defRPr/>
            </a:pPr>
            <a:r>
              <a:rPr sz="1200" b="0" i="0" u="none">
                <a:solidFill>
                  <a:srgbClr val="000000"/>
                </a:solidFill>
                <a:latin typeface="Times New Roman"/>
                <a:ea typeface="Times New Roman"/>
                <a:cs typeface="Times New Roman"/>
              </a:rPr>
              <a:t>This command shows whether the query uses an index or performs a full collection scan, along with additional details about the execution strategy.</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 query is a structured request that retrieves documents matching specified conditions. The database’s query planner automatically determines the most efficient execution strategy, typically using indexes when available.</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Can a developer force the database to use a specific index for a query?</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Yes. In systems such as MongoDB, developers can provide a </a:t>
            </a:r>
            <a:r>
              <a:rPr sz="1200" b="1" i="0" u="none">
                <a:solidFill>
                  <a:srgbClr val="000000"/>
                </a:solidFill>
                <a:latin typeface="Times New Roman"/>
                <a:ea typeface="Times New Roman"/>
                <a:cs typeface="Times New Roman"/>
              </a:rPr>
              <a:t>query hint</a:t>
            </a:r>
            <a:r>
              <a:rPr sz="1200" b="0" i="0" u="none">
                <a:solidFill>
                  <a:srgbClr val="000000"/>
                </a:solidFill>
                <a:latin typeface="Times New Roman"/>
                <a:ea typeface="Times New Roman"/>
                <a:cs typeface="Times New Roman"/>
              </a:rPr>
              <a:t> that instructs the database to use a specific index. However, this should be done cautiously and only after careful analysis. Overriding the query planner can lead to performance problems if the data distribution or query patterns change over time.</a:t>
            </a:r>
            <a:endParaRPr/>
          </a:p>
        </p:txBody>
      </p:sp>
      <p:sp>
        <p:nvSpPr>
          <p:cNvPr id="743454788" name="Slide Number Placeholder 3"/>
          <p:cNvSpPr>
            <a:spLocks noGrp="1"/>
          </p:cNvSpPr>
          <p:nvPr>
            <p:ph type="sldNum" sz="quarter" idx="10"/>
          </p:nvPr>
        </p:nvSpPr>
        <p:spPr bwMode="auto"/>
        <p:txBody>
          <a:bodyPr/>
          <a:lstStyle/>
          <a:p>
            <a:pPr>
              <a:defRPr/>
            </a:pPr>
            <a:fld id="{4826BB50-04C9-F14D-D9DC-C1CB7A95D97A}"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7491679" name="Slide Image Placeholder 1"/>
          <p:cNvSpPr>
            <a:spLocks noChangeAspect="1" noGrp="1" noRot="1"/>
          </p:cNvSpPr>
          <p:nvPr>
            <p:ph type="sldImg"/>
          </p:nvPr>
        </p:nvSpPr>
        <p:spPr bwMode="auto"/>
      </p:sp>
      <p:sp>
        <p:nvSpPr>
          <p:cNvPr id="2002563592"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Building on the previous explanation of queries and indexing, we can now observe </a:t>
            </a:r>
            <a:r>
              <a:rPr sz="1200" b="1" i="0" u="none">
                <a:solidFill>
                  <a:srgbClr val="000000"/>
                </a:solidFill>
                <a:latin typeface="Times New Roman"/>
                <a:ea typeface="Times New Roman"/>
                <a:cs typeface="Times New Roman"/>
              </a:rPr>
              <a:t>how an index is actually used when a query is executed</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Consider a query that searches for a user by email address in a collection stored in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users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 email: </a:t>
            </a:r>
            <a:r>
              <a:rPr sz="1000" b="0" i="0" u="none">
                <a:solidFill>
                  <a:srgbClr val="000000"/>
                </a:solidFill>
                <a:latin typeface="Courier New"/>
                <a:ea typeface="Courier New"/>
                <a:cs typeface="Courier New"/>
              </a:rPr>
              <a:t>"maria@example.com"</a:t>
            </a:r>
            <a:r>
              <a:rPr sz="1000" b="0" i="0" u="none">
                <a:solidFill>
                  <a:srgbClr val="000000"/>
                </a:solidFill>
                <a:latin typeface="Courier New"/>
                <a:ea typeface="Courier New"/>
                <a:cs typeface="Courier New"/>
              </a:rPr>
              <a:t> })</a:t>
            </a:r>
            <a:endParaRPr/>
          </a:p>
          <a:p>
            <a:pPr>
              <a:defRPr/>
            </a:pPr>
            <a:r>
              <a:rPr sz="1200" b="0" i="0" u="none">
                <a:solidFill>
                  <a:srgbClr val="000000"/>
                </a:solidFill>
                <a:latin typeface="Times New Roman"/>
                <a:ea typeface="Times New Roman"/>
                <a:cs typeface="Times New Roman"/>
              </a:rPr>
              <a:t>If an index exists on the </a:t>
            </a:r>
            <a:r>
              <a:rPr sz="1000" b="0" i="0" u="none">
                <a:solidFill>
                  <a:srgbClr val="000000"/>
                </a:solidFill>
                <a:latin typeface="Courier New"/>
                <a:ea typeface="Courier New"/>
                <a:cs typeface="Courier New"/>
              </a:rPr>
              <a:t>email</a:t>
            </a:r>
            <a:r>
              <a:rPr sz="1200" b="0" i="0" u="none">
                <a:solidFill>
                  <a:srgbClr val="000000"/>
                </a:solidFill>
                <a:latin typeface="Times New Roman"/>
                <a:ea typeface="Times New Roman"/>
                <a:cs typeface="Times New Roman"/>
              </a:rPr>
              <a:t> field, the query planner immediately recognizes that the query can be resolved using this index. Instead of scanning every document in the collection, the database navigates the </a:t>
            </a:r>
            <a:r>
              <a:rPr sz="1200" b="1" i="0" u="none">
                <a:solidFill>
                  <a:srgbClr val="000000"/>
                </a:solidFill>
                <a:latin typeface="Times New Roman"/>
                <a:ea typeface="Times New Roman"/>
                <a:cs typeface="Times New Roman"/>
              </a:rPr>
              <a:t>B-tree index structure</a:t>
            </a:r>
            <a:r>
              <a:rPr sz="1200" b="0" i="0" u="none">
                <a:solidFill>
                  <a:srgbClr val="000000"/>
                </a:solidFill>
                <a:latin typeface="Times New Roman"/>
                <a:ea typeface="Times New Roman"/>
                <a:cs typeface="Times New Roman"/>
              </a:rPr>
              <a:t> associated with that field.</a:t>
            </a:r>
            <a:endParaRPr/>
          </a:p>
          <a:p>
            <a:pPr>
              <a:defRPr/>
            </a:pPr>
            <a:r>
              <a:rPr sz="1200" b="0" i="0" u="none">
                <a:solidFill>
                  <a:srgbClr val="000000"/>
                </a:solidFill>
                <a:latin typeface="Times New Roman"/>
                <a:ea typeface="Times New Roman"/>
                <a:cs typeface="Times New Roman"/>
              </a:rPr>
              <a:t>Because the index values are stored in sorted order, the database can traverse the B-tree efficiently. For large datasets, this typically requires only </a:t>
            </a:r>
            <a:r>
              <a:rPr sz="1200" b="1" i="0" u="none">
                <a:solidFill>
                  <a:srgbClr val="000000"/>
                </a:solidFill>
                <a:latin typeface="Times New Roman"/>
                <a:ea typeface="Times New Roman"/>
                <a:cs typeface="Times New Roman"/>
              </a:rPr>
              <a:t>around twenty comparison steps</a:t>
            </a:r>
            <a:r>
              <a:rPr sz="1200" b="0" i="0" u="none">
                <a:solidFill>
                  <a:srgbClr val="000000"/>
                </a:solidFill>
                <a:latin typeface="Times New Roman"/>
                <a:ea typeface="Times New Roman"/>
                <a:cs typeface="Times New Roman"/>
              </a:rPr>
              <a:t> to locate the matching entry. Once the index identifies the correct record, it provides a pointer to the document’s location on disk, allowing the database to retrieve the document directly.</a:t>
            </a:r>
            <a:endParaRPr/>
          </a:p>
          <a:p>
            <a:pPr>
              <a:defRPr/>
            </a:pPr>
            <a:r>
              <a:rPr sz="1200" b="0" i="0" u="none">
                <a:solidFill>
                  <a:srgbClr val="000000"/>
                </a:solidFill>
                <a:latin typeface="Times New Roman"/>
                <a:ea typeface="Times New Roman"/>
                <a:cs typeface="Times New Roman"/>
              </a:rPr>
              <a:t>The entire operation—including locating the index entry and reading the document from disk—usually completes in </a:t>
            </a:r>
            <a:r>
              <a:rPr sz="1200" b="1" i="0" u="none">
                <a:solidFill>
                  <a:srgbClr val="000000"/>
                </a:solidFill>
                <a:latin typeface="Times New Roman"/>
                <a:ea typeface="Times New Roman"/>
                <a:cs typeface="Times New Roman"/>
              </a:rPr>
              <a:t>less than one millisecond</a:t>
            </a:r>
            <a:r>
              <a:rPr sz="1200" b="0" i="0" u="none">
                <a:solidFill>
                  <a:srgbClr val="000000"/>
                </a:solidFill>
                <a:latin typeface="Times New Roman"/>
                <a:ea typeface="Times New Roman"/>
                <a:cs typeface="Times New Roman"/>
              </a:rPr>
              <a:t>, even for very large collections.</a:t>
            </a:r>
            <a:endParaRPr/>
          </a:p>
          <a:p>
            <a:pPr>
              <a:defRPr/>
            </a:pPr>
            <a:r>
              <a:rPr sz="1200" b="0" i="0" u="none">
                <a:solidFill>
                  <a:srgbClr val="000000"/>
                </a:solidFill>
                <a:latin typeface="Times New Roman"/>
                <a:ea typeface="Times New Roman"/>
                <a:cs typeface="Times New Roman"/>
              </a:rPr>
              <a:t>In real-world applications, this speed is critical. For example, when a user logs into a web application, the authentication system often searches for the user account by email address. Fast indexed queries allow the application’s API to retrieve the account information almost instantly, enabling the system to respond within the </a:t>
            </a:r>
            <a:r>
              <a:rPr sz="1200" b="1" i="0" u="none">
                <a:solidFill>
                  <a:srgbClr val="000000"/>
                </a:solidFill>
                <a:latin typeface="Times New Roman"/>
                <a:ea typeface="Times New Roman"/>
                <a:cs typeface="Times New Roman"/>
              </a:rPr>
              <a:t>100-millisecond response time</a:t>
            </a:r>
            <a:r>
              <a:rPr sz="1200" b="0" i="0" u="none">
                <a:solidFill>
                  <a:srgbClr val="000000"/>
                </a:solidFill>
                <a:latin typeface="Times New Roman"/>
                <a:ea typeface="Times New Roman"/>
                <a:cs typeface="Times New Roman"/>
              </a:rPr>
              <a:t> that humans typically perceive as immediate.</a:t>
            </a:r>
            <a:endParaRPr/>
          </a:p>
          <a:p>
            <a:pPr>
              <a:defRPr/>
            </a:pPr>
            <a:r>
              <a:rPr sz="1200" b="0" i="0" u="none">
                <a:solidFill>
                  <a:srgbClr val="000000"/>
                </a:solidFill>
                <a:latin typeface="Times New Roman"/>
                <a:ea typeface="Times New Roman"/>
                <a:cs typeface="Times New Roman"/>
              </a:rPr>
              <a:t>However, the situation changes dramatically if the same query is executed </a:t>
            </a:r>
            <a:r>
              <a:rPr sz="1200" b="1" i="0" u="none">
                <a:solidFill>
                  <a:srgbClr val="000000"/>
                </a:solidFill>
                <a:latin typeface="Times New Roman"/>
                <a:ea typeface="Times New Roman"/>
                <a:cs typeface="Times New Roman"/>
              </a:rPr>
              <a:t>without an index</a:t>
            </a:r>
            <a:r>
              <a:rPr sz="1200" b="0" i="0" u="none">
                <a:solidFill>
                  <a:srgbClr val="000000"/>
                </a:solidFill>
                <a:latin typeface="Times New Roman"/>
                <a:ea typeface="Times New Roman"/>
                <a:cs typeface="Times New Roman"/>
              </a:rPr>
              <a:t> on the email field. In that case, the database must perform a </a:t>
            </a:r>
            <a:r>
              <a:rPr sz="1200" b="1" i="0" u="none">
                <a:solidFill>
                  <a:srgbClr val="000000"/>
                </a:solidFill>
                <a:latin typeface="Times New Roman"/>
                <a:ea typeface="Times New Roman"/>
                <a:cs typeface="Times New Roman"/>
              </a:rPr>
              <a:t>collection scan</a:t>
            </a:r>
            <a:r>
              <a:rPr sz="1200" b="0" i="0" u="none">
                <a:solidFill>
                  <a:srgbClr val="000000"/>
                </a:solidFill>
                <a:latin typeface="Times New Roman"/>
                <a:ea typeface="Times New Roman"/>
                <a:cs typeface="Times New Roman"/>
              </a:rPr>
              <a:t>, examining every document in the collection one by one and comparing the value of the email field.</a:t>
            </a:r>
            <a:endParaRPr/>
          </a:p>
          <a:p>
            <a:pPr>
              <a:defRPr/>
            </a:pPr>
            <a:r>
              <a:rPr sz="1200" b="0" i="0" u="none">
                <a:solidFill>
                  <a:srgbClr val="000000"/>
                </a:solidFill>
                <a:latin typeface="Times New Roman"/>
                <a:ea typeface="Times New Roman"/>
                <a:cs typeface="Times New Roman"/>
              </a:rPr>
              <a:t>For collections containing millions of user accounts, this process may take </a:t>
            </a:r>
            <a:r>
              <a:rPr sz="1200" b="1" i="0" u="none">
                <a:solidFill>
                  <a:srgbClr val="000000"/>
                </a:solidFill>
                <a:latin typeface="Times New Roman"/>
                <a:ea typeface="Times New Roman"/>
                <a:cs typeface="Times New Roman"/>
              </a:rPr>
              <a:t>seconds instead of milliseconds</a:t>
            </a:r>
            <a:r>
              <a:rPr sz="1200" b="0" i="0" u="none">
                <a:solidFill>
                  <a:srgbClr val="000000"/>
                </a:solidFill>
                <a:latin typeface="Times New Roman"/>
                <a:ea typeface="Times New Roman"/>
                <a:cs typeface="Times New Roman"/>
              </a:rPr>
              <a:t>, dramatically slowing down the application and increasing server load.</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Indexes allow databases to locate documents extremely quickly by navigating an ordered index structure instead of scanning every document in the collection.</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you run the same query on a collection where no index exists on the </a:t>
            </a:r>
            <a:r>
              <a:rPr sz="1000" b="0" i="0" u="none">
                <a:solidFill>
                  <a:srgbClr val="000000"/>
                </a:solidFill>
                <a:latin typeface="Courier New"/>
                <a:ea typeface="Courier New"/>
                <a:cs typeface="Courier New"/>
              </a:rPr>
              <a:t>email</a:t>
            </a:r>
            <a:r>
              <a:rPr sz="1200" b="0" i="0" u="none">
                <a:solidFill>
                  <a:srgbClr val="000000"/>
                </a:solidFill>
                <a:latin typeface="Times New Roman"/>
                <a:ea typeface="Times New Roman"/>
                <a:cs typeface="Times New Roman"/>
              </a:rPr>
              <a:t> field, what happens?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query still produces the correct result, but the database must scan every document in the collection and compare each email value individually. For large datasets containing millions of documents, this operation can take several seconds rather than milliseconds.</a:t>
            </a:r>
            <a:endParaRPr/>
          </a:p>
        </p:txBody>
      </p:sp>
      <p:sp>
        <p:nvSpPr>
          <p:cNvPr id="1094188370" name="Slide Number Placeholder 3"/>
          <p:cNvSpPr>
            <a:spLocks noGrp="1"/>
          </p:cNvSpPr>
          <p:nvPr>
            <p:ph type="sldNum" sz="quarter" idx="10"/>
          </p:nvPr>
        </p:nvSpPr>
        <p:spPr bwMode="auto"/>
        <p:txBody>
          <a:bodyPr/>
          <a:lstStyle/>
          <a:p>
            <a:pPr>
              <a:defRPr/>
            </a:pPr>
            <a:fld id="{F7021451-1387-4CA6-816F-3879F97B5CBC}" type="slidenum">
              <a:rPr lang="en-US"/>
              <a:t>36</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4979462" name="Slide Image Placeholder 1"/>
          <p:cNvSpPr>
            <a:spLocks noChangeAspect="1" noGrp="1" noRot="1"/>
          </p:cNvSpPr>
          <p:nvPr>
            <p:ph type="sldImg"/>
          </p:nvPr>
        </p:nvSpPr>
        <p:spPr bwMode="auto"/>
      </p:sp>
      <p:sp>
        <p:nvSpPr>
          <p:cNvPr id="1327219316" name="Notes Placeholder 2"/>
          <p:cNvSpPr>
            <a:spLocks noGrp="1"/>
          </p:cNvSpPr>
          <p:nvPr>
            <p:ph type="body" idx="1"/>
          </p:nvPr>
        </p:nvSpPr>
        <p:spPr bwMode="auto"/>
        <p:txBody>
          <a:bodyPr/>
          <a:lstStyle/>
          <a:p>
            <a:pPr>
              <a:defRPr/>
            </a:pPr>
            <a:r>
              <a:rPr lang="en-US" sz="1200" b="0" i="0" u="none" strike="noStrike" cap="none" spc="0">
                <a:solidFill>
                  <a:schemeClr val="tx1"/>
                </a:solidFill>
                <a:latin typeface="+mn-lt"/>
                <a:ea typeface="+mn-ea"/>
                <a:cs typeface="+mn-cs"/>
              </a:rPr>
              <a:t>Queries and projections work together to fetch exactly what the application needs.</a:t>
            </a:r>
            <a:br>
              <a:rPr lang="en-US" sz="1200" b="0" i="0" u="none" strike="noStrike" cap="none" spc="0">
                <a:solidFill>
                  <a:schemeClr val="tx1"/>
                </a:solidFill>
                <a:latin typeface="+mn-lt"/>
                <a:ea typeface="+mn-ea"/>
                <a:cs typeface="+mn-cs"/>
              </a:rPr>
            </a:br>
            <a:r>
              <a:rPr lang="en-US" sz="1200" b="0" i="0" u="none" strike="noStrike" cap="none" spc="0">
                <a:solidFill>
                  <a:schemeClr val="tx1"/>
                </a:solidFill>
                <a:latin typeface="+mn-lt"/>
                <a:ea typeface="+mn-ea"/>
                <a:cs typeface="+mn-cs"/>
              </a:rPr>
              <a:t>Without a projection, the entire document is returned. For a student document with 50 fields including a profile photo, that could be hundreds of kilobytes per document.</a:t>
            </a:r>
            <a:br>
              <a:rPr lang="en-US" sz="1200" b="0" i="0" u="none" strike="noStrike" cap="none" spc="0">
                <a:solidFill>
                  <a:schemeClr val="tx1"/>
                </a:solidFill>
                <a:latin typeface="+mn-lt"/>
                <a:ea typeface="+mn-ea"/>
                <a:cs typeface="+mn-cs"/>
              </a:rPr>
            </a:br>
            <a:r>
              <a:rPr lang="en-US" sz="1200" b="0" i="0" u="none" strike="noStrike" cap="none" spc="0">
                <a:solidFill>
                  <a:schemeClr val="tx1"/>
                </a:solidFill>
                <a:latin typeface="+mn-lt"/>
                <a:ea typeface="+mn-ea"/>
                <a:cs typeface="+mn-cs"/>
              </a:rPr>
              <a:t>With projection, you tell the database to send back only the fields your UI actually needs, stripping everything else before the data leaves the database server.</a:t>
            </a:r>
            <a:br>
              <a:rPr lang="en-US" sz="1200" b="0" i="0" u="none" strike="noStrike" cap="none" spc="0">
                <a:solidFill>
                  <a:schemeClr val="tx1"/>
                </a:solidFill>
                <a:latin typeface="+mn-lt"/>
                <a:ea typeface="+mn-ea"/>
                <a:cs typeface="+mn-cs"/>
              </a:rPr>
            </a:br>
            <a:r>
              <a:rPr lang="en-US" sz="1200" b="0" i="0" u="none" strike="noStrike" cap="none" spc="0">
                <a:solidFill>
                  <a:schemeClr val="tx1"/>
                </a:solidFill>
                <a:latin typeface="+mn-lt"/>
                <a:ea typeface="+mn-ea"/>
                <a:cs typeface="+mn-cs"/>
              </a:rPr>
              <a:t>In real projects, projections are especially important for mobile applications where every unnecessary byte transferred costs battery life and data plan consumption for the user.</a:t>
            </a:r>
            <a:br>
              <a:rPr lang="en-US" sz="1200" b="0" i="0" u="none" strike="noStrike" cap="none" spc="0">
                <a:solidFill>
                  <a:schemeClr val="tx1"/>
                </a:solidFill>
                <a:latin typeface="+mn-lt"/>
                <a:ea typeface="+mn-ea"/>
                <a:cs typeface="+mn-cs"/>
              </a:rPr>
            </a:br>
            <a:r>
              <a:rPr lang="en-US" sz="1200" b="0" i="0" u="none" strike="noStrike" cap="none" spc="0">
                <a:solidFill>
                  <a:schemeClr val="tx1"/>
                </a:solidFill>
                <a:latin typeface="+mn-lt"/>
                <a:ea typeface="+mn-ea"/>
                <a:cs typeface="+mn-cs"/>
              </a:rPr>
              <a:t>Question</a:t>
            </a:r>
            <a:br>
              <a:rPr lang="en-US" sz="1200" b="0" i="0" u="none" strike="noStrike" cap="none" spc="0">
                <a:solidFill>
                  <a:schemeClr val="tx1"/>
                </a:solidFill>
                <a:latin typeface="+mn-lt"/>
                <a:ea typeface="+mn-ea"/>
                <a:cs typeface="+mn-cs"/>
              </a:rPr>
            </a:br>
            <a:r>
              <a:rPr lang="en-US" sz="1200" b="0" i="0" u="none" strike="noStrike" cap="none" spc="0">
                <a:solidFill>
                  <a:schemeClr val="tx1"/>
                </a:solidFill>
                <a:latin typeface="+mn-lt"/>
                <a:ea typeface="+mn-ea"/>
                <a:cs typeface="+mn-cs"/>
              </a:rPr>
              <a:t>If a student document is 500KB and we project only the name field (a few bytes), how much does MongoDB actually transmit?</a:t>
            </a:r>
            <a:br>
              <a:rPr lang="en-US" sz="1200" b="0" i="0" u="none" strike="noStrike" cap="none" spc="0">
                <a:solidFill>
                  <a:schemeClr val="tx1"/>
                </a:solidFill>
                <a:latin typeface="+mn-lt"/>
                <a:ea typeface="+mn-ea"/>
                <a:cs typeface="+mn-cs"/>
              </a:rPr>
            </a:br>
            <a:r>
              <a:rPr lang="en-US" sz="1200" b="0" i="0" u="none" strike="noStrike" cap="none" spc="0">
                <a:solidFill>
                  <a:schemeClr val="tx1"/>
                </a:solidFill>
                <a:latin typeface="+mn-lt"/>
                <a:ea typeface="+mn-ea"/>
                <a:cs typeface="+mn-cs"/>
              </a:rPr>
              <a:t>Answer</a:t>
            </a:r>
            <a:br>
              <a:rPr lang="en-US" sz="1200" b="0" i="0" u="none" strike="noStrike" cap="none" spc="0">
                <a:solidFill>
                  <a:schemeClr val="tx1"/>
                </a:solidFill>
                <a:latin typeface="+mn-lt"/>
                <a:ea typeface="+mn-ea"/>
                <a:cs typeface="+mn-cs"/>
              </a:rPr>
            </a:br>
            <a:r>
              <a:rPr lang="en-US" sz="1200" b="0" i="0" u="none" strike="noStrike" cap="none" spc="0">
                <a:solidFill>
                  <a:schemeClr val="tx1"/>
                </a:solidFill>
                <a:latin typeface="+mn-lt"/>
                <a:ea typeface="+mn-ea"/>
                <a:cs typeface="+mn-cs"/>
              </a:rPr>
              <a:t>Only the name field value plus minimal JSON overhead — a few hundred bytes. The database strips all other fields on the server before sending the response, saving over 499KB of network bandwidth.</a:t>
            </a:r>
            <a:endParaRPr sz="1200"/>
          </a:p>
          <a:p>
            <a:pPr>
              <a:defRPr/>
            </a:pPr>
            <a:endParaRPr/>
          </a:p>
        </p:txBody>
      </p:sp>
      <p:sp>
        <p:nvSpPr>
          <p:cNvPr id="1055280380" name="Slide Number Placeholder 3"/>
          <p:cNvSpPr>
            <a:spLocks noGrp="1"/>
          </p:cNvSpPr>
          <p:nvPr>
            <p:ph type="sldNum" sz="quarter" idx="10"/>
          </p:nvPr>
        </p:nvSpPr>
        <p:spPr bwMode="auto"/>
        <p:txBody>
          <a:bodyPr/>
          <a:lstStyle/>
          <a:p>
            <a:pPr>
              <a:defRPr/>
            </a:pPr>
            <a:fld id="{F7021451-1387-4CA6-816F-3879F97B5CBC}" type="slidenum">
              <a:rPr lang="en-US"/>
              <a:t>37</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7493299" name="Slide Image Placeholder 1"/>
          <p:cNvSpPr>
            <a:spLocks noChangeAspect="1" noGrp="1" noRot="1"/>
          </p:cNvSpPr>
          <p:nvPr>
            <p:ph type="sldImg"/>
          </p:nvPr>
        </p:nvSpPr>
        <p:spPr bwMode="auto"/>
      </p:sp>
      <p:sp>
        <p:nvSpPr>
          <p:cNvPr id="805370402"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fter understanding basic queries and projections, it is important to see how document databases allow developers to express </a:t>
            </a:r>
            <a:r>
              <a:rPr sz="1200" b="1" i="0" u="none">
                <a:solidFill>
                  <a:srgbClr val="000000"/>
                </a:solidFill>
                <a:latin typeface="Times New Roman"/>
                <a:ea typeface="Times New Roman"/>
                <a:cs typeface="Times New Roman"/>
              </a:rPr>
              <a:t>more complex filtering conditions</a:t>
            </a:r>
            <a:r>
              <a:rPr sz="1200" b="0" i="0" u="none">
                <a:solidFill>
                  <a:srgbClr val="000000"/>
                </a:solidFill>
                <a:latin typeface="Times New Roman"/>
                <a:ea typeface="Times New Roman"/>
                <a:cs typeface="Times New Roman"/>
              </a:rPr>
              <a:t> using </a:t>
            </a:r>
            <a:r>
              <a:rPr sz="1200" b="1" i="0" u="none">
                <a:solidFill>
                  <a:srgbClr val="000000"/>
                </a:solidFill>
                <a:latin typeface="Times New Roman"/>
                <a:ea typeface="Times New Roman"/>
                <a:cs typeface="Times New Roman"/>
              </a:rPr>
              <a:t>query operators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Document databases provide a rich set of operators that allow queries to express conditions similar to those found in SQL </a:t>
            </a:r>
            <a:r>
              <a:rPr sz="1000" b="0" i="0" u="none">
                <a:solidFill>
                  <a:srgbClr val="000000"/>
                </a:solidFill>
                <a:latin typeface="Courier New"/>
                <a:ea typeface="Courier New"/>
                <a:cs typeface="Courier New"/>
              </a:rPr>
              <a:t>WHERE</a:t>
            </a:r>
            <a:r>
              <a:rPr sz="1200" b="0" i="0" u="none">
                <a:solidFill>
                  <a:srgbClr val="000000"/>
                </a:solidFill>
                <a:latin typeface="Times New Roman"/>
                <a:ea typeface="Times New Roman"/>
                <a:cs typeface="Times New Roman"/>
              </a:rPr>
              <a:t> clauses. In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these operators are easily recognizable because they begin with the </a:t>
            </a:r>
            <a:r>
              <a:rPr sz="1000" b="1" i="0" u="none">
                <a:solidFill>
                  <a:srgbClr val="000000"/>
                </a:solidFill>
                <a:latin typeface="Courier New"/>
                <a:ea typeface="Courier New"/>
                <a:cs typeface="Courier New"/>
              </a:rPr>
              <a:t>$</a:t>
            </a:r>
            <a:r>
              <a:rPr sz="1200" b="1" i="0" u="none">
                <a:solidFill>
                  <a:srgbClr val="000000"/>
                </a:solidFill>
                <a:latin typeface="Times New Roman"/>
                <a:ea typeface="Times New Roman"/>
                <a:cs typeface="Times New Roman"/>
              </a:rPr>
              <a:t> symbol</a:t>
            </a:r>
            <a:r>
              <a:rPr sz="1200" b="0" i="0" u="none">
                <a:solidFill>
                  <a:srgbClr val="000000"/>
                </a:solidFill>
                <a:latin typeface="Times New Roman"/>
                <a:ea typeface="Times New Roman"/>
                <a:cs typeface="Times New Roman"/>
              </a:rPr>
              <a:t>, which indicates that the element represents an operator rather than a field name.</a:t>
            </a:r>
            <a:endParaRPr/>
          </a:p>
          <a:p>
            <a:pPr>
              <a:defRPr/>
            </a:pPr>
            <a:r>
              <a:rPr sz="1200" b="0" i="0" u="none">
                <a:solidFill>
                  <a:srgbClr val="000000"/>
                </a:solidFill>
                <a:latin typeface="Times New Roman"/>
                <a:ea typeface="Times New Roman"/>
                <a:cs typeface="Times New Roman"/>
              </a:rPr>
              <a:t>These operators allow developers to perform comparisons, combine logical conditions, and filter documents based on complex rules directly within the database query.</a:t>
            </a:r>
            <a:endParaRPr/>
          </a:p>
          <a:p>
            <a:pPr>
              <a:defRPr/>
            </a:pPr>
            <a:r>
              <a:rPr sz="1200" b="0" i="0" u="none">
                <a:solidFill>
                  <a:srgbClr val="000000"/>
                </a:solidFill>
                <a:latin typeface="Times New Roman"/>
                <a:ea typeface="Times New Roman"/>
                <a:cs typeface="Times New Roman"/>
              </a:rPr>
              <a:t>For example, comparison operators allow queries such as:</a:t>
            </a:r>
            <a:endParaRPr/>
          </a:p>
          <a:p>
            <a:pPr>
              <a:defRPr/>
            </a:pPr>
            <a:r>
              <a:rPr sz="1000" b="0" i="0" u="none">
                <a:solidFill>
                  <a:srgbClr val="000000"/>
                </a:solidFill>
                <a:latin typeface="Courier New"/>
                <a:ea typeface="Courier New"/>
                <a:cs typeface="Courier New"/>
              </a:rPr>
              <a:t>$gt</a:t>
            </a:r>
            <a:r>
              <a:rPr sz="1200" b="0" i="0" u="none">
                <a:solidFill>
                  <a:srgbClr val="000000"/>
                </a:solidFill>
                <a:latin typeface="Times New Roman"/>
                <a:ea typeface="Times New Roman"/>
                <a:cs typeface="Times New Roman"/>
              </a:rPr>
              <a:t> (greater than) </a:t>
            </a:r>
            <a:endParaRPr/>
          </a:p>
          <a:p>
            <a:pPr>
              <a:defRPr/>
            </a:pPr>
            <a:r>
              <a:rPr sz="1000" b="0" i="0" u="none">
                <a:solidFill>
                  <a:srgbClr val="000000"/>
                </a:solidFill>
                <a:latin typeface="Courier New"/>
                <a:ea typeface="Courier New"/>
                <a:cs typeface="Courier New"/>
              </a:rPr>
              <a:t>$lt</a:t>
            </a:r>
            <a:r>
              <a:rPr sz="1200" b="0" i="0" u="none">
                <a:solidFill>
                  <a:srgbClr val="000000"/>
                </a:solidFill>
                <a:latin typeface="Times New Roman"/>
                <a:ea typeface="Times New Roman"/>
                <a:cs typeface="Times New Roman"/>
              </a:rPr>
              <a:t> (less than) </a:t>
            </a:r>
            <a:endParaRPr/>
          </a:p>
          <a:p>
            <a:pPr>
              <a:defRPr/>
            </a:pPr>
            <a:r>
              <a:rPr sz="1000" b="0" i="0" u="none">
                <a:solidFill>
                  <a:srgbClr val="000000"/>
                </a:solidFill>
                <a:latin typeface="Courier New"/>
                <a:ea typeface="Courier New"/>
                <a:cs typeface="Courier New"/>
              </a:rPr>
              <a:t>$gte</a:t>
            </a:r>
            <a:r>
              <a:rPr sz="1200" b="0" i="0" u="none">
                <a:solidFill>
                  <a:srgbClr val="000000"/>
                </a:solidFill>
                <a:latin typeface="Times New Roman"/>
                <a:ea typeface="Times New Roman"/>
                <a:cs typeface="Times New Roman"/>
              </a:rPr>
              <a:t> (greater than or equal) </a:t>
            </a:r>
            <a:endParaRPr/>
          </a:p>
          <a:p>
            <a:pPr>
              <a:defRPr/>
            </a:pPr>
            <a:r>
              <a:rPr sz="1000" b="0" i="0" u="none">
                <a:solidFill>
                  <a:srgbClr val="000000"/>
                </a:solidFill>
                <a:latin typeface="Courier New"/>
                <a:ea typeface="Courier New"/>
                <a:cs typeface="Courier New"/>
              </a:rPr>
              <a:t>$lte</a:t>
            </a:r>
            <a:r>
              <a:rPr sz="1200" b="0" i="0" u="none">
                <a:solidFill>
                  <a:srgbClr val="000000"/>
                </a:solidFill>
                <a:latin typeface="Times New Roman"/>
                <a:ea typeface="Times New Roman"/>
                <a:cs typeface="Times New Roman"/>
              </a:rPr>
              <a:t> (less than or equal) </a:t>
            </a:r>
            <a:endParaRPr/>
          </a:p>
          <a:p>
            <a:pPr>
              <a:defRPr/>
            </a:pPr>
            <a:r>
              <a:rPr sz="1200" b="0" i="0" u="none">
                <a:solidFill>
                  <a:srgbClr val="000000"/>
                </a:solidFill>
                <a:latin typeface="Times New Roman"/>
                <a:ea typeface="Times New Roman"/>
                <a:cs typeface="Times New Roman"/>
              </a:rPr>
              <a:t>Logical operators make it possible to combine multiple conditions:</a:t>
            </a:r>
            <a:endParaRPr/>
          </a:p>
          <a:p>
            <a:pPr>
              <a:defRPr/>
            </a:pPr>
            <a:r>
              <a:rPr sz="1000" b="0" i="0" u="none">
                <a:solidFill>
                  <a:srgbClr val="000000"/>
                </a:solidFill>
                <a:latin typeface="Courier New"/>
                <a:ea typeface="Courier New"/>
                <a:cs typeface="Courier New"/>
              </a:rPr>
              <a:t>$and</a:t>
            </a:r>
            <a:r>
              <a:rPr sz="1200" b="0" i="0" u="none">
                <a:solidFill>
                  <a:srgbClr val="000000"/>
                </a:solidFill>
                <a:latin typeface="Times New Roman"/>
                <a:ea typeface="Times New Roman"/>
                <a:cs typeface="Times New Roman"/>
              </a:rPr>
              <a:t> combines conditions that must all be true </a:t>
            </a:r>
            <a:endParaRPr/>
          </a:p>
          <a:p>
            <a:pPr>
              <a:defRPr/>
            </a:pPr>
            <a:r>
              <a:rPr sz="1000" b="0" i="0" u="none">
                <a:solidFill>
                  <a:srgbClr val="000000"/>
                </a:solidFill>
                <a:latin typeface="Courier New"/>
                <a:ea typeface="Courier New"/>
                <a:cs typeface="Courier New"/>
              </a:rPr>
              <a:t>$or</a:t>
            </a:r>
            <a:r>
              <a:rPr sz="1200" b="0" i="0" u="none">
                <a:solidFill>
                  <a:srgbClr val="000000"/>
                </a:solidFill>
                <a:latin typeface="Times New Roman"/>
                <a:ea typeface="Times New Roman"/>
                <a:cs typeface="Times New Roman"/>
              </a:rPr>
              <a:t> allows alternative conditions </a:t>
            </a:r>
            <a:endParaRPr/>
          </a:p>
          <a:p>
            <a:pPr>
              <a:defRPr/>
            </a:pPr>
            <a:r>
              <a:rPr sz="1000" b="0" i="0" u="none">
                <a:solidFill>
                  <a:srgbClr val="000000"/>
                </a:solidFill>
                <a:latin typeface="Courier New"/>
                <a:ea typeface="Courier New"/>
                <a:cs typeface="Courier New"/>
              </a:rPr>
              <a:t>$not</a:t>
            </a:r>
            <a:r>
              <a:rPr sz="1200" b="0" i="0" u="none">
                <a:solidFill>
                  <a:srgbClr val="000000"/>
                </a:solidFill>
                <a:latin typeface="Times New Roman"/>
                <a:ea typeface="Times New Roman"/>
                <a:cs typeface="Times New Roman"/>
              </a:rPr>
              <a:t> negates a condition </a:t>
            </a:r>
            <a:endParaRPr/>
          </a:p>
          <a:p>
            <a:pPr>
              <a:defRPr/>
            </a:pPr>
            <a:r>
              <a:rPr sz="1200" b="0" i="0" u="none">
                <a:solidFill>
                  <a:srgbClr val="000000"/>
                </a:solidFill>
                <a:latin typeface="Times New Roman"/>
                <a:ea typeface="Times New Roman"/>
                <a:cs typeface="Times New Roman"/>
              </a:rPr>
              <a:t>Another frequently used operator is </a:t>
            </a:r>
            <a:r>
              <a:rPr sz="1000" b="1" i="0" u="none">
                <a:solidFill>
                  <a:srgbClr val="000000"/>
                </a:solidFill>
                <a:latin typeface="Courier New"/>
                <a:ea typeface="Courier New"/>
                <a:cs typeface="Courier New"/>
              </a:rPr>
              <a:t>$in</a:t>
            </a:r>
            <a:r>
              <a:rPr sz="1200" b="0" i="0" u="none">
                <a:solidFill>
                  <a:srgbClr val="000000"/>
                </a:solidFill>
                <a:latin typeface="Times New Roman"/>
                <a:ea typeface="Times New Roman"/>
                <a:cs typeface="Times New Roman"/>
              </a:rPr>
              <a:t>, which checks whether a field matches any value in a list. This operator is conceptually similar to the SQL expression:</a:t>
            </a:r>
            <a:endParaRPr/>
          </a:p>
          <a:p>
            <a:pPr>
              <a:defRPr/>
            </a:pPr>
            <a:r>
              <a:rPr sz="1000" b="0" i="0" u="none">
                <a:solidFill>
                  <a:srgbClr val="000000"/>
                </a:solidFill>
                <a:latin typeface="Courier New"/>
                <a:ea typeface="Courier New"/>
                <a:cs typeface="Courier New"/>
              </a:rPr>
              <a:t>WHERE city IN ('Volos', 'Athens')</a:t>
            </a:r>
            <a:endParaRPr/>
          </a:p>
          <a:p>
            <a:pPr>
              <a:defRPr/>
            </a:pPr>
            <a:r>
              <a:rPr sz="1200" b="0" i="0" u="none">
                <a:solidFill>
                  <a:srgbClr val="000000"/>
                </a:solidFill>
                <a:latin typeface="Times New Roman"/>
                <a:ea typeface="Times New Roman"/>
                <a:cs typeface="Times New Roman"/>
              </a:rPr>
              <a:t>In practice, complex business rules can often be expressed entirely within the query itself rather than filtering results in application code. This approach is more efficient because the database engine performs the filtering directly while retrieving the data.</a:t>
            </a:r>
            <a:endParaRPr/>
          </a:p>
          <a:p>
            <a:pPr>
              <a:defRPr/>
            </a:pPr>
            <a:r>
              <a:rPr sz="1200" b="0" i="0" u="none">
                <a:solidFill>
                  <a:srgbClr val="000000"/>
                </a:solidFill>
                <a:latin typeface="Times New Roman"/>
                <a:ea typeface="Times New Roman"/>
                <a:cs typeface="Times New Roman"/>
              </a:rPr>
              <a:t>For example, suppose a university system needs to find </a:t>
            </a:r>
            <a:r>
              <a:rPr sz="1200" b="1" i="0" u="none">
                <a:solidFill>
                  <a:srgbClr val="000000"/>
                </a:solidFill>
                <a:latin typeface="Times New Roman"/>
                <a:ea typeface="Times New Roman"/>
                <a:cs typeface="Times New Roman"/>
              </a:rPr>
              <a:t>students older than 20 who live in either Volos or Athens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condition can be written using MongoDB query operators as follows:</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$and: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age: { $gt: </a:t>
            </a:r>
            <a:r>
              <a:rPr sz="1000" b="0" i="0" u="none">
                <a:solidFill>
                  <a:srgbClr val="000000"/>
                </a:solidFill>
                <a:latin typeface="Courier New"/>
                <a:ea typeface="Courier New"/>
                <a:cs typeface="Courier New"/>
              </a:rPr>
              <a:t>20</a:t>
            </a:r>
            <a:r>
              <a:rPr sz="1000" b="0" i="0" u="none">
                <a:solidFill>
                  <a:srgbClr val="000000"/>
                </a:solidFill>
                <a:latin typeface="Courier New"/>
                <a:ea typeface="Courier New"/>
                <a:cs typeface="Courier New"/>
              </a:rPr>
              <a:t> }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city: { $in: [</a:t>
            </a:r>
            <a:r>
              <a:rPr sz="1000" b="0" i="0" u="none">
                <a:solidFill>
                  <a:srgbClr val="000000"/>
                </a:solidFill>
                <a:latin typeface="Courier New"/>
                <a:ea typeface="Courier New"/>
                <a:cs typeface="Courier New"/>
              </a:rPr>
              <a:t>"Volos"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"Athens"</a:t>
            </a:r>
            <a:r>
              <a:rPr sz="1000" b="0" i="0" u="none">
                <a:solidFill>
                  <a:srgbClr val="000000"/>
                </a:solidFill>
                <a:latin typeface="Courier New"/>
                <a:ea typeface="Courier New"/>
                <a:cs typeface="Courier New"/>
              </a:rPr>
              <a:t>] }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However, MongoDB implicitly combines conditions using </a:t>
            </a:r>
            <a:r>
              <a:rPr sz="1200" b="1" i="0" u="none">
                <a:solidFill>
                  <a:srgbClr val="000000"/>
                </a:solidFill>
                <a:latin typeface="Times New Roman"/>
                <a:ea typeface="Times New Roman"/>
                <a:cs typeface="Times New Roman"/>
              </a:rPr>
              <a:t>AND</a:t>
            </a:r>
            <a:r>
              <a:rPr sz="1200" b="0" i="0" u="none">
                <a:solidFill>
                  <a:srgbClr val="000000"/>
                </a:solidFill>
                <a:latin typeface="Times New Roman"/>
                <a:ea typeface="Times New Roman"/>
                <a:cs typeface="Times New Roman"/>
              </a:rPr>
              <a:t> when multiple fields appear in the same object. Therefore, the same query can be written more simply as:</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age: { $gt: </a:t>
            </a:r>
            <a:r>
              <a:rPr sz="1000" b="0" i="0" u="none">
                <a:solidFill>
                  <a:srgbClr val="000000"/>
                </a:solidFill>
                <a:latin typeface="Courier New"/>
                <a:ea typeface="Courier New"/>
                <a:cs typeface="Courier New"/>
              </a:rPr>
              <a:t>20</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city: { $in: [</a:t>
            </a:r>
            <a:r>
              <a:rPr sz="1000" b="0" i="0" u="none">
                <a:solidFill>
                  <a:srgbClr val="000000"/>
                </a:solidFill>
                <a:latin typeface="Courier New"/>
                <a:ea typeface="Courier New"/>
                <a:cs typeface="Courier New"/>
              </a:rPr>
              <a:t>"Volos"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"Athens"</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Both queries return students who satisfy the same conditions.</a:t>
            </a:r>
            <a:endParaRPr/>
          </a:p>
          <a:p>
            <a:pPr>
              <a:defRPr/>
            </a:pPr>
            <a:r>
              <a:rPr sz="1200" b="0" i="0" u="none">
                <a:solidFill>
                  <a:srgbClr val="000000"/>
                </a:solidFill>
                <a:latin typeface="Times New Roman"/>
                <a:ea typeface="Times New Roman"/>
                <a:cs typeface="Times New Roman"/>
              </a:rPr>
              <a:t>In real-world applications, combining logical operators such as </a:t>
            </a:r>
            <a:r>
              <a:rPr sz="1000" b="0" i="0" u="none">
                <a:solidFill>
                  <a:srgbClr val="000000"/>
                </a:solidFill>
                <a:latin typeface="Courier New"/>
                <a:ea typeface="Courier New"/>
                <a:cs typeface="Courier New"/>
              </a:rPr>
              <a:t>$and</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$or</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$in</a:t>
            </a:r>
            <a:r>
              <a:rPr sz="1200" b="0" i="0" u="none">
                <a:solidFill>
                  <a:srgbClr val="000000"/>
                </a:solidFill>
                <a:latin typeface="Times New Roman"/>
                <a:ea typeface="Times New Roman"/>
                <a:cs typeface="Times New Roman"/>
              </a:rPr>
              <a:t> allows developers to express complex filtering rules directly within the database query, reducing the need for additional processing in the application layer.</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Query operators allow developers to express complex filtering logic directly within database queries, enabling efficient data retrieval without requiring post-processing in application code.</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How would you write a query to find students who are older than 20 and live in either Volos or Athens?</a:t>
            </a:r>
            <a:endParaRPr/>
          </a:p>
          <a:p>
            <a:pPr>
              <a:defRPr/>
            </a:pPr>
            <a:r>
              <a:rPr sz="1200" b="1" i="0" u="none">
                <a:solidFill>
                  <a:srgbClr val="000000"/>
                </a:solidFill>
                <a:latin typeface="Times New Roman"/>
                <a:ea typeface="Times New Roman"/>
                <a:cs typeface="Times New Roman"/>
              </a:rPr>
              <a:t>Answer</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age: { $gt: </a:t>
            </a:r>
            <a:r>
              <a:rPr sz="1000" b="0" i="0" u="none">
                <a:solidFill>
                  <a:srgbClr val="000000"/>
                </a:solidFill>
                <a:latin typeface="Courier New"/>
                <a:ea typeface="Courier New"/>
                <a:cs typeface="Courier New"/>
              </a:rPr>
              <a:t>20</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city: { $in: [</a:t>
            </a:r>
            <a:r>
              <a:rPr sz="1000" b="0" i="0" u="none">
                <a:solidFill>
                  <a:srgbClr val="000000"/>
                </a:solidFill>
                <a:latin typeface="Courier New"/>
                <a:ea typeface="Courier New"/>
                <a:cs typeface="Courier New"/>
              </a:rPr>
              <a:t>"Volos"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"Athens"</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This query filters students whose age is greater than 20 and whose city is either Volos or Athens.</a:t>
            </a:r>
            <a:endParaRPr/>
          </a:p>
        </p:txBody>
      </p:sp>
      <p:sp>
        <p:nvSpPr>
          <p:cNvPr id="2001545576" name="Slide Number Placeholder 3"/>
          <p:cNvSpPr>
            <a:spLocks noGrp="1"/>
          </p:cNvSpPr>
          <p:nvPr>
            <p:ph type="sldNum" sz="quarter" idx="10"/>
          </p:nvPr>
        </p:nvSpPr>
        <p:spPr bwMode="auto"/>
        <p:txBody>
          <a:bodyPr/>
          <a:lstStyle/>
          <a:p>
            <a:pPr>
              <a:defRPr/>
            </a:pPr>
            <a:fld id="{F7021451-1387-4CA6-816F-3879F97B5CBC}" type="slidenum">
              <a:rPr lang="en-US"/>
              <a:t>38</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1209834" name="Slide Image Placeholder 1"/>
          <p:cNvSpPr>
            <a:spLocks noChangeAspect="1" noGrp="1" noRot="1"/>
          </p:cNvSpPr>
          <p:nvPr>
            <p:ph type="sldImg"/>
          </p:nvPr>
        </p:nvSpPr>
        <p:spPr bwMode="auto"/>
      </p:sp>
      <p:sp>
        <p:nvSpPr>
          <p:cNvPr id="1659224217"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understanding how indexes enable fast data retrieval, the next concept to examine is </a:t>
            </a:r>
            <a:r>
              <a:rPr sz="1200" b="1" i="0" u="none">
                <a:solidFill>
                  <a:srgbClr val="000000"/>
                </a:solidFill>
                <a:latin typeface="Times New Roman"/>
                <a:ea typeface="Times New Roman"/>
                <a:cs typeface="Times New Roman"/>
              </a:rPr>
              <a:t>queries</a:t>
            </a:r>
            <a:r>
              <a:rPr sz="1200" b="0" i="0" u="none">
                <a:solidFill>
                  <a:srgbClr val="000000"/>
                </a:solidFill>
                <a:latin typeface="Times New Roman"/>
                <a:ea typeface="Times New Roman"/>
                <a:cs typeface="Times New Roman"/>
              </a:rPr>
              <a:t>, which are the mechanism through which applications request data from a database.</a:t>
            </a:r>
            <a:endParaRPr/>
          </a:p>
          <a:p>
            <a:pPr>
              <a:defRPr/>
            </a:pPr>
            <a:r>
              <a:rPr sz="1200" b="0" i="0" u="none">
                <a:solidFill>
                  <a:srgbClr val="000000"/>
                </a:solidFill>
                <a:latin typeface="Times New Roman"/>
                <a:ea typeface="Times New Roman"/>
                <a:cs typeface="Times New Roman"/>
              </a:rPr>
              <a:t>A </a:t>
            </a:r>
            <a:r>
              <a:rPr sz="1200" b="1" i="0" u="none">
                <a:solidFill>
                  <a:srgbClr val="000000"/>
                </a:solidFill>
                <a:latin typeface="Times New Roman"/>
                <a:ea typeface="Times New Roman"/>
                <a:cs typeface="Times New Roman"/>
              </a:rPr>
              <a:t>query</a:t>
            </a:r>
            <a:r>
              <a:rPr sz="1200" b="0" i="0" u="none">
                <a:solidFill>
                  <a:srgbClr val="000000"/>
                </a:solidFill>
                <a:latin typeface="Times New Roman"/>
                <a:ea typeface="Times New Roman"/>
                <a:cs typeface="Times New Roman"/>
              </a:rPr>
              <a:t> is a structured request sent to the database asking for documents that satisfy specific conditions. In document databases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queries are typically expressed using a </a:t>
            </a:r>
            <a:r>
              <a:rPr sz="1200" b="1" i="0" u="none">
                <a:solidFill>
                  <a:srgbClr val="000000"/>
                </a:solidFill>
                <a:latin typeface="Times New Roman"/>
                <a:ea typeface="Times New Roman"/>
                <a:cs typeface="Times New Roman"/>
              </a:rPr>
              <a:t>JSON-like syntax</a:t>
            </a:r>
            <a:r>
              <a:rPr sz="1200" b="0" i="0" u="none">
                <a:solidFill>
                  <a:srgbClr val="000000"/>
                </a:solidFill>
                <a:latin typeface="Times New Roman"/>
                <a:ea typeface="Times New Roman"/>
                <a:cs typeface="Times New Roman"/>
              </a:rPr>
              <a:t> that describes the criteria documents must match.</a:t>
            </a:r>
            <a:endParaRPr/>
          </a:p>
          <a:p>
            <a:pPr>
              <a:defRPr/>
            </a:pPr>
            <a:r>
              <a:rPr sz="1200" b="0" i="0" u="none">
                <a:solidFill>
                  <a:srgbClr val="000000"/>
                </a:solidFill>
                <a:latin typeface="Times New Roman"/>
                <a:ea typeface="Times New Roman"/>
                <a:cs typeface="Times New Roman"/>
              </a:rPr>
              <a:t>In practice, issuing a query is equivalent to </a:t>
            </a:r>
            <a:r>
              <a:rPr sz="1200" b="1" i="0" u="none">
                <a:solidFill>
                  <a:srgbClr val="000000"/>
                </a:solidFill>
                <a:latin typeface="Times New Roman"/>
                <a:ea typeface="Times New Roman"/>
                <a:cs typeface="Times New Roman"/>
              </a:rPr>
              <a:t>asking the database a question in its own language</a:t>
            </a:r>
            <a:r>
              <a:rPr sz="1200" b="0" i="0" u="none">
                <a:solidFill>
                  <a:srgbClr val="000000"/>
                </a:solidFill>
                <a:latin typeface="Times New Roman"/>
                <a:ea typeface="Times New Roman"/>
                <a:cs typeface="Times New Roman"/>
              </a:rPr>
              <a:t>. The developer provides a JSON object that defines the filtering conditions, and the database returns all documents that match those conditions. The results are usually returned as a set of JSON documents that can be directly consumed by the application.</a:t>
            </a:r>
            <a:endParaRPr/>
          </a:p>
          <a:p>
            <a:pPr>
              <a:defRPr/>
            </a:pPr>
            <a:r>
              <a:rPr sz="1200" b="0" i="0" u="none">
                <a:solidFill>
                  <a:srgbClr val="000000"/>
                </a:solidFill>
                <a:latin typeface="Times New Roman"/>
                <a:ea typeface="Times New Roman"/>
                <a:cs typeface="Times New Roman"/>
              </a:rPr>
              <a:t>For example, a query searching for students in a particular department might look like this:</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 department: </a:t>
            </a:r>
            <a:r>
              <a:rPr sz="1000" b="0" i="0" u="none">
                <a:solidFill>
                  <a:srgbClr val="000000"/>
                </a:solidFill>
                <a:latin typeface="Courier New"/>
                <a:ea typeface="Courier New"/>
                <a:cs typeface="Courier New"/>
              </a:rPr>
              <a:t>"Electrical and Computer Engineering"</a:t>
            </a:r>
            <a:r>
              <a:rPr sz="1000" b="0" i="0" u="none">
                <a:solidFill>
                  <a:srgbClr val="000000"/>
                </a:solidFill>
                <a:latin typeface="Courier New"/>
                <a:ea typeface="Courier New"/>
                <a:cs typeface="Courier New"/>
              </a:rPr>
              <a:t> })</a:t>
            </a:r>
            <a:endParaRPr/>
          </a:p>
          <a:p>
            <a:pPr>
              <a:defRPr/>
            </a:pPr>
            <a:r>
              <a:rPr sz="1200" b="0" i="0" u="none">
                <a:solidFill>
                  <a:srgbClr val="000000"/>
                </a:solidFill>
                <a:latin typeface="Times New Roman"/>
                <a:ea typeface="Times New Roman"/>
                <a:cs typeface="Times New Roman"/>
              </a:rPr>
              <a:t>When a query is submitted, the database engine analyzes it and determines the most efficient way to retrieve the requested documents. This decision is made by an internal component known as the </a:t>
            </a:r>
            <a:r>
              <a:rPr sz="1200" b="1" i="0" u="none">
                <a:solidFill>
                  <a:srgbClr val="000000"/>
                </a:solidFill>
                <a:latin typeface="Times New Roman"/>
                <a:ea typeface="Times New Roman"/>
                <a:cs typeface="Times New Roman"/>
              </a:rPr>
              <a:t>query planner</a:t>
            </a:r>
            <a:r>
              <a:rPr sz="1200" b="0" i="0" u="none">
                <a:solidFill>
                  <a:srgbClr val="000000"/>
                </a:solidFill>
                <a:latin typeface="Times New Roman"/>
                <a:ea typeface="Times New Roman"/>
                <a:cs typeface="Times New Roman"/>
              </a:rPr>
              <a:t>. The query planner evaluates the available indexes, estimates the cost of different execution strategies, and chooses the one expected to perform best.</a:t>
            </a:r>
            <a:endParaRPr/>
          </a:p>
          <a:p>
            <a:pPr>
              <a:defRPr/>
            </a:pPr>
            <a:r>
              <a:rPr sz="1200" b="0" i="0" u="none">
                <a:solidFill>
                  <a:srgbClr val="000000"/>
                </a:solidFill>
                <a:latin typeface="Times New Roman"/>
                <a:ea typeface="Times New Roman"/>
                <a:cs typeface="Times New Roman"/>
              </a:rPr>
              <a:t>If suitable indexes exist, the query planner automatically uses them to accelerate the search. If no relevant index is available—or if using an index would not significantly improve performance—the database may perform a </a:t>
            </a:r>
            <a:r>
              <a:rPr sz="1200" b="1" i="0" u="none">
                <a:solidFill>
                  <a:srgbClr val="000000"/>
                </a:solidFill>
                <a:latin typeface="Times New Roman"/>
                <a:ea typeface="Times New Roman"/>
                <a:cs typeface="Times New Roman"/>
              </a:rPr>
              <a:t>collection scan</a:t>
            </a:r>
            <a:r>
              <a:rPr sz="1200" b="0" i="0" u="none">
                <a:solidFill>
                  <a:srgbClr val="000000"/>
                </a:solidFill>
                <a:latin typeface="Times New Roman"/>
                <a:ea typeface="Times New Roman"/>
                <a:cs typeface="Times New Roman"/>
              </a:rPr>
              <a:t> instead.</a:t>
            </a:r>
            <a:endParaRPr/>
          </a:p>
          <a:p>
            <a:pPr>
              <a:defRPr/>
            </a:pPr>
            <a:r>
              <a:rPr sz="1200" b="0" i="0" u="none">
                <a:solidFill>
                  <a:srgbClr val="000000"/>
                </a:solidFill>
                <a:latin typeface="Times New Roman"/>
                <a:ea typeface="Times New Roman"/>
                <a:cs typeface="Times New Roman"/>
              </a:rPr>
              <a:t>In real-world systems, developers often need to understand how their queries are executed. Document databases therefore provide diagnostic tools that reveal the execution strategy chosen by the query planner. In MongoDB, developers commonly use the </a:t>
            </a:r>
            <a:r>
              <a:rPr sz="1000" b="1" i="0" u="none">
                <a:solidFill>
                  <a:srgbClr val="000000"/>
                </a:solidFill>
                <a:latin typeface="Courier New"/>
                <a:ea typeface="Courier New"/>
                <a:cs typeface="Courier New"/>
              </a:rPr>
              <a:t>explain()</a:t>
            </a:r>
            <a:r>
              <a:rPr sz="1200" b="0" i="0" u="none">
                <a:solidFill>
                  <a:srgbClr val="000000"/>
                </a:solidFill>
                <a:latin typeface="Times New Roman"/>
                <a:ea typeface="Times New Roman"/>
                <a:cs typeface="Times New Roman"/>
              </a:rPr>
              <a:t> method to inspect the execution plan of a query and verify whether the database is using the expected indexes efficiently.</a:t>
            </a:r>
            <a:endParaRPr/>
          </a:p>
          <a:p>
            <a:pPr>
              <a:defRPr/>
            </a:pPr>
            <a:r>
              <a:rPr sz="1200" b="0" i="0" u="none">
                <a:solidFill>
                  <a:srgbClr val="000000"/>
                </a:solidFill>
                <a:latin typeface="Times New Roman"/>
                <a:ea typeface="Times New Roman"/>
                <a:cs typeface="Times New Roman"/>
              </a:rPr>
              <a:t>For example:</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 department: </a:t>
            </a:r>
            <a:r>
              <a:rPr sz="1000" b="0" i="0" u="none">
                <a:solidFill>
                  <a:srgbClr val="000000"/>
                </a:solidFill>
                <a:latin typeface="Courier New"/>
                <a:ea typeface="Courier New"/>
                <a:cs typeface="Courier New"/>
              </a:rPr>
              <a:t>"ECE"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explain()</a:t>
            </a:r>
            <a:endParaRPr/>
          </a:p>
          <a:p>
            <a:pPr>
              <a:defRPr/>
            </a:pPr>
            <a:r>
              <a:rPr sz="1200" b="0" i="0" u="none">
                <a:solidFill>
                  <a:srgbClr val="000000"/>
                </a:solidFill>
                <a:latin typeface="Times New Roman"/>
                <a:ea typeface="Times New Roman"/>
                <a:cs typeface="Times New Roman"/>
              </a:rPr>
              <a:t>This command shows whether the query uses an index or performs a full collection scan, along with additional details about the execution strategy.</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 query is a structured request that retrieves documents matching specified conditions. The database’s query planner automatically determines the most efficient execution strategy, typically using indexes when available.</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Can a developer force the database to use a specific index for a query?</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Yes. In systems such as MongoDB, developers can provide a </a:t>
            </a:r>
            <a:r>
              <a:rPr sz="1200" b="1" i="0" u="none">
                <a:solidFill>
                  <a:srgbClr val="000000"/>
                </a:solidFill>
                <a:latin typeface="Times New Roman"/>
                <a:ea typeface="Times New Roman"/>
                <a:cs typeface="Times New Roman"/>
              </a:rPr>
              <a:t>query hint</a:t>
            </a:r>
            <a:r>
              <a:rPr sz="1200" b="0" i="0" u="none">
                <a:solidFill>
                  <a:srgbClr val="000000"/>
                </a:solidFill>
                <a:latin typeface="Times New Roman"/>
                <a:ea typeface="Times New Roman"/>
                <a:cs typeface="Times New Roman"/>
              </a:rPr>
              <a:t> that instructs the database to use a specific index. However, this should be done cautiously and only after careful analysis. Overriding the query planner can lead to performance problems if the data distribution or query patterns change over time.</a:t>
            </a:r>
            <a:endParaRPr/>
          </a:p>
        </p:txBody>
      </p:sp>
      <p:sp>
        <p:nvSpPr>
          <p:cNvPr id="215774137" name="Slide Number Placeholder 3"/>
          <p:cNvSpPr>
            <a:spLocks noGrp="1"/>
          </p:cNvSpPr>
          <p:nvPr>
            <p:ph type="sldNum" sz="quarter" idx="10"/>
          </p:nvPr>
        </p:nvSpPr>
        <p:spPr bwMode="auto"/>
        <p:txBody>
          <a:bodyPr/>
          <a:lstStyle/>
          <a:p>
            <a:pPr>
              <a:defRPr/>
            </a:pPr>
            <a:fld id="{785AAC48-3695-9820-1C2B-0E45908A0DEC}"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7839435" name="Slide Image Placeholder 1"/>
          <p:cNvSpPr>
            <a:spLocks noChangeAspect="1" noGrp="1" noRot="1"/>
          </p:cNvSpPr>
          <p:nvPr>
            <p:ph type="sldImg"/>
          </p:nvPr>
        </p:nvSpPr>
        <p:spPr bwMode="auto"/>
      </p:sp>
      <p:sp>
        <p:nvSpPr>
          <p:cNvPr id="771670747"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filtering documents with queries, applications often need to </a:t>
            </a:r>
            <a:r>
              <a:rPr sz="1200" b="1" i="0" u="none">
                <a:solidFill>
                  <a:srgbClr val="000000"/>
                </a:solidFill>
                <a:latin typeface="Times New Roman"/>
                <a:ea typeface="Times New Roman"/>
                <a:cs typeface="Times New Roman"/>
              </a:rPr>
              <a:t>control the order and number of results returned</a:t>
            </a:r>
            <a:r>
              <a:rPr sz="1200" b="0" i="0" u="none">
                <a:solidFill>
                  <a:srgbClr val="000000"/>
                </a:solidFill>
                <a:latin typeface="Times New Roman"/>
                <a:ea typeface="Times New Roman"/>
                <a:cs typeface="Times New Roman"/>
              </a:rPr>
              <a:t>. Two important operations used for this purpose are </a:t>
            </a:r>
            <a:r>
              <a:rPr sz="1200" b="1" i="0" u="none">
                <a:solidFill>
                  <a:srgbClr val="000000"/>
                </a:solidFill>
                <a:latin typeface="Times New Roman"/>
                <a:ea typeface="Times New Roman"/>
                <a:cs typeface="Times New Roman"/>
              </a:rPr>
              <a:t>sorting</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limiting</a:t>
            </a:r>
            <a:r>
              <a:rPr sz="1200" b="0" i="0" u="none">
                <a:solidFill>
                  <a:srgbClr val="000000"/>
                </a:solidFill>
                <a:latin typeface="Times New Roman"/>
                <a:ea typeface="Times New Roman"/>
                <a:cs typeface="Times New Roman"/>
              </a:rPr>
              <a:t>, which are fundamental for building efficient APIs.</a:t>
            </a:r>
            <a:endParaRPr/>
          </a:p>
          <a:p>
            <a:pPr>
              <a:defRPr/>
            </a:pPr>
            <a:r>
              <a:rPr sz="1200" b="0" i="0" u="none">
                <a:solidFill>
                  <a:srgbClr val="000000"/>
                </a:solidFill>
                <a:latin typeface="Times New Roman"/>
                <a:ea typeface="Times New Roman"/>
                <a:cs typeface="Times New Roman"/>
              </a:rPr>
              <a:t>Sorting determines the order in which documents appear in the result set. In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sorting is performed using the </a:t>
            </a:r>
            <a:r>
              <a:rPr sz="1000" b="0" i="0" u="none">
                <a:solidFill>
                  <a:srgbClr val="000000"/>
                </a:solidFill>
                <a:latin typeface="Courier New"/>
                <a:ea typeface="Courier New"/>
                <a:cs typeface="Courier New"/>
              </a:rPr>
              <a:t>.sort()</a:t>
            </a:r>
            <a:r>
              <a:rPr sz="1200" b="0" i="0" u="none">
                <a:solidFill>
                  <a:srgbClr val="000000"/>
                </a:solidFill>
                <a:latin typeface="Times New Roman"/>
                <a:ea typeface="Times New Roman"/>
                <a:cs typeface="Times New Roman"/>
              </a:rPr>
              <a:t> method. When an appropriate index exists, the database can often return results </a:t>
            </a:r>
            <a:r>
              <a:rPr sz="1200" b="1" i="0" u="none">
                <a:solidFill>
                  <a:srgbClr val="000000"/>
                </a:solidFill>
                <a:latin typeface="Times New Roman"/>
                <a:ea typeface="Times New Roman"/>
                <a:cs typeface="Times New Roman"/>
              </a:rPr>
              <a:t>already sorted</a:t>
            </a:r>
            <a:r>
              <a:rPr sz="1200" b="0" i="0" u="none">
                <a:solidFill>
                  <a:srgbClr val="000000"/>
                </a:solidFill>
                <a:latin typeface="Times New Roman"/>
                <a:ea typeface="Times New Roman"/>
                <a:cs typeface="Times New Roman"/>
              </a:rPr>
              <a:t>, making the operation extremely efficient.</a:t>
            </a:r>
            <a:endParaRPr/>
          </a:p>
          <a:p>
            <a:pPr>
              <a:defRPr/>
            </a:pPr>
            <a:r>
              <a:rPr sz="1200" b="0" i="0" u="none">
                <a:solidFill>
                  <a:srgbClr val="000000"/>
                </a:solidFill>
                <a:latin typeface="Times New Roman"/>
                <a:ea typeface="Times New Roman"/>
                <a:cs typeface="Times New Roman"/>
              </a:rPr>
              <a:t>Examples:</a:t>
            </a:r>
            <a:endParaRPr/>
          </a:p>
          <a:p>
            <a:pPr>
              <a:defRPr/>
            </a:pP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sort</a:t>
            </a:r>
            <a:r>
              <a:rPr sz="1000" b="0" i="0" u="none">
                <a:solidFill>
                  <a:srgbClr val="000000"/>
                </a:solidFill>
                <a:latin typeface="Courier New"/>
                <a:ea typeface="Courier New"/>
                <a:cs typeface="Courier New"/>
              </a:rPr>
              <a:t>({ name: </a:t>
            </a:r>
            <a:r>
              <a:rPr sz="1000" b="0" i="0" u="none">
                <a:solidFill>
                  <a:srgbClr val="000000"/>
                </a:solidFill>
                <a:latin typeface="Courier New"/>
                <a:ea typeface="Courier New"/>
                <a:cs typeface="Courier New"/>
              </a:rPr>
              <a:t>1</a:t>
            </a: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 Sort ascending (A → Z)</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sort({ age: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1</a:t>
            </a: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 Sort descending (oldest first)</a:t>
            </a:r>
            <a:endParaRPr/>
          </a:p>
          <a:p>
            <a:pPr>
              <a:defRPr/>
            </a:pPr>
            <a:r>
              <a:rPr sz="1200" b="0" i="0" u="none">
                <a:solidFill>
                  <a:srgbClr val="000000"/>
                </a:solidFill>
                <a:latin typeface="Times New Roman"/>
                <a:ea typeface="Times New Roman"/>
                <a:cs typeface="Times New Roman"/>
              </a:rPr>
              <a:t>The value </a:t>
            </a:r>
            <a:r>
              <a:rPr sz="1000" b="0" i="0" u="none">
                <a:solidFill>
                  <a:srgbClr val="000000"/>
                </a:solidFill>
                <a:latin typeface="Courier New"/>
                <a:ea typeface="Courier New"/>
                <a:cs typeface="Courier New"/>
              </a:rPr>
              <a:t>1</a:t>
            </a:r>
            <a:r>
              <a:rPr sz="1200" b="0" i="0" u="none">
                <a:solidFill>
                  <a:srgbClr val="000000"/>
                </a:solidFill>
                <a:latin typeface="Times New Roman"/>
                <a:ea typeface="Times New Roman"/>
                <a:cs typeface="Times New Roman"/>
              </a:rPr>
              <a:t> indicates </a:t>
            </a:r>
            <a:r>
              <a:rPr sz="1200" b="1" i="0" u="none">
                <a:solidFill>
                  <a:srgbClr val="000000"/>
                </a:solidFill>
                <a:latin typeface="Times New Roman"/>
                <a:ea typeface="Times New Roman"/>
                <a:cs typeface="Times New Roman"/>
              </a:rPr>
              <a:t>ascending order</a:t>
            </a:r>
            <a:r>
              <a:rPr sz="1200" b="0" i="0" u="none">
                <a:solidFill>
                  <a:srgbClr val="000000"/>
                </a:solidFill>
                <a:latin typeface="Times New Roman"/>
                <a:ea typeface="Times New Roman"/>
                <a:cs typeface="Times New Roman"/>
              </a:rPr>
              <a:t>, while </a:t>
            </a:r>
            <a:r>
              <a:rPr sz="1000" b="0" i="0" u="none">
                <a:solidFill>
                  <a:srgbClr val="000000"/>
                </a:solidFill>
                <a:latin typeface="Courier New"/>
                <a:ea typeface="Courier New"/>
                <a:cs typeface="Courier New"/>
              </a:rPr>
              <a:t>-1</a:t>
            </a:r>
            <a:r>
              <a:rPr sz="1200" b="0" i="0" u="none">
                <a:solidFill>
                  <a:srgbClr val="000000"/>
                </a:solidFill>
                <a:latin typeface="Times New Roman"/>
                <a:ea typeface="Times New Roman"/>
                <a:cs typeface="Times New Roman"/>
              </a:rPr>
              <a:t> specifies </a:t>
            </a:r>
            <a:r>
              <a:rPr sz="1200" b="1" i="0" u="none">
                <a:solidFill>
                  <a:srgbClr val="000000"/>
                </a:solidFill>
                <a:latin typeface="Times New Roman"/>
                <a:ea typeface="Times New Roman"/>
                <a:cs typeface="Times New Roman"/>
              </a:rPr>
              <a:t>descending order</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Another important operation is </a:t>
            </a:r>
            <a:r>
              <a:rPr sz="1200" b="1" i="0" u="none">
                <a:solidFill>
                  <a:srgbClr val="000000"/>
                </a:solidFill>
                <a:latin typeface="Times New Roman"/>
                <a:ea typeface="Times New Roman"/>
                <a:cs typeface="Times New Roman"/>
              </a:rPr>
              <a:t>limiting</a:t>
            </a:r>
            <a:r>
              <a:rPr sz="1200" b="0" i="0" u="none">
                <a:solidFill>
                  <a:srgbClr val="000000"/>
                </a:solidFill>
                <a:latin typeface="Times New Roman"/>
                <a:ea typeface="Times New Roman"/>
                <a:cs typeface="Times New Roman"/>
              </a:rPr>
              <a:t>, which restricts the number of documents returned by a query. This is especially useful for API responses where only a subset of results should be returned.</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limit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10</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 Return only the first 10 documents</a:t>
            </a:r>
            <a:endParaRPr/>
          </a:p>
          <a:p>
            <a:pPr>
              <a:defRPr/>
            </a:pPr>
            <a:r>
              <a:rPr sz="1200" b="0" i="0" u="none">
                <a:solidFill>
                  <a:srgbClr val="000000"/>
                </a:solidFill>
                <a:latin typeface="Times New Roman"/>
                <a:ea typeface="Times New Roman"/>
                <a:cs typeface="Times New Roman"/>
              </a:rPr>
              <a:t>Sorting and limiting are often combined to retrieve a specific set of results. For example:</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sort({ name: </a:t>
            </a:r>
            <a:r>
              <a:rPr sz="1000" b="0" i="0" u="none">
                <a:solidFill>
                  <a:srgbClr val="000000"/>
                </a:solidFill>
                <a:latin typeface="Courier New"/>
                <a:ea typeface="Courier New"/>
                <a:cs typeface="Courier New"/>
              </a:rPr>
              <a:t>1</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limit(</a:t>
            </a:r>
            <a:r>
              <a:rPr sz="1000" b="0" i="0" u="none">
                <a:solidFill>
                  <a:srgbClr val="000000"/>
                </a:solidFill>
                <a:latin typeface="Courier New"/>
                <a:ea typeface="Courier New"/>
                <a:cs typeface="Courier New"/>
              </a:rPr>
              <a:t>20</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This query returns the </a:t>
            </a:r>
            <a:r>
              <a:rPr sz="1200" b="1" i="0" u="none">
                <a:solidFill>
                  <a:srgbClr val="000000"/>
                </a:solidFill>
                <a:latin typeface="Times New Roman"/>
                <a:ea typeface="Times New Roman"/>
                <a:cs typeface="Times New Roman"/>
              </a:rPr>
              <a:t>first 20 students sorted alphabetically by name</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For APIs that display results across multiple pages, developers typically use </a:t>
            </a:r>
            <a:r>
              <a:rPr sz="1200" b="1" i="0" u="none">
                <a:solidFill>
                  <a:srgbClr val="000000"/>
                </a:solidFill>
                <a:latin typeface="Times New Roman"/>
                <a:ea typeface="Times New Roman"/>
                <a:cs typeface="Times New Roman"/>
              </a:rPr>
              <a:t>pagination</a:t>
            </a:r>
            <a:r>
              <a:rPr sz="1200" b="0" i="0" u="none">
                <a:solidFill>
                  <a:srgbClr val="000000"/>
                </a:solidFill>
                <a:latin typeface="Times New Roman"/>
                <a:ea typeface="Times New Roman"/>
                <a:cs typeface="Times New Roman"/>
              </a:rPr>
              <a:t>. In MongoDB, pagination is commonly implemented using the combination of </a:t>
            </a:r>
            <a:r>
              <a:rPr sz="1200" b="1" i="0" u="none">
                <a:solidFill>
                  <a:srgbClr val="000000"/>
                </a:solidFill>
                <a:latin typeface="Times New Roman"/>
                <a:ea typeface="Times New Roman"/>
                <a:cs typeface="Times New Roman"/>
              </a:rPr>
              <a:t>skip</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limit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skip</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20</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limit(</a:t>
            </a:r>
            <a:r>
              <a:rPr sz="1000" b="0" i="0" u="none">
                <a:solidFill>
                  <a:srgbClr val="000000"/>
                </a:solidFill>
                <a:latin typeface="Courier New"/>
                <a:ea typeface="Courier New"/>
                <a:cs typeface="Courier New"/>
              </a:rPr>
              <a:t>10</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This query skips the first 20 documents and returns the next 10, effectively retrieving </a:t>
            </a:r>
            <a:r>
              <a:rPr sz="1200" b="1" i="0" u="none">
                <a:solidFill>
                  <a:srgbClr val="000000"/>
                </a:solidFill>
                <a:latin typeface="Times New Roman"/>
                <a:ea typeface="Times New Roman"/>
                <a:cs typeface="Times New Roman"/>
              </a:rPr>
              <a:t>page 3 when each page contains 10 results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However, skip-based pagination has an important limitation for very large datasets. When a query uses </a:t>
            </a:r>
            <a:r>
              <a:rPr sz="1000" b="0" i="0" u="none">
                <a:solidFill>
                  <a:srgbClr val="000000"/>
                </a:solidFill>
                <a:latin typeface="Courier New"/>
                <a:ea typeface="Courier New"/>
                <a:cs typeface="Courier New"/>
              </a:rPr>
              <a:t>skip</a:t>
            </a:r>
            <a:r>
              <a:rPr sz="1200" b="0" i="0" u="none">
                <a:solidFill>
                  <a:srgbClr val="000000"/>
                </a:solidFill>
                <a:latin typeface="Times New Roman"/>
                <a:ea typeface="Times New Roman"/>
                <a:cs typeface="Times New Roman"/>
              </a:rPr>
              <a:t>, the database must still read the skipped documents internally before returning the requested page. For example, retrieving page 1000 with 100 documents per page requires the database to read and discard </a:t>
            </a:r>
            <a:r>
              <a:rPr sz="1200" b="1" i="0" u="none">
                <a:solidFill>
                  <a:srgbClr val="000000"/>
                </a:solidFill>
                <a:latin typeface="Times New Roman"/>
                <a:ea typeface="Times New Roman"/>
                <a:cs typeface="Times New Roman"/>
              </a:rPr>
              <a:t>99,900 documents</a:t>
            </a:r>
            <a:r>
              <a:rPr sz="1200" b="0" i="0" u="none">
                <a:solidFill>
                  <a:srgbClr val="000000"/>
                </a:solidFill>
                <a:latin typeface="Times New Roman"/>
                <a:ea typeface="Times New Roman"/>
                <a:cs typeface="Times New Roman"/>
              </a:rPr>
              <a:t> before returning the final results.</a:t>
            </a:r>
            <a:endParaRPr/>
          </a:p>
          <a:p>
            <a:pPr>
              <a:defRPr/>
            </a:pPr>
            <a:r>
              <a:rPr sz="1200" b="0" i="0" u="none">
                <a:solidFill>
                  <a:srgbClr val="000000"/>
                </a:solidFill>
                <a:latin typeface="Times New Roman"/>
                <a:ea typeface="Times New Roman"/>
                <a:cs typeface="Times New Roman"/>
              </a:rPr>
              <a:t>For large datasets, many production systems therefore use </a:t>
            </a:r>
            <a:r>
              <a:rPr sz="1200" b="1" i="0" u="none">
                <a:solidFill>
                  <a:srgbClr val="000000"/>
                </a:solidFill>
                <a:latin typeface="Times New Roman"/>
                <a:ea typeface="Times New Roman"/>
                <a:cs typeface="Times New Roman"/>
              </a:rPr>
              <a:t>cursor-based pagination</a:t>
            </a:r>
            <a:r>
              <a:rPr sz="1200" b="0" i="0" u="none">
                <a:solidFill>
                  <a:srgbClr val="000000"/>
                </a:solidFill>
                <a:latin typeface="Times New Roman"/>
                <a:ea typeface="Times New Roman"/>
                <a:cs typeface="Times New Roman"/>
              </a:rPr>
              <a:t> instead. Instead of skipping records, the query starts from the </a:t>
            </a:r>
            <a:r>
              <a:rPr sz="1200" b="1" i="0" u="none">
                <a:solidFill>
                  <a:srgbClr val="000000"/>
                </a:solidFill>
                <a:latin typeface="Times New Roman"/>
                <a:ea typeface="Times New Roman"/>
                <a:cs typeface="Times New Roman"/>
              </a:rPr>
              <a:t>last document returned in the previous page</a:t>
            </a:r>
            <a:r>
              <a:rPr sz="1200" b="0" i="0" u="none">
                <a:solidFill>
                  <a:srgbClr val="000000"/>
                </a:solidFill>
                <a:latin typeface="Times New Roman"/>
                <a:ea typeface="Times New Roman"/>
                <a:cs typeface="Times New Roman"/>
              </a:rPr>
              <a:t>, often using an indexed field such as </a:t>
            </a:r>
            <a:r>
              <a:rPr sz="1000" b="0" i="0" u="none">
                <a:solidFill>
                  <a:srgbClr val="000000"/>
                </a:solidFill>
                <a:latin typeface="Courier New"/>
                <a:ea typeface="Courier New"/>
                <a:cs typeface="Courier New"/>
              </a:rPr>
              <a:t>_id</a:t>
            </a:r>
            <a:r>
              <a:rPr sz="1200" b="0" i="0" u="none">
                <a:solidFill>
                  <a:srgbClr val="000000"/>
                </a:solidFill>
                <a:latin typeface="Times New Roman"/>
                <a:ea typeface="Times New Roman"/>
                <a:cs typeface="Times New Roman"/>
              </a:rPr>
              <a:t> or a timestamp.</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Sorting and limiting allow APIs to return results in a controlled and efficient manner. While skip-based pagination is simple to implement, cursor-based pagination is usually preferred for large datasets because it avoids scanning large numbers of skipped documents.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does skip-based pagination become slow for the last pages of very large datasets?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the database must still read and discard all skipped documents before returning the requested page. For example, retrieving page 1000 with 100 results per page requires the database to read and discard 99,900 documents before returning the final results, even if an index exists.</a:t>
            </a:r>
            <a:endParaRPr/>
          </a:p>
        </p:txBody>
      </p:sp>
      <p:sp>
        <p:nvSpPr>
          <p:cNvPr id="1955488136" name="Slide Number Placeholder 3"/>
          <p:cNvSpPr>
            <a:spLocks noGrp="1"/>
          </p:cNvSpPr>
          <p:nvPr>
            <p:ph type="sldNum" sz="quarter" idx="10"/>
          </p:nvPr>
        </p:nvSpPr>
        <p:spPr bwMode="auto"/>
        <p:txBody>
          <a:bodyPr/>
          <a:lstStyle/>
          <a:p>
            <a:pPr>
              <a:defRPr/>
            </a:pPr>
            <a:fld id="{F7021451-1387-4CA6-816F-3879F97B5CBC}" type="slidenum">
              <a:rPr lang="en-US"/>
              <a:t>39</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5599486" name="Slide Image Placeholder 1"/>
          <p:cNvSpPr>
            <a:spLocks noChangeAspect="1" noGrp="1" noRot="1"/>
          </p:cNvSpPr>
          <p:nvPr>
            <p:ph type="sldImg"/>
          </p:nvPr>
        </p:nvSpPr>
        <p:spPr bwMode="auto"/>
      </p:sp>
      <p:sp>
        <p:nvSpPr>
          <p:cNvPr id="323236951"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examining what document queries </a:t>
            </a:r>
            <a:r>
              <a:rPr sz="1200" b="1" i="0" u="none">
                <a:solidFill>
                  <a:srgbClr val="000000"/>
                </a:solidFill>
                <a:latin typeface="Times New Roman"/>
                <a:ea typeface="Times New Roman"/>
                <a:cs typeface="Times New Roman"/>
              </a:rPr>
              <a:t>can</a:t>
            </a:r>
            <a:r>
              <a:rPr sz="1200" b="0" i="0" u="none">
                <a:solidFill>
                  <a:srgbClr val="000000"/>
                </a:solidFill>
                <a:latin typeface="Times New Roman"/>
                <a:ea typeface="Times New Roman"/>
                <a:cs typeface="Times New Roman"/>
              </a:rPr>
              <a:t> do—filtering, projecting, sorting, and limiting—it is equally important to understand </a:t>
            </a:r>
            <a:r>
              <a:rPr sz="1200" b="1" i="0" u="none">
                <a:solidFill>
                  <a:srgbClr val="000000"/>
                </a:solidFill>
                <a:latin typeface="Times New Roman"/>
                <a:ea typeface="Times New Roman"/>
                <a:cs typeface="Times New Roman"/>
              </a:rPr>
              <a:t>what they are not designed to do</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 standard query in a document database does </a:t>
            </a:r>
            <a:r>
              <a:rPr sz="1200" b="1" i="0" u="none">
                <a:solidFill>
                  <a:srgbClr val="000000"/>
                </a:solidFill>
                <a:latin typeface="Times New Roman"/>
                <a:ea typeface="Times New Roman"/>
                <a:cs typeface="Times New Roman"/>
              </a:rPr>
              <a:t>not automatically join data across multiple collections</a:t>
            </a:r>
            <a:r>
              <a:rPr sz="1200" b="0" i="0" u="none">
                <a:solidFill>
                  <a:srgbClr val="000000"/>
                </a:solidFill>
                <a:latin typeface="Times New Roman"/>
                <a:ea typeface="Times New Roman"/>
                <a:cs typeface="Times New Roman"/>
              </a:rPr>
              <a:t>, and it does </a:t>
            </a:r>
            <a:r>
              <a:rPr sz="1200" b="1" i="0" u="none">
                <a:solidFill>
                  <a:srgbClr val="000000"/>
                </a:solidFill>
                <a:latin typeface="Times New Roman"/>
                <a:ea typeface="Times New Roman"/>
                <a:cs typeface="Times New Roman"/>
              </a:rPr>
              <a:t>not reshape complex data structures at retrieval time in the way relational systems often do with joins and view-like logic</a:t>
            </a:r>
            <a:r>
              <a:rPr sz="1200" b="0" i="0" u="none">
                <a:solidFill>
                  <a:srgbClr val="000000"/>
                </a:solidFill>
                <a:latin typeface="Times New Roman"/>
                <a:ea typeface="Times New Roman"/>
                <a:cs typeface="Times New Roman"/>
              </a:rPr>
              <a:t>. This limitation is not a weakness by accident; it reflects the core design philosophy of document databases.</a:t>
            </a:r>
            <a:endParaRPr/>
          </a:p>
          <a:p>
            <a:pPr>
              <a:defRPr/>
            </a:pPr>
            <a:r>
              <a:rPr sz="1200" b="0" i="0" u="none">
                <a:solidFill>
                  <a:srgbClr val="000000"/>
                </a:solidFill>
                <a:latin typeface="Times New Roman"/>
                <a:ea typeface="Times New Roman"/>
                <a:cs typeface="Times New Roman"/>
              </a:rPr>
              <a:t>Document databases are built around the idea that the </a:t>
            </a:r>
            <a:r>
              <a:rPr sz="1200" b="1" i="0" u="none">
                <a:solidFill>
                  <a:srgbClr val="000000"/>
                </a:solidFill>
                <a:latin typeface="Times New Roman"/>
                <a:ea typeface="Times New Roman"/>
                <a:cs typeface="Times New Roman"/>
              </a:rPr>
              <a:t>document itself should already match the application’s access pattern</a:t>
            </a:r>
            <a:r>
              <a:rPr sz="1200" b="0" i="0" u="none">
                <a:solidFill>
                  <a:srgbClr val="000000"/>
                </a:solidFill>
                <a:latin typeface="Times New Roman"/>
                <a:ea typeface="Times New Roman"/>
                <a:cs typeface="Times New Roman"/>
              </a:rPr>
              <a:t>. In other words, developers are expected to design documents so that the data needed together is stored together. This is why schema design in document databases begins from the </a:t>
            </a:r>
            <a:r>
              <a:rPr sz="1200" b="1" i="0" u="none">
                <a:solidFill>
                  <a:srgbClr val="000000"/>
                </a:solidFill>
                <a:latin typeface="Times New Roman"/>
                <a:ea typeface="Times New Roman"/>
                <a:cs typeface="Times New Roman"/>
              </a:rPr>
              <a:t>query requirements</a:t>
            </a:r>
            <a:r>
              <a:rPr sz="1200" b="0" i="0" u="none">
                <a:solidFill>
                  <a:srgbClr val="000000"/>
                </a:solidFill>
                <a:latin typeface="Times New Roman"/>
                <a:ea typeface="Times New Roman"/>
                <a:cs typeface="Times New Roman"/>
              </a:rPr>
              <a:t> of the application, not from abstract normalization rules.</a:t>
            </a:r>
            <a:endParaRPr/>
          </a:p>
          <a:p>
            <a:pPr>
              <a:defRPr/>
            </a:pPr>
            <a:r>
              <a:rPr sz="1200" b="0" i="0" u="none">
                <a:solidFill>
                  <a:srgbClr val="000000"/>
                </a:solidFill>
                <a:latin typeface="Times New Roman"/>
                <a:ea typeface="Times New Roman"/>
                <a:cs typeface="Times New Roman"/>
              </a:rPr>
              <a:t>If an application frequently needs to combine data from multiple collections, this is often a sign that the schema is not aligned with how the data is actually used. In many such cases, the better solution is to </a:t>
            </a:r>
            <a:r>
              <a:rPr sz="1200" b="1" i="0" u="none">
                <a:solidFill>
                  <a:srgbClr val="000000"/>
                </a:solidFill>
                <a:latin typeface="Times New Roman"/>
                <a:ea typeface="Times New Roman"/>
                <a:cs typeface="Times New Roman"/>
              </a:rPr>
              <a:t>embed related data</a:t>
            </a:r>
            <a:r>
              <a:rPr sz="1200" b="0" i="0" u="none">
                <a:solidFill>
                  <a:srgbClr val="000000"/>
                </a:solidFill>
                <a:latin typeface="Times New Roman"/>
                <a:ea typeface="Times New Roman"/>
                <a:cs typeface="Times New Roman"/>
              </a:rPr>
              <a:t> inside a single document rather than store it separately and reconstruct it later.</a:t>
            </a:r>
            <a:endParaRPr/>
          </a:p>
          <a:p>
            <a:pPr>
              <a:defRPr/>
            </a:pPr>
            <a:r>
              <a:rPr sz="1200" b="0" i="0" u="none">
                <a:solidFill>
                  <a:srgbClr val="000000"/>
                </a:solidFill>
                <a:latin typeface="Times New Roman"/>
                <a:ea typeface="Times New Roman"/>
                <a:cs typeface="Times New Roman"/>
              </a:rPr>
              <a:t>When data is split across collections, developers usually have two options. One option is an </a:t>
            </a:r>
            <a:r>
              <a:rPr sz="1200" b="1" i="0" u="none">
                <a:solidFill>
                  <a:srgbClr val="000000"/>
                </a:solidFill>
                <a:latin typeface="Times New Roman"/>
                <a:ea typeface="Times New Roman"/>
                <a:cs typeface="Times New Roman"/>
              </a:rPr>
              <a:t>application-level join</a:t>
            </a:r>
            <a:r>
              <a:rPr sz="1200" b="0" i="0" u="none">
                <a:solidFill>
                  <a:srgbClr val="000000"/>
                </a:solidFill>
                <a:latin typeface="Times New Roman"/>
                <a:ea typeface="Times New Roman"/>
                <a:cs typeface="Times New Roman"/>
              </a:rPr>
              <a:t>: fetch data from collection A, fetch related data from collection B, and merge the results inside the application code. The other option, in systems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is to use the </a:t>
            </a:r>
            <a:r>
              <a:rPr sz="1000" b="1" i="0" u="none">
                <a:solidFill>
                  <a:srgbClr val="000000"/>
                </a:solidFill>
                <a:latin typeface="Courier New"/>
                <a:ea typeface="Courier New"/>
                <a:cs typeface="Courier New"/>
              </a:rPr>
              <a:t>$lookup</a:t>
            </a:r>
            <a:r>
              <a:rPr sz="1200" b="0" i="0" u="none">
                <a:solidFill>
                  <a:srgbClr val="000000"/>
                </a:solidFill>
                <a:latin typeface="Times New Roman"/>
                <a:ea typeface="Times New Roman"/>
                <a:cs typeface="Times New Roman"/>
              </a:rPr>
              <a:t> operator in the aggregation framework, which performs a server-side join. However, </a:t>
            </a:r>
            <a:r>
              <a:rPr sz="1000" b="0" i="0" u="none">
                <a:solidFill>
                  <a:srgbClr val="000000"/>
                </a:solidFill>
                <a:latin typeface="Courier New"/>
                <a:ea typeface="Courier New"/>
                <a:cs typeface="Courier New"/>
              </a:rPr>
              <a:t>$lookup</a:t>
            </a:r>
            <a:r>
              <a:rPr sz="1200" b="0" i="0" u="none">
                <a:solidFill>
                  <a:srgbClr val="000000"/>
                </a:solidFill>
                <a:latin typeface="Times New Roman"/>
                <a:ea typeface="Times New Roman"/>
                <a:cs typeface="Times New Roman"/>
              </a:rPr>
              <a:t> is still more expensive and less natural than retrieving a single well-designed document, so it should not become the default pattern for everyday queries.</a:t>
            </a:r>
            <a:endParaRPr/>
          </a:p>
          <a:p>
            <a:pPr>
              <a:defRPr/>
            </a:pPr>
            <a:r>
              <a:rPr sz="1200" b="0" i="0" u="none">
                <a:solidFill>
                  <a:srgbClr val="000000"/>
                </a:solidFill>
                <a:latin typeface="Times New Roman"/>
                <a:ea typeface="Times New Roman"/>
                <a:cs typeface="Times New Roman"/>
              </a:rPr>
              <a:t>A practical example appears in e-commerce systems. Suppose an order is stored in one collection and product details are stored in another. If every request to display an order must also fetch product information from a second collection, the application ends up performing repeated cross-collection joins. Over time, this removes many of the performance advantages of the document model. A better design is often to embed the most frequently needed product information—such as product name and purchase price—directly inside the order document, even if that introduces some duplication.</a:t>
            </a:r>
            <a:endParaRPr/>
          </a:p>
          <a:p>
            <a:pPr>
              <a:defRPr/>
            </a:pPr>
            <a:r>
              <a:rPr sz="1200" b="0" i="0" u="none">
                <a:solidFill>
                  <a:srgbClr val="000000"/>
                </a:solidFill>
                <a:latin typeface="Times New Roman"/>
                <a:ea typeface="Times New Roman"/>
                <a:cs typeface="Times New Roman"/>
              </a:rPr>
              <a:t>This illustrates a fundamental principle of document modeling: </a:t>
            </a:r>
            <a:r>
              <a:rPr sz="1200" b="1" i="0" u="none">
                <a:solidFill>
                  <a:srgbClr val="000000"/>
                </a:solidFill>
                <a:latin typeface="Times New Roman"/>
                <a:ea typeface="Times New Roman"/>
                <a:cs typeface="Times New Roman"/>
              </a:rPr>
              <a:t>design the document to match the query needs, not the reverse</a:t>
            </a:r>
            <a:r>
              <a:rPr sz="1200" b="0" i="0" u="none">
                <a:solidFill>
                  <a:srgbClr val="000000"/>
                </a:solidFill>
                <a:latin typeface="Times New Roman"/>
                <a:ea typeface="Times New Roman"/>
                <a:cs typeface="Times New Roman"/>
              </a:rPr>
              <a:t>. In document databases, duplication is often accepted intentionally when it allows the application to satisfy common requests with a single fast document read.</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Document queries are optimized for retrieving self-contained documents, not for performing frequent joins across collections. If an application repeatedly needs cross-collection joins, the long-term solution is usually to redesign the schema so that frequently co-accessed data is stored together.</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you absolutely must combine data from two collections frequently, what is a better long-term solution than repeated application-level joins?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better long-term solution is usually to redesign the schema so that the frequently co-accessed data is embedded within the same document. Although this may introduce some data duplication, it allows the application to satisfy the request with a single document read, which is generally faster and simpler than repeatedly joining data across collections.</a:t>
            </a:r>
            <a:endParaRPr/>
          </a:p>
        </p:txBody>
      </p:sp>
      <p:sp>
        <p:nvSpPr>
          <p:cNvPr id="1535311505" name="Slide Number Placeholder 3"/>
          <p:cNvSpPr>
            <a:spLocks noGrp="1"/>
          </p:cNvSpPr>
          <p:nvPr>
            <p:ph type="sldNum" sz="quarter" idx="10"/>
          </p:nvPr>
        </p:nvSpPr>
        <p:spPr bwMode="auto"/>
        <p:txBody>
          <a:bodyPr/>
          <a:lstStyle/>
          <a:p>
            <a:pPr>
              <a:defRPr/>
            </a:pPr>
            <a:fld id="{F7021451-1387-4CA6-816F-3879F97B5CBC}" type="slidenum">
              <a:rPr lang="en-US"/>
              <a:t>40</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9688990" name="Slide Image Placeholder 1"/>
          <p:cNvSpPr>
            <a:spLocks noChangeAspect="1" noGrp="1" noRot="1"/>
          </p:cNvSpPr>
          <p:nvPr>
            <p:ph type="sldImg"/>
          </p:nvPr>
        </p:nvSpPr>
        <p:spPr bwMode="auto"/>
      </p:sp>
      <p:sp>
        <p:nvSpPr>
          <p:cNvPr id="1672318866"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examining how queries and indexes work together to produce efficient data retrieval, it is also important to understand </a:t>
            </a:r>
            <a:r>
              <a:rPr sz="1200" b="1" i="0" u="none">
                <a:solidFill>
                  <a:srgbClr val="000000"/>
                </a:solidFill>
                <a:latin typeface="Times New Roman"/>
                <a:ea typeface="Times New Roman"/>
                <a:cs typeface="Times New Roman"/>
              </a:rPr>
              <a:t>the most common mistakes developers make when working with document databases</a:t>
            </a:r>
            <a:r>
              <a:rPr sz="1200" b="0" i="0" u="none">
                <a:solidFill>
                  <a:srgbClr val="000000"/>
                </a:solidFill>
                <a:latin typeface="Times New Roman"/>
                <a:ea typeface="Times New Roman"/>
                <a:cs typeface="Times New Roman"/>
              </a:rPr>
              <a:t>. Avoiding these mistakes is critical for building scalable systems.</a:t>
            </a:r>
            <a:endParaRPr/>
          </a:p>
          <a:p>
            <a:pPr>
              <a:defRPr/>
            </a:pPr>
            <a:r>
              <a:rPr sz="1200" b="0" i="0" u="none">
                <a:solidFill>
                  <a:srgbClr val="000000"/>
                </a:solidFill>
                <a:latin typeface="Times New Roman"/>
                <a:ea typeface="Times New Roman"/>
                <a:cs typeface="Times New Roman"/>
              </a:rPr>
              <a:t>One common error is </a:t>
            </a:r>
            <a:r>
              <a:rPr sz="1200" b="1" i="0" u="none">
                <a:solidFill>
                  <a:srgbClr val="000000"/>
                </a:solidFill>
                <a:latin typeface="Times New Roman"/>
                <a:ea typeface="Times New Roman"/>
                <a:cs typeface="Times New Roman"/>
              </a:rPr>
              <a:t>indexing every field</a:t>
            </a:r>
            <a:r>
              <a:rPr sz="1200" b="0" i="0" u="none">
                <a:solidFill>
                  <a:srgbClr val="000000"/>
                </a:solidFill>
                <a:latin typeface="Times New Roman"/>
                <a:ea typeface="Times New Roman"/>
                <a:cs typeface="Times New Roman"/>
              </a:rPr>
              <a:t> in a collection. While indexes improve read performance, each index is stored as a separate B-tree structure that must be maintained whenever documents are inserted or updated. Creating too many indexes dramatically increases the cost of write operations and can severely degrade system performance.</a:t>
            </a:r>
            <a:endParaRPr/>
          </a:p>
          <a:p>
            <a:pPr>
              <a:defRPr/>
            </a:pPr>
            <a:r>
              <a:rPr sz="1200" b="0" i="0" u="none">
                <a:solidFill>
                  <a:srgbClr val="000000"/>
                </a:solidFill>
                <a:latin typeface="Times New Roman"/>
                <a:ea typeface="Times New Roman"/>
                <a:cs typeface="Times New Roman"/>
              </a:rPr>
              <a:t>Another frequent mistake occurs when developers </a:t>
            </a:r>
            <a:r>
              <a:rPr sz="1200" b="1" i="0" u="none">
                <a:solidFill>
                  <a:srgbClr val="000000"/>
                </a:solidFill>
                <a:latin typeface="Times New Roman"/>
                <a:ea typeface="Times New Roman"/>
                <a:cs typeface="Times New Roman"/>
              </a:rPr>
              <a:t>fetch large numbers of documents from the database and then filter them inside the application code</a:t>
            </a:r>
            <a:r>
              <a:rPr sz="1200" b="0" i="0" u="none">
                <a:solidFill>
                  <a:srgbClr val="000000"/>
                </a:solidFill>
                <a:latin typeface="Times New Roman"/>
                <a:ea typeface="Times New Roman"/>
                <a:cs typeface="Times New Roman"/>
              </a:rPr>
              <a:t>. Instead of allowing the database to perform filtering efficiently, the application retrieves unnecessary data and processes it in memory. This approach wastes network bandwidth, increases server memory usage, and significantly slows down the system.</a:t>
            </a:r>
            <a:endParaRPr/>
          </a:p>
          <a:p>
            <a:pPr>
              <a:defRPr/>
            </a:pPr>
            <a:r>
              <a:rPr sz="1200" b="0" i="0" u="none">
                <a:solidFill>
                  <a:srgbClr val="000000"/>
                </a:solidFill>
                <a:latin typeface="Times New Roman"/>
                <a:ea typeface="Times New Roman"/>
                <a:cs typeface="Times New Roman"/>
              </a:rPr>
              <a:t>A related problem is </a:t>
            </a:r>
            <a:r>
              <a:rPr sz="1200" b="1" i="0" u="none">
                <a:solidFill>
                  <a:srgbClr val="000000"/>
                </a:solidFill>
                <a:latin typeface="Times New Roman"/>
                <a:ea typeface="Times New Roman"/>
                <a:cs typeface="Times New Roman"/>
              </a:rPr>
              <a:t>sorting results in application memory rather than letting the database perform the sorting</a:t>
            </a:r>
            <a:r>
              <a:rPr sz="1200" b="0" i="0" u="none">
                <a:solidFill>
                  <a:srgbClr val="000000"/>
                </a:solidFill>
                <a:latin typeface="Times New Roman"/>
                <a:ea typeface="Times New Roman"/>
                <a:cs typeface="Times New Roman"/>
              </a:rPr>
              <a:t>. Document databases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can often use indexes to return data already sorted with minimal cost. When sorting is performed in the application layer instead, the system must load the entire dataset into memory and process it manually, which is far less efficient.</a:t>
            </a:r>
            <a:endParaRPr/>
          </a:p>
          <a:p>
            <a:pPr>
              <a:defRPr/>
            </a:pPr>
            <a:r>
              <a:rPr sz="1200" b="0" i="0" u="none">
                <a:solidFill>
                  <a:srgbClr val="000000"/>
                </a:solidFill>
                <a:latin typeface="Times New Roman"/>
                <a:ea typeface="Times New Roman"/>
                <a:cs typeface="Times New Roman"/>
              </a:rPr>
              <a:t>Another critical oversight is </a:t>
            </a:r>
            <a:r>
              <a:rPr sz="1200" b="1" i="0" u="none">
                <a:solidFill>
                  <a:srgbClr val="000000"/>
                </a:solidFill>
                <a:latin typeface="Times New Roman"/>
                <a:ea typeface="Times New Roman"/>
                <a:cs typeface="Times New Roman"/>
              </a:rPr>
              <a:t>ignoring query execution plans</a:t>
            </a:r>
            <a:r>
              <a:rPr sz="1200" b="0" i="0" u="none">
                <a:solidFill>
                  <a:srgbClr val="000000"/>
                </a:solidFill>
                <a:latin typeface="Times New Roman"/>
                <a:ea typeface="Times New Roman"/>
                <a:cs typeface="Times New Roman"/>
              </a:rPr>
              <a:t>. Databases provide diagnostic tools that reveal how a query is executed internally. In MongoDB, developers can use the </a:t>
            </a:r>
            <a:r>
              <a:rPr sz="1000" b="0" i="0" u="none">
                <a:solidFill>
                  <a:srgbClr val="000000"/>
                </a:solidFill>
                <a:latin typeface="Courier New"/>
                <a:ea typeface="Courier New"/>
                <a:cs typeface="Courier New"/>
              </a:rPr>
              <a:t>explain()</a:t>
            </a:r>
            <a:r>
              <a:rPr sz="1200" b="0" i="0" u="none">
                <a:solidFill>
                  <a:srgbClr val="000000"/>
                </a:solidFill>
                <a:latin typeface="Times New Roman"/>
                <a:ea typeface="Times New Roman"/>
                <a:cs typeface="Times New Roman"/>
              </a:rPr>
              <a:t> method to inspect whether a query uses an index, which index is selected, and how many documents are scanned during execution. Failing to analyze execution plans is comparable to debugging a program without inspecting logs or diagnostic output.</a:t>
            </a:r>
            <a:endParaRPr/>
          </a:p>
          <a:p>
            <a:pPr>
              <a:defRPr/>
            </a:pPr>
            <a:r>
              <a:rPr sz="1200" b="0" i="0" u="none">
                <a:solidFill>
                  <a:srgbClr val="000000"/>
                </a:solidFill>
                <a:latin typeface="Times New Roman"/>
                <a:ea typeface="Times New Roman"/>
                <a:cs typeface="Times New Roman"/>
              </a:rPr>
              <a:t>Finally, a major architectural mistake occurs when the </a:t>
            </a:r>
            <a:r>
              <a:rPr sz="1200" b="1" i="0" u="none">
                <a:solidFill>
                  <a:srgbClr val="000000"/>
                </a:solidFill>
                <a:latin typeface="Times New Roman"/>
                <a:ea typeface="Times New Roman"/>
                <a:cs typeface="Times New Roman"/>
              </a:rPr>
              <a:t>schema is designed without first understanding the application’s access patterns</a:t>
            </a:r>
            <a:r>
              <a:rPr sz="1200" b="0" i="0" u="none">
                <a:solidFill>
                  <a:srgbClr val="000000"/>
                </a:solidFill>
                <a:latin typeface="Times New Roman"/>
                <a:ea typeface="Times New Roman"/>
                <a:cs typeface="Times New Roman"/>
              </a:rPr>
              <a:t>. Document databases are optimized for retrieving documents that match the structure required by the application. If the schema does not align with how the data will be queried, the system may require inefficient operations such as repeated cross-collection joins or excessive data processing in the application layer.</a:t>
            </a:r>
            <a:endParaRPr/>
          </a:p>
          <a:p>
            <a:pPr>
              <a:defRPr/>
            </a:pPr>
            <a:r>
              <a:rPr sz="1200" b="0" i="0" u="none">
                <a:solidFill>
                  <a:srgbClr val="000000"/>
                </a:solidFill>
                <a:latin typeface="Times New Roman"/>
                <a:ea typeface="Times New Roman"/>
                <a:cs typeface="Times New Roman"/>
              </a:rPr>
              <a:t>These mistakes frequently occur when developers transition from relational database thinking to document-oriented systems. In real production environments, database performance problems discovered after deployment can almost always be traced back to one or more of these issues. Fixing them later often requires complex migrations or schema redesigns that are far more costly than addressing them during the design phase.</a:t>
            </a:r>
            <a:endParaRPr/>
          </a:p>
          <a:p>
            <a:pPr>
              <a:defRPr/>
            </a:pPr>
            <a:r>
              <a:rPr sz="12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Efficient document database design requires careful planning of schemas, indexes, and query patterns. Performance problems are usually caused not by the database technology itself but by incorrect usage patterns.</a:t>
            </a:r>
            <a:endParaRPr/>
          </a:p>
          <a:p>
            <a:pPr>
              <a:defRPr/>
            </a:pPr>
            <a:r>
              <a:rPr sz="12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is the correct process for determining which fields should be indexed before deploying a system to production?</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correct approach is to document all API endpoints and the queries they execute. Developers should identify which queries run frequently on large collections and then create targeted indexes specifically for the fields used in those queries. Only the necessary indexes should be added to support real query workloads.</a:t>
            </a:r>
            <a:endParaRPr/>
          </a:p>
        </p:txBody>
      </p:sp>
      <p:sp>
        <p:nvSpPr>
          <p:cNvPr id="1240728129" name="Slide Number Placeholder 3"/>
          <p:cNvSpPr>
            <a:spLocks noGrp="1"/>
          </p:cNvSpPr>
          <p:nvPr>
            <p:ph type="sldNum" sz="quarter" idx="10"/>
          </p:nvPr>
        </p:nvSpPr>
        <p:spPr bwMode="auto"/>
        <p:txBody>
          <a:bodyPr/>
          <a:lstStyle/>
          <a:p>
            <a:pPr>
              <a:defRPr/>
            </a:pPr>
            <a:fld id="{F7021451-1387-4CA6-816F-3879F97B5CBC}" type="slidenum">
              <a:rPr lang="en-US"/>
              <a:t>41</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4158165" name="Slide Image Placeholder 1"/>
          <p:cNvSpPr>
            <a:spLocks noChangeAspect="1" noGrp="1" noRot="1"/>
          </p:cNvSpPr>
          <p:nvPr>
            <p:ph type="sldImg"/>
          </p:nvPr>
        </p:nvSpPr>
        <p:spPr bwMode="auto"/>
      </p:sp>
      <p:sp>
        <p:nvSpPr>
          <p:cNvPr id="176618198" name="Notes Placeholder 2"/>
          <p:cNvSpPr>
            <a:spLocks noGrp="1"/>
          </p:cNvSpPr>
          <p:nvPr>
            <p:ph type="body" idx="1"/>
          </p:nvPr>
        </p:nvSpPr>
        <p:spPr bwMode="auto"/>
        <p:txBody>
          <a:bodyPr/>
          <a:lstStyle/>
          <a:p>
            <a:pPr>
              <a:defRPr/>
            </a:pPr>
            <a:r>
              <a:rPr lang="en-US"/>
              <a:t>Simple queries retrieve existing data. Aggregations compute new data. Aggregation is how you answer business questions: how many students enrolled this semester, what is the average grade per department, which cities have the most active users. This is the foundation of all analytics and reporting.</a:t>
            </a:r>
            <a:endParaRPr lang="en-US"/>
          </a:p>
        </p:txBody>
      </p:sp>
      <p:sp>
        <p:nvSpPr>
          <p:cNvPr id="44889996" name="Slide Number Placeholder 3"/>
          <p:cNvSpPr>
            <a:spLocks noGrp="1"/>
          </p:cNvSpPr>
          <p:nvPr>
            <p:ph type="sldNum" sz="quarter" idx="10"/>
          </p:nvPr>
        </p:nvSpPr>
        <p:spPr bwMode="auto"/>
        <p:txBody>
          <a:bodyPr/>
          <a:lstStyle/>
          <a:p>
            <a:pPr>
              <a:defRPr/>
            </a:pPr>
            <a:fld id="{F7021451-1387-4CA6-816F-3879F97B5CBC}" type="slidenum">
              <a:rPr lang="en-US"/>
              <a:t>42</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1271339" name="Slide Image Placeholder 1"/>
          <p:cNvSpPr>
            <a:spLocks noChangeAspect="1" noGrp="1" noRot="1"/>
          </p:cNvSpPr>
          <p:nvPr>
            <p:ph type="sldImg"/>
          </p:nvPr>
        </p:nvSpPr>
        <p:spPr bwMode="auto"/>
      </p:sp>
      <p:sp>
        <p:nvSpPr>
          <p:cNvPr id="209688876"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examining how queries retrieve individual documents efficiently, the next concept is </a:t>
            </a:r>
            <a:r>
              <a:rPr sz="1200" b="1" i="0" u="none">
                <a:solidFill>
                  <a:srgbClr val="000000"/>
                </a:solidFill>
                <a:latin typeface="Times New Roman"/>
                <a:ea typeface="Times New Roman"/>
                <a:cs typeface="Times New Roman"/>
              </a:rPr>
              <a:t>aggregation</a:t>
            </a:r>
            <a:r>
              <a:rPr sz="1200" b="0" i="0" u="none">
                <a:solidFill>
                  <a:srgbClr val="000000"/>
                </a:solidFill>
                <a:latin typeface="Times New Roman"/>
                <a:ea typeface="Times New Roman"/>
                <a:cs typeface="Times New Roman"/>
              </a:rPr>
              <a:t>, which focuses not on retrieving data but on </a:t>
            </a:r>
            <a:r>
              <a:rPr sz="1200" b="1" i="0" u="none">
                <a:solidFill>
                  <a:srgbClr val="000000"/>
                </a:solidFill>
                <a:latin typeface="Times New Roman"/>
                <a:ea typeface="Times New Roman"/>
                <a:cs typeface="Times New Roman"/>
              </a:rPr>
              <a:t>computing results from multiple documents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Aggregation is the process of performing calculations across many documents in order to produce </a:t>
            </a:r>
            <a:r>
              <a:rPr sz="1200" b="1" i="0" u="none">
                <a:solidFill>
                  <a:srgbClr val="000000"/>
                </a:solidFill>
                <a:latin typeface="Times New Roman"/>
                <a:ea typeface="Times New Roman"/>
                <a:cs typeface="Times New Roman"/>
              </a:rPr>
              <a:t>derived or synthetic results</a:t>
            </a:r>
            <a:r>
              <a:rPr sz="1200" b="0" i="0" u="none">
                <a:solidFill>
                  <a:srgbClr val="000000"/>
                </a:solidFill>
                <a:latin typeface="Times New Roman"/>
                <a:ea typeface="Times New Roman"/>
                <a:cs typeface="Times New Roman"/>
              </a:rPr>
              <a:t>. Unlike standard queries—which return existing documents stored in the database—aggregation operations generate </a:t>
            </a:r>
            <a:r>
              <a:rPr sz="1200" b="1" i="0" u="none">
                <a:solidFill>
                  <a:srgbClr val="000000"/>
                </a:solidFill>
                <a:latin typeface="Times New Roman"/>
                <a:ea typeface="Times New Roman"/>
                <a:cs typeface="Times New Roman"/>
              </a:rPr>
              <a:t>new information that does not exist as a document beforehand</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For example, a query might ask:</a:t>
            </a:r>
            <a:endParaRPr/>
          </a:p>
          <a:p>
            <a:pPr>
              <a:defRPr/>
            </a:pPr>
            <a:r>
              <a:rPr sz="1200" b="0" i="0" u="none">
                <a:solidFill>
                  <a:srgbClr val="000000"/>
                </a:solidFill>
                <a:latin typeface="Times New Roman"/>
                <a:ea typeface="Times New Roman"/>
                <a:cs typeface="Times New Roman"/>
              </a:rPr>
              <a:t>“Return the document for student 12345.”</a:t>
            </a:r>
            <a:endParaRPr/>
          </a:p>
          <a:p>
            <a:pPr>
              <a:defRPr/>
            </a:pPr>
            <a:r>
              <a:rPr sz="1200" b="0" i="0" u="none">
                <a:solidFill>
                  <a:srgbClr val="000000"/>
                </a:solidFill>
                <a:latin typeface="Times New Roman"/>
                <a:ea typeface="Times New Roman"/>
                <a:cs typeface="Times New Roman"/>
              </a:rPr>
              <a:t>An aggregation, however, asks questions such as:</a:t>
            </a:r>
            <a:endParaRPr/>
          </a:p>
          <a:p>
            <a:pPr>
              <a:defRPr/>
            </a:pPr>
            <a:r>
              <a:rPr sz="1200" b="0" i="0" u="none">
                <a:solidFill>
                  <a:srgbClr val="000000"/>
                </a:solidFill>
                <a:latin typeface="Times New Roman"/>
                <a:ea typeface="Times New Roman"/>
                <a:cs typeface="Times New Roman"/>
              </a:rPr>
              <a:t>“How many students are enrolled in each course this semester?”</a:t>
            </a:r>
            <a:endParaRPr/>
          </a:p>
          <a:p>
            <a:pPr>
              <a:defRPr/>
            </a:pPr>
            <a:r>
              <a:rPr sz="1200" b="0" i="0" u="none">
                <a:solidFill>
                  <a:srgbClr val="000000"/>
                </a:solidFill>
                <a:latin typeface="Times New Roman"/>
                <a:ea typeface="Times New Roman"/>
                <a:cs typeface="Times New Roman"/>
              </a:rPr>
              <a:t>The answer to this question is not stored as a document in the database. Instead, it must be </a:t>
            </a:r>
            <a:r>
              <a:rPr sz="1200" b="1" i="0" u="none">
                <a:solidFill>
                  <a:srgbClr val="000000"/>
                </a:solidFill>
                <a:latin typeface="Times New Roman"/>
                <a:ea typeface="Times New Roman"/>
                <a:cs typeface="Times New Roman"/>
              </a:rPr>
              <a:t>computed by analyzing many documents together</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document databases 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aggregation is implemented using an </a:t>
            </a:r>
            <a:r>
              <a:rPr sz="1200" b="1" i="0" u="none">
                <a:solidFill>
                  <a:srgbClr val="000000"/>
                </a:solidFill>
                <a:latin typeface="Times New Roman"/>
                <a:ea typeface="Times New Roman"/>
                <a:cs typeface="Times New Roman"/>
              </a:rPr>
              <a:t>aggregation pipeline</a:t>
            </a:r>
            <a:r>
              <a:rPr sz="1200" b="0" i="0" u="none">
                <a:solidFill>
                  <a:srgbClr val="000000"/>
                </a:solidFill>
                <a:latin typeface="Times New Roman"/>
                <a:ea typeface="Times New Roman"/>
                <a:cs typeface="Times New Roman"/>
              </a:rPr>
              <a:t>. A pipeline processes data through a sequence of stages, where each stage performs a transformation on the data before passing the result to the next stage.</a:t>
            </a:r>
            <a:endParaRPr/>
          </a:p>
          <a:p>
            <a:pPr>
              <a:defRPr/>
            </a:pPr>
            <a:r>
              <a:rPr sz="1200" b="0" i="0" u="none">
                <a:solidFill>
                  <a:srgbClr val="000000"/>
                </a:solidFill>
                <a:latin typeface="Times New Roman"/>
                <a:ea typeface="Times New Roman"/>
                <a:cs typeface="Times New Roman"/>
              </a:rPr>
              <a:t>Typical pipeline stages include operations such as:</a:t>
            </a:r>
            <a:endParaRPr/>
          </a:p>
          <a:p>
            <a:pPr>
              <a:defRPr/>
            </a:pPr>
            <a:r>
              <a:rPr sz="1200" b="1" i="0" u="none">
                <a:solidFill>
                  <a:srgbClr val="000000"/>
                </a:solidFill>
                <a:latin typeface="Times New Roman"/>
                <a:ea typeface="Times New Roman"/>
                <a:cs typeface="Times New Roman"/>
              </a:rPr>
              <a:t>Filtering documents</a:t>
            </a:r>
            <a:endParaRPr/>
          </a:p>
          <a:p>
            <a:pPr>
              <a:defRPr/>
            </a:pPr>
            <a:r>
              <a:rPr sz="1200" b="1" i="0" u="none">
                <a:solidFill>
                  <a:srgbClr val="000000"/>
                </a:solidFill>
                <a:latin typeface="Times New Roman"/>
                <a:ea typeface="Times New Roman"/>
                <a:cs typeface="Times New Roman"/>
              </a:rPr>
              <a:t>Grouping documents</a:t>
            </a:r>
            <a:endParaRPr/>
          </a:p>
          <a:p>
            <a:pPr>
              <a:defRPr/>
            </a:pPr>
            <a:r>
              <a:rPr sz="1200" b="1" i="0" u="none">
                <a:solidFill>
                  <a:srgbClr val="000000"/>
                </a:solidFill>
                <a:latin typeface="Times New Roman"/>
                <a:ea typeface="Times New Roman"/>
                <a:cs typeface="Times New Roman"/>
              </a:rPr>
              <a:t>Computing statistics</a:t>
            </a:r>
            <a:r>
              <a:rPr sz="1200" b="0" i="0" u="none">
                <a:solidFill>
                  <a:srgbClr val="000000"/>
                </a:solidFill>
                <a:latin typeface="Times New Roman"/>
                <a:ea typeface="Times New Roman"/>
                <a:cs typeface="Times New Roman"/>
              </a:rPr>
              <a:t> such as counts, sums, or averages </a:t>
            </a:r>
            <a:endParaRPr/>
          </a:p>
          <a:p>
            <a:pPr>
              <a:defRPr/>
            </a:pPr>
            <a:r>
              <a:rPr sz="1200" b="1" i="0" u="none">
                <a:solidFill>
                  <a:srgbClr val="000000"/>
                </a:solidFill>
                <a:latin typeface="Times New Roman"/>
                <a:ea typeface="Times New Roman"/>
                <a:cs typeface="Times New Roman"/>
              </a:rPr>
              <a:t>Transforming document structures</a:t>
            </a:r>
            <a:endParaRPr/>
          </a:p>
          <a:p>
            <a:pPr>
              <a:defRPr/>
            </a:pPr>
            <a:r>
              <a:rPr sz="1200" b="0" i="0" u="none">
                <a:solidFill>
                  <a:srgbClr val="000000"/>
                </a:solidFill>
                <a:latin typeface="Times New Roman"/>
                <a:ea typeface="Times New Roman"/>
                <a:cs typeface="Times New Roman"/>
              </a:rPr>
              <a:t>Data therefore flows through the pipeline step by step, gradually transforming raw documents into </a:t>
            </a:r>
            <a:r>
              <a:rPr sz="1200" b="1" i="0" u="none">
                <a:solidFill>
                  <a:srgbClr val="000000"/>
                </a:solidFill>
                <a:latin typeface="Times New Roman"/>
                <a:ea typeface="Times New Roman"/>
                <a:cs typeface="Times New Roman"/>
              </a:rPr>
              <a:t>analytical results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For example, an aggregation pipeline in a university system might:</a:t>
            </a:r>
            <a:endParaRPr/>
          </a:p>
          <a:p>
            <a:pPr>
              <a:defRPr/>
            </a:pPr>
            <a:r>
              <a:rPr sz="1200" b="0" i="0" u="none">
                <a:solidFill>
                  <a:srgbClr val="000000"/>
                </a:solidFill>
                <a:latin typeface="Times New Roman"/>
                <a:ea typeface="Times New Roman"/>
                <a:cs typeface="Times New Roman"/>
              </a:rPr>
              <a:t>Select all course registrations for the current semester</a:t>
            </a:r>
            <a:endParaRPr/>
          </a:p>
          <a:p>
            <a:pPr>
              <a:defRPr/>
            </a:pPr>
            <a:r>
              <a:rPr sz="1200" b="0" i="0" u="none">
                <a:solidFill>
                  <a:srgbClr val="000000"/>
                </a:solidFill>
                <a:latin typeface="Times New Roman"/>
                <a:ea typeface="Times New Roman"/>
                <a:cs typeface="Times New Roman"/>
              </a:rPr>
              <a:t>Group them by course code</a:t>
            </a:r>
            <a:endParaRPr/>
          </a:p>
          <a:p>
            <a:pPr>
              <a:defRPr/>
            </a:pPr>
            <a:r>
              <a:rPr sz="1200" b="0" i="0" u="none">
                <a:solidFill>
                  <a:srgbClr val="000000"/>
                </a:solidFill>
                <a:latin typeface="Times New Roman"/>
                <a:ea typeface="Times New Roman"/>
                <a:cs typeface="Times New Roman"/>
              </a:rPr>
              <a:t>Count how many students are enrolled in each course</a:t>
            </a:r>
            <a:endParaRPr/>
          </a:p>
          <a:p>
            <a:pPr>
              <a:defRPr/>
            </a:pPr>
            <a:r>
              <a:rPr sz="1200" b="0" i="0" u="none">
                <a:solidFill>
                  <a:srgbClr val="000000"/>
                </a:solidFill>
                <a:latin typeface="Times New Roman"/>
                <a:ea typeface="Times New Roman"/>
                <a:cs typeface="Times New Roman"/>
              </a:rPr>
              <a:t>The output is a </a:t>
            </a:r>
            <a:r>
              <a:rPr sz="1200" b="1" i="0" u="none">
                <a:solidFill>
                  <a:srgbClr val="000000"/>
                </a:solidFill>
                <a:latin typeface="Times New Roman"/>
                <a:ea typeface="Times New Roman"/>
                <a:cs typeface="Times New Roman"/>
              </a:rPr>
              <a:t>new JSON structure containing statistics</a:t>
            </a:r>
            <a:r>
              <a:rPr sz="1200" b="0" i="0" u="none">
                <a:solidFill>
                  <a:srgbClr val="000000"/>
                </a:solidFill>
                <a:latin typeface="Times New Roman"/>
                <a:ea typeface="Times New Roman"/>
                <a:cs typeface="Times New Roman"/>
              </a:rPr>
              <a:t>, not the original documents.</a:t>
            </a:r>
            <a:endParaRPr/>
          </a:p>
          <a:p>
            <a:pPr>
              <a:defRPr/>
            </a:pPr>
            <a:r>
              <a:rPr sz="18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Large technology platforms rely heavily on aggregation pipelines to compute </a:t>
            </a:r>
            <a:r>
              <a:rPr sz="1200" b="1" i="0" u="none">
                <a:solidFill>
                  <a:srgbClr val="000000"/>
                </a:solidFill>
                <a:latin typeface="Times New Roman"/>
                <a:ea typeface="Times New Roman"/>
                <a:cs typeface="Times New Roman"/>
              </a:rPr>
              <a:t>real-time metrics and dashboards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For example, </a:t>
            </a:r>
            <a:r>
              <a:rPr sz="1200" b="1" i="0" u="none">
                <a:solidFill>
                  <a:srgbClr val="000000"/>
                </a:solidFill>
                <a:latin typeface="Times New Roman"/>
                <a:ea typeface="Times New Roman"/>
                <a:cs typeface="Times New Roman"/>
              </a:rPr>
              <a:t>Netflix</a:t>
            </a:r>
            <a:r>
              <a:rPr sz="1200" b="0" i="0" u="none">
                <a:solidFill>
                  <a:srgbClr val="000000"/>
                </a:solidFill>
                <a:latin typeface="Times New Roman"/>
                <a:ea typeface="Times New Roman"/>
                <a:cs typeface="Times New Roman"/>
              </a:rPr>
              <a:t> continuously aggregates viewing activity data from millions of users. Every time someone watches a movie or series episode, a viewing event is recorded. Aggregation pipelines compute statistics such as:</a:t>
            </a:r>
            <a:endParaRPr/>
          </a:p>
          <a:p>
            <a:pPr>
              <a:defRPr/>
            </a:pPr>
            <a:r>
              <a:rPr sz="1200" b="0" i="0" u="none">
                <a:solidFill>
                  <a:srgbClr val="000000"/>
                </a:solidFill>
                <a:latin typeface="Times New Roman"/>
                <a:ea typeface="Times New Roman"/>
                <a:cs typeface="Times New Roman"/>
              </a:rPr>
              <a:t>Most watched shows today</a:t>
            </a:r>
            <a:endParaRPr/>
          </a:p>
          <a:p>
            <a:pPr>
              <a:defRPr/>
            </a:pPr>
            <a:r>
              <a:rPr sz="1200" b="0" i="0" u="none">
                <a:solidFill>
                  <a:srgbClr val="000000"/>
                </a:solidFill>
                <a:latin typeface="Times New Roman"/>
                <a:ea typeface="Times New Roman"/>
                <a:cs typeface="Times New Roman"/>
              </a:rPr>
              <a:t>Viewing hours per region</a:t>
            </a:r>
            <a:endParaRPr/>
          </a:p>
          <a:p>
            <a:pPr>
              <a:defRPr/>
            </a:pPr>
            <a:r>
              <a:rPr sz="1200" b="0" i="0" u="none">
                <a:solidFill>
                  <a:srgbClr val="000000"/>
                </a:solidFill>
                <a:latin typeface="Times New Roman"/>
                <a:ea typeface="Times New Roman"/>
                <a:cs typeface="Times New Roman"/>
              </a:rPr>
              <a:t>Trending content</a:t>
            </a:r>
            <a:endParaRPr/>
          </a:p>
          <a:p>
            <a:pPr>
              <a:defRPr/>
            </a:pPr>
            <a:r>
              <a:rPr sz="1200" b="0" i="0" u="none">
                <a:solidFill>
                  <a:srgbClr val="000000"/>
                </a:solidFill>
                <a:latin typeface="Times New Roman"/>
                <a:ea typeface="Times New Roman"/>
                <a:cs typeface="Times New Roman"/>
              </a:rPr>
              <a:t>Completion rates of episodes</a:t>
            </a:r>
            <a:endParaRPr/>
          </a:p>
          <a:p>
            <a:pPr>
              <a:defRPr/>
            </a:pPr>
            <a:r>
              <a:rPr sz="1200" b="0" i="0" u="none">
                <a:solidFill>
                  <a:srgbClr val="000000"/>
                </a:solidFill>
                <a:latin typeface="Times New Roman"/>
                <a:ea typeface="Times New Roman"/>
                <a:cs typeface="Times New Roman"/>
              </a:rPr>
              <a:t>These computed results power the </a:t>
            </a:r>
            <a:r>
              <a:rPr sz="1200" b="1" i="0" u="none">
                <a:solidFill>
                  <a:srgbClr val="000000"/>
                </a:solidFill>
                <a:latin typeface="Times New Roman"/>
                <a:ea typeface="Times New Roman"/>
                <a:cs typeface="Times New Roman"/>
              </a:rPr>
              <a:t>analytics dashboards used by product managers and recommendation systems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Similarly, companies such as </a:t>
            </a:r>
            <a:r>
              <a:rPr sz="1200" b="1" i="0" u="none">
                <a:solidFill>
                  <a:srgbClr val="000000"/>
                </a:solidFill>
                <a:latin typeface="Times New Roman"/>
                <a:ea typeface="Times New Roman"/>
                <a:cs typeface="Times New Roman"/>
              </a:rPr>
              <a:t>Amazon</a:t>
            </a:r>
            <a:r>
              <a:rPr sz="1200" b="0" i="0" u="none">
                <a:solidFill>
                  <a:srgbClr val="000000"/>
                </a:solidFill>
                <a:latin typeface="Times New Roman"/>
                <a:ea typeface="Times New Roman"/>
                <a:cs typeface="Times New Roman"/>
              </a:rPr>
              <a:t> run aggregation queries to generate business insights such as:</a:t>
            </a:r>
            <a:endParaRPr/>
          </a:p>
          <a:p>
            <a:pPr>
              <a:defRPr/>
            </a:pPr>
            <a:r>
              <a:rPr sz="1200" b="0" i="0" u="none">
                <a:solidFill>
                  <a:srgbClr val="000000"/>
                </a:solidFill>
                <a:latin typeface="Times New Roman"/>
                <a:ea typeface="Times New Roman"/>
                <a:cs typeface="Times New Roman"/>
              </a:rPr>
              <a:t>Total orders per hour</a:t>
            </a:r>
            <a:endParaRPr/>
          </a:p>
          <a:p>
            <a:pPr>
              <a:defRPr/>
            </a:pPr>
            <a:r>
              <a:rPr sz="1200" b="0" i="0" u="none">
                <a:solidFill>
                  <a:srgbClr val="000000"/>
                </a:solidFill>
                <a:latin typeface="Times New Roman"/>
                <a:ea typeface="Times New Roman"/>
                <a:cs typeface="Times New Roman"/>
              </a:rPr>
              <a:t>Revenue per product category</a:t>
            </a:r>
            <a:endParaRPr/>
          </a:p>
          <a:p>
            <a:pPr>
              <a:defRPr/>
            </a:pPr>
            <a:r>
              <a:rPr sz="1200" b="0" i="0" u="none">
                <a:solidFill>
                  <a:srgbClr val="000000"/>
                </a:solidFill>
                <a:latin typeface="Times New Roman"/>
                <a:ea typeface="Times New Roman"/>
                <a:cs typeface="Times New Roman"/>
              </a:rPr>
              <a:t>Inventory levels across warehouses</a:t>
            </a:r>
            <a:endParaRPr/>
          </a:p>
          <a:p>
            <a:pPr>
              <a:defRPr/>
            </a:pPr>
            <a:r>
              <a:rPr sz="1200" b="0" i="0" u="none">
                <a:solidFill>
                  <a:srgbClr val="000000"/>
                </a:solidFill>
                <a:latin typeface="Times New Roman"/>
                <a:ea typeface="Times New Roman"/>
                <a:cs typeface="Times New Roman"/>
              </a:rPr>
              <a:t>Top-selling products of the day</a:t>
            </a:r>
            <a:endParaRPr/>
          </a:p>
          <a:p>
            <a:pPr>
              <a:defRPr/>
            </a:pPr>
            <a:r>
              <a:rPr sz="1200" b="0" i="0" u="none">
                <a:solidFill>
                  <a:srgbClr val="000000"/>
                </a:solidFill>
                <a:latin typeface="Times New Roman"/>
                <a:ea typeface="Times New Roman"/>
                <a:cs typeface="Times New Roman"/>
              </a:rPr>
              <a:t>These metrics are continuously recomputed from operational data stored in the production database.</a:t>
            </a:r>
            <a:endParaRPr/>
          </a:p>
          <a:p>
            <a:pPr>
              <a:defRPr/>
            </a:pPr>
            <a:r>
              <a:rPr sz="1800" b="1" i="0" u="none">
                <a:solidFill>
                  <a:srgbClr val="000000"/>
                </a:solidFill>
                <a:latin typeface="Times New Roman"/>
                <a:ea typeface="Times New Roman"/>
                <a:cs typeface="Times New Roman"/>
              </a:rPr>
              <a:t>Important Note</a:t>
            </a:r>
            <a:endParaRPr/>
          </a:p>
          <a:p>
            <a:pPr>
              <a:defRPr/>
            </a:pPr>
            <a:r>
              <a:rPr sz="1200" b="0" i="0" u="none">
                <a:solidFill>
                  <a:srgbClr val="000000"/>
                </a:solidFill>
                <a:latin typeface="Times New Roman"/>
                <a:ea typeface="Times New Roman"/>
                <a:cs typeface="Times New Roman"/>
              </a:rPr>
              <a:t>Aggregation results are </a:t>
            </a:r>
            <a:r>
              <a:rPr sz="1200" b="1" i="0" u="none">
                <a:solidFill>
                  <a:srgbClr val="000000"/>
                </a:solidFill>
                <a:latin typeface="Times New Roman"/>
                <a:ea typeface="Times New Roman"/>
                <a:cs typeface="Times New Roman"/>
              </a:rPr>
              <a:t>not automatically stored in the database</a:t>
            </a:r>
            <a:r>
              <a:rPr sz="1200" b="0" i="0" u="none">
                <a:solidFill>
                  <a:srgbClr val="000000"/>
                </a:solidFill>
                <a:latin typeface="Times New Roman"/>
                <a:ea typeface="Times New Roman"/>
                <a:cs typeface="Times New Roman"/>
              </a:rPr>
              <a:t>. By default, the results are returned to the application in memory.</a:t>
            </a:r>
            <a:endParaRPr/>
          </a:p>
          <a:p>
            <a:pPr>
              <a:defRPr/>
            </a:pPr>
            <a:r>
              <a:rPr sz="1200" b="0" i="0" u="none">
                <a:solidFill>
                  <a:srgbClr val="000000"/>
                </a:solidFill>
                <a:latin typeface="Times New Roman"/>
                <a:ea typeface="Times New Roman"/>
                <a:cs typeface="Times New Roman"/>
              </a:rPr>
              <a:t>If developers want to persist the results—for example to create a reporting dataset—they must explicitly use pipeline stages such as:</a:t>
            </a:r>
            <a:endParaRPr/>
          </a:p>
          <a:p>
            <a:pPr>
              <a:defRPr/>
            </a:pPr>
            <a:r>
              <a:rPr sz="1000" b="0" i="0" u="none">
                <a:solidFill>
                  <a:srgbClr val="000000"/>
                </a:solidFill>
                <a:latin typeface="Courier New"/>
                <a:ea typeface="Courier New"/>
                <a:cs typeface="Courier New"/>
              </a:rPr>
              <a:t>$out</a:t>
            </a:r>
            <a:endParaRPr/>
          </a:p>
          <a:p>
            <a:pPr>
              <a:defRPr/>
            </a:pPr>
            <a:r>
              <a:rPr sz="1000" b="0" i="0" u="none">
                <a:solidFill>
                  <a:srgbClr val="000000"/>
                </a:solidFill>
                <a:latin typeface="Courier New"/>
                <a:ea typeface="Courier New"/>
                <a:cs typeface="Courier New"/>
              </a:rPr>
              <a:t>$merge</a:t>
            </a:r>
            <a:endParaRPr/>
          </a:p>
          <a:p>
            <a:pPr>
              <a:defRPr/>
            </a:pPr>
            <a:r>
              <a:rPr sz="1200" b="0" i="0" u="none">
                <a:solidFill>
                  <a:srgbClr val="000000"/>
                </a:solidFill>
                <a:latin typeface="Times New Roman"/>
                <a:ea typeface="Times New Roman"/>
                <a:cs typeface="Times New Roman"/>
              </a:rPr>
              <a:t>to write the computed results into a new collection.</a:t>
            </a:r>
            <a:endParaRPr/>
          </a:p>
          <a:p>
            <a:pPr>
              <a:defRPr/>
            </a:pPr>
            <a:r>
              <a:rPr sz="18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Aggregation pipelines transform raw operational data into </a:t>
            </a:r>
            <a:r>
              <a:rPr sz="1200" b="1" i="0" u="none">
                <a:solidFill>
                  <a:srgbClr val="000000"/>
                </a:solidFill>
                <a:latin typeface="Times New Roman"/>
                <a:ea typeface="Times New Roman"/>
                <a:cs typeface="Times New Roman"/>
              </a:rPr>
              <a:t>business insights</a:t>
            </a:r>
            <a:r>
              <a:rPr sz="1200" b="0" i="0" u="none">
                <a:solidFill>
                  <a:srgbClr val="000000"/>
                </a:solidFill>
                <a:latin typeface="Times New Roman"/>
                <a:ea typeface="Times New Roman"/>
                <a:cs typeface="Times New Roman"/>
              </a:rPr>
              <a:t>, enabling dashboards, reports, and real-time analytics used by modern digital platforms.</a:t>
            </a:r>
            <a:endParaRPr/>
          </a:p>
          <a:p>
            <a:pPr>
              <a:defRPr/>
            </a:pPr>
            <a:r>
              <a:rPr sz="18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Does the result of an aggregation automatically get saved in the database?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No. By default, aggregation results are returned to the application in memory. To store the results permanently, developers must use pipeline stages such as </a:t>
            </a:r>
            <a:r>
              <a:rPr sz="1000" b="0" i="0" u="none">
                <a:solidFill>
                  <a:srgbClr val="000000"/>
                </a:solidFill>
                <a:latin typeface="Courier New"/>
                <a:ea typeface="Courier New"/>
                <a:cs typeface="Courier New"/>
              </a:rPr>
              <a:t>$out</a:t>
            </a:r>
            <a:r>
              <a:rPr sz="1200" b="0" i="0" u="none">
                <a:solidFill>
                  <a:srgbClr val="000000"/>
                </a:solidFill>
                <a:latin typeface="Times New Roman"/>
                <a:ea typeface="Times New Roman"/>
                <a:cs typeface="Times New Roman"/>
              </a:rPr>
              <a:t> or </a:t>
            </a:r>
            <a:r>
              <a:rPr sz="1000" b="0" i="0" u="none">
                <a:solidFill>
                  <a:srgbClr val="000000"/>
                </a:solidFill>
                <a:latin typeface="Courier New"/>
                <a:ea typeface="Courier New"/>
                <a:cs typeface="Courier New"/>
              </a:rPr>
              <a:t>$merge</a:t>
            </a:r>
            <a:r>
              <a:rPr sz="1200" b="0" i="0" u="none">
                <a:solidFill>
                  <a:srgbClr val="000000"/>
                </a:solidFill>
                <a:latin typeface="Times New Roman"/>
                <a:ea typeface="Times New Roman"/>
                <a:cs typeface="Times New Roman"/>
              </a:rPr>
              <a:t> to write the output into a collection.</a:t>
            </a:r>
            <a:endParaRPr/>
          </a:p>
        </p:txBody>
      </p:sp>
      <p:sp>
        <p:nvSpPr>
          <p:cNvPr id="784770308" name="Slide Number Placeholder 3"/>
          <p:cNvSpPr>
            <a:spLocks noGrp="1"/>
          </p:cNvSpPr>
          <p:nvPr>
            <p:ph type="sldNum" sz="quarter" idx="10"/>
          </p:nvPr>
        </p:nvSpPr>
        <p:spPr bwMode="auto"/>
        <p:txBody>
          <a:bodyPr/>
          <a:lstStyle/>
          <a:p>
            <a:pPr>
              <a:defRPr/>
            </a:pPr>
            <a:fld id="{F7021451-1387-4CA6-816F-3879F97B5CBC}" type="slidenum">
              <a:rPr lang="en-US"/>
              <a:t>43</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4403692" name="Slide Image Placeholder 1"/>
          <p:cNvSpPr>
            <a:spLocks noChangeAspect="1" noGrp="1" noRot="1"/>
          </p:cNvSpPr>
          <p:nvPr>
            <p:ph type="sldImg"/>
          </p:nvPr>
        </p:nvSpPr>
        <p:spPr bwMode="auto"/>
      </p:sp>
      <p:sp>
        <p:nvSpPr>
          <p:cNvPr id="933874798"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introducing aggregation and the concept of pipelines, it is important to understand </a:t>
            </a:r>
            <a:r>
              <a:rPr sz="1200" b="1" i="0" u="none">
                <a:solidFill>
                  <a:srgbClr val="000000"/>
                </a:solidFill>
                <a:latin typeface="Times New Roman"/>
                <a:ea typeface="Times New Roman"/>
                <a:cs typeface="Times New Roman"/>
              </a:rPr>
              <a:t>how aggregation pipelines actually process data step by step</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 </a:t>
            </a:r>
            <a:r>
              <a:rPr sz="1200" b="1" i="0" u="none">
                <a:solidFill>
                  <a:srgbClr val="000000"/>
                </a:solidFill>
                <a:latin typeface="Times New Roman"/>
                <a:ea typeface="Times New Roman"/>
                <a:cs typeface="Times New Roman"/>
              </a:rPr>
              <a:t>pipeline</a:t>
            </a:r>
            <a:r>
              <a:rPr sz="1200" b="0" i="0" u="none">
                <a:solidFill>
                  <a:srgbClr val="000000"/>
                </a:solidFill>
                <a:latin typeface="Times New Roman"/>
                <a:ea typeface="Times New Roman"/>
                <a:cs typeface="Times New Roman"/>
              </a:rPr>
              <a:t> is a sequence of processing stages through which documents flow. Each stage receives the output of the previous stage, performs a transformation, and passes the result to the next stage. Because each stage depends on the previous one, </a:t>
            </a:r>
            <a:r>
              <a:rPr sz="1200" b="1" i="0" u="none">
                <a:solidFill>
                  <a:srgbClr val="000000"/>
                </a:solidFill>
                <a:latin typeface="Times New Roman"/>
                <a:ea typeface="Times New Roman"/>
                <a:cs typeface="Times New Roman"/>
              </a:rPr>
              <a:t>the order of the stages is extremely important</a:t>
            </a:r>
            <a:r>
              <a:rPr sz="1200" b="0" i="0" u="none">
                <a:solidFill>
                  <a:srgbClr val="000000"/>
                </a:solidFill>
                <a:latin typeface="Times New Roman"/>
                <a:ea typeface="Times New Roman"/>
                <a:cs typeface="Times New Roman"/>
              </a:rPr>
              <a:t> for both correctness and performance.</a:t>
            </a:r>
            <a:endParaRPr/>
          </a:p>
          <a:p>
            <a:pPr>
              <a:defRPr/>
            </a:pPr>
            <a:r>
              <a:rPr sz="1200" b="0" i="0" u="none">
                <a:solidFill>
                  <a:srgbClr val="000000"/>
                </a:solidFill>
                <a:latin typeface="Times New Roman"/>
                <a:ea typeface="Times New Roman"/>
                <a:cs typeface="Times New Roman"/>
              </a:rPr>
              <a:t>In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aggregation pipelines are written as an array of stages:</a:t>
            </a:r>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aggregate([</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stage1</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stage2</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stage3</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Each stage is a JSON object describing a transformation, such as filtering documents, grouping them, computing statistics, or reshaping the output.</a:t>
            </a:r>
            <a:endParaRPr/>
          </a:p>
          <a:p>
            <a:pPr>
              <a:defRPr/>
            </a:pPr>
            <a:r>
              <a:rPr sz="1200" b="0" i="0" u="none">
                <a:solidFill>
                  <a:srgbClr val="000000"/>
                </a:solidFill>
                <a:latin typeface="Times New Roman"/>
                <a:ea typeface="Times New Roman"/>
                <a:cs typeface="Times New Roman"/>
              </a:rPr>
              <a:t>A useful way to think about aggregation pipelines is to compare them with </a:t>
            </a:r>
            <a:r>
              <a:rPr sz="1200" b="1" i="0" u="none">
                <a:solidFill>
                  <a:srgbClr val="000000"/>
                </a:solidFill>
                <a:latin typeface="Times New Roman"/>
                <a:ea typeface="Times New Roman"/>
                <a:cs typeface="Times New Roman"/>
              </a:rPr>
              <a:t>Unix pipes</a:t>
            </a:r>
            <a:r>
              <a:rPr sz="1200" b="0" i="0" u="none">
                <a:solidFill>
                  <a:srgbClr val="000000"/>
                </a:solidFill>
                <a:latin typeface="Times New Roman"/>
                <a:ea typeface="Times New Roman"/>
                <a:cs typeface="Times New Roman"/>
              </a:rPr>
              <a:t>, where data flows through a chain of commands. Each command processes the data and passes the result forward until the final output is produced.</a:t>
            </a:r>
            <a:endParaRPr/>
          </a:p>
          <a:p>
            <a:pPr>
              <a:defRPr/>
            </a:pPr>
            <a:r>
              <a:rPr sz="1200" b="0" i="0" u="none">
                <a:solidFill>
                  <a:srgbClr val="000000"/>
                </a:solidFill>
                <a:latin typeface="Times New Roman"/>
                <a:ea typeface="Times New Roman"/>
                <a:cs typeface="Times New Roman"/>
              </a:rPr>
              <a:t>For performance reasons, stages that </a:t>
            </a:r>
            <a:r>
              <a:rPr sz="1200" b="1" i="0" u="none">
                <a:solidFill>
                  <a:srgbClr val="000000"/>
                </a:solidFill>
                <a:latin typeface="Times New Roman"/>
                <a:ea typeface="Times New Roman"/>
                <a:cs typeface="Times New Roman"/>
              </a:rPr>
              <a:t>reduce the number of documents</a:t>
            </a:r>
            <a:r>
              <a:rPr sz="1200" b="0" i="0" u="none">
                <a:solidFill>
                  <a:srgbClr val="000000"/>
                </a:solidFill>
                <a:latin typeface="Times New Roman"/>
                <a:ea typeface="Times New Roman"/>
                <a:cs typeface="Times New Roman"/>
              </a:rPr>
              <a:t>—such as </a:t>
            </a:r>
            <a:r>
              <a:rPr sz="1000" b="0" i="0" u="none">
                <a:solidFill>
                  <a:srgbClr val="000000"/>
                </a:solidFill>
                <a:latin typeface="Courier New"/>
                <a:ea typeface="Courier New"/>
                <a:cs typeface="Courier New"/>
              </a:rPr>
              <a:t>$match</a:t>
            </a:r>
            <a:r>
              <a:rPr sz="1200" b="0" i="0" u="none">
                <a:solidFill>
                  <a:srgbClr val="000000"/>
                </a:solidFill>
                <a:latin typeface="Times New Roman"/>
                <a:ea typeface="Times New Roman"/>
                <a:cs typeface="Times New Roman"/>
              </a:rPr>
              <a:t> (filtering) or </a:t>
            </a:r>
            <a:r>
              <a:rPr sz="1000" b="0" i="0" u="none">
                <a:solidFill>
                  <a:srgbClr val="000000"/>
                </a:solidFill>
                <a:latin typeface="Courier New"/>
                <a:ea typeface="Courier New"/>
                <a:cs typeface="Courier New"/>
              </a:rPr>
              <a:t>$limit</a:t>
            </a:r>
            <a:r>
              <a:rPr sz="1200" b="0" i="0" u="none">
                <a:solidFill>
                  <a:srgbClr val="000000"/>
                </a:solidFill>
                <a:latin typeface="Times New Roman"/>
                <a:ea typeface="Times New Roman"/>
                <a:cs typeface="Times New Roman"/>
              </a:rPr>
              <a:t>—should generally appear </a:t>
            </a:r>
            <a:r>
              <a:rPr sz="1200" b="1" i="0" u="none">
                <a:solidFill>
                  <a:srgbClr val="000000"/>
                </a:solidFill>
                <a:latin typeface="Times New Roman"/>
                <a:ea typeface="Times New Roman"/>
                <a:cs typeface="Times New Roman"/>
              </a:rPr>
              <a:t>as early as possible</a:t>
            </a:r>
            <a:r>
              <a:rPr sz="1200" b="0" i="0" u="none">
                <a:solidFill>
                  <a:srgbClr val="000000"/>
                </a:solidFill>
                <a:latin typeface="Times New Roman"/>
                <a:ea typeface="Times New Roman"/>
                <a:cs typeface="Times New Roman"/>
              </a:rPr>
              <a:t> in the pipeline. This reduces the amount of data that later stages must process.</a:t>
            </a:r>
            <a:endParaRPr/>
          </a:p>
          <a:p>
            <a:pPr>
              <a:defRPr/>
            </a:pPr>
            <a:r>
              <a:rPr sz="18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Large technology companies use aggregation pipelines continuously to generate operational insights.</a:t>
            </a:r>
            <a:endParaRPr/>
          </a:p>
          <a:p>
            <a:pPr>
              <a:defRPr/>
            </a:pPr>
            <a:r>
              <a:rPr sz="1200" b="0" i="0" u="none">
                <a:solidFill>
                  <a:srgbClr val="000000"/>
                </a:solidFill>
                <a:latin typeface="Times New Roman"/>
                <a:ea typeface="Times New Roman"/>
                <a:cs typeface="Times New Roman"/>
              </a:rPr>
              <a:t>For example, </a:t>
            </a:r>
            <a:r>
              <a:rPr sz="1200" b="1" i="0" u="none">
                <a:solidFill>
                  <a:srgbClr val="000000"/>
                </a:solidFill>
                <a:latin typeface="Times New Roman"/>
                <a:ea typeface="Times New Roman"/>
                <a:cs typeface="Times New Roman"/>
              </a:rPr>
              <a:t>Spotify</a:t>
            </a:r>
            <a:r>
              <a:rPr sz="1200" b="0" i="0" u="none">
                <a:solidFill>
                  <a:srgbClr val="000000"/>
                </a:solidFill>
                <a:latin typeface="Times New Roman"/>
                <a:ea typeface="Times New Roman"/>
                <a:cs typeface="Times New Roman"/>
              </a:rPr>
              <a:t> processes millions of listening events every minute. Each time a user plays a song, an event document is stored in a database containing fields such as:</a:t>
            </a:r>
            <a:endParaRPr/>
          </a:p>
          <a:p>
            <a:pPr>
              <a:defRPr/>
            </a:pPr>
            <a:r>
              <a:rPr sz="1200" b="0" i="0" u="none">
                <a:solidFill>
                  <a:srgbClr val="000000"/>
                </a:solidFill>
                <a:latin typeface="Times New Roman"/>
                <a:ea typeface="Times New Roman"/>
                <a:cs typeface="Times New Roman"/>
              </a:rPr>
              <a:t>user_id</a:t>
            </a:r>
            <a:endParaRPr/>
          </a:p>
          <a:p>
            <a:pPr>
              <a:defRPr/>
            </a:pPr>
            <a:r>
              <a:rPr sz="1200" b="0" i="0" u="none">
                <a:solidFill>
                  <a:srgbClr val="000000"/>
                </a:solidFill>
                <a:latin typeface="Times New Roman"/>
                <a:ea typeface="Times New Roman"/>
                <a:cs typeface="Times New Roman"/>
              </a:rPr>
              <a:t>song_id</a:t>
            </a:r>
            <a:endParaRPr/>
          </a:p>
          <a:p>
            <a:pPr>
              <a:defRPr/>
            </a:pPr>
            <a:r>
              <a:rPr sz="1200" b="0" i="0" u="none">
                <a:solidFill>
                  <a:srgbClr val="000000"/>
                </a:solidFill>
                <a:latin typeface="Times New Roman"/>
                <a:ea typeface="Times New Roman"/>
                <a:cs typeface="Times New Roman"/>
              </a:rPr>
              <a:t>country</a:t>
            </a:r>
            <a:endParaRPr/>
          </a:p>
          <a:p>
            <a:pPr>
              <a:defRPr/>
            </a:pPr>
            <a:r>
              <a:rPr sz="1200" b="0" i="0" u="none">
                <a:solidFill>
                  <a:srgbClr val="000000"/>
                </a:solidFill>
                <a:latin typeface="Times New Roman"/>
                <a:ea typeface="Times New Roman"/>
                <a:cs typeface="Times New Roman"/>
              </a:rPr>
              <a:t>timestamp</a:t>
            </a:r>
            <a:endParaRPr/>
          </a:p>
          <a:p>
            <a:pPr>
              <a:defRPr/>
            </a:pPr>
            <a:r>
              <a:rPr sz="1200" b="0" i="0" u="none">
                <a:solidFill>
                  <a:srgbClr val="000000"/>
                </a:solidFill>
                <a:latin typeface="Times New Roman"/>
                <a:ea typeface="Times New Roman"/>
                <a:cs typeface="Times New Roman"/>
              </a:rPr>
              <a:t>Aggregation pipelines are used to compute metrics such as:</a:t>
            </a:r>
            <a:endParaRPr/>
          </a:p>
          <a:p>
            <a:pPr>
              <a:defRPr/>
            </a:pPr>
            <a:r>
              <a:rPr sz="1200" b="1" i="0" u="none">
                <a:solidFill>
                  <a:srgbClr val="000000"/>
                </a:solidFill>
                <a:latin typeface="Times New Roman"/>
                <a:ea typeface="Times New Roman"/>
                <a:cs typeface="Times New Roman"/>
              </a:rPr>
              <a:t>Most played songs per country</a:t>
            </a:r>
            <a:endParaRPr/>
          </a:p>
          <a:p>
            <a:pPr>
              <a:defRPr/>
            </a:pPr>
            <a:r>
              <a:rPr sz="1200" b="1" i="0" u="none">
                <a:solidFill>
                  <a:srgbClr val="000000"/>
                </a:solidFill>
                <a:latin typeface="Times New Roman"/>
                <a:ea typeface="Times New Roman"/>
                <a:cs typeface="Times New Roman"/>
              </a:rPr>
              <a:t>Top artists in the last 24 hours</a:t>
            </a:r>
            <a:endParaRPr/>
          </a:p>
          <a:p>
            <a:pPr>
              <a:defRPr/>
            </a:pPr>
            <a:r>
              <a:rPr sz="1200" b="1" i="0" u="none">
                <a:solidFill>
                  <a:srgbClr val="000000"/>
                </a:solidFill>
                <a:latin typeface="Times New Roman"/>
                <a:ea typeface="Times New Roman"/>
                <a:cs typeface="Times New Roman"/>
              </a:rPr>
              <a:t>Total listening time per user segment</a:t>
            </a:r>
            <a:endParaRPr/>
          </a:p>
          <a:p>
            <a:pPr>
              <a:defRPr/>
            </a:pPr>
            <a:r>
              <a:rPr sz="1200" b="1" i="0" u="none">
                <a:solidFill>
                  <a:srgbClr val="000000"/>
                </a:solidFill>
                <a:latin typeface="Times New Roman"/>
                <a:ea typeface="Times New Roman"/>
                <a:cs typeface="Times New Roman"/>
              </a:rPr>
              <a:t>Trending tracks worldwide</a:t>
            </a:r>
            <a:endParaRPr/>
          </a:p>
          <a:p>
            <a:pPr>
              <a:defRPr/>
            </a:pPr>
            <a:r>
              <a:rPr sz="1200" b="0" i="0" u="none">
                <a:solidFill>
                  <a:srgbClr val="000000"/>
                </a:solidFill>
                <a:latin typeface="Times New Roman"/>
                <a:ea typeface="Times New Roman"/>
                <a:cs typeface="Times New Roman"/>
              </a:rPr>
              <a:t>A simplified pipeline might work like this:</a:t>
            </a:r>
            <a:endParaRPr/>
          </a:p>
          <a:p>
            <a:pPr>
              <a:defRPr/>
            </a:pPr>
            <a:r>
              <a:rPr sz="1000" b="0" i="0" u="none">
                <a:solidFill>
                  <a:srgbClr val="000000"/>
                </a:solidFill>
                <a:latin typeface="Courier New"/>
                <a:ea typeface="Courier New"/>
                <a:cs typeface="Courier New"/>
              </a:rPr>
              <a:t>$match</a:t>
            </a:r>
            <a:r>
              <a:rPr sz="1200" b="0" i="0" u="none">
                <a:solidFill>
                  <a:srgbClr val="000000"/>
                </a:solidFill>
                <a:latin typeface="Times New Roman"/>
                <a:ea typeface="Times New Roman"/>
                <a:cs typeface="Times New Roman"/>
              </a:rPr>
              <a:t> — select listening events from the last 24 hours </a:t>
            </a:r>
            <a:endParaRPr/>
          </a:p>
          <a:p>
            <a:pPr>
              <a:defRPr/>
            </a:pP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 group by </a:t>
            </a:r>
            <a:r>
              <a:rPr sz="1000" b="0" i="0" u="none">
                <a:solidFill>
                  <a:srgbClr val="000000"/>
                </a:solidFill>
                <a:latin typeface="Courier New"/>
                <a:ea typeface="Courier New"/>
                <a:cs typeface="Courier New"/>
              </a:rPr>
              <a:t>song_id</a:t>
            </a:r>
            <a:endParaRPr/>
          </a:p>
          <a:p>
            <a:pPr>
              <a:defRPr/>
            </a:pPr>
            <a:r>
              <a:rPr sz="1000" b="0" i="0" u="none">
                <a:solidFill>
                  <a:srgbClr val="000000"/>
                </a:solidFill>
                <a:latin typeface="Courier New"/>
                <a:ea typeface="Courier New"/>
                <a:cs typeface="Courier New"/>
              </a:rPr>
              <a:t>$sum</a:t>
            </a:r>
            <a:r>
              <a:rPr sz="1200" b="0" i="0" u="none">
                <a:solidFill>
                  <a:srgbClr val="000000"/>
                </a:solidFill>
                <a:latin typeface="Times New Roman"/>
                <a:ea typeface="Times New Roman"/>
                <a:cs typeface="Times New Roman"/>
              </a:rPr>
              <a:t> — count how many times each song was played </a:t>
            </a:r>
            <a:endParaRPr/>
          </a:p>
          <a:p>
            <a:pPr>
              <a:defRPr/>
            </a:pPr>
            <a:r>
              <a:rPr sz="1000" b="0" i="0" u="none">
                <a:solidFill>
                  <a:srgbClr val="000000"/>
                </a:solidFill>
                <a:latin typeface="Courier New"/>
                <a:ea typeface="Courier New"/>
                <a:cs typeface="Courier New"/>
              </a:rPr>
              <a:t>$sort</a:t>
            </a:r>
            <a:r>
              <a:rPr sz="1200" b="0" i="0" u="none">
                <a:solidFill>
                  <a:srgbClr val="000000"/>
                </a:solidFill>
                <a:latin typeface="Times New Roman"/>
                <a:ea typeface="Times New Roman"/>
                <a:cs typeface="Times New Roman"/>
              </a:rPr>
              <a:t> — rank songs by number of plays </a:t>
            </a:r>
            <a:endParaRPr/>
          </a:p>
          <a:p>
            <a:pPr>
              <a:defRPr/>
            </a:pPr>
            <a:r>
              <a:rPr sz="1000" b="0" i="0" u="none">
                <a:solidFill>
                  <a:srgbClr val="000000"/>
                </a:solidFill>
                <a:latin typeface="Courier New"/>
                <a:ea typeface="Courier New"/>
                <a:cs typeface="Courier New"/>
              </a:rPr>
              <a:t>$limit</a:t>
            </a:r>
            <a:r>
              <a:rPr sz="1200" b="0" i="0" u="none">
                <a:solidFill>
                  <a:srgbClr val="000000"/>
                </a:solidFill>
                <a:latin typeface="Times New Roman"/>
                <a:ea typeface="Times New Roman"/>
                <a:cs typeface="Times New Roman"/>
              </a:rPr>
              <a:t> — return the top 10 songs </a:t>
            </a:r>
            <a:endParaRPr/>
          </a:p>
          <a:p>
            <a:pPr>
              <a:defRPr/>
            </a:pPr>
            <a:r>
              <a:rPr sz="1200" b="0" i="0" u="none">
                <a:solidFill>
                  <a:srgbClr val="000000"/>
                </a:solidFill>
                <a:latin typeface="Times New Roman"/>
                <a:ea typeface="Times New Roman"/>
                <a:cs typeface="Times New Roman"/>
              </a:rPr>
              <a:t>These computed results power the </a:t>
            </a:r>
            <a:r>
              <a:rPr sz="1200" b="1" i="0" u="none">
                <a:solidFill>
                  <a:srgbClr val="000000"/>
                </a:solidFill>
                <a:latin typeface="Times New Roman"/>
                <a:ea typeface="Times New Roman"/>
                <a:cs typeface="Times New Roman"/>
              </a:rPr>
              <a:t>“Trending Now” and recommendation dashboards</a:t>
            </a:r>
            <a:r>
              <a:rPr sz="1200" b="0" i="0" u="none">
                <a:solidFill>
                  <a:srgbClr val="000000"/>
                </a:solidFill>
                <a:latin typeface="Times New Roman"/>
                <a:ea typeface="Times New Roman"/>
                <a:cs typeface="Times New Roman"/>
              </a:rPr>
              <a:t> used by Spotify’s product teams.</a:t>
            </a:r>
            <a:endParaRPr/>
          </a:p>
          <a:p>
            <a:pPr>
              <a:defRPr/>
            </a:pPr>
            <a:r>
              <a:rPr sz="18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Aggregation pipelines process documents through a sequence of transformation stages. Because each stage operates on the output of the previous one, </a:t>
            </a:r>
            <a:r>
              <a:rPr sz="1200" b="1" i="0" u="none">
                <a:solidFill>
                  <a:srgbClr val="000000"/>
                </a:solidFill>
                <a:latin typeface="Times New Roman"/>
                <a:ea typeface="Times New Roman"/>
                <a:cs typeface="Times New Roman"/>
              </a:rPr>
              <a:t>pipeline order directly affects both correctness and performance</a:t>
            </a:r>
            <a:r>
              <a:rPr sz="1200" b="0" i="0" u="none">
                <a:solidFill>
                  <a:srgbClr val="000000"/>
                </a:solidFill>
                <a:latin typeface="Times New Roman"/>
                <a:ea typeface="Times New Roman"/>
                <a:cs typeface="Times New Roman"/>
              </a:rPr>
              <a:t>.</a:t>
            </a:r>
            <a:endParaRPr/>
          </a:p>
          <a:p>
            <a:pPr>
              <a:defRPr/>
            </a:pPr>
            <a:r>
              <a:rPr sz="18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you need to count students per city and then show only cities with more than 100 students, in what order should the pipeline stages appear?</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First use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to count the number of students per city, and then apply </a:t>
            </a:r>
            <a:r>
              <a:rPr sz="1000" b="0" i="0" u="none">
                <a:solidFill>
                  <a:srgbClr val="000000"/>
                </a:solidFill>
                <a:latin typeface="Courier New"/>
                <a:ea typeface="Courier New"/>
                <a:cs typeface="Courier New"/>
              </a:rPr>
              <a:t>$match</a:t>
            </a:r>
            <a:r>
              <a:rPr sz="1200" b="0" i="0" u="none">
                <a:solidFill>
                  <a:srgbClr val="000000"/>
                </a:solidFill>
                <a:latin typeface="Times New Roman"/>
                <a:ea typeface="Times New Roman"/>
                <a:cs typeface="Times New Roman"/>
              </a:rPr>
              <a:t> to filter cities where the count is greater than 100.</a:t>
            </a:r>
            <a:endParaRPr/>
          </a:p>
          <a:p>
            <a:pPr>
              <a:defRPr/>
            </a:pPr>
            <a:r>
              <a:rPr sz="1200" b="0" i="0" u="none">
                <a:solidFill>
                  <a:srgbClr val="000000"/>
                </a:solidFill>
                <a:latin typeface="Times New Roman"/>
                <a:ea typeface="Times New Roman"/>
                <a:cs typeface="Times New Roman"/>
              </a:rPr>
              <a:t>The grouping must occur first because the count field does not exist until the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stage computes it.</a:t>
            </a:r>
            <a:endParaRPr/>
          </a:p>
        </p:txBody>
      </p:sp>
      <p:sp>
        <p:nvSpPr>
          <p:cNvPr id="771472709" name="Slide Number Placeholder 3"/>
          <p:cNvSpPr>
            <a:spLocks noGrp="1"/>
          </p:cNvSpPr>
          <p:nvPr>
            <p:ph type="sldNum" sz="quarter" idx="10"/>
          </p:nvPr>
        </p:nvSpPr>
        <p:spPr bwMode="auto"/>
        <p:txBody>
          <a:bodyPr/>
          <a:lstStyle/>
          <a:p>
            <a:pPr>
              <a:defRPr/>
            </a:pPr>
            <a:fld id="{F7021451-1387-4CA6-816F-3879F97B5CBC}" type="slidenum">
              <a:rPr lang="en-US"/>
              <a:t>44</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8436174" name="Slide Image Placeholder 1"/>
          <p:cNvSpPr>
            <a:spLocks noChangeAspect="1" noGrp="1" noRot="1"/>
          </p:cNvSpPr>
          <p:nvPr>
            <p:ph type="sldImg"/>
          </p:nvPr>
        </p:nvSpPr>
        <p:spPr bwMode="auto"/>
      </p:sp>
      <p:sp>
        <p:nvSpPr>
          <p:cNvPr id="1108312766"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Core Aggregation Stages</a:t>
            </a:r>
            <a:endParaRPr/>
          </a:p>
          <a:p>
            <a:pPr>
              <a:defRPr/>
            </a:pPr>
            <a:r>
              <a:rPr sz="1200" b="0" i="0" u="none">
                <a:solidFill>
                  <a:srgbClr val="000000"/>
                </a:solidFill>
                <a:latin typeface="Times New Roman"/>
                <a:ea typeface="Times New Roman"/>
                <a:cs typeface="Times New Roman"/>
              </a:rPr>
              <a:t>Some stages are used in almost every aggregation pipeline:</a:t>
            </a:r>
            <a:endParaRPr/>
          </a:p>
          <a:p>
            <a:pPr>
              <a:defRPr/>
            </a:pPr>
            <a:r>
              <a:rPr sz="1000" b="1" i="0" u="none">
                <a:solidFill>
                  <a:srgbClr val="000000"/>
                </a:solidFill>
                <a:latin typeface="Courier New"/>
                <a:ea typeface="Courier New"/>
                <a:cs typeface="Courier New"/>
              </a:rPr>
              <a:t>$match</a:t>
            </a:r>
            <a:r>
              <a:rPr sz="1200" b="0" i="0" u="none">
                <a:solidFill>
                  <a:srgbClr val="000000"/>
                </a:solidFill>
                <a:latin typeface="Times New Roman"/>
                <a:ea typeface="Times New Roman"/>
                <a:cs typeface="Times New Roman"/>
              </a:rPr>
              <a:t> — filters documents (similar to a </a:t>
            </a:r>
            <a:r>
              <a:rPr sz="1000" b="0" i="0" u="none">
                <a:solidFill>
                  <a:srgbClr val="000000"/>
                </a:solidFill>
                <a:latin typeface="Courier New"/>
                <a:ea typeface="Courier New"/>
                <a:cs typeface="Courier New"/>
              </a:rPr>
              <a:t>find</a:t>
            </a:r>
            <a:r>
              <a:rPr sz="1200" b="0" i="0" u="none">
                <a:solidFill>
                  <a:srgbClr val="000000"/>
                </a:solidFill>
                <a:latin typeface="Times New Roman"/>
                <a:ea typeface="Times New Roman"/>
                <a:cs typeface="Times New Roman"/>
              </a:rPr>
              <a:t> query) </a:t>
            </a:r>
            <a:endParaRPr/>
          </a:p>
          <a:p>
            <a:pPr>
              <a:defRPr/>
            </a:pPr>
            <a:r>
              <a:rPr sz="1000" b="1"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 groups documents by a field and applies aggregation operators such as </a:t>
            </a:r>
            <a:r>
              <a:rPr sz="1000" b="0" i="0" u="none">
                <a:solidFill>
                  <a:srgbClr val="000000"/>
                </a:solidFill>
                <a:latin typeface="Courier New"/>
                <a:ea typeface="Courier New"/>
                <a:cs typeface="Courier New"/>
              </a:rPr>
              <a:t>sum</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avg</a:t>
            </a:r>
            <a:r>
              <a:rPr sz="1200" b="0" i="0" u="none">
                <a:solidFill>
                  <a:srgbClr val="000000"/>
                </a:solidFill>
                <a:latin typeface="Times New Roman"/>
                <a:ea typeface="Times New Roman"/>
                <a:cs typeface="Times New Roman"/>
              </a:rPr>
              <a:t>, or </a:t>
            </a:r>
            <a:r>
              <a:rPr sz="1000" b="0" i="0" u="none">
                <a:solidFill>
                  <a:srgbClr val="000000"/>
                </a:solidFill>
                <a:latin typeface="Courier New"/>
                <a:ea typeface="Courier New"/>
                <a:cs typeface="Courier New"/>
              </a:rPr>
              <a:t>count</a:t>
            </a:r>
            <a:endParaRPr/>
          </a:p>
          <a:p>
            <a:pPr>
              <a:defRPr/>
            </a:pPr>
            <a:r>
              <a:rPr sz="1000" b="1" i="0" u="none">
                <a:solidFill>
                  <a:srgbClr val="000000"/>
                </a:solidFill>
                <a:latin typeface="Courier New"/>
                <a:ea typeface="Courier New"/>
                <a:cs typeface="Courier New"/>
              </a:rPr>
              <a:t>$project</a:t>
            </a:r>
            <a:r>
              <a:rPr sz="1200" b="0" i="0" u="none">
                <a:solidFill>
                  <a:srgbClr val="000000"/>
                </a:solidFill>
                <a:latin typeface="Times New Roman"/>
                <a:ea typeface="Times New Roman"/>
                <a:cs typeface="Times New Roman"/>
              </a:rPr>
              <a:t> — reshapes documents by including, excluding, or computing fields </a:t>
            </a:r>
            <a:endParaRPr/>
          </a:p>
          <a:p>
            <a:pPr>
              <a:defRPr/>
            </a:pPr>
            <a:r>
              <a:rPr sz="1000" b="1" i="0" u="none">
                <a:solidFill>
                  <a:srgbClr val="000000"/>
                </a:solidFill>
                <a:latin typeface="Courier New"/>
                <a:ea typeface="Courier New"/>
                <a:cs typeface="Courier New"/>
              </a:rPr>
              <a:t>$sort</a:t>
            </a:r>
            <a:r>
              <a:rPr sz="1200" b="0" i="0" u="none">
                <a:solidFill>
                  <a:srgbClr val="000000"/>
                </a:solidFill>
                <a:latin typeface="Times New Roman"/>
                <a:ea typeface="Times New Roman"/>
                <a:cs typeface="Times New Roman"/>
              </a:rPr>
              <a:t> — sorts the resulting documents </a:t>
            </a:r>
            <a:endParaRPr/>
          </a:p>
          <a:p>
            <a:pPr>
              <a:defRPr/>
            </a:pPr>
            <a:r>
              <a:rPr sz="1000" b="1" i="0" u="none">
                <a:solidFill>
                  <a:srgbClr val="000000"/>
                </a:solidFill>
                <a:latin typeface="Courier New"/>
                <a:ea typeface="Courier New"/>
                <a:cs typeface="Courier New"/>
              </a:rPr>
              <a:t>$limit</a:t>
            </a:r>
            <a:r>
              <a:rPr sz="1200" b="1" i="0" u="none">
                <a:solidFill>
                  <a:srgbClr val="000000"/>
                </a:solidFill>
                <a:latin typeface="Times New Roman"/>
                <a:ea typeface="Times New Roman"/>
                <a:cs typeface="Times New Roman"/>
              </a:rPr>
              <a:t> / </a:t>
            </a:r>
            <a:r>
              <a:rPr sz="1000" b="1" i="0" u="none">
                <a:solidFill>
                  <a:srgbClr val="000000"/>
                </a:solidFill>
                <a:latin typeface="Courier New"/>
                <a:ea typeface="Courier New"/>
                <a:cs typeface="Courier New"/>
              </a:rPr>
              <a:t>$skip</a:t>
            </a:r>
            <a:r>
              <a:rPr sz="1200" b="0" i="0" u="none">
                <a:solidFill>
                  <a:srgbClr val="000000"/>
                </a:solidFill>
                <a:latin typeface="Times New Roman"/>
                <a:ea typeface="Times New Roman"/>
                <a:cs typeface="Times New Roman"/>
              </a:rPr>
              <a:t> — restricts or paginates the result set </a:t>
            </a:r>
            <a:endParaRPr/>
          </a:p>
          <a:p>
            <a:pPr>
              <a:defRPr/>
            </a:pPr>
            <a:r>
              <a:rPr sz="1200" b="0" i="0" u="none">
                <a:solidFill>
                  <a:srgbClr val="000000"/>
                </a:solidFill>
                <a:latin typeface="Times New Roman"/>
                <a:ea typeface="Times New Roman"/>
                <a:cs typeface="Times New Roman"/>
              </a:rPr>
              <a:t>Additional stages provide more advanced transformations:</a:t>
            </a:r>
            <a:endParaRPr/>
          </a:p>
          <a:p>
            <a:pPr>
              <a:defRPr/>
            </a:pPr>
            <a:r>
              <a:rPr sz="1000" b="1"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 converts elements of an array field into separate documents </a:t>
            </a:r>
            <a:endParaRPr/>
          </a:p>
          <a:p>
            <a:pPr>
              <a:defRPr/>
            </a:pPr>
            <a:r>
              <a:rPr sz="1000" b="1" i="0" u="none">
                <a:solidFill>
                  <a:srgbClr val="000000"/>
                </a:solidFill>
                <a:latin typeface="Courier New"/>
                <a:ea typeface="Courier New"/>
                <a:cs typeface="Courier New"/>
              </a:rPr>
              <a:t>$lookup</a:t>
            </a:r>
            <a:r>
              <a:rPr sz="1200" b="0" i="0" u="none">
                <a:solidFill>
                  <a:srgbClr val="000000"/>
                </a:solidFill>
                <a:latin typeface="Times New Roman"/>
                <a:ea typeface="Times New Roman"/>
                <a:cs typeface="Times New Roman"/>
              </a:rPr>
              <a:t> — performs a left outer join with another collection </a:t>
            </a:r>
            <a:endParaRPr/>
          </a:p>
          <a:p>
            <a:pPr>
              <a:defRPr/>
            </a:pPr>
            <a:r>
              <a:rPr sz="1000" b="1" i="0" u="none">
                <a:solidFill>
                  <a:srgbClr val="000000"/>
                </a:solidFill>
                <a:latin typeface="Courier New"/>
                <a:ea typeface="Courier New"/>
                <a:cs typeface="Courier New"/>
              </a:rPr>
              <a:t>$count</a:t>
            </a:r>
            <a:r>
              <a:rPr sz="1200" b="0" i="0" u="none">
                <a:solidFill>
                  <a:srgbClr val="000000"/>
                </a:solidFill>
                <a:latin typeface="Times New Roman"/>
                <a:ea typeface="Times New Roman"/>
                <a:cs typeface="Times New Roman"/>
              </a:rPr>
              <a:t> — returns the total number of matching documents </a:t>
            </a:r>
            <a:endParaRPr/>
          </a:p>
          <a:p>
            <a:pPr>
              <a:defRPr/>
            </a:pPr>
            <a:r>
              <a:rPr sz="1000" b="1" i="0" u="none">
                <a:solidFill>
                  <a:srgbClr val="000000"/>
                </a:solidFill>
                <a:latin typeface="Courier New"/>
                <a:ea typeface="Courier New"/>
                <a:cs typeface="Courier New"/>
              </a:rPr>
              <a:t>$out</a:t>
            </a:r>
            <a:r>
              <a:rPr sz="1200" b="0" i="0" u="none">
                <a:solidFill>
                  <a:srgbClr val="000000"/>
                </a:solidFill>
                <a:latin typeface="Times New Roman"/>
                <a:ea typeface="Times New Roman"/>
                <a:cs typeface="Times New Roman"/>
              </a:rPr>
              <a:t> — writes aggregation results to a new collection </a:t>
            </a:r>
            <a:endParaRPr/>
          </a:p>
          <a:p>
            <a:pPr>
              <a:defRPr/>
            </a:pPr>
            <a:r>
              <a:rPr sz="1000" b="1" i="0" u="none">
                <a:solidFill>
                  <a:srgbClr val="000000"/>
                </a:solidFill>
                <a:latin typeface="Courier New"/>
                <a:ea typeface="Courier New"/>
                <a:cs typeface="Courier New"/>
              </a:rPr>
              <a:t>$addFields</a:t>
            </a:r>
            <a:r>
              <a:rPr sz="1200" b="0" i="0" u="none">
                <a:solidFill>
                  <a:srgbClr val="000000"/>
                </a:solidFill>
                <a:latin typeface="Times New Roman"/>
                <a:ea typeface="Times New Roman"/>
                <a:cs typeface="Times New Roman"/>
              </a:rPr>
              <a:t> — adds computed fields while preserving existing fields </a:t>
            </a:r>
            <a:endParaRPr/>
          </a:p>
          <a:p>
            <a:pPr>
              <a:defRPr/>
            </a:pPr>
            <a:r>
              <a:rPr sz="1200" b="0" i="0" u="none">
                <a:solidFill>
                  <a:srgbClr val="000000"/>
                </a:solidFill>
                <a:latin typeface="Times New Roman"/>
                <a:ea typeface="Times New Roman"/>
                <a:cs typeface="Times New Roman"/>
              </a:rPr>
              <a:t>Together, these stages cover </a:t>
            </a:r>
            <a:r>
              <a:rPr sz="1200" b="1" i="0" u="none">
                <a:solidFill>
                  <a:srgbClr val="000000"/>
                </a:solidFill>
                <a:latin typeface="Times New Roman"/>
                <a:ea typeface="Times New Roman"/>
                <a:cs typeface="Times New Roman"/>
              </a:rPr>
              <a:t>the vast majority of real-world aggregation needs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many pipelines, the most fundamental pattern is:</a:t>
            </a:r>
            <a:endParaRPr/>
          </a:p>
          <a:p>
            <a:pPr>
              <a:defRPr/>
            </a:pPr>
            <a:r>
              <a:rPr sz="1000" b="1" i="0" u="none">
                <a:solidFill>
                  <a:srgbClr val="000000"/>
                </a:solidFill>
                <a:latin typeface="Courier New"/>
                <a:ea typeface="Courier New"/>
                <a:cs typeface="Courier New"/>
              </a:rPr>
              <a:t>$match</a:t>
            </a:r>
            <a:r>
              <a:rPr sz="1200" b="0" i="0" u="none">
                <a:solidFill>
                  <a:srgbClr val="000000"/>
                </a:solidFill>
                <a:latin typeface="Times New Roman"/>
                <a:ea typeface="Times New Roman"/>
                <a:cs typeface="Times New Roman"/>
              </a:rPr>
              <a:t> — reduce the input dataset by filtering documents </a:t>
            </a:r>
            <a:endParaRPr/>
          </a:p>
          <a:p>
            <a:pPr>
              <a:defRPr/>
            </a:pPr>
            <a:r>
              <a:rPr sz="1000" b="1"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 compute statistics across groups of documents </a:t>
            </a:r>
            <a:endParaRPr/>
          </a:p>
          <a:p>
            <a:pPr>
              <a:defRPr/>
            </a:pPr>
            <a:r>
              <a:rPr sz="1200" b="0" i="0" u="none">
                <a:solidFill>
                  <a:srgbClr val="000000"/>
                </a:solidFill>
                <a:latin typeface="Times New Roman"/>
                <a:ea typeface="Times New Roman"/>
                <a:cs typeface="Times New Roman"/>
              </a:rPr>
              <a:t>Another particularly powerful stage is </a:t>
            </a:r>
            <a:r>
              <a:rPr sz="1000" b="1"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When documents contain arrays, </a:t>
            </a: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allows the database to analyze each element individually. For example, if a student document contains an array of three course objects, </a:t>
            </a: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converts that single document into three separate documents—one for each course—making it possible to compute statistics such as the average grade per course.</a:t>
            </a:r>
            <a:endParaRPr/>
          </a:p>
          <a:p>
            <a:pPr>
              <a:defRPr/>
            </a:pPr>
            <a:r>
              <a:rPr sz="1200" b="0" i="0" u="none">
                <a:solidFill>
                  <a:srgbClr val="000000"/>
                </a:solidFill>
                <a:latin typeface="Times New Roman"/>
                <a:ea typeface="Times New Roman"/>
                <a:cs typeface="Times New Roman"/>
              </a:rPr>
              <a:t>It is also important to understand the role of </a:t>
            </a:r>
            <a:r>
              <a:rPr sz="1000" b="1" i="0" u="none">
                <a:solidFill>
                  <a:srgbClr val="000000"/>
                </a:solidFill>
                <a:latin typeface="Courier New"/>
                <a:ea typeface="Courier New"/>
                <a:cs typeface="Courier New"/>
              </a:rPr>
              <a:t>$lookup</a:t>
            </a:r>
            <a:r>
              <a:rPr sz="1200" b="0" i="0" u="none">
                <a:solidFill>
                  <a:srgbClr val="000000"/>
                </a:solidFill>
                <a:latin typeface="Times New Roman"/>
                <a:ea typeface="Times New Roman"/>
                <a:cs typeface="Times New Roman"/>
              </a:rPr>
              <a:t>. This stage performs a join between collections. However, joins are computationally expensive in document databases, so </a:t>
            </a:r>
            <a:r>
              <a:rPr sz="1000" b="0" i="0" u="none">
                <a:solidFill>
                  <a:srgbClr val="000000"/>
                </a:solidFill>
                <a:latin typeface="Courier New"/>
                <a:ea typeface="Courier New"/>
                <a:cs typeface="Courier New"/>
              </a:rPr>
              <a:t>$lookup</a:t>
            </a:r>
            <a:r>
              <a:rPr sz="1200" b="0" i="0" u="none">
                <a:solidFill>
                  <a:srgbClr val="000000"/>
                </a:solidFill>
                <a:latin typeface="Times New Roman"/>
                <a:ea typeface="Times New Roman"/>
                <a:cs typeface="Times New Roman"/>
              </a:rPr>
              <a:t> should be used sparingly. If pipelines frequently require </a:t>
            </a:r>
            <a:r>
              <a:rPr sz="1000" b="0" i="0" u="none">
                <a:solidFill>
                  <a:srgbClr val="000000"/>
                </a:solidFill>
                <a:latin typeface="Courier New"/>
                <a:ea typeface="Courier New"/>
                <a:cs typeface="Courier New"/>
              </a:rPr>
              <a:t>$lookup</a:t>
            </a:r>
            <a:r>
              <a:rPr sz="1200" b="0" i="0" u="none">
                <a:solidFill>
                  <a:srgbClr val="000000"/>
                </a:solidFill>
                <a:latin typeface="Times New Roman"/>
                <a:ea typeface="Times New Roman"/>
                <a:cs typeface="Times New Roman"/>
              </a:rPr>
              <a:t>, it may indicate that the schema should be redesigned to </a:t>
            </a:r>
            <a:r>
              <a:rPr sz="1200" b="1" i="0" u="none">
                <a:solidFill>
                  <a:srgbClr val="000000"/>
                </a:solidFill>
                <a:latin typeface="Times New Roman"/>
                <a:ea typeface="Times New Roman"/>
                <a:cs typeface="Times New Roman"/>
              </a:rPr>
              <a:t>embed related data</a:t>
            </a:r>
            <a:r>
              <a:rPr sz="1200" b="0" i="0" u="none">
                <a:solidFill>
                  <a:srgbClr val="000000"/>
                </a:solidFill>
                <a:latin typeface="Times New Roman"/>
                <a:ea typeface="Times New Roman"/>
                <a:cs typeface="Times New Roman"/>
              </a:rPr>
              <a:t> instead.</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Large technology companies rely heavily on aggregation pipelines to compute operational and analytical metrics.</a:t>
            </a:r>
            <a:endParaRPr/>
          </a:p>
          <a:p>
            <a:pPr>
              <a:defRPr/>
            </a:pPr>
            <a:r>
              <a:rPr sz="1200" b="0" i="0" u="none">
                <a:solidFill>
                  <a:srgbClr val="000000"/>
                </a:solidFill>
                <a:latin typeface="Times New Roman"/>
                <a:ea typeface="Times New Roman"/>
                <a:cs typeface="Times New Roman"/>
              </a:rPr>
              <a:t>For example, </a:t>
            </a:r>
            <a:r>
              <a:rPr sz="1200" b="1" i="0" u="none">
                <a:solidFill>
                  <a:srgbClr val="000000"/>
                </a:solidFill>
                <a:latin typeface="Times New Roman"/>
                <a:ea typeface="Times New Roman"/>
                <a:cs typeface="Times New Roman"/>
              </a:rPr>
              <a:t>Uber</a:t>
            </a:r>
            <a:r>
              <a:rPr sz="1200" b="0" i="0" u="none">
                <a:solidFill>
                  <a:srgbClr val="000000"/>
                </a:solidFill>
                <a:latin typeface="Times New Roman"/>
                <a:ea typeface="Times New Roman"/>
                <a:cs typeface="Times New Roman"/>
              </a:rPr>
              <a:t> processes millions of ride events every day. Each ride document may contain information such as:</a:t>
            </a:r>
            <a:endParaRPr/>
          </a:p>
          <a:p>
            <a:pPr>
              <a:defRPr/>
            </a:pPr>
            <a:r>
              <a:rPr sz="1200" b="0" i="0" u="none">
                <a:solidFill>
                  <a:srgbClr val="000000"/>
                </a:solidFill>
                <a:latin typeface="Times New Roman"/>
                <a:ea typeface="Times New Roman"/>
                <a:cs typeface="Times New Roman"/>
              </a:rPr>
              <a:t>driver ID</a:t>
            </a:r>
            <a:endParaRPr/>
          </a:p>
          <a:p>
            <a:pPr>
              <a:defRPr/>
            </a:pPr>
            <a:r>
              <a:rPr sz="1200" b="0" i="0" u="none">
                <a:solidFill>
                  <a:srgbClr val="000000"/>
                </a:solidFill>
                <a:latin typeface="Times New Roman"/>
                <a:ea typeface="Times New Roman"/>
                <a:cs typeface="Times New Roman"/>
              </a:rPr>
              <a:t>passenger ID</a:t>
            </a:r>
            <a:endParaRPr/>
          </a:p>
          <a:p>
            <a:pPr>
              <a:defRPr/>
            </a:pPr>
            <a:r>
              <a:rPr sz="1200" b="0" i="0" u="none">
                <a:solidFill>
                  <a:srgbClr val="000000"/>
                </a:solidFill>
                <a:latin typeface="Times New Roman"/>
                <a:ea typeface="Times New Roman"/>
                <a:cs typeface="Times New Roman"/>
              </a:rPr>
              <a:t>city</a:t>
            </a:r>
            <a:endParaRPr/>
          </a:p>
          <a:p>
            <a:pPr>
              <a:defRPr/>
            </a:pPr>
            <a:r>
              <a:rPr sz="1200" b="0" i="0" u="none">
                <a:solidFill>
                  <a:srgbClr val="000000"/>
                </a:solidFill>
                <a:latin typeface="Times New Roman"/>
                <a:ea typeface="Times New Roman"/>
                <a:cs typeface="Times New Roman"/>
              </a:rPr>
              <a:t>ride distance</a:t>
            </a:r>
            <a:endParaRPr/>
          </a:p>
          <a:p>
            <a:pPr>
              <a:defRPr/>
            </a:pPr>
            <a:r>
              <a:rPr sz="1200" b="0" i="0" u="none">
                <a:solidFill>
                  <a:srgbClr val="000000"/>
                </a:solidFill>
                <a:latin typeface="Times New Roman"/>
                <a:ea typeface="Times New Roman"/>
                <a:cs typeface="Times New Roman"/>
              </a:rPr>
              <a:t>price</a:t>
            </a:r>
            <a:endParaRPr/>
          </a:p>
          <a:p>
            <a:pPr>
              <a:defRPr/>
            </a:pPr>
            <a:r>
              <a:rPr sz="1200" b="0" i="0" u="none">
                <a:solidFill>
                  <a:srgbClr val="000000"/>
                </a:solidFill>
                <a:latin typeface="Times New Roman"/>
                <a:ea typeface="Times New Roman"/>
                <a:cs typeface="Times New Roman"/>
              </a:rPr>
              <a:t>timestamp</a:t>
            </a:r>
            <a:endParaRPr/>
          </a:p>
          <a:p>
            <a:pPr>
              <a:defRPr/>
            </a:pPr>
            <a:r>
              <a:rPr sz="1200" b="0" i="0" u="none">
                <a:solidFill>
                  <a:srgbClr val="000000"/>
                </a:solidFill>
                <a:latin typeface="Times New Roman"/>
                <a:ea typeface="Times New Roman"/>
                <a:cs typeface="Times New Roman"/>
              </a:rPr>
              <a:t>Uber uses aggregation pipelines to compute insights such as:</a:t>
            </a:r>
            <a:endParaRPr/>
          </a:p>
          <a:p>
            <a:pPr>
              <a:defRPr/>
            </a:pPr>
            <a:r>
              <a:rPr sz="1200" b="1" i="0" u="none">
                <a:solidFill>
                  <a:srgbClr val="000000"/>
                </a:solidFill>
                <a:latin typeface="Times New Roman"/>
                <a:ea typeface="Times New Roman"/>
                <a:cs typeface="Times New Roman"/>
              </a:rPr>
              <a:t>total rides per city</a:t>
            </a:r>
            <a:endParaRPr/>
          </a:p>
          <a:p>
            <a:pPr>
              <a:defRPr/>
            </a:pPr>
            <a:r>
              <a:rPr sz="1200" b="1" i="0" u="none">
                <a:solidFill>
                  <a:srgbClr val="000000"/>
                </a:solidFill>
                <a:latin typeface="Times New Roman"/>
                <a:ea typeface="Times New Roman"/>
                <a:cs typeface="Times New Roman"/>
              </a:rPr>
              <a:t>average ride price per hour</a:t>
            </a:r>
            <a:endParaRPr/>
          </a:p>
          <a:p>
            <a:pPr>
              <a:defRPr/>
            </a:pPr>
            <a:r>
              <a:rPr sz="1200" b="1" i="0" u="none">
                <a:solidFill>
                  <a:srgbClr val="000000"/>
                </a:solidFill>
                <a:latin typeface="Times New Roman"/>
                <a:ea typeface="Times New Roman"/>
                <a:cs typeface="Times New Roman"/>
              </a:rPr>
              <a:t>driver earnings per day</a:t>
            </a:r>
            <a:endParaRPr/>
          </a:p>
          <a:p>
            <a:pPr>
              <a:defRPr/>
            </a:pPr>
            <a:r>
              <a:rPr sz="1200" b="1" i="0" u="none">
                <a:solidFill>
                  <a:srgbClr val="000000"/>
                </a:solidFill>
                <a:latin typeface="Times New Roman"/>
                <a:ea typeface="Times New Roman"/>
                <a:cs typeface="Times New Roman"/>
              </a:rPr>
              <a:t>peak demand periods</a:t>
            </a:r>
            <a:endParaRPr/>
          </a:p>
          <a:p>
            <a:pPr>
              <a:defRPr/>
            </a:pPr>
            <a:r>
              <a:rPr sz="1200" b="0" i="0" u="none">
                <a:solidFill>
                  <a:srgbClr val="000000"/>
                </a:solidFill>
                <a:latin typeface="Times New Roman"/>
                <a:ea typeface="Times New Roman"/>
                <a:cs typeface="Times New Roman"/>
              </a:rPr>
              <a:t>A simplified pipeline might look like this:</a:t>
            </a:r>
            <a:endParaRPr/>
          </a:p>
          <a:p>
            <a:pPr>
              <a:defRPr/>
            </a:pPr>
            <a:r>
              <a:rPr sz="1000" b="1" i="0" u="none">
                <a:solidFill>
                  <a:srgbClr val="000000"/>
                </a:solidFill>
                <a:latin typeface="Courier New"/>
                <a:ea typeface="Courier New"/>
                <a:cs typeface="Courier New"/>
              </a:rPr>
              <a:t>$match</a:t>
            </a:r>
            <a:r>
              <a:rPr sz="1200" b="0" i="0" u="none">
                <a:solidFill>
                  <a:srgbClr val="000000"/>
                </a:solidFill>
                <a:latin typeface="Times New Roman"/>
                <a:ea typeface="Times New Roman"/>
                <a:cs typeface="Times New Roman"/>
              </a:rPr>
              <a:t> — select rides that occurred today </a:t>
            </a:r>
            <a:endParaRPr/>
          </a:p>
          <a:p>
            <a:pPr>
              <a:defRPr/>
            </a:pPr>
            <a:r>
              <a:rPr sz="1000" b="1"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 group rides by city </a:t>
            </a:r>
            <a:endParaRPr/>
          </a:p>
          <a:p>
            <a:pPr>
              <a:defRPr/>
            </a:pPr>
            <a:r>
              <a:rPr sz="1000" b="1" i="0" u="none">
                <a:solidFill>
                  <a:srgbClr val="000000"/>
                </a:solidFill>
                <a:latin typeface="Courier New"/>
                <a:ea typeface="Courier New"/>
                <a:cs typeface="Courier New"/>
              </a:rPr>
              <a:t>$avg</a:t>
            </a:r>
            <a:r>
              <a:rPr sz="1200" b="0" i="0" u="none">
                <a:solidFill>
                  <a:srgbClr val="000000"/>
                </a:solidFill>
                <a:latin typeface="Times New Roman"/>
                <a:ea typeface="Times New Roman"/>
                <a:cs typeface="Times New Roman"/>
              </a:rPr>
              <a:t> — compute average ride price per city </a:t>
            </a:r>
            <a:endParaRPr/>
          </a:p>
          <a:p>
            <a:pPr>
              <a:defRPr/>
            </a:pPr>
            <a:r>
              <a:rPr sz="1000" b="1" i="0" u="none">
                <a:solidFill>
                  <a:srgbClr val="000000"/>
                </a:solidFill>
                <a:latin typeface="Courier New"/>
                <a:ea typeface="Courier New"/>
                <a:cs typeface="Courier New"/>
              </a:rPr>
              <a:t>$sort</a:t>
            </a:r>
            <a:r>
              <a:rPr sz="1200" b="0" i="0" u="none">
                <a:solidFill>
                  <a:srgbClr val="000000"/>
                </a:solidFill>
                <a:latin typeface="Times New Roman"/>
                <a:ea typeface="Times New Roman"/>
                <a:cs typeface="Times New Roman"/>
              </a:rPr>
              <a:t> — rank cities by ride demand </a:t>
            </a:r>
            <a:endParaRPr/>
          </a:p>
          <a:p>
            <a:pPr>
              <a:defRPr/>
            </a:pPr>
            <a:r>
              <a:rPr sz="1000" b="1" i="0" u="none">
                <a:solidFill>
                  <a:srgbClr val="000000"/>
                </a:solidFill>
                <a:latin typeface="Courier New"/>
                <a:ea typeface="Courier New"/>
                <a:cs typeface="Courier New"/>
              </a:rPr>
              <a:t>$limit</a:t>
            </a:r>
            <a:r>
              <a:rPr sz="1200" b="0" i="0" u="none">
                <a:solidFill>
                  <a:srgbClr val="000000"/>
                </a:solidFill>
                <a:latin typeface="Times New Roman"/>
                <a:ea typeface="Times New Roman"/>
                <a:cs typeface="Times New Roman"/>
              </a:rPr>
              <a:t> — return the top 10 busiest cities </a:t>
            </a:r>
            <a:endParaRPr/>
          </a:p>
          <a:p>
            <a:pPr>
              <a:defRPr/>
            </a:pPr>
            <a:r>
              <a:rPr sz="1200" b="0" i="0" u="none">
                <a:solidFill>
                  <a:srgbClr val="000000"/>
                </a:solidFill>
                <a:latin typeface="Times New Roman"/>
                <a:ea typeface="Times New Roman"/>
                <a:cs typeface="Times New Roman"/>
              </a:rPr>
              <a:t>These aggregated results power the </a:t>
            </a:r>
            <a:r>
              <a:rPr sz="1200" b="1" i="0" u="none">
                <a:solidFill>
                  <a:srgbClr val="000000"/>
                </a:solidFill>
                <a:latin typeface="Times New Roman"/>
                <a:ea typeface="Times New Roman"/>
                <a:cs typeface="Times New Roman"/>
              </a:rPr>
              <a:t>real-time dashboards used by Uber's operations teams</a:t>
            </a:r>
            <a:r>
              <a:rPr sz="1200" b="0" i="0" u="none">
                <a:solidFill>
                  <a:srgbClr val="000000"/>
                </a:solidFill>
                <a:latin typeface="Times New Roman"/>
                <a:ea typeface="Times New Roman"/>
                <a:cs typeface="Times New Roman"/>
              </a:rPr>
              <a:t> to monitor ride demand and driver supply across the world.</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Aggregation pipelines combine multiple stages—such as filtering, grouping, reshaping, and sorting—to transform raw operational data into meaningful analytical insights.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does </a:t>
            </a:r>
            <a:r>
              <a:rPr sz="1000" b="1"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do to a student document that contains three embedded course objects in an array?</a:t>
            </a:r>
            <a:endParaRPr/>
          </a:p>
          <a:p>
            <a:pPr>
              <a:defRPr/>
            </a:pPr>
            <a:r>
              <a:rPr sz="1200" b="1" i="0" u="none">
                <a:solidFill>
                  <a:srgbClr val="000000"/>
                </a:solidFill>
                <a:latin typeface="Times New Roman"/>
                <a:ea typeface="Times New Roman"/>
                <a:cs typeface="Times New Roman"/>
              </a:rPr>
              <a:t>Answer</a:t>
            </a:r>
            <a:endParaRPr/>
          </a:p>
          <a:p>
            <a:pPr>
              <a:defRPr/>
            </a:pP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produces </a:t>
            </a:r>
            <a:r>
              <a:rPr sz="1200" b="1" i="0" u="none">
                <a:solidFill>
                  <a:srgbClr val="000000"/>
                </a:solidFill>
                <a:latin typeface="Times New Roman"/>
                <a:ea typeface="Times New Roman"/>
                <a:cs typeface="Times New Roman"/>
              </a:rPr>
              <a:t>three separate documents</a:t>
            </a:r>
            <a:r>
              <a:rPr sz="1200" b="0" i="0" u="none">
                <a:solidFill>
                  <a:srgbClr val="000000"/>
                </a:solidFill>
                <a:latin typeface="Times New Roman"/>
                <a:ea typeface="Times New Roman"/>
                <a:cs typeface="Times New Roman"/>
              </a:rPr>
              <a:t>, one for each course in the array. Each resulting document contains the student's other fields along with one individual course object. This allows the database to compute statistics such as the </a:t>
            </a:r>
            <a:r>
              <a:rPr sz="1200" b="1" i="0" u="none">
                <a:solidFill>
                  <a:srgbClr val="000000"/>
                </a:solidFill>
                <a:latin typeface="Times New Roman"/>
                <a:ea typeface="Times New Roman"/>
                <a:cs typeface="Times New Roman"/>
              </a:rPr>
              <a:t>average grade per course across all students</a:t>
            </a:r>
            <a:r>
              <a:rPr sz="1200" b="0" i="0" u="none">
                <a:solidFill>
                  <a:srgbClr val="000000"/>
                </a:solidFill>
                <a:latin typeface="Times New Roman"/>
                <a:ea typeface="Times New Roman"/>
                <a:cs typeface="Times New Roman"/>
              </a:rPr>
              <a:t>.</a:t>
            </a:r>
            <a:endParaRPr lang="en-US"/>
          </a:p>
        </p:txBody>
      </p:sp>
      <p:sp>
        <p:nvSpPr>
          <p:cNvPr id="135756884" name="Slide Number Placeholder 3"/>
          <p:cNvSpPr>
            <a:spLocks noGrp="1"/>
          </p:cNvSpPr>
          <p:nvPr>
            <p:ph type="sldNum" sz="quarter" idx="10"/>
          </p:nvPr>
        </p:nvSpPr>
        <p:spPr bwMode="auto"/>
        <p:txBody>
          <a:bodyPr/>
          <a:lstStyle/>
          <a:p>
            <a:pPr>
              <a:defRPr/>
            </a:pPr>
            <a:fld id="{F7021451-1387-4CA6-816F-3879F97B5CBC}" type="slidenum">
              <a:rPr lang="en-US"/>
              <a:t>45</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7653359" name="Slide Image Placeholder 1"/>
          <p:cNvSpPr>
            <a:spLocks noChangeAspect="1" noGrp="1" noRot="1"/>
          </p:cNvSpPr>
          <p:nvPr>
            <p:ph type="sldImg"/>
          </p:nvPr>
        </p:nvSpPr>
        <p:spPr bwMode="auto"/>
      </p:sp>
      <p:sp>
        <p:nvSpPr>
          <p:cNvPr id="1424731601"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introducing the most common aggregation stages, we can examine a </a:t>
            </a:r>
            <a:r>
              <a:rPr sz="1200" b="1" i="0" u="none">
                <a:solidFill>
                  <a:srgbClr val="000000"/>
                </a:solidFill>
                <a:latin typeface="Times New Roman"/>
                <a:ea typeface="Times New Roman"/>
                <a:cs typeface="Times New Roman"/>
              </a:rPr>
              <a:t>simple but extremely important aggregation pattern</a:t>
            </a:r>
            <a:r>
              <a:rPr sz="1200" b="0" i="0" u="none">
                <a:solidFill>
                  <a:srgbClr val="000000"/>
                </a:solidFill>
                <a:latin typeface="Times New Roman"/>
                <a:ea typeface="Times New Roman"/>
                <a:cs typeface="Times New Roman"/>
              </a:rPr>
              <a:t> based on the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stage.</a:t>
            </a:r>
            <a:endParaRPr/>
          </a:p>
          <a:p>
            <a:pPr>
              <a:defRPr/>
            </a:pPr>
            <a:r>
              <a:rPr sz="1400" b="1" i="0" u="none">
                <a:solidFill>
                  <a:srgbClr val="000000"/>
                </a:solidFill>
                <a:latin typeface="Times New Roman"/>
                <a:ea typeface="Times New Roman"/>
                <a:cs typeface="Times New Roman"/>
              </a:rPr>
              <a:t>Example Goal</a:t>
            </a:r>
            <a:endParaRPr/>
          </a:p>
          <a:p>
            <a:pPr>
              <a:defRPr/>
            </a:pPr>
            <a:r>
              <a:rPr sz="1200" b="0" i="0" u="none">
                <a:solidFill>
                  <a:srgbClr val="000000"/>
                </a:solidFill>
                <a:latin typeface="Times New Roman"/>
                <a:ea typeface="Times New Roman"/>
                <a:cs typeface="Times New Roman"/>
              </a:rPr>
              <a:t>Suppose we want to </a:t>
            </a:r>
            <a:r>
              <a:rPr sz="1200" b="1" i="0" u="none">
                <a:solidFill>
                  <a:srgbClr val="000000"/>
                </a:solidFill>
                <a:latin typeface="Times New Roman"/>
                <a:ea typeface="Times New Roman"/>
                <a:cs typeface="Times New Roman"/>
              </a:rPr>
              <a:t>count how many students live in each city</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can be done with a single aggregation stage:</a:t>
            </a:r>
            <a:endParaRPr/>
          </a:p>
          <a:p>
            <a:pPr>
              <a:defRPr/>
            </a:pP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$group</a:t>
            </a: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'$city'</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total_students</a:t>
            </a: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$sum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1</a:t>
            </a:r>
            <a:r>
              <a:rPr sz="1000" b="0" i="0" u="none">
                <a:solidFill>
                  <a:srgbClr val="000000"/>
                </a:solidFill>
                <a:latin typeface="Courier New"/>
                <a:ea typeface="Courier New"/>
                <a:cs typeface="Courier New"/>
              </a:rPr>
              <a:t> } } }</a:t>
            </a:r>
            <a:endParaRPr/>
          </a:p>
          <a:p>
            <a:pPr>
              <a:defRPr/>
            </a:pPr>
            <a:r>
              <a:rPr sz="1200" b="0" i="0" u="none">
                <a:solidFill>
                  <a:srgbClr val="000000"/>
                </a:solidFill>
                <a:latin typeface="Times New Roman"/>
                <a:ea typeface="Times New Roman"/>
                <a:cs typeface="Times New Roman"/>
              </a:rPr>
              <a:t>Here:</a:t>
            </a:r>
            <a:endParaRPr/>
          </a:p>
          <a:p>
            <a:pPr>
              <a:defRPr/>
            </a:pPr>
            <a:r>
              <a:rPr sz="1000" b="0" i="0" u="none">
                <a:solidFill>
                  <a:srgbClr val="000000"/>
                </a:solidFill>
                <a:latin typeface="Courier New"/>
                <a:ea typeface="Courier New"/>
                <a:cs typeface="Courier New"/>
              </a:rPr>
              <a:t>_id</a:t>
            </a:r>
            <a:r>
              <a:rPr sz="1200" b="0" i="0" u="none">
                <a:solidFill>
                  <a:srgbClr val="000000"/>
                </a:solidFill>
                <a:latin typeface="Times New Roman"/>
                <a:ea typeface="Times New Roman"/>
                <a:cs typeface="Times New Roman"/>
              </a:rPr>
              <a:t> defines the </a:t>
            </a:r>
            <a:r>
              <a:rPr sz="1200" b="1" i="0" u="none">
                <a:solidFill>
                  <a:srgbClr val="000000"/>
                </a:solidFill>
                <a:latin typeface="Times New Roman"/>
                <a:ea typeface="Times New Roman"/>
                <a:cs typeface="Times New Roman"/>
              </a:rPr>
              <a:t>grouping key</a:t>
            </a:r>
            <a:r>
              <a:rPr sz="1200" b="0" i="0" u="none">
                <a:solidFill>
                  <a:srgbClr val="000000"/>
                </a:solidFill>
                <a:latin typeface="Times New Roman"/>
                <a:ea typeface="Times New Roman"/>
                <a:cs typeface="Times New Roman"/>
              </a:rPr>
              <a:t>. In this case, documents are grouped by the value of the </a:t>
            </a:r>
            <a:r>
              <a:rPr sz="1000" b="0" i="0" u="none">
                <a:solidFill>
                  <a:srgbClr val="000000"/>
                </a:solidFill>
                <a:latin typeface="Courier New"/>
                <a:ea typeface="Courier New"/>
                <a:cs typeface="Courier New"/>
              </a:rPr>
              <a:t>city</a:t>
            </a:r>
            <a:r>
              <a:rPr sz="1200" b="0" i="0" u="none">
                <a:solidFill>
                  <a:srgbClr val="000000"/>
                </a:solidFill>
                <a:latin typeface="Times New Roman"/>
                <a:ea typeface="Times New Roman"/>
                <a:cs typeface="Times New Roman"/>
              </a:rPr>
              <a:t> field. </a:t>
            </a:r>
            <a:endParaRPr/>
          </a:p>
          <a:p>
            <a:pPr>
              <a:defRPr/>
            </a:pPr>
            <a:r>
              <a:rPr sz="1000" b="0" i="0" u="none">
                <a:solidFill>
                  <a:srgbClr val="000000"/>
                </a:solidFill>
                <a:latin typeface="Courier New"/>
                <a:ea typeface="Courier New"/>
                <a:cs typeface="Courier New"/>
              </a:rPr>
              <a:t>$sum: 1</a:t>
            </a:r>
            <a:r>
              <a:rPr sz="1200" b="0" i="0" u="none">
                <a:solidFill>
                  <a:srgbClr val="000000"/>
                </a:solidFill>
                <a:latin typeface="Times New Roman"/>
                <a:ea typeface="Times New Roman"/>
                <a:cs typeface="Times New Roman"/>
              </a:rPr>
              <a:t> is an </a:t>
            </a:r>
            <a:r>
              <a:rPr sz="1200" b="1" i="0" u="none">
                <a:solidFill>
                  <a:srgbClr val="000000"/>
                </a:solidFill>
                <a:latin typeface="Times New Roman"/>
                <a:ea typeface="Times New Roman"/>
                <a:cs typeface="Times New Roman"/>
              </a:rPr>
              <a:t>accumulator</a:t>
            </a:r>
            <a:r>
              <a:rPr sz="1200" b="0" i="0" u="none">
                <a:solidFill>
                  <a:srgbClr val="000000"/>
                </a:solidFill>
                <a:latin typeface="Times New Roman"/>
                <a:ea typeface="Times New Roman"/>
                <a:cs typeface="Times New Roman"/>
              </a:rPr>
              <a:t> that adds one for each document in the group, effectively counting the number of documents. </a:t>
            </a:r>
            <a:endParaRPr/>
          </a:p>
          <a:p>
            <a:pPr>
              <a:defRPr/>
            </a:pPr>
            <a:r>
              <a:rPr sz="1200" b="0" i="0" u="none">
                <a:solidFill>
                  <a:srgbClr val="000000"/>
                </a:solidFill>
                <a:latin typeface="Times New Roman"/>
                <a:ea typeface="Times New Roman"/>
                <a:cs typeface="Times New Roman"/>
              </a:rPr>
              <a:t>The output might look like this:</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_id: 'Volos', total_students: 120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_id: 'Athens', total_students: 200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Instead of returning existing documents, the aggregation pipeline produces </a:t>
            </a:r>
            <a:r>
              <a:rPr sz="1200" b="1" i="0" u="none">
                <a:solidFill>
                  <a:srgbClr val="000000"/>
                </a:solidFill>
                <a:latin typeface="Times New Roman"/>
                <a:ea typeface="Times New Roman"/>
                <a:cs typeface="Times New Roman"/>
              </a:rPr>
              <a:t>a new computed dataset</a:t>
            </a:r>
            <a:r>
              <a:rPr sz="1200" b="0" i="0" u="none">
                <a:solidFill>
                  <a:srgbClr val="000000"/>
                </a:solidFill>
                <a:latin typeface="Times New Roman"/>
                <a:ea typeface="Times New Roman"/>
                <a:cs typeface="Times New Roman"/>
              </a:rPr>
              <a:t> summarizing the number of students per city.</a:t>
            </a:r>
            <a:endParaRPr/>
          </a:p>
          <a:p>
            <a:pPr>
              <a:defRPr/>
            </a:pPr>
            <a:r>
              <a:rPr sz="1200" b="0" i="0" u="none">
                <a:solidFill>
                  <a:srgbClr val="000000"/>
                </a:solidFill>
                <a:latin typeface="Times New Roman"/>
                <a:ea typeface="Times New Roman"/>
                <a:cs typeface="Times New Roman"/>
              </a:rPr>
              <a:t>This illustrates an important idea: </a:t>
            </a:r>
            <a:r>
              <a:rPr sz="1200" b="1" i="0" u="none">
                <a:solidFill>
                  <a:srgbClr val="000000"/>
                </a:solidFill>
                <a:latin typeface="Times New Roman"/>
                <a:ea typeface="Times New Roman"/>
                <a:cs typeface="Times New Roman"/>
              </a:rPr>
              <a:t>a single pipeline stage can replace complex application-level logic</a:t>
            </a:r>
            <a:r>
              <a:rPr sz="1200" b="0" i="0" u="none">
                <a:solidFill>
                  <a:srgbClr val="000000"/>
                </a:solidFill>
                <a:latin typeface="Times New Roman"/>
                <a:ea typeface="Times New Roman"/>
                <a:cs typeface="Times New Roman"/>
              </a:rPr>
              <a:t> that would otherwise require fetching many documents and counting them in code.</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This same pattern is widely used in large-scale production systems.</a:t>
            </a:r>
            <a:endParaRPr/>
          </a:p>
          <a:p>
            <a:pPr>
              <a:defRPr/>
            </a:pPr>
            <a:r>
              <a:rPr sz="1200" b="0" i="0" u="none">
                <a:solidFill>
                  <a:srgbClr val="000000"/>
                </a:solidFill>
                <a:latin typeface="Times New Roman"/>
                <a:ea typeface="Times New Roman"/>
                <a:cs typeface="Times New Roman"/>
              </a:rPr>
              <a:t>For example, </a:t>
            </a:r>
            <a:r>
              <a:rPr sz="1200" b="1" i="0" u="none">
                <a:solidFill>
                  <a:srgbClr val="000000"/>
                </a:solidFill>
                <a:latin typeface="Times New Roman"/>
                <a:ea typeface="Times New Roman"/>
                <a:cs typeface="Times New Roman"/>
              </a:rPr>
              <a:t>Airbnb</a:t>
            </a:r>
            <a:r>
              <a:rPr sz="1200" b="0" i="0" u="none">
                <a:solidFill>
                  <a:srgbClr val="000000"/>
                </a:solidFill>
                <a:latin typeface="Times New Roman"/>
                <a:ea typeface="Times New Roman"/>
                <a:cs typeface="Times New Roman"/>
              </a:rPr>
              <a:t> uses aggregation pipelines to compute metrics such as:</a:t>
            </a:r>
            <a:endParaRPr/>
          </a:p>
          <a:p>
            <a:pPr>
              <a:defRPr/>
            </a:pPr>
            <a:r>
              <a:rPr sz="1200" b="0" i="0" u="none">
                <a:solidFill>
                  <a:srgbClr val="000000"/>
                </a:solidFill>
                <a:latin typeface="Times New Roman"/>
                <a:ea typeface="Times New Roman"/>
                <a:cs typeface="Times New Roman"/>
              </a:rPr>
              <a:t>number of bookings per city</a:t>
            </a:r>
            <a:endParaRPr/>
          </a:p>
          <a:p>
            <a:pPr>
              <a:defRPr/>
            </a:pPr>
            <a:r>
              <a:rPr sz="1200" b="0" i="0" u="none">
                <a:solidFill>
                  <a:srgbClr val="000000"/>
                </a:solidFill>
                <a:latin typeface="Times New Roman"/>
                <a:ea typeface="Times New Roman"/>
                <a:cs typeface="Times New Roman"/>
              </a:rPr>
              <a:t>number of listings per region</a:t>
            </a:r>
            <a:endParaRPr/>
          </a:p>
          <a:p>
            <a:pPr>
              <a:defRPr/>
            </a:pPr>
            <a:r>
              <a:rPr sz="1200" b="0" i="0" u="none">
                <a:solidFill>
                  <a:srgbClr val="000000"/>
                </a:solidFill>
                <a:latin typeface="Times New Roman"/>
                <a:ea typeface="Times New Roman"/>
                <a:cs typeface="Times New Roman"/>
              </a:rPr>
              <a:t>average nightly price by country</a:t>
            </a:r>
            <a:endParaRPr/>
          </a:p>
          <a:p>
            <a:pPr>
              <a:defRPr/>
            </a:pPr>
            <a:r>
              <a:rPr sz="1200" b="0" i="0" u="none">
                <a:solidFill>
                  <a:srgbClr val="000000"/>
                </a:solidFill>
                <a:latin typeface="Times New Roman"/>
                <a:ea typeface="Times New Roman"/>
                <a:cs typeface="Times New Roman"/>
              </a:rPr>
              <a:t>A simplified aggregation used in internal analytics dashboards might look like:</a:t>
            </a:r>
            <a:endParaRPr/>
          </a:p>
          <a:p>
            <a:pPr>
              <a:defRPr/>
            </a:pPr>
            <a:r>
              <a:rPr sz="1000" b="0" i="0" u="none">
                <a:solidFill>
                  <a:srgbClr val="000000"/>
                </a:solidFill>
                <a:latin typeface="Courier New"/>
                <a:ea typeface="Courier New"/>
                <a:cs typeface="Courier New"/>
              </a:rPr>
              <a:t>Group bookings by city → count total bookings</a:t>
            </a:r>
            <a:endParaRPr/>
          </a:p>
          <a:p>
            <a:pPr>
              <a:defRPr/>
            </a:pPr>
            <a:r>
              <a:rPr sz="1200" b="0" i="0" u="none">
                <a:solidFill>
                  <a:srgbClr val="000000"/>
                </a:solidFill>
                <a:latin typeface="Times New Roman"/>
                <a:ea typeface="Times New Roman"/>
                <a:cs typeface="Times New Roman"/>
              </a:rPr>
              <a:t>The output allows Airbnb to quickly see which cities generate the most reservations and where demand is increasing.</a:t>
            </a:r>
            <a:endParaRPr/>
          </a:p>
          <a:p>
            <a:pPr>
              <a:defRPr/>
            </a:pPr>
            <a:r>
              <a:rPr sz="1200" b="0" i="0" u="none">
                <a:solidFill>
                  <a:srgbClr val="000000"/>
                </a:solidFill>
                <a:latin typeface="Times New Roman"/>
                <a:ea typeface="Times New Roman"/>
                <a:cs typeface="Times New Roman"/>
              </a:rPr>
              <a:t>Similarly, </a:t>
            </a:r>
            <a:r>
              <a:rPr sz="1200" b="1" i="0" u="none">
                <a:solidFill>
                  <a:srgbClr val="000000"/>
                </a:solidFill>
                <a:latin typeface="Times New Roman"/>
                <a:ea typeface="Times New Roman"/>
                <a:cs typeface="Times New Roman"/>
              </a:rPr>
              <a:t>Amazon</a:t>
            </a:r>
            <a:r>
              <a:rPr sz="1200" b="0" i="0" u="none">
                <a:solidFill>
                  <a:srgbClr val="000000"/>
                </a:solidFill>
                <a:latin typeface="Times New Roman"/>
                <a:ea typeface="Times New Roman"/>
                <a:cs typeface="Times New Roman"/>
              </a:rPr>
              <a:t> uses nearly identical aggregation patterns to compute metrics such as:</a:t>
            </a:r>
            <a:endParaRPr/>
          </a:p>
          <a:p>
            <a:pPr>
              <a:defRPr/>
            </a:pPr>
            <a:r>
              <a:rPr sz="1200" b="0" i="0" u="none">
                <a:solidFill>
                  <a:srgbClr val="000000"/>
                </a:solidFill>
                <a:latin typeface="Times New Roman"/>
                <a:ea typeface="Times New Roman"/>
                <a:cs typeface="Times New Roman"/>
              </a:rPr>
              <a:t>total orders per warehouse location</a:t>
            </a:r>
            <a:endParaRPr/>
          </a:p>
          <a:p>
            <a:pPr>
              <a:defRPr/>
            </a:pPr>
            <a:r>
              <a:rPr sz="1200" b="0" i="0" u="none">
                <a:solidFill>
                  <a:srgbClr val="000000"/>
                </a:solidFill>
                <a:latin typeface="Times New Roman"/>
                <a:ea typeface="Times New Roman"/>
                <a:cs typeface="Times New Roman"/>
              </a:rPr>
              <a:t>number of purchases per country</a:t>
            </a:r>
            <a:endParaRPr/>
          </a:p>
          <a:p>
            <a:pPr>
              <a:defRPr/>
            </a:pPr>
            <a:r>
              <a:rPr sz="1200" b="0" i="0" u="none">
                <a:solidFill>
                  <a:srgbClr val="000000"/>
                </a:solidFill>
                <a:latin typeface="Times New Roman"/>
                <a:ea typeface="Times New Roman"/>
                <a:cs typeface="Times New Roman"/>
              </a:rPr>
              <a:t>daily sales by region</a:t>
            </a:r>
            <a:endParaRPr/>
          </a:p>
          <a:p>
            <a:pPr>
              <a:defRPr/>
            </a:pPr>
            <a:r>
              <a:rPr sz="1200" b="0" i="0" u="none">
                <a:solidFill>
                  <a:srgbClr val="000000"/>
                </a:solidFill>
                <a:latin typeface="Times New Roman"/>
                <a:ea typeface="Times New Roman"/>
                <a:cs typeface="Times New Roman"/>
              </a:rPr>
              <a:t>These aggregations feed </a:t>
            </a:r>
            <a:r>
              <a:rPr sz="1200" b="1" i="0" u="none">
                <a:solidFill>
                  <a:srgbClr val="000000"/>
                </a:solidFill>
                <a:latin typeface="Times New Roman"/>
                <a:ea typeface="Times New Roman"/>
                <a:cs typeface="Times New Roman"/>
              </a:rPr>
              <a:t>real-time dashboards used by operations and business teams</a:t>
            </a:r>
            <a:r>
              <a:rPr sz="1200" b="0" i="0" u="none">
                <a:solidFill>
                  <a:srgbClr val="000000"/>
                </a:solidFill>
                <a:latin typeface="Times New Roman"/>
                <a:ea typeface="Times New Roman"/>
                <a:cs typeface="Times New Roman"/>
              </a:rPr>
              <a:t> to monitor activity across millions of transactions.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stage allows databases to compute statistics directly on the server, replacing complex processing that would otherwise occur in application code.</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How would you modify this pipeline to also calculate the </a:t>
            </a:r>
            <a:r>
              <a:rPr sz="1200" b="1" i="0" u="none">
                <a:solidFill>
                  <a:srgbClr val="000000"/>
                </a:solidFill>
                <a:latin typeface="Times New Roman"/>
                <a:ea typeface="Times New Roman"/>
                <a:cs typeface="Times New Roman"/>
              </a:rPr>
              <a:t>average GPA of students in each city</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Add a second accumulator to the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stage:</a:t>
            </a:r>
            <a:endParaRPr/>
          </a:p>
          <a:p>
            <a:pPr>
              <a:defRPr/>
            </a:pP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$group</a:t>
            </a:r>
            <a:r>
              <a:rPr sz="1000" b="0" i="0" u="none">
                <a:solidFill>
                  <a:srgbClr val="000000"/>
                </a:solidFill>
                <a:latin typeface="Courier New"/>
                <a:ea typeface="Courier New"/>
                <a:cs typeface="Courier New"/>
              </a:rPr>
              <a:t>: {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'$city'</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total</a:t>
            </a: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$sum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1</a:t>
            </a:r>
            <a:r>
              <a:rPr sz="1000" b="0" i="0" u="none">
                <a:solidFill>
                  <a:srgbClr val="000000"/>
                </a:solidFill>
                <a:latin typeface="Courier New"/>
                <a:ea typeface="Courier New"/>
                <a:cs typeface="Courier New"/>
              </a:rPr>
              <a:t> },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avgGPA</a:t>
            </a: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$avg</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'$gpa'</a:t>
            </a:r>
            <a:r>
              <a:rPr sz="1000" b="0" i="0" u="none">
                <a:solidFill>
                  <a:srgbClr val="000000"/>
                </a:solidFill>
                <a:latin typeface="Courier New"/>
                <a:ea typeface="Courier New"/>
                <a:cs typeface="Courier New"/>
              </a:rPr>
              <a:t> }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$avg</a:t>
            </a:r>
            <a:r>
              <a:rPr sz="1200" b="0" i="0" u="none">
                <a:solidFill>
                  <a:srgbClr val="000000"/>
                </a:solidFill>
                <a:latin typeface="Times New Roman"/>
                <a:ea typeface="Times New Roman"/>
                <a:cs typeface="Times New Roman"/>
              </a:rPr>
              <a:t> accumulator automatically computes the </a:t>
            </a:r>
            <a:r>
              <a:rPr sz="1200" b="1" i="0" u="none">
                <a:solidFill>
                  <a:srgbClr val="000000"/>
                </a:solidFill>
                <a:latin typeface="Times New Roman"/>
                <a:ea typeface="Times New Roman"/>
                <a:cs typeface="Times New Roman"/>
              </a:rPr>
              <a:t>mean value of the </a:t>
            </a:r>
            <a:r>
              <a:rPr sz="1000" b="1" i="0" u="none">
                <a:solidFill>
                  <a:srgbClr val="000000"/>
                </a:solidFill>
                <a:latin typeface="Courier New"/>
                <a:ea typeface="Courier New"/>
                <a:cs typeface="Courier New"/>
              </a:rPr>
              <a:t>gpa</a:t>
            </a:r>
            <a:r>
              <a:rPr sz="1200" b="1" i="0" u="none">
                <a:solidFill>
                  <a:srgbClr val="000000"/>
                </a:solidFill>
                <a:latin typeface="Times New Roman"/>
                <a:ea typeface="Times New Roman"/>
                <a:cs typeface="Times New Roman"/>
              </a:rPr>
              <a:t> field</a:t>
            </a:r>
            <a:r>
              <a:rPr sz="1200" b="0" i="0" u="none">
                <a:solidFill>
                  <a:srgbClr val="000000"/>
                </a:solidFill>
                <a:latin typeface="Times New Roman"/>
                <a:ea typeface="Times New Roman"/>
                <a:cs typeface="Times New Roman"/>
              </a:rPr>
              <a:t> across all documents within each city group.</a:t>
            </a:r>
            <a:endParaRPr lang="en-US"/>
          </a:p>
        </p:txBody>
      </p:sp>
      <p:sp>
        <p:nvSpPr>
          <p:cNvPr id="688862" name="Slide Number Placeholder 3"/>
          <p:cNvSpPr>
            <a:spLocks noGrp="1"/>
          </p:cNvSpPr>
          <p:nvPr>
            <p:ph type="sldNum" sz="quarter" idx="10"/>
          </p:nvPr>
        </p:nvSpPr>
        <p:spPr bwMode="auto"/>
        <p:txBody>
          <a:bodyPr/>
          <a:lstStyle/>
          <a:p>
            <a:pPr>
              <a:defRPr/>
            </a:pPr>
            <a:fld id="{F7021451-1387-4CA6-816F-3879F97B5CBC}" type="slidenum">
              <a:rPr lang="en-US"/>
              <a:t>46</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7237000" name="Slide Image Placeholder 1"/>
          <p:cNvSpPr>
            <a:spLocks noChangeAspect="1" noGrp="1" noRot="1"/>
          </p:cNvSpPr>
          <p:nvPr>
            <p:ph type="sldImg"/>
          </p:nvPr>
        </p:nvSpPr>
        <p:spPr bwMode="auto"/>
      </p:sp>
      <p:sp>
        <p:nvSpPr>
          <p:cNvPr id="972477312"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seeing how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can compute statistics across documents, another powerful pattern appears when documents contain </a:t>
            </a:r>
            <a:r>
              <a:rPr sz="1200" b="1" i="0" u="none">
                <a:solidFill>
                  <a:srgbClr val="000000"/>
                </a:solidFill>
                <a:latin typeface="Times New Roman"/>
                <a:ea typeface="Times New Roman"/>
                <a:cs typeface="Times New Roman"/>
              </a:rPr>
              <a:t>arrays of embedded objects</a:t>
            </a:r>
            <a:r>
              <a:rPr sz="1200" b="0" i="0" u="none">
                <a:solidFill>
                  <a:srgbClr val="000000"/>
                </a:solidFill>
                <a:latin typeface="Times New Roman"/>
                <a:ea typeface="Times New Roman"/>
                <a:cs typeface="Times New Roman"/>
              </a:rPr>
              <a:t>. In such cases, the </a:t>
            </a:r>
            <a:r>
              <a:rPr sz="1000" b="1" i="0" u="none">
                <a:solidFill>
                  <a:srgbClr val="000000"/>
                </a:solidFill>
                <a:latin typeface="Courier New"/>
                <a:ea typeface="Courier New"/>
                <a:cs typeface="Courier New"/>
              </a:rPr>
              <a:t>$unwind</a:t>
            </a:r>
            <a:r>
              <a:rPr sz="1200" b="1" i="0" u="none">
                <a:solidFill>
                  <a:srgbClr val="000000"/>
                </a:solidFill>
                <a:latin typeface="Times New Roman"/>
                <a:ea typeface="Times New Roman"/>
                <a:cs typeface="Times New Roman"/>
              </a:rPr>
              <a:t> stage</a:t>
            </a:r>
            <a:r>
              <a:rPr sz="1200" b="0" i="0" u="none">
                <a:solidFill>
                  <a:srgbClr val="000000"/>
                </a:solidFill>
                <a:latin typeface="Times New Roman"/>
                <a:ea typeface="Times New Roman"/>
                <a:cs typeface="Times New Roman"/>
              </a:rPr>
              <a:t> allows the database to analyze each element of the array separately.</a:t>
            </a:r>
            <a:endParaRPr/>
          </a:p>
          <a:p>
            <a:pPr>
              <a:defRPr/>
            </a:pPr>
            <a:r>
              <a:rPr sz="1400" b="1" i="0" u="none">
                <a:solidFill>
                  <a:srgbClr val="000000"/>
                </a:solidFill>
                <a:latin typeface="Times New Roman"/>
                <a:ea typeface="Times New Roman"/>
                <a:cs typeface="Times New Roman"/>
              </a:rPr>
              <a:t>Example Goal</a:t>
            </a:r>
            <a:endParaRPr/>
          </a:p>
          <a:p>
            <a:pPr>
              <a:defRPr/>
            </a:pPr>
            <a:r>
              <a:rPr sz="1200" b="0" i="0" u="none">
                <a:solidFill>
                  <a:srgbClr val="000000"/>
                </a:solidFill>
                <a:latin typeface="Times New Roman"/>
                <a:ea typeface="Times New Roman"/>
                <a:cs typeface="Times New Roman"/>
              </a:rPr>
              <a:t>Suppose we want to </a:t>
            </a:r>
            <a:r>
              <a:rPr sz="1200" b="1" i="0" u="none">
                <a:solidFill>
                  <a:srgbClr val="000000"/>
                </a:solidFill>
                <a:latin typeface="Times New Roman"/>
                <a:ea typeface="Times New Roman"/>
                <a:cs typeface="Times New Roman"/>
              </a:rPr>
              <a:t>calculate the average grade per course across all students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Each student document might contain an array of courses:</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"name": </a:t>
            </a:r>
            <a:r>
              <a:rPr sz="1000" b="0" i="0" u="none">
                <a:solidFill>
                  <a:srgbClr val="000000"/>
                </a:solidFill>
                <a:latin typeface="Courier New"/>
                <a:ea typeface="Courier New"/>
                <a:cs typeface="Courier New"/>
              </a:rPr>
              <a:t>"Maria Papadopoulou"</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"courses":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"name": </a:t>
            </a:r>
            <a:r>
              <a:rPr sz="1000" b="0" i="0" u="none">
                <a:solidFill>
                  <a:srgbClr val="000000"/>
                </a:solidFill>
                <a:latin typeface="Courier New"/>
                <a:ea typeface="Courier New"/>
                <a:cs typeface="Courier New"/>
              </a:rPr>
              <a:t>"NoSQL Databases"</a:t>
            </a:r>
            <a:r>
              <a:rPr sz="1000" b="0" i="0" u="none">
                <a:solidFill>
                  <a:srgbClr val="000000"/>
                </a:solidFill>
                <a:latin typeface="Courier New"/>
                <a:ea typeface="Courier New"/>
                <a:cs typeface="Courier New"/>
              </a:rPr>
              <a:t>, "grade": </a:t>
            </a:r>
            <a:r>
              <a:rPr sz="1000" b="0" i="0" u="none">
                <a:solidFill>
                  <a:srgbClr val="000000"/>
                </a:solidFill>
                <a:latin typeface="Courier New"/>
                <a:ea typeface="Courier New"/>
                <a:cs typeface="Courier New"/>
              </a:rPr>
              <a:t>8</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"name": </a:t>
            </a:r>
            <a:r>
              <a:rPr sz="1000" b="0" i="0" u="none">
                <a:solidFill>
                  <a:srgbClr val="000000"/>
                </a:solidFill>
                <a:latin typeface="Courier New"/>
                <a:ea typeface="Courier New"/>
                <a:cs typeface="Courier New"/>
              </a:rPr>
              <a:t>"Machine Learning"</a:t>
            </a:r>
            <a:r>
              <a:rPr sz="1000" b="0" i="0" u="none">
                <a:solidFill>
                  <a:srgbClr val="000000"/>
                </a:solidFill>
                <a:latin typeface="Courier New"/>
                <a:ea typeface="Courier New"/>
                <a:cs typeface="Courier New"/>
              </a:rPr>
              <a:t>, "grade": </a:t>
            </a:r>
            <a:r>
              <a:rPr sz="1000" b="0" i="0" u="none">
                <a:solidFill>
                  <a:srgbClr val="000000"/>
                </a:solidFill>
                <a:latin typeface="Courier New"/>
                <a:ea typeface="Courier New"/>
                <a:cs typeface="Courier New"/>
              </a:rPr>
              <a:t>7</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To compute the average grade per course, the aggregation pipeline contains two stages.</a:t>
            </a:r>
            <a:endParaRPr/>
          </a:p>
          <a:p>
            <a:pPr>
              <a:defRPr/>
            </a:pPr>
            <a:r>
              <a:rPr sz="1200" b="1" i="0" u="none">
                <a:solidFill>
                  <a:srgbClr val="000000"/>
                </a:solidFill>
                <a:latin typeface="Times New Roman"/>
                <a:ea typeface="Times New Roman"/>
                <a:cs typeface="Times New Roman"/>
              </a:rPr>
              <a:t>Stage 1 — </a:t>
            </a:r>
            <a:r>
              <a:rPr sz="1000" b="1" i="0" u="none">
                <a:solidFill>
                  <a:srgbClr val="000000"/>
                </a:solidFill>
                <a:latin typeface="Courier New"/>
                <a:ea typeface="Courier New"/>
                <a:cs typeface="Courier New"/>
              </a:rPr>
              <a:t>$unwind</a:t>
            </a:r>
            <a:endParaRPr/>
          </a:p>
          <a:p>
            <a:pPr>
              <a:defRPr/>
            </a:pPr>
            <a:r>
              <a:rPr sz="1200" b="0" i="0" u="none">
                <a:solidFill>
                  <a:srgbClr val="000000"/>
                </a:solidFill>
                <a:latin typeface="Times New Roman"/>
                <a:ea typeface="Times New Roman"/>
                <a:cs typeface="Times New Roman"/>
              </a:rPr>
              <a:t>Flatten the </a:t>
            </a:r>
            <a:r>
              <a:rPr sz="1000" b="0" i="0" u="none">
                <a:solidFill>
                  <a:srgbClr val="000000"/>
                </a:solidFill>
                <a:latin typeface="Courier New"/>
                <a:ea typeface="Courier New"/>
                <a:cs typeface="Courier New"/>
              </a:rPr>
              <a:t>courses</a:t>
            </a:r>
            <a:r>
              <a:rPr sz="1200" b="0" i="0" u="none">
                <a:solidFill>
                  <a:srgbClr val="000000"/>
                </a:solidFill>
                <a:latin typeface="Times New Roman"/>
                <a:ea typeface="Times New Roman"/>
                <a:cs typeface="Times New Roman"/>
              </a:rPr>
              <a:t> array so that each course becomes its own document.</a:t>
            </a:r>
            <a:endParaRPr/>
          </a:p>
          <a:p>
            <a:pPr>
              <a:defRPr/>
            </a:pPr>
            <a:r>
              <a:rPr sz="1200" b="1" i="0" u="none">
                <a:solidFill>
                  <a:srgbClr val="000000"/>
                </a:solidFill>
                <a:latin typeface="Times New Roman"/>
                <a:ea typeface="Times New Roman"/>
                <a:cs typeface="Times New Roman"/>
              </a:rPr>
              <a:t>Stage 2 — </a:t>
            </a:r>
            <a:r>
              <a:rPr sz="1000" b="1" i="0" u="none">
                <a:solidFill>
                  <a:srgbClr val="000000"/>
                </a:solidFill>
                <a:latin typeface="Courier New"/>
                <a:ea typeface="Courier New"/>
                <a:cs typeface="Courier New"/>
              </a:rPr>
              <a:t>$group</a:t>
            </a:r>
            <a:endParaRPr/>
          </a:p>
          <a:p>
            <a:pPr>
              <a:defRPr/>
            </a:pPr>
            <a:r>
              <a:rPr sz="1200" b="0" i="0" u="none">
                <a:solidFill>
                  <a:srgbClr val="000000"/>
                </a:solidFill>
                <a:latin typeface="Times New Roman"/>
                <a:ea typeface="Times New Roman"/>
                <a:cs typeface="Times New Roman"/>
              </a:rPr>
              <a:t>Group documents by course name and compute the average grade.</a:t>
            </a:r>
            <a:endParaRPr/>
          </a:p>
          <a:p>
            <a:pPr>
              <a:defRPr/>
            </a:pP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$group</a:t>
            </a: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'$courses.name'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avgGrade</a:t>
            </a: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$avg</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'$courses.grade'</a:t>
            </a:r>
            <a:r>
              <a:rPr sz="1000" b="0" i="0" u="none">
                <a:solidFill>
                  <a:srgbClr val="000000"/>
                </a:solidFill>
                <a:latin typeface="Courier New"/>
                <a:ea typeface="Courier New"/>
                <a:cs typeface="Courier New"/>
              </a:rPr>
              <a:t> } } }</a:t>
            </a:r>
            <a:endParaRPr/>
          </a:p>
          <a:p>
            <a:pPr>
              <a:defRPr/>
            </a:pPr>
            <a:r>
              <a:rPr sz="1200" b="0" i="0" u="none">
                <a:solidFill>
                  <a:srgbClr val="000000"/>
                </a:solidFill>
                <a:latin typeface="Times New Roman"/>
                <a:ea typeface="Times New Roman"/>
                <a:cs typeface="Times New Roman"/>
              </a:rPr>
              <a:t>Example result:</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"_id": </a:t>
            </a:r>
            <a:r>
              <a:rPr sz="1000" b="0" i="0" u="none">
                <a:solidFill>
                  <a:srgbClr val="000000"/>
                </a:solidFill>
                <a:latin typeface="Courier New"/>
                <a:ea typeface="Courier New"/>
                <a:cs typeface="Courier New"/>
              </a:rPr>
              <a:t>"NoSQL Databases"</a:t>
            </a:r>
            <a:r>
              <a:rPr sz="1000" b="0" i="0" u="none">
                <a:solidFill>
                  <a:srgbClr val="000000"/>
                </a:solidFill>
                <a:latin typeface="Courier New"/>
                <a:ea typeface="Courier New"/>
                <a:cs typeface="Courier New"/>
              </a:rPr>
              <a:t>, "avgGrade": </a:t>
            </a:r>
            <a:r>
              <a:rPr sz="1000" b="0" i="0" u="none">
                <a:solidFill>
                  <a:srgbClr val="000000"/>
                </a:solidFill>
                <a:latin typeface="Courier New"/>
                <a:ea typeface="Courier New"/>
                <a:cs typeface="Courier New"/>
              </a:rPr>
              <a:t>7.8</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"_id": </a:t>
            </a:r>
            <a:r>
              <a:rPr sz="1000" b="0" i="0" u="none">
                <a:solidFill>
                  <a:srgbClr val="000000"/>
                </a:solidFill>
                <a:latin typeface="Courier New"/>
                <a:ea typeface="Courier New"/>
                <a:cs typeface="Courier New"/>
              </a:rPr>
              <a:t>"Machine Learning"</a:t>
            </a:r>
            <a:r>
              <a:rPr sz="1000" b="0" i="0" u="none">
                <a:solidFill>
                  <a:srgbClr val="000000"/>
                </a:solidFill>
                <a:latin typeface="Courier New"/>
                <a:ea typeface="Courier New"/>
                <a:cs typeface="Courier New"/>
              </a:rPr>
              <a:t>, "avgGrade": </a:t>
            </a:r>
            <a:r>
              <a:rPr sz="1000" b="0" i="0" u="none">
                <a:solidFill>
                  <a:srgbClr val="000000"/>
                </a:solidFill>
                <a:latin typeface="Courier New"/>
                <a:ea typeface="Courier New"/>
                <a:cs typeface="Courier New"/>
              </a:rPr>
              <a:t>7.4</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This pipeline transforms the original student documents into </a:t>
            </a:r>
            <a:r>
              <a:rPr sz="1200" b="1" i="0" u="none">
                <a:solidFill>
                  <a:srgbClr val="000000"/>
                </a:solidFill>
                <a:latin typeface="Times New Roman"/>
                <a:ea typeface="Times New Roman"/>
                <a:cs typeface="Times New Roman"/>
              </a:rPr>
              <a:t>course-level statistics</a:t>
            </a:r>
            <a:r>
              <a:rPr sz="1200" b="0" i="0" u="none">
                <a:solidFill>
                  <a:srgbClr val="000000"/>
                </a:solidFill>
                <a:latin typeface="Times New Roman"/>
                <a:ea typeface="Times New Roman"/>
                <a:cs typeface="Times New Roman"/>
              </a:rPr>
              <a:t>, allowing instructors to analyze grade distributions across all students.</a:t>
            </a:r>
            <a:endParaRPr/>
          </a:p>
          <a:p>
            <a:pPr>
              <a:defRPr/>
            </a:pPr>
            <a:r>
              <a:rPr sz="1400" b="1" i="0" u="none">
                <a:solidFill>
                  <a:srgbClr val="000000"/>
                </a:solidFill>
                <a:latin typeface="Times New Roman"/>
                <a:ea typeface="Times New Roman"/>
                <a:cs typeface="Times New Roman"/>
              </a:rPr>
              <a:t>Why </a:t>
            </a:r>
            <a:r>
              <a:rPr sz="1150" b="1" i="0" u="none">
                <a:solidFill>
                  <a:srgbClr val="000000"/>
                </a:solidFill>
                <a:latin typeface="Courier New"/>
                <a:ea typeface="Courier New"/>
                <a:cs typeface="Courier New"/>
              </a:rPr>
              <a:t>$unwind</a:t>
            </a:r>
            <a:r>
              <a:rPr sz="1400" b="1" i="0" u="none">
                <a:solidFill>
                  <a:srgbClr val="000000"/>
                </a:solidFill>
                <a:latin typeface="Times New Roman"/>
                <a:ea typeface="Times New Roman"/>
                <a:cs typeface="Times New Roman"/>
              </a:rPr>
              <a:t> Matters</a:t>
            </a:r>
            <a:endParaRPr/>
          </a:p>
          <a:p>
            <a:pPr>
              <a:defRPr/>
            </a:pPr>
            <a:r>
              <a:rPr sz="1200" b="0" i="0" u="none">
                <a:solidFill>
                  <a:srgbClr val="000000"/>
                </a:solidFill>
                <a:latin typeface="Times New Roman"/>
                <a:ea typeface="Times New Roman"/>
                <a:cs typeface="Times New Roman"/>
              </a:rPr>
              <a:t>Without </a:t>
            </a: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each student document would be treated as a single unit during grouping. Because the grades are stored inside an array, the database cannot directly compute averages across the array elements of different documents.</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stage solves this by </a:t>
            </a:r>
            <a:r>
              <a:rPr sz="1200" b="1" i="0" u="none">
                <a:solidFill>
                  <a:srgbClr val="000000"/>
                </a:solidFill>
                <a:latin typeface="Times New Roman"/>
                <a:ea typeface="Times New Roman"/>
                <a:cs typeface="Times New Roman"/>
              </a:rPr>
              <a:t>flattening the array</a:t>
            </a:r>
            <a:r>
              <a:rPr sz="1200" b="0" i="0" u="none">
                <a:solidFill>
                  <a:srgbClr val="000000"/>
                </a:solidFill>
                <a:latin typeface="Times New Roman"/>
                <a:ea typeface="Times New Roman"/>
                <a:cs typeface="Times New Roman"/>
              </a:rPr>
              <a:t>, producing one document per course enrollment. After this transformation, the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stage can compute statistics correctly.</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A very similar pattern is used by </a:t>
            </a:r>
            <a:r>
              <a:rPr sz="1200" b="1" i="0" u="none">
                <a:solidFill>
                  <a:srgbClr val="000000"/>
                </a:solidFill>
                <a:latin typeface="Times New Roman"/>
                <a:ea typeface="Times New Roman"/>
                <a:cs typeface="Times New Roman"/>
              </a:rPr>
              <a:t>Netflix</a:t>
            </a:r>
            <a:r>
              <a:rPr sz="1200" b="0" i="0" u="none">
                <a:solidFill>
                  <a:srgbClr val="000000"/>
                </a:solidFill>
                <a:latin typeface="Times New Roman"/>
                <a:ea typeface="Times New Roman"/>
                <a:cs typeface="Times New Roman"/>
              </a:rPr>
              <a:t> when analyzing viewer behavior.</a:t>
            </a:r>
            <a:endParaRPr/>
          </a:p>
          <a:p>
            <a:pPr>
              <a:defRPr/>
            </a:pPr>
            <a:r>
              <a:rPr sz="1200" b="0" i="0" u="none">
                <a:solidFill>
                  <a:srgbClr val="000000"/>
                </a:solidFill>
                <a:latin typeface="Times New Roman"/>
                <a:ea typeface="Times New Roman"/>
                <a:cs typeface="Times New Roman"/>
              </a:rPr>
              <a:t>A simplified viewing document might look like:</a:t>
            </a:r>
            <a:endParaRPr/>
          </a:p>
          <a:p>
            <a:pPr>
              <a:defRPr/>
            </a:pP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user_id: 84231,</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watched_titles: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title: "Stranger Things", minutes_watched: 45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title: "The Crown", minutes_watched: 60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To understand </a:t>
            </a:r>
            <a:r>
              <a:rPr sz="1200" b="1" i="0" u="none">
                <a:solidFill>
                  <a:srgbClr val="000000"/>
                </a:solidFill>
                <a:latin typeface="Times New Roman"/>
                <a:ea typeface="Times New Roman"/>
                <a:cs typeface="Times New Roman"/>
              </a:rPr>
              <a:t>which shows are most watched and the average viewing time per title</a:t>
            </a:r>
            <a:r>
              <a:rPr sz="1200" b="0" i="0" u="none">
                <a:solidFill>
                  <a:srgbClr val="000000"/>
                </a:solidFill>
                <a:latin typeface="Times New Roman"/>
                <a:ea typeface="Times New Roman"/>
                <a:cs typeface="Times New Roman"/>
              </a:rPr>
              <a:t>, Netflix uses an aggregation pipeline similar to this one:</a:t>
            </a:r>
            <a:endParaRPr/>
          </a:p>
          <a:p>
            <a:pPr>
              <a:defRPr/>
            </a:pPr>
            <a:r>
              <a:rPr sz="1000" b="1"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the </a:t>
            </a:r>
            <a:r>
              <a:rPr sz="1000" b="0" i="0" u="none">
                <a:solidFill>
                  <a:srgbClr val="000000"/>
                </a:solidFill>
                <a:latin typeface="Courier New"/>
                <a:ea typeface="Courier New"/>
                <a:cs typeface="Courier New"/>
              </a:rPr>
              <a:t>watched_titles</a:t>
            </a:r>
            <a:r>
              <a:rPr sz="1200" b="0" i="0" u="none">
                <a:solidFill>
                  <a:srgbClr val="000000"/>
                </a:solidFill>
                <a:latin typeface="Times New Roman"/>
                <a:ea typeface="Times New Roman"/>
                <a:cs typeface="Times New Roman"/>
              </a:rPr>
              <a:t> array </a:t>
            </a:r>
            <a:endParaRPr/>
          </a:p>
          <a:p>
            <a:pPr>
              <a:defRPr/>
            </a:pPr>
            <a:r>
              <a:rPr sz="1000" b="1"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by title </a:t>
            </a:r>
            <a:endParaRPr/>
          </a:p>
          <a:p>
            <a:pPr>
              <a:defRPr/>
            </a:pPr>
            <a:r>
              <a:rPr sz="1200" b="0" i="0" u="none">
                <a:solidFill>
                  <a:srgbClr val="000000"/>
                </a:solidFill>
                <a:latin typeface="Times New Roman"/>
                <a:ea typeface="Times New Roman"/>
                <a:cs typeface="Times New Roman"/>
              </a:rPr>
              <a:t> Compute metrics such as </a:t>
            </a:r>
            <a:r>
              <a:rPr sz="1200" b="1" i="0" u="none">
                <a:solidFill>
                  <a:srgbClr val="000000"/>
                </a:solidFill>
                <a:latin typeface="Times New Roman"/>
                <a:ea typeface="Times New Roman"/>
                <a:cs typeface="Times New Roman"/>
              </a:rPr>
              <a:t>average minutes watched</a:t>
            </a:r>
            <a:endParaRPr/>
          </a:p>
          <a:p>
            <a:pPr>
              <a:defRPr/>
            </a:pPr>
            <a:r>
              <a:rPr sz="1200" b="0" i="0" u="none">
                <a:solidFill>
                  <a:srgbClr val="000000"/>
                </a:solidFill>
                <a:latin typeface="Times New Roman"/>
                <a:ea typeface="Times New Roman"/>
                <a:cs typeface="Times New Roman"/>
              </a:rPr>
              <a:t>This allows Netflix to produce analytics such as:</a:t>
            </a:r>
            <a:endParaRPr/>
          </a:p>
          <a:p>
            <a:pPr>
              <a:defRPr/>
            </a:pPr>
            <a:r>
              <a:rPr sz="1200" b="0" i="0" u="none">
                <a:solidFill>
                  <a:srgbClr val="000000"/>
                </a:solidFill>
                <a:latin typeface="Times New Roman"/>
                <a:ea typeface="Times New Roman"/>
                <a:cs typeface="Times New Roman"/>
              </a:rPr>
              <a:t>average watch time per show</a:t>
            </a:r>
            <a:endParaRPr/>
          </a:p>
          <a:p>
            <a:pPr>
              <a:defRPr/>
            </a:pPr>
            <a:r>
              <a:rPr sz="1200" b="0" i="0" u="none">
                <a:solidFill>
                  <a:srgbClr val="000000"/>
                </a:solidFill>
                <a:latin typeface="Times New Roman"/>
                <a:ea typeface="Times New Roman"/>
                <a:cs typeface="Times New Roman"/>
              </a:rPr>
              <a:t>popularity rankings of titles</a:t>
            </a:r>
            <a:endParaRPr/>
          </a:p>
          <a:p>
            <a:pPr>
              <a:defRPr/>
            </a:pPr>
            <a:r>
              <a:rPr sz="1200" b="0" i="0" u="none">
                <a:solidFill>
                  <a:srgbClr val="000000"/>
                </a:solidFill>
                <a:latin typeface="Times New Roman"/>
                <a:ea typeface="Times New Roman"/>
                <a:cs typeface="Times New Roman"/>
              </a:rPr>
              <a:t>completion rates of episodes</a:t>
            </a:r>
            <a:endParaRPr/>
          </a:p>
          <a:p>
            <a:pPr>
              <a:defRPr/>
            </a:pPr>
            <a:r>
              <a:rPr sz="1200" b="0" i="0" u="none">
                <a:solidFill>
                  <a:srgbClr val="000000"/>
                </a:solidFill>
                <a:latin typeface="Times New Roman"/>
                <a:ea typeface="Times New Roman"/>
                <a:cs typeface="Times New Roman"/>
              </a:rPr>
              <a:t>These insights feed the </a:t>
            </a:r>
            <a:r>
              <a:rPr sz="1200" b="1" i="0" u="none">
                <a:solidFill>
                  <a:srgbClr val="000000"/>
                </a:solidFill>
                <a:latin typeface="Times New Roman"/>
                <a:ea typeface="Times New Roman"/>
                <a:cs typeface="Times New Roman"/>
              </a:rPr>
              <a:t>recommendation algorithms and internal content analytics dashboards</a:t>
            </a:r>
            <a:r>
              <a:rPr sz="1200" b="0" i="0" u="none">
                <a:solidFill>
                  <a:srgbClr val="000000"/>
                </a:solidFill>
                <a:latin typeface="Times New Roman"/>
                <a:ea typeface="Times New Roman"/>
                <a:cs typeface="Times New Roman"/>
              </a:rPr>
              <a:t> used by Netflix product teams.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The combination of </a:t>
            </a:r>
            <a:r>
              <a:rPr sz="1000" b="1" i="0" u="none">
                <a:solidFill>
                  <a:srgbClr val="000000"/>
                </a:solidFill>
                <a:latin typeface="Courier New"/>
                <a:ea typeface="Courier New"/>
                <a:cs typeface="Courier New"/>
              </a:rPr>
              <a:t>$unwind</a:t>
            </a:r>
            <a:r>
              <a:rPr sz="1200" b="1" i="0" u="none">
                <a:solidFill>
                  <a:srgbClr val="000000"/>
                </a:solidFill>
                <a:latin typeface="Times New Roman"/>
                <a:ea typeface="Times New Roman"/>
                <a:cs typeface="Times New Roman"/>
              </a:rPr>
              <a:t> and </a:t>
            </a:r>
            <a:r>
              <a:rPr sz="1000" b="1"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enables document databases to compute statistics across elements stored inside arrays, which is essential for many real-world analytics tasks.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is </a:t>
            </a: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necessary in this pipeline? Could you calculate the average grade without it?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Without </a:t>
            </a: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the grades are embedded inside arrays within student documents. The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stage cannot directly compute averages across array elements from multiple documents. </a:t>
            </a: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flattens the arrays so that each grade becomes its own document field, allowing the </a:t>
            </a:r>
            <a:r>
              <a:rPr sz="1000" b="0" i="0" u="none">
                <a:solidFill>
                  <a:srgbClr val="000000"/>
                </a:solidFill>
                <a:latin typeface="Courier New"/>
                <a:ea typeface="Courier New"/>
                <a:cs typeface="Courier New"/>
              </a:rPr>
              <a:t>$avg</a:t>
            </a:r>
            <a:r>
              <a:rPr sz="1200" b="0" i="0" u="none">
                <a:solidFill>
                  <a:srgbClr val="000000"/>
                </a:solidFill>
                <a:latin typeface="Times New Roman"/>
                <a:ea typeface="Times New Roman"/>
                <a:cs typeface="Times New Roman"/>
              </a:rPr>
              <a:t> accumulator to compute the average correctly across all course enrollments.</a:t>
            </a:r>
            <a:endParaRPr lang="en-US"/>
          </a:p>
        </p:txBody>
      </p:sp>
      <p:sp>
        <p:nvSpPr>
          <p:cNvPr id="302746812" name="Slide Number Placeholder 3"/>
          <p:cNvSpPr>
            <a:spLocks noGrp="1"/>
          </p:cNvSpPr>
          <p:nvPr>
            <p:ph type="sldNum" sz="quarter" idx="10"/>
          </p:nvPr>
        </p:nvSpPr>
        <p:spPr bwMode="auto"/>
        <p:txBody>
          <a:bodyPr/>
          <a:lstStyle/>
          <a:p>
            <a:pPr>
              <a:defRPr/>
            </a:pPr>
            <a:fld id="{F7021451-1387-4CA6-816F-3879F97B5CBC}" type="slidenum">
              <a:rPr lang="en-US"/>
              <a:t>47</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2421849" name="Slide Image Placeholder 1"/>
          <p:cNvSpPr>
            <a:spLocks noChangeAspect="1" noGrp="1" noRot="1"/>
          </p:cNvSpPr>
          <p:nvPr>
            <p:ph type="sldImg"/>
          </p:nvPr>
        </p:nvSpPr>
        <p:spPr bwMode="auto"/>
      </p:sp>
      <p:sp>
        <p:nvSpPr>
          <p:cNvPr id="946006767"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Aggregation pipelines are powerful tools for transforming operational data into useful insights. However, they are still </a:t>
            </a:r>
            <a:r>
              <a:rPr sz="1200" b="1" i="0" u="none">
                <a:solidFill>
                  <a:srgbClr val="000000"/>
                </a:solidFill>
                <a:latin typeface="Times New Roman"/>
                <a:ea typeface="Times New Roman"/>
                <a:cs typeface="Times New Roman"/>
              </a:rPr>
              <a:t>database operations that consume CPU, memory, and disk resources</a:t>
            </a:r>
            <a:r>
              <a:rPr sz="1200" b="0" i="0" u="none">
                <a:solidFill>
                  <a:srgbClr val="000000"/>
                </a:solidFill>
                <a:latin typeface="Times New Roman"/>
                <a:ea typeface="Times New Roman"/>
                <a:cs typeface="Times New Roman"/>
              </a:rPr>
              <a:t>. Running heavy aggregation queries on very large collections—especially millions of documents—can place significant load on the database server.</a:t>
            </a:r>
            <a:endParaRPr/>
          </a:p>
          <a:p>
            <a:pPr>
              <a:defRPr/>
            </a:pPr>
            <a:r>
              <a:rPr sz="1200" b="0" i="0" u="none">
                <a:solidFill>
                  <a:srgbClr val="000000"/>
                </a:solidFill>
                <a:latin typeface="Times New Roman"/>
                <a:ea typeface="Times New Roman"/>
                <a:cs typeface="Times New Roman"/>
              </a:rPr>
              <a:t>For this reason, aggregations should not be used as a direct replacement for </a:t>
            </a:r>
            <a:r>
              <a:rPr sz="1200" b="1" i="0" u="none">
                <a:solidFill>
                  <a:srgbClr val="000000"/>
                </a:solidFill>
                <a:latin typeface="Times New Roman"/>
                <a:ea typeface="Times New Roman"/>
                <a:cs typeface="Times New Roman"/>
              </a:rPr>
              <a:t>analytics platforms or business intelligence (BI) systems</a:t>
            </a:r>
            <a:r>
              <a:rPr sz="1200" b="0" i="0" u="none">
                <a:solidFill>
                  <a:srgbClr val="000000"/>
                </a:solidFill>
                <a:latin typeface="Times New Roman"/>
                <a:ea typeface="Times New Roman"/>
                <a:cs typeface="Times New Roman"/>
              </a:rPr>
              <a:t>. Executing complex aggregations on every user request, such as during the loading of a web page, can quickly overload the database and degrade the performance of the entire application.</a:t>
            </a:r>
            <a:endParaRPr/>
          </a:p>
          <a:p>
            <a:pPr>
              <a:defRPr/>
            </a:pPr>
            <a:r>
              <a:rPr sz="1200" b="0" i="0" u="none">
                <a:solidFill>
                  <a:srgbClr val="000000"/>
                </a:solidFill>
                <a:latin typeface="Times New Roman"/>
                <a:ea typeface="Times New Roman"/>
                <a:cs typeface="Times New Roman"/>
              </a:rPr>
              <a:t>A common best practice is </a:t>
            </a:r>
            <a:r>
              <a:rPr sz="1200" b="1" i="0" u="none">
                <a:solidFill>
                  <a:srgbClr val="000000"/>
                </a:solidFill>
                <a:latin typeface="Times New Roman"/>
                <a:ea typeface="Times New Roman"/>
                <a:cs typeface="Times New Roman"/>
              </a:rPr>
              <a:t>pre-computation</a:t>
            </a:r>
            <a:r>
              <a:rPr sz="1200" b="0" i="0" u="none">
                <a:solidFill>
                  <a:srgbClr val="000000"/>
                </a:solidFill>
                <a:latin typeface="Times New Roman"/>
                <a:ea typeface="Times New Roman"/>
                <a:cs typeface="Times New Roman"/>
              </a:rPr>
              <a:t>. Instead of running expensive aggregations repeatedly in real time, the system periodically executes the aggregation in the background and stores the computed result as a </a:t>
            </a:r>
            <a:r>
              <a:rPr sz="1200" b="1" i="0" u="none">
                <a:solidFill>
                  <a:srgbClr val="000000"/>
                </a:solidFill>
                <a:latin typeface="Times New Roman"/>
                <a:ea typeface="Times New Roman"/>
                <a:cs typeface="Times New Roman"/>
              </a:rPr>
              <a:t>summary document</a:t>
            </a:r>
            <a:r>
              <a:rPr sz="1200" b="0" i="0" u="none">
                <a:solidFill>
                  <a:srgbClr val="000000"/>
                </a:solidFill>
                <a:latin typeface="Times New Roman"/>
                <a:ea typeface="Times New Roman"/>
                <a:cs typeface="Times New Roman"/>
              </a:rPr>
              <a:t>. The application or dashboard then reads this pre-computed result rather than recomputing the statistics each time.</a:t>
            </a:r>
            <a:endParaRPr/>
          </a:p>
          <a:p>
            <a:pPr>
              <a:defRPr/>
            </a:pPr>
            <a:r>
              <a:rPr sz="1200" b="0" i="0" u="none">
                <a:solidFill>
                  <a:srgbClr val="000000"/>
                </a:solidFill>
                <a:latin typeface="Times New Roman"/>
                <a:ea typeface="Times New Roman"/>
                <a:cs typeface="Times New Roman"/>
              </a:rPr>
              <a:t>For example, a background process might run every minute to calculate the number of active users and store the result in a small summary collection. When a dashboard loads, it simply reads the latest pre-computed value rather than scanning the entire user activity dataset.</a:t>
            </a:r>
            <a:endParaRPr/>
          </a:p>
          <a:p>
            <a:pPr>
              <a:defRPr/>
            </a:pPr>
            <a:r>
              <a:rPr sz="1200" b="0" i="0" u="none">
                <a:solidFill>
                  <a:srgbClr val="000000"/>
                </a:solidFill>
                <a:latin typeface="Times New Roman"/>
                <a:ea typeface="Times New Roman"/>
                <a:cs typeface="Times New Roman"/>
              </a:rPr>
              <a:t>Large technology platforms typically use a </a:t>
            </a:r>
            <a:r>
              <a:rPr sz="1200" b="1" i="0" u="none">
                <a:solidFill>
                  <a:srgbClr val="000000"/>
                </a:solidFill>
                <a:latin typeface="Times New Roman"/>
                <a:ea typeface="Times New Roman"/>
                <a:cs typeface="Times New Roman"/>
              </a:rPr>
              <a:t>two-tier architecture</a:t>
            </a:r>
            <a:r>
              <a:rPr sz="1200" b="0" i="0" u="none">
                <a:solidFill>
                  <a:srgbClr val="000000"/>
                </a:solidFill>
                <a:latin typeface="Times New Roman"/>
                <a:ea typeface="Times New Roman"/>
                <a:cs typeface="Times New Roman"/>
              </a:rPr>
              <a:t> for analytics workloads. The primary database handles operational transactions—such as user activity, orders, or messages—while heavy analytical queries are executed on separate systems designed specifically for large-scale data analysis. These systems may include data warehouses such as </a:t>
            </a:r>
            <a:r>
              <a:rPr sz="1200" b="1" i="0" u="none">
                <a:solidFill>
                  <a:srgbClr val="000000"/>
                </a:solidFill>
                <a:latin typeface="Times New Roman"/>
                <a:ea typeface="Times New Roman"/>
                <a:cs typeface="Times New Roman"/>
              </a:rPr>
              <a:t>Google BigQuery</a:t>
            </a:r>
            <a:r>
              <a:rPr sz="1200" b="0" i="0" u="none">
                <a:solidFill>
                  <a:srgbClr val="000000"/>
                </a:solidFill>
                <a:latin typeface="Times New Roman"/>
                <a:ea typeface="Times New Roman"/>
                <a:cs typeface="Times New Roman"/>
              </a:rPr>
              <a:t> or </a:t>
            </a:r>
            <a:r>
              <a:rPr sz="1200" b="1" i="0" u="none">
                <a:solidFill>
                  <a:srgbClr val="000000"/>
                </a:solidFill>
                <a:latin typeface="Times New Roman"/>
                <a:ea typeface="Times New Roman"/>
                <a:cs typeface="Times New Roman"/>
              </a:rPr>
              <a:t>Amazon Redshift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Separating operational and analytical workloads prevents expensive analytical queries from interfering with the performance of the main application database.</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Companies such as </a:t>
            </a:r>
            <a:r>
              <a:rPr sz="1200" b="1" i="0" u="none">
                <a:solidFill>
                  <a:srgbClr val="000000"/>
                </a:solidFill>
                <a:latin typeface="Times New Roman"/>
                <a:ea typeface="Times New Roman"/>
                <a:cs typeface="Times New Roman"/>
              </a:rPr>
              <a:t>YouTube</a:t>
            </a:r>
            <a:r>
              <a:rPr sz="1200" b="0" i="0" u="none">
                <a:solidFill>
                  <a:srgbClr val="000000"/>
                </a:solidFill>
                <a:latin typeface="Times New Roman"/>
                <a:ea typeface="Times New Roman"/>
                <a:cs typeface="Times New Roman"/>
              </a:rPr>
              <a:t> process enormous volumes of viewing data. Instead of computing statistics like “total views per video” or “active viewers per region” directly on the operational database for every request, YouTube continuously aggregates viewing events in the background.</a:t>
            </a:r>
            <a:endParaRPr/>
          </a:p>
          <a:p>
            <a:pPr>
              <a:defRPr/>
            </a:pPr>
            <a:r>
              <a:rPr sz="1200" b="0" i="0" u="none">
                <a:solidFill>
                  <a:srgbClr val="000000"/>
                </a:solidFill>
                <a:latin typeface="Times New Roman"/>
                <a:ea typeface="Times New Roman"/>
                <a:cs typeface="Times New Roman"/>
              </a:rPr>
              <a:t>These pre-computed results feed analytics dashboards and recommendation systems. By storing summarized metrics rather than recomputing them on demand, YouTube ensures that user-facing services remain fast and responsive even while processing billions of events.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Aggregation pipelines are powerful tools for computing insights from operational data, but heavy analytical workloads should be </a:t>
            </a:r>
            <a:r>
              <a:rPr sz="1200" b="1" i="0" u="none">
                <a:solidFill>
                  <a:srgbClr val="000000"/>
                </a:solidFill>
                <a:latin typeface="Times New Roman"/>
                <a:ea typeface="Times New Roman"/>
                <a:cs typeface="Times New Roman"/>
              </a:rPr>
              <a:t>pre-computed, cached, or moved to specialized analytics systems</a:t>
            </a:r>
            <a:r>
              <a:rPr sz="1200" b="0" i="0" u="none">
                <a:solidFill>
                  <a:srgbClr val="000000"/>
                </a:solidFill>
                <a:latin typeface="Times New Roman"/>
                <a:ea typeface="Times New Roman"/>
                <a:cs typeface="Times New Roman"/>
              </a:rPr>
              <a:t> to avoid overloading the production database.</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For a real-time dashboard showing the number of active users updated every second, should the system run an aggregation query every time the page loads?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No. Instead of running the aggregation on every page request, the system should compute the metric periodically in a background job—for example every minute—and store the result in a summary document or cache. The dashboard then reads this pre-computed value, avoiding expensive full-collection aggregations on every page refresh.</a:t>
            </a:r>
            <a:endParaRPr lang="en-US"/>
          </a:p>
        </p:txBody>
      </p:sp>
      <p:sp>
        <p:nvSpPr>
          <p:cNvPr id="302236183" name="Slide Number Placeholder 3"/>
          <p:cNvSpPr>
            <a:spLocks noGrp="1"/>
          </p:cNvSpPr>
          <p:nvPr>
            <p:ph type="sldNum" sz="quarter" idx="10"/>
          </p:nvPr>
        </p:nvSpPr>
        <p:spPr bwMode="auto"/>
        <p:txBody>
          <a:bodyPr/>
          <a:lstStyle/>
          <a:p>
            <a:pPr>
              <a:defRPr/>
            </a:pPr>
            <a:fld id="{F7021451-1387-4CA6-816F-3879F97B5CBC}" type="slidenum">
              <a:rPr lang="en-US"/>
              <a:t>48</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788285" name="Slide Image Placeholder 1"/>
          <p:cNvSpPr>
            <a:spLocks noChangeAspect="1" noGrp="1" noRot="1"/>
          </p:cNvSpPr>
          <p:nvPr>
            <p:ph type="sldImg"/>
          </p:nvPr>
        </p:nvSpPr>
        <p:spPr bwMode="auto"/>
      </p:sp>
      <p:sp>
        <p:nvSpPr>
          <p:cNvPr id="962012723" name="Notes Placeholder 2"/>
          <p:cNvSpPr>
            <a:spLocks noGrp="1"/>
          </p:cNvSpPr>
          <p:nvPr>
            <p:ph type="body" idx="1"/>
          </p:nvPr>
        </p:nvSpPr>
        <p:spPr bwMode="auto"/>
        <p:txBody>
          <a:bodyPr/>
          <a:lstStyle/>
          <a:p>
            <a:pPr>
              <a:defRPr/>
            </a:pPr>
            <a:r>
              <a:rPr lang="en-US"/>
              <a:t>With our storage foundations solid, we now look at how data flows between systems. Every database query in a modern web application is triggered by an API call. Understanding the API layer connects everything we have learned about documents, schemas, and queries to the real world.</a:t>
            </a:r>
            <a:endParaRPr lang="en-US"/>
          </a:p>
        </p:txBody>
      </p:sp>
      <p:sp>
        <p:nvSpPr>
          <p:cNvPr id="646952850" name="Slide Number Placeholder 3"/>
          <p:cNvSpPr>
            <a:spLocks noGrp="1"/>
          </p:cNvSpPr>
          <p:nvPr>
            <p:ph type="sldNum" sz="quarter" idx="10"/>
          </p:nvPr>
        </p:nvSpPr>
        <p:spPr bwMode="auto"/>
        <p:txBody>
          <a:bodyPr/>
          <a:lstStyle/>
          <a:p>
            <a:pPr>
              <a:defRPr/>
            </a:pPr>
            <a:fld id="{F7021451-1387-4CA6-816F-3879F97B5CBC}" type="slidenum">
              <a:rPr lang="en-US"/>
              <a:t>49</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3592820" name="Slide Image Placeholder 1"/>
          <p:cNvSpPr>
            <a:spLocks noChangeAspect="1" noGrp="1" noRot="1"/>
          </p:cNvSpPr>
          <p:nvPr>
            <p:ph type="sldImg"/>
          </p:nvPr>
        </p:nvSpPr>
        <p:spPr bwMode="auto"/>
      </p:sp>
      <p:sp>
        <p:nvSpPr>
          <p:cNvPr id="701012145"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An API is a </a:t>
            </a:r>
            <a:r>
              <a:rPr sz="1200" b="1" i="0" u="none">
                <a:solidFill>
                  <a:srgbClr val="000000"/>
                </a:solidFill>
                <a:latin typeface="Times New Roman"/>
                <a:ea typeface="Times New Roman"/>
                <a:cs typeface="Times New Roman"/>
              </a:rPr>
              <a:t>defined set of rules that allows different software systems to communicate with each other</a:t>
            </a:r>
            <a:r>
              <a:rPr sz="1200" b="0" i="0" u="none">
                <a:solidFill>
                  <a:srgbClr val="000000"/>
                </a:solidFill>
                <a:latin typeface="Times New Roman"/>
                <a:ea typeface="Times New Roman"/>
                <a:cs typeface="Times New Roman"/>
              </a:rPr>
              <a:t>. In a typical web or mobile architecture, the frontend application—such as a website or mobile app—does not communicate with the database directly. Instead, it sends requests to a backend service through an API. The backend receives these requests, performs the appropriate database operations, and then returns the results to the client.</a:t>
            </a:r>
            <a:endParaRPr/>
          </a:p>
          <a:p>
            <a:pPr>
              <a:defRPr/>
            </a:pPr>
            <a:r>
              <a:rPr sz="1200" b="0" i="0" u="none">
                <a:solidFill>
                  <a:srgbClr val="000000"/>
                </a:solidFill>
                <a:latin typeface="Times New Roman"/>
                <a:ea typeface="Times New Roman"/>
                <a:cs typeface="Times New Roman"/>
              </a:rPr>
              <a:t>This architectural separation is fundamental for both </a:t>
            </a:r>
            <a:r>
              <a:rPr sz="1200" b="1" i="0" u="none">
                <a:solidFill>
                  <a:srgbClr val="000000"/>
                </a:solidFill>
                <a:latin typeface="Times New Roman"/>
                <a:ea typeface="Times New Roman"/>
                <a:cs typeface="Times New Roman"/>
              </a:rPr>
              <a:t>security and maintainability</a:t>
            </a:r>
            <a:r>
              <a:rPr sz="1200" b="0" i="0" u="none">
                <a:solidFill>
                  <a:srgbClr val="000000"/>
                </a:solidFill>
                <a:latin typeface="Times New Roman"/>
                <a:ea typeface="Times New Roman"/>
                <a:cs typeface="Times New Roman"/>
              </a:rPr>
              <a:t>. If a frontend application were allowed to query the database directly, it would require embedding database credentials inside the application code. In the case of mobile apps, those credentials would be distributed to every user’s device, allowing anyone to extract them and potentially execute arbitrary queries against the production database.</a:t>
            </a:r>
            <a:endParaRPr/>
          </a:p>
          <a:p>
            <a:pPr>
              <a:defRPr/>
            </a:pPr>
            <a:r>
              <a:rPr sz="1200" b="0" i="0" u="none">
                <a:solidFill>
                  <a:srgbClr val="000000"/>
                </a:solidFill>
                <a:latin typeface="Times New Roman"/>
                <a:ea typeface="Times New Roman"/>
                <a:cs typeface="Times New Roman"/>
              </a:rPr>
              <a:t>By placing a backend API between the client and the database, the system gains several important advantages. The backend can enforce authentication, validate incoming data, and ensure that users only access information they are authorized to see. It also provides a stable interface between the frontend and the data layer. The frontend sends requests in a predefined format, and the backend guarantees responses in a predictable structure.</a:t>
            </a:r>
            <a:endParaRPr/>
          </a:p>
          <a:p>
            <a:pPr>
              <a:defRPr/>
            </a:pPr>
            <a:r>
              <a:rPr sz="1200" b="0" i="0" u="none">
                <a:solidFill>
                  <a:srgbClr val="000000"/>
                </a:solidFill>
                <a:latin typeface="Times New Roman"/>
                <a:ea typeface="Times New Roman"/>
                <a:cs typeface="Times New Roman"/>
              </a:rPr>
              <a:t>Another major advantage of APIs is </a:t>
            </a:r>
            <a:r>
              <a:rPr sz="1200" b="1" i="0" u="none">
                <a:solidFill>
                  <a:srgbClr val="000000"/>
                </a:solidFill>
                <a:latin typeface="Times New Roman"/>
                <a:ea typeface="Times New Roman"/>
                <a:cs typeface="Times New Roman"/>
              </a:rPr>
              <a:t>architectural flexibility</a:t>
            </a:r>
            <a:r>
              <a:rPr sz="1200" b="0" i="0" u="none">
                <a:solidFill>
                  <a:srgbClr val="000000"/>
                </a:solidFill>
                <a:latin typeface="Times New Roman"/>
                <a:ea typeface="Times New Roman"/>
                <a:cs typeface="Times New Roman"/>
              </a:rPr>
              <a:t>. Because the frontend interacts only with the API and not with the database directly, the internal implementation of the backend can change without affecting client applications. For example, a development team might initially build a system using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and later migrate the data layer to </a:t>
            </a:r>
            <a:r>
              <a:rPr sz="1200" b="1" i="0" u="none">
                <a:solidFill>
                  <a:srgbClr val="000000"/>
                </a:solidFill>
                <a:latin typeface="Times New Roman"/>
                <a:ea typeface="Times New Roman"/>
                <a:cs typeface="Times New Roman"/>
              </a:rPr>
              <a:t>PostgreSQL</a:t>
            </a:r>
            <a:r>
              <a:rPr sz="1200" b="0" i="0" u="none">
                <a:solidFill>
                  <a:srgbClr val="000000"/>
                </a:solidFill>
                <a:latin typeface="Times New Roman"/>
                <a:ea typeface="Times New Roman"/>
                <a:cs typeface="Times New Roman"/>
              </a:rPr>
              <a:t> for specific requirements. As long as the API responses remain the same, the mobile or web application does not need to change at all.</a:t>
            </a:r>
            <a:endParaRPr/>
          </a:p>
          <a:p>
            <a:pPr>
              <a:defRPr/>
            </a:pPr>
            <a:r>
              <a:rPr sz="1200" b="0" i="0" u="none">
                <a:solidFill>
                  <a:srgbClr val="000000"/>
                </a:solidFill>
                <a:latin typeface="Times New Roman"/>
                <a:ea typeface="Times New Roman"/>
                <a:cs typeface="Times New Roman"/>
              </a:rPr>
              <a:t>This level of decoupling is what allows large engineering organizations to evolve their systems over time without constantly updating all client applications.</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Companies such as </a:t>
            </a:r>
            <a:r>
              <a:rPr sz="1200" b="1" i="0" u="none">
                <a:solidFill>
                  <a:srgbClr val="000000"/>
                </a:solidFill>
                <a:latin typeface="Times New Roman"/>
                <a:ea typeface="Times New Roman"/>
                <a:cs typeface="Times New Roman"/>
              </a:rPr>
              <a:t>Instagram</a:t>
            </a:r>
            <a:r>
              <a:rPr sz="1200" b="0" i="0" u="none">
                <a:solidFill>
                  <a:srgbClr val="000000"/>
                </a:solidFill>
                <a:latin typeface="Times New Roman"/>
                <a:ea typeface="Times New Roman"/>
                <a:cs typeface="Times New Roman"/>
              </a:rPr>
              <a:t> rely heavily on API-based architectures. The Instagram mobile app never connects directly to the production database. Instead, every action—loading a feed, posting a photo, liking a post, or following a user—sends an API request to Instagram’s backend services.</a:t>
            </a:r>
            <a:endParaRPr/>
          </a:p>
          <a:p>
            <a:pPr>
              <a:defRPr/>
            </a:pPr>
            <a:r>
              <a:rPr sz="1200" b="0" i="0" u="none">
                <a:solidFill>
                  <a:srgbClr val="000000"/>
                </a:solidFill>
                <a:latin typeface="Times New Roman"/>
                <a:ea typeface="Times New Roman"/>
                <a:cs typeface="Times New Roman"/>
              </a:rPr>
              <a:t>The backend API then performs the necessary operations on databases and returns the appropriate response to the mobile client. This architecture allows Instagram engineers to modify database structures, introduce caching layers, or migrate storage systems without requiring users to update the mobile application.</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An API acts as a </a:t>
            </a:r>
            <a:r>
              <a:rPr sz="1200" b="1" i="0" u="none">
                <a:solidFill>
                  <a:srgbClr val="000000"/>
                </a:solidFill>
                <a:latin typeface="Times New Roman"/>
                <a:ea typeface="Times New Roman"/>
                <a:cs typeface="Times New Roman"/>
              </a:rPr>
              <a:t>secure and stable interface between the frontend and the database</a:t>
            </a:r>
            <a:r>
              <a:rPr sz="1200" b="0" i="0" u="none">
                <a:solidFill>
                  <a:srgbClr val="000000"/>
                </a:solidFill>
                <a:latin typeface="Times New Roman"/>
                <a:ea typeface="Times New Roman"/>
                <a:cs typeface="Times New Roman"/>
              </a:rPr>
              <a:t>, enabling modular system design, protecting database access, and allowing backend systems to evolve independently of client applications.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should a mobile app never be allowed to query a database directly?</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doing so would expose database credentials inside the mobile application, allowing anyone to extract them and run arbitrary queries against the production database. It would also tightly couple the mobile app to a specific database schema, making it extremely difficult to evolve the backend without breaking all installed versions of the app.</a:t>
            </a:r>
            <a:endParaRPr/>
          </a:p>
        </p:txBody>
      </p:sp>
      <p:sp>
        <p:nvSpPr>
          <p:cNvPr id="954322974" name="Slide Number Placeholder 3"/>
          <p:cNvSpPr>
            <a:spLocks noGrp="1"/>
          </p:cNvSpPr>
          <p:nvPr>
            <p:ph type="sldNum" sz="quarter" idx="10"/>
          </p:nvPr>
        </p:nvSpPr>
        <p:spPr bwMode="auto"/>
        <p:txBody>
          <a:bodyPr/>
          <a:lstStyle/>
          <a:p>
            <a:pPr>
              <a:defRPr/>
            </a:pPr>
            <a:fld id="{F7021451-1387-4CA6-816F-3879F97B5CBC}" type="slidenum">
              <a:rPr lang="en-US"/>
              <a:t>50</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8379946" name="Slide Image Placeholder 1"/>
          <p:cNvSpPr>
            <a:spLocks noChangeAspect="1" noGrp="1" noRot="1"/>
          </p:cNvSpPr>
          <p:nvPr>
            <p:ph type="sldImg"/>
          </p:nvPr>
        </p:nvSpPr>
        <p:spPr bwMode="auto"/>
      </p:sp>
      <p:sp>
        <p:nvSpPr>
          <p:cNvPr id="537208741"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introducing APIs as the interface between frontend applications and backend systems, the most widely used architectural style for building such APIs is </a:t>
            </a:r>
            <a:r>
              <a:rPr sz="1200" b="1" i="0" u="none">
                <a:solidFill>
                  <a:srgbClr val="000000"/>
                </a:solidFill>
                <a:latin typeface="Times New Roman"/>
                <a:ea typeface="Times New Roman"/>
                <a:cs typeface="Times New Roman"/>
              </a:rPr>
              <a:t>REST (Representational State Transfer)</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REST defines a set of design principles that allow distributed systems to communicate in a predictable and scalable way. In a REST architecture, application data is modeled as </a:t>
            </a:r>
            <a:r>
              <a:rPr sz="1200" b="1" i="0" u="none">
                <a:solidFill>
                  <a:srgbClr val="000000"/>
                </a:solidFill>
                <a:latin typeface="Times New Roman"/>
                <a:ea typeface="Times New Roman"/>
                <a:cs typeface="Times New Roman"/>
              </a:rPr>
              <a:t>resources</a:t>
            </a:r>
            <a:r>
              <a:rPr sz="1200" b="0" i="0" u="none">
                <a:solidFill>
                  <a:srgbClr val="000000"/>
                </a:solidFill>
                <a:latin typeface="Times New Roman"/>
                <a:ea typeface="Times New Roman"/>
                <a:cs typeface="Times New Roman"/>
              </a:rPr>
              <a:t>. Each resource—such as a student, course, or order—is identified by a unique URL. Clients interact with these resources using standard HTTP methods.</a:t>
            </a:r>
            <a:endParaRPr/>
          </a:p>
          <a:p>
            <a:pPr>
              <a:defRPr/>
            </a:pPr>
            <a:r>
              <a:rPr sz="1200" b="0" i="0" u="none">
                <a:solidFill>
                  <a:srgbClr val="000000"/>
                </a:solidFill>
                <a:latin typeface="Times New Roman"/>
                <a:ea typeface="Times New Roman"/>
                <a:cs typeface="Times New Roman"/>
              </a:rPr>
              <a:t>For example:</a:t>
            </a:r>
            <a:endParaRPr/>
          </a:p>
          <a:p>
            <a:pPr>
              <a:defRPr/>
            </a:pPr>
            <a:r>
              <a:rPr sz="1200" b="1" i="0" u="none">
                <a:solidFill>
                  <a:srgbClr val="000000"/>
                </a:solidFill>
                <a:latin typeface="Times New Roman"/>
                <a:ea typeface="Times New Roman"/>
                <a:cs typeface="Times New Roman"/>
              </a:rPr>
              <a:t>GET</a:t>
            </a:r>
            <a:r>
              <a:rPr sz="1200" b="0" i="0" u="none">
                <a:solidFill>
                  <a:srgbClr val="000000"/>
                </a:solidFill>
                <a:latin typeface="Times New Roman"/>
                <a:ea typeface="Times New Roman"/>
                <a:cs typeface="Times New Roman"/>
              </a:rPr>
              <a:t> retrieves a resource </a:t>
            </a:r>
            <a:endParaRPr/>
          </a:p>
          <a:p>
            <a:pPr>
              <a:defRPr/>
            </a:pPr>
            <a:r>
              <a:rPr sz="1200" b="1" i="0" u="none">
                <a:solidFill>
                  <a:srgbClr val="000000"/>
                </a:solidFill>
                <a:latin typeface="Times New Roman"/>
                <a:ea typeface="Times New Roman"/>
                <a:cs typeface="Times New Roman"/>
              </a:rPr>
              <a:t>POST</a:t>
            </a:r>
            <a:r>
              <a:rPr sz="1200" b="0" i="0" u="none">
                <a:solidFill>
                  <a:srgbClr val="000000"/>
                </a:solidFill>
                <a:latin typeface="Times New Roman"/>
                <a:ea typeface="Times New Roman"/>
                <a:cs typeface="Times New Roman"/>
              </a:rPr>
              <a:t> creates a new resource </a:t>
            </a:r>
            <a:endParaRPr/>
          </a:p>
          <a:p>
            <a:pPr>
              <a:defRPr/>
            </a:pPr>
            <a:r>
              <a:rPr sz="1200" b="1" i="0" u="none">
                <a:solidFill>
                  <a:srgbClr val="000000"/>
                </a:solidFill>
                <a:latin typeface="Times New Roman"/>
                <a:ea typeface="Times New Roman"/>
                <a:cs typeface="Times New Roman"/>
              </a:rPr>
              <a:t>PUT / PATCH</a:t>
            </a:r>
            <a:r>
              <a:rPr sz="1200" b="0" i="0" u="none">
                <a:solidFill>
                  <a:srgbClr val="000000"/>
                </a:solidFill>
                <a:latin typeface="Times New Roman"/>
                <a:ea typeface="Times New Roman"/>
                <a:cs typeface="Times New Roman"/>
              </a:rPr>
              <a:t> updates an existing resource </a:t>
            </a:r>
            <a:endParaRPr/>
          </a:p>
          <a:p>
            <a:pPr>
              <a:defRPr/>
            </a:pPr>
            <a:r>
              <a:rPr sz="1200" b="1" i="0" u="none">
                <a:solidFill>
                  <a:srgbClr val="000000"/>
                </a:solidFill>
                <a:latin typeface="Times New Roman"/>
                <a:ea typeface="Times New Roman"/>
                <a:cs typeface="Times New Roman"/>
              </a:rPr>
              <a:t>DELETE</a:t>
            </a:r>
            <a:r>
              <a:rPr sz="1200" b="0" i="0" u="none">
                <a:solidFill>
                  <a:srgbClr val="000000"/>
                </a:solidFill>
                <a:latin typeface="Times New Roman"/>
                <a:ea typeface="Times New Roman"/>
                <a:cs typeface="Times New Roman"/>
              </a:rPr>
              <a:t> removes a resource </a:t>
            </a:r>
            <a:endParaRPr/>
          </a:p>
          <a:p>
            <a:pPr>
              <a:defRPr/>
            </a:pPr>
            <a:r>
              <a:rPr sz="1200" b="0" i="0" u="none">
                <a:solidFill>
                  <a:srgbClr val="000000"/>
                </a:solidFill>
                <a:latin typeface="Times New Roman"/>
                <a:ea typeface="Times New Roman"/>
                <a:cs typeface="Times New Roman"/>
              </a:rPr>
              <a:t>Data exchanged between the client and the server is typically encoded in </a:t>
            </a:r>
            <a:r>
              <a:rPr sz="1200" b="1" i="0" u="none">
                <a:solidFill>
                  <a:srgbClr val="000000"/>
                </a:solidFill>
                <a:latin typeface="Times New Roman"/>
                <a:ea typeface="Times New Roman"/>
                <a:cs typeface="Times New Roman"/>
              </a:rPr>
              <a:t>JSON</a:t>
            </a:r>
            <a:r>
              <a:rPr sz="1200" b="0" i="0" u="none">
                <a:solidFill>
                  <a:srgbClr val="000000"/>
                </a:solidFill>
                <a:latin typeface="Times New Roman"/>
                <a:ea typeface="Times New Roman"/>
                <a:cs typeface="Times New Roman"/>
              </a:rPr>
              <a:t>, which is lightweight, human-readable, and easy for programming languages to parse.</a:t>
            </a:r>
            <a:endParaRPr/>
          </a:p>
          <a:p>
            <a:pPr>
              <a:defRPr/>
            </a:pPr>
            <a:r>
              <a:rPr sz="1200" b="0" i="0" u="none">
                <a:solidFill>
                  <a:srgbClr val="000000"/>
                </a:solidFill>
                <a:latin typeface="Times New Roman"/>
                <a:ea typeface="Times New Roman"/>
                <a:cs typeface="Times New Roman"/>
              </a:rPr>
              <a:t>Several key principles define REST APIs.</a:t>
            </a:r>
            <a:endParaRPr/>
          </a:p>
          <a:p>
            <a:pPr>
              <a:defRPr/>
            </a:pPr>
            <a:r>
              <a:rPr sz="1200" b="1" i="0" u="none">
                <a:solidFill>
                  <a:srgbClr val="000000"/>
                </a:solidFill>
                <a:latin typeface="Times New Roman"/>
                <a:ea typeface="Times New Roman"/>
                <a:cs typeface="Times New Roman"/>
              </a:rPr>
              <a:t>Statelessness</a:t>
            </a:r>
            <a:r>
              <a:rPr sz="1200" b="0" i="0" u="none">
                <a:solidFill>
                  <a:srgbClr val="000000"/>
                </a:solidFill>
                <a:latin typeface="Times New Roman"/>
                <a:ea typeface="Times New Roman"/>
                <a:cs typeface="Times New Roman"/>
              </a:rPr>
              <a:t> is the most important property. In a stateless system, every request sent by the client contains all the information required for the server to process it. The server does not store memory of previous requests or user sessions. This greatly simplifies scalability because any server in a cluster can handle any request.</a:t>
            </a:r>
            <a:endParaRPr/>
          </a:p>
          <a:p>
            <a:pPr>
              <a:defRPr/>
            </a:pPr>
            <a:r>
              <a:rPr sz="1200" b="0" i="0" u="none">
                <a:solidFill>
                  <a:srgbClr val="000000"/>
                </a:solidFill>
                <a:latin typeface="Times New Roman"/>
                <a:ea typeface="Times New Roman"/>
                <a:cs typeface="Times New Roman"/>
              </a:rPr>
              <a:t>Another core idea is </a:t>
            </a:r>
            <a:r>
              <a:rPr sz="1200" b="1" i="0" u="none">
                <a:solidFill>
                  <a:srgbClr val="000000"/>
                </a:solidFill>
                <a:latin typeface="Times New Roman"/>
                <a:ea typeface="Times New Roman"/>
                <a:cs typeface="Times New Roman"/>
              </a:rPr>
              <a:t>resource-based design</a:t>
            </a:r>
            <a:r>
              <a:rPr sz="1200" b="0" i="0" u="none">
                <a:solidFill>
                  <a:srgbClr val="000000"/>
                </a:solidFill>
                <a:latin typeface="Times New Roman"/>
                <a:ea typeface="Times New Roman"/>
                <a:cs typeface="Times New Roman"/>
              </a:rPr>
              <a:t>. Instead of calling procedures or functions, clients interact with resources. For example, a student record might be accessible at:</a:t>
            </a:r>
            <a:endParaRPr/>
          </a:p>
          <a:p>
            <a:pPr>
              <a:defRPr/>
            </a:pPr>
            <a:r>
              <a:rPr sz="1000" b="0" i="0" u="none">
                <a:solidFill>
                  <a:srgbClr val="000000"/>
                </a:solidFill>
                <a:latin typeface="Courier New"/>
                <a:ea typeface="Courier New"/>
                <a:cs typeface="Courier New"/>
              </a:rPr>
              <a:t>/api/students/123</a:t>
            </a:r>
            <a:endParaRPr/>
          </a:p>
          <a:p>
            <a:pPr>
              <a:defRPr/>
            </a:pPr>
            <a:r>
              <a:rPr sz="1200" b="0" i="0" u="none">
                <a:solidFill>
                  <a:srgbClr val="000000"/>
                </a:solidFill>
                <a:latin typeface="Times New Roman"/>
                <a:ea typeface="Times New Roman"/>
                <a:cs typeface="Times New Roman"/>
              </a:rPr>
              <a:t>Regardless of whether the operation is retrieving the student data, updating it, or deleting it, the resource identifier remains the same.</a:t>
            </a:r>
            <a:endParaRPr/>
          </a:p>
          <a:p>
            <a:pPr>
              <a:defRPr/>
            </a:pPr>
            <a:r>
              <a:rPr sz="1200" b="0" i="0" u="none">
                <a:solidFill>
                  <a:srgbClr val="000000"/>
                </a:solidFill>
                <a:latin typeface="Times New Roman"/>
                <a:ea typeface="Times New Roman"/>
                <a:cs typeface="Times New Roman"/>
              </a:rPr>
              <a:t>REST APIs also rely on a </a:t>
            </a:r>
            <a:r>
              <a:rPr sz="1200" b="1" i="0" u="none">
                <a:solidFill>
                  <a:srgbClr val="000000"/>
                </a:solidFill>
                <a:latin typeface="Times New Roman"/>
                <a:ea typeface="Times New Roman"/>
                <a:cs typeface="Times New Roman"/>
              </a:rPr>
              <a:t>uniform interface</a:t>
            </a:r>
            <a:r>
              <a:rPr sz="1200" b="0" i="0" u="none">
                <a:solidFill>
                  <a:srgbClr val="000000"/>
                </a:solidFill>
                <a:latin typeface="Times New Roman"/>
                <a:ea typeface="Times New Roman"/>
                <a:cs typeface="Times New Roman"/>
              </a:rPr>
              <a:t>, meaning that the same set of HTTP rules applies consistently across all resources. This predictability simplifies both backend development and frontend integration.</a:t>
            </a:r>
            <a:endParaRPr/>
          </a:p>
          <a:p>
            <a:pPr>
              <a:defRPr/>
            </a:pPr>
            <a:r>
              <a:rPr sz="1200" b="0" i="0" u="none">
                <a:solidFill>
                  <a:srgbClr val="000000"/>
                </a:solidFill>
                <a:latin typeface="Times New Roman"/>
                <a:ea typeface="Times New Roman"/>
                <a:cs typeface="Times New Roman"/>
              </a:rPr>
              <a:t>Finally, REST responses are typically </a:t>
            </a:r>
            <a:r>
              <a:rPr sz="1200" b="1" i="0" u="none">
                <a:solidFill>
                  <a:srgbClr val="000000"/>
                </a:solidFill>
                <a:latin typeface="Times New Roman"/>
                <a:ea typeface="Times New Roman"/>
                <a:cs typeface="Times New Roman"/>
              </a:rPr>
              <a:t>cacheable</a:t>
            </a:r>
            <a:r>
              <a:rPr sz="1200" b="0" i="0" u="none">
                <a:solidFill>
                  <a:srgbClr val="000000"/>
                </a:solidFill>
                <a:latin typeface="Times New Roman"/>
                <a:ea typeface="Times New Roman"/>
                <a:cs typeface="Times New Roman"/>
              </a:rPr>
              <a:t>. For example, responses to GET requests can be cached by browsers, proxies, or Content Delivery Networks (CDNs), reducing the number of requests that reach the backend servers.</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A company such as </a:t>
            </a:r>
            <a:r>
              <a:rPr sz="1200" b="1" i="0" u="none">
                <a:solidFill>
                  <a:srgbClr val="000000"/>
                </a:solidFill>
                <a:latin typeface="Times New Roman"/>
                <a:ea typeface="Times New Roman"/>
                <a:cs typeface="Times New Roman"/>
              </a:rPr>
              <a:t>Stripe</a:t>
            </a:r>
            <a:r>
              <a:rPr sz="1200" b="0" i="0" u="none">
                <a:solidFill>
                  <a:srgbClr val="000000"/>
                </a:solidFill>
                <a:latin typeface="Times New Roman"/>
                <a:ea typeface="Times New Roman"/>
                <a:cs typeface="Times New Roman"/>
              </a:rPr>
              <a:t>, which provides payment processing APIs to thousands of applications, uses a REST-style API architecture.</a:t>
            </a:r>
            <a:endParaRPr/>
          </a:p>
          <a:p>
            <a:pPr>
              <a:defRPr/>
            </a:pPr>
            <a:r>
              <a:rPr sz="1200" b="0" i="0" u="none">
                <a:solidFill>
                  <a:srgbClr val="000000"/>
                </a:solidFill>
                <a:latin typeface="Times New Roman"/>
                <a:ea typeface="Times New Roman"/>
                <a:cs typeface="Times New Roman"/>
              </a:rPr>
              <a:t>For example:</a:t>
            </a:r>
            <a:endParaRPr/>
          </a:p>
          <a:p>
            <a:pPr>
              <a:defRPr/>
            </a:pPr>
            <a:r>
              <a:rPr sz="1000" b="0" i="0" u="none">
                <a:solidFill>
                  <a:srgbClr val="000000"/>
                </a:solidFill>
                <a:latin typeface="Courier New"/>
                <a:ea typeface="Courier New"/>
                <a:cs typeface="Courier New"/>
              </a:rPr>
              <a:t>GET /v1/customers/123</a:t>
            </a:r>
            <a:endParaRPr/>
          </a:p>
          <a:p>
            <a:pPr>
              <a:defRPr/>
            </a:pPr>
            <a:r>
              <a:rPr sz="1200" b="0" i="0" u="none">
                <a:solidFill>
                  <a:srgbClr val="000000"/>
                </a:solidFill>
                <a:latin typeface="Times New Roman"/>
                <a:ea typeface="Times New Roman"/>
                <a:cs typeface="Times New Roman"/>
              </a:rPr>
              <a:t>retrieves a customer record, while</a:t>
            </a:r>
            <a:endParaRPr/>
          </a:p>
          <a:p>
            <a:pPr>
              <a:defRPr/>
            </a:pPr>
            <a:r>
              <a:rPr sz="1000" b="0" i="0" u="none">
                <a:solidFill>
                  <a:srgbClr val="000000"/>
                </a:solidFill>
                <a:latin typeface="Courier New"/>
                <a:ea typeface="Courier New"/>
                <a:cs typeface="Courier New"/>
              </a:rPr>
              <a:t>POST /v1/charges</a:t>
            </a:r>
            <a:endParaRPr/>
          </a:p>
          <a:p>
            <a:pPr>
              <a:defRPr/>
            </a:pPr>
            <a:r>
              <a:rPr sz="1200" b="0" i="0" u="none">
                <a:solidFill>
                  <a:srgbClr val="000000"/>
                </a:solidFill>
                <a:latin typeface="Times New Roman"/>
                <a:ea typeface="Times New Roman"/>
                <a:cs typeface="Times New Roman"/>
              </a:rPr>
              <a:t>creates a new payment transaction.</a:t>
            </a:r>
            <a:endParaRPr/>
          </a:p>
          <a:p>
            <a:pPr>
              <a:defRPr/>
            </a:pPr>
            <a:r>
              <a:rPr sz="1200" b="0" i="0" u="none">
                <a:solidFill>
                  <a:srgbClr val="000000"/>
                </a:solidFill>
                <a:latin typeface="Times New Roman"/>
                <a:ea typeface="Times New Roman"/>
                <a:cs typeface="Times New Roman"/>
              </a:rPr>
              <a:t>Because the API is </a:t>
            </a:r>
            <a:r>
              <a:rPr sz="1200" b="1" i="0" u="none">
                <a:solidFill>
                  <a:srgbClr val="000000"/>
                </a:solidFill>
                <a:latin typeface="Times New Roman"/>
                <a:ea typeface="Times New Roman"/>
                <a:cs typeface="Times New Roman"/>
              </a:rPr>
              <a:t>stateless</a:t>
            </a:r>
            <a:r>
              <a:rPr sz="1200" b="0" i="0" u="none">
                <a:solidFill>
                  <a:srgbClr val="000000"/>
                </a:solidFill>
                <a:latin typeface="Times New Roman"/>
                <a:ea typeface="Times New Roman"/>
                <a:cs typeface="Times New Roman"/>
              </a:rPr>
              <a:t>, Stripe can run thousands of identical backend servers behind load balancers. Any incoming request can be handled by any server, allowing the system to scale to millions of transactions per minute without maintaining session state.</a:t>
            </a:r>
            <a:endParaRPr/>
          </a:p>
          <a:p>
            <a:pPr>
              <a:defRPr/>
            </a:pPr>
            <a:r>
              <a:rPr sz="1200" b="0" i="0" u="none">
                <a:solidFill>
                  <a:srgbClr val="000000"/>
                </a:solidFill>
                <a:latin typeface="Times New Roman"/>
                <a:ea typeface="Times New Roman"/>
                <a:cs typeface="Times New Roman"/>
              </a:rPr>
              <a:t>This design is a major reason why REST APIs dominate modern web architectures.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REST APIs treat application data as </a:t>
            </a:r>
            <a:r>
              <a:rPr sz="1200" b="1" i="0" u="none">
                <a:solidFill>
                  <a:srgbClr val="000000"/>
                </a:solidFill>
                <a:latin typeface="Times New Roman"/>
                <a:ea typeface="Times New Roman"/>
                <a:cs typeface="Times New Roman"/>
              </a:rPr>
              <a:t>resources accessed through URLs using standard HTTP methods</a:t>
            </a:r>
            <a:r>
              <a:rPr sz="1200" b="0" i="0" u="none">
                <a:solidFill>
                  <a:srgbClr val="000000"/>
                </a:solidFill>
                <a:latin typeface="Times New Roman"/>
                <a:ea typeface="Times New Roman"/>
                <a:cs typeface="Times New Roman"/>
              </a:rPr>
              <a:t>, enabling scalable, modular, and predictable communication between systems.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How does statelessness allow an application to scale horizontally?</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the server stores no session state, any request can be handled by any server in the system. This allows multiple identical servers to run behind a load balancer, each independently processing requests without sharing session memory. As traffic grows, new servers can simply be added to the cluster to increase capacity.</a:t>
            </a:r>
            <a:endParaRPr/>
          </a:p>
        </p:txBody>
      </p:sp>
      <p:sp>
        <p:nvSpPr>
          <p:cNvPr id="959066093" name="Slide Number Placeholder 3"/>
          <p:cNvSpPr>
            <a:spLocks noGrp="1"/>
          </p:cNvSpPr>
          <p:nvPr>
            <p:ph type="sldNum" sz="quarter" idx="10"/>
          </p:nvPr>
        </p:nvSpPr>
        <p:spPr bwMode="auto"/>
        <p:txBody>
          <a:bodyPr/>
          <a:lstStyle/>
          <a:p>
            <a:pPr>
              <a:defRPr/>
            </a:pPr>
            <a:fld id="{F7021451-1387-4CA6-816F-3879F97B5CBC}" type="slidenum">
              <a:rPr lang="en-US"/>
              <a:t>51</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0095134" name="Slide Image Placeholder 1"/>
          <p:cNvSpPr>
            <a:spLocks noChangeAspect="1" noGrp="1" noRot="1"/>
          </p:cNvSpPr>
          <p:nvPr>
            <p:ph type="sldImg"/>
          </p:nvPr>
        </p:nvSpPr>
        <p:spPr bwMode="auto"/>
      </p:sp>
      <p:sp>
        <p:nvSpPr>
          <p:cNvPr id="1288785560"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Once the REST architecture is defined, database operations are typically exposed through </a:t>
            </a:r>
            <a:r>
              <a:rPr sz="1200" b="1" i="0" u="none">
                <a:solidFill>
                  <a:srgbClr val="000000"/>
                </a:solidFill>
                <a:latin typeface="Times New Roman"/>
                <a:ea typeface="Times New Roman"/>
                <a:cs typeface="Times New Roman"/>
              </a:rPr>
              <a:t>CRUD operations</a:t>
            </a:r>
            <a:r>
              <a:rPr sz="1200" b="0" i="0" u="none">
                <a:solidFill>
                  <a:srgbClr val="000000"/>
                </a:solidFill>
                <a:latin typeface="Times New Roman"/>
                <a:ea typeface="Times New Roman"/>
                <a:cs typeface="Times New Roman"/>
              </a:rPr>
              <a:t> mapped to standard HTTP methods. CRUD stands for </a:t>
            </a:r>
            <a:r>
              <a:rPr sz="1200" b="1" i="0" u="none">
                <a:solidFill>
                  <a:srgbClr val="000000"/>
                </a:solidFill>
                <a:latin typeface="Times New Roman"/>
                <a:ea typeface="Times New Roman"/>
                <a:cs typeface="Times New Roman"/>
              </a:rPr>
              <a:t>Create, Read, Update, and Delete</a:t>
            </a:r>
            <a:r>
              <a:rPr sz="1200" b="0" i="0" u="none">
                <a:solidFill>
                  <a:srgbClr val="000000"/>
                </a:solidFill>
                <a:latin typeface="Times New Roman"/>
                <a:ea typeface="Times New Roman"/>
                <a:cs typeface="Times New Roman"/>
              </a:rPr>
              <a:t>, and these operations correspond directly to specific HTTP verbs in a REST API.</a:t>
            </a:r>
            <a:endParaRPr/>
          </a:p>
          <a:p>
            <a:pPr>
              <a:defRPr/>
            </a:pPr>
            <a:r>
              <a:rPr sz="1200" b="0" i="0" u="none">
                <a:solidFill>
                  <a:srgbClr val="000000"/>
                </a:solidFill>
                <a:latin typeface="Times New Roman"/>
                <a:ea typeface="Times New Roman"/>
                <a:cs typeface="Times New Roman"/>
              </a:rPr>
              <a:t>The mapping looks like this:</a:t>
            </a:r>
            <a:endParaRPr/>
          </a:p>
          <a:p>
            <a:pPr>
              <a:defRPr/>
            </a:pPr>
            <a:r>
              <a:rPr sz="1200" b="1" i="0" u="none">
                <a:solidFill>
                  <a:srgbClr val="000000"/>
                </a:solidFill>
                <a:latin typeface="Times New Roman"/>
                <a:ea typeface="Times New Roman"/>
                <a:cs typeface="Times New Roman"/>
              </a:rPr>
              <a:t>Create</a:t>
            </a:r>
            <a:endParaRPr/>
          </a:p>
          <a:p>
            <a:pPr>
              <a:defRPr/>
            </a:pPr>
            <a:r>
              <a:rPr sz="1000" b="0" i="0" u="none">
                <a:solidFill>
                  <a:srgbClr val="000000"/>
                </a:solidFill>
                <a:latin typeface="Courier New"/>
                <a:ea typeface="Courier New"/>
                <a:cs typeface="Courier New"/>
              </a:rPr>
              <a:t>POST /students</a:t>
            </a:r>
            <a:endParaRPr/>
          </a:p>
          <a:p>
            <a:pPr>
              <a:defRPr/>
            </a:pPr>
            <a:r>
              <a:rPr sz="1200" b="0" i="0" u="none">
                <a:solidFill>
                  <a:srgbClr val="000000"/>
                </a:solidFill>
                <a:latin typeface="Times New Roman"/>
                <a:ea typeface="Times New Roman"/>
                <a:cs typeface="Times New Roman"/>
              </a:rPr>
              <a:t>Creates a new student resource. The data for the new student is included in the </a:t>
            </a:r>
            <a:r>
              <a:rPr sz="1200" b="1" i="0" u="none">
                <a:solidFill>
                  <a:srgbClr val="000000"/>
                </a:solidFill>
                <a:latin typeface="Times New Roman"/>
                <a:ea typeface="Times New Roman"/>
                <a:cs typeface="Times New Roman"/>
              </a:rPr>
              <a:t>request body</a:t>
            </a:r>
            <a:r>
              <a:rPr sz="1200" b="0" i="0" u="none">
                <a:solidFill>
                  <a:srgbClr val="000000"/>
                </a:solidFill>
                <a:latin typeface="Times New Roman"/>
                <a:ea typeface="Times New Roman"/>
                <a:cs typeface="Times New Roman"/>
              </a:rPr>
              <a:t>, usually in JSON format.</a:t>
            </a:r>
            <a:endParaRPr/>
          </a:p>
          <a:p>
            <a:pPr>
              <a:defRPr/>
            </a:pPr>
            <a:r>
              <a:rPr sz="1200" b="1" i="0" u="none">
                <a:solidFill>
                  <a:srgbClr val="000000"/>
                </a:solidFill>
                <a:latin typeface="Times New Roman"/>
                <a:ea typeface="Times New Roman"/>
                <a:cs typeface="Times New Roman"/>
              </a:rPr>
              <a:t>Read</a:t>
            </a:r>
            <a:endParaRPr/>
          </a:p>
          <a:p>
            <a:pPr>
              <a:defRPr/>
            </a:pPr>
            <a:r>
              <a:rPr sz="1000" b="0" i="0" u="none">
                <a:solidFill>
                  <a:srgbClr val="000000"/>
                </a:solidFill>
                <a:latin typeface="Courier New"/>
                <a:ea typeface="Courier New"/>
                <a:cs typeface="Courier New"/>
              </a:rPr>
              <a:t>GET /students/123</a:t>
            </a:r>
            <a:endParaRPr/>
          </a:p>
          <a:p>
            <a:pPr>
              <a:defRPr/>
            </a:pPr>
            <a:r>
              <a:rPr sz="1200" b="0" i="0" u="none">
                <a:solidFill>
                  <a:srgbClr val="000000"/>
                </a:solidFill>
                <a:latin typeface="Times New Roman"/>
                <a:ea typeface="Times New Roman"/>
                <a:cs typeface="Times New Roman"/>
              </a:rPr>
              <a:t>Retrieves the student resource with ID </a:t>
            </a:r>
            <a:r>
              <a:rPr sz="1000" b="0" i="0" u="none">
                <a:solidFill>
                  <a:srgbClr val="000000"/>
                </a:solidFill>
                <a:latin typeface="Courier New"/>
                <a:ea typeface="Courier New"/>
                <a:cs typeface="Courier New"/>
              </a:rPr>
              <a:t>123</a:t>
            </a:r>
            <a:r>
              <a:rPr sz="1200" b="0" i="0" u="none">
                <a:solidFill>
                  <a:srgbClr val="000000"/>
                </a:solidFill>
                <a:latin typeface="Times New Roman"/>
                <a:ea typeface="Times New Roman"/>
                <a:cs typeface="Times New Roman"/>
              </a:rPr>
              <a:t>. A key property of GET requests is that they </a:t>
            </a:r>
            <a:r>
              <a:rPr sz="1200" b="1" i="0" u="none">
                <a:solidFill>
                  <a:srgbClr val="000000"/>
                </a:solidFill>
                <a:latin typeface="Times New Roman"/>
                <a:ea typeface="Times New Roman"/>
                <a:cs typeface="Times New Roman"/>
              </a:rPr>
              <a:t>never modify server data</a:t>
            </a:r>
            <a:r>
              <a:rPr sz="1200" b="0" i="0" u="none">
                <a:solidFill>
                  <a:srgbClr val="000000"/>
                </a:solidFill>
                <a:latin typeface="Times New Roman"/>
                <a:ea typeface="Times New Roman"/>
                <a:cs typeface="Times New Roman"/>
              </a:rPr>
              <a:t>; they only retrieve information.</a:t>
            </a:r>
            <a:endParaRPr/>
          </a:p>
          <a:p>
            <a:pPr>
              <a:defRPr/>
            </a:pPr>
            <a:r>
              <a:rPr sz="1200" b="1" i="0" u="none">
                <a:solidFill>
                  <a:srgbClr val="000000"/>
                </a:solidFill>
                <a:latin typeface="Times New Roman"/>
                <a:ea typeface="Times New Roman"/>
                <a:cs typeface="Times New Roman"/>
              </a:rPr>
              <a:t>Update (full replacement)</a:t>
            </a:r>
            <a:endParaRPr/>
          </a:p>
          <a:p>
            <a:pPr>
              <a:defRPr/>
            </a:pPr>
            <a:r>
              <a:rPr sz="1000" b="0" i="0" u="none">
                <a:solidFill>
                  <a:srgbClr val="000000"/>
                </a:solidFill>
                <a:latin typeface="Courier New"/>
                <a:ea typeface="Courier New"/>
                <a:cs typeface="Courier New"/>
              </a:rPr>
              <a:t>PUT /students/123</a:t>
            </a:r>
            <a:endParaRPr/>
          </a:p>
          <a:p>
            <a:pPr>
              <a:defRPr/>
            </a:pPr>
            <a:r>
              <a:rPr sz="1200" b="0" i="0" u="none">
                <a:solidFill>
                  <a:srgbClr val="000000"/>
                </a:solidFill>
                <a:latin typeface="Times New Roman"/>
                <a:ea typeface="Times New Roman"/>
                <a:cs typeface="Times New Roman"/>
              </a:rPr>
              <a:t>Replaces the entire student document with the new version sent in the request body.</a:t>
            </a:r>
            <a:endParaRPr/>
          </a:p>
          <a:p>
            <a:pPr>
              <a:defRPr/>
            </a:pPr>
            <a:r>
              <a:rPr sz="1200" b="1" i="0" u="none">
                <a:solidFill>
                  <a:srgbClr val="000000"/>
                </a:solidFill>
                <a:latin typeface="Times New Roman"/>
                <a:ea typeface="Times New Roman"/>
                <a:cs typeface="Times New Roman"/>
              </a:rPr>
              <a:t>Update (partial modification)</a:t>
            </a:r>
            <a:endParaRPr/>
          </a:p>
          <a:p>
            <a:pPr>
              <a:defRPr/>
            </a:pPr>
            <a:r>
              <a:rPr sz="1000" b="0" i="0" u="none">
                <a:solidFill>
                  <a:srgbClr val="000000"/>
                </a:solidFill>
                <a:latin typeface="Courier New"/>
                <a:ea typeface="Courier New"/>
                <a:cs typeface="Courier New"/>
              </a:rPr>
              <a:t>PATCH /students/123</a:t>
            </a:r>
            <a:endParaRPr/>
          </a:p>
          <a:p>
            <a:pPr>
              <a:defRPr/>
            </a:pPr>
            <a:r>
              <a:rPr sz="1200" b="0" i="0" u="none">
                <a:solidFill>
                  <a:srgbClr val="000000"/>
                </a:solidFill>
                <a:latin typeface="Times New Roman"/>
                <a:ea typeface="Times New Roman"/>
                <a:cs typeface="Times New Roman"/>
              </a:rPr>
              <a:t>Updates only specific fields of the resource rather than replacing the entire document.</a:t>
            </a:r>
            <a:endParaRPr/>
          </a:p>
          <a:p>
            <a:pPr>
              <a:defRPr/>
            </a:pPr>
            <a:r>
              <a:rPr sz="1200" b="1" i="0" u="none">
                <a:solidFill>
                  <a:srgbClr val="000000"/>
                </a:solidFill>
                <a:latin typeface="Times New Roman"/>
                <a:ea typeface="Times New Roman"/>
                <a:cs typeface="Times New Roman"/>
              </a:rPr>
              <a:t>Delete</a:t>
            </a:r>
            <a:endParaRPr/>
          </a:p>
          <a:p>
            <a:pPr>
              <a:defRPr/>
            </a:pPr>
            <a:r>
              <a:rPr sz="1000" b="0" i="0" u="none">
                <a:solidFill>
                  <a:srgbClr val="000000"/>
                </a:solidFill>
                <a:latin typeface="Courier New"/>
                <a:ea typeface="Courier New"/>
                <a:cs typeface="Courier New"/>
              </a:rPr>
              <a:t>DELETE /students/123</a:t>
            </a:r>
            <a:endParaRPr/>
          </a:p>
          <a:p>
            <a:pPr>
              <a:defRPr/>
            </a:pPr>
            <a:r>
              <a:rPr sz="1200" b="0" i="0" u="none">
                <a:solidFill>
                  <a:srgbClr val="000000"/>
                </a:solidFill>
                <a:latin typeface="Times New Roman"/>
                <a:ea typeface="Times New Roman"/>
                <a:cs typeface="Times New Roman"/>
              </a:rPr>
              <a:t>Removes the student resource permanently from the system.</a:t>
            </a:r>
            <a:endParaRPr/>
          </a:p>
          <a:p>
            <a:pPr>
              <a:defRPr/>
            </a:pPr>
            <a:r>
              <a:rPr sz="1400" b="1" i="0" u="none">
                <a:solidFill>
                  <a:srgbClr val="000000"/>
                </a:solidFill>
                <a:latin typeface="Times New Roman"/>
                <a:ea typeface="Times New Roman"/>
                <a:cs typeface="Times New Roman"/>
              </a:rPr>
              <a:t>Why This Mapping Matters</a:t>
            </a:r>
            <a:endParaRPr/>
          </a:p>
          <a:p>
            <a:pPr>
              <a:defRPr/>
            </a:pPr>
            <a:r>
              <a:rPr sz="1200" b="0" i="0" u="none">
                <a:solidFill>
                  <a:srgbClr val="000000"/>
                </a:solidFill>
                <a:latin typeface="Times New Roman"/>
                <a:ea typeface="Times New Roman"/>
                <a:cs typeface="Times New Roman"/>
              </a:rPr>
              <a:t>Using the correct HTTP method is a core principle of </a:t>
            </a:r>
            <a:r>
              <a:rPr sz="1200" b="1" i="0" u="none">
                <a:solidFill>
                  <a:srgbClr val="000000"/>
                </a:solidFill>
                <a:latin typeface="Times New Roman"/>
                <a:ea typeface="Times New Roman"/>
                <a:cs typeface="Times New Roman"/>
              </a:rPr>
              <a:t>RESTful API design</a:t>
            </a:r>
            <a:r>
              <a:rPr sz="1200" b="0" i="0" u="none">
                <a:solidFill>
                  <a:srgbClr val="000000"/>
                </a:solidFill>
                <a:latin typeface="Times New Roman"/>
                <a:ea typeface="Times New Roman"/>
                <a:cs typeface="Times New Roman"/>
              </a:rPr>
              <a:t>. It makes APIs </a:t>
            </a:r>
            <a:r>
              <a:rPr sz="1200" b="1" i="0" u="none">
                <a:solidFill>
                  <a:srgbClr val="000000"/>
                </a:solidFill>
                <a:latin typeface="Times New Roman"/>
                <a:ea typeface="Times New Roman"/>
                <a:cs typeface="Times New Roman"/>
              </a:rPr>
              <a:t>self-descriptive and predictable</a:t>
            </a:r>
            <a:r>
              <a:rPr sz="1200" b="0" i="0" u="none">
                <a:solidFill>
                  <a:srgbClr val="000000"/>
                </a:solidFill>
                <a:latin typeface="Times New Roman"/>
                <a:ea typeface="Times New Roman"/>
                <a:cs typeface="Times New Roman"/>
              </a:rPr>
              <a:t>. Any developer familiar with REST conventions can immediately understand what an endpoint does simply by looking at the HTTP method and URL.</a:t>
            </a:r>
            <a:endParaRPr/>
          </a:p>
          <a:p>
            <a:pPr>
              <a:defRPr/>
            </a:pPr>
            <a:r>
              <a:rPr sz="1200" b="0" i="0" u="none">
                <a:solidFill>
                  <a:srgbClr val="000000"/>
                </a:solidFill>
                <a:latin typeface="Times New Roman"/>
                <a:ea typeface="Times New Roman"/>
                <a:cs typeface="Times New Roman"/>
              </a:rPr>
              <a:t>The distinction between </a:t>
            </a:r>
            <a:r>
              <a:rPr sz="1200" b="1" i="0" u="none">
                <a:solidFill>
                  <a:srgbClr val="000000"/>
                </a:solidFill>
                <a:latin typeface="Times New Roman"/>
                <a:ea typeface="Times New Roman"/>
                <a:cs typeface="Times New Roman"/>
              </a:rPr>
              <a:t>PUT and PATCH</a:t>
            </a:r>
            <a:r>
              <a:rPr sz="1200" b="0" i="0" u="none">
                <a:solidFill>
                  <a:srgbClr val="000000"/>
                </a:solidFill>
                <a:latin typeface="Times New Roman"/>
                <a:ea typeface="Times New Roman"/>
                <a:cs typeface="Times New Roman"/>
              </a:rPr>
              <a:t> is especially important in real systems. PUT requires sending the </a:t>
            </a:r>
            <a:r>
              <a:rPr sz="1200" b="1" i="0" u="none">
                <a:solidFill>
                  <a:srgbClr val="000000"/>
                </a:solidFill>
                <a:latin typeface="Times New Roman"/>
                <a:ea typeface="Times New Roman"/>
                <a:cs typeface="Times New Roman"/>
              </a:rPr>
              <a:t>entire updated resource</a:t>
            </a:r>
            <a:r>
              <a:rPr sz="1200" b="0" i="0" u="none">
                <a:solidFill>
                  <a:srgbClr val="000000"/>
                </a:solidFill>
                <a:latin typeface="Times New Roman"/>
                <a:ea typeface="Times New Roman"/>
                <a:cs typeface="Times New Roman"/>
              </a:rPr>
              <a:t>, even if only one field has changed. PATCH, on the other hand, allows clients to send </a:t>
            </a:r>
            <a:r>
              <a:rPr sz="1200" b="1" i="0" u="none">
                <a:solidFill>
                  <a:srgbClr val="000000"/>
                </a:solidFill>
                <a:latin typeface="Times New Roman"/>
                <a:ea typeface="Times New Roman"/>
                <a:cs typeface="Times New Roman"/>
              </a:rPr>
              <a:t>only the modified fields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modern applications—especially mobile apps—this difference matters because transmitting smaller payloads reduces bandwidth usage and improves response time.</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Companies such as </a:t>
            </a:r>
            <a:r>
              <a:rPr sz="1200" b="1" i="0" u="none">
                <a:solidFill>
                  <a:srgbClr val="000000"/>
                </a:solidFill>
                <a:latin typeface="Times New Roman"/>
                <a:ea typeface="Times New Roman"/>
                <a:cs typeface="Times New Roman"/>
              </a:rPr>
              <a:t>GitHub</a:t>
            </a:r>
            <a:r>
              <a:rPr sz="1200" b="0" i="0" u="none">
                <a:solidFill>
                  <a:srgbClr val="000000"/>
                </a:solidFill>
                <a:latin typeface="Times New Roman"/>
                <a:ea typeface="Times New Roman"/>
                <a:cs typeface="Times New Roman"/>
              </a:rPr>
              <a:t> expose their developer platform almost entirely through REST APIs following this CRUD-to-HTTP mapping.</a:t>
            </a:r>
            <a:endParaRPr/>
          </a:p>
          <a:p>
            <a:pPr>
              <a:defRPr/>
            </a:pPr>
            <a:r>
              <a:rPr sz="1200" b="0" i="0" u="none">
                <a:solidFill>
                  <a:srgbClr val="000000"/>
                </a:solidFill>
                <a:latin typeface="Times New Roman"/>
                <a:ea typeface="Times New Roman"/>
                <a:cs typeface="Times New Roman"/>
              </a:rPr>
              <a:t>For example:</a:t>
            </a:r>
            <a:endParaRPr/>
          </a:p>
          <a:p>
            <a:pPr>
              <a:defRPr/>
            </a:pPr>
            <a:r>
              <a:rPr sz="1000" b="0" i="0" u="none">
                <a:solidFill>
                  <a:srgbClr val="000000"/>
                </a:solidFill>
                <a:latin typeface="Courier New"/>
                <a:ea typeface="Courier New"/>
                <a:cs typeface="Courier New"/>
              </a:rPr>
              <a:t>GET /repos/{owner}/{repo}</a:t>
            </a:r>
            <a:r>
              <a:rPr sz="1200" b="0" i="0" u="none">
                <a:solidFill>
                  <a:srgbClr val="000000"/>
                </a:solidFill>
                <a:latin typeface="Times New Roman"/>
                <a:ea typeface="Times New Roman"/>
                <a:cs typeface="Times New Roman"/>
              </a:rPr>
              <a:t> retrieves repository information </a:t>
            </a:r>
            <a:endParaRPr/>
          </a:p>
          <a:p>
            <a:pPr>
              <a:defRPr/>
            </a:pPr>
            <a:r>
              <a:rPr sz="1000" b="0" i="0" u="none">
                <a:solidFill>
                  <a:srgbClr val="000000"/>
                </a:solidFill>
                <a:latin typeface="Courier New"/>
                <a:ea typeface="Courier New"/>
                <a:cs typeface="Courier New"/>
              </a:rPr>
              <a:t>POST /repos/{owner}/{repo}/issues</a:t>
            </a:r>
            <a:r>
              <a:rPr sz="1200" b="0" i="0" u="none">
                <a:solidFill>
                  <a:srgbClr val="000000"/>
                </a:solidFill>
                <a:latin typeface="Times New Roman"/>
                <a:ea typeface="Times New Roman"/>
                <a:cs typeface="Times New Roman"/>
              </a:rPr>
              <a:t> creates a new issue </a:t>
            </a:r>
            <a:endParaRPr/>
          </a:p>
          <a:p>
            <a:pPr>
              <a:defRPr/>
            </a:pPr>
            <a:r>
              <a:rPr sz="1000" b="0" i="0" u="none">
                <a:solidFill>
                  <a:srgbClr val="000000"/>
                </a:solidFill>
                <a:latin typeface="Courier New"/>
                <a:ea typeface="Courier New"/>
                <a:cs typeface="Courier New"/>
              </a:rPr>
              <a:t>PATCH /repos/{owner}/{repo}/issues/{issue_number}</a:t>
            </a:r>
            <a:r>
              <a:rPr sz="1200" b="0" i="0" u="none">
                <a:solidFill>
                  <a:srgbClr val="000000"/>
                </a:solidFill>
                <a:latin typeface="Times New Roman"/>
                <a:ea typeface="Times New Roman"/>
                <a:cs typeface="Times New Roman"/>
              </a:rPr>
              <a:t> updates an issue </a:t>
            </a:r>
            <a:endParaRPr/>
          </a:p>
          <a:p>
            <a:pPr>
              <a:defRPr/>
            </a:pPr>
            <a:r>
              <a:rPr sz="1000" b="0" i="0" u="none">
                <a:solidFill>
                  <a:srgbClr val="000000"/>
                </a:solidFill>
                <a:latin typeface="Courier New"/>
                <a:ea typeface="Courier New"/>
                <a:cs typeface="Courier New"/>
              </a:rPr>
              <a:t>DELETE /repos/{owner}/{repo}</a:t>
            </a:r>
            <a:r>
              <a:rPr sz="1200" b="0" i="0" u="none">
                <a:solidFill>
                  <a:srgbClr val="000000"/>
                </a:solidFill>
                <a:latin typeface="Times New Roman"/>
                <a:ea typeface="Times New Roman"/>
                <a:cs typeface="Times New Roman"/>
              </a:rPr>
              <a:t> removes a repository </a:t>
            </a:r>
            <a:endParaRPr/>
          </a:p>
          <a:p>
            <a:pPr>
              <a:defRPr/>
            </a:pPr>
            <a:r>
              <a:rPr sz="1200" b="0" i="0" u="none">
                <a:solidFill>
                  <a:srgbClr val="000000"/>
                </a:solidFill>
                <a:latin typeface="Times New Roman"/>
                <a:ea typeface="Times New Roman"/>
                <a:cs typeface="Times New Roman"/>
              </a:rPr>
              <a:t>Because these APIs strictly follow REST conventions, millions of developers can interact with GitHub’s infrastructure using predictable and consistent HTTP requests.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CRUD operations in databases map directly to </a:t>
            </a:r>
            <a:r>
              <a:rPr sz="1200" b="1" i="0" u="none">
                <a:solidFill>
                  <a:srgbClr val="000000"/>
                </a:solidFill>
                <a:latin typeface="Times New Roman"/>
                <a:ea typeface="Times New Roman"/>
                <a:cs typeface="Times New Roman"/>
              </a:rPr>
              <a:t>HTTP methods in REST APIs</a:t>
            </a:r>
            <a:r>
              <a:rPr sz="1200" b="0" i="0" u="none">
                <a:solidFill>
                  <a:srgbClr val="000000"/>
                </a:solidFill>
                <a:latin typeface="Times New Roman"/>
                <a:ea typeface="Times New Roman"/>
                <a:cs typeface="Times New Roman"/>
              </a:rPr>
              <a:t>, creating a clear and standardized contract between clients and backend services.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a student changes only their email address, which HTTP method should the API use and what would the request body contain?</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API should use </a:t>
            </a:r>
            <a:r>
              <a:rPr sz="1200" b="1" i="0" u="none">
                <a:solidFill>
                  <a:srgbClr val="000000"/>
                </a:solidFill>
                <a:latin typeface="Times New Roman"/>
                <a:ea typeface="Times New Roman"/>
                <a:cs typeface="Times New Roman"/>
              </a:rPr>
              <a:t>PATCH</a:t>
            </a:r>
            <a:r>
              <a:rPr sz="1200" b="0" i="0" u="none">
                <a:solidFill>
                  <a:srgbClr val="000000"/>
                </a:solidFill>
                <a:latin typeface="Times New Roman"/>
                <a:ea typeface="Times New Roman"/>
                <a:cs typeface="Times New Roman"/>
              </a:rPr>
              <a:t>, because only part of the resource is being updated. The request body would include only the modified field:</a:t>
            </a:r>
            <a:endParaRPr/>
          </a:p>
          <a:p>
            <a:pPr>
              <a:defRPr/>
            </a:pPr>
            <a:r>
              <a:rPr sz="1000" b="0" i="0" u="none">
                <a:solidFill>
                  <a:srgbClr val="000000"/>
                </a:solidFill>
                <a:latin typeface="Courier New"/>
                <a:ea typeface="Courier New"/>
                <a:cs typeface="Courier New"/>
              </a:rPr>
              <a:t>{ "email": </a:t>
            </a:r>
            <a:r>
              <a:rPr sz="1000" b="0" i="0" u="none">
                <a:solidFill>
                  <a:srgbClr val="000000"/>
                </a:solidFill>
                <a:latin typeface="Courier New"/>
                <a:ea typeface="Courier New"/>
                <a:cs typeface="Courier New"/>
              </a:rPr>
              <a:t>"new@example.com"</a:t>
            </a:r>
            <a:r>
              <a:rPr sz="1000" b="0" i="0" u="none">
                <a:solidFill>
                  <a:srgbClr val="000000"/>
                </a:solidFill>
                <a:latin typeface="Courier New"/>
                <a:ea typeface="Courier New"/>
                <a:cs typeface="Courier New"/>
              </a:rPr>
              <a:t> }</a:t>
            </a:r>
            <a:endParaRPr/>
          </a:p>
          <a:p>
            <a:pPr>
              <a:defRPr/>
            </a:pPr>
            <a:r>
              <a:rPr sz="1200" b="0" i="0" u="none">
                <a:solidFill>
                  <a:srgbClr val="000000"/>
                </a:solidFill>
                <a:latin typeface="Times New Roman"/>
                <a:ea typeface="Times New Roman"/>
                <a:cs typeface="Times New Roman"/>
              </a:rPr>
              <a:t>There is no need to send the entire student document, which makes the request smaller and more efficient.</a:t>
            </a:r>
            <a:endParaRPr lang="en-US"/>
          </a:p>
        </p:txBody>
      </p:sp>
      <p:sp>
        <p:nvSpPr>
          <p:cNvPr id="1472807878" name="Slide Number Placeholder 3"/>
          <p:cNvSpPr>
            <a:spLocks noGrp="1"/>
          </p:cNvSpPr>
          <p:nvPr>
            <p:ph type="sldNum" sz="quarter" idx="10"/>
          </p:nvPr>
        </p:nvSpPr>
        <p:spPr bwMode="auto"/>
        <p:txBody>
          <a:bodyPr/>
          <a:lstStyle/>
          <a:p>
            <a:pPr>
              <a:defRPr/>
            </a:pPr>
            <a:fld id="{F7021451-1387-4CA6-816F-3879F97B5CBC}" type="slidenum">
              <a:rPr lang="en-US"/>
              <a:t>52</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2081330" name="Slide Image Placeholder 1"/>
          <p:cNvSpPr>
            <a:spLocks noChangeAspect="1" noGrp="1" noRot="1"/>
          </p:cNvSpPr>
          <p:nvPr>
            <p:ph type="sldImg"/>
          </p:nvPr>
        </p:nvSpPr>
        <p:spPr bwMode="auto"/>
      </p:sp>
      <p:sp>
        <p:nvSpPr>
          <p:cNvPr id="1746757464"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When designing REST APIs, it is important to understand how </a:t>
            </a:r>
            <a:r>
              <a:rPr sz="1200" b="1" i="0" u="none">
                <a:solidFill>
                  <a:srgbClr val="000000"/>
                </a:solidFill>
                <a:latin typeface="Times New Roman"/>
                <a:ea typeface="Times New Roman"/>
                <a:cs typeface="Times New Roman"/>
              </a:rPr>
              <a:t>URLs encode information about the requested resource</a:t>
            </a:r>
            <a:r>
              <a:rPr sz="1200" b="0" i="0" u="none">
                <a:solidFill>
                  <a:srgbClr val="000000"/>
                </a:solidFill>
                <a:latin typeface="Times New Roman"/>
                <a:ea typeface="Times New Roman"/>
                <a:cs typeface="Times New Roman"/>
              </a:rPr>
              <a:t>. Two key mechanisms are used for this purpose: </a:t>
            </a:r>
            <a:r>
              <a:rPr sz="1200" b="1" i="0" u="none">
                <a:solidFill>
                  <a:srgbClr val="000000"/>
                </a:solidFill>
                <a:latin typeface="Times New Roman"/>
                <a:ea typeface="Times New Roman"/>
                <a:cs typeface="Times New Roman"/>
              </a:rPr>
              <a:t>path parameters</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query parameters</a:t>
            </a:r>
            <a:r>
              <a:rPr sz="1200" b="0" i="0" u="none">
                <a:solidFill>
                  <a:srgbClr val="000000"/>
                </a:solidFill>
                <a:latin typeface="Times New Roman"/>
                <a:ea typeface="Times New Roman"/>
                <a:cs typeface="Times New Roman"/>
              </a:rPr>
              <a:t>. Each serves a different role in how an API request is interpreted by the backend.</a:t>
            </a:r>
            <a:endParaRPr/>
          </a:p>
          <a:p>
            <a:pPr>
              <a:defRPr/>
            </a:pPr>
            <a:r>
              <a:rPr sz="1400" b="1" i="0" u="none">
                <a:solidFill>
                  <a:srgbClr val="000000"/>
                </a:solidFill>
                <a:latin typeface="Times New Roman"/>
                <a:ea typeface="Times New Roman"/>
                <a:cs typeface="Times New Roman"/>
              </a:rPr>
              <a:t>Path Parameters</a:t>
            </a:r>
            <a:endParaRPr/>
          </a:p>
          <a:p>
            <a:pPr>
              <a:defRPr/>
            </a:pPr>
            <a:r>
              <a:rPr sz="1200" b="0" i="0" u="none">
                <a:solidFill>
                  <a:srgbClr val="000000"/>
                </a:solidFill>
                <a:latin typeface="Times New Roman"/>
                <a:ea typeface="Times New Roman"/>
                <a:cs typeface="Times New Roman"/>
              </a:rPr>
              <a:t>Path parameters are </a:t>
            </a:r>
            <a:r>
              <a:rPr sz="1200" b="1" i="0" u="none">
                <a:solidFill>
                  <a:srgbClr val="000000"/>
                </a:solidFill>
                <a:latin typeface="Times New Roman"/>
                <a:ea typeface="Times New Roman"/>
                <a:cs typeface="Times New Roman"/>
              </a:rPr>
              <a:t>embedded directly in the URL path</a:t>
            </a:r>
            <a:r>
              <a:rPr sz="1200" b="0" i="0" u="none">
                <a:solidFill>
                  <a:srgbClr val="000000"/>
                </a:solidFill>
                <a:latin typeface="Times New Roman"/>
                <a:ea typeface="Times New Roman"/>
                <a:cs typeface="Times New Roman"/>
              </a:rPr>
              <a:t> and uniquely identify a specific resource. They are typically used when the client wants to access or modify a single entity in the system.</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/api/students/12345
</a:t>
            </a:r>
            <a:endParaRPr/>
          </a:p>
          <a:p>
            <a:pPr>
              <a:defRPr/>
            </a:pPr>
            <a:r>
              <a:rPr sz="1200" b="0" i="0" u="none">
                <a:solidFill>
                  <a:srgbClr val="000000"/>
                </a:solidFill>
                <a:latin typeface="Times New Roman"/>
                <a:ea typeface="Times New Roman"/>
                <a:cs typeface="Times New Roman"/>
              </a:rPr>
              <a:t>In this request, </a:t>
            </a:r>
            <a:r>
              <a:rPr sz="1000" b="0" i="0" u="none">
                <a:solidFill>
                  <a:srgbClr val="000000"/>
                </a:solidFill>
                <a:latin typeface="Courier New"/>
                <a:ea typeface="Courier New"/>
                <a:cs typeface="Courier New"/>
              </a:rPr>
              <a:t>12345</a:t>
            </a:r>
            <a:r>
              <a:rPr sz="1200" b="0" i="0" u="none">
                <a:solidFill>
                  <a:srgbClr val="000000"/>
                </a:solidFill>
                <a:latin typeface="Times New Roman"/>
                <a:ea typeface="Times New Roman"/>
                <a:cs typeface="Times New Roman"/>
              </a:rPr>
              <a:t> is the </a:t>
            </a:r>
            <a:r>
              <a:rPr sz="1200" b="1" i="0" u="none">
                <a:solidFill>
                  <a:srgbClr val="000000"/>
                </a:solidFill>
                <a:latin typeface="Times New Roman"/>
                <a:ea typeface="Times New Roman"/>
                <a:cs typeface="Times New Roman"/>
              </a:rPr>
              <a:t>path parameter</a:t>
            </a:r>
            <a:r>
              <a:rPr sz="1200" b="0" i="0" u="none">
                <a:solidFill>
                  <a:srgbClr val="000000"/>
                </a:solidFill>
                <a:latin typeface="Times New Roman"/>
                <a:ea typeface="Times New Roman"/>
                <a:cs typeface="Times New Roman"/>
              </a:rPr>
              <a:t>, identifying a specific student record. The backend API interprets this value as the identifier of the resource being accessed.</a:t>
            </a:r>
            <a:endParaRPr/>
          </a:p>
          <a:p>
            <a:pPr>
              <a:defRPr/>
            </a:pPr>
            <a:r>
              <a:rPr sz="1200" b="0" i="0" u="none">
                <a:solidFill>
                  <a:srgbClr val="000000"/>
                </a:solidFill>
                <a:latin typeface="Times New Roman"/>
                <a:ea typeface="Times New Roman"/>
                <a:cs typeface="Times New Roman"/>
              </a:rPr>
              <a:t>Path parameters are commonly used with operations such as:</a:t>
            </a:r>
            <a:endParaRPr/>
          </a:p>
          <a:p>
            <a:pPr>
              <a:defRPr/>
            </a:pPr>
            <a:r>
              <a:rPr sz="1200" b="1" i="0" u="none">
                <a:solidFill>
                  <a:srgbClr val="000000"/>
                </a:solidFill>
                <a:latin typeface="Times New Roman"/>
                <a:ea typeface="Times New Roman"/>
                <a:cs typeface="Times New Roman"/>
              </a:rPr>
              <a:t>GET</a:t>
            </a:r>
            <a:r>
              <a:rPr sz="1200" b="0" i="0" u="none">
                <a:solidFill>
                  <a:srgbClr val="000000"/>
                </a:solidFill>
                <a:latin typeface="Times New Roman"/>
                <a:ea typeface="Times New Roman"/>
                <a:cs typeface="Times New Roman"/>
              </a:rPr>
              <a:t> → retrieve a specific resource</a:t>
            </a:r>
            <a:endParaRPr/>
          </a:p>
          <a:p>
            <a:pPr>
              <a:defRPr/>
            </a:pPr>
            <a:r>
              <a:rPr sz="1200" b="1" i="0" u="none">
                <a:solidFill>
                  <a:srgbClr val="000000"/>
                </a:solidFill>
                <a:latin typeface="Times New Roman"/>
                <a:ea typeface="Times New Roman"/>
                <a:cs typeface="Times New Roman"/>
              </a:rPr>
              <a:t>PUT</a:t>
            </a:r>
            <a:r>
              <a:rPr sz="1200" b="0" i="0" u="none">
                <a:solidFill>
                  <a:srgbClr val="000000"/>
                </a:solidFill>
                <a:latin typeface="Times New Roman"/>
                <a:ea typeface="Times New Roman"/>
                <a:cs typeface="Times New Roman"/>
              </a:rPr>
              <a:t> → replace the entire resource</a:t>
            </a:r>
            <a:endParaRPr/>
          </a:p>
          <a:p>
            <a:pPr>
              <a:defRPr/>
            </a:pPr>
            <a:r>
              <a:rPr sz="1200" b="1" i="0" u="none">
                <a:solidFill>
                  <a:srgbClr val="000000"/>
                </a:solidFill>
                <a:latin typeface="Times New Roman"/>
                <a:ea typeface="Times New Roman"/>
                <a:cs typeface="Times New Roman"/>
              </a:rPr>
              <a:t>PATCH</a:t>
            </a:r>
            <a:r>
              <a:rPr sz="1200" b="0" i="0" u="none">
                <a:solidFill>
                  <a:srgbClr val="000000"/>
                </a:solidFill>
                <a:latin typeface="Times New Roman"/>
                <a:ea typeface="Times New Roman"/>
                <a:cs typeface="Times New Roman"/>
              </a:rPr>
              <a:t> → partially update the resource</a:t>
            </a:r>
            <a:endParaRPr/>
          </a:p>
          <a:p>
            <a:pPr>
              <a:defRPr/>
            </a:pPr>
            <a:r>
              <a:rPr sz="1200" b="1" i="0" u="none">
                <a:solidFill>
                  <a:srgbClr val="000000"/>
                </a:solidFill>
                <a:latin typeface="Times New Roman"/>
                <a:ea typeface="Times New Roman"/>
                <a:cs typeface="Times New Roman"/>
              </a:rPr>
              <a:t>DELETE</a:t>
            </a:r>
            <a:r>
              <a:rPr sz="1200" b="0" i="0" u="none">
                <a:solidFill>
                  <a:srgbClr val="000000"/>
                </a:solidFill>
                <a:latin typeface="Times New Roman"/>
                <a:ea typeface="Times New Roman"/>
                <a:cs typeface="Times New Roman"/>
              </a:rPr>
              <a:t> → remove the resource</a:t>
            </a:r>
            <a:endParaRPr/>
          </a:p>
          <a:p>
            <a:pPr>
              <a:defRPr/>
            </a:pPr>
            <a:r>
              <a:rPr sz="1200" b="0" i="0" u="none">
                <a:solidFill>
                  <a:srgbClr val="000000"/>
                </a:solidFill>
                <a:latin typeface="Times New Roman"/>
                <a:ea typeface="Times New Roman"/>
                <a:cs typeface="Times New Roman"/>
              </a:rPr>
              <a:t>Because path parameters represent </a:t>
            </a:r>
            <a:r>
              <a:rPr sz="1200" b="1" i="0" u="none">
                <a:solidFill>
                  <a:srgbClr val="000000"/>
                </a:solidFill>
                <a:latin typeface="Times New Roman"/>
                <a:ea typeface="Times New Roman"/>
                <a:cs typeface="Times New Roman"/>
              </a:rPr>
              <a:t>resource identity</a:t>
            </a:r>
            <a:r>
              <a:rPr sz="1200" b="0" i="0" u="none">
                <a:solidFill>
                  <a:srgbClr val="000000"/>
                </a:solidFill>
                <a:latin typeface="Times New Roman"/>
                <a:ea typeface="Times New Roman"/>
                <a:cs typeface="Times New Roman"/>
              </a:rPr>
              <a:t>, they function similarly to a </a:t>
            </a:r>
            <a:r>
              <a:rPr sz="1200" b="1" i="0" u="none">
                <a:solidFill>
                  <a:srgbClr val="000000"/>
                </a:solidFill>
                <a:latin typeface="Times New Roman"/>
                <a:ea typeface="Times New Roman"/>
                <a:cs typeface="Times New Roman"/>
              </a:rPr>
              <a:t>primary key lookup</a:t>
            </a:r>
            <a:r>
              <a:rPr sz="1200" b="0" i="0" u="none">
                <a:solidFill>
                  <a:srgbClr val="000000"/>
                </a:solidFill>
                <a:latin typeface="Times New Roman"/>
                <a:ea typeface="Times New Roman"/>
                <a:cs typeface="Times New Roman"/>
              </a:rPr>
              <a:t> in a database.</a:t>
            </a:r>
            <a:endParaRPr/>
          </a:p>
          <a:p>
            <a:pPr>
              <a:defRPr/>
            </a:pPr>
            <a:r>
              <a:rPr sz="1400" b="1" i="0" u="none">
                <a:solidFill>
                  <a:srgbClr val="000000"/>
                </a:solidFill>
                <a:latin typeface="Times New Roman"/>
                <a:ea typeface="Times New Roman"/>
                <a:cs typeface="Times New Roman"/>
              </a:rPr>
              <a:t>Query Parameters</a:t>
            </a:r>
            <a:endParaRPr/>
          </a:p>
          <a:p>
            <a:pPr>
              <a:defRPr/>
            </a:pPr>
            <a:r>
              <a:rPr sz="1200" b="0" i="0" u="none">
                <a:solidFill>
                  <a:srgbClr val="000000"/>
                </a:solidFill>
                <a:latin typeface="Times New Roman"/>
                <a:ea typeface="Times New Roman"/>
                <a:cs typeface="Times New Roman"/>
              </a:rPr>
              <a:t>Query parameters appear </a:t>
            </a:r>
            <a:r>
              <a:rPr sz="1200" b="1" i="0" u="none">
                <a:solidFill>
                  <a:srgbClr val="000000"/>
                </a:solidFill>
                <a:latin typeface="Times New Roman"/>
                <a:ea typeface="Times New Roman"/>
                <a:cs typeface="Times New Roman"/>
              </a:rPr>
              <a:t>after the question mark (</a:t>
            </a:r>
            <a:r>
              <a:rPr sz="1000" b="1" i="0" u="none">
                <a:solidFill>
                  <a:srgbClr val="000000"/>
                </a:solidFill>
                <a:latin typeface="Courier New"/>
                <a:ea typeface="Courier New"/>
                <a:cs typeface="Courier New"/>
              </a:rPr>
              <a:t>?</a:t>
            </a:r>
            <a:r>
              <a:rPr sz="1200" b="1" i="0" u="none">
                <a:solidFill>
                  <a:srgbClr val="000000"/>
                </a:solidFill>
                <a:latin typeface="Times New Roman"/>
                <a:ea typeface="Times New Roman"/>
                <a:cs typeface="Times New Roman"/>
              </a:rPr>
              <a:t>) in a URL</a:t>
            </a:r>
            <a:r>
              <a:rPr sz="1200" b="0" i="0" u="none">
                <a:solidFill>
                  <a:srgbClr val="000000"/>
                </a:solidFill>
                <a:latin typeface="Times New Roman"/>
                <a:ea typeface="Times New Roman"/>
                <a:cs typeface="Times New Roman"/>
              </a:rPr>
              <a:t> and are used to modify how a collection of resources is returned. They do not identify a specific resource; instead, they refine the result set.</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/api/students?city=Volos&amp;sort=name
</a:t>
            </a:r>
            <a:endParaRPr/>
          </a:p>
          <a:p>
            <a:pPr>
              <a:defRPr/>
            </a:pPr>
            <a:r>
              <a:rPr sz="1200" b="0" i="0" u="none">
                <a:solidFill>
                  <a:srgbClr val="000000"/>
                </a:solidFill>
                <a:latin typeface="Times New Roman"/>
                <a:ea typeface="Times New Roman"/>
                <a:cs typeface="Times New Roman"/>
              </a:rPr>
              <a:t>In this request:</a:t>
            </a:r>
            <a:endParaRPr/>
          </a:p>
          <a:p>
            <a:pPr>
              <a:defRPr/>
            </a:pPr>
            <a:r>
              <a:rPr sz="1000" b="0" i="0" u="none">
                <a:solidFill>
                  <a:srgbClr val="000000"/>
                </a:solidFill>
                <a:latin typeface="Courier New"/>
                <a:ea typeface="Courier New"/>
                <a:cs typeface="Courier New"/>
              </a:rPr>
              <a:t>city=Volos</a:t>
            </a:r>
            <a:r>
              <a:rPr sz="1200" b="0" i="0" u="none">
                <a:solidFill>
                  <a:srgbClr val="000000"/>
                </a:solidFill>
                <a:latin typeface="Times New Roman"/>
                <a:ea typeface="Times New Roman"/>
                <a:cs typeface="Times New Roman"/>
              </a:rPr>
              <a:t> filters students by city</a:t>
            </a:r>
            <a:endParaRPr/>
          </a:p>
          <a:p>
            <a:pPr>
              <a:defRPr/>
            </a:pPr>
            <a:r>
              <a:rPr sz="1000" b="0" i="0" u="none">
                <a:solidFill>
                  <a:srgbClr val="000000"/>
                </a:solidFill>
                <a:latin typeface="Courier New"/>
                <a:ea typeface="Courier New"/>
                <a:cs typeface="Courier New"/>
              </a:rPr>
              <a:t>sort=name</a:t>
            </a:r>
            <a:r>
              <a:rPr sz="1200" b="0" i="0" u="none">
                <a:solidFill>
                  <a:srgbClr val="000000"/>
                </a:solidFill>
                <a:latin typeface="Times New Roman"/>
                <a:ea typeface="Times New Roman"/>
                <a:cs typeface="Times New Roman"/>
              </a:rPr>
              <a:t> orders the results alphabetically</a:t>
            </a:r>
            <a:endParaRPr/>
          </a:p>
          <a:p>
            <a:pPr>
              <a:defRPr/>
            </a:pPr>
            <a:r>
              <a:rPr sz="1200" b="0" i="0" u="none">
                <a:solidFill>
                  <a:srgbClr val="000000"/>
                </a:solidFill>
                <a:latin typeface="Times New Roman"/>
                <a:ea typeface="Times New Roman"/>
                <a:cs typeface="Times New Roman"/>
              </a:rPr>
              <a:t>Query parameters are typically used for:</a:t>
            </a:r>
            <a:endParaRPr/>
          </a:p>
          <a:p>
            <a:pPr>
              <a:defRPr/>
            </a:pPr>
            <a:r>
              <a:rPr sz="1200" b="0" i="0" u="none">
                <a:solidFill>
                  <a:srgbClr val="000000"/>
                </a:solidFill>
                <a:latin typeface="Times New Roman"/>
                <a:ea typeface="Times New Roman"/>
                <a:cs typeface="Times New Roman"/>
              </a:rPr>
              <a:t>filtering (</a:t>
            </a:r>
            <a:r>
              <a:rPr sz="1000" b="0" i="0" u="none">
                <a:solidFill>
                  <a:srgbClr val="000000"/>
                </a:solidFill>
                <a:latin typeface="Courier New"/>
                <a:ea typeface="Courier New"/>
                <a:cs typeface="Courier New"/>
              </a:rPr>
              <a:t>city=Volos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sorting (</a:t>
            </a:r>
            <a:r>
              <a:rPr sz="1000" b="0" i="0" u="none">
                <a:solidFill>
                  <a:srgbClr val="000000"/>
                </a:solidFill>
                <a:latin typeface="Courier New"/>
                <a:ea typeface="Courier New"/>
                <a:cs typeface="Courier New"/>
              </a:rPr>
              <a:t>sort=name</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searching (</a:t>
            </a:r>
            <a:r>
              <a:rPr sz="1000" b="0" i="0" u="none">
                <a:solidFill>
                  <a:srgbClr val="000000"/>
                </a:solidFill>
                <a:latin typeface="Courier New"/>
                <a:ea typeface="Courier New"/>
                <a:cs typeface="Courier New"/>
              </a:rPr>
              <a:t>name=Maria</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pagination (</a:t>
            </a:r>
            <a:r>
              <a:rPr sz="1000" b="0" i="0" u="none">
                <a:solidFill>
                  <a:srgbClr val="000000"/>
                </a:solidFill>
                <a:latin typeface="Courier New"/>
                <a:ea typeface="Courier New"/>
                <a:cs typeface="Courier New"/>
              </a:rPr>
              <a:t>page=3</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Why the Distinction Matters</a:t>
            </a:r>
            <a:endParaRPr/>
          </a:p>
          <a:p>
            <a:pPr>
              <a:defRPr/>
            </a:pPr>
            <a:r>
              <a:rPr sz="1200" b="0" i="0" u="none">
                <a:solidFill>
                  <a:srgbClr val="000000"/>
                </a:solidFill>
                <a:latin typeface="Times New Roman"/>
                <a:ea typeface="Times New Roman"/>
                <a:cs typeface="Times New Roman"/>
              </a:rPr>
              <a:t>A well-designed API clearly separates </a:t>
            </a:r>
            <a:r>
              <a:rPr sz="1200" b="1" i="0" u="none">
                <a:solidFill>
                  <a:srgbClr val="000000"/>
                </a:solidFill>
                <a:latin typeface="Times New Roman"/>
                <a:ea typeface="Times New Roman"/>
                <a:cs typeface="Times New Roman"/>
              </a:rPr>
              <a:t>resource identity</a:t>
            </a:r>
            <a:r>
              <a:rPr sz="1200" b="0" i="0" u="none">
                <a:solidFill>
                  <a:srgbClr val="000000"/>
                </a:solidFill>
                <a:latin typeface="Times New Roman"/>
                <a:ea typeface="Times New Roman"/>
                <a:cs typeface="Times New Roman"/>
              </a:rPr>
              <a:t> from </a:t>
            </a:r>
            <a:r>
              <a:rPr sz="1200" b="1" i="0" u="none">
                <a:solidFill>
                  <a:srgbClr val="000000"/>
                </a:solidFill>
                <a:latin typeface="Times New Roman"/>
                <a:ea typeface="Times New Roman"/>
                <a:cs typeface="Times New Roman"/>
              </a:rPr>
              <a:t>query modifiers</a:t>
            </a:r>
            <a:r>
              <a:rPr sz="1200" b="0" i="0" u="none">
                <a:solidFill>
                  <a:srgbClr val="000000"/>
                </a:solidFill>
                <a:latin typeface="Times New Roman"/>
                <a:ea typeface="Times New Roman"/>
                <a:cs typeface="Times New Roman"/>
              </a:rPr>
              <a:t>. The path identifies </a:t>
            </a:r>
            <a:r>
              <a:rPr sz="1200" b="0" i="1" u="none">
                <a:solidFill>
                  <a:srgbClr val="000000"/>
                </a:solidFill>
                <a:latin typeface="Times New Roman"/>
                <a:ea typeface="Times New Roman"/>
                <a:cs typeface="Times New Roman"/>
              </a:rPr>
              <a:t>what resource is being addressed</a:t>
            </a:r>
            <a:r>
              <a:rPr sz="1200" b="0" i="0" u="none">
                <a:solidFill>
                  <a:srgbClr val="000000"/>
                </a:solidFill>
                <a:latin typeface="Times New Roman"/>
                <a:ea typeface="Times New Roman"/>
                <a:cs typeface="Times New Roman"/>
              </a:rPr>
              <a:t>, while query parameters specify </a:t>
            </a:r>
            <a:r>
              <a:rPr sz="1200" b="0" i="1" u="none">
                <a:solidFill>
                  <a:srgbClr val="000000"/>
                </a:solidFill>
                <a:latin typeface="Times New Roman"/>
                <a:ea typeface="Times New Roman"/>
                <a:cs typeface="Times New Roman"/>
              </a:rPr>
              <a:t>how the results should be filtered or presented</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Confusing these two concepts often leads to inconsistent and hard-to-maintain APIs.</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APIs provided by </a:t>
            </a:r>
            <a:r>
              <a:rPr sz="1200" b="1" i="0" u="none">
                <a:solidFill>
                  <a:srgbClr val="000000"/>
                </a:solidFill>
                <a:latin typeface="Times New Roman"/>
                <a:ea typeface="Times New Roman"/>
                <a:cs typeface="Times New Roman"/>
              </a:rPr>
              <a:t>Spotify</a:t>
            </a:r>
            <a:r>
              <a:rPr sz="1200" b="0" i="0" u="none">
                <a:solidFill>
                  <a:srgbClr val="000000"/>
                </a:solidFill>
                <a:latin typeface="Times New Roman"/>
                <a:ea typeface="Times New Roman"/>
                <a:cs typeface="Times New Roman"/>
              </a:rPr>
              <a:t> follow this pattern consistently.</a:t>
            </a:r>
            <a:endParaRPr/>
          </a:p>
          <a:p>
            <a:pPr>
              <a:defRPr/>
            </a:pPr>
            <a:r>
              <a:rPr sz="1200" b="0" i="0" u="none">
                <a:solidFill>
                  <a:srgbClr val="000000"/>
                </a:solidFill>
                <a:latin typeface="Times New Roman"/>
                <a:ea typeface="Times New Roman"/>
                <a:cs typeface="Times New Roman"/>
              </a:rPr>
              <a:t>To retrieve a specific playlist:</a:t>
            </a:r>
            <a:endParaRPr/>
          </a:p>
          <a:p>
            <a:pPr>
              <a:defRPr/>
            </a:pPr>
            <a:r>
              <a:rPr sz="1000" b="0" i="0" u="none">
                <a:solidFill>
                  <a:srgbClr val="000000"/>
                </a:solidFill>
                <a:latin typeface="Courier New"/>
                <a:ea typeface="Courier New"/>
                <a:cs typeface="Courier New"/>
              </a:rPr>
              <a:t>GET /v1/playlists/37i9dQZF1DXcBWIGoYBM5M
</a:t>
            </a:r>
            <a:endParaRPr/>
          </a:p>
          <a:p>
            <a:pPr>
              <a:defRPr/>
            </a:pPr>
            <a:r>
              <a:rPr sz="1200" b="0" i="0" u="none">
                <a:solidFill>
                  <a:srgbClr val="000000"/>
                </a:solidFill>
                <a:latin typeface="Times New Roman"/>
                <a:ea typeface="Times New Roman"/>
                <a:cs typeface="Times New Roman"/>
              </a:rPr>
              <a:t>The playlist ID appears as a </a:t>
            </a:r>
            <a:r>
              <a:rPr sz="1200" b="1" i="0" u="none">
                <a:solidFill>
                  <a:srgbClr val="000000"/>
                </a:solidFill>
                <a:latin typeface="Times New Roman"/>
                <a:ea typeface="Times New Roman"/>
                <a:cs typeface="Times New Roman"/>
              </a:rPr>
              <a:t>path parameter</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To retrieve a list of tracks with filtering and pagination:</a:t>
            </a:r>
            <a:endParaRPr/>
          </a:p>
          <a:p>
            <a:pPr>
              <a:defRPr/>
            </a:pPr>
            <a:r>
              <a:rPr sz="1000" b="0" i="0" u="none">
                <a:solidFill>
                  <a:srgbClr val="000000"/>
                </a:solidFill>
                <a:latin typeface="Courier New"/>
                <a:ea typeface="Courier New"/>
                <a:cs typeface="Courier New"/>
              </a:rPr>
              <a:t>GET /v1/search?q=jazz&amp;type=track&amp;limit=10
</a:t>
            </a:r>
            <a:endParaRPr/>
          </a:p>
          <a:p>
            <a:pPr>
              <a:defRPr/>
            </a:pPr>
            <a:r>
              <a:rPr sz="1200" b="0" i="0" u="none">
                <a:solidFill>
                  <a:srgbClr val="000000"/>
                </a:solidFill>
                <a:latin typeface="Times New Roman"/>
                <a:ea typeface="Times New Roman"/>
                <a:cs typeface="Times New Roman"/>
              </a:rPr>
              <a:t>The parameters </a:t>
            </a:r>
            <a:r>
              <a:rPr sz="1000" b="0" i="0" u="none">
                <a:solidFill>
                  <a:srgbClr val="000000"/>
                </a:solidFill>
                <a:latin typeface="Courier New"/>
                <a:ea typeface="Courier New"/>
                <a:cs typeface="Courier New"/>
              </a:rPr>
              <a:t>q</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type</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limit</a:t>
            </a:r>
            <a:r>
              <a:rPr sz="1200" b="0" i="0" u="none">
                <a:solidFill>
                  <a:srgbClr val="000000"/>
                </a:solidFill>
                <a:latin typeface="Times New Roman"/>
                <a:ea typeface="Times New Roman"/>
                <a:cs typeface="Times New Roman"/>
              </a:rPr>
              <a:t> are </a:t>
            </a:r>
            <a:r>
              <a:rPr sz="1200" b="1" i="0" u="none">
                <a:solidFill>
                  <a:srgbClr val="000000"/>
                </a:solidFill>
                <a:latin typeface="Times New Roman"/>
                <a:ea typeface="Times New Roman"/>
                <a:cs typeface="Times New Roman"/>
              </a:rPr>
              <a:t>query parameters</a:t>
            </a:r>
            <a:r>
              <a:rPr sz="1200" b="0" i="0" u="none">
                <a:solidFill>
                  <a:srgbClr val="000000"/>
                </a:solidFill>
                <a:latin typeface="Times New Roman"/>
                <a:ea typeface="Times New Roman"/>
                <a:cs typeface="Times New Roman"/>
              </a:rPr>
              <a:t> that refine how results are returned.</a:t>
            </a:r>
            <a:endParaRPr/>
          </a:p>
          <a:p>
            <a:pPr>
              <a:defRPr/>
            </a:pPr>
            <a:r>
              <a:rPr sz="1200" b="0" i="0" u="none">
                <a:solidFill>
                  <a:srgbClr val="000000"/>
                </a:solidFill>
                <a:latin typeface="Times New Roman"/>
                <a:ea typeface="Times New Roman"/>
                <a:cs typeface="Times New Roman"/>
              </a:rPr>
              <a:t>This consistent design allows millions of developers integrating with Spotify’s API to understand the endpoints immediately.</a:t>
            </a:r>
            <a:endParaRPr/>
          </a:p>
          <a:p>
            <a:pPr>
              <a:defRPr/>
            </a:pPr>
            <a:r>
              <a:rPr sz="1400" b="1" i="0" u="none">
                <a:solidFill>
                  <a:srgbClr val="000000"/>
                </a:solidFill>
                <a:latin typeface="Times New Roman"/>
                <a:ea typeface="Times New Roman"/>
                <a:cs typeface="Times New Roman"/>
              </a:rPr>
              <a:t>Key Takeaway</a:t>
            </a:r>
            <a:endParaRPr/>
          </a:p>
          <a:p>
            <a:pPr>
              <a:defRPr/>
            </a:pPr>
            <a:r>
              <a:rPr sz="1200" b="1" i="0" u="none">
                <a:solidFill>
                  <a:srgbClr val="000000"/>
                </a:solidFill>
                <a:latin typeface="Times New Roman"/>
                <a:ea typeface="Times New Roman"/>
                <a:cs typeface="Times New Roman"/>
              </a:rPr>
              <a:t>Path parameters identify a specific resource.</a:t>
            </a:r>
            <a:endParaRPr/>
          </a:p>
          <a:p>
            <a:pPr>
              <a:defRPr/>
            </a:pPr>
            <a:r>
              <a:rPr sz="1200" b="1" i="0" u="none">
                <a:solidFill>
                  <a:srgbClr val="000000"/>
                </a:solidFill>
                <a:latin typeface="Times New Roman"/>
                <a:ea typeface="Times New Roman"/>
                <a:cs typeface="Times New Roman"/>
              </a:rPr>
              <a:t>Query parameters modify how a collection of resources is retrieved.</a:t>
            </a:r>
            <a:endParaRPr/>
          </a:p>
          <a:p>
            <a:pPr>
              <a:defRPr/>
            </a:pPr>
            <a:r>
              <a:rPr sz="1200" b="0" i="0" u="none">
                <a:solidFill>
                  <a:srgbClr val="000000"/>
                </a:solidFill>
                <a:latin typeface="Times New Roman"/>
                <a:ea typeface="Times New Roman"/>
                <a:cs typeface="Times New Roman"/>
              </a:rPr>
              <a:t>Keeping these responsibilities separate leads to </a:t>
            </a:r>
            <a:r>
              <a:rPr sz="1200" b="1" i="0" u="none">
                <a:solidFill>
                  <a:srgbClr val="000000"/>
                </a:solidFill>
                <a:latin typeface="Times New Roman"/>
                <a:ea typeface="Times New Roman"/>
                <a:cs typeface="Times New Roman"/>
              </a:rPr>
              <a:t>clearer, more predictable API designs</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you want to fetch </a:t>
            </a:r>
            <a:r>
              <a:rPr sz="1200" b="1" i="0" u="none">
                <a:solidFill>
                  <a:srgbClr val="000000"/>
                </a:solidFill>
                <a:latin typeface="Times New Roman"/>
                <a:ea typeface="Times New Roman"/>
                <a:cs typeface="Times New Roman"/>
              </a:rPr>
              <a:t>page 3 of a list of all students sorted by grade</a:t>
            </a:r>
            <a:r>
              <a:rPr sz="1200" b="0" i="0" u="none">
                <a:solidFill>
                  <a:srgbClr val="000000"/>
                </a:solidFill>
                <a:latin typeface="Times New Roman"/>
                <a:ea typeface="Times New Roman"/>
                <a:cs typeface="Times New Roman"/>
              </a:rPr>
              <a:t>, where does that information go in the URL?</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It belongs in the </a:t>
            </a:r>
            <a:r>
              <a:rPr sz="1200" b="1" i="0" u="none">
                <a:solidFill>
                  <a:srgbClr val="000000"/>
                </a:solidFill>
                <a:latin typeface="Times New Roman"/>
                <a:ea typeface="Times New Roman"/>
                <a:cs typeface="Times New Roman"/>
              </a:rPr>
              <a:t>query parameters</a:t>
            </a:r>
            <a:r>
              <a:rPr sz="1200" b="0" i="0" u="none">
                <a:solidFill>
                  <a:srgbClr val="000000"/>
                </a:solidFill>
                <a:latin typeface="Times New Roman"/>
                <a:ea typeface="Times New Roman"/>
                <a:cs typeface="Times New Roman"/>
              </a:rPr>
              <a:t>, because it modifies how the collection is returned:</a:t>
            </a:r>
            <a:endParaRPr/>
          </a:p>
          <a:p>
            <a:pPr>
              <a:defRPr/>
            </a:pPr>
            <a:r>
              <a:rPr sz="1000" b="0" i="0" u="none">
                <a:solidFill>
                  <a:srgbClr val="000000"/>
                </a:solidFill>
                <a:latin typeface="Courier New"/>
                <a:ea typeface="Courier New"/>
                <a:cs typeface="Courier New"/>
              </a:rPr>
              <a:t>/api/students?page=3&amp;sort=grade
</a:t>
            </a:r>
            <a:endParaRPr/>
          </a:p>
          <a:p>
            <a:pPr>
              <a:defRPr/>
            </a:pPr>
            <a:r>
              <a:rPr sz="1200" b="0" i="0" u="none">
                <a:solidFill>
                  <a:srgbClr val="000000"/>
                </a:solidFill>
                <a:latin typeface="Times New Roman"/>
                <a:ea typeface="Times New Roman"/>
                <a:cs typeface="Times New Roman"/>
              </a:rPr>
              <a:t>The base path </a:t>
            </a:r>
            <a:r>
              <a:rPr sz="1000" b="0" i="0" u="none">
                <a:solidFill>
                  <a:srgbClr val="000000"/>
                </a:solidFill>
                <a:latin typeface="Courier New"/>
                <a:ea typeface="Courier New"/>
                <a:cs typeface="Courier New"/>
              </a:rPr>
              <a:t>/api/students</a:t>
            </a:r>
            <a:r>
              <a:rPr sz="1200" b="0" i="0" u="none">
                <a:solidFill>
                  <a:srgbClr val="000000"/>
                </a:solidFill>
                <a:latin typeface="Times New Roman"/>
                <a:ea typeface="Times New Roman"/>
                <a:cs typeface="Times New Roman"/>
              </a:rPr>
              <a:t> identifies the collection, while the query string specifies </a:t>
            </a:r>
            <a:r>
              <a:rPr sz="1200" b="1" i="0" u="none">
                <a:solidFill>
                  <a:srgbClr val="000000"/>
                </a:solidFill>
                <a:latin typeface="Times New Roman"/>
                <a:ea typeface="Times New Roman"/>
                <a:cs typeface="Times New Roman"/>
              </a:rPr>
              <a:t>pagination and sorting behavior</a:t>
            </a:r>
            <a:r>
              <a:rPr sz="1200" b="0" i="0" u="none">
                <a:solidFill>
                  <a:srgbClr val="000000"/>
                </a:solidFill>
                <a:latin typeface="Times New Roman"/>
                <a:ea typeface="Times New Roman"/>
                <a:cs typeface="Times New Roman"/>
              </a:rPr>
              <a:t>.</a:t>
            </a:r>
            <a:endParaRPr lang="en-US"/>
          </a:p>
        </p:txBody>
      </p:sp>
      <p:sp>
        <p:nvSpPr>
          <p:cNvPr id="1640752233" name="Slide Number Placeholder 3"/>
          <p:cNvSpPr>
            <a:spLocks noGrp="1"/>
          </p:cNvSpPr>
          <p:nvPr>
            <p:ph type="sldNum" sz="quarter" idx="10"/>
          </p:nvPr>
        </p:nvSpPr>
        <p:spPr bwMode="auto"/>
        <p:txBody>
          <a:bodyPr/>
          <a:lstStyle/>
          <a:p>
            <a:pPr>
              <a:defRPr/>
            </a:pPr>
            <a:fld id="{F7021451-1387-4CA6-816F-3879F97B5CBC}" type="slidenum">
              <a:rPr lang="en-US"/>
              <a:t>53</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682201" name="Slide Image Placeholder 1"/>
          <p:cNvSpPr>
            <a:spLocks noChangeAspect="1" noGrp="1" noRot="1"/>
          </p:cNvSpPr>
          <p:nvPr>
            <p:ph type="sldImg"/>
          </p:nvPr>
        </p:nvSpPr>
        <p:spPr bwMode="auto"/>
      </p:sp>
      <p:sp>
        <p:nvSpPr>
          <p:cNvPr id="830584369"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In addition to the URL structure of an API request, two other components play a critical role in communication between client and server: the </a:t>
            </a:r>
            <a:r>
              <a:rPr sz="1200" b="1" i="0" u="none">
                <a:solidFill>
                  <a:srgbClr val="000000"/>
                </a:solidFill>
                <a:latin typeface="Times New Roman"/>
                <a:ea typeface="Times New Roman"/>
                <a:cs typeface="Times New Roman"/>
              </a:rPr>
              <a:t>request body</a:t>
            </a:r>
            <a:r>
              <a:rPr sz="1200" b="0" i="0" u="none">
                <a:solidFill>
                  <a:srgbClr val="000000"/>
                </a:solidFill>
                <a:latin typeface="Times New Roman"/>
                <a:ea typeface="Times New Roman"/>
                <a:cs typeface="Times New Roman"/>
              </a:rPr>
              <a:t> and the </a:t>
            </a:r>
            <a:r>
              <a:rPr sz="1200" b="1" i="0" u="none">
                <a:solidFill>
                  <a:srgbClr val="000000"/>
                </a:solidFill>
                <a:latin typeface="Times New Roman"/>
                <a:ea typeface="Times New Roman"/>
                <a:cs typeface="Times New Roman"/>
              </a:rPr>
              <a:t>request headers</a:t>
            </a:r>
            <a:r>
              <a:rPr sz="1200" b="0" i="0" u="none">
                <a:solidFill>
                  <a:srgbClr val="000000"/>
                </a:solidFill>
                <a:latin typeface="Times New Roman"/>
                <a:ea typeface="Times New Roman"/>
                <a:cs typeface="Times New Roman"/>
              </a:rPr>
              <a:t>. These elements carry the actual data and contextual information required for the server to correctly process the request.</a:t>
            </a:r>
            <a:endParaRPr/>
          </a:p>
          <a:p>
            <a:pPr>
              <a:defRPr/>
            </a:pPr>
            <a:r>
              <a:rPr sz="1400" b="1" i="0" u="none">
                <a:solidFill>
                  <a:srgbClr val="000000"/>
                </a:solidFill>
                <a:latin typeface="Times New Roman"/>
                <a:ea typeface="Times New Roman"/>
                <a:cs typeface="Times New Roman"/>
              </a:rPr>
              <a:t>Request Body (Payload)</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request body</a:t>
            </a:r>
            <a:r>
              <a:rPr sz="1200" b="0" i="0" u="none">
                <a:solidFill>
                  <a:srgbClr val="000000"/>
                </a:solidFill>
                <a:latin typeface="Times New Roman"/>
                <a:ea typeface="Times New Roman"/>
                <a:cs typeface="Times New Roman"/>
              </a:rPr>
              <a:t> contains the main data being sent to the server. It is typically used with operations that modify server data, such as </a:t>
            </a:r>
            <a:r>
              <a:rPr sz="1200" b="1" i="0" u="none">
                <a:solidFill>
                  <a:srgbClr val="000000"/>
                </a:solidFill>
                <a:latin typeface="Times New Roman"/>
                <a:ea typeface="Times New Roman"/>
                <a:cs typeface="Times New Roman"/>
              </a:rPr>
              <a:t>POST</a:t>
            </a:r>
            <a:r>
              <a:rPr sz="1200" b="0" i="0" u="none">
                <a:solidFill>
                  <a:srgbClr val="000000"/>
                </a:solidFill>
                <a:latin typeface="Times New Roman"/>
                <a:ea typeface="Times New Roman"/>
                <a:cs typeface="Times New Roman"/>
              </a:rPr>
              <a:t>, </a:t>
            </a:r>
            <a:r>
              <a:rPr sz="1200" b="1" i="0" u="none">
                <a:solidFill>
                  <a:srgbClr val="000000"/>
                </a:solidFill>
                <a:latin typeface="Times New Roman"/>
                <a:ea typeface="Times New Roman"/>
                <a:cs typeface="Times New Roman"/>
              </a:rPr>
              <a:t>PUT</a:t>
            </a:r>
            <a:r>
              <a:rPr sz="1200" b="0" i="0" u="none">
                <a:solidFill>
                  <a:srgbClr val="000000"/>
                </a:solidFill>
                <a:latin typeface="Times New Roman"/>
                <a:ea typeface="Times New Roman"/>
                <a:cs typeface="Times New Roman"/>
              </a:rPr>
              <a:t>, or </a:t>
            </a:r>
            <a:r>
              <a:rPr sz="1200" b="1" i="0" u="none">
                <a:solidFill>
                  <a:srgbClr val="000000"/>
                </a:solidFill>
                <a:latin typeface="Times New Roman"/>
                <a:ea typeface="Times New Roman"/>
                <a:cs typeface="Times New Roman"/>
              </a:rPr>
              <a:t>PATCH</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body usually contains a structured </a:t>
            </a:r>
            <a:r>
              <a:rPr sz="1200" b="1" i="0" u="none">
                <a:solidFill>
                  <a:srgbClr val="000000"/>
                </a:solidFill>
                <a:latin typeface="Times New Roman"/>
                <a:ea typeface="Times New Roman"/>
                <a:cs typeface="Times New Roman"/>
              </a:rPr>
              <a:t>JSON object</a:t>
            </a:r>
            <a:r>
              <a:rPr sz="1200" b="0" i="0" u="none">
                <a:solidFill>
                  <a:srgbClr val="000000"/>
                </a:solidFill>
                <a:latin typeface="Times New Roman"/>
                <a:ea typeface="Times New Roman"/>
                <a:cs typeface="Times New Roman"/>
              </a:rPr>
              <a:t>, which can represent complex nested data structures.</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
  "name": "Maria Papadopoulou",
  "email": "maria@example.com",
  "city": "Volos",
  "courses": [
    { "name": "NoSQL Databases", "grade": 8 },
    { "name": "Machine Learning", "grade": 7 }
  ]
}
</a:t>
            </a:r>
            <a:endParaRPr/>
          </a:p>
          <a:p>
            <a:pPr>
              <a:defRPr/>
            </a:pPr>
            <a:r>
              <a:rPr sz="1200" b="0" i="0" u="none">
                <a:solidFill>
                  <a:srgbClr val="000000"/>
                </a:solidFill>
                <a:latin typeface="Times New Roman"/>
                <a:ea typeface="Times New Roman"/>
                <a:cs typeface="Times New Roman"/>
              </a:rPr>
              <a:t>Unlike parameters placed in the URL, the request body is transmitted separately from the URL and can safely carry </a:t>
            </a:r>
            <a:r>
              <a:rPr sz="1200" b="1" i="0" u="none">
                <a:solidFill>
                  <a:srgbClr val="000000"/>
                </a:solidFill>
                <a:latin typeface="Times New Roman"/>
                <a:ea typeface="Times New Roman"/>
                <a:cs typeface="Times New Roman"/>
              </a:rPr>
              <a:t>large amounts of structured data</a:t>
            </a:r>
            <a:r>
              <a:rPr sz="1200" b="0" i="0" u="none">
                <a:solidFill>
                  <a:srgbClr val="000000"/>
                </a:solidFill>
                <a:latin typeface="Times New Roman"/>
                <a:ea typeface="Times New Roman"/>
                <a:cs typeface="Times New Roman"/>
              </a:rPr>
              <a:t>, potentially even several megabytes.</a:t>
            </a:r>
            <a:endParaRPr/>
          </a:p>
          <a:p>
            <a:pPr>
              <a:defRPr/>
            </a:pPr>
            <a:r>
              <a:rPr sz="1200" b="0" i="0" u="none">
                <a:solidFill>
                  <a:srgbClr val="000000"/>
                </a:solidFill>
                <a:latin typeface="Times New Roman"/>
                <a:ea typeface="Times New Roman"/>
                <a:cs typeface="Times New Roman"/>
              </a:rPr>
              <a:t>Because the body is not part of the URL, it is </a:t>
            </a:r>
            <a:r>
              <a:rPr sz="1200" b="1" i="0" u="none">
                <a:solidFill>
                  <a:srgbClr val="000000"/>
                </a:solidFill>
                <a:latin typeface="Times New Roman"/>
                <a:ea typeface="Times New Roman"/>
                <a:cs typeface="Times New Roman"/>
              </a:rPr>
              <a:t>not logged by browsers or intermediate proxies</a:t>
            </a:r>
            <a:r>
              <a:rPr sz="1200" b="0" i="0" u="none">
                <a:solidFill>
                  <a:srgbClr val="000000"/>
                </a:solidFill>
                <a:latin typeface="Times New Roman"/>
                <a:ea typeface="Times New Roman"/>
                <a:cs typeface="Times New Roman"/>
              </a:rPr>
              <a:t>, making it safer for transmitting application data.</a:t>
            </a:r>
            <a:endParaRPr/>
          </a:p>
          <a:p>
            <a:pPr>
              <a:defRPr/>
            </a:pPr>
            <a:r>
              <a:rPr sz="1400" b="1" i="0" u="none">
                <a:solidFill>
                  <a:srgbClr val="000000"/>
                </a:solidFill>
                <a:latin typeface="Times New Roman"/>
                <a:ea typeface="Times New Roman"/>
                <a:cs typeface="Times New Roman"/>
              </a:rPr>
              <a:t>Request Headers</a:t>
            </a:r>
            <a:endParaRPr/>
          </a:p>
          <a:p>
            <a:pPr>
              <a:defRPr/>
            </a:pPr>
            <a:r>
              <a:rPr sz="1200" b="1" i="0" u="none">
                <a:solidFill>
                  <a:srgbClr val="000000"/>
                </a:solidFill>
                <a:latin typeface="Times New Roman"/>
                <a:ea typeface="Times New Roman"/>
                <a:cs typeface="Times New Roman"/>
              </a:rPr>
              <a:t>Request headers</a:t>
            </a:r>
            <a:r>
              <a:rPr sz="1200" b="0" i="0" u="none">
                <a:solidFill>
                  <a:srgbClr val="000000"/>
                </a:solidFill>
                <a:latin typeface="Times New Roman"/>
                <a:ea typeface="Times New Roman"/>
                <a:cs typeface="Times New Roman"/>
              </a:rPr>
              <a:t> contain metadata about the request rather than the business data itself. They tell the server how to interpret the request and who is making it.</a:t>
            </a:r>
            <a:endParaRPr/>
          </a:p>
          <a:p>
            <a:pPr>
              <a:defRPr/>
            </a:pPr>
            <a:r>
              <a:rPr sz="1200" b="0" i="0" u="none">
                <a:solidFill>
                  <a:srgbClr val="000000"/>
                </a:solidFill>
                <a:latin typeface="Times New Roman"/>
                <a:ea typeface="Times New Roman"/>
                <a:cs typeface="Times New Roman"/>
              </a:rPr>
              <a:t>Common headers include:</a:t>
            </a:r>
            <a:endParaRPr/>
          </a:p>
          <a:p>
            <a:pPr>
              <a:defRPr/>
            </a:pPr>
            <a:r>
              <a:rPr sz="1200" b="1" i="0" u="none">
                <a:solidFill>
                  <a:srgbClr val="000000"/>
                </a:solidFill>
                <a:latin typeface="Times New Roman"/>
                <a:ea typeface="Times New Roman"/>
                <a:cs typeface="Times New Roman"/>
              </a:rPr>
              <a:t>Authorization</a:t>
            </a:r>
            <a:r>
              <a:rPr sz="1200" b="0" i="0" u="none">
                <a:solidFill>
                  <a:srgbClr val="000000"/>
                </a:solidFill>
                <a:latin typeface="Times New Roman"/>
                <a:ea typeface="Times New Roman"/>
                <a:cs typeface="Times New Roman"/>
              </a:rPr>
              <a:t> — carries authentication credentials</a:t>
            </a:r>
            <a:endParaRPr/>
          </a:p>
          <a:p>
            <a:pPr>
              <a:defRPr/>
            </a:pPr>
            <a:r>
              <a:rPr sz="1200" b="1" i="0" u="none">
                <a:solidFill>
                  <a:srgbClr val="000000"/>
                </a:solidFill>
                <a:latin typeface="Times New Roman"/>
                <a:ea typeface="Times New Roman"/>
                <a:cs typeface="Times New Roman"/>
              </a:rPr>
              <a:t>Content-Type</a:t>
            </a:r>
            <a:r>
              <a:rPr sz="1200" b="0" i="0" u="none">
                <a:solidFill>
                  <a:srgbClr val="000000"/>
                </a:solidFill>
                <a:latin typeface="Times New Roman"/>
                <a:ea typeface="Times New Roman"/>
                <a:cs typeface="Times New Roman"/>
              </a:rPr>
              <a:t> — describes the format of the request body</a:t>
            </a:r>
            <a:endParaRPr/>
          </a:p>
          <a:p>
            <a:pPr>
              <a:defRPr/>
            </a:pPr>
            <a:r>
              <a:rPr sz="1200" b="1" i="0" u="none">
                <a:solidFill>
                  <a:srgbClr val="000000"/>
                </a:solidFill>
                <a:latin typeface="Times New Roman"/>
                <a:ea typeface="Times New Roman"/>
                <a:cs typeface="Times New Roman"/>
              </a:rPr>
              <a:t>Accept</a:t>
            </a:r>
            <a:r>
              <a:rPr sz="1200" b="0" i="0" u="none">
                <a:solidFill>
                  <a:srgbClr val="000000"/>
                </a:solidFill>
                <a:latin typeface="Times New Roman"/>
                <a:ea typeface="Times New Roman"/>
                <a:cs typeface="Times New Roman"/>
              </a:rPr>
              <a:t> — indicates the format the client expects in the response</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Authorization: Bearer &lt;token&gt;
Content-Type: application/json
Accept: application/json
</a:t>
            </a:r>
            <a:endParaRPr/>
          </a:p>
          <a:p>
            <a:pPr>
              <a:defRPr/>
            </a:pPr>
            <a:r>
              <a:rPr sz="1200" b="0" i="0" u="none">
                <a:solidFill>
                  <a:srgbClr val="000000"/>
                </a:solidFill>
                <a:latin typeface="Times New Roman"/>
                <a:ea typeface="Times New Roman"/>
                <a:cs typeface="Times New Roman"/>
              </a:rPr>
              <a:t>A common authentication mechanism used in modern APIs is the </a:t>
            </a:r>
            <a:r>
              <a:rPr sz="1200" b="1" i="0" u="none">
                <a:solidFill>
                  <a:srgbClr val="000000"/>
                </a:solidFill>
                <a:latin typeface="Times New Roman"/>
                <a:ea typeface="Times New Roman"/>
                <a:cs typeface="Times New Roman"/>
              </a:rPr>
              <a:t>JSON Web Token (JWT)</a:t>
            </a:r>
            <a:r>
              <a:rPr sz="1200" b="0" i="0" u="none">
                <a:solidFill>
                  <a:srgbClr val="000000"/>
                </a:solidFill>
                <a:latin typeface="Times New Roman"/>
                <a:ea typeface="Times New Roman"/>
                <a:cs typeface="Times New Roman"/>
              </a:rPr>
              <a:t>, which is transmitted in the </a:t>
            </a:r>
            <a:r>
              <a:rPr sz="1200" b="1" i="0" u="none">
                <a:solidFill>
                  <a:srgbClr val="000000"/>
                </a:solidFill>
                <a:latin typeface="Times New Roman"/>
                <a:ea typeface="Times New Roman"/>
                <a:cs typeface="Times New Roman"/>
              </a:rPr>
              <a:t>Authorization header</a:t>
            </a:r>
            <a:r>
              <a:rPr sz="1200" b="0" i="0" u="none">
                <a:solidFill>
                  <a:srgbClr val="000000"/>
                </a:solidFill>
                <a:latin typeface="Times New Roman"/>
                <a:ea typeface="Times New Roman"/>
                <a:cs typeface="Times New Roman"/>
              </a:rPr>
              <a:t>. This token cryptographically proves the identity of the user on every request without requiring the server to store session state.</a:t>
            </a:r>
            <a:endParaRPr/>
          </a:p>
          <a:p>
            <a:pPr>
              <a:defRPr/>
            </a:pPr>
            <a:r>
              <a:rPr sz="1200" b="0" i="0" u="none">
                <a:solidFill>
                  <a:srgbClr val="000000"/>
                </a:solidFill>
                <a:latin typeface="Times New Roman"/>
                <a:ea typeface="Times New Roman"/>
                <a:cs typeface="Times New Roman"/>
              </a:rPr>
              <a:t>Because REST APIs are typically </a:t>
            </a:r>
            <a:r>
              <a:rPr sz="1200" b="1" i="0" u="none">
                <a:solidFill>
                  <a:srgbClr val="000000"/>
                </a:solidFill>
                <a:latin typeface="Times New Roman"/>
                <a:ea typeface="Times New Roman"/>
                <a:cs typeface="Times New Roman"/>
              </a:rPr>
              <a:t>stateless</a:t>
            </a:r>
            <a:r>
              <a:rPr sz="1200" b="0" i="0" u="none">
                <a:solidFill>
                  <a:srgbClr val="000000"/>
                </a:solidFill>
                <a:latin typeface="Times New Roman"/>
                <a:ea typeface="Times New Roman"/>
                <a:cs typeface="Times New Roman"/>
              </a:rPr>
              <a:t>, the token must be sent with every request so that any server in the cluster can authenticate the client independently.</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APIs provided by </a:t>
            </a:r>
            <a:r>
              <a:rPr sz="1200" b="1" i="0" u="none">
                <a:solidFill>
                  <a:srgbClr val="000000"/>
                </a:solidFill>
                <a:latin typeface="Times New Roman"/>
                <a:ea typeface="Times New Roman"/>
                <a:cs typeface="Times New Roman"/>
              </a:rPr>
              <a:t>Google</a:t>
            </a:r>
            <a:r>
              <a:rPr sz="1200" b="0" i="0" u="none">
                <a:solidFill>
                  <a:srgbClr val="000000"/>
                </a:solidFill>
                <a:latin typeface="Times New Roman"/>
                <a:ea typeface="Times New Roman"/>
                <a:cs typeface="Times New Roman"/>
              </a:rPr>
              <a:t>, such as the Google Cloud APIs, use this exact structure.</a:t>
            </a:r>
            <a:endParaRPr/>
          </a:p>
          <a:p>
            <a:pPr>
              <a:defRPr/>
            </a:pPr>
            <a:r>
              <a:rPr sz="1200" b="0" i="0" u="none">
                <a:solidFill>
                  <a:srgbClr val="000000"/>
                </a:solidFill>
                <a:latin typeface="Times New Roman"/>
                <a:ea typeface="Times New Roman"/>
                <a:cs typeface="Times New Roman"/>
              </a:rPr>
              <a:t>For example, creating a resource in </a:t>
            </a:r>
            <a:r>
              <a:rPr sz="1200" b="1" i="0" u="none">
                <a:solidFill>
                  <a:srgbClr val="000000"/>
                </a:solidFill>
                <a:latin typeface="Times New Roman"/>
                <a:ea typeface="Times New Roman"/>
                <a:cs typeface="Times New Roman"/>
              </a:rPr>
              <a:t>Google Cloud Platform</a:t>
            </a:r>
            <a:r>
              <a:rPr sz="1200" b="0" i="0" u="none">
                <a:solidFill>
                  <a:srgbClr val="000000"/>
                </a:solidFill>
                <a:latin typeface="Times New Roman"/>
                <a:ea typeface="Times New Roman"/>
                <a:cs typeface="Times New Roman"/>
              </a:rPr>
              <a:t> requires:</a:t>
            </a:r>
            <a:endParaRPr/>
          </a:p>
          <a:p>
            <a:pPr>
              <a:defRPr/>
            </a:pPr>
            <a:r>
              <a:rPr sz="1200" b="0" i="0" u="none">
                <a:solidFill>
                  <a:srgbClr val="000000"/>
                </a:solidFill>
                <a:latin typeface="Times New Roman"/>
                <a:ea typeface="Times New Roman"/>
                <a:cs typeface="Times New Roman"/>
              </a:rPr>
              <a:t>authentication credentials in the </a:t>
            </a:r>
            <a:r>
              <a:rPr sz="1200" b="1" i="0" u="none">
                <a:solidFill>
                  <a:srgbClr val="000000"/>
                </a:solidFill>
                <a:latin typeface="Times New Roman"/>
                <a:ea typeface="Times New Roman"/>
                <a:cs typeface="Times New Roman"/>
              </a:rPr>
              <a:t>Authorization header</a:t>
            </a:r>
            <a:endParaRPr/>
          </a:p>
          <a:p>
            <a:pPr>
              <a:defRPr/>
            </a:pPr>
            <a:r>
              <a:rPr sz="1200" b="0" i="0" u="none">
                <a:solidFill>
                  <a:srgbClr val="000000"/>
                </a:solidFill>
                <a:latin typeface="Times New Roman"/>
                <a:ea typeface="Times New Roman"/>
                <a:cs typeface="Times New Roman"/>
              </a:rPr>
              <a:t>structured JSON data in the </a:t>
            </a:r>
            <a:r>
              <a:rPr sz="1200" b="1" i="0" u="none">
                <a:solidFill>
                  <a:srgbClr val="000000"/>
                </a:solidFill>
                <a:latin typeface="Times New Roman"/>
                <a:ea typeface="Times New Roman"/>
                <a:cs typeface="Times New Roman"/>
              </a:rPr>
              <a:t>request body</a:t>
            </a:r>
            <a:endParaRPr/>
          </a:p>
          <a:p>
            <a:pPr>
              <a:defRPr/>
            </a:pPr>
            <a:r>
              <a:rPr sz="1200" b="0" i="0" u="none">
                <a:solidFill>
                  <a:srgbClr val="000000"/>
                </a:solidFill>
                <a:latin typeface="Times New Roman"/>
                <a:ea typeface="Times New Roman"/>
                <a:cs typeface="Times New Roman"/>
              </a:rPr>
              <a:t>metadata describing the request format through </a:t>
            </a:r>
            <a:r>
              <a:rPr sz="1200" b="1" i="0" u="none">
                <a:solidFill>
                  <a:srgbClr val="000000"/>
                </a:solidFill>
                <a:latin typeface="Times New Roman"/>
                <a:ea typeface="Times New Roman"/>
                <a:cs typeface="Times New Roman"/>
              </a:rPr>
              <a:t>Content-Type</a:t>
            </a:r>
            <a:endParaRPr/>
          </a:p>
          <a:p>
            <a:pPr>
              <a:defRPr/>
            </a:pPr>
            <a:r>
              <a:rPr sz="1200" b="0" i="0" u="none">
                <a:solidFill>
                  <a:srgbClr val="000000"/>
                </a:solidFill>
                <a:latin typeface="Times New Roman"/>
                <a:ea typeface="Times New Roman"/>
                <a:cs typeface="Times New Roman"/>
              </a:rPr>
              <a:t>This design allows Google’s infrastructure to securely process millions of API requests per second while maintaining strong authentication and predictable request formats.</a:t>
            </a:r>
            <a:endParaRPr/>
          </a:p>
          <a:p>
            <a:pPr>
              <a:defRPr/>
            </a:pPr>
            <a:r>
              <a:rPr sz="1400" b="1" i="0" u="none">
                <a:solidFill>
                  <a:srgbClr val="000000"/>
                </a:solidFill>
                <a:latin typeface="Times New Roman"/>
                <a:ea typeface="Times New Roman"/>
                <a:cs typeface="Times New Roman"/>
              </a:rPr>
              <a:t>Key Takeaway</a:t>
            </a:r>
            <a:endParaRPr/>
          </a:p>
          <a:p>
            <a:pPr>
              <a:defRPr/>
            </a:pPr>
            <a:r>
              <a:rPr sz="1200" b="1" i="0" u="none">
                <a:solidFill>
                  <a:srgbClr val="000000"/>
                </a:solidFill>
                <a:latin typeface="Times New Roman"/>
                <a:ea typeface="Times New Roman"/>
                <a:cs typeface="Times New Roman"/>
              </a:rPr>
              <a:t>The request body carries the application data.</a:t>
            </a:r>
            <a:endParaRPr/>
          </a:p>
          <a:p>
            <a:pPr>
              <a:defRPr/>
            </a:pPr>
            <a:r>
              <a:rPr sz="1200" b="1" i="0" u="none">
                <a:solidFill>
                  <a:srgbClr val="000000"/>
                </a:solidFill>
                <a:latin typeface="Times New Roman"/>
                <a:ea typeface="Times New Roman"/>
                <a:cs typeface="Times New Roman"/>
              </a:rPr>
              <a:t>Headers carry metadata such as authentication and data format.</a:t>
            </a:r>
            <a:endParaRPr/>
          </a:p>
          <a:p>
            <a:pPr>
              <a:defRPr/>
            </a:pPr>
            <a:r>
              <a:rPr sz="1200" b="0" i="0" u="none">
                <a:solidFill>
                  <a:srgbClr val="000000"/>
                </a:solidFill>
                <a:latin typeface="Times New Roman"/>
                <a:ea typeface="Times New Roman"/>
                <a:cs typeface="Times New Roman"/>
              </a:rPr>
              <a:t>Separating these responsibilities keeps APIs </a:t>
            </a:r>
            <a:r>
              <a:rPr sz="1200" b="1" i="0" u="none">
                <a:solidFill>
                  <a:srgbClr val="000000"/>
                </a:solidFill>
                <a:latin typeface="Times New Roman"/>
                <a:ea typeface="Times New Roman"/>
                <a:cs typeface="Times New Roman"/>
              </a:rPr>
              <a:t>secure, scalable, and easy to interpret</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should authentication tokens never be placed in the URL as a query parameter?</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URLs are logged in plain text by browsers, proxies, load balancers, and web servers. If a token appears in the URL, it may be stored in logs or browser history where unauthorized users could access it. Placing authentication tokens in the </a:t>
            </a:r>
            <a:r>
              <a:rPr sz="1200" b="1" i="0" u="none">
                <a:solidFill>
                  <a:srgbClr val="000000"/>
                </a:solidFill>
                <a:latin typeface="Times New Roman"/>
                <a:ea typeface="Times New Roman"/>
                <a:cs typeface="Times New Roman"/>
              </a:rPr>
              <a:t>Authorization header</a:t>
            </a:r>
            <a:r>
              <a:rPr sz="1200" b="0" i="0" u="none">
                <a:solidFill>
                  <a:srgbClr val="000000"/>
                </a:solidFill>
                <a:latin typeface="Times New Roman"/>
                <a:ea typeface="Times New Roman"/>
                <a:cs typeface="Times New Roman"/>
              </a:rPr>
              <a:t> prevents this exposure and significantly improves security.</a:t>
            </a:r>
            <a:endParaRPr lang="en-US"/>
          </a:p>
        </p:txBody>
      </p:sp>
      <p:sp>
        <p:nvSpPr>
          <p:cNvPr id="1606243962" name="Slide Number Placeholder 3"/>
          <p:cNvSpPr>
            <a:spLocks noGrp="1"/>
          </p:cNvSpPr>
          <p:nvPr>
            <p:ph type="sldNum" sz="quarter" idx="10"/>
          </p:nvPr>
        </p:nvSpPr>
        <p:spPr bwMode="auto"/>
        <p:txBody>
          <a:bodyPr/>
          <a:lstStyle/>
          <a:p>
            <a:pPr>
              <a:defRPr/>
            </a:pPr>
            <a:fld id="{F7021451-1387-4CA6-816F-3879F97B5CBC}" type="slidenum">
              <a:rPr lang="en-US"/>
              <a:t>54</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4834628" name="Slide Image Placeholder 1"/>
          <p:cNvSpPr>
            <a:spLocks noChangeAspect="1" noGrp="1" noRot="1"/>
          </p:cNvSpPr>
          <p:nvPr>
            <p:ph type="sldImg"/>
          </p:nvPr>
        </p:nvSpPr>
        <p:spPr bwMode="auto"/>
      </p:sp>
      <p:sp>
        <p:nvSpPr>
          <p:cNvPr id="2028751266"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When a client sends a request to an API, the server must communicate the </a:t>
            </a:r>
            <a:r>
              <a:rPr sz="1200" b="1" i="0" u="none">
                <a:solidFill>
                  <a:srgbClr val="000000"/>
                </a:solidFill>
                <a:latin typeface="Times New Roman"/>
                <a:ea typeface="Times New Roman"/>
                <a:cs typeface="Times New Roman"/>
              </a:rPr>
              <a:t>result of that request</a:t>
            </a:r>
            <a:r>
              <a:rPr sz="1200" b="0" i="0" u="none">
                <a:solidFill>
                  <a:srgbClr val="000000"/>
                </a:solidFill>
                <a:latin typeface="Times New Roman"/>
                <a:ea typeface="Times New Roman"/>
                <a:cs typeface="Times New Roman"/>
              </a:rPr>
              <a:t> in a clear and standardized way. This is done using </a:t>
            </a:r>
            <a:r>
              <a:rPr sz="1200" b="1" i="0" u="none">
                <a:solidFill>
                  <a:srgbClr val="000000"/>
                </a:solidFill>
                <a:latin typeface="Times New Roman"/>
                <a:ea typeface="Times New Roman"/>
                <a:cs typeface="Times New Roman"/>
              </a:rPr>
              <a:t>HTTP response status codes</a:t>
            </a:r>
            <a:r>
              <a:rPr sz="1200" b="0" i="0" u="none">
                <a:solidFill>
                  <a:srgbClr val="000000"/>
                </a:solidFill>
                <a:latin typeface="Times New Roman"/>
                <a:ea typeface="Times New Roman"/>
                <a:cs typeface="Times New Roman"/>
              </a:rPr>
              <a:t>. Status codes allow the client—such as a mobile app or web frontend—to immediately understand whether the request succeeded or failed, without needing to inspect the response body.</a:t>
            </a:r>
            <a:endParaRPr/>
          </a:p>
          <a:p>
            <a:pPr>
              <a:defRPr/>
            </a:pPr>
            <a:r>
              <a:rPr sz="1200" b="0" i="0" u="none">
                <a:solidFill>
                  <a:srgbClr val="000000"/>
                </a:solidFill>
                <a:latin typeface="Times New Roman"/>
                <a:ea typeface="Times New Roman"/>
                <a:cs typeface="Times New Roman"/>
              </a:rPr>
              <a:t>Some of the most commonly used status codes in REST APIs include the following.</a:t>
            </a:r>
            <a:endParaRPr/>
          </a:p>
          <a:p>
            <a:pPr>
              <a:defRPr/>
            </a:pPr>
            <a:r>
              <a:rPr sz="1200" b="1" i="0" u="none">
                <a:solidFill>
                  <a:srgbClr val="000000"/>
                </a:solidFill>
                <a:latin typeface="Times New Roman"/>
                <a:ea typeface="Times New Roman"/>
                <a:cs typeface="Times New Roman"/>
              </a:rPr>
              <a:t>200 OK</a:t>
            </a:r>
            <a:r>
              <a:rPr sz="1200" b="0" i="0" u="none">
                <a:solidFill>
                  <a:srgbClr val="000000"/>
                </a:solidFill>
                <a:latin typeface="Times New Roman"/>
                <a:ea typeface="Times New Roman"/>
                <a:cs typeface="Times New Roman"/>
              </a:rPr>
              <a:t> indicates that the request succeeded and that the requested data is returned in the response body.</a:t>
            </a:r>
            <a:endParaRPr/>
          </a:p>
          <a:p>
            <a:pPr>
              <a:defRPr/>
            </a:pPr>
            <a:r>
              <a:rPr sz="1200" b="1" i="0" u="none">
                <a:solidFill>
                  <a:srgbClr val="000000"/>
                </a:solidFill>
                <a:latin typeface="Times New Roman"/>
                <a:ea typeface="Times New Roman"/>
                <a:cs typeface="Times New Roman"/>
              </a:rPr>
              <a:t>201 Created</a:t>
            </a:r>
            <a:r>
              <a:rPr sz="1200" b="0" i="0" u="none">
                <a:solidFill>
                  <a:srgbClr val="000000"/>
                </a:solidFill>
                <a:latin typeface="Times New Roman"/>
                <a:ea typeface="Times New Roman"/>
                <a:cs typeface="Times New Roman"/>
              </a:rPr>
              <a:t> indicates that a new resource was successfully created. This response is typically returned after a </a:t>
            </a:r>
            <a:r>
              <a:rPr sz="1200" b="1" i="0" u="none">
                <a:solidFill>
                  <a:srgbClr val="000000"/>
                </a:solidFill>
                <a:latin typeface="Times New Roman"/>
                <a:ea typeface="Times New Roman"/>
                <a:cs typeface="Times New Roman"/>
              </a:rPr>
              <a:t>POST</a:t>
            </a:r>
            <a:r>
              <a:rPr sz="1200" b="0" i="0" u="none">
                <a:solidFill>
                  <a:srgbClr val="000000"/>
                </a:solidFill>
                <a:latin typeface="Times New Roman"/>
                <a:ea typeface="Times New Roman"/>
                <a:cs typeface="Times New Roman"/>
              </a:rPr>
              <a:t> request that inserts a new record into the database.</a:t>
            </a:r>
            <a:endParaRPr/>
          </a:p>
          <a:p>
            <a:pPr>
              <a:defRPr/>
            </a:pPr>
            <a:r>
              <a:rPr sz="1200" b="1" i="0" u="none">
                <a:solidFill>
                  <a:srgbClr val="000000"/>
                </a:solidFill>
                <a:latin typeface="Times New Roman"/>
                <a:ea typeface="Times New Roman"/>
                <a:cs typeface="Times New Roman"/>
              </a:rPr>
              <a:t>400 Bad Request</a:t>
            </a:r>
            <a:r>
              <a:rPr sz="1200" b="0" i="0" u="none">
                <a:solidFill>
                  <a:srgbClr val="000000"/>
                </a:solidFill>
                <a:latin typeface="Times New Roman"/>
                <a:ea typeface="Times New Roman"/>
                <a:cs typeface="Times New Roman"/>
              </a:rPr>
              <a:t> indicates that the client sent invalid or malformed data. For example, the request body might be missing required fields or contain values that fail validation rules.</a:t>
            </a:r>
            <a:endParaRPr/>
          </a:p>
          <a:p>
            <a:pPr>
              <a:defRPr/>
            </a:pPr>
            <a:r>
              <a:rPr sz="1200" b="1" i="0" u="none">
                <a:solidFill>
                  <a:srgbClr val="000000"/>
                </a:solidFill>
                <a:latin typeface="Times New Roman"/>
                <a:ea typeface="Times New Roman"/>
                <a:cs typeface="Times New Roman"/>
              </a:rPr>
              <a:t>401 Unauthorized</a:t>
            </a:r>
            <a:r>
              <a:rPr sz="1200" b="0" i="0" u="none">
                <a:solidFill>
                  <a:srgbClr val="000000"/>
                </a:solidFill>
                <a:latin typeface="Times New Roman"/>
                <a:ea typeface="Times New Roman"/>
                <a:cs typeface="Times New Roman"/>
              </a:rPr>
              <a:t> indicates that the request is missing authentication credentials or that the provided credentials are invalid.</a:t>
            </a:r>
            <a:endParaRPr/>
          </a:p>
          <a:p>
            <a:pPr>
              <a:defRPr/>
            </a:pPr>
            <a:r>
              <a:rPr sz="1200" b="1" i="0" u="none">
                <a:solidFill>
                  <a:srgbClr val="000000"/>
                </a:solidFill>
                <a:latin typeface="Times New Roman"/>
                <a:ea typeface="Times New Roman"/>
                <a:cs typeface="Times New Roman"/>
              </a:rPr>
              <a:t>404 Not Found</a:t>
            </a:r>
            <a:r>
              <a:rPr sz="1200" b="0" i="0" u="none">
                <a:solidFill>
                  <a:srgbClr val="000000"/>
                </a:solidFill>
                <a:latin typeface="Times New Roman"/>
                <a:ea typeface="Times New Roman"/>
                <a:cs typeface="Times New Roman"/>
              </a:rPr>
              <a:t> indicates that the requested resource does not exist in the database.</a:t>
            </a:r>
            <a:endParaRPr/>
          </a:p>
          <a:p>
            <a:pPr>
              <a:defRPr/>
            </a:pPr>
            <a:r>
              <a:rPr sz="1200" b="0" i="0" u="none">
                <a:solidFill>
                  <a:srgbClr val="000000"/>
                </a:solidFill>
                <a:latin typeface="Times New Roman"/>
                <a:ea typeface="Times New Roman"/>
                <a:cs typeface="Times New Roman"/>
              </a:rPr>
              <a:t>Status codes are essential because they allow client applications to </a:t>
            </a:r>
            <a:r>
              <a:rPr sz="1200" b="1" i="0" u="none">
                <a:solidFill>
                  <a:srgbClr val="000000"/>
                </a:solidFill>
                <a:latin typeface="Times New Roman"/>
                <a:ea typeface="Times New Roman"/>
                <a:cs typeface="Times New Roman"/>
              </a:rPr>
              <a:t>react programmatically</a:t>
            </a:r>
            <a:r>
              <a:rPr sz="1200" b="0" i="0" u="none">
                <a:solidFill>
                  <a:srgbClr val="000000"/>
                </a:solidFill>
                <a:latin typeface="Times New Roman"/>
                <a:ea typeface="Times New Roman"/>
                <a:cs typeface="Times New Roman"/>
              </a:rPr>
              <a:t> to the outcome of a request. A mobile application that receives a </a:t>
            </a:r>
            <a:r>
              <a:rPr sz="1200" b="1" i="0" u="none">
                <a:solidFill>
                  <a:srgbClr val="000000"/>
                </a:solidFill>
                <a:latin typeface="Times New Roman"/>
                <a:ea typeface="Times New Roman"/>
                <a:cs typeface="Times New Roman"/>
              </a:rPr>
              <a:t>201</a:t>
            </a:r>
            <a:r>
              <a:rPr sz="1200" b="0" i="0" u="none">
                <a:solidFill>
                  <a:srgbClr val="000000"/>
                </a:solidFill>
                <a:latin typeface="Times New Roman"/>
                <a:ea typeface="Times New Roman"/>
                <a:cs typeface="Times New Roman"/>
              </a:rPr>
              <a:t> knows that a resource was successfully created. If it receives a </a:t>
            </a:r>
            <a:r>
              <a:rPr sz="1200" b="1" i="0" u="none">
                <a:solidFill>
                  <a:srgbClr val="000000"/>
                </a:solidFill>
                <a:latin typeface="Times New Roman"/>
                <a:ea typeface="Times New Roman"/>
                <a:cs typeface="Times New Roman"/>
              </a:rPr>
              <a:t>400</a:t>
            </a:r>
            <a:r>
              <a:rPr sz="1200" b="0" i="0" u="none">
                <a:solidFill>
                  <a:srgbClr val="000000"/>
                </a:solidFill>
                <a:latin typeface="Times New Roman"/>
                <a:ea typeface="Times New Roman"/>
                <a:cs typeface="Times New Roman"/>
              </a:rPr>
              <a:t>, it knows that the request contained invalid data and can display a validation error message to the user.</a:t>
            </a:r>
            <a:endParaRPr/>
          </a:p>
          <a:p>
            <a:pPr>
              <a:defRPr/>
            </a:pPr>
            <a:r>
              <a:rPr sz="1200" b="0" i="0" u="none">
                <a:solidFill>
                  <a:srgbClr val="000000"/>
                </a:solidFill>
                <a:latin typeface="Times New Roman"/>
                <a:ea typeface="Times New Roman"/>
                <a:cs typeface="Times New Roman"/>
              </a:rPr>
              <a:t>Ignoring status codes is a common mistake in poorly designed APIs. If a backend always returns </a:t>
            </a:r>
            <a:r>
              <a:rPr sz="1200" b="1" i="0" u="none">
                <a:solidFill>
                  <a:srgbClr val="000000"/>
                </a:solidFill>
                <a:latin typeface="Times New Roman"/>
                <a:ea typeface="Times New Roman"/>
                <a:cs typeface="Times New Roman"/>
              </a:rPr>
              <a:t>200 OK</a:t>
            </a:r>
            <a:r>
              <a:rPr sz="1200" b="0" i="0" u="none">
                <a:solidFill>
                  <a:srgbClr val="000000"/>
                </a:solidFill>
                <a:latin typeface="Times New Roman"/>
                <a:ea typeface="Times New Roman"/>
                <a:cs typeface="Times New Roman"/>
              </a:rPr>
              <a:t>, even when errors occur, frontend developers cannot distinguish between a successful request and a failure. This makes debugging extremely difficult and often leads to unreliable client applications.</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Large API platforms such as </a:t>
            </a:r>
            <a:r>
              <a:rPr sz="1200" b="1" i="0" u="none">
                <a:solidFill>
                  <a:srgbClr val="000000"/>
                </a:solidFill>
                <a:latin typeface="Times New Roman"/>
                <a:ea typeface="Times New Roman"/>
                <a:cs typeface="Times New Roman"/>
              </a:rPr>
              <a:t>Twilio</a:t>
            </a:r>
            <a:r>
              <a:rPr sz="1200" b="0" i="0" u="none">
                <a:solidFill>
                  <a:srgbClr val="000000"/>
                </a:solidFill>
                <a:latin typeface="Times New Roman"/>
                <a:ea typeface="Times New Roman"/>
                <a:cs typeface="Times New Roman"/>
              </a:rPr>
              <a:t> rely heavily on clear HTTP status codes. When developers use Twilio’s APIs to send SMS messages, create calls, or retrieve message history, the API responses strictly follow HTTP standards.</a:t>
            </a:r>
            <a:endParaRPr/>
          </a:p>
          <a:p>
            <a:pPr>
              <a:defRPr/>
            </a:pPr>
            <a:r>
              <a:rPr sz="1200" b="0" i="0" u="none">
                <a:solidFill>
                  <a:srgbClr val="000000"/>
                </a:solidFill>
                <a:latin typeface="Times New Roman"/>
                <a:ea typeface="Times New Roman"/>
                <a:cs typeface="Times New Roman"/>
              </a:rPr>
              <a:t>For example:</a:t>
            </a:r>
            <a:endParaRPr/>
          </a:p>
          <a:p>
            <a:pPr>
              <a:defRPr/>
            </a:pPr>
            <a:r>
              <a:rPr sz="1200" b="1" i="0" u="none">
                <a:solidFill>
                  <a:srgbClr val="000000"/>
                </a:solidFill>
                <a:latin typeface="Times New Roman"/>
                <a:ea typeface="Times New Roman"/>
                <a:cs typeface="Times New Roman"/>
              </a:rPr>
              <a:t>201 Created</a:t>
            </a:r>
            <a:r>
              <a:rPr sz="1200" b="0" i="0" u="none">
                <a:solidFill>
                  <a:srgbClr val="000000"/>
                </a:solidFill>
                <a:latin typeface="Times New Roman"/>
                <a:ea typeface="Times New Roman"/>
                <a:cs typeface="Times New Roman"/>
              </a:rPr>
              <a:t> when a message is successfully queued for delivery</a:t>
            </a:r>
            <a:endParaRPr/>
          </a:p>
          <a:p>
            <a:pPr>
              <a:defRPr/>
            </a:pPr>
            <a:r>
              <a:rPr sz="1200" b="1" i="0" u="none">
                <a:solidFill>
                  <a:srgbClr val="000000"/>
                </a:solidFill>
                <a:latin typeface="Times New Roman"/>
                <a:ea typeface="Times New Roman"/>
                <a:cs typeface="Times New Roman"/>
              </a:rPr>
              <a:t>400 Bad Request</a:t>
            </a:r>
            <a:r>
              <a:rPr sz="1200" b="0" i="0" u="none">
                <a:solidFill>
                  <a:srgbClr val="000000"/>
                </a:solidFill>
                <a:latin typeface="Times New Roman"/>
                <a:ea typeface="Times New Roman"/>
                <a:cs typeface="Times New Roman"/>
              </a:rPr>
              <a:t> if the phone number format is invalid</a:t>
            </a:r>
            <a:endParaRPr/>
          </a:p>
          <a:p>
            <a:pPr>
              <a:defRPr/>
            </a:pPr>
            <a:r>
              <a:rPr sz="1200" b="1" i="0" u="none">
                <a:solidFill>
                  <a:srgbClr val="000000"/>
                </a:solidFill>
                <a:latin typeface="Times New Roman"/>
                <a:ea typeface="Times New Roman"/>
                <a:cs typeface="Times New Roman"/>
              </a:rPr>
              <a:t>401 Unauthorized</a:t>
            </a:r>
            <a:r>
              <a:rPr sz="1200" b="0" i="0" u="none">
                <a:solidFill>
                  <a:srgbClr val="000000"/>
                </a:solidFill>
                <a:latin typeface="Times New Roman"/>
                <a:ea typeface="Times New Roman"/>
                <a:cs typeface="Times New Roman"/>
              </a:rPr>
              <a:t> if the API key is missing or incorrect</a:t>
            </a:r>
            <a:endParaRPr/>
          </a:p>
          <a:p>
            <a:pPr>
              <a:defRPr/>
            </a:pPr>
            <a:r>
              <a:rPr sz="1200" b="1" i="0" u="none">
                <a:solidFill>
                  <a:srgbClr val="000000"/>
                </a:solidFill>
                <a:latin typeface="Times New Roman"/>
                <a:ea typeface="Times New Roman"/>
                <a:cs typeface="Times New Roman"/>
              </a:rPr>
              <a:t>404 Not Found</a:t>
            </a:r>
            <a:r>
              <a:rPr sz="1200" b="0" i="0" u="none">
                <a:solidFill>
                  <a:srgbClr val="000000"/>
                </a:solidFill>
                <a:latin typeface="Times New Roman"/>
                <a:ea typeface="Times New Roman"/>
                <a:cs typeface="Times New Roman"/>
              </a:rPr>
              <a:t> if the requested message ID does not exist</a:t>
            </a:r>
            <a:endParaRPr/>
          </a:p>
          <a:p>
            <a:pPr>
              <a:defRPr/>
            </a:pPr>
            <a:r>
              <a:rPr sz="1200" b="0" i="0" u="none">
                <a:solidFill>
                  <a:srgbClr val="000000"/>
                </a:solidFill>
                <a:latin typeface="Times New Roman"/>
                <a:ea typeface="Times New Roman"/>
                <a:cs typeface="Times New Roman"/>
              </a:rPr>
              <a:t>Because the API communicates outcomes through status codes, developers can automatically detect errors and handle them correctly in their applications.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HTTP status codes provide a </a:t>
            </a:r>
            <a:r>
              <a:rPr sz="1200" b="1" i="0" u="none">
                <a:solidFill>
                  <a:srgbClr val="000000"/>
                </a:solidFill>
                <a:latin typeface="Times New Roman"/>
                <a:ea typeface="Times New Roman"/>
                <a:cs typeface="Times New Roman"/>
              </a:rPr>
              <a:t>standardized way for APIs to communicate success or failure</a:t>
            </a:r>
            <a:r>
              <a:rPr sz="1200" b="0" i="0" u="none">
                <a:solidFill>
                  <a:srgbClr val="000000"/>
                </a:solidFill>
                <a:latin typeface="Times New Roman"/>
                <a:ea typeface="Times New Roman"/>
                <a:cs typeface="Times New Roman"/>
              </a:rPr>
              <a:t>, allowing client applications to respond appropriately without analyzing complex response bodies.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is the difference between a </a:t>
            </a:r>
            <a:r>
              <a:rPr sz="1200" b="1" i="0" u="none">
                <a:solidFill>
                  <a:srgbClr val="000000"/>
                </a:solidFill>
                <a:latin typeface="Times New Roman"/>
                <a:ea typeface="Times New Roman"/>
                <a:cs typeface="Times New Roman"/>
              </a:rPr>
              <a:t>401 Unauthorized</a:t>
            </a:r>
            <a:r>
              <a:rPr sz="1200" b="0" i="0" u="none">
                <a:solidFill>
                  <a:srgbClr val="000000"/>
                </a:solidFill>
                <a:latin typeface="Times New Roman"/>
                <a:ea typeface="Times New Roman"/>
                <a:cs typeface="Times New Roman"/>
              </a:rPr>
              <a:t> and a </a:t>
            </a:r>
            <a:r>
              <a:rPr sz="1200" b="1" i="0" u="none">
                <a:solidFill>
                  <a:srgbClr val="000000"/>
                </a:solidFill>
                <a:latin typeface="Times New Roman"/>
                <a:ea typeface="Times New Roman"/>
                <a:cs typeface="Times New Roman"/>
              </a:rPr>
              <a:t>403 Forbidden</a:t>
            </a:r>
            <a:r>
              <a:rPr sz="1200" b="0" i="0" u="none">
                <a:solidFill>
                  <a:srgbClr val="000000"/>
                </a:solidFill>
                <a:latin typeface="Times New Roman"/>
                <a:ea typeface="Times New Roman"/>
                <a:cs typeface="Times New Roman"/>
              </a:rPr>
              <a:t> response?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A </a:t>
            </a:r>
            <a:r>
              <a:rPr sz="1200" b="1" i="0" u="none">
                <a:solidFill>
                  <a:srgbClr val="000000"/>
                </a:solidFill>
                <a:latin typeface="Times New Roman"/>
                <a:ea typeface="Times New Roman"/>
                <a:cs typeface="Times New Roman"/>
              </a:rPr>
              <a:t>401 Unauthorized</a:t>
            </a:r>
            <a:r>
              <a:rPr sz="1200" b="0" i="0" u="none">
                <a:solidFill>
                  <a:srgbClr val="000000"/>
                </a:solidFill>
                <a:latin typeface="Times New Roman"/>
                <a:ea typeface="Times New Roman"/>
                <a:cs typeface="Times New Roman"/>
              </a:rPr>
              <a:t> response means the client is </a:t>
            </a:r>
            <a:r>
              <a:rPr sz="1200" b="1" i="0" u="none">
                <a:solidFill>
                  <a:srgbClr val="000000"/>
                </a:solidFill>
                <a:latin typeface="Times New Roman"/>
                <a:ea typeface="Times New Roman"/>
                <a:cs typeface="Times New Roman"/>
              </a:rPr>
              <a:t>not authenticated</a:t>
            </a:r>
            <a:r>
              <a:rPr sz="1200" b="0" i="0" u="none">
                <a:solidFill>
                  <a:srgbClr val="000000"/>
                </a:solidFill>
                <a:latin typeface="Times New Roman"/>
                <a:ea typeface="Times New Roman"/>
                <a:cs typeface="Times New Roman"/>
              </a:rPr>
              <a:t>. The request must include valid authentication credentials, such as a login token, before the server will process it.</a:t>
            </a:r>
            <a:endParaRPr/>
          </a:p>
          <a:p>
            <a:pPr>
              <a:defRPr/>
            </a:pPr>
            <a:r>
              <a:rPr sz="1200" b="0" i="0" u="none">
                <a:solidFill>
                  <a:srgbClr val="000000"/>
                </a:solidFill>
                <a:latin typeface="Times New Roman"/>
                <a:ea typeface="Times New Roman"/>
                <a:cs typeface="Times New Roman"/>
              </a:rPr>
              <a:t>A </a:t>
            </a:r>
            <a:r>
              <a:rPr sz="1200" b="1" i="0" u="none">
                <a:solidFill>
                  <a:srgbClr val="000000"/>
                </a:solidFill>
                <a:latin typeface="Times New Roman"/>
                <a:ea typeface="Times New Roman"/>
                <a:cs typeface="Times New Roman"/>
              </a:rPr>
              <a:t>403 Forbidden</a:t>
            </a:r>
            <a:r>
              <a:rPr sz="1200" b="0" i="0" u="none">
                <a:solidFill>
                  <a:srgbClr val="000000"/>
                </a:solidFill>
                <a:latin typeface="Times New Roman"/>
                <a:ea typeface="Times New Roman"/>
                <a:cs typeface="Times New Roman"/>
              </a:rPr>
              <a:t> response means the client </a:t>
            </a:r>
            <a:r>
              <a:rPr sz="1200" b="1" i="0" u="none">
                <a:solidFill>
                  <a:srgbClr val="000000"/>
                </a:solidFill>
                <a:latin typeface="Times New Roman"/>
                <a:ea typeface="Times New Roman"/>
                <a:cs typeface="Times New Roman"/>
              </a:rPr>
              <a:t>is authenticated</a:t>
            </a:r>
            <a:r>
              <a:rPr sz="1200" b="0" i="0" u="none">
                <a:solidFill>
                  <a:srgbClr val="000000"/>
                </a:solidFill>
                <a:latin typeface="Times New Roman"/>
                <a:ea typeface="Times New Roman"/>
                <a:cs typeface="Times New Roman"/>
              </a:rPr>
              <a:t>, but does </a:t>
            </a:r>
            <a:r>
              <a:rPr sz="1200" b="1" i="0" u="none">
                <a:solidFill>
                  <a:srgbClr val="000000"/>
                </a:solidFill>
                <a:latin typeface="Times New Roman"/>
                <a:ea typeface="Times New Roman"/>
                <a:cs typeface="Times New Roman"/>
              </a:rPr>
              <a:t>not have permission</a:t>
            </a:r>
            <a:r>
              <a:rPr sz="1200" b="0" i="0" u="none">
                <a:solidFill>
                  <a:srgbClr val="000000"/>
                </a:solidFill>
                <a:latin typeface="Times New Roman"/>
                <a:ea typeface="Times New Roman"/>
                <a:cs typeface="Times New Roman"/>
              </a:rPr>
              <a:t> to perform the requested operation. Even with valid credentials, the action is not allowed for that user.</a:t>
            </a:r>
            <a:endParaRPr lang="en-US"/>
          </a:p>
        </p:txBody>
      </p:sp>
      <p:sp>
        <p:nvSpPr>
          <p:cNvPr id="1409650432" name="Slide Number Placeholder 3"/>
          <p:cNvSpPr>
            <a:spLocks noGrp="1"/>
          </p:cNvSpPr>
          <p:nvPr>
            <p:ph type="sldNum" sz="quarter" idx="10"/>
          </p:nvPr>
        </p:nvSpPr>
        <p:spPr bwMode="auto"/>
        <p:txBody>
          <a:bodyPr/>
          <a:lstStyle/>
          <a:p>
            <a:pPr>
              <a:defRPr/>
            </a:pPr>
            <a:fld id="{F7021451-1387-4CA6-816F-3879F97B5CBC}" type="slidenum">
              <a:rPr lang="en-US"/>
              <a:t>55</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3651828" name="Slide Image Placeholder 1"/>
          <p:cNvSpPr>
            <a:spLocks noChangeAspect="1" noGrp="1" noRot="1"/>
          </p:cNvSpPr>
          <p:nvPr>
            <p:ph type="sldImg"/>
          </p:nvPr>
        </p:nvSpPr>
        <p:spPr bwMode="auto"/>
      </p:sp>
      <p:sp>
        <p:nvSpPr>
          <p:cNvPr id="1244004731"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APIs that handle real user data must implement </a:t>
            </a:r>
            <a:r>
              <a:rPr sz="1200" b="1" i="0" u="none">
                <a:solidFill>
                  <a:srgbClr val="000000"/>
                </a:solidFill>
                <a:latin typeface="Times New Roman"/>
                <a:ea typeface="Times New Roman"/>
                <a:cs typeface="Times New Roman"/>
              </a:rPr>
              <a:t>authentication mechanisms</a:t>
            </a:r>
            <a:r>
              <a:rPr sz="1200" b="0" i="0" u="none">
                <a:solidFill>
                  <a:srgbClr val="000000"/>
                </a:solidFill>
                <a:latin typeface="Times New Roman"/>
                <a:ea typeface="Times New Roman"/>
                <a:cs typeface="Times New Roman"/>
              </a:rPr>
              <a:t> to verify the identity of the client making each request. Authentication ensures that only authorized users or services can access protected resources. Several common authentication approaches are used in modern APIs, each with different security properties and use cases.</a:t>
            </a:r>
            <a:endParaRPr/>
          </a:p>
          <a:p>
            <a:pPr>
              <a:defRPr/>
            </a:pPr>
            <a:r>
              <a:rPr sz="1200" b="0" i="0" u="none">
                <a:solidFill>
                  <a:srgbClr val="000000"/>
                </a:solidFill>
                <a:latin typeface="Times New Roman"/>
                <a:ea typeface="Times New Roman"/>
                <a:cs typeface="Times New Roman"/>
              </a:rPr>
              <a:t>One of the simplest methods is the </a:t>
            </a:r>
            <a:r>
              <a:rPr sz="1200" b="1" i="0" u="none">
                <a:solidFill>
                  <a:srgbClr val="000000"/>
                </a:solidFill>
                <a:latin typeface="Times New Roman"/>
                <a:ea typeface="Times New Roman"/>
                <a:cs typeface="Times New Roman"/>
              </a:rPr>
              <a:t>API key</a:t>
            </a:r>
            <a:r>
              <a:rPr sz="1200" b="0" i="0" u="none">
                <a:solidFill>
                  <a:srgbClr val="000000"/>
                </a:solidFill>
                <a:latin typeface="Times New Roman"/>
                <a:ea typeface="Times New Roman"/>
                <a:cs typeface="Times New Roman"/>
              </a:rPr>
              <a:t>. An API key is a static secret value that the client includes in the request, usually in a header. While easy to implement, API keys provide limited security because they do not represent a specific user identity and can be easily leaked if not handled carefully.</a:t>
            </a:r>
            <a:endParaRPr/>
          </a:p>
          <a:p>
            <a:pPr>
              <a:defRPr/>
            </a:pPr>
            <a:r>
              <a:rPr sz="1200" b="0" i="0" u="none">
                <a:solidFill>
                  <a:srgbClr val="000000"/>
                </a:solidFill>
                <a:latin typeface="Times New Roman"/>
                <a:ea typeface="Times New Roman"/>
                <a:cs typeface="Times New Roman"/>
              </a:rPr>
              <a:t>A more modern and widely adopted mechanism is the </a:t>
            </a:r>
            <a:r>
              <a:rPr sz="1200" b="1" i="0" u="none">
                <a:solidFill>
                  <a:srgbClr val="000000"/>
                </a:solidFill>
                <a:latin typeface="Times New Roman"/>
                <a:ea typeface="Times New Roman"/>
                <a:cs typeface="Times New Roman"/>
              </a:rPr>
              <a:t>JSON Web Token (JWT)</a:t>
            </a:r>
            <a:r>
              <a:rPr sz="1200" b="0" i="0" u="none">
                <a:solidFill>
                  <a:srgbClr val="000000"/>
                </a:solidFill>
                <a:latin typeface="Times New Roman"/>
                <a:ea typeface="Times New Roman"/>
                <a:cs typeface="Times New Roman"/>
              </a:rPr>
              <a:t>. A JWT is a cryptographically signed token that contains encoded information about the user, such as their identity and roles. Because the token itself carries the necessary authentication data, the server only needs to verify the signature using a secret key. This means the server does not need to query a database to validate the user on every request.</a:t>
            </a:r>
            <a:endParaRPr/>
          </a:p>
          <a:p>
            <a:pPr>
              <a:defRPr/>
            </a:pPr>
            <a:r>
              <a:rPr sz="1200" b="0" i="0" u="none">
                <a:solidFill>
                  <a:srgbClr val="000000"/>
                </a:solidFill>
                <a:latin typeface="Times New Roman"/>
                <a:ea typeface="Times New Roman"/>
                <a:cs typeface="Times New Roman"/>
              </a:rPr>
              <a:t>JWTs are typically transmitted using the </a:t>
            </a:r>
            <a:r>
              <a:rPr sz="1200" b="1" i="0" u="none">
                <a:solidFill>
                  <a:srgbClr val="000000"/>
                </a:solidFill>
                <a:latin typeface="Times New Roman"/>
                <a:ea typeface="Times New Roman"/>
                <a:cs typeface="Times New Roman"/>
              </a:rPr>
              <a:t>Bearer token</a:t>
            </a:r>
            <a:r>
              <a:rPr sz="1200" b="0" i="0" u="none">
                <a:solidFill>
                  <a:srgbClr val="000000"/>
                </a:solidFill>
                <a:latin typeface="Times New Roman"/>
                <a:ea typeface="Times New Roman"/>
                <a:cs typeface="Times New Roman"/>
              </a:rPr>
              <a:t> pattern in the HTTP Authorization header:</a:t>
            </a:r>
            <a:endParaRPr/>
          </a:p>
          <a:p>
            <a:pPr>
              <a:defRPr/>
            </a:pPr>
            <a:r>
              <a:rPr sz="1000" b="0" i="0" u="none">
                <a:solidFill>
                  <a:srgbClr val="000000"/>
                </a:solidFill>
                <a:latin typeface="Courier New"/>
                <a:ea typeface="Courier New"/>
                <a:cs typeface="Courier New"/>
              </a:rPr>
              <a:t>Authorization: Bearer &lt;token&gt;
</a:t>
            </a:r>
            <a:endParaRPr/>
          </a:p>
          <a:p>
            <a:pPr>
              <a:defRPr/>
            </a:pPr>
            <a:r>
              <a:rPr sz="1200" b="0" i="0" u="none">
                <a:solidFill>
                  <a:srgbClr val="000000"/>
                </a:solidFill>
                <a:latin typeface="Times New Roman"/>
                <a:ea typeface="Times New Roman"/>
                <a:cs typeface="Times New Roman"/>
              </a:rPr>
              <a:t>Another important authentication framework is </a:t>
            </a:r>
            <a:r>
              <a:rPr sz="1200" b="1" i="0" u="none">
                <a:solidFill>
                  <a:srgbClr val="000000"/>
                </a:solidFill>
                <a:latin typeface="Times New Roman"/>
                <a:ea typeface="Times New Roman"/>
                <a:cs typeface="Times New Roman"/>
              </a:rPr>
              <a:t>OAuth 2.0</a:t>
            </a:r>
            <a:r>
              <a:rPr sz="1200" b="0" i="0" u="none">
                <a:solidFill>
                  <a:srgbClr val="000000"/>
                </a:solidFill>
                <a:latin typeface="Times New Roman"/>
                <a:ea typeface="Times New Roman"/>
                <a:cs typeface="Times New Roman"/>
              </a:rPr>
              <a:t>, which enables </a:t>
            </a:r>
            <a:r>
              <a:rPr sz="1200" b="1" i="0" u="none">
                <a:solidFill>
                  <a:srgbClr val="000000"/>
                </a:solidFill>
                <a:latin typeface="Times New Roman"/>
                <a:ea typeface="Times New Roman"/>
                <a:cs typeface="Times New Roman"/>
              </a:rPr>
              <a:t>delegated access</a:t>
            </a:r>
            <a:r>
              <a:rPr sz="1200" b="0" i="0" u="none">
                <a:solidFill>
                  <a:srgbClr val="000000"/>
                </a:solidFill>
                <a:latin typeface="Times New Roman"/>
                <a:ea typeface="Times New Roman"/>
                <a:cs typeface="Times New Roman"/>
              </a:rPr>
              <a:t>. OAuth allows users to authenticate using an external identity provider rather than creating new credentials for every application. When a website offers “Sign in with Google” or “Sign in with GitHub,” it is using OAuth 2.0 to delegate authentication to those platforms.</a:t>
            </a:r>
            <a:endParaRPr/>
          </a:p>
          <a:p>
            <a:pPr>
              <a:defRPr/>
            </a:pPr>
            <a:r>
              <a:rPr sz="1200" b="0" i="0" u="none">
                <a:solidFill>
                  <a:srgbClr val="000000"/>
                </a:solidFill>
                <a:latin typeface="Times New Roman"/>
                <a:ea typeface="Times New Roman"/>
                <a:cs typeface="Times New Roman"/>
              </a:rPr>
              <a:t>A more traditional method is </a:t>
            </a:r>
            <a:r>
              <a:rPr sz="1200" b="1" i="0" u="none">
                <a:solidFill>
                  <a:srgbClr val="000000"/>
                </a:solidFill>
                <a:latin typeface="Times New Roman"/>
                <a:ea typeface="Times New Roman"/>
                <a:cs typeface="Times New Roman"/>
              </a:rPr>
              <a:t>Basic Authentication</a:t>
            </a:r>
            <a:r>
              <a:rPr sz="1200" b="0" i="0" u="none">
                <a:solidFill>
                  <a:srgbClr val="000000"/>
                </a:solidFill>
                <a:latin typeface="Times New Roman"/>
                <a:ea typeface="Times New Roman"/>
                <a:cs typeface="Times New Roman"/>
              </a:rPr>
              <a:t>, where the client sends a username and password encoded in Base64 within the request header. Because the credentials are effectively transmitted in plain text after encoding, this approach is considered safe only when used over </a:t>
            </a:r>
            <a:r>
              <a:rPr sz="1200" b="1" i="0" u="none">
                <a:solidFill>
                  <a:srgbClr val="000000"/>
                </a:solidFill>
                <a:latin typeface="Times New Roman"/>
                <a:ea typeface="Times New Roman"/>
                <a:cs typeface="Times New Roman"/>
              </a:rPr>
              <a:t>HTTPS</a:t>
            </a:r>
            <a:r>
              <a:rPr sz="1200" b="0" i="0" u="none">
                <a:solidFill>
                  <a:srgbClr val="000000"/>
                </a:solidFill>
                <a:latin typeface="Times New Roman"/>
                <a:ea typeface="Times New Roman"/>
                <a:cs typeface="Times New Roman"/>
              </a:rPr>
              <a:t>, where the communication channel is encrypted.</a:t>
            </a:r>
            <a:endParaRPr/>
          </a:p>
          <a:p>
            <a:pPr>
              <a:defRPr/>
            </a:pPr>
            <a:r>
              <a:rPr sz="1200" b="0" i="0" u="none">
                <a:solidFill>
                  <a:srgbClr val="000000"/>
                </a:solidFill>
                <a:latin typeface="Times New Roman"/>
                <a:ea typeface="Times New Roman"/>
                <a:cs typeface="Times New Roman"/>
              </a:rPr>
              <a:t>Choosing the correct authentication mechanism is critical for API security. Poor authentication design can lead to severe vulnerabilities. For example, accidentally publishing API keys in public repositories has been a common cause of cloud infrastructure breaches.</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Many large platforms, including </a:t>
            </a:r>
            <a:r>
              <a:rPr sz="1200" b="1" i="0" u="none">
                <a:solidFill>
                  <a:srgbClr val="000000"/>
                </a:solidFill>
                <a:latin typeface="Times New Roman"/>
                <a:ea typeface="Times New Roman"/>
                <a:cs typeface="Times New Roman"/>
              </a:rPr>
              <a:t>Google</a:t>
            </a:r>
            <a:r>
              <a:rPr sz="1200" b="0" i="0" u="none">
                <a:solidFill>
                  <a:srgbClr val="000000"/>
                </a:solidFill>
                <a:latin typeface="Times New Roman"/>
                <a:ea typeface="Times New Roman"/>
                <a:cs typeface="Times New Roman"/>
              </a:rPr>
              <a:t>, rely heavily on </a:t>
            </a:r>
            <a:r>
              <a:rPr sz="1200" b="1" i="0" u="none">
                <a:solidFill>
                  <a:srgbClr val="000000"/>
                </a:solidFill>
                <a:latin typeface="Times New Roman"/>
                <a:ea typeface="Times New Roman"/>
                <a:cs typeface="Times New Roman"/>
              </a:rPr>
              <a:t>OAuth 2.0</a:t>
            </a:r>
            <a:r>
              <a:rPr sz="1200" b="0" i="0" u="none">
                <a:solidFill>
                  <a:srgbClr val="000000"/>
                </a:solidFill>
                <a:latin typeface="Times New Roman"/>
                <a:ea typeface="Times New Roman"/>
                <a:cs typeface="Times New Roman"/>
              </a:rPr>
              <a:t> for authentication. When users click “Sign in with Google” on a website or mobile app, the application redirects the user to Google’s authentication servers. After the user successfully logs in, Google issues a secure token that allows the application to access specific user information without ever handling the user’s password directly.</a:t>
            </a:r>
            <a:endParaRPr/>
          </a:p>
          <a:p>
            <a:pPr>
              <a:defRPr/>
            </a:pPr>
            <a:r>
              <a:rPr sz="1200" b="0" i="0" u="none">
                <a:solidFill>
                  <a:srgbClr val="000000"/>
                </a:solidFill>
                <a:latin typeface="Times New Roman"/>
                <a:ea typeface="Times New Roman"/>
                <a:cs typeface="Times New Roman"/>
              </a:rPr>
              <a:t>Similarly, APIs from companies such as </a:t>
            </a:r>
            <a:r>
              <a:rPr sz="1200" b="1" i="0" u="none">
                <a:solidFill>
                  <a:srgbClr val="000000"/>
                </a:solidFill>
                <a:latin typeface="Times New Roman"/>
                <a:ea typeface="Times New Roman"/>
                <a:cs typeface="Times New Roman"/>
              </a:rPr>
              <a:t>Slack</a:t>
            </a:r>
            <a:r>
              <a:rPr sz="1200" b="0" i="0" u="none">
                <a:solidFill>
                  <a:srgbClr val="000000"/>
                </a:solidFill>
                <a:latin typeface="Times New Roman"/>
                <a:ea typeface="Times New Roman"/>
                <a:cs typeface="Times New Roman"/>
              </a:rPr>
              <a:t> use </a:t>
            </a:r>
            <a:r>
              <a:rPr sz="1200" b="1" i="0" u="none">
                <a:solidFill>
                  <a:srgbClr val="000000"/>
                </a:solidFill>
                <a:latin typeface="Times New Roman"/>
                <a:ea typeface="Times New Roman"/>
                <a:cs typeface="Times New Roman"/>
              </a:rPr>
              <a:t>JSON Web Token</a:t>
            </a:r>
            <a:r>
              <a:rPr sz="1200" b="0" i="0" u="none">
                <a:solidFill>
                  <a:srgbClr val="000000"/>
                </a:solidFill>
                <a:latin typeface="Times New Roman"/>
                <a:ea typeface="Times New Roman"/>
                <a:cs typeface="Times New Roman"/>
              </a:rPr>
              <a:t> and Bearer tokens to authenticate API requests across distributed microservices.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Modern APIs rely on authentication mechanisms such as </a:t>
            </a:r>
            <a:r>
              <a:rPr sz="1200" b="1" i="0" u="none">
                <a:solidFill>
                  <a:srgbClr val="000000"/>
                </a:solidFill>
                <a:latin typeface="Times New Roman"/>
                <a:ea typeface="Times New Roman"/>
                <a:cs typeface="Times New Roman"/>
              </a:rPr>
              <a:t>JWT, OAuth 2.0, API keys, or Basic Auth</a:t>
            </a:r>
            <a:r>
              <a:rPr sz="1200" b="0" i="0" u="none">
                <a:solidFill>
                  <a:srgbClr val="000000"/>
                </a:solidFill>
                <a:latin typeface="Times New Roman"/>
                <a:ea typeface="Times New Roman"/>
                <a:cs typeface="Times New Roman"/>
              </a:rPr>
              <a:t> to verify client identity and protect sensitive resources. Stateless approaches like JWT allow authentication to scale efficiently across large distributed systems.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is JWT considered </a:t>
            </a:r>
            <a:r>
              <a:rPr sz="1200" b="1" i="0" u="none">
                <a:solidFill>
                  <a:srgbClr val="000000"/>
                </a:solidFill>
                <a:latin typeface="Times New Roman"/>
                <a:ea typeface="Times New Roman"/>
                <a:cs typeface="Times New Roman"/>
              </a:rPr>
              <a:t>stateless authentication</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the token itself contains the encoded user information and is cryptographically signed. The server only needs the secret key to verify the signature and does not need to look up session information in a database. This allows authentication to scale easily across multiple servers without shared session storage.</a:t>
            </a:r>
            <a:endParaRPr lang="en-US"/>
          </a:p>
        </p:txBody>
      </p:sp>
      <p:sp>
        <p:nvSpPr>
          <p:cNvPr id="450189901" name="Slide Number Placeholder 3"/>
          <p:cNvSpPr>
            <a:spLocks noGrp="1"/>
          </p:cNvSpPr>
          <p:nvPr>
            <p:ph type="sldNum" sz="quarter" idx="10"/>
          </p:nvPr>
        </p:nvSpPr>
        <p:spPr bwMode="auto"/>
        <p:txBody>
          <a:bodyPr/>
          <a:lstStyle/>
          <a:p>
            <a:pPr>
              <a:defRPr/>
            </a:pPr>
            <a:fld id="{F7021451-1387-4CA6-816F-3879F97B5CBC}" type="slidenum">
              <a:rPr lang="en-US"/>
              <a:t>56</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1238990" name="Slide Image Placeholder 1"/>
          <p:cNvSpPr>
            <a:spLocks noChangeAspect="1" noGrp="1" noRot="1"/>
          </p:cNvSpPr>
          <p:nvPr>
            <p:ph type="sldImg"/>
          </p:nvPr>
        </p:nvSpPr>
        <p:spPr bwMode="auto"/>
      </p:sp>
      <p:sp>
        <p:nvSpPr>
          <p:cNvPr id="758642440" name="Notes Placeholder 2"/>
          <p:cNvSpPr>
            <a:spLocks noGrp="1"/>
          </p:cNvSpPr>
          <p:nvPr>
            <p:ph type="body" idx="1"/>
          </p:nvPr>
        </p:nvSpPr>
        <p:spPr bwMode="auto"/>
        <p:txBody>
          <a:bodyPr/>
          <a:lstStyle/>
          <a:p>
            <a:pPr>
              <a:defRPr/>
            </a:pPr>
            <a:r>
              <a:rPr lang="en-US"/>
              <a:t>This final theory module ties together everything we have learned. We explore how to design document schemas that serve real API requests efficiently, and then scale that thinking to microservices architectures where each service owns its own database. This is where document databases truly shine in modern systems design.</a:t>
            </a:r>
            <a:endParaRPr lang="en-US"/>
          </a:p>
        </p:txBody>
      </p:sp>
      <p:sp>
        <p:nvSpPr>
          <p:cNvPr id="972538657" name="Slide Number Placeholder 3"/>
          <p:cNvSpPr>
            <a:spLocks noGrp="1"/>
          </p:cNvSpPr>
          <p:nvPr>
            <p:ph type="sldNum" sz="quarter" idx="10"/>
          </p:nvPr>
        </p:nvSpPr>
        <p:spPr bwMode="auto"/>
        <p:txBody>
          <a:bodyPr/>
          <a:lstStyle/>
          <a:p>
            <a:pPr>
              <a:defRPr/>
            </a:pPr>
            <a:fld id="{F7021451-1387-4CA6-816F-3879F97B5CBC}" type="slidenum">
              <a:rPr lang="en-US"/>
              <a:t>57</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6053770" name="Slide Image Placeholder 1"/>
          <p:cNvSpPr>
            <a:spLocks noChangeAspect="1" noGrp="1" noRot="1"/>
          </p:cNvSpPr>
          <p:nvPr>
            <p:ph type="sldImg"/>
          </p:nvPr>
        </p:nvSpPr>
        <p:spPr bwMode="auto"/>
      </p:sp>
      <p:sp>
        <p:nvSpPr>
          <p:cNvPr id="1262478105"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After discussing </a:t>
            </a:r>
            <a:r>
              <a:rPr sz="1200" b="1" i="0" u="none">
                <a:solidFill>
                  <a:srgbClr val="000000"/>
                </a:solidFill>
                <a:latin typeface="Times New Roman"/>
                <a:ea typeface="Times New Roman"/>
                <a:cs typeface="Times New Roman"/>
              </a:rPr>
              <a:t>queries, projections, indexing, and the limits of joins</a:t>
            </a:r>
            <a:r>
              <a:rPr sz="1200" b="0" i="0" u="none">
                <a:solidFill>
                  <a:srgbClr val="000000"/>
                </a:solidFill>
                <a:latin typeface="Times New Roman"/>
                <a:ea typeface="Times New Roman"/>
                <a:cs typeface="Times New Roman"/>
              </a:rPr>
              <a:t>, we can now state the central design philosophy of document databases: </a:t>
            </a:r>
            <a:r>
              <a:rPr sz="1200" b="1" i="0" u="none">
                <a:solidFill>
                  <a:srgbClr val="000000"/>
                </a:solidFill>
                <a:latin typeface="Times New Roman"/>
                <a:ea typeface="Times New Roman"/>
                <a:cs typeface="Times New Roman"/>
              </a:rPr>
              <a:t>schema design begins from the application’s access patterns, not from abstract data modeling rules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In relational database design, the process usually starts with </a:t>
            </a:r>
            <a:r>
              <a:rPr sz="1200" b="1" i="0" u="none">
                <a:solidFill>
                  <a:srgbClr val="000000"/>
                </a:solidFill>
                <a:latin typeface="Times New Roman"/>
                <a:ea typeface="Times New Roman"/>
                <a:cs typeface="Times New Roman"/>
              </a:rPr>
              <a:t>entities, relationships, and normalization</a:t>
            </a:r>
            <a:r>
              <a:rPr sz="1200" b="0" i="0" u="none">
                <a:solidFill>
                  <a:srgbClr val="000000"/>
                </a:solidFill>
                <a:latin typeface="Times New Roman"/>
                <a:ea typeface="Times New Roman"/>
                <a:cs typeface="Times New Roman"/>
              </a:rPr>
              <a:t>. Developers identify tables, define foreign keys, and organize data into normal forms in order to reduce redundancy and maintain consistency.</a:t>
            </a:r>
            <a:endParaRPr/>
          </a:p>
          <a:p>
            <a:pPr>
              <a:defRPr/>
            </a:pPr>
            <a:r>
              <a:rPr sz="1200" b="0" i="0" u="none">
                <a:solidFill>
                  <a:srgbClr val="000000"/>
                </a:solidFill>
                <a:latin typeface="Times New Roman"/>
                <a:ea typeface="Times New Roman"/>
                <a:cs typeface="Times New Roman"/>
              </a:rPr>
              <a:t>Document database design follows a very different logic. It does </a:t>
            </a:r>
            <a:r>
              <a:rPr sz="1200" b="1" i="0" u="none">
                <a:solidFill>
                  <a:srgbClr val="000000"/>
                </a:solidFill>
                <a:latin typeface="Times New Roman"/>
                <a:ea typeface="Times New Roman"/>
                <a:cs typeface="Times New Roman"/>
              </a:rPr>
              <a:t>not</a:t>
            </a:r>
            <a:r>
              <a:rPr sz="1200" b="0" i="0" u="none">
                <a:solidFill>
                  <a:srgbClr val="000000"/>
                </a:solidFill>
                <a:latin typeface="Times New Roman"/>
                <a:ea typeface="Times New Roman"/>
                <a:cs typeface="Times New Roman"/>
              </a:rPr>
              <a:t> begin with tables, normalization, or entity-relationship diagrams. Instead, it begins with a practical question:</a:t>
            </a:r>
            <a:endParaRPr/>
          </a:p>
          <a:p>
            <a:pPr>
              <a:defRPr/>
            </a:pPr>
            <a:r>
              <a:rPr sz="1200" b="1" i="0" u="none">
                <a:solidFill>
                  <a:srgbClr val="000000"/>
                </a:solidFill>
                <a:latin typeface="Times New Roman"/>
                <a:ea typeface="Times New Roman"/>
                <a:cs typeface="Times New Roman"/>
              </a:rPr>
              <a:t>What does the application need to retrieve for this API endpoint or screen?</a:t>
            </a:r>
            <a:endParaRPr/>
          </a:p>
          <a:p>
            <a:pPr>
              <a:defRPr/>
            </a:pPr>
            <a:r>
              <a:rPr sz="1200" b="0" i="0" u="none">
                <a:solidFill>
                  <a:srgbClr val="000000"/>
                </a:solidFill>
                <a:latin typeface="Times New Roman"/>
                <a:ea typeface="Times New Roman"/>
                <a:cs typeface="Times New Roman"/>
              </a:rPr>
              <a:t>In other words, the developer starts from the </a:t>
            </a:r>
            <a:r>
              <a:rPr sz="1200" b="1" i="0" u="none">
                <a:solidFill>
                  <a:srgbClr val="000000"/>
                </a:solidFill>
                <a:latin typeface="Times New Roman"/>
                <a:ea typeface="Times New Roman"/>
                <a:cs typeface="Times New Roman"/>
              </a:rPr>
              <a:t>API request</a:t>
            </a:r>
            <a:r>
              <a:rPr sz="1200" b="0" i="0" u="none">
                <a:solidFill>
                  <a:srgbClr val="000000"/>
                </a:solidFill>
                <a:latin typeface="Times New Roman"/>
                <a:ea typeface="Times New Roman"/>
                <a:cs typeface="Times New Roman"/>
              </a:rPr>
              <a:t> or the </a:t>
            </a:r>
            <a:r>
              <a:rPr sz="1200" b="1" i="0" u="none">
                <a:solidFill>
                  <a:srgbClr val="000000"/>
                </a:solidFill>
                <a:latin typeface="Times New Roman"/>
                <a:ea typeface="Times New Roman"/>
                <a:cs typeface="Times New Roman"/>
              </a:rPr>
              <a:t>frontend view</a:t>
            </a:r>
            <a:r>
              <a:rPr sz="1200" b="0" i="0" u="none">
                <a:solidFill>
                  <a:srgbClr val="000000"/>
                </a:solidFill>
                <a:latin typeface="Times New Roman"/>
                <a:ea typeface="Times New Roman"/>
                <a:cs typeface="Times New Roman"/>
              </a:rPr>
              <a:t> and asks what JSON structure the backend should return. The document schema is then designed so that this response can ideally be produced with </a:t>
            </a:r>
            <a:r>
              <a:rPr sz="1200" b="1" i="0" u="none">
                <a:solidFill>
                  <a:srgbClr val="000000"/>
                </a:solidFill>
                <a:latin typeface="Times New Roman"/>
                <a:ea typeface="Times New Roman"/>
                <a:cs typeface="Times New Roman"/>
              </a:rPr>
              <a:t>one efficient query</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is a complete inversion of relational thinking. Instead of first building a theoretically normalized model and later figuring out how to query it, document design starts from the query itself and shapes the document around that access pattern.</a:t>
            </a:r>
            <a:endParaRPr/>
          </a:p>
          <a:p>
            <a:pPr>
              <a:defRPr/>
            </a:pPr>
            <a:r>
              <a:rPr sz="1200" b="0" i="0" u="none">
                <a:solidFill>
                  <a:srgbClr val="000000"/>
                </a:solidFill>
                <a:latin typeface="Times New Roman"/>
                <a:ea typeface="Times New Roman"/>
                <a:cs typeface="Times New Roman"/>
              </a:rPr>
              <a:t>For example, if an endpoint must return a student profile together with enrolled courses and recent grades, the schema should be designed so that this information can be retrieved as a </a:t>
            </a:r>
            <a:r>
              <a:rPr sz="1200" b="1" i="0" u="none">
                <a:solidFill>
                  <a:srgbClr val="000000"/>
                </a:solidFill>
                <a:latin typeface="Times New Roman"/>
                <a:ea typeface="Times New Roman"/>
                <a:cs typeface="Times New Roman"/>
              </a:rPr>
              <a:t>single document or with minimal query complexity</a:t>
            </a:r>
            <a:r>
              <a:rPr sz="1200" b="0" i="0" u="none">
                <a:solidFill>
                  <a:srgbClr val="000000"/>
                </a:solidFill>
                <a:latin typeface="Times New Roman"/>
                <a:ea typeface="Times New Roman"/>
                <a:cs typeface="Times New Roman"/>
              </a:rPr>
              <a:t>. The goal is not theoretical purity, but </a:t>
            </a:r>
            <a:r>
              <a:rPr sz="1200" b="1" i="0" u="none">
                <a:solidFill>
                  <a:srgbClr val="000000"/>
                </a:solidFill>
                <a:latin typeface="Times New Roman"/>
                <a:ea typeface="Times New Roman"/>
                <a:cs typeface="Times New Roman"/>
              </a:rPr>
              <a:t>fast and simple retrieval aligned with application needs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This approach is especially valuable in modern application development, where the frontend often expects JSON responses already shaped for direct display. In practice, developers can often look at a UI screen or wireframe and infer the appropriate document structure by asking what data must appear together in the response.</a:t>
            </a:r>
            <a:endParaRPr/>
          </a:p>
          <a:p>
            <a:pPr>
              <a:defRPr/>
            </a:pPr>
            <a:r>
              <a:rPr sz="1200" b="0" i="0" u="none">
                <a:solidFill>
                  <a:srgbClr val="000000"/>
                </a:solidFill>
                <a:latin typeface="Times New Roman"/>
                <a:ea typeface="Times New Roman"/>
                <a:cs typeface="Times New Roman"/>
              </a:rPr>
              <a:t>A useful principle is therefore:</a:t>
            </a:r>
            <a:endParaRPr/>
          </a:p>
          <a:p>
            <a:pPr>
              <a:defRPr/>
            </a:pPr>
            <a:r>
              <a:rPr sz="1200" b="1" i="0" u="none">
                <a:solidFill>
                  <a:srgbClr val="000000"/>
                </a:solidFill>
                <a:latin typeface="Times New Roman"/>
                <a:ea typeface="Times New Roman"/>
                <a:cs typeface="Times New Roman"/>
              </a:rPr>
              <a:t>Design the document to answer the API request in one query.</a:t>
            </a:r>
            <a:endParaRPr/>
          </a:p>
          <a:p>
            <a:pPr>
              <a:defRPr/>
            </a:pPr>
            <a:r>
              <a:rPr sz="1200" b="0" i="0" u="none">
                <a:solidFill>
                  <a:srgbClr val="000000"/>
                </a:solidFill>
                <a:latin typeface="Times New Roman"/>
                <a:ea typeface="Times New Roman"/>
                <a:cs typeface="Times New Roman"/>
              </a:rPr>
              <a:t>If the same data is needed by multiple screens in different forms, the schema should usually prioritize the </a:t>
            </a:r>
            <a:r>
              <a:rPr sz="1200" b="1" i="0" u="none">
                <a:solidFill>
                  <a:srgbClr val="000000"/>
                </a:solidFill>
                <a:latin typeface="Times New Roman"/>
                <a:ea typeface="Times New Roman"/>
                <a:cs typeface="Times New Roman"/>
              </a:rPr>
              <a:t>most frequent</a:t>
            </a:r>
            <a:r>
              <a:rPr sz="1200" b="0" i="0" u="none">
                <a:solidFill>
                  <a:srgbClr val="000000"/>
                </a:solidFill>
                <a:latin typeface="Times New Roman"/>
                <a:ea typeface="Times New Roman"/>
                <a:cs typeface="Times New Roman"/>
              </a:rPr>
              <a:t> or </a:t>
            </a:r>
            <a:r>
              <a:rPr sz="1200" b="1" i="0" u="none">
                <a:solidFill>
                  <a:srgbClr val="000000"/>
                </a:solidFill>
                <a:latin typeface="Times New Roman"/>
                <a:ea typeface="Times New Roman"/>
                <a:cs typeface="Times New Roman"/>
              </a:rPr>
              <a:t>most performance-sensitive</a:t>
            </a:r>
            <a:r>
              <a:rPr sz="1200" b="0" i="0" u="none">
                <a:solidFill>
                  <a:srgbClr val="000000"/>
                </a:solidFill>
                <a:latin typeface="Times New Roman"/>
                <a:ea typeface="Times New Roman"/>
                <a:cs typeface="Times New Roman"/>
              </a:rPr>
              <a:t> access pattern. Less common endpoints can tolerate receiving extra fields, or they can use </a:t>
            </a:r>
            <a:r>
              <a:rPr sz="1200" b="1" i="0" u="none">
                <a:solidFill>
                  <a:srgbClr val="000000"/>
                </a:solidFill>
                <a:latin typeface="Times New Roman"/>
                <a:ea typeface="Times New Roman"/>
                <a:cs typeface="Times New Roman"/>
              </a:rPr>
              <a:t>projections</a:t>
            </a:r>
            <a:r>
              <a:rPr sz="1200" b="0" i="0" u="none">
                <a:solidFill>
                  <a:srgbClr val="000000"/>
                </a:solidFill>
                <a:latin typeface="Times New Roman"/>
                <a:ea typeface="Times New Roman"/>
                <a:cs typeface="Times New Roman"/>
              </a:rPr>
              <a:t> to limit what the database returns.</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Companies such as </a:t>
            </a:r>
            <a:r>
              <a:rPr sz="1200" b="1" i="0" u="none">
                <a:solidFill>
                  <a:srgbClr val="000000"/>
                </a:solidFill>
                <a:latin typeface="Times New Roman"/>
                <a:ea typeface="Times New Roman"/>
                <a:cs typeface="Times New Roman"/>
              </a:rPr>
              <a:t>Airbnb</a:t>
            </a:r>
            <a:r>
              <a:rPr sz="1200" b="0" i="0" u="none">
                <a:solidFill>
                  <a:srgbClr val="000000"/>
                </a:solidFill>
                <a:latin typeface="Times New Roman"/>
                <a:ea typeface="Times New Roman"/>
                <a:cs typeface="Times New Roman"/>
              </a:rPr>
              <a:t> design many of their API responses around what the client application needs to render efficiently. For example, when the mobile app opens a property listing page, the backend must return data such as:</a:t>
            </a:r>
            <a:endParaRPr/>
          </a:p>
          <a:p>
            <a:pPr>
              <a:defRPr/>
            </a:pPr>
            <a:r>
              <a:rPr sz="1200" b="0" i="0" u="none">
                <a:solidFill>
                  <a:srgbClr val="000000"/>
                </a:solidFill>
                <a:latin typeface="Times New Roman"/>
                <a:ea typeface="Times New Roman"/>
                <a:cs typeface="Times New Roman"/>
              </a:rPr>
              <a:t>property title</a:t>
            </a:r>
            <a:endParaRPr/>
          </a:p>
          <a:p>
            <a:pPr>
              <a:defRPr/>
            </a:pPr>
            <a:r>
              <a:rPr sz="1200" b="0" i="0" u="none">
                <a:solidFill>
                  <a:srgbClr val="000000"/>
                </a:solidFill>
                <a:latin typeface="Times New Roman"/>
                <a:ea typeface="Times New Roman"/>
                <a:cs typeface="Times New Roman"/>
              </a:rPr>
              <a:t>photos</a:t>
            </a:r>
            <a:endParaRPr/>
          </a:p>
          <a:p>
            <a:pPr>
              <a:defRPr/>
            </a:pPr>
            <a:r>
              <a:rPr sz="1200" b="0" i="0" u="none">
                <a:solidFill>
                  <a:srgbClr val="000000"/>
                </a:solidFill>
                <a:latin typeface="Times New Roman"/>
                <a:ea typeface="Times New Roman"/>
                <a:cs typeface="Times New Roman"/>
              </a:rPr>
              <a:t>host information</a:t>
            </a:r>
            <a:endParaRPr/>
          </a:p>
          <a:p>
            <a:pPr>
              <a:defRPr/>
            </a:pPr>
            <a:r>
              <a:rPr sz="1200" b="0" i="0" u="none">
                <a:solidFill>
                  <a:srgbClr val="000000"/>
                </a:solidFill>
                <a:latin typeface="Times New Roman"/>
                <a:ea typeface="Times New Roman"/>
                <a:cs typeface="Times New Roman"/>
              </a:rPr>
              <a:t>price</a:t>
            </a:r>
            <a:endParaRPr/>
          </a:p>
          <a:p>
            <a:pPr>
              <a:defRPr/>
            </a:pPr>
            <a:r>
              <a:rPr sz="1200" b="0" i="0" u="none">
                <a:solidFill>
                  <a:srgbClr val="000000"/>
                </a:solidFill>
                <a:latin typeface="Times New Roman"/>
                <a:ea typeface="Times New Roman"/>
                <a:cs typeface="Times New Roman"/>
              </a:rPr>
              <a:t>review summary</a:t>
            </a:r>
            <a:endParaRPr/>
          </a:p>
          <a:p>
            <a:pPr>
              <a:defRPr/>
            </a:pPr>
            <a:r>
              <a:rPr sz="1200" b="0" i="0" u="none">
                <a:solidFill>
                  <a:srgbClr val="000000"/>
                </a:solidFill>
                <a:latin typeface="Times New Roman"/>
                <a:ea typeface="Times New Roman"/>
                <a:cs typeface="Times New Roman"/>
              </a:rPr>
              <a:t>availability details</a:t>
            </a:r>
            <a:endParaRPr/>
          </a:p>
          <a:p>
            <a:pPr>
              <a:defRPr/>
            </a:pPr>
            <a:r>
              <a:rPr sz="1200" b="0" i="0" u="none">
                <a:solidFill>
                  <a:srgbClr val="000000"/>
                </a:solidFill>
                <a:latin typeface="Times New Roman"/>
                <a:ea typeface="Times New Roman"/>
                <a:cs typeface="Times New Roman"/>
              </a:rPr>
              <a:t>If this data were scattered across many unrelated structures requiring multiple joins on every request, the endpoint would become slower and more complex. Instead, document-oriented thinking encourages shaping the stored data so that the most common listing-view request can be served with minimal database round trips.</a:t>
            </a:r>
            <a:endParaRPr/>
          </a:p>
          <a:p>
            <a:pPr>
              <a:defRPr/>
            </a:pPr>
            <a:r>
              <a:rPr sz="1200" b="0" i="0" u="none">
                <a:solidFill>
                  <a:srgbClr val="000000"/>
                </a:solidFill>
                <a:latin typeface="Times New Roman"/>
                <a:ea typeface="Times New Roman"/>
                <a:cs typeface="Times New Roman"/>
              </a:rPr>
              <a:t>This is the practical advantage of designing from the </a:t>
            </a:r>
            <a:r>
              <a:rPr sz="1200" b="1" i="0" u="none">
                <a:solidFill>
                  <a:srgbClr val="000000"/>
                </a:solidFill>
                <a:latin typeface="Times New Roman"/>
                <a:ea typeface="Times New Roman"/>
                <a:cs typeface="Times New Roman"/>
              </a:rPr>
              <a:t>API outward</a:t>
            </a:r>
            <a:r>
              <a:rPr sz="1200" b="0" i="0" u="none">
                <a:solidFill>
                  <a:srgbClr val="000000"/>
                </a:solidFill>
                <a:latin typeface="Times New Roman"/>
                <a:ea typeface="Times New Roman"/>
                <a:cs typeface="Times New Roman"/>
              </a:rPr>
              <a:t> rather than from an abstract relational model inward.</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In document databases, schema design starts from </a:t>
            </a:r>
            <a:r>
              <a:rPr sz="1200" b="1" i="0" u="none">
                <a:solidFill>
                  <a:srgbClr val="000000"/>
                </a:solidFill>
                <a:latin typeface="Times New Roman"/>
                <a:ea typeface="Times New Roman"/>
                <a:cs typeface="Times New Roman"/>
              </a:rPr>
              <a:t>how the application will read the data</a:t>
            </a:r>
            <a:r>
              <a:rPr sz="1200" b="0" i="0" u="none">
                <a:solidFill>
                  <a:srgbClr val="000000"/>
                </a:solidFill>
                <a:latin typeface="Times New Roman"/>
                <a:ea typeface="Times New Roman"/>
                <a:cs typeface="Times New Roman"/>
              </a:rPr>
              <a:t>, especially what each API endpoint needs to return. The document should be structured so that common requests can be satisfied with </a:t>
            </a:r>
            <a:r>
              <a:rPr sz="1200" b="1" i="0" u="none">
                <a:solidFill>
                  <a:srgbClr val="000000"/>
                </a:solidFill>
                <a:latin typeface="Times New Roman"/>
                <a:ea typeface="Times New Roman"/>
                <a:cs typeface="Times New Roman"/>
              </a:rPr>
              <a:t>one efficient query</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the same data is needed by three different screens with different structures, how do you decide on one document schema?</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Design the schema primarily for the </a:t>
            </a:r>
            <a:r>
              <a:rPr sz="1200" b="1" i="0" u="none">
                <a:solidFill>
                  <a:srgbClr val="000000"/>
                </a:solidFill>
                <a:latin typeface="Times New Roman"/>
                <a:ea typeface="Times New Roman"/>
                <a:cs typeface="Times New Roman"/>
              </a:rPr>
              <a:t>most frequently accessed</a:t>
            </a:r>
            <a:r>
              <a:rPr sz="1200" b="0" i="0" u="none">
                <a:solidFill>
                  <a:srgbClr val="000000"/>
                </a:solidFill>
                <a:latin typeface="Times New Roman"/>
                <a:ea typeface="Times New Roman"/>
                <a:cs typeface="Times New Roman"/>
              </a:rPr>
              <a:t> screen or the </a:t>
            </a:r>
            <a:r>
              <a:rPr sz="1200" b="1" i="0" u="none">
                <a:solidFill>
                  <a:srgbClr val="000000"/>
                </a:solidFill>
                <a:latin typeface="Times New Roman"/>
                <a:ea typeface="Times New Roman"/>
                <a:cs typeface="Times New Roman"/>
              </a:rPr>
              <a:t>most performance-sensitive</a:t>
            </a:r>
            <a:r>
              <a:rPr sz="1200" b="0" i="0" u="none">
                <a:solidFill>
                  <a:srgbClr val="000000"/>
                </a:solidFill>
                <a:latin typeface="Times New Roman"/>
                <a:ea typeface="Times New Roman"/>
                <a:cs typeface="Times New Roman"/>
              </a:rPr>
              <a:t> endpoint. It is acceptable for less common screens to receive some extra fields they do not use, or for the backend to apply </a:t>
            </a:r>
            <a:r>
              <a:rPr sz="1200" b="1" i="0" u="none">
                <a:solidFill>
                  <a:srgbClr val="000000"/>
                </a:solidFill>
                <a:latin typeface="Times New Roman"/>
                <a:ea typeface="Times New Roman"/>
                <a:cs typeface="Times New Roman"/>
              </a:rPr>
              <a:t>projections</a:t>
            </a:r>
            <a:r>
              <a:rPr sz="1200" b="0" i="0" u="none">
                <a:solidFill>
                  <a:srgbClr val="000000"/>
                </a:solidFill>
                <a:latin typeface="Times New Roman"/>
                <a:ea typeface="Times New Roman"/>
                <a:cs typeface="Times New Roman"/>
              </a:rPr>
              <a:t> so that only the necessary fields are returned.</a:t>
            </a:r>
            <a:endParaRPr lang="en-US"/>
          </a:p>
        </p:txBody>
      </p:sp>
      <p:sp>
        <p:nvSpPr>
          <p:cNvPr id="1239635835" name="Slide Number Placeholder 3"/>
          <p:cNvSpPr>
            <a:spLocks noGrp="1"/>
          </p:cNvSpPr>
          <p:nvPr>
            <p:ph type="sldNum" sz="quarter" idx="10"/>
          </p:nvPr>
        </p:nvSpPr>
        <p:spPr bwMode="auto"/>
        <p:txBody>
          <a:bodyPr/>
          <a:lstStyle/>
          <a:p>
            <a:pPr>
              <a:defRPr/>
            </a:pPr>
            <a:fld id="{F7021451-1387-4CA6-816F-3879F97B5CBC}" type="slidenum">
              <a:rPr lang="en-US"/>
              <a:t>58</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2462638" name="Slide Image Placeholder 1"/>
          <p:cNvSpPr>
            <a:spLocks noChangeAspect="1" noGrp="1" noRot="1"/>
          </p:cNvSpPr>
          <p:nvPr>
            <p:ph type="sldImg"/>
          </p:nvPr>
        </p:nvSpPr>
        <p:spPr bwMode="auto"/>
      </p:sp>
      <p:sp>
        <p:nvSpPr>
          <p:cNvPr id="1877564320"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 fundamental concept in document database design is the idea of </a:t>
            </a:r>
            <a:r>
              <a:rPr sz="1200" b="1" i="0" u="none">
                <a:solidFill>
                  <a:srgbClr val="000000"/>
                </a:solidFill>
                <a:latin typeface="Times New Roman"/>
                <a:ea typeface="Times New Roman"/>
                <a:cs typeface="Times New Roman"/>
              </a:rPr>
              <a:t>access patterns</a:t>
            </a:r>
            <a:r>
              <a:rPr sz="1200" b="0" i="0" u="none">
                <a:solidFill>
                  <a:srgbClr val="000000"/>
                </a:solidFill>
                <a:latin typeface="Times New Roman"/>
                <a:ea typeface="Times New Roman"/>
                <a:cs typeface="Times New Roman"/>
              </a:rPr>
              <a:t>. An access pattern describes </a:t>
            </a:r>
            <a:r>
              <a:rPr sz="1200" b="1" i="0" u="none">
                <a:solidFill>
                  <a:srgbClr val="000000"/>
                </a:solidFill>
                <a:latin typeface="Times New Roman"/>
                <a:ea typeface="Times New Roman"/>
                <a:cs typeface="Times New Roman"/>
              </a:rPr>
              <a:t>how the application reads or writes data</a:t>
            </a:r>
            <a:r>
              <a:rPr sz="1200" b="0" i="0" u="none">
                <a:solidFill>
                  <a:srgbClr val="000000"/>
                </a:solidFill>
                <a:latin typeface="Times New Roman"/>
                <a:ea typeface="Times New Roman"/>
                <a:cs typeface="Times New Roman"/>
              </a:rPr>
              <a:t>, how frequently those operations occur, and which pieces of data are typically requested together.</a:t>
            </a:r>
            <a:endParaRPr/>
          </a:p>
          <a:p>
            <a:pPr>
              <a:defRPr/>
            </a:pPr>
            <a:r>
              <a:rPr sz="1200" b="0" i="0" u="none">
                <a:solidFill>
                  <a:srgbClr val="000000"/>
                </a:solidFill>
                <a:latin typeface="Times New Roman"/>
                <a:ea typeface="Times New Roman"/>
                <a:cs typeface="Times New Roman"/>
              </a:rPr>
              <a:t>Before designing a schema, developers should first analyze the application’s behavior by examining its API endpoints. For each endpoint, it is important to determine:</a:t>
            </a:r>
            <a:endParaRPr/>
          </a:p>
          <a:p>
            <a:pPr>
              <a:defRPr/>
            </a:pPr>
            <a:r>
              <a:rPr sz="1200" b="1" i="0" u="none">
                <a:solidFill>
                  <a:srgbClr val="000000"/>
                </a:solidFill>
                <a:latin typeface="Times New Roman"/>
                <a:ea typeface="Times New Roman"/>
                <a:cs typeface="Times New Roman"/>
              </a:rPr>
              <a:t>Which fields are requested together in the same API call</a:t>
            </a:r>
            <a:endParaRPr/>
          </a:p>
          <a:p>
            <a:pPr>
              <a:defRPr/>
            </a:pPr>
            <a:r>
              <a:rPr sz="1200" b="1" i="0" u="none">
                <a:solidFill>
                  <a:srgbClr val="000000"/>
                </a:solidFill>
                <a:latin typeface="Times New Roman"/>
                <a:ea typeface="Times New Roman"/>
                <a:cs typeface="Times New Roman"/>
              </a:rPr>
              <a:t>How often the request occurs</a:t>
            </a:r>
            <a:r>
              <a:rPr sz="1200" b="0" i="0" u="none">
                <a:solidFill>
                  <a:srgbClr val="000000"/>
                </a:solidFill>
                <a:latin typeface="Times New Roman"/>
                <a:ea typeface="Times New Roman"/>
                <a:cs typeface="Times New Roman"/>
              </a:rPr>
              <a:t> (for example, once per day versus thousands of times per second)</a:t>
            </a:r>
            <a:endParaRPr/>
          </a:p>
          <a:p>
            <a:pPr>
              <a:defRPr/>
            </a:pPr>
            <a:r>
              <a:rPr sz="1200" b="1" i="0" u="none">
                <a:solidFill>
                  <a:srgbClr val="000000"/>
                </a:solidFill>
                <a:latin typeface="Times New Roman"/>
                <a:ea typeface="Times New Roman"/>
                <a:cs typeface="Times New Roman"/>
              </a:rPr>
              <a:t>Whether the data is read more frequently than it is written</a:t>
            </a:r>
            <a:endParaRPr/>
          </a:p>
          <a:p>
            <a:pPr>
              <a:defRPr/>
            </a:pPr>
            <a:r>
              <a:rPr sz="1200" b="1" i="0" u="none">
                <a:solidFill>
                  <a:srgbClr val="000000"/>
                </a:solidFill>
                <a:latin typeface="Times New Roman"/>
                <a:ea typeface="Times New Roman"/>
                <a:cs typeface="Times New Roman"/>
              </a:rPr>
              <a:t>Whether updates affect the entire document or only specific fields</a:t>
            </a:r>
            <a:endParaRPr/>
          </a:p>
          <a:p>
            <a:pPr>
              <a:defRPr/>
            </a:pPr>
            <a:r>
              <a:rPr sz="1200" b="0" i="0" u="none">
                <a:solidFill>
                  <a:srgbClr val="000000"/>
                </a:solidFill>
                <a:latin typeface="Times New Roman"/>
                <a:ea typeface="Times New Roman"/>
                <a:cs typeface="Times New Roman"/>
              </a:rPr>
              <a:t>This analysis helps determine both the </a:t>
            </a:r>
            <a:r>
              <a:rPr sz="1200" b="1" i="0" u="none">
                <a:solidFill>
                  <a:srgbClr val="000000"/>
                </a:solidFill>
                <a:latin typeface="Times New Roman"/>
                <a:ea typeface="Times New Roman"/>
                <a:cs typeface="Times New Roman"/>
              </a:rPr>
              <a:t>structure of the documents</a:t>
            </a:r>
            <a:r>
              <a:rPr sz="1200" b="0" i="0" u="none">
                <a:solidFill>
                  <a:srgbClr val="000000"/>
                </a:solidFill>
                <a:latin typeface="Times New Roman"/>
                <a:ea typeface="Times New Roman"/>
                <a:cs typeface="Times New Roman"/>
              </a:rPr>
              <a:t> and the </a:t>
            </a:r>
            <a:r>
              <a:rPr sz="1200" b="1" i="0" u="none">
                <a:solidFill>
                  <a:srgbClr val="000000"/>
                </a:solidFill>
                <a:latin typeface="Times New Roman"/>
                <a:ea typeface="Times New Roman"/>
                <a:cs typeface="Times New Roman"/>
              </a:rPr>
              <a:t>indexes that should be created</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 core principle of document database design is:</a:t>
            </a:r>
            <a:endParaRPr/>
          </a:p>
          <a:p>
            <a:pPr>
              <a:defRPr/>
            </a:pPr>
            <a:r>
              <a:rPr sz="1200" b="1" i="0" u="none">
                <a:solidFill>
                  <a:srgbClr val="000000"/>
                </a:solidFill>
                <a:latin typeface="Times New Roman"/>
                <a:ea typeface="Times New Roman"/>
                <a:cs typeface="Times New Roman"/>
              </a:rPr>
              <a:t>Data that is read together frequently should be stored together.</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Conversely, data that is accessed independently or updated frequently may be better stored separately.</a:t>
            </a:r>
            <a:endParaRPr/>
          </a:p>
          <a:p>
            <a:pPr>
              <a:defRPr/>
            </a:pPr>
            <a:r>
              <a:rPr sz="1200" b="0" i="0" u="none">
                <a:solidFill>
                  <a:srgbClr val="000000"/>
                </a:solidFill>
                <a:latin typeface="Times New Roman"/>
                <a:ea typeface="Times New Roman"/>
                <a:cs typeface="Times New Roman"/>
              </a:rPr>
              <a:t>For example, if an API endpoint repeatedly retrieves a student's profile together with their enrolled courses, embedding the course information inside the student document may allow the system to answer the request with a single query. However, if certain fields—such as real-time activity logs—are updated many times per second, embedding them inside the main document could cause unnecessary write overhead.</a:t>
            </a:r>
            <a:endParaRPr/>
          </a:p>
          <a:p>
            <a:pPr>
              <a:defRPr/>
            </a:pPr>
            <a:r>
              <a:rPr sz="1200" b="0" i="0" u="none">
                <a:solidFill>
                  <a:srgbClr val="000000"/>
                </a:solidFill>
                <a:latin typeface="Times New Roman"/>
                <a:ea typeface="Times New Roman"/>
                <a:cs typeface="Times New Roman"/>
              </a:rPr>
              <a:t>Because of this, experienced engineers often begin database design by performing </a:t>
            </a:r>
            <a:r>
              <a:rPr sz="1200" b="1" i="0" u="none">
                <a:solidFill>
                  <a:srgbClr val="000000"/>
                </a:solidFill>
                <a:latin typeface="Times New Roman"/>
                <a:ea typeface="Times New Roman"/>
                <a:cs typeface="Times New Roman"/>
              </a:rPr>
              <a:t>access pattern mapping</a:t>
            </a:r>
            <a:r>
              <a:rPr sz="1200" b="0" i="0" u="none">
                <a:solidFill>
                  <a:srgbClr val="000000"/>
                </a:solidFill>
                <a:latin typeface="Times New Roman"/>
                <a:ea typeface="Times New Roman"/>
                <a:cs typeface="Times New Roman"/>
              </a:rPr>
              <a:t>. This process involves documenting all expected queries and API endpoints before any database schema is implemented. In some cases, the results of this analysis even determine </a:t>
            </a:r>
            <a:r>
              <a:rPr sz="1200" b="1" i="0" u="none">
                <a:solidFill>
                  <a:srgbClr val="000000"/>
                </a:solidFill>
                <a:latin typeface="Times New Roman"/>
                <a:ea typeface="Times New Roman"/>
                <a:cs typeface="Times New Roman"/>
              </a:rPr>
              <a:t>which type of database technology should be used</a:t>
            </a:r>
            <a:r>
              <a:rPr sz="1200" b="0" i="0" u="none">
                <a:solidFill>
                  <a:srgbClr val="000000"/>
                </a:solidFill>
                <a:latin typeface="Times New Roman"/>
                <a:ea typeface="Times New Roman"/>
                <a:cs typeface="Times New Roman"/>
              </a:rPr>
              <a:t>, such as a document database, a relational database, or a hybrid architecture.</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A company such as </a:t>
            </a:r>
            <a:r>
              <a:rPr sz="1200" b="1" i="0" u="none">
                <a:solidFill>
                  <a:srgbClr val="000000"/>
                </a:solidFill>
                <a:latin typeface="Times New Roman"/>
                <a:ea typeface="Times New Roman"/>
                <a:cs typeface="Times New Roman"/>
              </a:rPr>
              <a:t>Netflix</a:t>
            </a:r>
            <a:r>
              <a:rPr sz="1200" b="0" i="0" u="none">
                <a:solidFill>
                  <a:srgbClr val="000000"/>
                </a:solidFill>
                <a:latin typeface="Times New Roman"/>
                <a:ea typeface="Times New Roman"/>
                <a:cs typeface="Times New Roman"/>
              </a:rPr>
              <a:t> carefully analyzes access patterns when designing data storage for its streaming platform.</a:t>
            </a:r>
            <a:endParaRPr/>
          </a:p>
          <a:p>
            <a:pPr>
              <a:defRPr/>
            </a:pPr>
            <a:r>
              <a:rPr sz="1200" b="0" i="0" u="none">
                <a:solidFill>
                  <a:srgbClr val="000000"/>
                </a:solidFill>
                <a:latin typeface="Times New Roman"/>
                <a:ea typeface="Times New Roman"/>
                <a:cs typeface="Times New Roman"/>
              </a:rPr>
              <a:t>For example, when a user opens the Netflix homepage, the system must quickly retrieve:</a:t>
            </a:r>
            <a:endParaRPr/>
          </a:p>
          <a:p>
            <a:pPr>
              <a:defRPr/>
            </a:pPr>
            <a:r>
              <a:rPr sz="1200" b="0" i="0" u="none">
                <a:solidFill>
                  <a:srgbClr val="000000"/>
                </a:solidFill>
                <a:latin typeface="Times New Roman"/>
                <a:ea typeface="Times New Roman"/>
                <a:cs typeface="Times New Roman"/>
              </a:rPr>
              <a:t>recommended movies</a:t>
            </a:r>
            <a:endParaRPr/>
          </a:p>
          <a:p>
            <a:pPr>
              <a:defRPr/>
            </a:pPr>
            <a:r>
              <a:rPr sz="1200" b="0" i="0" u="none">
                <a:solidFill>
                  <a:srgbClr val="000000"/>
                </a:solidFill>
                <a:latin typeface="Times New Roman"/>
                <a:ea typeface="Times New Roman"/>
                <a:cs typeface="Times New Roman"/>
              </a:rPr>
              <a:t>recently watched titles</a:t>
            </a:r>
            <a:endParaRPr/>
          </a:p>
          <a:p>
            <a:pPr>
              <a:defRPr/>
            </a:pPr>
            <a:r>
              <a:rPr sz="1200" b="0" i="0" u="none">
                <a:solidFill>
                  <a:srgbClr val="000000"/>
                </a:solidFill>
                <a:latin typeface="Times New Roman"/>
                <a:ea typeface="Times New Roman"/>
                <a:cs typeface="Times New Roman"/>
              </a:rPr>
              <a:t>personalized categories</a:t>
            </a:r>
            <a:endParaRPr/>
          </a:p>
          <a:p>
            <a:pPr>
              <a:defRPr/>
            </a:pPr>
            <a:r>
              <a:rPr sz="1200" b="0" i="0" u="none">
                <a:solidFill>
                  <a:srgbClr val="000000"/>
                </a:solidFill>
                <a:latin typeface="Times New Roman"/>
                <a:ea typeface="Times New Roman"/>
                <a:cs typeface="Times New Roman"/>
              </a:rPr>
              <a:t>preview images</a:t>
            </a:r>
            <a:endParaRPr/>
          </a:p>
          <a:p>
            <a:pPr>
              <a:defRPr/>
            </a:pPr>
            <a:r>
              <a:rPr sz="1200" b="0" i="0" u="none">
                <a:solidFill>
                  <a:srgbClr val="000000"/>
                </a:solidFill>
                <a:latin typeface="Times New Roman"/>
                <a:ea typeface="Times New Roman"/>
                <a:cs typeface="Times New Roman"/>
              </a:rPr>
              <a:t>Because this information must be fetched extremely quickly and is requested </a:t>
            </a:r>
            <a:r>
              <a:rPr sz="1200" b="1" i="0" u="none">
                <a:solidFill>
                  <a:srgbClr val="000000"/>
                </a:solidFill>
                <a:latin typeface="Times New Roman"/>
                <a:ea typeface="Times New Roman"/>
                <a:cs typeface="Times New Roman"/>
              </a:rPr>
              <a:t>millions of times per minute</a:t>
            </a:r>
            <a:r>
              <a:rPr sz="1200" b="0" i="0" u="none">
                <a:solidFill>
                  <a:srgbClr val="000000"/>
                </a:solidFill>
                <a:latin typeface="Times New Roman"/>
                <a:ea typeface="Times New Roman"/>
                <a:cs typeface="Times New Roman"/>
              </a:rPr>
              <a:t>, the data structures are designed around these access patterns. Information frequently requested together is stored in ways that allow the system to retrieve it efficiently, often with minimal database queries.</a:t>
            </a:r>
            <a:endParaRPr/>
          </a:p>
          <a:p>
            <a:pPr>
              <a:defRPr/>
            </a:pPr>
            <a:r>
              <a:rPr sz="1200" b="0" i="0" u="none">
                <a:solidFill>
                  <a:srgbClr val="000000"/>
                </a:solidFill>
                <a:latin typeface="Times New Roman"/>
                <a:ea typeface="Times New Roman"/>
                <a:cs typeface="Times New Roman"/>
              </a:rPr>
              <a:t>This approach ensures that Netflix can serve personalized recommendations with very low latency even under enormous traffic.</a:t>
            </a:r>
            <a:endParaRPr/>
          </a:p>
          <a:p>
            <a:pPr>
              <a:defRPr/>
            </a:pPr>
            <a:r>
              <a:rPr sz="1400" b="1" i="0" u="none">
                <a:solidFill>
                  <a:srgbClr val="000000"/>
                </a:solidFill>
                <a:latin typeface="Times New Roman"/>
                <a:ea typeface="Times New Roman"/>
                <a:cs typeface="Times New Roman"/>
              </a:rPr>
              <a:t>Key Takeaway</a:t>
            </a:r>
            <a:endParaRPr/>
          </a:p>
          <a:p>
            <a:pPr>
              <a:defRPr/>
            </a:pPr>
            <a:r>
              <a:rPr sz="1200" b="1" i="0" u="none">
                <a:solidFill>
                  <a:srgbClr val="000000"/>
                </a:solidFill>
                <a:latin typeface="Times New Roman"/>
                <a:ea typeface="Times New Roman"/>
                <a:cs typeface="Times New Roman"/>
              </a:rPr>
              <a:t>Access patterns define how an application interacts with its data</a:t>
            </a:r>
            <a:r>
              <a:rPr sz="1200" b="0" i="0" u="none">
                <a:solidFill>
                  <a:srgbClr val="000000"/>
                </a:solidFill>
                <a:latin typeface="Times New Roman"/>
                <a:ea typeface="Times New Roman"/>
                <a:cs typeface="Times New Roman"/>
              </a:rPr>
              <a:t>, and they should guide both schema design and indexing decisions. Understanding what queries occur most frequently allows developers to structure documents so that the most important operations are efficient.</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is understanding </a:t>
            </a:r>
            <a:r>
              <a:rPr sz="1200" b="1" i="0" u="none">
                <a:solidFill>
                  <a:srgbClr val="000000"/>
                </a:solidFill>
                <a:latin typeface="Times New Roman"/>
                <a:ea typeface="Times New Roman"/>
                <a:cs typeface="Times New Roman"/>
              </a:rPr>
              <a:t>write frequency</a:t>
            </a:r>
            <a:r>
              <a:rPr sz="1200" b="0" i="0" u="none">
                <a:solidFill>
                  <a:srgbClr val="000000"/>
                </a:solidFill>
                <a:latin typeface="Times New Roman"/>
                <a:ea typeface="Times New Roman"/>
                <a:cs typeface="Times New Roman"/>
              </a:rPr>
              <a:t> important for schema design?</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If a field is updated very frequently but read only occasionally, embedding it inside a larger document may be inefficient. Every update would require rewriting the entire parent document. Storing the frequently updated data in a separate document or collection can reduce write overhead and improve overall system performance.</a:t>
            </a:r>
            <a:endParaRPr lang="en-US"/>
          </a:p>
        </p:txBody>
      </p:sp>
      <p:sp>
        <p:nvSpPr>
          <p:cNvPr id="833517739" name="Slide Number Placeholder 3"/>
          <p:cNvSpPr>
            <a:spLocks noGrp="1"/>
          </p:cNvSpPr>
          <p:nvPr>
            <p:ph type="sldNum" sz="quarter" idx="10"/>
          </p:nvPr>
        </p:nvSpPr>
        <p:spPr bwMode="auto"/>
        <p:txBody>
          <a:bodyPr/>
          <a:lstStyle/>
          <a:p>
            <a:pPr>
              <a:defRPr/>
            </a:pPr>
            <a:fld id="{F7021451-1387-4CA6-816F-3879F97B5CBC}" type="slidenum">
              <a:rPr lang="en-US"/>
              <a:t>59</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9105475" name="Slide Image Placeholder 1"/>
          <p:cNvSpPr>
            <a:spLocks noChangeAspect="1" noGrp="1" noRot="1"/>
          </p:cNvSpPr>
          <p:nvPr>
            <p:ph type="sldImg"/>
          </p:nvPr>
        </p:nvSpPr>
        <p:spPr bwMode="auto"/>
      </p:sp>
      <p:sp>
        <p:nvSpPr>
          <p:cNvPr id="96617370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When designing schemas for document databases, one of the most important architectural decisions is choosing between </a:t>
            </a:r>
            <a:r>
              <a:rPr sz="1200" b="1" i="0" u="none">
                <a:solidFill>
                  <a:srgbClr val="000000"/>
                </a:solidFill>
                <a:latin typeface="Times New Roman"/>
                <a:ea typeface="Times New Roman"/>
                <a:cs typeface="Times New Roman"/>
              </a:rPr>
              <a:t>embedding</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referencing</a:t>
            </a:r>
            <a:r>
              <a:rPr sz="1200" b="0" i="0" u="none">
                <a:solidFill>
                  <a:srgbClr val="000000"/>
                </a:solidFill>
                <a:latin typeface="Times New Roman"/>
                <a:ea typeface="Times New Roman"/>
                <a:cs typeface="Times New Roman"/>
              </a:rPr>
              <a:t>. These two patterns determine how related data is stored and retrieved, and the correct choice depends entirely on the </a:t>
            </a:r>
            <a:r>
              <a:rPr sz="1200" b="1" i="0" u="none">
                <a:solidFill>
                  <a:srgbClr val="000000"/>
                </a:solidFill>
                <a:latin typeface="Times New Roman"/>
                <a:ea typeface="Times New Roman"/>
                <a:cs typeface="Times New Roman"/>
              </a:rPr>
              <a:t>access patterns of the application</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Embedding</a:t>
            </a:r>
            <a:endParaRPr/>
          </a:p>
          <a:p>
            <a:pPr>
              <a:defRPr/>
            </a:pPr>
            <a:r>
              <a:rPr sz="1200" b="0" i="0" u="none">
                <a:solidFill>
                  <a:srgbClr val="000000"/>
                </a:solidFill>
                <a:latin typeface="Times New Roman"/>
                <a:ea typeface="Times New Roman"/>
                <a:cs typeface="Times New Roman"/>
              </a:rPr>
              <a:t>In the </a:t>
            </a:r>
            <a:r>
              <a:rPr sz="1200" b="1" i="0" u="none">
                <a:solidFill>
                  <a:srgbClr val="000000"/>
                </a:solidFill>
                <a:latin typeface="Times New Roman"/>
                <a:ea typeface="Times New Roman"/>
                <a:cs typeface="Times New Roman"/>
              </a:rPr>
              <a:t>embedding</a:t>
            </a:r>
            <a:r>
              <a:rPr sz="1200" b="0" i="0" u="none">
                <a:solidFill>
                  <a:srgbClr val="000000"/>
                </a:solidFill>
                <a:latin typeface="Times New Roman"/>
                <a:ea typeface="Times New Roman"/>
                <a:cs typeface="Times New Roman"/>
              </a:rPr>
              <a:t> approach, related data is stored </a:t>
            </a:r>
            <a:r>
              <a:rPr sz="1200" b="1" i="0" u="none">
                <a:solidFill>
                  <a:srgbClr val="000000"/>
                </a:solidFill>
                <a:latin typeface="Times New Roman"/>
                <a:ea typeface="Times New Roman"/>
                <a:cs typeface="Times New Roman"/>
              </a:rPr>
              <a:t>directly inside the parent document</a:t>
            </a:r>
            <a:r>
              <a:rPr sz="1200" b="0" i="0" u="none">
                <a:solidFill>
                  <a:srgbClr val="000000"/>
                </a:solidFill>
                <a:latin typeface="Times New Roman"/>
                <a:ea typeface="Times New Roman"/>
                <a:cs typeface="Times New Roman"/>
              </a:rPr>
              <a:t>. This means that a single database query can return the entire structure needed by the application.</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
  "order_id": 5421,
  "customer": "Maria Papadopoulou",
  "items": [
    { "product": "Laptop", "price": 1200 },
    { "product": "Mouse", "price": 25 }
  ]
}
</a:t>
            </a:r>
            <a:endParaRPr/>
          </a:p>
          <a:p>
            <a:pPr>
              <a:defRPr/>
            </a:pPr>
            <a:r>
              <a:rPr sz="1200" b="0" i="0" u="none">
                <a:solidFill>
                  <a:srgbClr val="000000"/>
                </a:solidFill>
                <a:latin typeface="Times New Roman"/>
                <a:ea typeface="Times New Roman"/>
                <a:cs typeface="Times New Roman"/>
              </a:rPr>
              <a:t>Here, the products purchased in the order are embedded inside the order document.</a:t>
            </a:r>
            <a:endParaRPr/>
          </a:p>
          <a:p>
            <a:pPr>
              <a:defRPr/>
            </a:pPr>
            <a:r>
              <a:rPr sz="1200" b="0" i="0" u="none">
                <a:solidFill>
                  <a:srgbClr val="000000"/>
                </a:solidFill>
                <a:latin typeface="Times New Roman"/>
                <a:ea typeface="Times New Roman"/>
                <a:cs typeface="Times New Roman"/>
              </a:rPr>
              <a:t>Embedding is most appropriate when:</a:t>
            </a:r>
            <a:endParaRPr/>
          </a:p>
          <a:p>
            <a:pPr>
              <a:defRPr/>
            </a:pPr>
            <a:r>
              <a:rPr sz="1200" b="0" i="0" u="none">
                <a:solidFill>
                  <a:srgbClr val="000000"/>
                </a:solidFill>
                <a:latin typeface="Times New Roman"/>
                <a:ea typeface="Times New Roman"/>
                <a:cs typeface="Times New Roman"/>
              </a:rPr>
              <a:t>the data </a:t>
            </a:r>
            <a:r>
              <a:rPr sz="1200" b="1" i="0" u="none">
                <a:solidFill>
                  <a:srgbClr val="000000"/>
                </a:solidFill>
                <a:latin typeface="Times New Roman"/>
                <a:ea typeface="Times New Roman"/>
                <a:cs typeface="Times New Roman"/>
              </a:rPr>
              <a:t>belongs to a single parent entity</a:t>
            </a:r>
            <a:endParaRPr/>
          </a:p>
          <a:p>
            <a:pPr>
              <a:defRPr/>
            </a:pPr>
            <a:r>
              <a:rPr sz="1200" b="0" i="0" u="none">
                <a:solidFill>
                  <a:srgbClr val="000000"/>
                </a:solidFill>
                <a:latin typeface="Times New Roman"/>
                <a:ea typeface="Times New Roman"/>
                <a:cs typeface="Times New Roman"/>
              </a:rPr>
              <a:t>the data is </a:t>
            </a:r>
            <a:r>
              <a:rPr sz="1200" b="1" i="0" u="none">
                <a:solidFill>
                  <a:srgbClr val="000000"/>
                </a:solidFill>
                <a:latin typeface="Times New Roman"/>
                <a:ea typeface="Times New Roman"/>
                <a:cs typeface="Times New Roman"/>
              </a:rPr>
              <a:t>always read together with the parent</a:t>
            </a:r>
            <a:endParaRPr/>
          </a:p>
          <a:p>
            <a:pPr>
              <a:defRPr/>
            </a:pPr>
            <a:r>
              <a:rPr sz="1200" b="0" i="0" u="none">
                <a:solidFill>
                  <a:srgbClr val="000000"/>
                </a:solidFill>
                <a:latin typeface="Times New Roman"/>
                <a:ea typeface="Times New Roman"/>
                <a:cs typeface="Times New Roman"/>
              </a:rPr>
              <a:t>the size of the embedded data </a:t>
            </a:r>
            <a:r>
              <a:rPr sz="1200" b="1" i="0" u="none">
                <a:solidFill>
                  <a:srgbClr val="000000"/>
                </a:solidFill>
                <a:latin typeface="Times New Roman"/>
                <a:ea typeface="Times New Roman"/>
                <a:cs typeface="Times New Roman"/>
              </a:rPr>
              <a:t>remains reasonably bounded</a:t>
            </a:r>
            <a:endParaRPr/>
          </a:p>
          <a:p>
            <a:pPr>
              <a:defRPr/>
            </a:pPr>
            <a:r>
              <a:rPr sz="1200" b="0" i="0" u="none">
                <a:solidFill>
                  <a:srgbClr val="000000"/>
                </a:solidFill>
                <a:latin typeface="Times New Roman"/>
                <a:ea typeface="Times New Roman"/>
                <a:cs typeface="Times New Roman"/>
              </a:rPr>
              <a:t>The primary advantage of embedding is </a:t>
            </a:r>
            <a:r>
              <a:rPr sz="1200" b="1" i="0" u="none">
                <a:solidFill>
                  <a:srgbClr val="000000"/>
                </a:solidFill>
                <a:latin typeface="Times New Roman"/>
                <a:ea typeface="Times New Roman"/>
                <a:cs typeface="Times New Roman"/>
              </a:rPr>
              <a:t>read performance</a:t>
            </a:r>
            <a:r>
              <a:rPr sz="1200" b="0" i="0" u="none">
                <a:solidFill>
                  <a:srgbClr val="000000"/>
                </a:solidFill>
                <a:latin typeface="Times New Roman"/>
                <a:ea typeface="Times New Roman"/>
                <a:cs typeface="Times New Roman"/>
              </a:rPr>
              <a:t>. Since all required information is stored together, the database can retrieve the entire structure in a </a:t>
            </a:r>
            <a:r>
              <a:rPr sz="1200" b="1" i="0" u="none">
                <a:solidFill>
                  <a:srgbClr val="000000"/>
                </a:solidFill>
                <a:latin typeface="Times New Roman"/>
                <a:ea typeface="Times New Roman"/>
                <a:cs typeface="Times New Roman"/>
              </a:rPr>
              <a:t>single query</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However, embedding also introduces tight coupling between parent and child data. Updating an embedded element may require rewriting the entire parent document.</a:t>
            </a:r>
            <a:endParaRPr/>
          </a:p>
          <a:p>
            <a:pPr>
              <a:defRPr/>
            </a:pPr>
            <a:r>
              <a:rPr sz="1400" b="1" i="0" u="none">
                <a:solidFill>
                  <a:srgbClr val="000000"/>
                </a:solidFill>
                <a:latin typeface="Times New Roman"/>
                <a:ea typeface="Times New Roman"/>
                <a:cs typeface="Times New Roman"/>
              </a:rPr>
              <a:t>Referencing</a:t>
            </a:r>
            <a:endParaRPr/>
          </a:p>
          <a:p>
            <a:pPr>
              <a:defRPr/>
            </a:pPr>
            <a:r>
              <a:rPr sz="1200" b="0" i="0" u="none">
                <a:solidFill>
                  <a:srgbClr val="000000"/>
                </a:solidFill>
                <a:latin typeface="Times New Roman"/>
                <a:ea typeface="Times New Roman"/>
                <a:cs typeface="Times New Roman"/>
              </a:rPr>
              <a:t>In the </a:t>
            </a:r>
            <a:r>
              <a:rPr sz="1200" b="1" i="0" u="none">
                <a:solidFill>
                  <a:srgbClr val="000000"/>
                </a:solidFill>
                <a:latin typeface="Times New Roman"/>
                <a:ea typeface="Times New Roman"/>
                <a:cs typeface="Times New Roman"/>
              </a:rPr>
              <a:t>referencing</a:t>
            </a:r>
            <a:r>
              <a:rPr sz="1200" b="0" i="0" u="none">
                <a:solidFill>
                  <a:srgbClr val="000000"/>
                </a:solidFill>
                <a:latin typeface="Times New Roman"/>
                <a:ea typeface="Times New Roman"/>
                <a:cs typeface="Times New Roman"/>
              </a:rPr>
              <a:t> approach, the parent document stores only the </a:t>
            </a:r>
            <a:r>
              <a:rPr sz="1200" b="1" i="0" u="none">
                <a:solidFill>
                  <a:srgbClr val="000000"/>
                </a:solidFill>
                <a:latin typeface="Times New Roman"/>
                <a:ea typeface="Times New Roman"/>
                <a:cs typeface="Times New Roman"/>
              </a:rPr>
              <a:t>identifier of another document</a:t>
            </a:r>
            <a:r>
              <a:rPr sz="1200" b="0" i="0" u="none">
                <a:solidFill>
                  <a:srgbClr val="000000"/>
                </a:solidFill>
                <a:latin typeface="Times New Roman"/>
                <a:ea typeface="Times New Roman"/>
                <a:cs typeface="Times New Roman"/>
              </a:rPr>
              <a:t>, which resides in a different collection.</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Order document
{
  "order_id": 5421,
  "customer": "Maria Papadopoulou",
  "product_ids": [101, 204]
}
</a:t>
            </a:r>
            <a:r>
              <a:rPr sz="1000" b="0" i="0" u="none">
                <a:solidFill>
                  <a:srgbClr val="000000"/>
                </a:solidFill>
                <a:latin typeface="Courier New"/>
                <a:ea typeface="Courier New"/>
                <a:cs typeface="Courier New"/>
              </a:rPr>
              <a:t>Product document
{
  "product_id": 101,
  "name": "Laptop",
  "price": 1200
}
</a:t>
            </a:r>
            <a:endParaRPr/>
          </a:p>
          <a:p>
            <a:pPr>
              <a:defRPr/>
            </a:pPr>
            <a:r>
              <a:rPr sz="1200" b="0" i="0" u="none">
                <a:solidFill>
                  <a:srgbClr val="000000"/>
                </a:solidFill>
                <a:latin typeface="Times New Roman"/>
                <a:ea typeface="Times New Roman"/>
                <a:cs typeface="Times New Roman"/>
              </a:rPr>
              <a:t>To reconstruct the full information, the application must retrieve the related documents either through </a:t>
            </a:r>
            <a:r>
              <a:rPr sz="1200" b="1" i="0" u="none">
                <a:solidFill>
                  <a:srgbClr val="000000"/>
                </a:solidFill>
                <a:latin typeface="Times New Roman"/>
                <a:ea typeface="Times New Roman"/>
                <a:cs typeface="Times New Roman"/>
              </a:rPr>
              <a:t>multiple queries</a:t>
            </a:r>
            <a:r>
              <a:rPr sz="1200" b="0" i="0" u="none">
                <a:solidFill>
                  <a:srgbClr val="000000"/>
                </a:solidFill>
                <a:latin typeface="Times New Roman"/>
                <a:ea typeface="Times New Roman"/>
                <a:cs typeface="Times New Roman"/>
              </a:rPr>
              <a:t> or using database mechanisms such as </a:t>
            </a:r>
            <a:r>
              <a:rPr sz="1000" b="0" i="0" u="none">
                <a:solidFill>
                  <a:srgbClr val="000000"/>
                </a:solidFill>
                <a:latin typeface="Courier New"/>
                <a:ea typeface="Courier New"/>
                <a:cs typeface="Courier New"/>
              </a:rPr>
              <a:t>$lookup</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Referencing is appropriate when:</a:t>
            </a:r>
            <a:endParaRPr/>
          </a:p>
          <a:p>
            <a:pPr>
              <a:defRPr/>
            </a:pPr>
            <a:r>
              <a:rPr sz="1200" b="0" i="0" u="none">
                <a:solidFill>
                  <a:srgbClr val="000000"/>
                </a:solidFill>
                <a:latin typeface="Times New Roman"/>
                <a:ea typeface="Times New Roman"/>
                <a:cs typeface="Times New Roman"/>
              </a:rPr>
              <a:t>the data is </a:t>
            </a:r>
            <a:r>
              <a:rPr sz="1200" b="1" i="0" u="none">
                <a:solidFill>
                  <a:srgbClr val="000000"/>
                </a:solidFill>
                <a:latin typeface="Times New Roman"/>
                <a:ea typeface="Times New Roman"/>
                <a:cs typeface="Times New Roman"/>
              </a:rPr>
              <a:t>shared by many parent documents</a:t>
            </a:r>
            <a:endParaRPr/>
          </a:p>
          <a:p>
            <a:pPr>
              <a:defRPr/>
            </a:pPr>
            <a:r>
              <a:rPr sz="1200" b="0" i="0" u="none">
                <a:solidFill>
                  <a:srgbClr val="000000"/>
                </a:solidFill>
                <a:latin typeface="Times New Roman"/>
                <a:ea typeface="Times New Roman"/>
                <a:cs typeface="Times New Roman"/>
              </a:rPr>
              <a:t>the data is </a:t>
            </a:r>
            <a:r>
              <a:rPr sz="1200" b="1" i="0" u="none">
                <a:solidFill>
                  <a:srgbClr val="000000"/>
                </a:solidFill>
                <a:latin typeface="Times New Roman"/>
                <a:ea typeface="Times New Roman"/>
                <a:cs typeface="Times New Roman"/>
              </a:rPr>
              <a:t>updated frequently</a:t>
            </a:r>
            <a:endParaRPr/>
          </a:p>
          <a:p>
            <a:pPr>
              <a:defRPr/>
            </a:pPr>
            <a:r>
              <a:rPr sz="1200" b="0" i="0" u="none">
                <a:solidFill>
                  <a:srgbClr val="000000"/>
                </a:solidFill>
                <a:latin typeface="Times New Roman"/>
                <a:ea typeface="Times New Roman"/>
                <a:cs typeface="Times New Roman"/>
              </a:rPr>
              <a:t>the embedded data could </a:t>
            </a:r>
            <a:r>
              <a:rPr sz="1200" b="1" i="0" u="none">
                <a:solidFill>
                  <a:srgbClr val="000000"/>
                </a:solidFill>
                <a:latin typeface="Times New Roman"/>
                <a:ea typeface="Times New Roman"/>
                <a:cs typeface="Times New Roman"/>
              </a:rPr>
              <a:t>grow without limit</a:t>
            </a:r>
            <a:endParaRPr/>
          </a:p>
          <a:p>
            <a:pPr>
              <a:defRPr/>
            </a:pPr>
            <a:r>
              <a:rPr sz="1200" b="0" i="0" u="none">
                <a:solidFill>
                  <a:srgbClr val="000000"/>
                </a:solidFill>
                <a:latin typeface="Times New Roman"/>
                <a:ea typeface="Times New Roman"/>
                <a:cs typeface="Times New Roman"/>
              </a:rPr>
              <a:t>The advantage of referencing is </a:t>
            </a:r>
            <a:r>
              <a:rPr sz="1200" b="1" i="0" u="none">
                <a:solidFill>
                  <a:srgbClr val="000000"/>
                </a:solidFill>
                <a:latin typeface="Times New Roman"/>
                <a:ea typeface="Times New Roman"/>
                <a:cs typeface="Times New Roman"/>
              </a:rPr>
              <a:t>flexibility</a:t>
            </a:r>
            <a:r>
              <a:rPr sz="1200" b="0" i="0" u="none">
                <a:solidFill>
                  <a:srgbClr val="000000"/>
                </a:solidFill>
                <a:latin typeface="Times New Roman"/>
                <a:ea typeface="Times New Roman"/>
                <a:cs typeface="Times New Roman"/>
              </a:rPr>
              <a:t>. Changes to the referenced document do not require modifying every parent document that refers to it.</a:t>
            </a:r>
            <a:endParaRPr/>
          </a:p>
          <a:p>
            <a:pPr>
              <a:defRPr/>
            </a:pPr>
            <a:r>
              <a:rPr sz="1400" b="1" i="0" u="none">
                <a:solidFill>
                  <a:srgbClr val="000000"/>
                </a:solidFill>
                <a:latin typeface="Times New Roman"/>
                <a:ea typeface="Times New Roman"/>
                <a:cs typeface="Times New Roman"/>
              </a:rPr>
              <a:t>Design Guideline</a:t>
            </a:r>
            <a:endParaRPr/>
          </a:p>
          <a:p>
            <a:pPr>
              <a:defRPr/>
            </a:pPr>
            <a:r>
              <a:rPr sz="1200" b="0" i="0" u="none">
                <a:solidFill>
                  <a:srgbClr val="000000"/>
                </a:solidFill>
                <a:latin typeface="Times New Roman"/>
                <a:ea typeface="Times New Roman"/>
                <a:cs typeface="Times New Roman"/>
              </a:rPr>
              <a:t>In most document-database projects, engineers follow a practical rule:</a:t>
            </a:r>
            <a:endParaRPr/>
          </a:p>
          <a:p>
            <a:pPr>
              <a:defRPr/>
            </a:pPr>
            <a:r>
              <a:rPr sz="1200" b="1" i="0" u="none">
                <a:solidFill>
                  <a:srgbClr val="000000"/>
                </a:solidFill>
                <a:latin typeface="Times New Roman"/>
                <a:ea typeface="Times New Roman"/>
                <a:cs typeface="Times New Roman"/>
              </a:rPr>
              <a:t>Start with embedding by default.</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Move to referencing only when there is a clear reason, such as:</a:t>
            </a:r>
            <a:endParaRPr/>
          </a:p>
          <a:p>
            <a:pPr>
              <a:defRPr/>
            </a:pPr>
            <a:r>
              <a:rPr sz="1200" b="0" i="0" u="none">
                <a:solidFill>
                  <a:srgbClr val="000000"/>
                </a:solidFill>
                <a:latin typeface="Times New Roman"/>
                <a:ea typeface="Times New Roman"/>
                <a:cs typeface="Times New Roman"/>
              </a:rPr>
              <a:t>unbounded growth of embedded arrays</a:t>
            </a:r>
            <a:endParaRPr/>
          </a:p>
          <a:p>
            <a:pPr>
              <a:defRPr/>
            </a:pPr>
            <a:r>
              <a:rPr sz="1200" b="0" i="0" u="none">
                <a:solidFill>
                  <a:srgbClr val="000000"/>
                </a:solidFill>
                <a:latin typeface="Times New Roman"/>
                <a:ea typeface="Times New Roman"/>
                <a:cs typeface="Times New Roman"/>
              </a:rPr>
              <a:t>frequent updates to the embedded data</a:t>
            </a:r>
            <a:endParaRPr/>
          </a:p>
          <a:p>
            <a:pPr>
              <a:defRPr/>
            </a:pPr>
            <a:r>
              <a:rPr sz="1200" b="0" i="0" u="none">
                <a:solidFill>
                  <a:srgbClr val="000000"/>
                </a:solidFill>
                <a:latin typeface="Times New Roman"/>
                <a:ea typeface="Times New Roman"/>
                <a:cs typeface="Times New Roman"/>
              </a:rPr>
              <a:t>shared data referenced by many parents</a:t>
            </a:r>
            <a:endParaRPr/>
          </a:p>
          <a:p>
            <a:pPr>
              <a:defRPr/>
            </a:pPr>
            <a:r>
              <a:rPr sz="1200" b="0" i="0" u="none">
                <a:solidFill>
                  <a:srgbClr val="000000"/>
                </a:solidFill>
                <a:latin typeface="Times New Roman"/>
                <a:ea typeface="Times New Roman"/>
                <a:cs typeface="Times New Roman"/>
              </a:rPr>
              <a:t>This strategy preserves the primary advantage of document databases: </a:t>
            </a:r>
            <a:r>
              <a:rPr sz="1200" b="1" i="0" u="none">
                <a:solidFill>
                  <a:srgbClr val="000000"/>
                </a:solidFill>
                <a:latin typeface="Times New Roman"/>
                <a:ea typeface="Times New Roman"/>
                <a:cs typeface="Times New Roman"/>
              </a:rPr>
              <a:t>retrieving application-ready data with minimal queries</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Large e-commerce systems such as </a:t>
            </a:r>
            <a:r>
              <a:rPr sz="1200" b="1" i="0" u="none">
                <a:solidFill>
                  <a:srgbClr val="000000"/>
                </a:solidFill>
                <a:latin typeface="Times New Roman"/>
                <a:ea typeface="Times New Roman"/>
                <a:cs typeface="Times New Roman"/>
              </a:rPr>
              <a:t>Amazon</a:t>
            </a:r>
            <a:r>
              <a:rPr sz="1200" b="0" i="0" u="none">
                <a:solidFill>
                  <a:srgbClr val="000000"/>
                </a:solidFill>
                <a:latin typeface="Times New Roman"/>
                <a:ea typeface="Times New Roman"/>
                <a:cs typeface="Times New Roman"/>
              </a:rPr>
              <a:t> often embed product details directly inside </a:t>
            </a:r>
            <a:r>
              <a:rPr sz="1200" b="1" i="0" u="none">
                <a:solidFill>
                  <a:srgbClr val="000000"/>
                </a:solidFill>
                <a:latin typeface="Times New Roman"/>
                <a:ea typeface="Times New Roman"/>
                <a:cs typeface="Times New Roman"/>
              </a:rPr>
              <a:t>order documents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When a customer places an order, the order record typically includes:</a:t>
            </a:r>
            <a:endParaRPr/>
          </a:p>
          <a:p>
            <a:pPr>
              <a:defRPr/>
            </a:pPr>
            <a:r>
              <a:rPr sz="1200" b="0" i="0" u="none">
                <a:solidFill>
                  <a:srgbClr val="000000"/>
                </a:solidFill>
                <a:latin typeface="Times New Roman"/>
                <a:ea typeface="Times New Roman"/>
                <a:cs typeface="Times New Roman"/>
              </a:rPr>
              <a:t>product name</a:t>
            </a:r>
            <a:endParaRPr/>
          </a:p>
          <a:p>
            <a:pPr>
              <a:defRPr/>
            </a:pPr>
            <a:r>
              <a:rPr sz="1200" b="0" i="0" u="none">
                <a:solidFill>
                  <a:srgbClr val="000000"/>
                </a:solidFill>
                <a:latin typeface="Times New Roman"/>
                <a:ea typeface="Times New Roman"/>
                <a:cs typeface="Times New Roman"/>
              </a:rPr>
              <a:t>price at purchase time</a:t>
            </a:r>
            <a:endParaRPr/>
          </a:p>
          <a:p>
            <a:pPr>
              <a:defRPr/>
            </a:pPr>
            <a:r>
              <a:rPr sz="1200" b="0" i="0" u="none">
                <a:solidFill>
                  <a:srgbClr val="000000"/>
                </a:solidFill>
                <a:latin typeface="Times New Roman"/>
                <a:ea typeface="Times New Roman"/>
                <a:cs typeface="Times New Roman"/>
              </a:rPr>
              <a:t>quantity</a:t>
            </a:r>
            <a:endParaRPr/>
          </a:p>
          <a:p>
            <a:pPr>
              <a:defRPr/>
            </a:pPr>
            <a:r>
              <a:rPr sz="1200" b="0" i="0" u="none">
                <a:solidFill>
                  <a:srgbClr val="000000"/>
                </a:solidFill>
                <a:latin typeface="Times New Roman"/>
                <a:ea typeface="Times New Roman"/>
                <a:cs typeface="Times New Roman"/>
              </a:rPr>
              <a:t>product description snapshot</a:t>
            </a:r>
            <a:endParaRPr/>
          </a:p>
          <a:p>
            <a:pPr>
              <a:defRPr/>
            </a:pPr>
            <a:r>
              <a:rPr sz="1200" b="0" i="0" u="none">
                <a:solidFill>
                  <a:srgbClr val="000000"/>
                </a:solidFill>
                <a:latin typeface="Times New Roman"/>
                <a:ea typeface="Times New Roman"/>
                <a:cs typeface="Times New Roman"/>
              </a:rPr>
              <a:t>Even though the product catalog exists separately, the order embeds the relevant details to preserve the </a:t>
            </a:r>
            <a:r>
              <a:rPr sz="1200" b="1" i="0" u="none">
                <a:solidFill>
                  <a:srgbClr val="000000"/>
                </a:solidFill>
                <a:latin typeface="Times New Roman"/>
                <a:ea typeface="Times New Roman"/>
                <a:cs typeface="Times New Roman"/>
              </a:rPr>
              <a:t>historical state of the purchase</a:t>
            </a:r>
            <a:r>
              <a:rPr sz="1200" b="0" i="0" u="none">
                <a:solidFill>
                  <a:srgbClr val="000000"/>
                </a:solidFill>
                <a:latin typeface="Times New Roman"/>
                <a:ea typeface="Times New Roman"/>
                <a:cs typeface="Times New Roman"/>
              </a:rPr>
              <a:t>. This ensures that if the product price changes later, past orders still reflect the correct purchase price.</a:t>
            </a:r>
            <a:endParaRPr/>
          </a:p>
          <a:p>
            <a:pPr>
              <a:defRPr/>
            </a:pPr>
            <a:r>
              <a:rPr sz="1200" b="0" i="0" u="none">
                <a:solidFill>
                  <a:srgbClr val="000000"/>
                </a:solidFill>
                <a:latin typeface="Times New Roman"/>
                <a:ea typeface="Times New Roman"/>
                <a:cs typeface="Times New Roman"/>
              </a:rPr>
              <a:t>At the same time, the master </a:t>
            </a:r>
            <a:r>
              <a:rPr sz="1200" b="1" i="0" u="none">
                <a:solidFill>
                  <a:srgbClr val="000000"/>
                </a:solidFill>
                <a:latin typeface="Times New Roman"/>
                <a:ea typeface="Times New Roman"/>
                <a:cs typeface="Times New Roman"/>
              </a:rPr>
              <a:t>product catalog</a:t>
            </a:r>
            <a:r>
              <a:rPr sz="1200" b="0" i="0" u="none">
                <a:solidFill>
                  <a:srgbClr val="000000"/>
                </a:solidFill>
                <a:latin typeface="Times New Roman"/>
                <a:ea typeface="Times New Roman"/>
                <a:cs typeface="Times New Roman"/>
              </a:rPr>
              <a:t> remains in its own collection because it is shared across millions of orders and updated independently.</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Embedding and referencing are complementary design patterns. The choice depends on </a:t>
            </a:r>
            <a:r>
              <a:rPr sz="1200" b="1" i="0" u="none">
                <a:solidFill>
                  <a:srgbClr val="000000"/>
                </a:solidFill>
                <a:latin typeface="Times New Roman"/>
                <a:ea typeface="Times New Roman"/>
                <a:cs typeface="Times New Roman"/>
              </a:rPr>
              <a:t>how the application reads and updates data</a:t>
            </a:r>
            <a:r>
              <a:rPr sz="1200" b="0" i="0" u="none">
                <a:solidFill>
                  <a:srgbClr val="000000"/>
                </a:solidFill>
                <a:latin typeface="Times New Roman"/>
                <a:ea typeface="Times New Roman"/>
                <a:cs typeface="Times New Roman"/>
              </a:rPr>
              <a:t>, not on theoretical modeling rules.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A product catalog entry is referenced by thousands of orders. If the price changes, should it be </a:t>
            </a:r>
            <a:r>
              <a:rPr sz="1200" b="1" i="0" u="none">
                <a:solidFill>
                  <a:srgbClr val="000000"/>
                </a:solidFill>
                <a:latin typeface="Times New Roman"/>
                <a:ea typeface="Times New Roman"/>
                <a:cs typeface="Times New Roman"/>
              </a:rPr>
              <a:t>embedded or referenced</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It depends on the business rule. If orders should record the </a:t>
            </a:r>
            <a:r>
              <a:rPr sz="1200" b="1" i="0" u="none">
                <a:solidFill>
                  <a:srgbClr val="000000"/>
                </a:solidFill>
                <a:latin typeface="Times New Roman"/>
                <a:ea typeface="Times New Roman"/>
                <a:cs typeface="Times New Roman"/>
              </a:rPr>
              <a:t>price at the time of purchase</a:t>
            </a:r>
            <a:r>
              <a:rPr sz="1200" b="0" i="0" u="none">
                <a:solidFill>
                  <a:srgbClr val="000000"/>
                </a:solidFill>
                <a:latin typeface="Times New Roman"/>
                <a:ea typeface="Times New Roman"/>
                <a:cs typeface="Times New Roman"/>
              </a:rPr>
              <a:t> (the most common requirement), the price should be </a:t>
            </a:r>
            <a:r>
              <a:rPr sz="1200" b="1" i="0" u="none">
                <a:solidFill>
                  <a:srgbClr val="000000"/>
                </a:solidFill>
                <a:latin typeface="Times New Roman"/>
                <a:ea typeface="Times New Roman"/>
                <a:cs typeface="Times New Roman"/>
              </a:rPr>
              <a:t>embedded in each order document</a:t>
            </a:r>
            <a:r>
              <a:rPr sz="1200" b="0" i="0" u="none">
                <a:solidFill>
                  <a:srgbClr val="000000"/>
                </a:solidFill>
                <a:latin typeface="Times New Roman"/>
                <a:ea typeface="Times New Roman"/>
                <a:cs typeface="Times New Roman"/>
              </a:rPr>
              <a:t>. If orders should always reflect the </a:t>
            </a:r>
            <a:r>
              <a:rPr sz="1200" b="1" i="0" u="none">
                <a:solidFill>
                  <a:srgbClr val="000000"/>
                </a:solidFill>
                <a:latin typeface="Times New Roman"/>
                <a:ea typeface="Times New Roman"/>
                <a:cs typeface="Times New Roman"/>
              </a:rPr>
              <a:t>current product price</a:t>
            </a:r>
            <a:r>
              <a:rPr sz="1200" b="0" i="0" u="none">
                <a:solidFill>
                  <a:srgbClr val="000000"/>
                </a:solidFill>
                <a:latin typeface="Times New Roman"/>
                <a:ea typeface="Times New Roman"/>
                <a:cs typeface="Times New Roman"/>
              </a:rPr>
              <a:t>, the system should store a </a:t>
            </a:r>
            <a:r>
              <a:rPr sz="1200" b="1" i="0" u="none">
                <a:solidFill>
                  <a:srgbClr val="000000"/>
                </a:solidFill>
                <a:latin typeface="Times New Roman"/>
                <a:ea typeface="Times New Roman"/>
                <a:cs typeface="Times New Roman"/>
              </a:rPr>
              <a:t>reference</a:t>
            </a:r>
            <a:r>
              <a:rPr sz="1200" b="0" i="0" u="none">
                <a:solidFill>
                  <a:srgbClr val="000000"/>
                </a:solidFill>
                <a:latin typeface="Times New Roman"/>
                <a:ea typeface="Times New Roman"/>
                <a:cs typeface="Times New Roman"/>
              </a:rPr>
              <a:t> to the product document—but this means a price change could affect the representation of all past orders.</a:t>
            </a:r>
            <a:endParaRPr lang="en-US"/>
          </a:p>
        </p:txBody>
      </p:sp>
      <p:sp>
        <p:nvSpPr>
          <p:cNvPr id="1606790929" name="Slide Number Placeholder 3"/>
          <p:cNvSpPr>
            <a:spLocks noGrp="1"/>
          </p:cNvSpPr>
          <p:nvPr>
            <p:ph type="sldNum" sz="quarter" idx="10"/>
          </p:nvPr>
        </p:nvSpPr>
        <p:spPr bwMode="auto"/>
        <p:txBody>
          <a:bodyPr/>
          <a:lstStyle/>
          <a:p>
            <a:pPr>
              <a:defRPr/>
            </a:pPr>
            <a:fld id="{F7021451-1387-4CA6-816F-3879F97B5CBC}" type="slidenum">
              <a:rPr lang="en-US"/>
              <a:t>60</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9535491" name="Slide Image Placeholder 1"/>
          <p:cNvSpPr>
            <a:spLocks noChangeAspect="1" noGrp="1" noRot="1"/>
          </p:cNvSpPr>
          <p:nvPr>
            <p:ph type="sldImg"/>
          </p:nvPr>
        </p:nvSpPr>
        <p:spPr bwMode="auto"/>
      </p:sp>
      <p:sp>
        <p:nvSpPr>
          <p:cNvPr id="1749709660"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Embedding — When and Why</a:t>
            </a:r>
            <a:endParaRPr/>
          </a:p>
          <a:p>
            <a:pPr>
              <a:defRPr/>
            </a:pPr>
            <a:r>
              <a:rPr sz="1200" b="0" i="0" u="none">
                <a:solidFill>
                  <a:srgbClr val="000000"/>
                </a:solidFill>
                <a:latin typeface="Times New Roman"/>
                <a:ea typeface="Times New Roman"/>
                <a:cs typeface="Times New Roman"/>
              </a:rPr>
              <a:t>Embedding is the </a:t>
            </a:r>
            <a:r>
              <a:rPr sz="1200" b="1" i="0" u="none">
                <a:solidFill>
                  <a:srgbClr val="000000"/>
                </a:solidFill>
                <a:latin typeface="Times New Roman"/>
                <a:ea typeface="Times New Roman"/>
                <a:cs typeface="Times New Roman"/>
              </a:rPr>
              <a:t>default and most natural modeling pattern</a:t>
            </a:r>
            <a:r>
              <a:rPr sz="1200" b="0" i="0" u="none">
                <a:solidFill>
                  <a:srgbClr val="000000"/>
                </a:solidFill>
                <a:latin typeface="Times New Roman"/>
                <a:ea typeface="Times New Roman"/>
                <a:cs typeface="Times New Roman"/>
              </a:rPr>
              <a:t> in document databases. It means storing related data </a:t>
            </a:r>
            <a:r>
              <a:rPr sz="1200" b="1" i="0" u="none">
                <a:solidFill>
                  <a:srgbClr val="000000"/>
                </a:solidFill>
                <a:latin typeface="Times New Roman"/>
                <a:ea typeface="Times New Roman"/>
                <a:cs typeface="Times New Roman"/>
              </a:rPr>
              <a:t>directly inside the parent document</a:t>
            </a:r>
            <a:r>
              <a:rPr sz="1200" b="0" i="0" u="none">
                <a:solidFill>
                  <a:srgbClr val="000000"/>
                </a:solidFill>
                <a:latin typeface="Times New Roman"/>
                <a:ea typeface="Times New Roman"/>
                <a:cs typeface="Times New Roman"/>
              </a:rPr>
              <a:t>, allowing the database to return the complete object in a single query.</a:t>
            </a:r>
            <a:endParaRPr/>
          </a:p>
          <a:p>
            <a:pPr>
              <a:defRPr/>
            </a:pPr>
            <a:r>
              <a:rPr sz="1200" b="0" i="0" u="none">
                <a:solidFill>
                  <a:srgbClr val="000000"/>
                </a:solidFill>
                <a:latin typeface="Times New Roman"/>
                <a:ea typeface="Times New Roman"/>
                <a:cs typeface="Times New Roman"/>
              </a:rPr>
              <a:t>Embedding should be used when several conditions are true.</a:t>
            </a:r>
            <a:endParaRPr/>
          </a:p>
          <a:p>
            <a:pPr>
              <a:defRPr/>
            </a:pPr>
            <a:r>
              <a:rPr sz="1200" b="0" i="0" u="none">
                <a:solidFill>
                  <a:srgbClr val="000000"/>
                </a:solidFill>
                <a:latin typeface="Times New Roman"/>
                <a:ea typeface="Times New Roman"/>
                <a:cs typeface="Times New Roman"/>
              </a:rPr>
              <a:t>First, the child data </a:t>
            </a:r>
            <a:r>
              <a:rPr sz="1200" b="1" i="0" u="none">
                <a:solidFill>
                  <a:srgbClr val="000000"/>
                </a:solidFill>
                <a:latin typeface="Times New Roman"/>
                <a:ea typeface="Times New Roman"/>
                <a:cs typeface="Times New Roman"/>
              </a:rPr>
              <a:t>belongs to exactly one parent document</a:t>
            </a:r>
            <a:r>
              <a:rPr sz="1200" b="0" i="0" u="none">
                <a:solidFill>
                  <a:srgbClr val="000000"/>
                </a:solidFill>
                <a:latin typeface="Times New Roman"/>
                <a:ea typeface="Times New Roman"/>
                <a:cs typeface="Times New Roman"/>
              </a:rPr>
              <a:t> and has no independent identity outside that parent.</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Second, the child data is </a:t>
            </a:r>
            <a:r>
              <a:rPr sz="1200" b="1" i="0" u="none">
                <a:solidFill>
                  <a:srgbClr val="000000"/>
                </a:solidFill>
                <a:latin typeface="Times New Roman"/>
                <a:ea typeface="Times New Roman"/>
                <a:cs typeface="Times New Roman"/>
              </a:rPr>
              <a:t>always read together with the parent</a:t>
            </a:r>
            <a:r>
              <a:rPr sz="1200" b="0" i="0" u="none">
                <a:solidFill>
                  <a:srgbClr val="000000"/>
                </a:solidFill>
                <a:latin typeface="Times New Roman"/>
                <a:ea typeface="Times New Roman"/>
                <a:cs typeface="Times New Roman"/>
              </a:rPr>
              <a:t>, meaning every API request that retrieves the parent also needs the child information.</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Third, the child data shares the </a:t>
            </a:r>
            <a:r>
              <a:rPr sz="1200" b="1" i="0" u="none">
                <a:solidFill>
                  <a:srgbClr val="000000"/>
                </a:solidFill>
                <a:latin typeface="Times New Roman"/>
                <a:ea typeface="Times New Roman"/>
                <a:cs typeface="Times New Roman"/>
              </a:rPr>
              <a:t>same lifecycle as the parent</a:t>
            </a:r>
            <a:r>
              <a:rPr sz="1200" b="0" i="0" u="none">
                <a:solidFill>
                  <a:srgbClr val="000000"/>
                </a:solidFill>
                <a:latin typeface="Times New Roman"/>
                <a:ea typeface="Times New Roman"/>
                <a:cs typeface="Times New Roman"/>
              </a:rPr>
              <a:t>—it is created, updated, and deleted together with the parent.</a:t>
            </a:r>
            <a:endParaRPr/>
          </a:p>
          <a:p>
            <a:pPr>
              <a:defRPr/>
            </a:pPr>
            <a:r>
              <a:rPr sz="1200" b="0" i="0" u="none">
                <a:solidFill>
                  <a:srgbClr val="000000"/>
                </a:solidFill>
                <a:latin typeface="Times New Roman"/>
                <a:ea typeface="Times New Roman"/>
                <a:cs typeface="Times New Roman"/>
              </a:rPr>
              <a:t>Consider a student record that includes the list of courses the student is enrolled in.</a:t>
            </a:r>
            <a:endParaRPr/>
          </a:p>
          <a:p>
            <a:pPr>
              <a:defRPr/>
            </a:pPr>
            <a:r>
              <a:rPr sz="1000" b="0" i="0" u="none">
                <a:solidFill>
                  <a:srgbClr val="000000"/>
                </a:solidFill>
                <a:latin typeface="Courier New"/>
                <a:ea typeface="Courier New"/>
                <a:cs typeface="Courier New"/>
              </a:rPr>
              <a:t>{
  "student_id": 123,
  "name": "Maria Papadopoulou",
  "courses": [
    { "name": "NoSQL Databases", "grade": 8 },
    { "name": "Machine Learning", "grade": 7 }
  ]
}
</a:t>
            </a:r>
            <a:endParaRPr/>
          </a:p>
          <a:p>
            <a:pPr>
              <a:defRPr/>
            </a:pPr>
            <a:r>
              <a:rPr sz="1200" b="0" i="0" u="none">
                <a:solidFill>
                  <a:srgbClr val="000000"/>
                </a:solidFill>
                <a:latin typeface="Times New Roman"/>
                <a:ea typeface="Times New Roman"/>
                <a:cs typeface="Times New Roman"/>
              </a:rPr>
              <a:t>In this design, the courses are embedded inside the student document. Retrieving the student profile automatically returns the course list as well. This illustrates the </a:t>
            </a:r>
            <a:r>
              <a:rPr sz="1200" b="1" i="0" u="none">
                <a:solidFill>
                  <a:srgbClr val="000000"/>
                </a:solidFill>
                <a:latin typeface="Times New Roman"/>
                <a:ea typeface="Times New Roman"/>
                <a:cs typeface="Times New Roman"/>
              </a:rPr>
              <a:t>core performance advantage of document databases</a:t>
            </a:r>
            <a:r>
              <a:rPr sz="1200" b="0" i="0" u="none">
                <a:solidFill>
                  <a:srgbClr val="000000"/>
                </a:solidFill>
                <a:latin typeface="Times New Roman"/>
                <a:ea typeface="Times New Roman"/>
                <a:cs typeface="Times New Roman"/>
              </a:rPr>
              <a:t>: one API request can trigger </a:t>
            </a:r>
            <a:r>
              <a:rPr sz="1200" b="1" i="0" u="none">
                <a:solidFill>
                  <a:srgbClr val="000000"/>
                </a:solidFill>
                <a:latin typeface="Times New Roman"/>
                <a:ea typeface="Times New Roman"/>
                <a:cs typeface="Times New Roman"/>
              </a:rPr>
              <a:t>one database query</a:t>
            </a:r>
            <a:r>
              <a:rPr sz="1200" b="0" i="0" u="none">
                <a:solidFill>
                  <a:srgbClr val="000000"/>
                </a:solidFill>
                <a:latin typeface="Times New Roman"/>
                <a:ea typeface="Times New Roman"/>
                <a:cs typeface="Times New Roman"/>
              </a:rPr>
              <a:t> and return a complete JSON object ready for the frontend.</a:t>
            </a:r>
            <a:endParaRPr/>
          </a:p>
          <a:p>
            <a:pPr>
              <a:defRPr/>
            </a:pPr>
            <a:r>
              <a:rPr sz="1200" b="0" i="0" u="none">
                <a:solidFill>
                  <a:srgbClr val="000000"/>
                </a:solidFill>
                <a:latin typeface="Times New Roman"/>
                <a:ea typeface="Times New Roman"/>
                <a:cs typeface="Times New Roman"/>
              </a:rPr>
              <a:t>In real systems, embedding is commonly used for </a:t>
            </a:r>
            <a:r>
              <a:rPr sz="1200" b="1" i="0" u="none">
                <a:solidFill>
                  <a:srgbClr val="000000"/>
                </a:solidFill>
                <a:latin typeface="Times New Roman"/>
                <a:ea typeface="Times New Roman"/>
                <a:cs typeface="Times New Roman"/>
              </a:rPr>
              <a:t>“part-of” relationships</a:t>
            </a:r>
            <a:r>
              <a:rPr sz="1200" b="0" i="0" u="none">
                <a:solidFill>
                  <a:srgbClr val="000000"/>
                </a:solidFill>
                <a:latin typeface="Times New Roman"/>
                <a:ea typeface="Times New Roman"/>
                <a:cs typeface="Times New Roman"/>
              </a:rPr>
              <a:t>, where the child data only exists as part of a larger object. Typical examples include:</a:t>
            </a:r>
            <a:endParaRPr/>
          </a:p>
          <a:p>
            <a:pPr>
              <a:defRPr/>
            </a:pPr>
            <a:r>
              <a:rPr sz="1200" b="0" i="0" u="none">
                <a:solidFill>
                  <a:srgbClr val="000000"/>
                </a:solidFill>
                <a:latin typeface="Times New Roman"/>
                <a:ea typeface="Times New Roman"/>
                <a:cs typeface="Times New Roman"/>
              </a:rPr>
              <a:t>line items inside an order</a:t>
            </a:r>
            <a:endParaRPr/>
          </a:p>
          <a:p>
            <a:pPr>
              <a:defRPr/>
            </a:pPr>
            <a:r>
              <a:rPr sz="1200" b="0" i="0" u="none">
                <a:solidFill>
                  <a:srgbClr val="000000"/>
                </a:solidFill>
                <a:latin typeface="Times New Roman"/>
                <a:ea typeface="Times New Roman"/>
                <a:cs typeface="Times New Roman"/>
              </a:rPr>
              <a:t>addresses belonging to a customer</a:t>
            </a:r>
            <a:endParaRPr/>
          </a:p>
          <a:p>
            <a:pPr>
              <a:defRPr/>
            </a:pPr>
            <a:r>
              <a:rPr sz="1200" b="0" i="0" u="none">
                <a:solidFill>
                  <a:srgbClr val="000000"/>
                </a:solidFill>
                <a:latin typeface="Times New Roman"/>
                <a:ea typeface="Times New Roman"/>
                <a:cs typeface="Times New Roman"/>
              </a:rPr>
              <a:t>tags attached to a blog post</a:t>
            </a:r>
            <a:endParaRPr/>
          </a:p>
          <a:p>
            <a:pPr>
              <a:defRPr/>
            </a:pPr>
            <a:r>
              <a:rPr sz="1200" b="0" i="0" u="none">
                <a:solidFill>
                  <a:srgbClr val="000000"/>
                </a:solidFill>
                <a:latin typeface="Times New Roman"/>
                <a:ea typeface="Times New Roman"/>
                <a:cs typeface="Times New Roman"/>
              </a:rPr>
              <a:t>comments belonging to a specific article</a:t>
            </a:r>
            <a:endParaRPr/>
          </a:p>
          <a:p>
            <a:pPr>
              <a:defRPr/>
            </a:pPr>
            <a:r>
              <a:rPr sz="1200" b="0" i="0" u="none">
                <a:solidFill>
                  <a:srgbClr val="000000"/>
                </a:solidFill>
                <a:latin typeface="Times New Roman"/>
                <a:ea typeface="Times New Roman"/>
                <a:cs typeface="Times New Roman"/>
              </a:rPr>
              <a:t>Because these elements are conceptually part of the parent object, embedding them inside the parent document simplifies both data retrieval and data management.</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E-commerce platforms such as </a:t>
            </a:r>
            <a:r>
              <a:rPr sz="1200" b="1" i="0" u="none">
                <a:solidFill>
                  <a:srgbClr val="000000"/>
                </a:solidFill>
                <a:latin typeface="Times New Roman"/>
                <a:ea typeface="Times New Roman"/>
                <a:cs typeface="Times New Roman"/>
              </a:rPr>
              <a:t>Shopify</a:t>
            </a:r>
            <a:r>
              <a:rPr sz="1200" b="0" i="0" u="none">
                <a:solidFill>
                  <a:srgbClr val="000000"/>
                </a:solidFill>
                <a:latin typeface="Times New Roman"/>
                <a:ea typeface="Times New Roman"/>
                <a:cs typeface="Times New Roman"/>
              </a:rPr>
              <a:t> frequently embed </a:t>
            </a:r>
            <a:r>
              <a:rPr sz="1200" b="1" i="0" u="none">
                <a:solidFill>
                  <a:srgbClr val="000000"/>
                </a:solidFill>
                <a:latin typeface="Times New Roman"/>
                <a:ea typeface="Times New Roman"/>
                <a:cs typeface="Times New Roman"/>
              </a:rPr>
              <a:t>order line items</a:t>
            </a:r>
            <a:r>
              <a:rPr sz="1200" b="0" i="0" u="none">
                <a:solidFill>
                  <a:srgbClr val="000000"/>
                </a:solidFill>
                <a:latin typeface="Times New Roman"/>
                <a:ea typeface="Times New Roman"/>
                <a:cs typeface="Times New Roman"/>
              </a:rPr>
              <a:t> directly inside an order document. When a customer views an order, the application must display all purchased products together with quantities and prices. Storing these line items inside the order allows the backend to return the entire order with a </a:t>
            </a:r>
            <a:r>
              <a:rPr sz="1200" b="1" i="0" u="none">
                <a:solidFill>
                  <a:srgbClr val="000000"/>
                </a:solidFill>
                <a:latin typeface="Times New Roman"/>
                <a:ea typeface="Times New Roman"/>
                <a:cs typeface="Times New Roman"/>
              </a:rPr>
              <a:t>single query</a:t>
            </a:r>
            <a:r>
              <a:rPr sz="1200" b="0" i="0" u="none">
                <a:solidFill>
                  <a:srgbClr val="000000"/>
                </a:solidFill>
                <a:latin typeface="Times New Roman"/>
                <a:ea typeface="Times New Roman"/>
                <a:cs typeface="Times New Roman"/>
              </a:rPr>
              <a:t>, avoiding expensive joins or multiple lookups.</a:t>
            </a:r>
            <a:endParaRPr/>
          </a:p>
          <a:p>
            <a:pPr>
              <a:defRPr/>
            </a:pPr>
            <a:r>
              <a:rPr sz="1200" b="0" i="0" u="none">
                <a:solidFill>
                  <a:srgbClr val="000000"/>
                </a:solidFill>
                <a:latin typeface="Times New Roman"/>
                <a:ea typeface="Times New Roman"/>
                <a:cs typeface="Times New Roman"/>
              </a:rPr>
              <a:t>This design ensures that high-traffic operations—such as retrieving order history—remain fast even at very large scale.</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Embedding works best for </a:t>
            </a:r>
            <a:r>
              <a:rPr sz="1200" b="1" i="0" u="none">
                <a:solidFill>
                  <a:srgbClr val="000000"/>
                </a:solidFill>
                <a:latin typeface="Times New Roman"/>
                <a:ea typeface="Times New Roman"/>
                <a:cs typeface="Times New Roman"/>
              </a:rPr>
              <a:t>data that is owned by a single parent, always accessed together with that parent, and shares the same lifecycle</a:t>
            </a:r>
            <a:r>
              <a:rPr sz="1200" b="0" i="0" u="none">
                <a:solidFill>
                  <a:srgbClr val="000000"/>
                </a:solidFill>
                <a:latin typeface="Times New Roman"/>
                <a:ea typeface="Times New Roman"/>
                <a:cs typeface="Times New Roman"/>
              </a:rPr>
              <a:t>. It allows the database to return complete objects with minimal queries.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happens to the embedded courses when the student document is deleted from the database?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They are automatically deleted together with the parent document because they exist only as fields within that document. Unlike relational databases, there is no need for cascade delete rules, and there is no risk of leaving orphaned records.</a:t>
            </a:r>
            <a:endParaRPr lang="en-US"/>
          </a:p>
        </p:txBody>
      </p:sp>
      <p:sp>
        <p:nvSpPr>
          <p:cNvPr id="54996286" name="Slide Number Placeholder 3"/>
          <p:cNvSpPr>
            <a:spLocks noGrp="1"/>
          </p:cNvSpPr>
          <p:nvPr>
            <p:ph type="sldNum" sz="quarter" idx="10"/>
          </p:nvPr>
        </p:nvSpPr>
        <p:spPr bwMode="auto"/>
        <p:txBody>
          <a:bodyPr/>
          <a:lstStyle/>
          <a:p>
            <a:pPr>
              <a:defRPr/>
            </a:pPr>
            <a:fld id="{F7021451-1387-4CA6-816F-3879F97B5CBC}" type="slidenum">
              <a:rPr lang="en-US"/>
              <a:t>61</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7324368" name="Slide Image Placeholder 1"/>
          <p:cNvSpPr>
            <a:spLocks noChangeAspect="1" noGrp="1" noRot="1"/>
          </p:cNvSpPr>
          <p:nvPr>
            <p:ph type="sldImg"/>
          </p:nvPr>
        </p:nvSpPr>
        <p:spPr bwMode="auto"/>
      </p:sp>
      <p:sp>
        <p:nvSpPr>
          <p:cNvPr id="1195670963"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Referencing — When and Why</a:t>
            </a:r>
            <a:endParaRPr/>
          </a:p>
          <a:p>
            <a:pPr>
              <a:defRPr/>
            </a:pPr>
            <a:r>
              <a:rPr sz="1200" b="0" i="0" u="none">
                <a:solidFill>
                  <a:srgbClr val="000000"/>
                </a:solidFill>
                <a:latin typeface="Times New Roman"/>
                <a:ea typeface="Times New Roman"/>
                <a:cs typeface="Times New Roman"/>
              </a:rPr>
              <a:t>While embedding is the default approach in document databases, there are situations where </a:t>
            </a:r>
            <a:r>
              <a:rPr sz="1200" b="1" i="0" u="none">
                <a:solidFill>
                  <a:srgbClr val="000000"/>
                </a:solidFill>
                <a:latin typeface="Times New Roman"/>
                <a:ea typeface="Times New Roman"/>
                <a:cs typeface="Times New Roman"/>
              </a:rPr>
              <a:t>referencing</a:t>
            </a:r>
            <a:r>
              <a:rPr sz="1200" b="0" i="0" u="none">
                <a:solidFill>
                  <a:srgbClr val="000000"/>
                </a:solidFill>
                <a:latin typeface="Times New Roman"/>
                <a:ea typeface="Times New Roman"/>
                <a:cs typeface="Times New Roman"/>
              </a:rPr>
              <a:t> is the better design choice. Referencing means that a document stores the </a:t>
            </a:r>
            <a:r>
              <a:rPr sz="1200" b="1" i="0" u="none">
                <a:solidFill>
                  <a:srgbClr val="000000"/>
                </a:solidFill>
                <a:latin typeface="Times New Roman"/>
                <a:ea typeface="Times New Roman"/>
                <a:cs typeface="Times New Roman"/>
              </a:rPr>
              <a:t>identifier of another document</a:t>
            </a:r>
            <a:r>
              <a:rPr sz="1200" b="0" i="0" u="none">
                <a:solidFill>
                  <a:srgbClr val="000000"/>
                </a:solidFill>
                <a:latin typeface="Times New Roman"/>
                <a:ea typeface="Times New Roman"/>
                <a:cs typeface="Times New Roman"/>
              </a:rPr>
              <a:t>, rather than embedding the entire related object.</a:t>
            </a:r>
            <a:endParaRPr/>
          </a:p>
          <a:p>
            <a:pPr>
              <a:defRPr/>
            </a:pPr>
            <a:r>
              <a:rPr sz="1200" b="0" i="0" u="none">
                <a:solidFill>
                  <a:srgbClr val="000000"/>
                </a:solidFill>
                <a:latin typeface="Times New Roman"/>
                <a:ea typeface="Times New Roman"/>
                <a:cs typeface="Times New Roman"/>
              </a:rPr>
              <a:t>Referencing should be used when several conditions apply.</a:t>
            </a:r>
            <a:endParaRPr/>
          </a:p>
          <a:p>
            <a:pPr>
              <a:defRPr/>
            </a:pPr>
            <a:r>
              <a:rPr sz="1200" b="0" i="0" u="none">
                <a:solidFill>
                  <a:srgbClr val="000000"/>
                </a:solidFill>
                <a:latin typeface="Times New Roman"/>
                <a:ea typeface="Times New Roman"/>
                <a:cs typeface="Times New Roman"/>
              </a:rPr>
              <a:t>First, the child data is </a:t>
            </a:r>
            <a:r>
              <a:rPr sz="1200" b="1" i="0" u="none">
                <a:solidFill>
                  <a:srgbClr val="000000"/>
                </a:solidFill>
                <a:latin typeface="Times New Roman"/>
                <a:ea typeface="Times New Roman"/>
                <a:cs typeface="Times New Roman"/>
              </a:rPr>
              <a:t>shared across many parent documents</a:t>
            </a:r>
            <a:r>
              <a:rPr sz="1200" b="0" i="0" u="none">
                <a:solidFill>
                  <a:srgbClr val="000000"/>
                </a:solidFill>
                <a:latin typeface="Times New Roman"/>
                <a:ea typeface="Times New Roman"/>
                <a:cs typeface="Times New Roman"/>
              </a:rPr>
              <a:t>.</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Second, the child data is </a:t>
            </a:r>
            <a:r>
              <a:rPr sz="1200" b="1" i="0" u="none">
                <a:solidFill>
                  <a:srgbClr val="000000"/>
                </a:solidFill>
                <a:latin typeface="Times New Roman"/>
                <a:ea typeface="Times New Roman"/>
                <a:cs typeface="Times New Roman"/>
              </a:rPr>
              <a:t>updated independently</a:t>
            </a:r>
            <a:r>
              <a:rPr sz="1200" b="0" i="0" u="none">
                <a:solidFill>
                  <a:srgbClr val="000000"/>
                </a:solidFill>
                <a:latin typeface="Times New Roman"/>
                <a:ea typeface="Times New Roman"/>
                <a:cs typeface="Times New Roman"/>
              </a:rPr>
              <a:t> from the parent.</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Third, embedding the data would cause the parent document to </a:t>
            </a:r>
            <a:r>
              <a:rPr sz="1200" b="1" i="0" u="none">
                <a:solidFill>
                  <a:srgbClr val="000000"/>
                </a:solidFill>
                <a:latin typeface="Times New Roman"/>
                <a:ea typeface="Times New Roman"/>
                <a:cs typeface="Times New Roman"/>
              </a:rPr>
              <a:t>grow without bound</a:t>
            </a:r>
            <a:r>
              <a:rPr sz="1200" b="0" i="0" u="none">
                <a:solidFill>
                  <a:srgbClr val="000000"/>
                </a:solidFill>
                <a:latin typeface="Times New Roman"/>
                <a:ea typeface="Times New Roman"/>
                <a:cs typeface="Times New Roman"/>
              </a:rPr>
              <a:t>, potentially exceeding practical document size limits.</a:t>
            </a:r>
            <a:endParaRPr/>
          </a:p>
          <a:p>
            <a:pPr>
              <a:defRPr/>
            </a:pPr>
            <a:r>
              <a:rPr sz="1200" b="0" i="0" u="none">
                <a:solidFill>
                  <a:srgbClr val="000000"/>
                </a:solidFill>
                <a:latin typeface="Times New Roman"/>
                <a:ea typeface="Times New Roman"/>
                <a:cs typeface="Times New Roman"/>
              </a:rPr>
              <a:t>Consider a university system where many students enroll in the same courses. Instead of embedding full course details inside every student document, the student document may store only course identifiers.</a:t>
            </a:r>
            <a:endParaRPr/>
          </a:p>
          <a:p>
            <a:pPr>
              <a:defRPr/>
            </a:pPr>
            <a:r>
              <a:rPr sz="1000" b="0" i="0" u="none">
                <a:solidFill>
                  <a:srgbClr val="000000"/>
                </a:solidFill>
                <a:latin typeface="Courier New"/>
                <a:ea typeface="Courier New"/>
                <a:cs typeface="Courier New"/>
              </a:rPr>
              <a:t>Student document
{
  "student_id": 123,
  "name": "Maria Papadopoulou",
  "course_ids": [101, 205, 330]
}
</a:t>
            </a:r>
            <a:endParaRPr/>
          </a:p>
          <a:p>
            <a:pPr>
              <a:defRPr/>
            </a:pPr>
            <a:r>
              <a:rPr sz="1200" b="0" i="0" u="none">
                <a:solidFill>
                  <a:srgbClr val="000000"/>
                </a:solidFill>
                <a:latin typeface="Times New Roman"/>
                <a:ea typeface="Times New Roman"/>
                <a:cs typeface="Times New Roman"/>
              </a:rPr>
              <a:t>The course information itself is stored separately:</a:t>
            </a:r>
            <a:endParaRPr/>
          </a:p>
          <a:p>
            <a:pPr>
              <a:defRPr/>
            </a:pPr>
            <a:r>
              <a:rPr sz="1000" b="0" i="0" u="none">
                <a:solidFill>
                  <a:srgbClr val="000000"/>
                </a:solidFill>
                <a:latin typeface="Courier New"/>
                <a:ea typeface="Courier New"/>
                <a:cs typeface="Courier New"/>
              </a:rPr>
              <a:t>Course document
{
  "course_id": 101,
  "name": "NoSQL Databases",
  "credits": 6
}
</a:t>
            </a:r>
            <a:endParaRPr/>
          </a:p>
          <a:p>
            <a:pPr>
              <a:defRPr/>
            </a:pPr>
            <a:r>
              <a:rPr sz="1200" b="0" i="0" u="none">
                <a:solidFill>
                  <a:srgbClr val="000000"/>
                </a:solidFill>
                <a:latin typeface="Times New Roman"/>
                <a:ea typeface="Times New Roman"/>
                <a:cs typeface="Times New Roman"/>
              </a:rPr>
              <a:t>In this design, courses exist independently of students. Professors can modify course details without touching any student documents.</a:t>
            </a:r>
            <a:endParaRPr/>
          </a:p>
          <a:p>
            <a:pPr>
              <a:defRPr/>
            </a:pPr>
            <a:r>
              <a:rPr sz="1200" b="0" i="0" u="none">
                <a:solidFill>
                  <a:srgbClr val="000000"/>
                </a:solidFill>
                <a:latin typeface="Times New Roman"/>
                <a:ea typeface="Times New Roman"/>
                <a:cs typeface="Times New Roman"/>
              </a:rPr>
              <a:t>The trade-off is that retrieving the full information requires </a:t>
            </a:r>
            <a:r>
              <a:rPr sz="1200" b="1" i="0" u="none">
                <a:solidFill>
                  <a:srgbClr val="000000"/>
                </a:solidFill>
                <a:latin typeface="Times New Roman"/>
                <a:ea typeface="Times New Roman"/>
                <a:cs typeface="Times New Roman"/>
              </a:rPr>
              <a:t>multiple queries</a:t>
            </a:r>
            <a:r>
              <a:rPr sz="1200" b="0" i="0" u="none">
                <a:solidFill>
                  <a:srgbClr val="000000"/>
                </a:solidFill>
                <a:latin typeface="Times New Roman"/>
                <a:ea typeface="Times New Roman"/>
                <a:cs typeface="Times New Roman"/>
              </a:rPr>
              <a:t>. The system must first retrieve the student document and then retrieve the course documents referenced by the stored IDs.</a:t>
            </a:r>
            <a:endParaRPr/>
          </a:p>
          <a:p>
            <a:pPr>
              <a:defRPr/>
            </a:pPr>
            <a:r>
              <a:rPr sz="1400" b="1" i="0" u="none">
                <a:solidFill>
                  <a:srgbClr val="000000"/>
                </a:solidFill>
                <a:latin typeface="Times New Roman"/>
                <a:ea typeface="Times New Roman"/>
                <a:cs typeface="Times New Roman"/>
              </a:rPr>
              <a:t>Why Referencing Matters</a:t>
            </a:r>
            <a:endParaRPr/>
          </a:p>
          <a:p>
            <a:pPr>
              <a:defRPr/>
            </a:pPr>
            <a:r>
              <a:rPr sz="1200" b="0" i="0" u="none">
                <a:solidFill>
                  <a:srgbClr val="000000"/>
                </a:solidFill>
                <a:latin typeface="Times New Roman"/>
                <a:ea typeface="Times New Roman"/>
                <a:cs typeface="Times New Roman"/>
              </a:rPr>
              <a:t>Referencing introduces </a:t>
            </a:r>
            <a:r>
              <a:rPr sz="1200" b="1" i="0" u="none">
                <a:solidFill>
                  <a:srgbClr val="000000"/>
                </a:solidFill>
                <a:latin typeface="Times New Roman"/>
                <a:ea typeface="Times New Roman"/>
                <a:cs typeface="Times New Roman"/>
              </a:rPr>
              <a:t>flexibility and independence</a:t>
            </a:r>
            <a:r>
              <a:rPr sz="1200" b="0" i="0" u="none">
                <a:solidFill>
                  <a:srgbClr val="000000"/>
                </a:solidFill>
                <a:latin typeface="Times New Roman"/>
                <a:ea typeface="Times New Roman"/>
                <a:cs typeface="Times New Roman"/>
              </a:rPr>
              <a:t> between entities. If a course description changes, the update happens in a single course document rather than in hundreds or thousands of student records.</a:t>
            </a:r>
            <a:endParaRPr/>
          </a:p>
          <a:p>
            <a:pPr>
              <a:defRPr/>
            </a:pPr>
            <a:r>
              <a:rPr sz="1200" b="0" i="0" u="none">
                <a:solidFill>
                  <a:srgbClr val="000000"/>
                </a:solidFill>
                <a:latin typeface="Times New Roman"/>
                <a:ea typeface="Times New Roman"/>
                <a:cs typeface="Times New Roman"/>
              </a:rPr>
              <a:t>This pattern is particularly useful for </a:t>
            </a:r>
            <a:r>
              <a:rPr sz="1200" b="1" i="0" u="none">
                <a:solidFill>
                  <a:srgbClr val="000000"/>
                </a:solidFill>
                <a:latin typeface="Times New Roman"/>
                <a:ea typeface="Times New Roman"/>
                <a:cs typeface="Times New Roman"/>
              </a:rPr>
              <a:t>catalog-type data</a:t>
            </a:r>
            <a:r>
              <a:rPr sz="1200" b="0" i="0" u="none">
                <a:solidFill>
                  <a:srgbClr val="000000"/>
                </a:solidFill>
                <a:latin typeface="Times New Roman"/>
                <a:ea typeface="Times New Roman"/>
                <a:cs typeface="Times New Roman"/>
              </a:rPr>
              <a:t>, where the referenced entities are maintained separately and reused widely.</a:t>
            </a:r>
            <a:endParaRPr/>
          </a:p>
          <a:p>
            <a:pPr>
              <a:defRPr/>
            </a:pPr>
            <a:r>
              <a:rPr sz="1200" b="0" i="0" u="none">
                <a:solidFill>
                  <a:srgbClr val="000000"/>
                </a:solidFill>
                <a:latin typeface="Times New Roman"/>
                <a:ea typeface="Times New Roman"/>
                <a:cs typeface="Times New Roman"/>
              </a:rPr>
              <a:t>Typical examples include:</a:t>
            </a:r>
            <a:endParaRPr/>
          </a:p>
          <a:p>
            <a:pPr>
              <a:defRPr/>
            </a:pPr>
            <a:r>
              <a:rPr sz="1200" b="0" i="0" u="none">
                <a:solidFill>
                  <a:srgbClr val="000000"/>
                </a:solidFill>
                <a:latin typeface="Times New Roman"/>
                <a:ea typeface="Times New Roman"/>
                <a:cs typeface="Times New Roman"/>
              </a:rPr>
              <a:t>product catalogs in e-commerce systems</a:t>
            </a:r>
            <a:endParaRPr/>
          </a:p>
          <a:p>
            <a:pPr>
              <a:defRPr/>
            </a:pPr>
            <a:r>
              <a:rPr sz="1200" b="0" i="0" u="none">
                <a:solidFill>
                  <a:srgbClr val="000000"/>
                </a:solidFill>
                <a:latin typeface="Times New Roman"/>
                <a:ea typeface="Times New Roman"/>
                <a:cs typeface="Times New Roman"/>
              </a:rPr>
              <a:t>categories shared across many items</a:t>
            </a:r>
            <a:endParaRPr/>
          </a:p>
          <a:p>
            <a:pPr>
              <a:defRPr/>
            </a:pPr>
            <a:r>
              <a:rPr sz="1200" b="0" i="0" u="none">
                <a:solidFill>
                  <a:srgbClr val="000000"/>
                </a:solidFill>
                <a:latin typeface="Times New Roman"/>
                <a:ea typeface="Times New Roman"/>
                <a:cs typeface="Times New Roman"/>
              </a:rPr>
              <a:t>geographic locations referenced by multiple records</a:t>
            </a:r>
            <a:endParaRPr/>
          </a:p>
          <a:p>
            <a:pPr>
              <a:defRPr/>
            </a:pPr>
            <a:r>
              <a:rPr sz="1200" b="0" i="0" u="none">
                <a:solidFill>
                  <a:srgbClr val="000000"/>
                </a:solidFill>
                <a:latin typeface="Times New Roman"/>
                <a:ea typeface="Times New Roman"/>
                <a:cs typeface="Times New Roman"/>
              </a:rPr>
              <a:t>tags used by many documents</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Online marketplaces such as </a:t>
            </a:r>
            <a:r>
              <a:rPr sz="1200" b="1" i="0" u="none">
                <a:solidFill>
                  <a:srgbClr val="000000"/>
                </a:solidFill>
                <a:latin typeface="Times New Roman"/>
                <a:ea typeface="Times New Roman"/>
                <a:cs typeface="Times New Roman"/>
              </a:rPr>
              <a:t>eBay</a:t>
            </a:r>
            <a:r>
              <a:rPr sz="1200" b="0" i="0" u="none">
                <a:solidFill>
                  <a:srgbClr val="000000"/>
                </a:solidFill>
                <a:latin typeface="Times New Roman"/>
                <a:ea typeface="Times New Roman"/>
                <a:cs typeface="Times New Roman"/>
              </a:rPr>
              <a:t> maintain a centralized </a:t>
            </a:r>
            <a:r>
              <a:rPr sz="1200" b="1" i="0" u="none">
                <a:solidFill>
                  <a:srgbClr val="000000"/>
                </a:solidFill>
                <a:latin typeface="Times New Roman"/>
                <a:ea typeface="Times New Roman"/>
                <a:cs typeface="Times New Roman"/>
              </a:rPr>
              <a:t>product catalog</a:t>
            </a:r>
            <a:r>
              <a:rPr sz="1200" b="0" i="0" u="none">
                <a:solidFill>
                  <a:srgbClr val="000000"/>
                </a:solidFill>
                <a:latin typeface="Times New Roman"/>
                <a:ea typeface="Times New Roman"/>
                <a:cs typeface="Times New Roman"/>
              </a:rPr>
              <a:t> that is referenced by many listings and transactions. Product information—such as title, specifications, and category—is stored independently from individual purchase records.</a:t>
            </a:r>
            <a:endParaRPr/>
          </a:p>
          <a:p>
            <a:pPr>
              <a:defRPr/>
            </a:pPr>
            <a:r>
              <a:rPr sz="1200" b="0" i="0" u="none">
                <a:solidFill>
                  <a:srgbClr val="000000"/>
                </a:solidFill>
                <a:latin typeface="Times New Roman"/>
                <a:ea typeface="Times New Roman"/>
                <a:cs typeface="Times New Roman"/>
              </a:rPr>
              <a:t>If product details change, they can be updated in one place without modifying thousands of transaction documents. This independence makes referencing ideal for data that is </a:t>
            </a:r>
            <a:r>
              <a:rPr sz="1200" b="1" i="0" u="none">
                <a:solidFill>
                  <a:srgbClr val="000000"/>
                </a:solidFill>
                <a:latin typeface="Times New Roman"/>
                <a:ea typeface="Times New Roman"/>
                <a:cs typeface="Times New Roman"/>
              </a:rPr>
              <a:t>shared and maintained centrally</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Referencing should be used when data is </a:t>
            </a:r>
            <a:r>
              <a:rPr sz="1200" b="1" i="0" u="none">
                <a:solidFill>
                  <a:srgbClr val="000000"/>
                </a:solidFill>
                <a:latin typeface="Times New Roman"/>
                <a:ea typeface="Times New Roman"/>
                <a:cs typeface="Times New Roman"/>
              </a:rPr>
              <a:t>shared, frequently updated independently, or potentially unbounded in size</a:t>
            </a:r>
            <a:r>
              <a:rPr sz="1200" b="0" i="0" u="none">
                <a:solidFill>
                  <a:srgbClr val="000000"/>
                </a:solidFill>
                <a:latin typeface="Times New Roman"/>
                <a:ea typeface="Times New Roman"/>
                <a:cs typeface="Times New Roman"/>
              </a:rPr>
              <a:t>. The cost is that retrieving complete information typically requires </a:t>
            </a:r>
            <a:r>
              <a:rPr sz="1200" b="1" i="0" u="none">
                <a:solidFill>
                  <a:srgbClr val="000000"/>
                </a:solidFill>
                <a:latin typeface="Times New Roman"/>
                <a:ea typeface="Times New Roman"/>
                <a:cs typeface="Times New Roman"/>
              </a:rPr>
              <a:t>multiple queries or join-like operations</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you use references and need to display a student's profile with course names, how many database queries does the API require?</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At least </a:t>
            </a:r>
            <a:r>
              <a:rPr sz="1200" b="1" i="0" u="none">
                <a:solidFill>
                  <a:srgbClr val="000000"/>
                </a:solidFill>
                <a:latin typeface="Times New Roman"/>
                <a:ea typeface="Times New Roman"/>
                <a:cs typeface="Times New Roman"/>
              </a:rPr>
              <a:t>two queries</a:t>
            </a:r>
            <a:r>
              <a:rPr sz="1200" b="0" i="0" u="none">
                <a:solidFill>
                  <a:srgbClr val="000000"/>
                </a:solidFill>
                <a:latin typeface="Times New Roman"/>
                <a:ea typeface="Times New Roman"/>
                <a:cs typeface="Times New Roman"/>
              </a:rPr>
              <a:t>. The first retrieves the student document containing the list of </a:t>
            </a:r>
            <a:r>
              <a:rPr sz="1000" b="0" i="0" u="none">
                <a:solidFill>
                  <a:srgbClr val="000000"/>
                </a:solidFill>
                <a:latin typeface="Courier New"/>
                <a:ea typeface="Courier New"/>
                <a:cs typeface="Courier New"/>
              </a:rPr>
              <a:t>course_ids</a:t>
            </a:r>
            <a:r>
              <a:rPr sz="1200" b="0" i="0" u="none">
                <a:solidFill>
                  <a:srgbClr val="000000"/>
                </a:solidFill>
                <a:latin typeface="Times New Roman"/>
                <a:ea typeface="Times New Roman"/>
                <a:cs typeface="Times New Roman"/>
              </a:rPr>
              <a:t>. The second retrieves the corresponding course documents using a query such as </a:t>
            </a:r>
            <a:r>
              <a:rPr sz="1000" b="0" i="0" u="none">
                <a:solidFill>
                  <a:srgbClr val="000000"/>
                </a:solidFill>
                <a:latin typeface="Courier New"/>
                <a:ea typeface="Courier New"/>
                <a:cs typeface="Courier New"/>
              </a:rPr>
              <a:t>$in</a:t>
            </a:r>
            <a:r>
              <a:rPr sz="1200" b="0" i="0" u="none">
                <a:solidFill>
                  <a:srgbClr val="000000"/>
                </a:solidFill>
                <a:latin typeface="Times New Roman"/>
                <a:ea typeface="Times New Roman"/>
                <a:cs typeface="Times New Roman"/>
              </a:rPr>
              <a:t>. The backend API then merges the results in memory before returning the final response.</a:t>
            </a:r>
            <a:endParaRPr lang="en-US"/>
          </a:p>
        </p:txBody>
      </p:sp>
      <p:sp>
        <p:nvSpPr>
          <p:cNvPr id="95683886" name="Slide Number Placeholder 3"/>
          <p:cNvSpPr>
            <a:spLocks noGrp="1"/>
          </p:cNvSpPr>
          <p:nvPr>
            <p:ph type="sldNum" sz="quarter" idx="10"/>
          </p:nvPr>
        </p:nvSpPr>
        <p:spPr bwMode="auto"/>
        <p:txBody>
          <a:bodyPr/>
          <a:lstStyle/>
          <a:p>
            <a:pPr>
              <a:defRPr/>
            </a:pPr>
            <a:fld id="{F7021451-1387-4CA6-816F-3879F97B5CBC}" type="slidenum">
              <a:rPr lang="en-US"/>
              <a:t>62</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1472876" name="Slide Image Placeholder 1"/>
          <p:cNvSpPr>
            <a:spLocks noChangeAspect="1" noGrp="1" noRot="1"/>
          </p:cNvSpPr>
          <p:nvPr>
            <p:ph type="sldImg"/>
          </p:nvPr>
        </p:nvSpPr>
        <p:spPr bwMode="auto"/>
      </p:sp>
      <p:sp>
        <p:nvSpPr>
          <p:cNvPr id="201251047"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Web App Pattern: One Request, One Document</a:t>
            </a:r>
            <a:endParaRPr/>
          </a:p>
          <a:p>
            <a:pPr>
              <a:defRPr/>
            </a:pPr>
            <a:r>
              <a:rPr sz="1200" b="0" i="0" u="none">
                <a:solidFill>
                  <a:srgbClr val="000000"/>
                </a:solidFill>
                <a:latin typeface="Times New Roman"/>
                <a:ea typeface="Times New Roman"/>
                <a:cs typeface="Times New Roman"/>
              </a:rPr>
              <a:t>A core architectural goal when using document databases is the </a:t>
            </a:r>
            <a:r>
              <a:rPr sz="1200" b="1" i="0" u="none">
                <a:solidFill>
                  <a:srgbClr val="000000"/>
                </a:solidFill>
                <a:latin typeface="Times New Roman"/>
                <a:ea typeface="Times New Roman"/>
                <a:cs typeface="Times New Roman"/>
              </a:rPr>
              <a:t>one-request–one-document pattern</a:t>
            </a:r>
            <a:r>
              <a:rPr sz="1200" b="0" i="0" u="none">
                <a:solidFill>
                  <a:srgbClr val="000000"/>
                </a:solidFill>
                <a:latin typeface="Times New Roman"/>
                <a:ea typeface="Times New Roman"/>
                <a:cs typeface="Times New Roman"/>
              </a:rPr>
              <a:t>. Modern web and mobile applications expect responses to be fast and complete. Ideally, each API request should translate into </a:t>
            </a:r>
            <a:r>
              <a:rPr sz="1200" b="1" i="0" u="none">
                <a:solidFill>
                  <a:srgbClr val="000000"/>
                </a:solidFill>
                <a:latin typeface="Times New Roman"/>
                <a:ea typeface="Times New Roman"/>
                <a:cs typeface="Times New Roman"/>
              </a:rPr>
              <a:t>a single database query that returns a fully assembled document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ideal flow therefore looks like this:</a:t>
            </a:r>
            <a:endParaRPr/>
          </a:p>
          <a:p>
            <a:pPr>
              <a:defRPr/>
            </a:pPr>
            <a:r>
              <a:rPr sz="1200" b="1" i="0" u="none">
                <a:solidFill>
                  <a:srgbClr val="000000"/>
                </a:solidFill>
                <a:latin typeface="Times New Roman"/>
                <a:ea typeface="Times New Roman"/>
                <a:cs typeface="Times New Roman"/>
              </a:rPr>
              <a:t>one HTTP request → one database query → one complete document</a:t>
            </a:r>
            <a:endParaRPr/>
          </a:p>
          <a:p>
            <a:pPr>
              <a:defRPr/>
            </a:pPr>
            <a:r>
              <a:rPr sz="1200" b="0" i="0" u="none">
                <a:solidFill>
                  <a:srgbClr val="000000"/>
                </a:solidFill>
                <a:latin typeface="Times New Roman"/>
                <a:ea typeface="Times New Roman"/>
                <a:cs typeface="Times New Roman"/>
              </a:rPr>
              <a:t>In this pattern, the database document is designed to closely match the </a:t>
            </a:r>
            <a:r>
              <a:rPr sz="1200" b="1" i="0" u="none">
                <a:solidFill>
                  <a:srgbClr val="000000"/>
                </a:solidFill>
                <a:latin typeface="Times New Roman"/>
                <a:ea typeface="Times New Roman"/>
                <a:cs typeface="Times New Roman"/>
              </a:rPr>
              <a:t>JSON structure required by the frontend</a:t>
            </a:r>
            <a:r>
              <a:rPr sz="1200" b="0" i="0" u="none">
                <a:solidFill>
                  <a:srgbClr val="000000"/>
                </a:solidFill>
                <a:latin typeface="Times New Roman"/>
                <a:ea typeface="Times New Roman"/>
                <a:cs typeface="Times New Roman"/>
              </a:rPr>
              <a:t>. When a client calls an API endpoint, the backend simply retrieves the document and returns it with minimal transformation.</a:t>
            </a:r>
            <a:endParaRPr/>
          </a:p>
          <a:p>
            <a:pPr>
              <a:defRPr/>
            </a:pPr>
            <a:r>
              <a:rPr sz="1200" b="0" i="0" u="none">
                <a:solidFill>
                  <a:srgbClr val="000000"/>
                </a:solidFill>
                <a:latin typeface="Times New Roman"/>
                <a:ea typeface="Times New Roman"/>
                <a:cs typeface="Times New Roman"/>
              </a:rPr>
              <a:t>For example, an API endpoint such as:</a:t>
            </a:r>
            <a:endParaRPr/>
          </a:p>
          <a:p>
            <a:pPr>
              <a:defRPr/>
            </a:pPr>
            <a:r>
              <a:rPr sz="1000" b="0" i="0" u="none">
                <a:solidFill>
                  <a:srgbClr val="000000"/>
                </a:solidFill>
                <a:latin typeface="Courier New"/>
                <a:ea typeface="Courier New"/>
                <a:cs typeface="Courier New"/>
              </a:rPr>
              <a:t>GET /api/students/12345
</a:t>
            </a:r>
            <a:endParaRPr/>
          </a:p>
          <a:p>
            <a:pPr>
              <a:defRPr/>
            </a:pPr>
            <a:r>
              <a:rPr sz="1200" b="0" i="0" u="none">
                <a:solidFill>
                  <a:srgbClr val="000000"/>
                </a:solidFill>
                <a:latin typeface="Times New Roman"/>
                <a:ea typeface="Times New Roman"/>
                <a:cs typeface="Times New Roman"/>
              </a:rPr>
              <a:t>might return a document structured like this:</a:t>
            </a:r>
            <a:endParaRPr/>
          </a:p>
          <a:p>
            <a:pPr>
              <a:defRPr/>
            </a:pPr>
            <a:r>
              <a:rPr sz="1000" b="0" i="0" u="none">
                <a:solidFill>
                  <a:srgbClr val="000000"/>
                </a:solidFill>
                <a:latin typeface="Courier New"/>
                <a:ea typeface="Courier New"/>
                <a:cs typeface="Courier New"/>
              </a:rPr>
              <a:t>{
  "student_id": 12345,
  "name": "Maria Papadopoulou",
  "city": "Volos",
  "courses": [
    { "name": "NoSQL Databases", "grade": 8 },
    { "name": "Machine Learning", "grade": 7 }
  ]
}
</a:t>
            </a:r>
            <a:endParaRPr/>
          </a:p>
          <a:p>
            <a:pPr>
              <a:defRPr/>
            </a:pPr>
            <a:r>
              <a:rPr sz="1200" b="0" i="0" u="none">
                <a:solidFill>
                  <a:srgbClr val="000000"/>
                </a:solidFill>
                <a:latin typeface="Times New Roman"/>
                <a:ea typeface="Times New Roman"/>
                <a:cs typeface="Times New Roman"/>
              </a:rPr>
              <a:t>Because the courses are embedded inside the student document, the backend only needs </a:t>
            </a:r>
            <a:r>
              <a:rPr sz="1200" b="1" i="0" u="none">
                <a:solidFill>
                  <a:srgbClr val="000000"/>
                </a:solidFill>
                <a:latin typeface="Times New Roman"/>
                <a:ea typeface="Times New Roman"/>
                <a:cs typeface="Times New Roman"/>
              </a:rPr>
              <a:t>one query</a:t>
            </a:r>
            <a:r>
              <a:rPr sz="1200" b="0" i="0" u="none">
                <a:solidFill>
                  <a:srgbClr val="000000"/>
                </a:solidFill>
                <a:latin typeface="Times New Roman"/>
                <a:ea typeface="Times New Roman"/>
                <a:cs typeface="Times New Roman"/>
              </a:rPr>
              <a:t> to fetch all the data required by the frontend screen.</a:t>
            </a:r>
            <a:endParaRPr/>
          </a:p>
          <a:p>
            <a:pPr>
              <a:defRPr/>
            </a:pPr>
            <a:r>
              <a:rPr sz="1200" b="0" i="0" u="none">
                <a:solidFill>
                  <a:srgbClr val="000000"/>
                </a:solidFill>
                <a:latin typeface="Times New Roman"/>
                <a:ea typeface="Times New Roman"/>
                <a:cs typeface="Times New Roman"/>
              </a:rPr>
              <a:t>This dramatically simplifies backend logic. The server receives the request, queries the database by ID, and returns the document. There is no need for joins, multiple queries, or assembling pieces of data from different sources. As a result, the code becomes </a:t>
            </a:r>
            <a:r>
              <a:rPr sz="1200" b="1" i="0" u="none">
                <a:solidFill>
                  <a:srgbClr val="000000"/>
                </a:solidFill>
                <a:latin typeface="Times New Roman"/>
                <a:ea typeface="Times New Roman"/>
                <a:cs typeface="Times New Roman"/>
              </a:rPr>
              <a:t>simpler, easier to maintain, and less prone to bugs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Another advantage of this pattern is flexibility in how data is returned. Even if the document contains many fields, the API can use </a:t>
            </a:r>
            <a:r>
              <a:rPr sz="1200" b="1" i="0" u="none">
                <a:solidFill>
                  <a:srgbClr val="000000"/>
                </a:solidFill>
                <a:latin typeface="Times New Roman"/>
                <a:ea typeface="Times New Roman"/>
                <a:cs typeface="Times New Roman"/>
              </a:rPr>
              <a:t>projections</a:t>
            </a:r>
            <a:r>
              <a:rPr sz="1200" b="0" i="0" u="none">
                <a:solidFill>
                  <a:srgbClr val="000000"/>
                </a:solidFill>
                <a:latin typeface="Times New Roman"/>
                <a:ea typeface="Times New Roman"/>
                <a:cs typeface="Times New Roman"/>
              </a:rPr>
              <a:t> to return only the fields needed for a specific screen. Extra fields stored in the document do not impose additional cost because they can be excluded from the response before the data is sent to the client.</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Large-scale platforms such as </a:t>
            </a:r>
            <a:r>
              <a:rPr sz="1200" b="1" i="0" u="none">
                <a:solidFill>
                  <a:srgbClr val="000000"/>
                </a:solidFill>
                <a:latin typeface="Times New Roman"/>
                <a:ea typeface="Times New Roman"/>
                <a:cs typeface="Times New Roman"/>
              </a:rPr>
              <a:t>Netflix</a:t>
            </a:r>
            <a:r>
              <a:rPr sz="1200" b="0" i="0" u="none">
                <a:solidFill>
                  <a:srgbClr val="000000"/>
                </a:solidFill>
                <a:latin typeface="Times New Roman"/>
                <a:ea typeface="Times New Roman"/>
                <a:cs typeface="Times New Roman"/>
              </a:rPr>
              <a:t> design many of their backend services around this principle. When the Netflix application loads a user’s homepage, the system retrieves a structured document containing personalized recommendation lists, thumbnails, and metadata already organized in the format required by the user interface.</a:t>
            </a:r>
            <a:endParaRPr/>
          </a:p>
          <a:p>
            <a:pPr>
              <a:defRPr/>
            </a:pPr>
            <a:r>
              <a:rPr sz="1200" b="0" i="0" u="none">
                <a:solidFill>
                  <a:srgbClr val="000000"/>
                </a:solidFill>
                <a:latin typeface="Times New Roman"/>
                <a:ea typeface="Times New Roman"/>
                <a:cs typeface="Times New Roman"/>
              </a:rPr>
              <a:t>Because the response structure closely matches what the frontend needs to display, the backend can deliver the data with </a:t>
            </a:r>
            <a:r>
              <a:rPr sz="1200" b="1" i="0" u="none">
                <a:solidFill>
                  <a:srgbClr val="000000"/>
                </a:solidFill>
                <a:latin typeface="Times New Roman"/>
                <a:ea typeface="Times New Roman"/>
                <a:cs typeface="Times New Roman"/>
              </a:rPr>
              <a:t>minimal processing and extremely low latency</a:t>
            </a:r>
            <a:r>
              <a:rPr sz="1200" b="0" i="0" u="none">
                <a:solidFill>
                  <a:srgbClr val="000000"/>
                </a:solidFill>
                <a:latin typeface="Times New Roman"/>
                <a:ea typeface="Times New Roman"/>
                <a:cs typeface="Times New Roman"/>
              </a:rPr>
              <a:t>, even under massive traffic loads.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one-request–one-document pattern</a:t>
            </a:r>
            <a:r>
              <a:rPr sz="1200" b="0" i="0" u="none">
                <a:solidFill>
                  <a:srgbClr val="000000"/>
                </a:solidFill>
                <a:latin typeface="Times New Roman"/>
                <a:ea typeface="Times New Roman"/>
                <a:cs typeface="Times New Roman"/>
              </a:rPr>
              <a:t> is the ideal design for document databases. When documents are structured to match the data required by API endpoints, each request can be answered with a single query, resulting in faster responses and simpler backend code.</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the frontend displays </a:t>
            </a:r>
            <a:r>
              <a:rPr sz="1200" b="1" i="0" u="none">
                <a:solidFill>
                  <a:srgbClr val="000000"/>
                </a:solidFill>
                <a:latin typeface="Times New Roman"/>
                <a:ea typeface="Times New Roman"/>
                <a:cs typeface="Times New Roman"/>
              </a:rPr>
              <a:t>10 different screens</a:t>
            </a:r>
            <a:r>
              <a:rPr sz="1200" b="0" i="0" u="none">
                <a:solidFill>
                  <a:srgbClr val="000000"/>
                </a:solidFill>
                <a:latin typeface="Times New Roman"/>
                <a:ea typeface="Times New Roman"/>
                <a:cs typeface="Times New Roman"/>
              </a:rPr>
              <a:t>, each requiring different combinations of data, does that mean we need </a:t>
            </a:r>
            <a:r>
              <a:rPr sz="1200" b="1" i="0" u="none">
                <a:solidFill>
                  <a:srgbClr val="000000"/>
                </a:solidFill>
                <a:latin typeface="Times New Roman"/>
                <a:ea typeface="Times New Roman"/>
                <a:cs typeface="Times New Roman"/>
              </a:rPr>
              <a:t>10 different document collections</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No. A single well-designed document can serve multiple screens. The database stores all relevant fields, and each API query uses </a:t>
            </a:r>
            <a:r>
              <a:rPr sz="1200" b="1" i="0" u="none">
                <a:solidFill>
                  <a:srgbClr val="000000"/>
                </a:solidFill>
                <a:latin typeface="Times New Roman"/>
                <a:ea typeface="Times New Roman"/>
                <a:cs typeface="Times New Roman"/>
              </a:rPr>
              <a:t>projections</a:t>
            </a:r>
            <a:r>
              <a:rPr sz="1200" b="0" i="0" u="none">
                <a:solidFill>
                  <a:srgbClr val="000000"/>
                </a:solidFill>
                <a:latin typeface="Times New Roman"/>
                <a:ea typeface="Times New Roman"/>
                <a:cs typeface="Times New Roman"/>
              </a:rPr>
              <a:t> to return only the fields needed for a particular screen. This avoids duplication while still allowing each endpoint to receive exactly the data it requires.</a:t>
            </a:r>
            <a:endParaRPr lang="en-US"/>
          </a:p>
        </p:txBody>
      </p:sp>
      <p:sp>
        <p:nvSpPr>
          <p:cNvPr id="1310580776" name="Slide Number Placeholder 3"/>
          <p:cNvSpPr>
            <a:spLocks noGrp="1"/>
          </p:cNvSpPr>
          <p:nvPr>
            <p:ph type="sldNum" sz="quarter" idx="10"/>
          </p:nvPr>
        </p:nvSpPr>
        <p:spPr bwMode="auto"/>
        <p:txBody>
          <a:bodyPr/>
          <a:lstStyle/>
          <a:p>
            <a:pPr>
              <a:defRPr/>
            </a:pPr>
            <a:fld id="{F7021451-1387-4CA6-816F-3879F97B5CBC}" type="slidenum">
              <a:rPr lang="en-US"/>
              <a:t>63</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4450696" name="Slide Image Placeholder 1"/>
          <p:cNvSpPr>
            <a:spLocks noChangeAspect="1" noGrp="1" noRot="1"/>
          </p:cNvSpPr>
          <p:nvPr>
            <p:ph type="sldImg"/>
          </p:nvPr>
        </p:nvSpPr>
        <p:spPr bwMode="auto"/>
      </p:sp>
      <p:sp>
        <p:nvSpPr>
          <p:cNvPr id="1655407100"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What Are Microservices?</a:t>
            </a:r>
            <a:endParaRPr/>
          </a:p>
          <a:p>
            <a:pPr>
              <a:defRPr/>
            </a:pPr>
            <a:r>
              <a:rPr sz="1200" b="1" i="0" u="none">
                <a:solidFill>
                  <a:srgbClr val="000000"/>
                </a:solidFill>
                <a:latin typeface="Times New Roman"/>
                <a:ea typeface="Times New Roman"/>
                <a:cs typeface="Times New Roman"/>
              </a:rPr>
              <a:t>Microservices</a:t>
            </a:r>
            <a:r>
              <a:rPr sz="1200" b="0" i="0" u="none">
                <a:solidFill>
                  <a:srgbClr val="000000"/>
                </a:solidFill>
                <a:latin typeface="Times New Roman"/>
                <a:ea typeface="Times New Roman"/>
                <a:cs typeface="Times New Roman"/>
              </a:rPr>
              <a:t> are an architectural style in which a system is built as a collection of </a:t>
            </a:r>
            <a:r>
              <a:rPr sz="1200" b="1" i="0" u="none">
                <a:solidFill>
                  <a:srgbClr val="000000"/>
                </a:solidFill>
                <a:latin typeface="Times New Roman"/>
                <a:ea typeface="Times New Roman"/>
                <a:cs typeface="Times New Roman"/>
              </a:rPr>
              <a:t>small, independent services</a:t>
            </a:r>
            <a:r>
              <a:rPr sz="1200" b="0" i="0" u="none">
                <a:solidFill>
                  <a:srgbClr val="000000"/>
                </a:solidFill>
                <a:latin typeface="Times New Roman"/>
                <a:ea typeface="Times New Roman"/>
                <a:cs typeface="Times New Roman"/>
              </a:rPr>
              <a:t>, rather than a single large application. Each service is responsible for a </a:t>
            </a:r>
            <a:r>
              <a:rPr sz="1200" b="1" i="0" u="none">
                <a:solidFill>
                  <a:srgbClr val="000000"/>
                </a:solidFill>
                <a:latin typeface="Times New Roman"/>
                <a:ea typeface="Times New Roman"/>
                <a:cs typeface="Times New Roman"/>
              </a:rPr>
              <a:t>specific business capability</a:t>
            </a:r>
            <a:r>
              <a:rPr sz="1200" b="0" i="0" u="none">
                <a:solidFill>
                  <a:srgbClr val="000000"/>
                </a:solidFill>
                <a:latin typeface="Times New Roman"/>
                <a:ea typeface="Times New Roman"/>
                <a:cs typeface="Times New Roman"/>
              </a:rPr>
              <a:t> and can be developed, deployed, and scaled independently.</a:t>
            </a:r>
            <a:endParaRPr/>
          </a:p>
          <a:p>
            <a:pPr>
              <a:defRPr/>
            </a:pPr>
            <a:r>
              <a:rPr sz="1200" b="0" i="0" u="none">
                <a:solidFill>
                  <a:srgbClr val="000000"/>
                </a:solidFill>
                <a:latin typeface="Times New Roman"/>
                <a:ea typeface="Times New Roman"/>
                <a:cs typeface="Times New Roman"/>
              </a:rPr>
              <a:t>In a microservices architecture:</a:t>
            </a:r>
            <a:endParaRPr/>
          </a:p>
          <a:p>
            <a:pPr>
              <a:defRPr/>
            </a:pPr>
            <a:r>
              <a:rPr sz="1200" b="0" i="0" u="none">
                <a:solidFill>
                  <a:srgbClr val="000000"/>
                </a:solidFill>
                <a:latin typeface="Times New Roman"/>
                <a:ea typeface="Times New Roman"/>
                <a:cs typeface="Times New Roman"/>
              </a:rPr>
              <a:t>Each service has </a:t>
            </a:r>
            <a:r>
              <a:rPr sz="1200" b="1" i="0" u="none">
                <a:solidFill>
                  <a:srgbClr val="000000"/>
                </a:solidFill>
                <a:latin typeface="Times New Roman"/>
                <a:ea typeface="Times New Roman"/>
                <a:cs typeface="Times New Roman"/>
              </a:rPr>
              <a:t>one clear responsibility</a:t>
            </a:r>
            <a:endParaRPr/>
          </a:p>
          <a:p>
            <a:pPr>
              <a:defRPr/>
            </a:pPr>
            <a:r>
              <a:rPr sz="1200" b="0" i="0" u="none">
                <a:solidFill>
                  <a:srgbClr val="000000"/>
                </a:solidFill>
                <a:latin typeface="Times New Roman"/>
                <a:ea typeface="Times New Roman"/>
                <a:cs typeface="Times New Roman"/>
              </a:rPr>
              <a:t>Each service manages </a:t>
            </a:r>
            <a:r>
              <a:rPr sz="1200" b="1" i="0" u="none">
                <a:solidFill>
                  <a:srgbClr val="000000"/>
                </a:solidFill>
                <a:latin typeface="Times New Roman"/>
                <a:ea typeface="Times New Roman"/>
                <a:cs typeface="Times New Roman"/>
              </a:rPr>
              <a:t>its own database</a:t>
            </a:r>
            <a:endParaRPr/>
          </a:p>
          <a:p>
            <a:pPr>
              <a:defRPr/>
            </a:pPr>
            <a:r>
              <a:rPr sz="1200" b="0" i="0" u="none">
                <a:solidFill>
                  <a:srgbClr val="000000"/>
                </a:solidFill>
                <a:latin typeface="Times New Roman"/>
                <a:ea typeface="Times New Roman"/>
                <a:cs typeface="Times New Roman"/>
              </a:rPr>
              <a:t>Services communicate with each other </a:t>
            </a:r>
            <a:r>
              <a:rPr sz="1200" b="1" i="0" u="none">
                <a:solidFill>
                  <a:srgbClr val="000000"/>
                </a:solidFill>
                <a:latin typeface="Times New Roman"/>
                <a:ea typeface="Times New Roman"/>
                <a:cs typeface="Times New Roman"/>
              </a:rPr>
              <a:t>through APIs</a:t>
            </a:r>
            <a:endParaRPr/>
          </a:p>
          <a:p>
            <a:pPr>
              <a:defRPr/>
            </a:pPr>
            <a:r>
              <a:rPr sz="1200" b="0" i="0" u="none">
                <a:solidFill>
                  <a:srgbClr val="000000"/>
                </a:solidFill>
                <a:latin typeface="Times New Roman"/>
                <a:ea typeface="Times New Roman"/>
                <a:cs typeface="Times New Roman"/>
              </a:rPr>
              <a:t>Services can be </a:t>
            </a:r>
            <a:r>
              <a:rPr sz="1200" b="1" i="0" u="none">
                <a:solidFill>
                  <a:srgbClr val="000000"/>
                </a:solidFill>
                <a:latin typeface="Times New Roman"/>
                <a:ea typeface="Times New Roman"/>
                <a:cs typeface="Times New Roman"/>
              </a:rPr>
              <a:t>deployed and scaled independently</a:t>
            </a:r>
            <a:endParaRPr/>
          </a:p>
          <a:p>
            <a:pPr>
              <a:defRPr/>
            </a:pPr>
            <a:r>
              <a:rPr sz="1200" b="0" i="0" u="none">
                <a:solidFill>
                  <a:srgbClr val="000000"/>
                </a:solidFill>
                <a:latin typeface="Times New Roman"/>
                <a:ea typeface="Times New Roman"/>
                <a:cs typeface="Times New Roman"/>
              </a:rPr>
              <a:t>Failures in one service </a:t>
            </a:r>
            <a:r>
              <a:rPr sz="1200" b="1" i="0" u="none">
                <a:solidFill>
                  <a:srgbClr val="000000"/>
                </a:solidFill>
                <a:latin typeface="Times New Roman"/>
                <a:ea typeface="Times New Roman"/>
                <a:cs typeface="Times New Roman"/>
              </a:rPr>
              <a:t>do not automatically crash the entire system</a:t>
            </a:r>
            <a:endParaRPr/>
          </a:p>
          <a:p>
            <a:pPr>
              <a:defRPr/>
            </a:pPr>
            <a:r>
              <a:rPr sz="1200" b="0" i="0" u="none">
                <a:solidFill>
                  <a:srgbClr val="000000"/>
                </a:solidFill>
                <a:latin typeface="Times New Roman"/>
                <a:ea typeface="Times New Roman"/>
                <a:cs typeface="Times New Roman"/>
              </a:rPr>
              <a:t>This approach contrasts with the traditional </a:t>
            </a:r>
            <a:r>
              <a:rPr sz="1200" b="1" i="0" u="none">
                <a:solidFill>
                  <a:srgbClr val="000000"/>
                </a:solidFill>
                <a:latin typeface="Times New Roman"/>
                <a:ea typeface="Times New Roman"/>
                <a:cs typeface="Times New Roman"/>
              </a:rPr>
              <a:t>monolithic architecture</a:t>
            </a:r>
            <a:r>
              <a:rPr sz="1200" b="0" i="0" u="none">
                <a:solidFill>
                  <a:srgbClr val="000000"/>
                </a:solidFill>
                <a:latin typeface="Times New Roman"/>
                <a:ea typeface="Times New Roman"/>
                <a:cs typeface="Times New Roman"/>
              </a:rPr>
              <a:t>, where all functionality is implemented inside one large application connected to a single shared database.</a:t>
            </a:r>
            <a:endParaRPr/>
          </a:p>
          <a:p>
            <a:pPr>
              <a:defRPr/>
            </a:pPr>
            <a:r>
              <a:rPr sz="1200" b="0" i="0" u="none">
                <a:solidFill>
                  <a:srgbClr val="000000"/>
                </a:solidFill>
                <a:latin typeface="Times New Roman"/>
                <a:ea typeface="Times New Roman"/>
                <a:cs typeface="Times New Roman"/>
              </a:rPr>
              <a:t>For example, an online university platform might include several independent services:</a:t>
            </a:r>
            <a:endParaRPr/>
          </a:p>
          <a:p>
            <a:pPr>
              <a:defRPr/>
            </a:pPr>
            <a:r>
              <a:rPr sz="1200" b="1" i="0" u="none">
                <a:solidFill>
                  <a:srgbClr val="000000"/>
                </a:solidFill>
                <a:latin typeface="Times New Roman"/>
                <a:ea typeface="Times New Roman"/>
                <a:cs typeface="Times New Roman"/>
              </a:rPr>
              <a:t>Student Service</a:t>
            </a:r>
            <a:r>
              <a:rPr sz="1200" b="0" i="0" u="none">
                <a:solidFill>
                  <a:srgbClr val="000000"/>
                </a:solidFill>
                <a:latin typeface="Times New Roman"/>
                <a:ea typeface="Times New Roman"/>
                <a:cs typeface="Times New Roman"/>
              </a:rPr>
              <a:t> — manages student profiles</a:t>
            </a:r>
            <a:endParaRPr/>
          </a:p>
          <a:p>
            <a:pPr>
              <a:defRPr/>
            </a:pPr>
            <a:r>
              <a:rPr sz="1200" b="1" i="0" u="none">
                <a:solidFill>
                  <a:srgbClr val="000000"/>
                </a:solidFill>
                <a:latin typeface="Times New Roman"/>
                <a:ea typeface="Times New Roman"/>
                <a:cs typeface="Times New Roman"/>
              </a:rPr>
              <a:t>Course Service</a:t>
            </a:r>
            <a:r>
              <a:rPr sz="1200" b="0" i="0" u="none">
                <a:solidFill>
                  <a:srgbClr val="000000"/>
                </a:solidFill>
                <a:latin typeface="Times New Roman"/>
                <a:ea typeface="Times New Roman"/>
                <a:cs typeface="Times New Roman"/>
              </a:rPr>
              <a:t> — manages course catalogs</a:t>
            </a:r>
            <a:endParaRPr/>
          </a:p>
          <a:p>
            <a:pPr>
              <a:defRPr/>
            </a:pPr>
            <a:r>
              <a:rPr sz="1200" b="1" i="0" u="none">
                <a:solidFill>
                  <a:srgbClr val="000000"/>
                </a:solidFill>
                <a:latin typeface="Times New Roman"/>
                <a:ea typeface="Times New Roman"/>
                <a:cs typeface="Times New Roman"/>
              </a:rPr>
              <a:t>Enrollment Service</a:t>
            </a:r>
            <a:r>
              <a:rPr sz="1200" b="0" i="0" u="none">
                <a:solidFill>
                  <a:srgbClr val="000000"/>
                </a:solidFill>
                <a:latin typeface="Times New Roman"/>
                <a:ea typeface="Times New Roman"/>
                <a:cs typeface="Times New Roman"/>
              </a:rPr>
              <a:t> — handles student registrations</a:t>
            </a:r>
            <a:endParaRPr/>
          </a:p>
          <a:p>
            <a:pPr>
              <a:defRPr/>
            </a:pPr>
            <a:r>
              <a:rPr sz="1200" b="1" i="0" u="none">
                <a:solidFill>
                  <a:srgbClr val="000000"/>
                </a:solidFill>
                <a:latin typeface="Times New Roman"/>
                <a:ea typeface="Times New Roman"/>
                <a:cs typeface="Times New Roman"/>
              </a:rPr>
              <a:t>Payment Service</a:t>
            </a:r>
            <a:r>
              <a:rPr sz="1200" b="0" i="0" u="none">
                <a:solidFill>
                  <a:srgbClr val="000000"/>
                </a:solidFill>
                <a:latin typeface="Times New Roman"/>
                <a:ea typeface="Times New Roman"/>
                <a:cs typeface="Times New Roman"/>
              </a:rPr>
              <a:t> — processes tuition payments</a:t>
            </a:r>
            <a:endParaRPr/>
          </a:p>
          <a:p>
            <a:pPr>
              <a:defRPr/>
            </a:pPr>
            <a:r>
              <a:rPr sz="1200" b="0" i="0" u="none">
                <a:solidFill>
                  <a:srgbClr val="000000"/>
                </a:solidFill>
                <a:latin typeface="Times New Roman"/>
                <a:ea typeface="Times New Roman"/>
                <a:cs typeface="Times New Roman"/>
              </a:rPr>
              <a:t>Each service owns its own data and exposes APIs that other services can call when needed.</a:t>
            </a:r>
            <a:endParaRPr/>
          </a:p>
          <a:p>
            <a:pPr>
              <a:defRPr/>
            </a:pPr>
            <a:r>
              <a:rPr sz="1400" b="1" i="0" u="none">
                <a:solidFill>
                  <a:srgbClr val="000000"/>
                </a:solidFill>
                <a:latin typeface="Times New Roman"/>
                <a:ea typeface="Times New Roman"/>
                <a:cs typeface="Times New Roman"/>
              </a:rPr>
              <a:t>Why Microservices Matter</a:t>
            </a:r>
            <a:endParaRPr/>
          </a:p>
          <a:p>
            <a:pPr>
              <a:defRPr/>
            </a:pPr>
            <a:r>
              <a:rPr sz="1200" b="0" i="0" u="none">
                <a:solidFill>
                  <a:srgbClr val="000000"/>
                </a:solidFill>
                <a:latin typeface="Times New Roman"/>
                <a:ea typeface="Times New Roman"/>
                <a:cs typeface="Times New Roman"/>
              </a:rPr>
              <a:t>Microservices allow organizations to </a:t>
            </a:r>
            <a:r>
              <a:rPr sz="1200" b="1" i="0" u="none">
                <a:solidFill>
                  <a:srgbClr val="000000"/>
                </a:solidFill>
                <a:latin typeface="Times New Roman"/>
                <a:ea typeface="Times New Roman"/>
                <a:cs typeface="Times New Roman"/>
              </a:rPr>
              <a:t>scale specific parts of a system independently</a:t>
            </a:r>
            <a:r>
              <a:rPr sz="1200" b="0" i="0" u="none">
                <a:solidFill>
                  <a:srgbClr val="000000"/>
                </a:solidFill>
                <a:latin typeface="Times New Roman"/>
                <a:ea typeface="Times New Roman"/>
                <a:cs typeface="Times New Roman"/>
              </a:rPr>
              <a:t>. If one feature becomes heavily used, only the corresponding service needs to scale.</a:t>
            </a:r>
            <a:endParaRPr/>
          </a:p>
          <a:p>
            <a:pPr>
              <a:defRPr/>
            </a:pPr>
            <a:r>
              <a:rPr sz="1200" b="0" i="0" u="none">
                <a:solidFill>
                  <a:srgbClr val="000000"/>
                </a:solidFill>
                <a:latin typeface="Times New Roman"/>
                <a:ea typeface="Times New Roman"/>
                <a:cs typeface="Times New Roman"/>
              </a:rPr>
              <a:t>They also improve </a:t>
            </a:r>
            <a:r>
              <a:rPr sz="1200" b="1" i="0" u="none">
                <a:solidFill>
                  <a:srgbClr val="000000"/>
                </a:solidFill>
                <a:latin typeface="Times New Roman"/>
                <a:ea typeface="Times New Roman"/>
                <a:cs typeface="Times New Roman"/>
              </a:rPr>
              <a:t>development velocity</a:t>
            </a:r>
            <a:r>
              <a:rPr sz="1200" b="0" i="0" u="none">
                <a:solidFill>
                  <a:srgbClr val="000000"/>
                </a:solidFill>
                <a:latin typeface="Times New Roman"/>
                <a:ea typeface="Times New Roman"/>
                <a:cs typeface="Times New Roman"/>
              </a:rPr>
              <a:t>. Because services are independent, different teams can work on different services without interfering with each other.</a:t>
            </a:r>
            <a:endParaRPr/>
          </a:p>
          <a:p>
            <a:pPr>
              <a:defRPr/>
            </a:pPr>
            <a:r>
              <a:rPr sz="1200" b="0" i="0" u="none">
                <a:solidFill>
                  <a:srgbClr val="000000"/>
                </a:solidFill>
                <a:latin typeface="Times New Roman"/>
                <a:ea typeface="Times New Roman"/>
                <a:cs typeface="Times New Roman"/>
              </a:rPr>
              <a:t>Another advantage is </a:t>
            </a:r>
            <a:r>
              <a:rPr sz="1200" b="1" i="0" u="none">
                <a:solidFill>
                  <a:srgbClr val="000000"/>
                </a:solidFill>
                <a:latin typeface="Times New Roman"/>
                <a:ea typeface="Times New Roman"/>
                <a:cs typeface="Times New Roman"/>
              </a:rPr>
              <a:t>fault isolation</a:t>
            </a:r>
            <a:r>
              <a:rPr sz="1200" b="0" i="0" u="none">
                <a:solidFill>
                  <a:srgbClr val="000000"/>
                </a:solidFill>
                <a:latin typeface="Times New Roman"/>
                <a:ea typeface="Times New Roman"/>
                <a:cs typeface="Times New Roman"/>
              </a:rPr>
              <a:t>. If one service fails, the rest of the system can often continue operating, limiting the impact of failures.</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Companies such as </a:t>
            </a:r>
            <a:r>
              <a:rPr sz="1200" b="1" i="0" u="none">
                <a:solidFill>
                  <a:srgbClr val="000000"/>
                </a:solidFill>
                <a:latin typeface="Times New Roman"/>
                <a:ea typeface="Times New Roman"/>
                <a:cs typeface="Times New Roman"/>
              </a:rPr>
              <a:t>Netflix</a:t>
            </a:r>
            <a:r>
              <a:rPr sz="1200" b="0" i="0" u="none">
                <a:solidFill>
                  <a:srgbClr val="000000"/>
                </a:solidFill>
                <a:latin typeface="Times New Roman"/>
                <a:ea typeface="Times New Roman"/>
                <a:cs typeface="Times New Roman"/>
              </a:rPr>
              <a:t> are famous for using microservices architecture. Instead of running a single monolithic backend, Netflix operates </a:t>
            </a:r>
            <a:r>
              <a:rPr sz="1200" b="1" i="0" u="none">
                <a:solidFill>
                  <a:srgbClr val="000000"/>
                </a:solidFill>
                <a:latin typeface="Times New Roman"/>
                <a:ea typeface="Times New Roman"/>
                <a:cs typeface="Times New Roman"/>
              </a:rPr>
              <a:t>hundreds of independent services</a:t>
            </a:r>
            <a:r>
              <a:rPr sz="1200" b="0" i="0" u="none">
                <a:solidFill>
                  <a:srgbClr val="000000"/>
                </a:solidFill>
                <a:latin typeface="Times New Roman"/>
                <a:ea typeface="Times New Roman"/>
                <a:cs typeface="Times New Roman"/>
              </a:rPr>
              <a:t> responsible for different tasks such as:</a:t>
            </a:r>
            <a:endParaRPr/>
          </a:p>
          <a:p>
            <a:pPr>
              <a:defRPr/>
            </a:pPr>
            <a:r>
              <a:rPr sz="1200" b="0" i="0" u="none">
                <a:solidFill>
                  <a:srgbClr val="000000"/>
                </a:solidFill>
                <a:latin typeface="Times New Roman"/>
                <a:ea typeface="Times New Roman"/>
                <a:cs typeface="Times New Roman"/>
              </a:rPr>
              <a:t>user profiles</a:t>
            </a:r>
            <a:endParaRPr/>
          </a:p>
          <a:p>
            <a:pPr>
              <a:defRPr/>
            </a:pPr>
            <a:r>
              <a:rPr sz="1200" b="0" i="0" u="none">
                <a:solidFill>
                  <a:srgbClr val="000000"/>
                </a:solidFill>
                <a:latin typeface="Times New Roman"/>
                <a:ea typeface="Times New Roman"/>
                <a:cs typeface="Times New Roman"/>
              </a:rPr>
              <a:t>video streaming</a:t>
            </a:r>
            <a:endParaRPr/>
          </a:p>
          <a:p>
            <a:pPr>
              <a:defRPr/>
            </a:pPr>
            <a:r>
              <a:rPr sz="1200" b="0" i="0" u="none">
                <a:solidFill>
                  <a:srgbClr val="000000"/>
                </a:solidFill>
                <a:latin typeface="Times New Roman"/>
                <a:ea typeface="Times New Roman"/>
                <a:cs typeface="Times New Roman"/>
              </a:rPr>
              <a:t>recommendations</a:t>
            </a:r>
            <a:endParaRPr/>
          </a:p>
          <a:p>
            <a:pPr>
              <a:defRPr/>
            </a:pPr>
            <a:r>
              <a:rPr sz="1200" b="0" i="0" u="none">
                <a:solidFill>
                  <a:srgbClr val="000000"/>
                </a:solidFill>
                <a:latin typeface="Times New Roman"/>
                <a:ea typeface="Times New Roman"/>
                <a:cs typeface="Times New Roman"/>
              </a:rPr>
              <a:t>billing</a:t>
            </a:r>
            <a:endParaRPr/>
          </a:p>
          <a:p>
            <a:pPr>
              <a:defRPr/>
            </a:pPr>
            <a:r>
              <a:rPr sz="1200" b="0" i="0" u="none">
                <a:solidFill>
                  <a:srgbClr val="000000"/>
                </a:solidFill>
                <a:latin typeface="Times New Roman"/>
                <a:ea typeface="Times New Roman"/>
                <a:cs typeface="Times New Roman"/>
              </a:rPr>
              <a:t>search</a:t>
            </a:r>
            <a:endParaRPr/>
          </a:p>
          <a:p>
            <a:pPr>
              <a:defRPr/>
            </a:pPr>
            <a:r>
              <a:rPr sz="1200" b="0" i="0" u="none">
                <a:solidFill>
                  <a:srgbClr val="000000"/>
                </a:solidFill>
                <a:latin typeface="Times New Roman"/>
                <a:ea typeface="Times New Roman"/>
                <a:cs typeface="Times New Roman"/>
              </a:rPr>
              <a:t>If the recommendation service experiences heavy load or needs to be updated, Netflix can scale or deploy that service independently without affecting the streaming service.</a:t>
            </a:r>
            <a:endParaRPr/>
          </a:p>
          <a:p>
            <a:pPr>
              <a:defRPr/>
            </a:pPr>
            <a:r>
              <a:rPr sz="1200" b="0" i="0" u="none">
                <a:solidFill>
                  <a:srgbClr val="000000"/>
                </a:solidFill>
                <a:latin typeface="Times New Roman"/>
                <a:ea typeface="Times New Roman"/>
                <a:cs typeface="Times New Roman"/>
              </a:rPr>
              <a:t>Similarly, </a:t>
            </a:r>
            <a:r>
              <a:rPr sz="1200" b="1" i="0" u="none">
                <a:solidFill>
                  <a:srgbClr val="000000"/>
                </a:solidFill>
                <a:latin typeface="Times New Roman"/>
                <a:ea typeface="Times New Roman"/>
                <a:cs typeface="Times New Roman"/>
              </a:rPr>
              <a:t>Amazon</a:t>
            </a:r>
            <a:r>
              <a:rPr sz="1200" b="0" i="0" u="none">
                <a:solidFill>
                  <a:srgbClr val="000000"/>
                </a:solidFill>
                <a:latin typeface="Times New Roman"/>
                <a:ea typeface="Times New Roman"/>
                <a:cs typeface="Times New Roman"/>
              </a:rPr>
              <a:t> uses microservices so that different parts of its platform—such as product catalog, checkout, payment processing, and shipping—can scale independently during high-traffic events like Black Friday.</a:t>
            </a:r>
            <a:endParaRPr/>
          </a:p>
          <a:p>
            <a:pPr>
              <a:defRPr/>
            </a:pPr>
            <a:r>
              <a:rPr sz="1400" b="1" i="0" u="none">
                <a:solidFill>
                  <a:srgbClr val="000000"/>
                </a:solidFill>
                <a:latin typeface="Times New Roman"/>
                <a:ea typeface="Times New Roman"/>
                <a:cs typeface="Times New Roman"/>
              </a:rPr>
              <a:t>Critical Design Rule</a:t>
            </a:r>
            <a:endParaRPr/>
          </a:p>
          <a:p>
            <a:pPr>
              <a:defRPr/>
            </a:pPr>
            <a:r>
              <a:rPr sz="1200" b="0" i="0" u="none">
                <a:solidFill>
                  <a:srgbClr val="000000"/>
                </a:solidFill>
                <a:latin typeface="Times New Roman"/>
                <a:ea typeface="Times New Roman"/>
                <a:cs typeface="Times New Roman"/>
              </a:rPr>
              <a:t>A fundamental rule of microservices is:</a:t>
            </a:r>
            <a:endParaRPr/>
          </a:p>
          <a:p>
            <a:pPr>
              <a:defRPr/>
            </a:pPr>
            <a:r>
              <a:rPr sz="1200" b="1" i="0" u="none">
                <a:solidFill>
                  <a:srgbClr val="000000"/>
                </a:solidFill>
                <a:latin typeface="Times New Roman"/>
                <a:ea typeface="Times New Roman"/>
                <a:cs typeface="Times New Roman"/>
              </a:rPr>
              <a:t>Services communicate only through APIs, never through shared databases.</a:t>
            </a:r>
            <a:endParaRPr/>
          </a:p>
          <a:p>
            <a:pPr>
              <a:defRPr/>
            </a:pPr>
            <a:r>
              <a:rPr sz="1200" b="0" i="0" u="none">
                <a:solidFill>
                  <a:srgbClr val="000000"/>
                </a:solidFill>
                <a:latin typeface="Times New Roman"/>
                <a:ea typeface="Times New Roman"/>
                <a:cs typeface="Times New Roman"/>
              </a:rPr>
              <a:t>Each service owns its own data. Other services must access that data through the service’s API rather than directly querying its database.</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Microservices divide a large system into </a:t>
            </a:r>
            <a:r>
              <a:rPr sz="1200" b="1" i="0" u="none">
                <a:solidFill>
                  <a:srgbClr val="000000"/>
                </a:solidFill>
                <a:latin typeface="Times New Roman"/>
                <a:ea typeface="Times New Roman"/>
                <a:cs typeface="Times New Roman"/>
              </a:rPr>
              <a:t>independent services that communicate via APIs</a:t>
            </a:r>
            <a:r>
              <a:rPr sz="1200" b="0" i="0" u="none">
                <a:solidFill>
                  <a:srgbClr val="000000"/>
                </a:solidFill>
                <a:latin typeface="Times New Roman"/>
                <a:ea typeface="Times New Roman"/>
                <a:cs typeface="Times New Roman"/>
              </a:rPr>
              <a:t>, enabling better scalability, resilience, and team autonomy.</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is sharing a database between two microservices considered an </a:t>
            </a:r>
            <a:r>
              <a:rPr sz="1200" b="1" i="0" u="none">
                <a:solidFill>
                  <a:srgbClr val="000000"/>
                </a:solidFill>
                <a:latin typeface="Times New Roman"/>
                <a:ea typeface="Times New Roman"/>
                <a:cs typeface="Times New Roman"/>
              </a:rPr>
              <a:t>anti-pattern</a:t>
            </a:r>
            <a:r>
              <a:rPr sz="1200" b="0" i="0" u="none">
                <a:solidFill>
                  <a:srgbClr val="000000"/>
                </a:solidFill>
                <a:latin typeface="Times New Roman"/>
                <a:ea typeface="Times New Roman"/>
                <a:cs typeface="Times New Roman"/>
              </a:rPr>
              <a:t>?</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it creates a hidden dependency between services. If two services rely on the same database schema, a change made by one service can break the other. This eliminates the independence that microservices are designed to provide and makes deployments risky and tightly coupled.</a:t>
            </a:r>
            <a:endParaRPr/>
          </a:p>
        </p:txBody>
      </p:sp>
      <p:sp>
        <p:nvSpPr>
          <p:cNvPr id="672782573" name="Slide Number Placeholder 3"/>
          <p:cNvSpPr>
            <a:spLocks noGrp="1"/>
          </p:cNvSpPr>
          <p:nvPr>
            <p:ph type="sldNum" sz="quarter" idx="10"/>
          </p:nvPr>
        </p:nvSpPr>
        <p:spPr bwMode="auto"/>
        <p:txBody>
          <a:bodyPr/>
          <a:lstStyle/>
          <a:p>
            <a:pPr>
              <a:defRPr/>
            </a:pPr>
            <a:fld id="{F7021451-1387-4CA6-816F-3879F97B5CBC}" type="slidenum">
              <a:rPr lang="en-US"/>
              <a:t>64</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534372" name="Slide Image Placeholder 1"/>
          <p:cNvSpPr>
            <a:spLocks noChangeAspect="1" noGrp="1" noRot="1"/>
          </p:cNvSpPr>
          <p:nvPr>
            <p:ph type="sldImg"/>
          </p:nvPr>
        </p:nvSpPr>
        <p:spPr bwMode="auto"/>
      </p:sp>
      <p:sp>
        <p:nvSpPr>
          <p:cNvPr id="2131738560"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Microservices &amp; Document Databases</a:t>
            </a:r>
            <a:endParaRPr/>
          </a:p>
          <a:p>
            <a:pPr>
              <a:defRPr/>
            </a:pPr>
            <a:r>
              <a:rPr sz="1200" b="0" i="0" u="none">
                <a:solidFill>
                  <a:srgbClr val="000000"/>
                </a:solidFill>
                <a:latin typeface="Times New Roman"/>
                <a:ea typeface="Times New Roman"/>
                <a:cs typeface="Times New Roman"/>
              </a:rPr>
              <a:t>In a </a:t>
            </a:r>
            <a:r>
              <a:rPr sz="1200" b="1" i="0" u="none">
                <a:solidFill>
                  <a:srgbClr val="000000"/>
                </a:solidFill>
                <a:latin typeface="Times New Roman"/>
                <a:ea typeface="Times New Roman"/>
                <a:cs typeface="Times New Roman"/>
              </a:rPr>
              <a:t>microservices architecture</a:t>
            </a:r>
            <a:r>
              <a:rPr sz="1200" b="0" i="0" u="none">
                <a:solidFill>
                  <a:srgbClr val="000000"/>
                </a:solidFill>
                <a:latin typeface="Times New Roman"/>
                <a:ea typeface="Times New Roman"/>
                <a:cs typeface="Times New Roman"/>
              </a:rPr>
              <a:t>, each service is responsible for its </a:t>
            </a:r>
            <a:r>
              <a:rPr sz="1200" b="1" i="0" u="none">
                <a:solidFill>
                  <a:srgbClr val="000000"/>
                </a:solidFill>
                <a:latin typeface="Times New Roman"/>
                <a:ea typeface="Times New Roman"/>
                <a:cs typeface="Times New Roman"/>
              </a:rPr>
              <a:t>own data and its own database</a:t>
            </a:r>
            <a:r>
              <a:rPr sz="1200" b="0" i="0" u="none">
                <a:solidFill>
                  <a:srgbClr val="000000"/>
                </a:solidFill>
                <a:latin typeface="Times New Roman"/>
                <a:ea typeface="Times New Roman"/>
                <a:cs typeface="Times New Roman"/>
              </a:rPr>
              <a:t>. This rule is fundamental: </a:t>
            </a:r>
            <a:r>
              <a:rPr sz="1200" b="1" i="0" u="none">
                <a:solidFill>
                  <a:srgbClr val="000000"/>
                </a:solidFill>
                <a:latin typeface="Times New Roman"/>
                <a:ea typeface="Times New Roman"/>
                <a:cs typeface="Times New Roman"/>
              </a:rPr>
              <a:t>databases are never shared between services</a:t>
            </a:r>
            <a:r>
              <a:rPr sz="1200" b="0" i="0" u="none">
                <a:solidFill>
                  <a:srgbClr val="000000"/>
                </a:solidFill>
                <a:latin typeface="Times New Roman"/>
                <a:ea typeface="Times New Roman"/>
                <a:cs typeface="Times New Roman"/>
              </a:rPr>
              <a:t>. Each microservice owns its data model, storage layer, and API.</a:t>
            </a:r>
            <a:endParaRPr/>
          </a:p>
          <a:p>
            <a:pPr>
              <a:defRPr/>
            </a:pPr>
            <a:r>
              <a:rPr sz="1200" b="0" i="0" u="none">
                <a:solidFill>
                  <a:srgbClr val="000000"/>
                </a:solidFill>
                <a:latin typeface="Times New Roman"/>
                <a:ea typeface="Times New Roman"/>
                <a:cs typeface="Times New Roman"/>
              </a:rPr>
              <a:t>For example, in a university system built using microservices:</a:t>
            </a:r>
            <a:endParaRPr/>
          </a:p>
          <a:p>
            <a:pPr>
              <a:defRPr/>
            </a:pPr>
            <a:r>
              <a:rPr sz="1200" b="1" i="0" u="none">
                <a:solidFill>
                  <a:srgbClr val="000000"/>
                </a:solidFill>
                <a:latin typeface="Times New Roman"/>
                <a:ea typeface="Times New Roman"/>
                <a:cs typeface="Times New Roman"/>
              </a:rPr>
              <a:t>Student Service</a:t>
            </a:r>
            <a:r>
              <a:rPr sz="1200" b="0" i="0" u="none">
                <a:solidFill>
                  <a:srgbClr val="000000"/>
                </a:solidFill>
                <a:latin typeface="Times New Roman"/>
                <a:ea typeface="Times New Roman"/>
                <a:cs typeface="Times New Roman"/>
              </a:rPr>
              <a:t> manages a database called </a:t>
            </a:r>
            <a:r>
              <a:rPr sz="1000" b="0" i="0" u="none">
                <a:solidFill>
                  <a:srgbClr val="000000"/>
                </a:solidFill>
                <a:latin typeface="Courier New"/>
                <a:ea typeface="Courier New"/>
                <a:cs typeface="Courier New"/>
              </a:rPr>
              <a:t>students_db</a:t>
            </a:r>
            <a:r>
              <a:rPr sz="1200" b="0" i="0" u="none">
                <a:solidFill>
                  <a:srgbClr val="000000"/>
                </a:solidFill>
                <a:latin typeface="Times New Roman"/>
                <a:ea typeface="Times New Roman"/>
                <a:cs typeface="Times New Roman"/>
              </a:rPr>
              <a:t>, which contains student documents.</a:t>
            </a:r>
            <a:endParaRPr/>
          </a:p>
          <a:p>
            <a:pPr>
              <a:defRPr/>
            </a:pPr>
            <a:r>
              <a:rPr sz="1200" b="1" i="0" u="none">
                <a:solidFill>
                  <a:srgbClr val="000000"/>
                </a:solidFill>
                <a:latin typeface="Times New Roman"/>
                <a:ea typeface="Times New Roman"/>
                <a:cs typeface="Times New Roman"/>
              </a:rPr>
              <a:t>Enrollment Service</a:t>
            </a:r>
            <a:r>
              <a:rPr sz="1200" b="0" i="0" u="none">
                <a:solidFill>
                  <a:srgbClr val="000000"/>
                </a:solidFill>
                <a:latin typeface="Times New Roman"/>
                <a:ea typeface="Times New Roman"/>
                <a:cs typeface="Times New Roman"/>
              </a:rPr>
              <a:t> manages a separate database called </a:t>
            </a:r>
            <a:r>
              <a:rPr sz="1000" b="0" i="0" u="none">
                <a:solidFill>
                  <a:srgbClr val="000000"/>
                </a:solidFill>
                <a:latin typeface="Courier New"/>
                <a:ea typeface="Courier New"/>
                <a:cs typeface="Courier New"/>
              </a:rPr>
              <a:t>enrollments_db</a:t>
            </a:r>
            <a:r>
              <a:rPr sz="1200" b="0" i="0" u="none">
                <a:solidFill>
                  <a:srgbClr val="000000"/>
                </a:solidFill>
                <a:latin typeface="Times New Roman"/>
                <a:ea typeface="Times New Roman"/>
                <a:cs typeface="Times New Roman"/>
              </a:rPr>
              <a:t>, which contains enrollment documents.</a:t>
            </a:r>
            <a:endParaRPr/>
          </a:p>
          <a:p>
            <a:pPr>
              <a:defRPr/>
            </a:pPr>
            <a:r>
              <a:rPr sz="1200" b="0" i="0" u="none">
                <a:solidFill>
                  <a:srgbClr val="000000"/>
                </a:solidFill>
                <a:latin typeface="Times New Roman"/>
                <a:ea typeface="Times New Roman"/>
                <a:cs typeface="Times New Roman"/>
              </a:rPr>
              <a:t>Even though these services are related conceptually, they do </a:t>
            </a:r>
            <a:r>
              <a:rPr sz="1200" b="1" i="0" u="none">
                <a:solidFill>
                  <a:srgbClr val="000000"/>
                </a:solidFill>
                <a:latin typeface="Times New Roman"/>
                <a:ea typeface="Times New Roman"/>
                <a:cs typeface="Times New Roman"/>
              </a:rPr>
              <a:t>not access each other's databases directly</a:t>
            </a:r>
            <a:r>
              <a:rPr sz="1200" b="0" i="0" u="none">
                <a:solidFill>
                  <a:srgbClr val="000000"/>
                </a:solidFill>
                <a:latin typeface="Times New Roman"/>
                <a:ea typeface="Times New Roman"/>
                <a:cs typeface="Times New Roman"/>
              </a:rPr>
              <a:t>. Instead, services communicate with each other exclusively through </a:t>
            </a:r>
            <a:r>
              <a:rPr sz="1200" b="1" i="0" u="none">
                <a:solidFill>
                  <a:srgbClr val="000000"/>
                </a:solidFill>
                <a:latin typeface="Times New Roman"/>
                <a:ea typeface="Times New Roman"/>
                <a:cs typeface="Times New Roman"/>
              </a:rPr>
              <a:t>API calls</a:t>
            </a:r>
            <a:r>
              <a:rPr sz="1200" b="0" i="0" u="none">
                <a:solidFill>
                  <a:srgbClr val="000000"/>
                </a:solidFill>
                <a:latin typeface="Times New Roman"/>
                <a:ea typeface="Times New Roman"/>
                <a:cs typeface="Times New Roman"/>
              </a:rPr>
              <a:t>, typically REST APIs.</a:t>
            </a:r>
            <a:endParaRPr/>
          </a:p>
          <a:p>
            <a:pPr>
              <a:defRPr/>
            </a:pPr>
            <a:r>
              <a:rPr sz="1200" b="0" i="0" u="none">
                <a:solidFill>
                  <a:srgbClr val="000000"/>
                </a:solidFill>
                <a:latin typeface="Times New Roman"/>
                <a:ea typeface="Times New Roman"/>
                <a:cs typeface="Times New Roman"/>
              </a:rPr>
              <a:t>Document databases—such as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—are particularly well suited for microservices because of their </a:t>
            </a:r>
            <a:r>
              <a:rPr sz="1200" b="1" i="0" u="none">
                <a:solidFill>
                  <a:srgbClr val="000000"/>
                </a:solidFill>
                <a:latin typeface="Times New Roman"/>
                <a:ea typeface="Times New Roman"/>
                <a:cs typeface="Times New Roman"/>
              </a:rPr>
              <a:t>schema flexibility</a:t>
            </a:r>
            <a:r>
              <a:rPr sz="1200" b="0" i="0" u="none">
                <a:solidFill>
                  <a:srgbClr val="000000"/>
                </a:solidFill>
                <a:latin typeface="Times New Roman"/>
                <a:ea typeface="Times New Roman"/>
                <a:cs typeface="Times New Roman"/>
              </a:rPr>
              <a:t>. Each service can evolve its document structure independently without coordinating schema changes across the entire system.</a:t>
            </a:r>
            <a:endParaRPr/>
          </a:p>
          <a:p>
            <a:pPr>
              <a:defRPr/>
            </a:pPr>
            <a:r>
              <a:rPr sz="1200" b="0" i="0" u="none">
                <a:solidFill>
                  <a:srgbClr val="000000"/>
                </a:solidFill>
                <a:latin typeface="Times New Roman"/>
                <a:ea typeface="Times New Roman"/>
                <a:cs typeface="Times New Roman"/>
              </a:rPr>
              <a:t>For example:</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Student Service</a:t>
            </a:r>
            <a:r>
              <a:rPr sz="1200" b="0" i="0" u="none">
                <a:solidFill>
                  <a:srgbClr val="000000"/>
                </a:solidFill>
                <a:latin typeface="Times New Roman"/>
                <a:ea typeface="Times New Roman"/>
                <a:cs typeface="Times New Roman"/>
              </a:rPr>
              <a:t> might modify its student document structure to include new profile fields.</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Enrollment Service</a:t>
            </a:r>
            <a:r>
              <a:rPr sz="1200" b="0" i="0" u="none">
                <a:solidFill>
                  <a:srgbClr val="000000"/>
                </a:solidFill>
                <a:latin typeface="Times New Roman"/>
                <a:ea typeface="Times New Roman"/>
                <a:cs typeface="Times New Roman"/>
              </a:rPr>
              <a:t> might update its enrollment schema to track new attributes like enrollment status or semester.</a:t>
            </a:r>
            <a:endParaRPr/>
          </a:p>
          <a:p>
            <a:pPr>
              <a:defRPr/>
            </a:pPr>
            <a:r>
              <a:rPr sz="1200" b="0" i="0" u="none">
                <a:solidFill>
                  <a:srgbClr val="000000"/>
                </a:solidFill>
                <a:latin typeface="Times New Roman"/>
                <a:ea typeface="Times New Roman"/>
                <a:cs typeface="Times New Roman"/>
              </a:rPr>
              <a:t>Because the two services have separate databases, these changes can occur </a:t>
            </a:r>
            <a:r>
              <a:rPr sz="1200" b="1" i="0" u="none">
                <a:solidFill>
                  <a:srgbClr val="000000"/>
                </a:solidFill>
                <a:latin typeface="Times New Roman"/>
                <a:ea typeface="Times New Roman"/>
                <a:cs typeface="Times New Roman"/>
              </a:rPr>
              <a:t>independently</a:t>
            </a:r>
            <a:r>
              <a:rPr sz="1200" b="0" i="0" u="none">
                <a:solidFill>
                  <a:srgbClr val="000000"/>
                </a:solidFill>
                <a:latin typeface="Times New Roman"/>
                <a:ea typeface="Times New Roman"/>
                <a:cs typeface="Times New Roman"/>
              </a:rPr>
              <a:t>, allowing each development team to evolve their service without breaking other parts of the system.</a:t>
            </a:r>
            <a:endParaRPr/>
          </a:p>
          <a:p>
            <a:pPr>
              <a:defRPr/>
            </a:pPr>
            <a:r>
              <a:rPr sz="1200" b="0" i="0" u="none">
                <a:solidFill>
                  <a:srgbClr val="000000"/>
                </a:solidFill>
                <a:latin typeface="Times New Roman"/>
                <a:ea typeface="Times New Roman"/>
                <a:cs typeface="Times New Roman"/>
              </a:rPr>
              <a:t>This separation also supports </a:t>
            </a:r>
            <a:r>
              <a:rPr sz="1200" b="1" i="0" u="none">
                <a:solidFill>
                  <a:srgbClr val="000000"/>
                </a:solidFill>
                <a:latin typeface="Times New Roman"/>
                <a:ea typeface="Times New Roman"/>
                <a:cs typeface="Times New Roman"/>
              </a:rPr>
              <a:t>team autonomy</a:t>
            </a:r>
            <a:r>
              <a:rPr sz="1200" b="0" i="0" u="none">
                <a:solidFill>
                  <a:srgbClr val="000000"/>
                </a:solidFill>
                <a:latin typeface="Times New Roman"/>
                <a:ea typeface="Times New Roman"/>
                <a:cs typeface="Times New Roman"/>
              </a:rPr>
              <a:t>. In many organizations, a small team is responsible for a single microservice. That team designs the schema, maintains the database, implements the API, and deploys updates independently.</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Large technology platforms such as </a:t>
            </a:r>
            <a:r>
              <a:rPr sz="1200" b="1" i="0" u="none">
                <a:solidFill>
                  <a:srgbClr val="000000"/>
                </a:solidFill>
                <a:latin typeface="Times New Roman"/>
                <a:ea typeface="Times New Roman"/>
                <a:cs typeface="Times New Roman"/>
              </a:rPr>
              <a:t>Uber</a:t>
            </a:r>
            <a:r>
              <a:rPr sz="1200" b="0" i="0" u="none">
                <a:solidFill>
                  <a:srgbClr val="000000"/>
                </a:solidFill>
                <a:latin typeface="Times New Roman"/>
                <a:ea typeface="Times New Roman"/>
                <a:cs typeface="Times New Roman"/>
              </a:rPr>
              <a:t> operate hundreds of microservices, each with its own database. For example, Uber has separate services for:</a:t>
            </a:r>
            <a:endParaRPr/>
          </a:p>
          <a:p>
            <a:pPr>
              <a:defRPr/>
            </a:pPr>
            <a:r>
              <a:rPr sz="1200" b="0" i="0" u="none">
                <a:solidFill>
                  <a:srgbClr val="000000"/>
                </a:solidFill>
                <a:latin typeface="Times New Roman"/>
                <a:ea typeface="Times New Roman"/>
                <a:cs typeface="Times New Roman"/>
              </a:rPr>
              <a:t>rider accounts</a:t>
            </a:r>
            <a:endParaRPr/>
          </a:p>
          <a:p>
            <a:pPr>
              <a:defRPr/>
            </a:pPr>
            <a:r>
              <a:rPr sz="1200" b="0" i="0" u="none">
                <a:solidFill>
                  <a:srgbClr val="000000"/>
                </a:solidFill>
                <a:latin typeface="Times New Roman"/>
                <a:ea typeface="Times New Roman"/>
                <a:cs typeface="Times New Roman"/>
              </a:rPr>
              <a:t>driver profiles</a:t>
            </a:r>
            <a:endParaRPr/>
          </a:p>
          <a:p>
            <a:pPr>
              <a:defRPr/>
            </a:pPr>
            <a:r>
              <a:rPr sz="1200" b="0" i="0" u="none">
                <a:solidFill>
                  <a:srgbClr val="000000"/>
                </a:solidFill>
                <a:latin typeface="Times New Roman"/>
                <a:ea typeface="Times New Roman"/>
                <a:cs typeface="Times New Roman"/>
              </a:rPr>
              <a:t>trip management</a:t>
            </a:r>
            <a:endParaRPr/>
          </a:p>
          <a:p>
            <a:pPr>
              <a:defRPr/>
            </a:pPr>
            <a:r>
              <a:rPr sz="1200" b="0" i="0" u="none">
                <a:solidFill>
                  <a:srgbClr val="000000"/>
                </a:solidFill>
                <a:latin typeface="Times New Roman"/>
                <a:ea typeface="Times New Roman"/>
                <a:cs typeface="Times New Roman"/>
              </a:rPr>
              <a:t>payments</a:t>
            </a:r>
            <a:endParaRPr/>
          </a:p>
          <a:p>
            <a:pPr>
              <a:defRPr/>
            </a:pPr>
            <a:r>
              <a:rPr sz="1200" b="0" i="0" u="none">
                <a:solidFill>
                  <a:srgbClr val="000000"/>
                </a:solidFill>
                <a:latin typeface="Times New Roman"/>
                <a:ea typeface="Times New Roman"/>
                <a:cs typeface="Times New Roman"/>
              </a:rPr>
              <a:t>notifications</a:t>
            </a:r>
            <a:endParaRPr/>
          </a:p>
          <a:p>
            <a:pPr>
              <a:defRPr/>
            </a:pPr>
            <a:r>
              <a:rPr sz="1200" b="0" i="0" u="none">
                <a:solidFill>
                  <a:srgbClr val="000000"/>
                </a:solidFill>
                <a:latin typeface="Times New Roman"/>
                <a:ea typeface="Times New Roman"/>
                <a:cs typeface="Times New Roman"/>
              </a:rPr>
              <a:t>Each service stores its data independently and exposes APIs that other services can call. This architecture allows Uber to scale individual services independently—for instance, increasing the capacity of the trip management service during peak ride demand without affecting other services.</a:t>
            </a:r>
            <a:endParaRPr/>
          </a:p>
          <a:p>
            <a:pPr>
              <a:defRPr/>
            </a:pPr>
            <a:r>
              <a:rPr sz="1400" b="1" i="0" u="none">
                <a:solidFill>
                  <a:srgbClr val="000000"/>
                </a:solidFill>
                <a:latin typeface="Times New Roman"/>
                <a:ea typeface="Times New Roman"/>
                <a:cs typeface="Times New Roman"/>
              </a:rPr>
              <a:t>Key Architectural Rule</a:t>
            </a:r>
            <a:endParaRPr/>
          </a:p>
          <a:p>
            <a:pPr>
              <a:defRPr/>
            </a:pPr>
            <a:r>
              <a:rPr sz="1200" b="1" i="0" u="none">
                <a:solidFill>
                  <a:srgbClr val="000000"/>
                </a:solidFill>
                <a:latin typeface="Times New Roman"/>
                <a:ea typeface="Times New Roman"/>
                <a:cs typeface="Times New Roman"/>
              </a:rPr>
              <a:t>Each microservice owns its own database.</a:t>
            </a:r>
            <a:br>
              <a:rPr sz="1200" b="1"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Services never directly query another service’s database. All communication happens through </a:t>
            </a:r>
            <a:r>
              <a:rPr sz="1200" b="1" i="0" u="none">
                <a:solidFill>
                  <a:srgbClr val="000000"/>
                </a:solidFill>
                <a:latin typeface="Times New Roman"/>
                <a:ea typeface="Times New Roman"/>
                <a:cs typeface="Times New Roman"/>
              </a:rPr>
              <a:t>API requests</a:t>
            </a:r>
            <a:r>
              <a:rPr sz="1200" b="0" i="0" u="none">
                <a:solidFill>
                  <a:srgbClr val="000000"/>
                </a:solidFill>
                <a:latin typeface="Times New Roman"/>
                <a:ea typeface="Times New Roman"/>
                <a:cs typeface="Times New Roman"/>
              </a:rPr>
              <a:t>, maintaining clear boundaries between services.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happens if the </a:t>
            </a:r>
            <a:r>
              <a:rPr sz="1200" b="1" i="0" u="none">
                <a:solidFill>
                  <a:srgbClr val="000000"/>
                </a:solidFill>
                <a:latin typeface="Times New Roman"/>
                <a:ea typeface="Times New Roman"/>
                <a:cs typeface="Times New Roman"/>
              </a:rPr>
              <a:t>Enrollment Service</a:t>
            </a:r>
            <a:r>
              <a:rPr sz="1200" b="0" i="0" u="none">
                <a:solidFill>
                  <a:srgbClr val="000000"/>
                </a:solidFill>
                <a:latin typeface="Times New Roman"/>
                <a:ea typeface="Times New Roman"/>
                <a:cs typeface="Times New Roman"/>
              </a:rPr>
              <a:t> needs to display a student's name alongside enrollment data?</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Enrollment Service makes an </a:t>
            </a:r>
            <a:r>
              <a:rPr sz="1200" b="1" i="0" u="none">
                <a:solidFill>
                  <a:srgbClr val="000000"/>
                </a:solidFill>
                <a:latin typeface="Times New Roman"/>
                <a:ea typeface="Times New Roman"/>
                <a:cs typeface="Times New Roman"/>
              </a:rPr>
              <a:t>API request to the Student Service</a:t>
            </a:r>
            <a:r>
              <a:rPr sz="1200" b="0" i="0" u="none">
                <a:solidFill>
                  <a:srgbClr val="000000"/>
                </a:solidFill>
                <a:latin typeface="Times New Roman"/>
                <a:ea typeface="Times New Roman"/>
                <a:cs typeface="Times New Roman"/>
              </a:rPr>
              <a:t> to retrieve the student's name. It does not query the student database directly. The enrollment service then combines the returned student information with its own enrollment data before sending the final response to the client.</a:t>
            </a:r>
            <a:endParaRPr lang="en-US"/>
          </a:p>
        </p:txBody>
      </p:sp>
      <p:sp>
        <p:nvSpPr>
          <p:cNvPr id="46026999" name="Slide Number Placeholder 3"/>
          <p:cNvSpPr>
            <a:spLocks noGrp="1"/>
          </p:cNvSpPr>
          <p:nvPr>
            <p:ph type="sldNum" sz="quarter" idx="10"/>
          </p:nvPr>
        </p:nvSpPr>
        <p:spPr bwMode="auto"/>
        <p:txBody>
          <a:bodyPr/>
          <a:lstStyle/>
          <a:p>
            <a:pPr>
              <a:defRPr/>
            </a:pPr>
            <a:fld id="{F7021451-1387-4CA6-816F-3879F97B5CBC}" type="slidenum">
              <a:rPr lang="en-US"/>
              <a:t>65</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7584866" name="Slide Image Placeholder 1"/>
          <p:cNvSpPr>
            <a:spLocks noChangeAspect="1" noGrp="1" noRot="1"/>
          </p:cNvSpPr>
          <p:nvPr>
            <p:ph type="sldImg"/>
          </p:nvPr>
        </p:nvSpPr>
        <p:spPr bwMode="auto"/>
      </p:sp>
      <p:sp>
        <p:nvSpPr>
          <p:cNvPr id="490843165"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API Gateway Pattern</a:t>
            </a:r>
            <a:endParaRPr/>
          </a:p>
          <a:p>
            <a:pPr>
              <a:defRPr/>
            </a:pPr>
            <a:r>
              <a:rPr sz="1200" b="0" i="0" u="none">
                <a:solidFill>
                  <a:srgbClr val="000000"/>
                </a:solidFill>
                <a:latin typeface="Times New Roman"/>
                <a:ea typeface="Times New Roman"/>
                <a:cs typeface="Times New Roman"/>
              </a:rPr>
              <a:t>In a microservices architecture, applications often need to </a:t>
            </a:r>
            <a:r>
              <a:rPr sz="1200" b="1" i="0" u="none">
                <a:solidFill>
                  <a:srgbClr val="000000"/>
                </a:solidFill>
                <a:latin typeface="Times New Roman"/>
                <a:ea typeface="Times New Roman"/>
                <a:cs typeface="Times New Roman"/>
              </a:rPr>
              <a:t>combine data from multiple services</a:t>
            </a:r>
            <a:r>
              <a:rPr sz="1200" b="0" i="0" u="none">
                <a:solidFill>
                  <a:srgbClr val="000000"/>
                </a:solidFill>
                <a:latin typeface="Times New Roman"/>
                <a:ea typeface="Times New Roman"/>
                <a:cs typeface="Times New Roman"/>
              </a:rPr>
              <a:t> to produce the response required by the frontend. The </a:t>
            </a:r>
            <a:r>
              <a:rPr sz="1200" b="1" i="0" u="none">
                <a:solidFill>
                  <a:srgbClr val="000000"/>
                </a:solidFill>
                <a:latin typeface="Times New Roman"/>
                <a:ea typeface="Times New Roman"/>
                <a:cs typeface="Times New Roman"/>
              </a:rPr>
              <a:t>API Gateway pattern</a:t>
            </a:r>
            <a:r>
              <a:rPr sz="1200" b="0" i="0" u="none">
                <a:solidFill>
                  <a:srgbClr val="000000"/>
                </a:solidFill>
                <a:latin typeface="Times New Roman"/>
                <a:ea typeface="Times New Roman"/>
                <a:cs typeface="Times New Roman"/>
              </a:rPr>
              <a:t> solves this problem by introducing a </a:t>
            </a:r>
            <a:r>
              <a:rPr sz="1200" b="1" i="0" u="none">
                <a:solidFill>
                  <a:srgbClr val="000000"/>
                </a:solidFill>
                <a:latin typeface="Times New Roman"/>
                <a:ea typeface="Times New Roman"/>
                <a:cs typeface="Times New Roman"/>
              </a:rPr>
              <a:t>single entry point</a:t>
            </a:r>
            <a:r>
              <a:rPr sz="1200" b="0" i="0" u="none">
                <a:solidFill>
                  <a:srgbClr val="000000"/>
                </a:solidFill>
                <a:latin typeface="Times New Roman"/>
                <a:ea typeface="Times New Roman"/>
                <a:cs typeface="Times New Roman"/>
              </a:rPr>
              <a:t> that coordinates requests across services.</a:t>
            </a:r>
            <a:endParaRPr/>
          </a:p>
          <a:p>
            <a:pPr>
              <a:defRPr/>
            </a:pPr>
            <a:r>
              <a:rPr sz="1200" b="0" i="0" u="none">
                <a:solidFill>
                  <a:srgbClr val="000000"/>
                </a:solidFill>
                <a:latin typeface="Times New Roman"/>
                <a:ea typeface="Times New Roman"/>
                <a:cs typeface="Times New Roman"/>
              </a:rPr>
              <a:t>Instead of the frontend calling many microservices directly, it sends all requests to the </a:t>
            </a:r>
            <a:r>
              <a:rPr sz="1200" b="1" i="0" u="none">
                <a:solidFill>
                  <a:srgbClr val="000000"/>
                </a:solidFill>
                <a:latin typeface="Times New Roman"/>
                <a:ea typeface="Times New Roman"/>
                <a:cs typeface="Times New Roman"/>
              </a:rPr>
              <a:t>API Gateway</a:t>
            </a:r>
            <a:r>
              <a:rPr sz="1200" b="0" i="0" u="none">
                <a:solidFill>
                  <a:srgbClr val="000000"/>
                </a:solidFill>
                <a:latin typeface="Times New Roman"/>
                <a:ea typeface="Times New Roman"/>
                <a:cs typeface="Times New Roman"/>
              </a:rPr>
              <a:t>. The gateway determines which services must be contacted, performs the necessary API calls, and assembles the final response.</a:t>
            </a:r>
            <a:endParaRPr/>
          </a:p>
          <a:p>
            <a:pPr>
              <a:defRPr/>
            </a:pPr>
            <a:r>
              <a:rPr sz="1200" b="0" i="0" u="none">
                <a:solidFill>
                  <a:srgbClr val="000000"/>
                </a:solidFill>
                <a:latin typeface="Times New Roman"/>
                <a:ea typeface="Times New Roman"/>
                <a:cs typeface="Times New Roman"/>
              </a:rPr>
              <a:t>The process typically works as follows:</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frontend sends a request</a:t>
            </a:r>
            <a:r>
              <a:rPr sz="1200" b="0" i="0" u="none">
                <a:solidFill>
                  <a:srgbClr val="000000"/>
                </a:solidFill>
                <a:latin typeface="Times New Roman"/>
                <a:ea typeface="Times New Roman"/>
                <a:cs typeface="Times New Roman"/>
              </a:rPr>
              <a:t> to the API Gateway.</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gateway calls the required microservices</a:t>
            </a:r>
            <a:r>
              <a:rPr sz="1200" b="0" i="0" u="none">
                <a:solidFill>
                  <a:srgbClr val="000000"/>
                </a:solidFill>
                <a:latin typeface="Times New Roman"/>
                <a:ea typeface="Times New Roman"/>
                <a:cs typeface="Times New Roman"/>
              </a:rPr>
              <a:t>, often in parallel for performance.</a:t>
            </a:r>
            <a:endParaRPr/>
          </a:p>
          <a:p>
            <a:pPr>
              <a:defRPr/>
            </a:pPr>
            <a:r>
              <a:rPr sz="1200" b="0" i="0" u="none">
                <a:solidFill>
                  <a:srgbClr val="000000"/>
                </a:solidFill>
                <a:latin typeface="Times New Roman"/>
                <a:ea typeface="Times New Roman"/>
                <a:cs typeface="Times New Roman"/>
              </a:rPr>
              <a:t>Each service returns its response.</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gateway merges the results in memory</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gateway sends a </a:t>
            </a:r>
            <a:r>
              <a:rPr sz="1200" b="1" i="0" u="none">
                <a:solidFill>
                  <a:srgbClr val="000000"/>
                </a:solidFill>
                <a:latin typeface="Times New Roman"/>
                <a:ea typeface="Times New Roman"/>
                <a:cs typeface="Times New Roman"/>
              </a:rPr>
              <a:t>single unified JSON response</a:t>
            </a:r>
            <a:r>
              <a:rPr sz="1200" b="0" i="0" u="none">
                <a:solidFill>
                  <a:srgbClr val="000000"/>
                </a:solidFill>
                <a:latin typeface="Times New Roman"/>
                <a:ea typeface="Times New Roman"/>
                <a:cs typeface="Times New Roman"/>
              </a:rPr>
              <a:t> back to the client.</a:t>
            </a:r>
            <a:endParaRPr/>
          </a:p>
          <a:p>
            <a:pPr>
              <a:defRPr/>
            </a:pPr>
            <a:r>
              <a:rPr sz="1200" b="0" i="0" u="none">
                <a:solidFill>
                  <a:srgbClr val="000000"/>
                </a:solidFill>
                <a:latin typeface="Times New Roman"/>
                <a:ea typeface="Times New Roman"/>
                <a:cs typeface="Times New Roman"/>
              </a:rPr>
              <a:t>Importantly, the </a:t>
            </a:r>
            <a:r>
              <a:rPr sz="1200" b="1" i="0" u="none">
                <a:solidFill>
                  <a:srgbClr val="000000"/>
                </a:solidFill>
                <a:latin typeface="Times New Roman"/>
                <a:ea typeface="Times New Roman"/>
                <a:cs typeface="Times New Roman"/>
              </a:rPr>
              <a:t>data composition happens in application code</a:t>
            </a:r>
            <a:r>
              <a:rPr sz="1200" b="0" i="0" u="none">
                <a:solidFill>
                  <a:srgbClr val="000000"/>
                </a:solidFill>
                <a:latin typeface="Times New Roman"/>
                <a:ea typeface="Times New Roman"/>
                <a:cs typeface="Times New Roman"/>
              </a:rPr>
              <a:t>, not in the database. Microservices never join data by querying each other’s databases.</a:t>
            </a:r>
            <a:endParaRPr/>
          </a:p>
          <a:p>
            <a:pPr>
              <a:defRPr/>
            </a:pPr>
            <a:r>
              <a:rPr sz="1200" b="0" i="0" u="none">
                <a:solidFill>
                  <a:srgbClr val="000000"/>
                </a:solidFill>
                <a:latin typeface="Times New Roman"/>
                <a:ea typeface="Times New Roman"/>
                <a:cs typeface="Times New Roman"/>
              </a:rPr>
              <a:t>For example, suppose the frontend needs a student's profile and their enrolled courses:</a:t>
            </a:r>
            <a:endParaRPr/>
          </a:p>
          <a:p>
            <a:pPr>
              <a:defRPr/>
            </a:pPr>
            <a:r>
              <a:rPr sz="1200" b="0" i="0" u="none">
                <a:solidFill>
                  <a:srgbClr val="000000"/>
                </a:solidFill>
                <a:latin typeface="Times New Roman"/>
                <a:ea typeface="Times New Roman"/>
                <a:cs typeface="Times New Roman"/>
              </a:rPr>
              <a:t>The gateway calls the </a:t>
            </a:r>
            <a:r>
              <a:rPr sz="1200" b="1" i="0" u="none">
                <a:solidFill>
                  <a:srgbClr val="000000"/>
                </a:solidFill>
                <a:latin typeface="Times New Roman"/>
                <a:ea typeface="Times New Roman"/>
                <a:cs typeface="Times New Roman"/>
              </a:rPr>
              <a:t>Student Service</a:t>
            </a:r>
            <a:r>
              <a:rPr sz="1200" b="0" i="0" u="none">
                <a:solidFill>
                  <a:srgbClr val="000000"/>
                </a:solidFill>
                <a:latin typeface="Times New Roman"/>
                <a:ea typeface="Times New Roman"/>
                <a:cs typeface="Times New Roman"/>
              </a:rPr>
              <a:t> to retrieve the student document.</a:t>
            </a:r>
            <a:endParaRPr/>
          </a:p>
          <a:p>
            <a:pPr>
              <a:defRPr/>
            </a:pPr>
            <a:r>
              <a:rPr sz="1200" b="0" i="0" u="none">
                <a:solidFill>
                  <a:srgbClr val="000000"/>
                </a:solidFill>
                <a:latin typeface="Times New Roman"/>
                <a:ea typeface="Times New Roman"/>
                <a:cs typeface="Times New Roman"/>
              </a:rPr>
              <a:t>The gateway calls the </a:t>
            </a:r>
            <a:r>
              <a:rPr sz="1200" b="1" i="0" u="none">
                <a:solidFill>
                  <a:srgbClr val="000000"/>
                </a:solidFill>
                <a:latin typeface="Times New Roman"/>
                <a:ea typeface="Times New Roman"/>
                <a:cs typeface="Times New Roman"/>
              </a:rPr>
              <a:t>Enrollment Service</a:t>
            </a:r>
            <a:r>
              <a:rPr sz="1200" b="0" i="0" u="none">
                <a:solidFill>
                  <a:srgbClr val="000000"/>
                </a:solidFill>
                <a:latin typeface="Times New Roman"/>
                <a:ea typeface="Times New Roman"/>
                <a:cs typeface="Times New Roman"/>
              </a:rPr>
              <a:t> to retrieve enrollment records.</a:t>
            </a:r>
            <a:endParaRPr/>
          </a:p>
          <a:p>
            <a:pPr>
              <a:defRPr/>
            </a:pPr>
            <a:r>
              <a:rPr sz="1200" b="0" i="0" u="none">
                <a:solidFill>
                  <a:srgbClr val="000000"/>
                </a:solidFill>
                <a:latin typeface="Times New Roman"/>
                <a:ea typeface="Times New Roman"/>
                <a:cs typeface="Times New Roman"/>
              </a:rPr>
              <a:t>The gateway merges both responses and returns the combined data to the frontend.</a:t>
            </a:r>
            <a:endParaRPr/>
          </a:p>
          <a:p>
            <a:pPr>
              <a:defRPr/>
            </a:pPr>
            <a:r>
              <a:rPr sz="1200" b="0" i="0" u="none">
                <a:solidFill>
                  <a:srgbClr val="000000"/>
                </a:solidFill>
                <a:latin typeface="Times New Roman"/>
                <a:ea typeface="Times New Roman"/>
                <a:cs typeface="Times New Roman"/>
              </a:rPr>
              <a:t>This architecture keeps the frontend simple—it interacts with </a:t>
            </a:r>
            <a:r>
              <a:rPr sz="1200" b="1" i="0" u="none">
                <a:solidFill>
                  <a:srgbClr val="000000"/>
                </a:solidFill>
                <a:latin typeface="Times New Roman"/>
                <a:ea typeface="Times New Roman"/>
                <a:cs typeface="Times New Roman"/>
              </a:rPr>
              <a:t>one endpoint</a:t>
            </a:r>
            <a:r>
              <a:rPr sz="1200" b="0" i="0" u="none">
                <a:solidFill>
                  <a:srgbClr val="000000"/>
                </a:solidFill>
                <a:latin typeface="Times New Roman"/>
                <a:ea typeface="Times New Roman"/>
                <a:cs typeface="Times New Roman"/>
              </a:rPr>
              <a:t> rather than coordinating multiple service calls itself.</a:t>
            </a:r>
            <a:endParaRPr/>
          </a:p>
          <a:p>
            <a:pPr>
              <a:defRPr/>
            </a:pPr>
            <a:r>
              <a:rPr sz="1400" b="1" i="0" u="none">
                <a:solidFill>
                  <a:srgbClr val="000000"/>
                </a:solidFill>
                <a:latin typeface="Times New Roman"/>
                <a:ea typeface="Times New Roman"/>
                <a:cs typeface="Times New Roman"/>
              </a:rPr>
              <a:t>Additional Responsibilities of the API Gateway</a:t>
            </a:r>
            <a:endParaRPr/>
          </a:p>
          <a:p>
            <a:pPr>
              <a:defRPr/>
            </a:pPr>
            <a:r>
              <a:rPr sz="1200" b="0" i="0" u="none">
                <a:solidFill>
                  <a:srgbClr val="000000"/>
                </a:solidFill>
                <a:latin typeface="Times New Roman"/>
                <a:ea typeface="Times New Roman"/>
                <a:cs typeface="Times New Roman"/>
              </a:rPr>
              <a:t>In real systems, the API Gateway often handles several cross-cutting concerns centrally, including:</a:t>
            </a:r>
            <a:endParaRPr/>
          </a:p>
          <a:p>
            <a:pPr>
              <a:defRPr/>
            </a:pPr>
            <a:r>
              <a:rPr sz="1200" b="1" i="0" u="none">
                <a:solidFill>
                  <a:srgbClr val="000000"/>
                </a:solidFill>
                <a:latin typeface="Times New Roman"/>
                <a:ea typeface="Times New Roman"/>
                <a:cs typeface="Times New Roman"/>
              </a:rPr>
              <a:t>authentication and authorization</a:t>
            </a:r>
            <a:endParaRPr/>
          </a:p>
          <a:p>
            <a:pPr>
              <a:defRPr/>
            </a:pPr>
            <a:r>
              <a:rPr sz="1200" b="1" i="0" u="none">
                <a:solidFill>
                  <a:srgbClr val="000000"/>
                </a:solidFill>
                <a:latin typeface="Times New Roman"/>
                <a:ea typeface="Times New Roman"/>
                <a:cs typeface="Times New Roman"/>
              </a:rPr>
              <a:t>rate limiting</a:t>
            </a:r>
            <a:endParaRPr/>
          </a:p>
          <a:p>
            <a:pPr>
              <a:defRPr/>
            </a:pPr>
            <a:r>
              <a:rPr sz="1200" b="1" i="0" u="none">
                <a:solidFill>
                  <a:srgbClr val="000000"/>
                </a:solidFill>
                <a:latin typeface="Times New Roman"/>
                <a:ea typeface="Times New Roman"/>
                <a:cs typeface="Times New Roman"/>
              </a:rPr>
              <a:t>request routing</a:t>
            </a:r>
            <a:endParaRPr/>
          </a:p>
          <a:p>
            <a:pPr>
              <a:defRPr/>
            </a:pPr>
            <a:r>
              <a:rPr sz="1200" b="1" i="0" u="none">
                <a:solidFill>
                  <a:srgbClr val="000000"/>
                </a:solidFill>
                <a:latin typeface="Times New Roman"/>
                <a:ea typeface="Times New Roman"/>
                <a:cs typeface="Times New Roman"/>
              </a:rPr>
              <a:t>logging and monitoring</a:t>
            </a:r>
            <a:endParaRPr/>
          </a:p>
          <a:p>
            <a:pPr>
              <a:defRPr/>
            </a:pPr>
            <a:r>
              <a:rPr sz="1200" b="1" i="0" u="none">
                <a:solidFill>
                  <a:srgbClr val="000000"/>
                </a:solidFill>
                <a:latin typeface="Times New Roman"/>
                <a:ea typeface="Times New Roman"/>
                <a:cs typeface="Times New Roman"/>
              </a:rPr>
              <a:t>response aggregation</a:t>
            </a:r>
            <a:endParaRPr/>
          </a:p>
          <a:p>
            <a:pPr>
              <a:defRPr/>
            </a:pPr>
            <a:r>
              <a:rPr sz="1200" b="0" i="0" u="none">
                <a:solidFill>
                  <a:srgbClr val="000000"/>
                </a:solidFill>
                <a:latin typeface="Times New Roman"/>
                <a:ea typeface="Times New Roman"/>
                <a:cs typeface="Times New Roman"/>
              </a:rPr>
              <a:t>By centralizing these responsibilities, individual microservices remain focused only on their </a:t>
            </a:r>
            <a:r>
              <a:rPr sz="1200" b="1" i="0" u="none">
                <a:solidFill>
                  <a:srgbClr val="000000"/>
                </a:solidFill>
                <a:latin typeface="Times New Roman"/>
                <a:ea typeface="Times New Roman"/>
                <a:cs typeface="Times New Roman"/>
              </a:rPr>
              <a:t>business logic</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Companies such as </a:t>
            </a:r>
            <a:r>
              <a:rPr sz="1200" b="1" i="0" u="none">
                <a:solidFill>
                  <a:srgbClr val="000000"/>
                </a:solidFill>
                <a:latin typeface="Times New Roman"/>
                <a:ea typeface="Times New Roman"/>
                <a:cs typeface="Times New Roman"/>
              </a:rPr>
              <a:t>Netflix</a:t>
            </a:r>
            <a:r>
              <a:rPr sz="1200" b="0" i="0" u="none">
                <a:solidFill>
                  <a:srgbClr val="000000"/>
                </a:solidFill>
                <a:latin typeface="Times New Roman"/>
                <a:ea typeface="Times New Roman"/>
                <a:cs typeface="Times New Roman"/>
              </a:rPr>
              <a:t> rely heavily on API gateways to coordinate requests across their many microservices.</a:t>
            </a:r>
            <a:endParaRPr/>
          </a:p>
          <a:p>
            <a:pPr>
              <a:defRPr/>
            </a:pPr>
            <a:r>
              <a:rPr sz="1200" b="0" i="0" u="none">
                <a:solidFill>
                  <a:srgbClr val="000000"/>
                </a:solidFill>
                <a:latin typeface="Times New Roman"/>
                <a:ea typeface="Times New Roman"/>
                <a:cs typeface="Times New Roman"/>
              </a:rPr>
              <a:t>When a Netflix user opens the homepage, the system must gather information from multiple services:</a:t>
            </a:r>
            <a:endParaRPr/>
          </a:p>
          <a:p>
            <a:pPr>
              <a:defRPr/>
            </a:pPr>
            <a:r>
              <a:rPr sz="1200" b="0" i="0" u="none">
                <a:solidFill>
                  <a:srgbClr val="000000"/>
                </a:solidFill>
                <a:latin typeface="Times New Roman"/>
                <a:ea typeface="Times New Roman"/>
                <a:cs typeface="Times New Roman"/>
              </a:rPr>
              <a:t>user profile service</a:t>
            </a:r>
            <a:endParaRPr/>
          </a:p>
          <a:p>
            <a:pPr>
              <a:defRPr/>
            </a:pPr>
            <a:r>
              <a:rPr sz="1200" b="0" i="0" u="none">
                <a:solidFill>
                  <a:srgbClr val="000000"/>
                </a:solidFill>
                <a:latin typeface="Times New Roman"/>
                <a:ea typeface="Times New Roman"/>
                <a:cs typeface="Times New Roman"/>
              </a:rPr>
              <a:t>recommendation service</a:t>
            </a:r>
            <a:endParaRPr/>
          </a:p>
          <a:p>
            <a:pPr>
              <a:defRPr/>
            </a:pPr>
            <a:r>
              <a:rPr sz="1200" b="0" i="0" u="none">
                <a:solidFill>
                  <a:srgbClr val="000000"/>
                </a:solidFill>
                <a:latin typeface="Times New Roman"/>
                <a:ea typeface="Times New Roman"/>
                <a:cs typeface="Times New Roman"/>
              </a:rPr>
              <a:t>catalog service</a:t>
            </a:r>
            <a:endParaRPr/>
          </a:p>
          <a:p>
            <a:pPr>
              <a:defRPr/>
            </a:pPr>
            <a:r>
              <a:rPr sz="1200" b="0" i="0" u="none">
                <a:solidFill>
                  <a:srgbClr val="000000"/>
                </a:solidFill>
                <a:latin typeface="Times New Roman"/>
                <a:ea typeface="Times New Roman"/>
                <a:cs typeface="Times New Roman"/>
              </a:rPr>
              <a:t>playback service</a:t>
            </a:r>
            <a:endParaRPr/>
          </a:p>
          <a:p>
            <a:pPr>
              <a:defRPr/>
            </a:pPr>
            <a:r>
              <a:rPr sz="1200" b="0" i="0" u="none">
                <a:solidFill>
                  <a:srgbClr val="000000"/>
                </a:solidFill>
                <a:latin typeface="Times New Roman"/>
                <a:ea typeface="Times New Roman"/>
                <a:cs typeface="Times New Roman"/>
              </a:rPr>
              <a:t>Rather than having the mobile application call each service separately, the request goes to the gateway. The gateway retrieves the required data from several services and returns a single structured response optimized for the user interface.</a:t>
            </a:r>
            <a:endParaRPr/>
          </a:p>
          <a:p>
            <a:pPr>
              <a:defRPr/>
            </a:pPr>
            <a:r>
              <a:rPr sz="1200" b="0" i="0" u="none">
                <a:solidFill>
                  <a:srgbClr val="000000"/>
                </a:solidFill>
                <a:latin typeface="Times New Roman"/>
                <a:ea typeface="Times New Roman"/>
                <a:cs typeface="Times New Roman"/>
              </a:rPr>
              <a:t>This design simplifies client applications and allows backend services to remain </a:t>
            </a:r>
            <a:r>
              <a:rPr sz="1200" b="1" i="0" u="none">
                <a:solidFill>
                  <a:srgbClr val="000000"/>
                </a:solidFill>
                <a:latin typeface="Times New Roman"/>
                <a:ea typeface="Times New Roman"/>
                <a:cs typeface="Times New Roman"/>
              </a:rPr>
              <a:t>independent and loosely coupled</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API Gateway pattern</a:t>
            </a:r>
            <a:r>
              <a:rPr sz="1200" b="0" i="0" u="none">
                <a:solidFill>
                  <a:srgbClr val="000000"/>
                </a:solidFill>
                <a:latin typeface="Times New Roman"/>
                <a:ea typeface="Times New Roman"/>
                <a:cs typeface="Times New Roman"/>
              </a:rPr>
              <a:t> provides a single entry point for clients, coordinates communication between microservices, and assembles responses without requiring services to access each other's databases.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Is the API Gateway a </a:t>
            </a:r>
            <a:r>
              <a:rPr sz="1200" b="1" i="0" u="none">
                <a:solidFill>
                  <a:srgbClr val="000000"/>
                </a:solidFill>
                <a:latin typeface="Times New Roman"/>
                <a:ea typeface="Times New Roman"/>
                <a:cs typeface="Times New Roman"/>
              </a:rPr>
              <a:t>single point of failure</a:t>
            </a:r>
            <a:r>
              <a:rPr sz="1200" b="0" i="0" u="none">
                <a:solidFill>
                  <a:srgbClr val="000000"/>
                </a:solidFill>
                <a:latin typeface="Times New Roman"/>
                <a:ea typeface="Times New Roman"/>
                <a:cs typeface="Times New Roman"/>
              </a:rPr>
              <a:t>? What happens if it goes down?</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Yes, a single gateway instance could become a point of failure. In production systems, multiple gateway instances are deployed behind a </a:t>
            </a:r>
            <a:r>
              <a:rPr sz="1200" b="1" i="0" u="none">
                <a:solidFill>
                  <a:srgbClr val="000000"/>
                </a:solidFill>
                <a:latin typeface="Times New Roman"/>
                <a:ea typeface="Times New Roman"/>
                <a:cs typeface="Times New Roman"/>
              </a:rPr>
              <a:t>load balancer</a:t>
            </a:r>
            <a:r>
              <a:rPr sz="1200" b="0" i="0" u="none">
                <a:solidFill>
                  <a:srgbClr val="000000"/>
                </a:solidFill>
                <a:latin typeface="Times New Roman"/>
                <a:ea typeface="Times New Roman"/>
                <a:cs typeface="Times New Roman"/>
              </a:rPr>
              <a:t>. Because the gateway is typically </a:t>
            </a:r>
            <a:r>
              <a:rPr sz="1200" b="1" i="0" u="none">
                <a:solidFill>
                  <a:srgbClr val="000000"/>
                </a:solidFill>
                <a:latin typeface="Times New Roman"/>
                <a:ea typeface="Times New Roman"/>
                <a:cs typeface="Times New Roman"/>
              </a:rPr>
              <a:t>stateless</a:t>
            </a:r>
            <a:r>
              <a:rPr sz="1200" b="0" i="0" u="none">
                <a:solidFill>
                  <a:srgbClr val="000000"/>
                </a:solidFill>
                <a:latin typeface="Times New Roman"/>
                <a:ea typeface="Times New Roman"/>
                <a:cs typeface="Times New Roman"/>
              </a:rPr>
              <a:t>, any instance can handle any incoming request. If one instance fails, the load balancer routes traffic to the remaining gateways, ensuring high availability.</a:t>
            </a:r>
            <a:endParaRPr lang="en-US"/>
          </a:p>
        </p:txBody>
      </p:sp>
      <p:sp>
        <p:nvSpPr>
          <p:cNvPr id="242758750" name="Slide Number Placeholder 3"/>
          <p:cNvSpPr>
            <a:spLocks noGrp="1"/>
          </p:cNvSpPr>
          <p:nvPr>
            <p:ph type="sldNum" sz="quarter" idx="10"/>
          </p:nvPr>
        </p:nvSpPr>
        <p:spPr bwMode="auto"/>
        <p:txBody>
          <a:bodyPr/>
          <a:lstStyle/>
          <a:p>
            <a:pPr>
              <a:defRPr/>
            </a:pPr>
            <a:fld id="{F7021451-1387-4CA6-816F-3879F97B5CBC}" type="slidenum">
              <a:rPr lang="en-US"/>
              <a:t>66</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4277846" name="Slide Image Placeholder 1"/>
          <p:cNvSpPr>
            <a:spLocks noChangeAspect="1" noGrp="1" noRot="1"/>
          </p:cNvSpPr>
          <p:nvPr>
            <p:ph type="sldImg"/>
          </p:nvPr>
        </p:nvSpPr>
        <p:spPr bwMode="auto"/>
      </p:sp>
      <p:sp>
        <p:nvSpPr>
          <p:cNvPr id="1192477926" name="Notes Placeholder 2"/>
          <p:cNvSpPr>
            <a:spLocks noGrp="1"/>
          </p:cNvSpPr>
          <p:nvPr>
            <p:ph type="body" idx="1"/>
          </p:nvPr>
        </p:nvSpPr>
        <p:spPr bwMode="auto"/>
        <p:txBody>
          <a:bodyPr/>
          <a:lstStyle/>
          <a:p>
            <a:pPr>
              <a:defRPr/>
            </a:pPr>
            <a:r>
              <a:rPr lang="en-US"/>
              <a:t>Now we apply everything from today's lecture in a hands-on lab. You will build a complete CRUD API from scratch using industry-standard tools. By the end of this session you will have a running microservice that you could deploy to the cloud today.</a:t>
            </a:r>
            <a:endParaRPr lang="en-US"/>
          </a:p>
        </p:txBody>
      </p:sp>
      <p:sp>
        <p:nvSpPr>
          <p:cNvPr id="705585160" name="Slide Number Placeholder 3"/>
          <p:cNvSpPr>
            <a:spLocks noGrp="1"/>
          </p:cNvSpPr>
          <p:nvPr>
            <p:ph type="sldNum" sz="quarter" idx="10"/>
          </p:nvPr>
        </p:nvSpPr>
        <p:spPr bwMode="auto"/>
        <p:txBody>
          <a:bodyPr/>
          <a:lstStyle/>
          <a:p>
            <a:pPr>
              <a:defRPr/>
            </a:pPr>
            <a:fld id="{F7021451-1387-4CA6-816F-3879F97B5CBC}" type="slidenum">
              <a:rPr lang="en-US"/>
              <a:t>67</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2596310" name="Slide Image Placeholder 1"/>
          <p:cNvSpPr>
            <a:spLocks noChangeAspect="1" noGrp="1" noRot="1"/>
          </p:cNvSpPr>
          <p:nvPr>
            <p:ph type="sldImg"/>
          </p:nvPr>
        </p:nvSpPr>
        <p:spPr bwMode="auto"/>
      </p:sp>
      <p:sp>
        <p:nvSpPr>
          <p:cNvPr id="1496260045"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Setting Up Your Python Environment</a:t>
            </a:r>
            <a:endParaRPr/>
          </a:p>
          <a:p>
            <a:pPr>
              <a:defRPr/>
            </a:pPr>
            <a:r>
              <a:rPr sz="1200" b="0" i="0" u="none">
                <a:solidFill>
                  <a:srgbClr val="000000"/>
                </a:solidFill>
                <a:latin typeface="Times New Roman"/>
                <a:ea typeface="Times New Roman"/>
                <a:cs typeface="Times New Roman"/>
              </a:rPr>
              <a:t>Before building a backend API with </a:t>
            </a:r>
            <a:r>
              <a:rPr sz="1200" b="1" i="0" u="none">
                <a:solidFill>
                  <a:srgbClr val="000000"/>
                </a:solidFill>
                <a:latin typeface="Times New Roman"/>
                <a:ea typeface="Times New Roman"/>
                <a:cs typeface="Times New Roman"/>
              </a:rPr>
              <a:t>FastAPI</a:t>
            </a:r>
            <a:r>
              <a:rPr sz="1200" b="0" i="0" u="none">
                <a:solidFill>
                  <a:srgbClr val="000000"/>
                </a:solidFill>
                <a:latin typeface="Times New Roman"/>
                <a:ea typeface="Times New Roman"/>
                <a:cs typeface="Times New Roman"/>
              </a:rPr>
              <a:t>, it is essential to create an isolated Python environment. This ensures that each project has its </a:t>
            </a:r>
            <a:r>
              <a:rPr sz="1200" b="1" i="0" u="none">
                <a:solidFill>
                  <a:srgbClr val="000000"/>
                </a:solidFill>
                <a:latin typeface="Times New Roman"/>
                <a:ea typeface="Times New Roman"/>
                <a:cs typeface="Times New Roman"/>
              </a:rPr>
              <a:t>own dependencies and package versions</a:t>
            </a:r>
            <a:r>
              <a:rPr sz="1200" b="0" i="0" u="none">
                <a:solidFill>
                  <a:srgbClr val="000000"/>
                </a:solidFill>
                <a:latin typeface="Times New Roman"/>
                <a:ea typeface="Times New Roman"/>
                <a:cs typeface="Times New Roman"/>
              </a:rPr>
              <a:t>, preventing conflicts between different projects.</a:t>
            </a:r>
            <a:endParaRPr/>
          </a:p>
          <a:p>
            <a:pPr>
              <a:defRPr/>
            </a:pPr>
            <a:r>
              <a:rPr sz="1200" b="0" i="0" u="none">
                <a:solidFill>
                  <a:srgbClr val="000000"/>
                </a:solidFill>
                <a:latin typeface="Times New Roman"/>
                <a:ea typeface="Times New Roman"/>
                <a:cs typeface="Times New Roman"/>
              </a:rPr>
              <a:t>The standard way to achieve this isolation is by creating a </a:t>
            </a:r>
            <a:r>
              <a:rPr sz="1200" b="1" i="0" u="none">
                <a:solidFill>
                  <a:srgbClr val="000000"/>
                </a:solidFill>
                <a:latin typeface="Times New Roman"/>
                <a:ea typeface="Times New Roman"/>
                <a:cs typeface="Times New Roman"/>
              </a:rPr>
              <a:t>virtual environment</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1. Create a Virtual Environment</a:t>
            </a:r>
            <a:endParaRPr/>
          </a:p>
          <a:p>
            <a:pPr>
              <a:defRPr/>
            </a:pPr>
            <a:r>
              <a:rPr sz="1000" b="0" i="0" u="none">
                <a:solidFill>
                  <a:srgbClr val="000000"/>
                </a:solidFill>
                <a:latin typeface="Courier New"/>
                <a:ea typeface="Courier New"/>
                <a:cs typeface="Courier New"/>
              </a:rPr>
              <a:t>python </a:t>
            </a:r>
            <a:r>
              <a:rPr sz="1000" b="0" i="0" u="none">
                <a:solidFill>
                  <a:srgbClr val="000000"/>
                </a:solidFill>
                <a:latin typeface="Courier New"/>
                <a:ea typeface="Courier New"/>
                <a:cs typeface="Courier New"/>
              </a:rPr>
              <a:t>-m</a:t>
            </a:r>
            <a:r>
              <a:rPr sz="1000" b="0" i="0" u="none">
                <a:solidFill>
                  <a:srgbClr val="000000"/>
                </a:solidFill>
                <a:latin typeface="Courier New"/>
                <a:ea typeface="Courier New"/>
                <a:cs typeface="Courier New"/>
              </a:rPr>
              <a:t> venv venv</a:t>
            </a:r>
            <a:endParaRPr/>
          </a:p>
          <a:p>
            <a:pPr>
              <a:defRPr/>
            </a:pPr>
            <a:r>
              <a:rPr sz="1200" b="0" i="0" u="none">
                <a:solidFill>
                  <a:srgbClr val="000000"/>
                </a:solidFill>
                <a:latin typeface="Times New Roman"/>
                <a:ea typeface="Times New Roman"/>
                <a:cs typeface="Times New Roman"/>
              </a:rPr>
              <a:t>This command creates a directory called </a:t>
            </a:r>
            <a:r>
              <a:rPr sz="1000" b="0" i="0" u="none">
                <a:solidFill>
                  <a:srgbClr val="000000"/>
                </a:solidFill>
                <a:latin typeface="Courier New"/>
                <a:ea typeface="Courier New"/>
                <a:cs typeface="Courier New"/>
              </a:rPr>
              <a:t>venv/</a:t>
            </a:r>
            <a:r>
              <a:rPr sz="1200" b="0" i="0" u="none">
                <a:solidFill>
                  <a:srgbClr val="000000"/>
                </a:solidFill>
                <a:latin typeface="Times New Roman"/>
                <a:ea typeface="Times New Roman"/>
                <a:cs typeface="Times New Roman"/>
              </a:rPr>
              <a:t> containing:</a:t>
            </a:r>
            <a:endParaRPr/>
          </a:p>
          <a:p>
            <a:pPr>
              <a:defRPr/>
            </a:pPr>
            <a:r>
              <a:rPr sz="1200" b="0" i="0" u="none">
                <a:solidFill>
                  <a:srgbClr val="000000"/>
                </a:solidFill>
                <a:latin typeface="Times New Roman"/>
                <a:ea typeface="Times New Roman"/>
                <a:cs typeface="Times New Roman"/>
              </a:rPr>
              <a:t>a local Python interpreter</a:t>
            </a:r>
            <a:endParaRPr/>
          </a:p>
          <a:p>
            <a:pPr>
              <a:defRPr/>
            </a:pPr>
            <a:r>
              <a:rPr sz="1200" b="0" i="0" u="none">
                <a:solidFill>
                  <a:srgbClr val="000000"/>
                </a:solidFill>
                <a:latin typeface="Times New Roman"/>
                <a:ea typeface="Times New Roman"/>
                <a:cs typeface="Times New Roman"/>
              </a:rPr>
              <a:t>a private package installation directory</a:t>
            </a:r>
            <a:endParaRPr/>
          </a:p>
          <a:p>
            <a:pPr>
              <a:defRPr/>
            </a:pPr>
            <a:r>
              <a:rPr sz="1200" b="0" i="0" u="none">
                <a:solidFill>
                  <a:srgbClr val="000000"/>
                </a:solidFill>
                <a:latin typeface="Times New Roman"/>
                <a:ea typeface="Times New Roman"/>
                <a:cs typeface="Times New Roman"/>
              </a:rPr>
              <a:t>activation scripts for different operating systems</a:t>
            </a:r>
            <a:endParaRPr/>
          </a:p>
          <a:p>
            <a:pPr>
              <a:defRPr/>
            </a:pPr>
            <a:r>
              <a:rPr sz="1200" b="0" i="0" u="none">
                <a:solidFill>
                  <a:srgbClr val="000000"/>
                </a:solidFill>
                <a:latin typeface="Times New Roman"/>
                <a:ea typeface="Times New Roman"/>
                <a:cs typeface="Times New Roman"/>
              </a:rPr>
              <a:t>The virtual environment ensures that packages installed for this project </a:t>
            </a:r>
            <a:r>
              <a:rPr sz="1200" b="1" i="0" u="none">
                <a:solidFill>
                  <a:srgbClr val="000000"/>
                </a:solidFill>
                <a:latin typeface="Times New Roman"/>
                <a:ea typeface="Times New Roman"/>
                <a:cs typeface="Times New Roman"/>
              </a:rPr>
              <a:t>do not affect other Python projects on the system</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2. Activate the Environment</a:t>
            </a:r>
            <a:endParaRPr/>
          </a:p>
          <a:p>
            <a:pPr>
              <a:defRPr/>
            </a:pPr>
            <a:r>
              <a:rPr sz="1200" b="0" i="0" u="none">
                <a:solidFill>
                  <a:srgbClr val="000000"/>
                </a:solidFill>
                <a:latin typeface="Times New Roman"/>
                <a:ea typeface="Times New Roman"/>
                <a:cs typeface="Times New Roman"/>
              </a:rPr>
              <a:t>The activation command depends on the operating system and shell.</a:t>
            </a:r>
            <a:endParaRPr/>
          </a:p>
          <a:p>
            <a:pPr>
              <a:defRPr/>
            </a:pPr>
            <a:r>
              <a:rPr sz="1200" b="1" i="0" u="none">
                <a:solidFill>
                  <a:srgbClr val="000000"/>
                </a:solidFill>
                <a:latin typeface="Times New Roman"/>
                <a:ea typeface="Times New Roman"/>
                <a:cs typeface="Times New Roman"/>
              </a:rPr>
              <a:t>macOS / Linux (bash or zsh)</a:t>
            </a:r>
            <a:endParaRPr/>
          </a:p>
          <a:p>
            <a:pPr>
              <a:defRPr/>
            </a:pPr>
            <a:r>
              <a:rPr sz="1000" b="0" i="0" u="none">
                <a:solidFill>
                  <a:srgbClr val="000000"/>
                </a:solidFill>
                <a:latin typeface="Courier New"/>
                <a:ea typeface="Courier New"/>
                <a:cs typeface="Courier New"/>
              </a:rPr>
              <a:t>source</a:t>
            </a:r>
            <a:r>
              <a:rPr sz="1000" b="0" i="0" u="none">
                <a:solidFill>
                  <a:srgbClr val="000000"/>
                </a:solidFill>
                <a:latin typeface="Courier New"/>
                <a:ea typeface="Courier New"/>
                <a:cs typeface="Courier New"/>
              </a:rPr>
              <a:t> venv/bin/activate</a:t>
            </a:r>
            <a:endParaRPr/>
          </a:p>
          <a:p>
            <a:pPr>
              <a:defRPr/>
            </a:pPr>
            <a:r>
              <a:rPr sz="1200" b="1" i="0" u="none">
                <a:solidFill>
                  <a:srgbClr val="000000"/>
                </a:solidFill>
                <a:latin typeface="Times New Roman"/>
                <a:ea typeface="Times New Roman"/>
                <a:cs typeface="Times New Roman"/>
              </a:rPr>
              <a:t>Windows Command Prompt</a:t>
            </a:r>
            <a:endParaRPr/>
          </a:p>
          <a:p>
            <a:pPr>
              <a:defRPr/>
            </a:pPr>
            <a:r>
              <a:rPr sz="1000" b="0" i="0" u="none">
                <a:solidFill>
                  <a:srgbClr val="000000"/>
                </a:solidFill>
                <a:latin typeface="Courier New"/>
                <a:ea typeface="Courier New"/>
                <a:cs typeface="Courier New"/>
              </a:rPr>
              <a:t>venv\Scripts\activate</a:t>
            </a:r>
            <a:endParaRPr/>
          </a:p>
          <a:p>
            <a:pPr>
              <a:defRPr/>
            </a:pPr>
            <a:r>
              <a:rPr sz="1200" b="1" i="0" u="none">
                <a:solidFill>
                  <a:srgbClr val="000000"/>
                </a:solidFill>
                <a:latin typeface="Times New Roman"/>
                <a:ea typeface="Times New Roman"/>
                <a:cs typeface="Times New Roman"/>
              </a:rPr>
              <a:t>Windows PowerShell</a:t>
            </a:r>
            <a:endParaRPr/>
          </a:p>
          <a:p>
            <a:pPr>
              <a:defRPr/>
            </a:pPr>
            <a:r>
              <a:rPr sz="1000" b="0" i="0" u="none">
                <a:solidFill>
                  <a:srgbClr val="000000"/>
                </a:solidFill>
                <a:latin typeface="Courier New"/>
                <a:ea typeface="Courier New"/>
                <a:cs typeface="Courier New"/>
              </a:rPr>
              <a:t>venv</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Scripts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Activate</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ps1</a:t>
            </a:r>
            <a:endParaRPr/>
          </a:p>
          <a:p>
            <a:pPr>
              <a:defRPr/>
            </a:pPr>
            <a:r>
              <a:rPr sz="1200" b="0" i="0" u="none">
                <a:solidFill>
                  <a:srgbClr val="000000"/>
                </a:solidFill>
                <a:latin typeface="Times New Roman"/>
                <a:ea typeface="Times New Roman"/>
                <a:cs typeface="Times New Roman"/>
              </a:rPr>
              <a:t>If PowerShell blocks the script due to execution policy, run:</a:t>
            </a:r>
            <a:endParaRPr/>
          </a:p>
          <a:p>
            <a:pPr>
              <a:defRPr/>
            </a:pPr>
            <a:r>
              <a:rPr sz="1000" b="0" i="0" u="none">
                <a:solidFill>
                  <a:srgbClr val="000000"/>
                </a:solidFill>
                <a:latin typeface="Courier New"/>
                <a:ea typeface="Courier New"/>
                <a:cs typeface="Courier New"/>
              </a:rPr>
              <a:t>Set-ExecutionPolicy</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Scope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CurrentUser</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RemoteSigned</a:t>
            </a:r>
            <a:endParaRPr/>
          </a:p>
          <a:p>
            <a:pPr>
              <a:defRPr/>
            </a:pPr>
            <a:r>
              <a:rPr sz="1200" b="0" i="0" u="none">
                <a:solidFill>
                  <a:srgbClr val="000000"/>
                </a:solidFill>
                <a:latin typeface="Times New Roman"/>
                <a:ea typeface="Times New Roman"/>
                <a:cs typeface="Times New Roman"/>
              </a:rPr>
              <a:t>Once activated, the terminal prompt typically changes to include </a:t>
            </a:r>
            <a:r>
              <a:rPr sz="1000" b="0" i="0" u="none">
                <a:solidFill>
                  <a:srgbClr val="000000"/>
                </a:solidFill>
                <a:latin typeface="Courier New"/>
                <a:ea typeface="Courier New"/>
                <a:cs typeface="Courier New"/>
              </a:rPr>
              <a:t>(venv)</a:t>
            </a:r>
            <a:r>
              <a:rPr sz="1200" b="0" i="0" u="none">
                <a:solidFill>
                  <a:srgbClr val="000000"/>
                </a:solidFill>
                <a:latin typeface="Times New Roman"/>
                <a:ea typeface="Times New Roman"/>
                <a:cs typeface="Times New Roman"/>
              </a:rPr>
              <a:t>, indicating that Python commands now use the </a:t>
            </a:r>
            <a:r>
              <a:rPr sz="1200" b="1" i="0" u="none">
                <a:solidFill>
                  <a:srgbClr val="000000"/>
                </a:solidFill>
                <a:latin typeface="Times New Roman"/>
                <a:ea typeface="Times New Roman"/>
                <a:cs typeface="Times New Roman"/>
              </a:rPr>
              <a:t>environment inside the project directory</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3. Install Project Dependencies</a:t>
            </a:r>
            <a:endParaRPr/>
          </a:p>
          <a:p>
            <a:pPr>
              <a:defRPr/>
            </a:pPr>
            <a:r>
              <a:rPr sz="1200" b="0" i="0" u="none">
                <a:solidFill>
                  <a:srgbClr val="000000"/>
                </a:solidFill>
                <a:latin typeface="Times New Roman"/>
                <a:ea typeface="Times New Roman"/>
                <a:cs typeface="Times New Roman"/>
              </a:rPr>
              <a:t>After activating the environment, install the required packages:</a:t>
            </a:r>
            <a:endParaRPr/>
          </a:p>
          <a:p>
            <a:pPr>
              <a:defRPr/>
            </a:pPr>
            <a:r>
              <a:rPr sz="1000" b="0" i="0" u="none">
                <a:solidFill>
                  <a:srgbClr val="000000"/>
                </a:solidFill>
                <a:latin typeface="Courier New"/>
                <a:ea typeface="Courier New"/>
                <a:cs typeface="Courier New"/>
              </a:rPr>
              <a:t>pip install fastapi motor pydantic uvicorn</a:t>
            </a:r>
            <a:endParaRPr/>
          </a:p>
          <a:p>
            <a:pPr>
              <a:defRPr/>
            </a:pPr>
            <a:r>
              <a:rPr sz="1200" b="0" i="0" u="none">
                <a:solidFill>
                  <a:srgbClr val="000000"/>
                </a:solidFill>
                <a:latin typeface="Times New Roman"/>
                <a:ea typeface="Times New Roman"/>
                <a:cs typeface="Times New Roman"/>
              </a:rPr>
              <a:t>These libraries provide:</a:t>
            </a:r>
            <a:endParaRPr/>
          </a:p>
          <a:p>
            <a:pPr>
              <a:defRPr/>
            </a:pPr>
            <a:r>
              <a:rPr sz="1200" b="1" i="0" u="none">
                <a:solidFill>
                  <a:srgbClr val="000000"/>
                </a:solidFill>
                <a:latin typeface="Times New Roman"/>
                <a:ea typeface="Times New Roman"/>
                <a:cs typeface="Times New Roman"/>
              </a:rPr>
              <a:t>FastAPI</a:t>
            </a:r>
            <a:r>
              <a:rPr sz="1200" b="0" i="0" u="none">
                <a:solidFill>
                  <a:srgbClr val="000000"/>
                </a:solidFill>
                <a:latin typeface="Times New Roman"/>
                <a:ea typeface="Times New Roman"/>
                <a:cs typeface="Times New Roman"/>
              </a:rPr>
              <a:t> — modern Python web API framework </a:t>
            </a:r>
            <a:endParaRPr/>
          </a:p>
          <a:p>
            <a:pPr>
              <a:defRPr/>
            </a:pPr>
            <a:r>
              <a:rPr sz="1200" b="1" i="0" u="none">
                <a:solidFill>
                  <a:srgbClr val="000000"/>
                </a:solidFill>
                <a:latin typeface="Times New Roman"/>
                <a:ea typeface="Times New Roman"/>
                <a:cs typeface="Times New Roman"/>
              </a:rPr>
              <a:t>Motor</a:t>
            </a:r>
            <a:r>
              <a:rPr sz="1200" b="0" i="0" u="none">
                <a:solidFill>
                  <a:srgbClr val="000000"/>
                </a:solidFill>
                <a:latin typeface="Times New Roman"/>
                <a:ea typeface="Times New Roman"/>
                <a:cs typeface="Times New Roman"/>
              </a:rPr>
              <a:t> — asynchronous MongoDB driver </a:t>
            </a:r>
            <a:endParaRPr/>
          </a:p>
          <a:p>
            <a:pPr>
              <a:defRPr/>
            </a:pPr>
            <a:r>
              <a:rPr sz="1200" b="1" i="0" u="none">
                <a:solidFill>
                  <a:srgbClr val="000000"/>
                </a:solidFill>
                <a:latin typeface="Times New Roman"/>
                <a:ea typeface="Times New Roman"/>
                <a:cs typeface="Times New Roman"/>
              </a:rPr>
              <a:t>Pydantic</a:t>
            </a:r>
            <a:r>
              <a:rPr sz="1200" b="0" i="0" u="none">
                <a:solidFill>
                  <a:srgbClr val="000000"/>
                </a:solidFill>
                <a:latin typeface="Times New Roman"/>
                <a:ea typeface="Times New Roman"/>
                <a:cs typeface="Times New Roman"/>
              </a:rPr>
              <a:t> — data validation and serialization </a:t>
            </a:r>
            <a:endParaRPr/>
          </a:p>
          <a:p>
            <a:pPr>
              <a:defRPr/>
            </a:pPr>
            <a:r>
              <a:rPr sz="1200" b="1" i="0" u="none">
                <a:solidFill>
                  <a:srgbClr val="000000"/>
                </a:solidFill>
                <a:latin typeface="Times New Roman"/>
                <a:ea typeface="Times New Roman"/>
                <a:cs typeface="Times New Roman"/>
              </a:rPr>
              <a:t>Uvicorn</a:t>
            </a:r>
            <a:r>
              <a:rPr sz="1200" b="0" i="0" u="none">
                <a:solidFill>
                  <a:srgbClr val="000000"/>
                </a:solidFill>
                <a:latin typeface="Times New Roman"/>
                <a:ea typeface="Times New Roman"/>
                <a:cs typeface="Times New Roman"/>
              </a:rPr>
              <a:t> — high-performance ASGI web server </a:t>
            </a:r>
            <a:endParaRPr/>
          </a:p>
          <a:p>
            <a:pPr>
              <a:defRPr/>
            </a:pPr>
            <a:r>
              <a:rPr sz="1400" b="1" i="0" u="none">
                <a:solidFill>
                  <a:srgbClr val="000000"/>
                </a:solidFill>
                <a:latin typeface="Times New Roman"/>
                <a:ea typeface="Times New Roman"/>
                <a:cs typeface="Times New Roman"/>
              </a:rPr>
              <a:t>4. Verify the Installation</a:t>
            </a:r>
            <a:endParaRPr/>
          </a:p>
          <a:p>
            <a:pPr>
              <a:defRPr/>
            </a:pPr>
            <a:r>
              <a:rPr sz="1200" b="0" i="0" u="none">
                <a:solidFill>
                  <a:srgbClr val="000000"/>
                </a:solidFill>
                <a:latin typeface="Times New Roman"/>
                <a:ea typeface="Times New Roman"/>
                <a:cs typeface="Times New Roman"/>
              </a:rPr>
              <a:t>To confirm that the server is installed correctly:</a:t>
            </a:r>
            <a:endParaRPr/>
          </a:p>
          <a:p>
            <a:pPr>
              <a:defRPr/>
            </a:pPr>
            <a:r>
              <a:rPr sz="1000" b="0" i="0" u="none">
                <a:solidFill>
                  <a:srgbClr val="000000"/>
                </a:solidFill>
                <a:latin typeface="Courier New"/>
                <a:ea typeface="Courier New"/>
                <a:cs typeface="Courier New"/>
              </a:rPr>
              <a:t>uvicorn </a:t>
            </a:r>
            <a:r>
              <a:rPr sz="1000" b="0" i="0" u="none">
                <a:solidFill>
                  <a:srgbClr val="000000"/>
                </a:solidFill>
                <a:latin typeface="Courier New"/>
                <a:ea typeface="Courier New"/>
                <a:cs typeface="Courier New"/>
              </a:rPr>
              <a:t>--version</a:t>
            </a:r>
            <a:endParaRPr/>
          </a:p>
          <a:p>
            <a:pPr>
              <a:defRPr/>
            </a:pPr>
            <a:r>
              <a:rPr sz="1200" b="0" i="0" u="none">
                <a:solidFill>
                  <a:srgbClr val="000000"/>
                </a:solidFill>
                <a:latin typeface="Times New Roman"/>
                <a:ea typeface="Times New Roman"/>
                <a:cs typeface="Times New Roman"/>
              </a:rPr>
              <a:t>If the installation succeeded, the command prints the installed version number.</a:t>
            </a:r>
            <a:endParaRPr/>
          </a:p>
          <a:p>
            <a:pPr>
              <a:defRPr/>
            </a:pPr>
            <a:r>
              <a:rPr sz="1400" b="1" i="0" u="none">
                <a:solidFill>
                  <a:srgbClr val="000000"/>
                </a:solidFill>
                <a:latin typeface="Times New Roman"/>
                <a:ea typeface="Times New Roman"/>
                <a:cs typeface="Times New Roman"/>
              </a:rPr>
              <a:t>5. Upgrade pip if Necessary</a:t>
            </a:r>
            <a:endParaRPr/>
          </a:p>
          <a:p>
            <a:pPr>
              <a:defRPr/>
            </a:pPr>
            <a:r>
              <a:rPr sz="1200" b="0" i="0" u="none">
                <a:solidFill>
                  <a:srgbClr val="000000"/>
                </a:solidFill>
                <a:latin typeface="Times New Roman"/>
                <a:ea typeface="Times New Roman"/>
                <a:cs typeface="Times New Roman"/>
              </a:rPr>
              <a:t>If </a:t>
            </a:r>
            <a:r>
              <a:rPr sz="1000" b="0" i="0" u="none">
                <a:solidFill>
                  <a:srgbClr val="000000"/>
                </a:solidFill>
                <a:latin typeface="Courier New"/>
                <a:ea typeface="Courier New"/>
                <a:cs typeface="Courier New"/>
              </a:rPr>
              <a:t>pip</a:t>
            </a:r>
            <a:r>
              <a:rPr sz="1200" b="0" i="0" u="none">
                <a:solidFill>
                  <a:srgbClr val="000000"/>
                </a:solidFill>
                <a:latin typeface="Times New Roman"/>
                <a:ea typeface="Times New Roman"/>
                <a:cs typeface="Times New Roman"/>
              </a:rPr>
              <a:t> is outdated, upgrade it first:</a:t>
            </a:r>
            <a:endParaRPr/>
          </a:p>
          <a:p>
            <a:pPr>
              <a:defRPr/>
            </a:pPr>
            <a:r>
              <a:rPr sz="1000" b="0" i="0" u="none">
                <a:solidFill>
                  <a:srgbClr val="000000"/>
                </a:solidFill>
                <a:latin typeface="Courier New"/>
                <a:ea typeface="Courier New"/>
                <a:cs typeface="Courier New"/>
              </a:rPr>
              <a:t>python </a:t>
            </a:r>
            <a:r>
              <a:rPr sz="1000" b="0" i="0" u="none">
                <a:solidFill>
                  <a:srgbClr val="000000"/>
                </a:solidFill>
                <a:latin typeface="Courier New"/>
                <a:ea typeface="Courier New"/>
                <a:cs typeface="Courier New"/>
              </a:rPr>
              <a:t>-m</a:t>
            </a:r>
            <a:r>
              <a:rPr sz="1000" b="0" i="0" u="none">
                <a:solidFill>
                  <a:srgbClr val="000000"/>
                </a:solidFill>
                <a:latin typeface="Courier New"/>
                <a:ea typeface="Courier New"/>
                <a:cs typeface="Courier New"/>
              </a:rPr>
              <a:t> pip install </a:t>
            </a:r>
            <a:r>
              <a:rPr sz="1000" b="0" i="0" u="none">
                <a:solidFill>
                  <a:srgbClr val="000000"/>
                </a:solidFill>
                <a:latin typeface="Courier New"/>
                <a:ea typeface="Courier New"/>
                <a:cs typeface="Courier New"/>
              </a:rPr>
              <a:t>--upgrade</a:t>
            </a:r>
            <a:r>
              <a:rPr sz="1000" b="0" i="0" u="none">
                <a:solidFill>
                  <a:srgbClr val="000000"/>
                </a:solidFill>
                <a:latin typeface="Courier New"/>
                <a:ea typeface="Courier New"/>
                <a:cs typeface="Courier New"/>
              </a:rPr>
              <a:t> pip</a:t>
            </a:r>
            <a:endParaRPr/>
          </a:p>
          <a:p>
            <a:pPr>
              <a:defRPr/>
            </a:pPr>
            <a:r>
              <a:rPr sz="1200" b="0" i="0" u="none">
                <a:solidFill>
                  <a:srgbClr val="000000"/>
                </a:solidFill>
                <a:latin typeface="Times New Roman"/>
                <a:ea typeface="Times New Roman"/>
                <a:cs typeface="Times New Roman"/>
              </a:rPr>
              <a:t>Then reinstall the dependencies.</a:t>
            </a:r>
            <a:endParaRPr/>
          </a:p>
          <a:p>
            <a:pPr>
              <a:defRPr/>
            </a:pPr>
            <a:r>
              <a:rPr sz="1400" b="1" i="0" u="none">
                <a:solidFill>
                  <a:srgbClr val="000000"/>
                </a:solidFill>
                <a:latin typeface="Times New Roman"/>
                <a:ea typeface="Times New Roman"/>
                <a:cs typeface="Times New Roman"/>
              </a:rPr>
              <a:t>Why Virtual Environments Matter</a:t>
            </a:r>
            <a:endParaRPr/>
          </a:p>
          <a:p>
            <a:pPr>
              <a:defRPr/>
            </a:pPr>
            <a:r>
              <a:rPr sz="1200" b="0" i="0" u="none">
                <a:solidFill>
                  <a:srgbClr val="000000"/>
                </a:solidFill>
                <a:latin typeface="Times New Roman"/>
                <a:ea typeface="Times New Roman"/>
                <a:cs typeface="Times New Roman"/>
              </a:rPr>
              <a:t>Students often install packages </a:t>
            </a:r>
            <a:r>
              <a:rPr sz="1200" b="1" i="0" u="none">
                <a:solidFill>
                  <a:srgbClr val="000000"/>
                </a:solidFill>
                <a:latin typeface="Times New Roman"/>
                <a:ea typeface="Times New Roman"/>
                <a:cs typeface="Times New Roman"/>
              </a:rPr>
              <a:t>globally</a:t>
            </a:r>
            <a:r>
              <a:rPr sz="1200" b="0" i="0" u="none">
                <a:solidFill>
                  <a:srgbClr val="000000"/>
                </a:solidFill>
                <a:latin typeface="Times New Roman"/>
                <a:ea typeface="Times New Roman"/>
                <a:cs typeface="Times New Roman"/>
              </a:rPr>
              <a:t>, which causes version conflicts across projects. A virtual environment avoids this by creating a </a:t>
            </a:r>
            <a:r>
              <a:rPr sz="1200" b="1" i="0" u="none">
                <a:solidFill>
                  <a:srgbClr val="000000"/>
                </a:solidFill>
                <a:latin typeface="Times New Roman"/>
                <a:ea typeface="Times New Roman"/>
                <a:cs typeface="Times New Roman"/>
              </a:rPr>
              <a:t>self-contained dependency space</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When the environment is activated:</a:t>
            </a:r>
            <a:endParaRPr/>
          </a:p>
          <a:p>
            <a:pPr>
              <a:defRPr/>
            </a:pPr>
            <a:r>
              <a:rPr sz="1000" b="0" i="0" u="none">
                <a:solidFill>
                  <a:srgbClr val="000000"/>
                </a:solidFill>
                <a:latin typeface="Courier New"/>
                <a:ea typeface="Courier New"/>
                <a:cs typeface="Courier New"/>
              </a:rPr>
              <a:t>python</a:t>
            </a:r>
            <a:r>
              <a:rPr sz="1200" b="0" i="0" u="none">
                <a:solidFill>
                  <a:srgbClr val="000000"/>
                </a:solidFill>
                <a:latin typeface="Times New Roman"/>
                <a:ea typeface="Times New Roman"/>
                <a:cs typeface="Times New Roman"/>
              </a:rPr>
              <a:t> refers to the interpreter inside </a:t>
            </a:r>
            <a:r>
              <a:rPr sz="1000" b="0" i="0" u="none">
                <a:solidFill>
                  <a:srgbClr val="000000"/>
                </a:solidFill>
                <a:latin typeface="Courier New"/>
                <a:ea typeface="Courier New"/>
                <a:cs typeface="Courier New"/>
              </a:rPr>
              <a:t>venv/</a:t>
            </a:r>
            <a:endParaRPr/>
          </a:p>
          <a:p>
            <a:pPr>
              <a:defRPr/>
            </a:pPr>
            <a:r>
              <a:rPr sz="1000" b="0" i="0" u="none">
                <a:solidFill>
                  <a:srgbClr val="000000"/>
                </a:solidFill>
                <a:latin typeface="Courier New"/>
                <a:ea typeface="Courier New"/>
                <a:cs typeface="Courier New"/>
              </a:rPr>
              <a:t>pip install</a:t>
            </a:r>
            <a:r>
              <a:rPr sz="1200" b="0" i="0" u="none">
                <a:solidFill>
                  <a:srgbClr val="000000"/>
                </a:solidFill>
                <a:latin typeface="Times New Roman"/>
                <a:ea typeface="Times New Roman"/>
                <a:cs typeface="Times New Roman"/>
              </a:rPr>
              <a:t> installs packages only inside that environment </a:t>
            </a:r>
            <a:endParaRPr/>
          </a:p>
          <a:p>
            <a:pPr>
              <a:defRPr/>
            </a:pPr>
            <a:r>
              <a:rPr sz="1400" b="1" i="0" u="none">
                <a:solidFill>
                  <a:srgbClr val="000000"/>
                </a:solidFill>
                <a:latin typeface="Times New Roman"/>
                <a:ea typeface="Times New Roman"/>
                <a:cs typeface="Times New Roman"/>
              </a:rPr>
              <a:t>Team Development Best Practice</a:t>
            </a:r>
            <a:endParaRPr/>
          </a:p>
          <a:p>
            <a:pPr>
              <a:defRPr/>
            </a:pPr>
            <a:r>
              <a:rPr sz="1200" b="0" i="0" u="none">
                <a:solidFill>
                  <a:srgbClr val="000000"/>
                </a:solidFill>
                <a:latin typeface="Times New Roman"/>
                <a:ea typeface="Times New Roman"/>
                <a:cs typeface="Times New Roman"/>
              </a:rPr>
              <a:t>In professional projects, teams store a </a:t>
            </a:r>
            <a:r>
              <a:rPr sz="1200" b="1" i="0" u="none">
                <a:solidFill>
                  <a:srgbClr val="000000"/>
                </a:solidFill>
                <a:latin typeface="Times New Roman"/>
                <a:ea typeface="Times New Roman"/>
                <a:cs typeface="Times New Roman"/>
              </a:rPr>
              <a:t>requirements file</a:t>
            </a:r>
            <a:r>
              <a:rPr sz="1200" b="0" i="0" u="none">
                <a:solidFill>
                  <a:srgbClr val="000000"/>
                </a:solidFill>
                <a:latin typeface="Times New Roman"/>
                <a:ea typeface="Times New Roman"/>
                <a:cs typeface="Times New Roman"/>
              </a:rPr>
              <a:t> containing all dependency versions:</a:t>
            </a:r>
            <a:endParaRPr/>
          </a:p>
          <a:p>
            <a:pPr>
              <a:defRPr/>
            </a:pPr>
            <a:r>
              <a:rPr sz="1000" b="0" i="0" u="none">
                <a:solidFill>
                  <a:srgbClr val="000000"/>
                </a:solidFill>
                <a:latin typeface="Courier New"/>
                <a:ea typeface="Courier New"/>
                <a:cs typeface="Courier New"/>
              </a:rPr>
              <a:t>pip freeze &gt; requirements.txt</a:t>
            </a:r>
            <a:endParaRPr/>
          </a:p>
          <a:p>
            <a:pPr>
              <a:defRPr/>
            </a:pPr>
            <a:r>
              <a:rPr sz="1200" b="0" i="0" u="none">
                <a:solidFill>
                  <a:srgbClr val="000000"/>
                </a:solidFill>
                <a:latin typeface="Times New Roman"/>
                <a:ea typeface="Times New Roman"/>
                <a:cs typeface="Times New Roman"/>
              </a:rPr>
              <a:t>New developers can then reproduce the exact environment by running:</a:t>
            </a:r>
            <a:endParaRPr/>
          </a:p>
          <a:p>
            <a:pPr>
              <a:defRPr/>
            </a:pPr>
            <a:r>
              <a:rPr sz="1000" b="0" i="0" u="none">
                <a:solidFill>
                  <a:srgbClr val="000000"/>
                </a:solidFill>
                <a:latin typeface="Courier New"/>
                <a:ea typeface="Courier New"/>
                <a:cs typeface="Courier New"/>
              </a:rPr>
              <a:t>pip install </a:t>
            </a:r>
            <a:r>
              <a:rPr sz="1000" b="0" i="0" u="none">
                <a:solidFill>
                  <a:srgbClr val="000000"/>
                </a:solidFill>
                <a:latin typeface="Courier New"/>
                <a:ea typeface="Courier New"/>
                <a:cs typeface="Courier New"/>
              </a:rPr>
              <a:t>-r</a:t>
            </a:r>
            <a:r>
              <a:rPr sz="1000" b="0" i="0" u="none">
                <a:solidFill>
                  <a:srgbClr val="000000"/>
                </a:solidFill>
                <a:latin typeface="Courier New"/>
                <a:ea typeface="Courier New"/>
                <a:cs typeface="Courier New"/>
              </a:rPr>
              <a:t> requirements.txt</a:t>
            </a:r>
            <a:endParaRPr/>
          </a:p>
          <a:p>
            <a:pPr>
              <a:defRPr/>
            </a:pPr>
            <a:r>
              <a:rPr sz="1200" b="0" i="0" u="none">
                <a:solidFill>
                  <a:srgbClr val="000000"/>
                </a:solidFill>
                <a:latin typeface="Times New Roman"/>
                <a:ea typeface="Times New Roman"/>
                <a:cs typeface="Times New Roman"/>
              </a:rPr>
              <a:t>This ensures that every developer runs </a:t>
            </a:r>
            <a:r>
              <a:rPr sz="1200" b="1" i="0" u="none">
                <a:solidFill>
                  <a:srgbClr val="000000"/>
                </a:solidFill>
                <a:latin typeface="Times New Roman"/>
                <a:ea typeface="Times New Roman"/>
                <a:cs typeface="Times New Roman"/>
              </a:rPr>
              <a:t>identical package versions</a:t>
            </a:r>
            <a:r>
              <a:rPr sz="1200" b="0" i="0" u="none">
                <a:solidFill>
                  <a:srgbClr val="000000"/>
                </a:solidFill>
                <a:latin typeface="Times New Roman"/>
                <a:ea typeface="Times New Roman"/>
                <a:cs typeface="Times New Roman"/>
              </a:rPr>
              <a:t>, preventing the classic “works on my machine” problem.</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happens if you forget to activate the virtual environment before running:</a:t>
            </a:r>
            <a:endParaRPr/>
          </a:p>
          <a:p>
            <a:pPr>
              <a:defRPr/>
            </a:pPr>
            <a:r>
              <a:rPr sz="1000" b="0" i="0" u="none">
                <a:solidFill>
                  <a:srgbClr val="000000"/>
                </a:solidFill>
                <a:latin typeface="Courier New"/>
                <a:ea typeface="Courier New"/>
                <a:cs typeface="Courier New"/>
              </a:rPr>
              <a:t>pip install fastapi</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packages are installed in the </a:t>
            </a:r>
            <a:r>
              <a:rPr sz="1200" b="1" i="0" u="none">
                <a:solidFill>
                  <a:srgbClr val="000000"/>
                </a:solidFill>
                <a:latin typeface="Times New Roman"/>
                <a:ea typeface="Times New Roman"/>
                <a:cs typeface="Times New Roman"/>
              </a:rPr>
              <a:t>global Python environment</a:t>
            </a:r>
            <a:r>
              <a:rPr sz="1200" b="0" i="0" u="none">
                <a:solidFill>
                  <a:srgbClr val="000000"/>
                </a:solidFill>
                <a:latin typeface="Times New Roman"/>
                <a:ea typeface="Times New Roman"/>
                <a:cs typeface="Times New Roman"/>
              </a:rPr>
              <a:t> rather than inside the project’s virtual environment. Later, when you activate the </a:t>
            </a:r>
            <a:r>
              <a:rPr sz="1000" b="0" i="0" u="none">
                <a:solidFill>
                  <a:srgbClr val="000000"/>
                </a:solidFill>
                <a:latin typeface="Courier New"/>
                <a:ea typeface="Courier New"/>
                <a:cs typeface="Courier New"/>
              </a:rPr>
              <a:t>venv</a:t>
            </a:r>
            <a:r>
              <a:rPr sz="1200" b="0" i="0" u="none">
                <a:solidFill>
                  <a:srgbClr val="000000"/>
                </a:solidFill>
                <a:latin typeface="Times New Roman"/>
                <a:ea typeface="Times New Roman"/>
                <a:cs typeface="Times New Roman"/>
              </a:rPr>
              <a:t> and run the project, Python cannot find the package and raises a </a:t>
            </a:r>
            <a:r>
              <a:rPr sz="1000" b="0" i="0" u="none">
                <a:solidFill>
                  <a:srgbClr val="000000"/>
                </a:solidFill>
                <a:latin typeface="Courier New"/>
                <a:ea typeface="Courier New"/>
                <a:cs typeface="Courier New"/>
              </a:rPr>
              <a:t>ModuleNotFoundError</a:t>
            </a:r>
            <a:r>
              <a:rPr sz="1200" b="0" i="0" u="none">
                <a:solidFill>
                  <a:srgbClr val="000000"/>
                </a:solidFill>
                <a:latin typeface="Times New Roman"/>
                <a:ea typeface="Times New Roman"/>
                <a:cs typeface="Times New Roman"/>
              </a:rPr>
              <a:t>. The correct fix is to activate the virtual environment first and reinstall the package inside it.</a:t>
            </a:r>
            <a:endParaRPr lang="en-US"/>
          </a:p>
        </p:txBody>
      </p:sp>
      <p:sp>
        <p:nvSpPr>
          <p:cNvPr id="1428106438" name="Slide Number Placeholder 3"/>
          <p:cNvSpPr>
            <a:spLocks noGrp="1"/>
          </p:cNvSpPr>
          <p:nvPr>
            <p:ph type="sldNum" sz="quarter" idx="10"/>
          </p:nvPr>
        </p:nvSpPr>
        <p:spPr bwMode="auto"/>
        <p:txBody>
          <a:bodyPr/>
          <a:lstStyle/>
          <a:p>
            <a:pPr>
              <a:defRPr/>
            </a:pPr>
            <a:fld id="{F7021451-1387-4CA6-816F-3879F97B5CBC}" type="slidenum">
              <a:rPr lang="en-US"/>
              <a:t>68</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2334440" name="Slide Image Placeholder 1"/>
          <p:cNvSpPr>
            <a:spLocks noChangeAspect="1" noGrp="1" noRot="1"/>
          </p:cNvSpPr>
          <p:nvPr>
            <p:ph type="sldImg"/>
          </p:nvPr>
        </p:nvSpPr>
        <p:spPr bwMode="auto"/>
      </p:sp>
      <p:sp>
        <p:nvSpPr>
          <p:cNvPr id="1522330245"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LAB: What We Are Building</a:t>
            </a:r>
            <a:endParaRPr/>
          </a:p>
          <a:p>
            <a:pPr>
              <a:defRPr/>
            </a:pPr>
            <a:r>
              <a:rPr sz="1200" b="0" i="0" u="none">
                <a:solidFill>
                  <a:srgbClr val="000000"/>
                </a:solidFill>
                <a:latin typeface="Times New Roman"/>
                <a:ea typeface="Times New Roman"/>
                <a:cs typeface="Times New Roman"/>
              </a:rPr>
              <a:t>In this lab, the objective is to build a </a:t>
            </a:r>
            <a:r>
              <a:rPr sz="1200" b="1" i="0" u="none">
                <a:solidFill>
                  <a:srgbClr val="000000"/>
                </a:solidFill>
                <a:latin typeface="Times New Roman"/>
                <a:ea typeface="Times New Roman"/>
                <a:cs typeface="Times New Roman"/>
              </a:rPr>
              <a:t>fully working CRUD REST API</a:t>
            </a:r>
            <a:r>
              <a:rPr sz="1200" b="0" i="0" u="none">
                <a:solidFill>
                  <a:srgbClr val="000000"/>
                </a:solidFill>
                <a:latin typeface="Times New Roman"/>
                <a:ea typeface="Times New Roman"/>
                <a:cs typeface="Times New Roman"/>
              </a:rPr>
              <a:t> connected to a real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database. The system will allow clients to create, read, and delete student records stored as </a:t>
            </a:r>
            <a:r>
              <a:rPr sz="1200" b="1" i="0" u="none">
                <a:solidFill>
                  <a:srgbClr val="000000"/>
                </a:solidFill>
                <a:latin typeface="Times New Roman"/>
                <a:ea typeface="Times New Roman"/>
                <a:cs typeface="Times New Roman"/>
              </a:rPr>
              <a:t>JSON documents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API will expose standard HTTP endpoints so that </a:t>
            </a:r>
            <a:r>
              <a:rPr sz="1200" b="1" i="0" u="none">
                <a:solidFill>
                  <a:srgbClr val="000000"/>
                </a:solidFill>
                <a:latin typeface="Times New Roman"/>
                <a:ea typeface="Times New Roman"/>
                <a:cs typeface="Times New Roman"/>
              </a:rPr>
              <a:t>any client</a:t>
            </a:r>
            <a:r>
              <a:rPr sz="1200" b="0" i="0" u="none">
                <a:solidFill>
                  <a:srgbClr val="000000"/>
                </a:solidFill>
                <a:latin typeface="Times New Roman"/>
                <a:ea typeface="Times New Roman"/>
                <a:cs typeface="Times New Roman"/>
              </a:rPr>
              <a:t>—whether a browser, </a:t>
            </a:r>
            <a:r>
              <a:rPr sz="1200" b="1" i="0" u="none">
                <a:solidFill>
                  <a:srgbClr val="000000"/>
                </a:solidFill>
                <a:latin typeface="Times New Roman"/>
                <a:ea typeface="Times New Roman"/>
                <a:cs typeface="Times New Roman"/>
              </a:rPr>
              <a:t>Postman</a:t>
            </a:r>
            <a:r>
              <a:rPr sz="1200" b="0" i="0" u="none">
                <a:solidFill>
                  <a:srgbClr val="000000"/>
                </a:solidFill>
                <a:latin typeface="Times New Roman"/>
                <a:ea typeface="Times New Roman"/>
                <a:cs typeface="Times New Roman"/>
              </a:rPr>
              <a:t>, or a mobile application—can communicate with it over HTTP. Each request sent by the client will trigger database operations that manage the stored student documents.</a:t>
            </a:r>
            <a:endParaRPr/>
          </a:p>
          <a:p>
            <a:pPr>
              <a:defRPr/>
            </a:pPr>
            <a:r>
              <a:rPr sz="1200" b="0" i="0" u="none">
                <a:solidFill>
                  <a:srgbClr val="000000"/>
                </a:solidFill>
                <a:latin typeface="Times New Roman"/>
                <a:ea typeface="Times New Roman"/>
                <a:cs typeface="Times New Roman"/>
              </a:rPr>
              <a:t>The entire system will run </a:t>
            </a:r>
            <a:r>
              <a:rPr sz="1200" b="1" i="0" u="none">
                <a:solidFill>
                  <a:srgbClr val="000000"/>
                </a:solidFill>
                <a:latin typeface="Times New Roman"/>
                <a:ea typeface="Times New Roman"/>
                <a:cs typeface="Times New Roman"/>
              </a:rPr>
              <a:t>locally on your machine</a:t>
            </a:r>
            <a:r>
              <a:rPr sz="1200" b="0" i="0" u="none">
                <a:solidFill>
                  <a:srgbClr val="000000"/>
                </a:solidFill>
                <a:latin typeface="Times New Roman"/>
                <a:ea typeface="Times New Roman"/>
                <a:cs typeface="Times New Roman"/>
              </a:rPr>
              <a:t>, but in a way that mimics how production systems are built. The database will run inside a </a:t>
            </a:r>
            <a:r>
              <a:rPr sz="1200" b="1" i="0" u="none">
                <a:solidFill>
                  <a:srgbClr val="000000"/>
                </a:solidFill>
                <a:latin typeface="Times New Roman"/>
                <a:ea typeface="Times New Roman"/>
                <a:cs typeface="Times New Roman"/>
              </a:rPr>
              <a:t>Docker</a:t>
            </a:r>
            <a:r>
              <a:rPr sz="1200" b="0" i="0" u="none">
                <a:solidFill>
                  <a:srgbClr val="000000"/>
                </a:solidFill>
                <a:latin typeface="Times New Roman"/>
                <a:ea typeface="Times New Roman"/>
                <a:cs typeface="Times New Roman"/>
              </a:rPr>
              <a:t> container, while the API server will run using </a:t>
            </a:r>
            <a:r>
              <a:rPr sz="1200" b="1" i="0" u="none">
                <a:solidFill>
                  <a:srgbClr val="000000"/>
                </a:solidFill>
                <a:latin typeface="Times New Roman"/>
                <a:ea typeface="Times New Roman"/>
                <a:cs typeface="Times New Roman"/>
              </a:rPr>
              <a:t>FastAPI</a:t>
            </a:r>
            <a:r>
              <a:rPr sz="1200" b="0" i="0" u="none">
                <a:solidFill>
                  <a:srgbClr val="000000"/>
                </a:solidFill>
                <a:latin typeface="Times New Roman"/>
                <a:ea typeface="Times New Roman"/>
                <a:cs typeface="Times New Roman"/>
              </a:rPr>
              <a:t> and the </a:t>
            </a:r>
            <a:r>
              <a:rPr sz="1200" b="1" i="0" u="none">
                <a:solidFill>
                  <a:srgbClr val="000000"/>
                </a:solidFill>
                <a:latin typeface="Times New Roman"/>
                <a:ea typeface="Times New Roman"/>
                <a:cs typeface="Times New Roman"/>
              </a:rPr>
              <a:t>Uvicorn</a:t>
            </a:r>
            <a:r>
              <a:rPr sz="1200" b="0" i="0" u="none">
                <a:solidFill>
                  <a:srgbClr val="000000"/>
                </a:solidFill>
                <a:latin typeface="Times New Roman"/>
                <a:ea typeface="Times New Roman"/>
                <a:cs typeface="Times New Roman"/>
              </a:rPr>
              <a:t> web server.</a:t>
            </a:r>
            <a:endParaRPr/>
          </a:p>
          <a:p>
            <a:pPr>
              <a:defRPr/>
            </a:pPr>
            <a:r>
              <a:rPr sz="1200" b="0" i="0" u="none">
                <a:solidFill>
                  <a:srgbClr val="000000"/>
                </a:solidFill>
                <a:latin typeface="Times New Roman"/>
                <a:ea typeface="Times New Roman"/>
                <a:cs typeface="Times New Roman"/>
              </a:rPr>
              <a:t>At the end of the lab, you will have a </a:t>
            </a:r>
            <a:r>
              <a:rPr sz="1200" b="1" i="0" u="none">
                <a:solidFill>
                  <a:srgbClr val="000000"/>
                </a:solidFill>
                <a:latin typeface="Times New Roman"/>
                <a:ea typeface="Times New Roman"/>
                <a:cs typeface="Times New Roman"/>
              </a:rPr>
              <a:t>fully functional microservice</a:t>
            </a:r>
            <a:r>
              <a:rPr sz="1200" b="0" i="0" u="none">
                <a:solidFill>
                  <a:srgbClr val="000000"/>
                </a:solidFill>
                <a:latin typeface="Times New Roman"/>
                <a:ea typeface="Times New Roman"/>
                <a:cs typeface="Times New Roman"/>
              </a:rPr>
              <a:t> consisting of:</a:t>
            </a:r>
            <a:endParaRPr/>
          </a:p>
          <a:p>
            <a:pPr>
              <a:defRPr/>
            </a:pPr>
            <a:r>
              <a:rPr sz="1200" b="0" i="0" u="none">
                <a:solidFill>
                  <a:srgbClr val="000000"/>
                </a:solidFill>
                <a:latin typeface="Times New Roman"/>
                <a:ea typeface="Times New Roman"/>
                <a:cs typeface="Times New Roman"/>
              </a:rPr>
              <a:t>a REST API written in Python</a:t>
            </a:r>
            <a:endParaRPr/>
          </a:p>
          <a:p>
            <a:pPr>
              <a:defRPr/>
            </a:pPr>
            <a:r>
              <a:rPr sz="1200" b="0" i="0" u="none">
                <a:solidFill>
                  <a:srgbClr val="000000"/>
                </a:solidFill>
                <a:latin typeface="Times New Roman"/>
                <a:ea typeface="Times New Roman"/>
                <a:cs typeface="Times New Roman"/>
              </a:rPr>
              <a:t>a MongoDB document database</a:t>
            </a:r>
            <a:endParaRPr/>
          </a:p>
          <a:p>
            <a:pPr>
              <a:defRPr/>
            </a:pPr>
            <a:r>
              <a:rPr sz="1200" b="0" i="0" u="none">
                <a:solidFill>
                  <a:srgbClr val="000000"/>
                </a:solidFill>
                <a:latin typeface="Times New Roman"/>
                <a:ea typeface="Times New Roman"/>
                <a:cs typeface="Times New Roman"/>
              </a:rPr>
              <a:t>a containerized environment using Docker</a:t>
            </a:r>
            <a:endParaRPr/>
          </a:p>
          <a:p>
            <a:pPr>
              <a:defRPr/>
            </a:pPr>
            <a:r>
              <a:rPr sz="1200" b="0" i="0" u="none">
                <a:solidFill>
                  <a:srgbClr val="000000"/>
                </a:solidFill>
                <a:latin typeface="Times New Roman"/>
                <a:ea typeface="Times New Roman"/>
                <a:cs typeface="Times New Roman"/>
              </a:rPr>
              <a:t>This architecture is extremely common in modern backend systems. Many real-world applications are built using exactly this pattern: a lightweight API service communicating with a document database, packaged inside containers for easy deployment.</a:t>
            </a:r>
            <a:endParaRPr/>
          </a:p>
          <a:p>
            <a:pPr>
              <a:defRPr/>
            </a:pPr>
            <a:r>
              <a:rPr sz="1200" b="0" i="0" u="none">
                <a:solidFill>
                  <a:srgbClr val="000000"/>
                </a:solidFill>
                <a:latin typeface="Times New Roman"/>
                <a:ea typeface="Times New Roman"/>
                <a:cs typeface="Times New Roman"/>
              </a:rPr>
              <a:t>In this example, we are building the backend of a </a:t>
            </a:r>
            <a:r>
              <a:rPr sz="1200" b="1" i="0" u="none">
                <a:solidFill>
                  <a:srgbClr val="000000"/>
                </a:solidFill>
                <a:latin typeface="Times New Roman"/>
                <a:ea typeface="Times New Roman"/>
                <a:cs typeface="Times New Roman"/>
              </a:rPr>
              <a:t>student management system</a:t>
            </a:r>
            <a:r>
              <a:rPr sz="1200" b="0" i="0" u="none">
                <a:solidFill>
                  <a:srgbClr val="000000"/>
                </a:solidFill>
                <a:latin typeface="Times New Roman"/>
                <a:ea typeface="Times New Roman"/>
                <a:cs typeface="Times New Roman"/>
              </a:rPr>
              <a:t>. The API will expose endpoints that allow clients to perform operations such as:</a:t>
            </a:r>
            <a:endParaRPr/>
          </a:p>
          <a:p>
            <a:pPr>
              <a:defRPr/>
            </a:pPr>
            <a:r>
              <a:rPr sz="1200" b="0" i="0" u="none">
                <a:solidFill>
                  <a:srgbClr val="000000"/>
                </a:solidFill>
                <a:latin typeface="Times New Roman"/>
                <a:ea typeface="Times New Roman"/>
                <a:cs typeface="Times New Roman"/>
              </a:rPr>
              <a:t>creating a new student record</a:t>
            </a:r>
            <a:endParaRPr/>
          </a:p>
          <a:p>
            <a:pPr>
              <a:defRPr/>
            </a:pPr>
            <a:r>
              <a:rPr sz="1200" b="0" i="0" u="none">
                <a:solidFill>
                  <a:srgbClr val="000000"/>
                </a:solidFill>
                <a:latin typeface="Times New Roman"/>
                <a:ea typeface="Times New Roman"/>
                <a:cs typeface="Times New Roman"/>
              </a:rPr>
              <a:t>retrieving student information</a:t>
            </a:r>
            <a:endParaRPr/>
          </a:p>
          <a:p>
            <a:pPr>
              <a:defRPr/>
            </a:pPr>
            <a:r>
              <a:rPr sz="1200" b="0" i="0" u="none">
                <a:solidFill>
                  <a:srgbClr val="000000"/>
                </a:solidFill>
                <a:latin typeface="Times New Roman"/>
                <a:ea typeface="Times New Roman"/>
                <a:cs typeface="Times New Roman"/>
              </a:rPr>
              <a:t>deleting existing student entries</a:t>
            </a:r>
            <a:endParaRPr/>
          </a:p>
          <a:p>
            <a:pPr>
              <a:defRPr/>
            </a:pPr>
            <a:r>
              <a:rPr sz="1200" b="0" i="0" u="none">
                <a:solidFill>
                  <a:srgbClr val="000000"/>
                </a:solidFill>
                <a:latin typeface="Times New Roman"/>
                <a:ea typeface="Times New Roman"/>
                <a:cs typeface="Times New Roman"/>
              </a:rPr>
              <a:t>Because MongoDB stores data as JSON-like documents, the data model maps naturally to the API responses returned to clients.</a:t>
            </a:r>
            <a:endParaRPr/>
          </a:p>
          <a:p>
            <a:pPr>
              <a:defRPr/>
            </a:pPr>
            <a:r>
              <a:rPr sz="1200" b="0" i="0" u="none">
                <a:solidFill>
                  <a:srgbClr val="000000"/>
                </a:solidFill>
                <a:latin typeface="Times New Roman"/>
                <a:ea typeface="Times New Roman"/>
                <a:cs typeface="Times New Roman"/>
              </a:rPr>
              <a:t>Running MongoDB inside Docker ensures that every student in the class runs </a:t>
            </a:r>
            <a:r>
              <a:rPr sz="1200" b="1" i="0" u="none">
                <a:solidFill>
                  <a:srgbClr val="000000"/>
                </a:solidFill>
                <a:latin typeface="Times New Roman"/>
                <a:ea typeface="Times New Roman"/>
                <a:cs typeface="Times New Roman"/>
              </a:rPr>
              <a:t>exactly the same database version</a:t>
            </a:r>
            <a:r>
              <a:rPr sz="1200" b="0" i="0" u="none">
                <a:solidFill>
                  <a:srgbClr val="000000"/>
                </a:solidFill>
                <a:latin typeface="Times New Roman"/>
                <a:ea typeface="Times New Roman"/>
                <a:cs typeface="Times New Roman"/>
              </a:rPr>
              <a:t>, regardless of their operating system. Instead of installing database software manually—which can vary across Windows, macOS, and Linux—Docker provides a consistent environment that can be started with a single command.</a:t>
            </a:r>
            <a:endParaRPr/>
          </a:p>
          <a:p>
            <a:pPr>
              <a:defRPr/>
            </a:pPr>
            <a:r>
              <a:rPr sz="1200" b="0" i="0" u="none">
                <a:solidFill>
                  <a:srgbClr val="000000"/>
                </a:solidFill>
                <a:latin typeface="Times New Roman"/>
                <a:ea typeface="Times New Roman"/>
                <a:cs typeface="Times New Roman"/>
              </a:rPr>
              <a:t>This approach also simplifies troubleshooting. If something goes wrong with the database environment, the container can simply be removed and recreated, restoring a clean setup without affecting the rest of the system.</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This lab demonstrates a </a:t>
            </a:r>
            <a:r>
              <a:rPr sz="1200" b="1" i="0" u="none">
                <a:solidFill>
                  <a:srgbClr val="000000"/>
                </a:solidFill>
                <a:latin typeface="Times New Roman"/>
                <a:ea typeface="Times New Roman"/>
                <a:cs typeface="Times New Roman"/>
              </a:rPr>
              <a:t>real-world backend architecture</a:t>
            </a:r>
            <a:r>
              <a:rPr sz="1200" b="0" i="0" u="none">
                <a:solidFill>
                  <a:srgbClr val="000000"/>
                </a:solidFill>
                <a:latin typeface="Times New Roman"/>
                <a:ea typeface="Times New Roman"/>
                <a:cs typeface="Times New Roman"/>
              </a:rPr>
              <a:t>: a Python-based REST API communicating with a document database, all running in containers for portability and reproducibility.</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 we run </a:t>
            </a:r>
            <a:r>
              <a:rPr sz="1200" b="1" i="0" u="none">
                <a:solidFill>
                  <a:srgbClr val="000000"/>
                </a:solidFill>
                <a:latin typeface="Times New Roman"/>
                <a:ea typeface="Times New Roman"/>
                <a:cs typeface="Times New Roman"/>
              </a:rPr>
              <a:t>MongoDB inside Docker</a:t>
            </a:r>
            <a:r>
              <a:rPr sz="1200" b="0" i="0" u="none">
                <a:solidFill>
                  <a:srgbClr val="000000"/>
                </a:solidFill>
                <a:latin typeface="Times New Roman"/>
                <a:ea typeface="Times New Roman"/>
                <a:cs typeface="Times New Roman"/>
              </a:rPr>
              <a:t> instead of installing it directly on our laptops?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Because MongoDB installation procedures differ across operating systems and can lead to version conflicts. Running MongoDB in Docker ensures that everyone uses the same version and configuration. If problems occur, the container can simply be deleted and recreated, providing a clean environment without leaving files or configuration changes on the host system.</a:t>
            </a:r>
            <a:endParaRPr lang="en-US"/>
          </a:p>
        </p:txBody>
      </p:sp>
      <p:sp>
        <p:nvSpPr>
          <p:cNvPr id="2047421292" name="Slide Number Placeholder 3"/>
          <p:cNvSpPr>
            <a:spLocks noGrp="1"/>
          </p:cNvSpPr>
          <p:nvPr>
            <p:ph type="sldNum" sz="quarter" idx="10"/>
          </p:nvPr>
        </p:nvSpPr>
        <p:spPr bwMode="auto"/>
        <p:txBody>
          <a:bodyPr/>
          <a:lstStyle/>
          <a:p>
            <a:pPr>
              <a:defRPr/>
            </a:pPr>
            <a:fld id="{F7021451-1387-4CA6-816F-3879F97B5CBC}" type="slidenum">
              <a:rPr lang="en-US"/>
              <a:t>69</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0288040" name="Slide Image Placeholder 1"/>
          <p:cNvSpPr>
            <a:spLocks noChangeAspect="1" noGrp="1" noRot="1"/>
          </p:cNvSpPr>
          <p:nvPr>
            <p:ph type="sldImg"/>
          </p:nvPr>
        </p:nvSpPr>
        <p:spPr bwMode="auto"/>
      </p:sp>
      <p:sp>
        <p:nvSpPr>
          <p:cNvPr id="1534710479"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Postman — Your API Testing Tool</a:t>
            </a:r>
            <a:endParaRPr/>
          </a:p>
          <a:p>
            <a:pPr>
              <a:defRPr/>
            </a:pPr>
            <a:r>
              <a:rPr sz="1200" b="0" i="0" u="none">
                <a:solidFill>
                  <a:srgbClr val="000000"/>
                </a:solidFill>
                <a:latin typeface="Times New Roman"/>
                <a:ea typeface="Times New Roman"/>
                <a:cs typeface="Times New Roman"/>
              </a:rPr>
              <a:t>When developing an API, you need a way to </a:t>
            </a:r>
            <a:r>
              <a:rPr sz="1200" b="1" i="0" u="none">
                <a:solidFill>
                  <a:srgbClr val="000000"/>
                </a:solidFill>
                <a:latin typeface="Times New Roman"/>
                <a:ea typeface="Times New Roman"/>
                <a:cs typeface="Times New Roman"/>
              </a:rPr>
              <a:t>send HTTP requests manually</a:t>
            </a:r>
            <a:r>
              <a:rPr sz="1200" b="0" i="0" u="none">
                <a:solidFill>
                  <a:srgbClr val="000000"/>
                </a:solidFill>
                <a:latin typeface="Times New Roman"/>
                <a:ea typeface="Times New Roman"/>
                <a:cs typeface="Times New Roman"/>
              </a:rPr>
              <a:t> in order to test your endpoints. One of the most widely used tools for this purpose is </a:t>
            </a:r>
            <a:r>
              <a:rPr sz="1200" b="1" i="0" u="none">
                <a:solidFill>
                  <a:srgbClr val="000000"/>
                </a:solidFill>
                <a:latin typeface="Times New Roman"/>
                <a:ea typeface="Times New Roman"/>
                <a:cs typeface="Times New Roman"/>
              </a:rPr>
              <a:t>Postman</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Postman is a desktop application that allows developers to send </a:t>
            </a:r>
            <a:r>
              <a:rPr sz="1200" b="1" i="0" u="none">
                <a:solidFill>
                  <a:srgbClr val="000000"/>
                </a:solidFill>
                <a:latin typeface="Times New Roman"/>
                <a:ea typeface="Times New Roman"/>
                <a:cs typeface="Times New Roman"/>
              </a:rPr>
              <a:t>any type of HTTP request</a:t>
            </a:r>
            <a:r>
              <a:rPr sz="1200" b="0" i="0" u="none">
                <a:solidFill>
                  <a:srgbClr val="000000"/>
                </a:solidFill>
                <a:latin typeface="Times New Roman"/>
                <a:ea typeface="Times New Roman"/>
                <a:cs typeface="Times New Roman"/>
              </a:rPr>
              <a:t> to any URL. Unlike a web browser’s address bar, which can only perform simple </a:t>
            </a:r>
            <a:r>
              <a:rPr sz="1200" b="1" i="0" u="none">
                <a:solidFill>
                  <a:srgbClr val="000000"/>
                </a:solidFill>
                <a:latin typeface="Times New Roman"/>
                <a:ea typeface="Times New Roman"/>
                <a:cs typeface="Times New Roman"/>
              </a:rPr>
              <a:t>GET requests</a:t>
            </a:r>
            <a:r>
              <a:rPr sz="1200" b="0" i="0" u="none">
                <a:solidFill>
                  <a:srgbClr val="000000"/>
                </a:solidFill>
                <a:latin typeface="Times New Roman"/>
                <a:ea typeface="Times New Roman"/>
                <a:cs typeface="Times New Roman"/>
              </a:rPr>
              <a:t>, Postman allows you to control every aspect of an HTTP request, including:</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HTTP method</a:t>
            </a:r>
            <a:r>
              <a:rPr sz="1200" b="0" i="0" u="none">
                <a:solidFill>
                  <a:srgbClr val="000000"/>
                </a:solidFill>
                <a:latin typeface="Times New Roman"/>
                <a:ea typeface="Times New Roman"/>
                <a:cs typeface="Times New Roman"/>
              </a:rPr>
              <a:t> (GET, POST, PATCH, DELETE)</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request URL</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request headers</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request body</a:t>
            </a:r>
            <a:r>
              <a:rPr sz="1200" b="0" i="0" u="none">
                <a:solidFill>
                  <a:srgbClr val="000000"/>
                </a:solidFill>
                <a:latin typeface="Times New Roman"/>
                <a:ea typeface="Times New Roman"/>
                <a:cs typeface="Times New Roman"/>
              </a:rPr>
              <a:t>, often formatted as JSON</a:t>
            </a:r>
            <a:endParaRPr/>
          </a:p>
          <a:p>
            <a:pPr>
              <a:defRPr/>
            </a:pPr>
            <a:r>
              <a:rPr sz="1200" b="0" i="0" u="none">
                <a:solidFill>
                  <a:srgbClr val="000000"/>
                </a:solidFill>
                <a:latin typeface="Times New Roman"/>
                <a:ea typeface="Times New Roman"/>
                <a:cs typeface="Times New Roman"/>
              </a:rPr>
              <a:t>A typical workflow in Postman looks like this:</a:t>
            </a:r>
            <a:endParaRPr/>
          </a:p>
          <a:p>
            <a:pPr>
              <a:defRPr/>
            </a:pPr>
            <a:r>
              <a:rPr sz="1200" b="0" i="0" u="none">
                <a:solidFill>
                  <a:srgbClr val="000000"/>
                </a:solidFill>
                <a:latin typeface="Times New Roman"/>
                <a:ea typeface="Times New Roman"/>
                <a:cs typeface="Times New Roman"/>
              </a:rPr>
              <a:t>Select the </a:t>
            </a:r>
            <a:r>
              <a:rPr sz="1200" b="1" i="0" u="none">
                <a:solidFill>
                  <a:srgbClr val="000000"/>
                </a:solidFill>
                <a:latin typeface="Times New Roman"/>
                <a:ea typeface="Times New Roman"/>
                <a:cs typeface="Times New Roman"/>
              </a:rPr>
              <a:t>HTTP method</a:t>
            </a:r>
            <a:r>
              <a:rPr sz="1200" b="0" i="0" u="none">
                <a:solidFill>
                  <a:srgbClr val="000000"/>
                </a:solidFill>
                <a:latin typeface="Times New Roman"/>
                <a:ea typeface="Times New Roman"/>
                <a:cs typeface="Times New Roman"/>
              </a:rPr>
              <a:t> (for example, POST).</a:t>
            </a:r>
            <a:endParaRPr/>
          </a:p>
          <a:p>
            <a:pPr>
              <a:defRPr/>
            </a:pPr>
            <a:r>
              <a:rPr sz="1200" b="0" i="0" u="none">
                <a:solidFill>
                  <a:srgbClr val="000000"/>
                </a:solidFill>
                <a:latin typeface="Times New Roman"/>
                <a:ea typeface="Times New Roman"/>
                <a:cs typeface="Times New Roman"/>
              </a:rPr>
              <a:t>Enter the </a:t>
            </a:r>
            <a:r>
              <a:rPr sz="1200" b="1" i="0" u="none">
                <a:solidFill>
                  <a:srgbClr val="000000"/>
                </a:solidFill>
                <a:latin typeface="Times New Roman"/>
                <a:ea typeface="Times New Roman"/>
                <a:cs typeface="Times New Roman"/>
              </a:rPr>
              <a:t>API endpoint URL</a:t>
            </a:r>
            <a:r>
              <a:rPr sz="1200" b="0" i="0" u="none">
                <a:solidFill>
                  <a:srgbClr val="000000"/>
                </a:solidFill>
                <a:latin typeface="Times New Roman"/>
                <a:ea typeface="Times New Roman"/>
                <a:cs typeface="Times New Roman"/>
              </a:rPr>
              <a:t> (such as </a:t>
            </a:r>
            <a:r>
              <a:rPr sz="1000" b="0" i="0" u="none">
                <a:solidFill>
                  <a:srgbClr val="000000"/>
                </a:solidFill>
                <a:latin typeface="Courier New"/>
                <a:ea typeface="Courier New"/>
                <a:cs typeface="Courier New"/>
              </a:rPr>
              <a:t>http://localhost:8000/students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Add the </a:t>
            </a:r>
            <a:r>
              <a:rPr sz="1200" b="1" i="0" u="none">
                <a:solidFill>
                  <a:srgbClr val="000000"/>
                </a:solidFill>
                <a:latin typeface="Times New Roman"/>
                <a:ea typeface="Times New Roman"/>
                <a:cs typeface="Times New Roman"/>
              </a:rPr>
              <a:t>JSON request body</a:t>
            </a:r>
            <a:r>
              <a:rPr sz="1200" b="0" i="0" u="none">
                <a:solidFill>
                  <a:srgbClr val="000000"/>
                </a:solidFill>
                <a:latin typeface="Times New Roman"/>
                <a:ea typeface="Times New Roman"/>
                <a:cs typeface="Times New Roman"/>
              </a:rPr>
              <a:t> if needed.</a:t>
            </a:r>
            <a:endParaRPr/>
          </a:p>
          <a:p>
            <a:pPr>
              <a:defRPr/>
            </a:pPr>
            <a:r>
              <a:rPr sz="1200" b="0" i="0" u="none">
                <a:solidFill>
                  <a:srgbClr val="000000"/>
                </a:solidFill>
                <a:latin typeface="Times New Roman"/>
                <a:ea typeface="Times New Roman"/>
                <a:cs typeface="Times New Roman"/>
              </a:rPr>
              <a:t>Click </a:t>
            </a:r>
            <a:r>
              <a:rPr sz="1200" b="1" i="0" u="none">
                <a:solidFill>
                  <a:srgbClr val="000000"/>
                </a:solidFill>
                <a:latin typeface="Times New Roman"/>
                <a:ea typeface="Times New Roman"/>
                <a:cs typeface="Times New Roman"/>
              </a:rPr>
              <a:t>Send</a:t>
            </a:r>
            <a:r>
              <a:rPr sz="1200" b="0" i="0" u="none">
                <a:solidFill>
                  <a:srgbClr val="000000"/>
                </a:solidFill>
                <a:latin typeface="Times New Roman"/>
                <a:ea typeface="Times New Roman"/>
                <a:cs typeface="Times New Roman"/>
              </a:rPr>
              <a:t> to execute the request.</a:t>
            </a:r>
            <a:endParaRPr/>
          </a:p>
          <a:p>
            <a:pPr>
              <a:defRPr/>
            </a:pPr>
            <a:r>
              <a:rPr sz="1200" b="0" i="0" u="none">
                <a:solidFill>
                  <a:srgbClr val="000000"/>
                </a:solidFill>
                <a:latin typeface="Times New Roman"/>
                <a:ea typeface="Times New Roman"/>
                <a:cs typeface="Times New Roman"/>
              </a:rPr>
              <a:t>After the request is sent, Postman displays the </a:t>
            </a:r>
            <a:r>
              <a:rPr sz="1200" b="1" i="0" u="none">
                <a:solidFill>
                  <a:srgbClr val="000000"/>
                </a:solidFill>
                <a:latin typeface="Times New Roman"/>
                <a:ea typeface="Times New Roman"/>
                <a:cs typeface="Times New Roman"/>
              </a:rPr>
              <a:t>server response</a:t>
            </a:r>
            <a:r>
              <a:rPr sz="1200" b="0" i="0" u="none">
                <a:solidFill>
                  <a:srgbClr val="000000"/>
                </a:solidFill>
                <a:latin typeface="Times New Roman"/>
                <a:ea typeface="Times New Roman"/>
                <a:cs typeface="Times New Roman"/>
              </a:rPr>
              <a:t>, including:</a:t>
            </a:r>
            <a:endParaRPr/>
          </a:p>
          <a:p>
            <a:pPr>
              <a:defRPr/>
            </a:pPr>
            <a:r>
              <a:rPr sz="1200" b="0" i="0" u="none">
                <a:solidFill>
                  <a:srgbClr val="000000"/>
                </a:solidFill>
                <a:latin typeface="Times New Roman"/>
                <a:ea typeface="Times New Roman"/>
                <a:cs typeface="Times New Roman"/>
              </a:rPr>
              <a:t>the returned JSON data</a:t>
            </a:r>
            <a:endParaRPr/>
          </a:p>
          <a:p>
            <a:pPr>
              <a:defRPr/>
            </a:pPr>
            <a:r>
              <a:rPr sz="1200" b="0" i="0" u="none">
                <a:solidFill>
                  <a:srgbClr val="000000"/>
                </a:solidFill>
                <a:latin typeface="Times New Roman"/>
                <a:ea typeface="Times New Roman"/>
                <a:cs typeface="Times New Roman"/>
              </a:rPr>
              <a:t>the </a:t>
            </a:r>
            <a:r>
              <a:rPr sz="1200" b="1" i="0" u="none">
                <a:solidFill>
                  <a:srgbClr val="000000"/>
                </a:solidFill>
                <a:latin typeface="Times New Roman"/>
                <a:ea typeface="Times New Roman"/>
                <a:cs typeface="Times New Roman"/>
              </a:rPr>
              <a:t>HTTP status code</a:t>
            </a:r>
            <a:r>
              <a:rPr sz="1200" b="0" i="0" u="none">
                <a:solidFill>
                  <a:srgbClr val="000000"/>
                </a:solidFill>
                <a:latin typeface="Times New Roman"/>
                <a:ea typeface="Times New Roman"/>
                <a:cs typeface="Times New Roman"/>
              </a:rPr>
              <a:t> (e.g., 200, 201, 404)</a:t>
            </a:r>
            <a:endParaRPr/>
          </a:p>
          <a:p>
            <a:pPr>
              <a:defRPr/>
            </a:pPr>
            <a:r>
              <a:rPr sz="1200" b="0" i="0" u="none">
                <a:solidFill>
                  <a:srgbClr val="000000"/>
                </a:solidFill>
                <a:latin typeface="Times New Roman"/>
                <a:ea typeface="Times New Roman"/>
                <a:cs typeface="Times New Roman"/>
              </a:rPr>
              <a:t>response headers</a:t>
            </a:r>
            <a:endParaRPr/>
          </a:p>
          <a:p>
            <a:pPr>
              <a:defRPr/>
            </a:pPr>
            <a:r>
              <a:rPr sz="1200" b="0" i="0" u="none">
                <a:solidFill>
                  <a:srgbClr val="000000"/>
                </a:solidFill>
                <a:latin typeface="Times New Roman"/>
                <a:ea typeface="Times New Roman"/>
                <a:cs typeface="Times New Roman"/>
              </a:rPr>
              <a:t>response time</a:t>
            </a:r>
            <a:endParaRPr/>
          </a:p>
          <a:p>
            <a:pPr>
              <a:defRPr/>
            </a:pPr>
            <a:r>
              <a:rPr sz="1200" b="0" i="0" u="none">
                <a:solidFill>
                  <a:srgbClr val="000000"/>
                </a:solidFill>
                <a:latin typeface="Times New Roman"/>
                <a:ea typeface="Times New Roman"/>
                <a:cs typeface="Times New Roman"/>
              </a:rPr>
              <a:t>This makes Postman an extremely useful tool for verifying whether your API behaves correctly.</a:t>
            </a:r>
            <a:endParaRPr/>
          </a:p>
          <a:p>
            <a:pPr>
              <a:defRPr/>
            </a:pPr>
            <a:r>
              <a:rPr sz="1400" b="1" i="0" u="none">
                <a:solidFill>
                  <a:srgbClr val="000000"/>
                </a:solidFill>
                <a:latin typeface="Times New Roman"/>
                <a:ea typeface="Times New Roman"/>
                <a:cs typeface="Times New Roman"/>
              </a:rPr>
              <a:t>Built-in Alternative: FastAPI Swagger UI</a:t>
            </a:r>
            <a:endParaRPr/>
          </a:p>
          <a:p>
            <a:pPr>
              <a:defRPr/>
            </a:pPr>
            <a:r>
              <a:rPr sz="1200" b="0" i="0" u="none">
                <a:solidFill>
                  <a:srgbClr val="000000"/>
                </a:solidFill>
                <a:latin typeface="Times New Roman"/>
                <a:ea typeface="Times New Roman"/>
                <a:cs typeface="Times New Roman"/>
              </a:rPr>
              <a:t>If you are using </a:t>
            </a:r>
            <a:r>
              <a:rPr sz="1200" b="1" i="0" u="none">
                <a:solidFill>
                  <a:srgbClr val="000000"/>
                </a:solidFill>
                <a:latin typeface="Times New Roman"/>
                <a:ea typeface="Times New Roman"/>
                <a:cs typeface="Times New Roman"/>
              </a:rPr>
              <a:t>FastAPI</a:t>
            </a:r>
            <a:r>
              <a:rPr sz="1200" b="0" i="0" u="none">
                <a:solidFill>
                  <a:srgbClr val="000000"/>
                </a:solidFill>
                <a:latin typeface="Times New Roman"/>
                <a:ea typeface="Times New Roman"/>
                <a:cs typeface="Times New Roman"/>
              </a:rPr>
              <a:t>, there is also a built-in testing interface automatically generated by the framework. This interface uses the </a:t>
            </a:r>
            <a:r>
              <a:rPr sz="1200" b="1" i="0" u="none">
                <a:solidFill>
                  <a:srgbClr val="000000"/>
                </a:solidFill>
                <a:latin typeface="Times New Roman"/>
                <a:ea typeface="Times New Roman"/>
                <a:cs typeface="Times New Roman"/>
              </a:rPr>
              <a:t>OpenAPI / Swagger</a:t>
            </a:r>
            <a:r>
              <a:rPr sz="1200" b="0" i="0" u="none">
                <a:solidFill>
                  <a:srgbClr val="000000"/>
                </a:solidFill>
                <a:latin typeface="Times New Roman"/>
                <a:ea typeface="Times New Roman"/>
                <a:cs typeface="Times New Roman"/>
              </a:rPr>
              <a:t> specification and is available at:</a:t>
            </a:r>
            <a:endParaRPr/>
          </a:p>
          <a:p>
            <a:pPr>
              <a:defRPr/>
            </a:pPr>
            <a:r>
              <a:rPr sz="1000" b="0" i="0" u="none">
                <a:solidFill>
                  <a:srgbClr val="000000"/>
                </a:solidFill>
                <a:latin typeface="Courier New"/>
                <a:ea typeface="Courier New"/>
                <a:cs typeface="Courier New"/>
              </a:rPr>
              <a:t>http://localhost:8000/docs
</a:t>
            </a:r>
            <a:endParaRPr/>
          </a:p>
          <a:p>
            <a:pPr>
              <a:defRPr/>
            </a:pPr>
            <a:r>
              <a:rPr sz="1200" b="0" i="0" u="none">
                <a:solidFill>
                  <a:srgbClr val="000000"/>
                </a:solidFill>
                <a:latin typeface="Times New Roman"/>
                <a:ea typeface="Times New Roman"/>
                <a:cs typeface="Times New Roman"/>
              </a:rPr>
              <a:t>The Swagger UI displays every API endpoint as an </a:t>
            </a:r>
            <a:r>
              <a:rPr sz="1200" b="1" i="0" u="none">
                <a:solidFill>
                  <a:srgbClr val="000000"/>
                </a:solidFill>
                <a:latin typeface="Times New Roman"/>
                <a:ea typeface="Times New Roman"/>
                <a:cs typeface="Times New Roman"/>
              </a:rPr>
              <a:t>interactive form</a:t>
            </a:r>
            <a:r>
              <a:rPr sz="1200" b="0" i="0" u="none">
                <a:solidFill>
                  <a:srgbClr val="000000"/>
                </a:solidFill>
                <a:latin typeface="Times New Roman"/>
                <a:ea typeface="Times New Roman"/>
                <a:cs typeface="Times New Roman"/>
              </a:rPr>
              <a:t>. Developers can fill in parameters, submit requests directly from the browser, and inspect the responses immediately.</a:t>
            </a:r>
            <a:endParaRPr/>
          </a:p>
          <a:p>
            <a:pPr>
              <a:defRPr/>
            </a:pPr>
            <a:r>
              <a:rPr sz="1200" b="0" i="0" u="none">
                <a:solidFill>
                  <a:srgbClr val="000000"/>
                </a:solidFill>
                <a:latin typeface="Times New Roman"/>
                <a:ea typeface="Times New Roman"/>
                <a:cs typeface="Times New Roman"/>
              </a:rPr>
              <a:t>This means you can test your API </a:t>
            </a:r>
            <a:r>
              <a:rPr sz="1200" b="1" i="0" u="none">
                <a:solidFill>
                  <a:srgbClr val="000000"/>
                </a:solidFill>
                <a:latin typeface="Times New Roman"/>
                <a:ea typeface="Times New Roman"/>
                <a:cs typeface="Times New Roman"/>
              </a:rPr>
              <a:t>without installing Postman</a:t>
            </a:r>
            <a:r>
              <a:rPr sz="1200" b="0" i="0" u="none">
                <a:solidFill>
                  <a:srgbClr val="000000"/>
                </a:solidFill>
                <a:latin typeface="Times New Roman"/>
                <a:ea typeface="Times New Roman"/>
                <a:cs typeface="Times New Roman"/>
              </a:rPr>
              <a:t>, although Postman remains useful for more advanced testing workflows.</a:t>
            </a:r>
            <a:endParaRPr/>
          </a:p>
          <a:p>
            <a:pPr>
              <a:defRPr/>
            </a:pPr>
            <a:r>
              <a:rPr sz="1400" b="1" i="0" u="none">
                <a:solidFill>
                  <a:srgbClr val="000000"/>
                </a:solidFill>
                <a:latin typeface="Times New Roman"/>
                <a:ea typeface="Times New Roman"/>
                <a:cs typeface="Times New Roman"/>
              </a:rPr>
              <a:t>Why Developers Use Postman</a:t>
            </a:r>
            <a:endParaRPr/>
          </a:p>
          <a:p>
            <a:pPr>
              <a:defRPr/>
            </a:pPr>
            <a:r>
              <a:rPr sz="1200" b="0" i="0" u="none">
                <a:solidFill>
                  <a:srgbClr val="000000"/>
                </a:solidFill>
                <a:latin typeface="Times New Roman"/>
                <a:ea typeface="Times New Roman"/>
                <a:cs typeface="Times New Roman"/>
              </a:rPr>
              <a:t>In professional projects, teams often create </a:t>
            </a:r>
            <a:r>
              <a:rPr sz="1200" b="1" i="0" u="none">
                <a:solidFill>
                  <a:srgbClr val="000000"/>
                </a:solidFill>
                <a:latin typeface="Times New Roman"/>
                <a:ea typeface="Times New Roman"/>
                <a:cs typeface="Times New Roman"/>
              </a:rPr>
              <a:t>Postman collections</a:t>
            </a:r>
            <a:r>
              <a:rPr sz="1200" b="0" i="0" u="none">
                <a:solidFill>
                  <a:srgbClr val="000000"/>
                </a:solidFill>
                <a:latin typeface="Times New Roman"/>
                <a:ea typeface="Times New Roman"/>
                <a:cs typeface="Times New Roman"/>
              </a:rPr>
              <a:t>, which are sets of predefined API requests used for testing. These collections can be shared with teammates so that everyone can quickly test the same endpoints without manually recreating requests.</a:t>
            </a:r>
            <a:endParaRPr/>
          </a:p>
          <a:p>
            <a:pPr>
              <a:defRPr/>
            </a:pPr>
            <a:r>
              <a:rPr sz="1200" b="0" i="0" u="none">
                <a:solidFill>
                  <a:srgbClr val="000000"/>
                </a:solidFill>
                <a:latin typeface="Times New Roman"/>
                <a:ea typeface="Times New Roman"/>
                <a:cs typeface="Times New Roman"/>
              </a:rPr>
              <a:t>This approach helps teams:</a:t>
            </a:r>
            <a:endParaRPr/>
          </a:p>
          <a:p>
            <a:pPr>
              <a:defRPr/>
            </a:pPr>
            <a:r>
              <a:rPr sz="1200" b="0" i="0" u="none">
                <a:solidFill>
                  <a:srgbClr val="000000"/>
                </a:solidFill>
                <a:latin typeface="Times New Roman"/>
                <a:ea typeface="Times New Roman"/>
                <a:cs typeface="Times New Roman"/>
              </a:rPr>
              <a:t>standardize API testing</a:t>
            </a:r>
            <a:endParaRPr/>
          </a:p>
          <a:p>
            <a:pPr>
              <a:defRPr/>
            </a:pPr>
            <a:r>
              <a:rPr sz="1200" b="0" i="0" u="none">
                <a:solidFill>
                  <a:srgbClr val="000000"/>
                </a:solidFill>
                <a:latin typeface="Times New Roman"/>
                <a:ea typeface="Times New Roman"/>
                <a:cs typeface="Times New Roman"/>
              </a:rPr>
              <a:t>automate debugging</a:t>
            </a:r>
            <a:endParaRPr/>
          </a:p>
          <a:p>
            <a:pPr>
              <a:defRPr/>
            </a:pPr>
            <a:r>
              <a:rPr sz="1200" b="0" i="0" u="none">
                <a:solidFill>
                  <a:srgbClr val="000000"/>
                </a:solidFill>
                <a:latin typeface="Times New Roman"/>
                <a:ea typeface="Times New Roman"/>
                <a:cs typeface="Times New Roman"/>
              </a:rPr>
              <a:t>verify endpoint behavior during development</a:t>
            </a:r>
            <a:endParaRPr/>
          </a:p>
          <a:p>
            <a:pPr>
              <a:defRPr/>
            </a:pPr>
            <a:r>
              <a:rPr sz="1400" b="1" i="0" u="none">
                <a:solidFill>
                  <a:srgbClr val="000000"/>
                </a:solidFill>
                <a:latin typeface="Times New Roman"/>
                <a:ea typeface="Times New Roman"/>
                <a:cs typeface="Times New Roman"/>
              </a:rPr>
              <a:t>Real-world Example (Large Company)</a:t>
            </a:r>
            <a:endParaRPr/>
          </a:p>
          <a:p>
            <a:pPr>
              <a:defRPr/>
            </a:pPr>
            <a:r>
              <a:rPr sz="1200" b="0" i="0" u="none">
                <a:solidFill>
                  <a:srgbClr val="000000"/>
                </a:solidFill>
                <a:latin typeface="Times New Roman"/>
                <a:ea typeface="Times New Roman"/>
                <a:cs typeface="Times New Roman"/>
              </a:rPr>
              <a:t>Companies building public APIs—such as </a:t>
            </a:r>
            <a:r>
              <a:rPr sz="1200" b="1" i="0" u="none">
                <a:solidFill>
                  <a:srgbClr val="000000"/>
                </a:solidFill>
                <a:latin typeface="Times New Roman"/>
                <a:ea typeface="Times New Roman"/>
                <a:cs typeface="Times New Roman"/>
              </a:rPr>
              <a:t>Stripe</a:t>
            </a:r>
            <a:r>
              <a:rPr sz="1200" b="0" i="0" u="none">
                <a:solidFill>
                  <a:srgbClr val="000000"/>
                </a:solidFill>
                <a:latin typeface="Times New Roman"/>
                <a:ea typeface="Times New Roman"/>
                <a:cs typeface="Times New Roman"/>
              </a:rPr>
              <a:t>—often provide official Postman collections for developers integrating with their services. Developers can import the collection into Postman and immediately start testing payment endpoints without writing any code.</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Postman is a tool that allows developers to </a:t>
            </a:r>
            <a:r>
              <a:rPr sz="1200" b="1" i="0" u="none">
                <a:solidFill>
                  <a:srgbClr val="000000"/>
                </a:solidFill>
                <a:latin typeface="Times New Roman"/>
                <a:ea typeface="Times New Roman"/>
                <a:cs typeface="Times New Roman"/>
              </a:rPr>
              <a:t>send and inspect any HTTP request</a:t>
            </a:r>
            <a:r>
              <a:rPr sz="1200" b="0" i="0" u="none">
                <a:solidFill>
                  <a:srgbClr val="000000"/>
                </a:solidFill>
                <a:latin typeface="Times New Roman"/>
                <a:ea typeface="Times New Roman"/>
                <a:cs typeface="Times New Roman"/>
              </a:rPr>
              <a:t>, making it essential for testing REST APIs during development.</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A student opens Chrome and types:</a:t>
            </a:r>
            <a:endParaRPr/>
          </a:p>
          <a:p>
            <a:pPr>
              <a:defRPr/>
            </a:pPr>
            <a:r>
              <a:rPr sz="1000" b="0" i="0" u="none">
                <a:solidFill>
                  <a:srgbClr val="000000"/>
                </a:solidFill>
                <a:latin typeface="Courier New"/>
                <a:ea typeface="Courier New"/>
                <a:cs typeface="Courier New"/>
              </a:rPr>
              <a:t>http://localhost:8000/students/
</a:t>
            </a:r>
            <a:endParaRPr/>
          </a:p>
          <a:p>
            <a:pPr>
              <a:defRPr/>
            </a:pPr>
            <a:r>
              <a:rPr sz="1200" b="0" i="0" u="none">
                <a:solidFill>
                  <a:srgbClr val="000000"/>
                </a:solidFill>
                <a:latin typeface="Times New Roman"/>
                <a:ea typeface="Times New Roman"/>
                <a:cs typeface="Times New Roman"/>
              </a:rPr>
              <a:t>in the address bar and presses Enter. What happens?</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Chrome sends a </a:t>
            </a:r>
            <a:r>
              <a:rPr sz="1200" b="1" i="0" u="none">
                <a:solidFill>
                  <a:srgbClr val="000000"/>
                </a:solidFill>
                <a:latin typeface="Times New Roman"/>
                <a:ea typeface="Times New Roman"/>
                <a:cs typeface="Times New Roman"/>
              </a:rPr>
              <a:t>GET request</a:t>
            </a:r>
            <a:r>
              <a:rPr sz="1200" b="0" i="0" u="none">
                <a:solidFill>
                  <a:srgbClr val="000000"/>
                </a:solidFill>
                <a:latin typeface="Times New Roman"/>
                <a:ea typeface="Times New Roman"/>
                <a:cs typeface="Times New Roman"/>
              </a:rPr>
              <a:t> to that URL. If the </a:t>
            </a:r>
            <a:r>
              <a:rPr sz="1000" b="0" i="0" u="none">
                <a:solidFill>
                  <a:srgbClr val="000000"/>
                </a:solidFill>
                <a:latin typeface="Courier New"/>
                <a:ea typeface="Courier New"/>
                <a:cs typeface="Courier New"/>
              </a:rPr>
              <a:t>/students/</a:t>
            </a:r>
            <a:r>
              <a:rPr sz="1200" b="0" i="0" u="none">
                <a:solidFill>
                  <a:srgbClr val="000000"/>
                </a:solidFill>
                <a:latin typeface="Times New Roman"/>
                <a:ea typeface="Times New Roman"/>
                <a:cs typeface="Times New Roman"/>
              </a:rPr>
              <a:t> endpoint only accepts </a:t>
            </a:r>
            <a:r>
              <a:rPr sz="1200" b="1" i="0" u="none">
                <a:solidFill>
                  <a:srgbClr val="000000"/>
                </a:solidFill>
                <a:latin typeface="Times New Roman"/>
                <a:ea typeface="Times New Roman"/>
                <a:cs typeface="Times New Roman"/>
              </a:rPr>
              <a:t>POST requests</a:t>
            </a:r>
            <a:r>
              <a:rPr sz="1200" b="0" i="0" u="none">
                <a:solidFill>
                  <a:srgbClr val="000000"/>
                </a:solidFill>
                <a:latin typeface="Times New Roman"/>
                <a:ea typeface="Times New Roman"/>
                <a:cs typeface="Times New Roman"/>
              </a:rPr>
              <a:t>, the API server returns a </a:t>
            </a:r>
            <a:r>
              <a:rPr sz="1200" b="1" i="0" u="none">
                <a:solidFill>
                  <a:srgbClr val="000000"/>
                </a:solidFill>
                <a:latin typeface="Times New Roman"/>
                <a:ea typeface="Times New Roman"/>
                <a:cs typeface="Times New Roman"/>
              </a:rPr>
              <a:t>405 Method Not Allowed</a:t>
            </a:r>
            <a:r>
              <a:rPr sz="1200" b="0" i="0" u="none">
                <a:solidFill>
                  <a:srgbClr val="000000"/>
                </a:solidFill>
                <a:latin typeface="Times New Roman"/>
                <a:ea typeface="Times New Roman"/>
                <a:cs typeface="Times New Roman"/>
              </a:rPr>
              <a:t> response. To test POST requests with a JSON body, the student must use </a:t>
            </a:r>
            <a:r>
              <a:rPr sz="1200" b="1" i="0" u="none">
                <a:solidFill>
                  <a:srgbClr val="000000"/>
                </a:solidFill>
                <a:latin typeface="Times New Roman"/>
                <a:ea typeface="Times New Roman"/>
                <a:cs typeface="Times New Roman"/>
              </a:rPr>
              <a:t>Postman</a:t>
            </a:r>
            <a:r>
              <a:rPr sz="1200" b="0" i="0" u="none">
                <a:solidFill>
                  <a:srgbClr val="000000"/>
                </a:solidFill>
                <a:latin typeface="Times New Roman"/>
                <a:ea typeface="Times New Roman"/>
                <a:cs typeface="Times New Roman"/>
              </a:rPr>
              <a:t> or the </a:t>
            </a:r>
            <a:r>
              <a:rPr sz="1200" b="1" i="0" u="none">
                <a:solidFill>
                  <a:srgbClr val="000000"/>
                </a:solidFill>
                <a:latin typeface="Times New Roman"/>
                <a:ea typeface="Times New Roman"/>
                <a:cs typeface="Times New Roman"/>
              </a:rPr>
              <a:t>Swagger UI</a:t>
            </a:r>
            <a:r>
              <a:rPr sz="1200" b="0" i="0" u="none">
                <a:solidFill>
                  <a:srgbClr val="000000"/>
                </a:solidFill>
                <a:latin typeface="Times New Roman"/>
                <a:ea typeface="Times New Roman"/>
                <a:cs typeface="Times New Roman"/>
              </a:rPr>
              <a:t>, since the browser address bar cannot send such requests.</a:t>
            </a:r>
            <a:endParaRPr lang="en-US"/>
          </a:p>
        </p:txBody>
      </p:sp>
      <p:sp>
        <p:nvSpPr>
          <p:cNvPr id="1510191343" name="Slide Number Placeholder 3"/>
          <p:cNvSpPr>
            <a:spLocks noGrp="1"/>
          </p:cNvSpPr>
          <p:nvPr>
            <p:ph type="sldNum" sz="quarter" idx="10"/>
          </p:nvPr>
        </p:nvSpPr>
        <p:spPr bwMode="auto"/>
        <p:txBody>
          <a:bodyPr/>
          <a:lstStyle/>
          <a:p>
            <a:pPr>
              <a:defRPr/>
            </a:pPr>
            <a:fld id="{F7021451-1387-4CA6-816F-3879F97B5CBC}" type="slidenum">
              <a:rPr lang="en-US"/>
              <a:t>70</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9671769" name="Slide Image Placeholder 1"/>
          <p:cNvSpPr>
            <a:spLocks noChangeAspect="1" noGrp="1" noRot="1"/>
          </p:cNvSpPr>
          <p:nvPr>
            <p:ph type="sldImg"/>
          </p:nvPr>
        </p:nvSpPr>
        <p:spPr bwMode="auto"/>
      </p:sp>
      <p:sp>
        <p:nvSpPr>
          <p:cNvPr id="3548034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When developing applications that use containers, engineers typically manage them using </a:t>
            </a:r>
            <a:r>
              <a:rPr sz="1200" b="1" i="0" u="none">
                <a:solidFill>
                  <a:srgbClr val="000000"/>
                </a:solidFill>
                <a:latin typeface="Times New Roman"/>
                <a:ea typeface="Times New Roman"/>
                <a:cs typeface="Times New Roman"/>
              </a:rPr>
              <a:t>Docker Compose</a:t>
            </a:r>
            <a:r>
              <a:rPr sz="1200" b="0" i="0" u="none">
                <a:solidFill>
                  <a:srgbClr val="000000"/>
                </a:solidFill>
                <a:latin typeface="Times New Roman"/>
                <a:ea typeface="Times New Roman"/>
                <a:cs typeface="Times New Roman"/>
              </a:rPr>
              <a:t>. Docker Compose allows you to define and run multiple containers using a simple configuration file instead of long command-line instructions.</a:t>
            </a:r>
            <a:endParaRPr/>
          </a:p>
          <a:p>
            <a:pPr>
              <a:defRPr/>
            </a:pPr>
            <a:r>
              <a:rPr sz="1200" b="0" i="0" u="none">
                <a:solidFill>
                  <a:srgbClr val="000000"/>
                </a:solidFill>
                <a:latin typeface="Times New Roman"/>
                <a:ea typeface="Times New Roman"/>
                <a:cs typeface="Times New Roman"/>
              </a:rPr>
              <a:t>In our lab, we use Docker Compose to start a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database container.</a:t>
            </a:r>
            <a:endParaRPr/>
          </a:p>
          <a:p>
            <a:pPr>
              <a:defRPr/>
            </a:pPr>
            <a:r>
              <a:rPr sz="1200" b="0" i="0" u="none">
                <a:solidFill>
                  <a:srgbClr val="000000"/>
                </a:solidFill>
                <a:latin typeface="Times New Roman"/>
                <a:ea typeface="Times New Roman"/>
                <a:cs typeface="Times New Roman"/>
              </a:rPr>
              <a:t>Example </a:t>
            </a:r>
            <a:r>
              <a:rPr sz="1000" b="0" i="0" u="none">
                <a:solidFill>
                  <a:srgbClr val="000000"/>
                </a:solidFill>
                <a:latin typeface="Courier New"/>
                <a:ea typeface="Courier New"/>
                <a:cs typeface="Courier New"/>
              </a:rPr>
              <a:t>docker-compose.yml</a:t>
            </a:r>
            <a:r>
              <a:rPr sz="1200" b="0" i="0" u="none">
                <a:solidFill>
                  <a:srgbClr val="000000"/>
                </a:solidFill>
                <a:latin typeface="Times New Roman"/>
                <a:ea typeface="Times New Roman"/>
                <a:cs typeface="Times New Roman"/>
              </a:rPr>
              <a:t> configuration:</a:t>
            </a:r>
            <a:endParaRPr/>
          </a:p>
          <a:p>
            <a:pPr>
              <a:defRPr/>
            </a:pPr>
            <a:r>
              <a:rPr sz="1000" b="0" i="0" u="none">
                <a:solidFill>
                  <a:srgbClr val="000000"/>
                </a:solidFill>
                <a:latin typeface="Courier New"/>
                <a:ea typeface="Courier New"/>
                <a:cs typeface="Courier New"/>
              </a:rPr>
              <a:t>version: </a:t>
            </a:r>
            <a:r>
              <a:rPr sz="1000" b="0" i="0" u="none">
                <a:solidFill>
                  <a:srgbClr val="000000"/>
                </a:solidFill>
                <a:latin typeface="Courier New"/>
                <a:ea typeface="Courier New"/>
                <a:cs typeface="Courier New"/>
              </a:rPr>
              <a:t>'3.8'</a:t>
            </a:r>
            <a:br>
              <a:rPr sz="1000" b="0" i="0" u="none">
                <a:solidFill>
                  <a:srgbClr val="000000"/>
                </a:solidFill>
                <a:latin typeface="Courier New"/>
                <a:ea typeface="Courier New"/>
                <a:cs typeface="Courier New"/>
              </a:rPr>
            </a:b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services:</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mongo:</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image: mongo</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ports:</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'27017:27017'</a:t>
            </a:r>
            <a:endParaRPr/>
          </a:p>
          <a:p>
            <a:pPr>
              <a:defRPr/>
            </a:pPr>
            <a:r>
              <a:rPr sz="1200" b="0" i="0" u="none">
                <a:solidFill>
                  <a:srgbClr val="000000"/>
                </a:solidFill>
                <a:latin typeface="Times New Roman"/>
                <a:ea typeface="Times New Roman"/>
                <a:cs typeface="Times New Roman"/>
              </a:rPr>
              <a:t>This file describes the container that Docker should run.</a:t>
            </a:r>
            <a:endParaRPr/>
          </a:p>
          <a:p>
            <a:pPr>
              <a:defRPr/>
            </a:pPr>
            <a:r>
              <a:rPr sz="1000" b="0" i="0" u="none">
                <a:solidFill>
                  <a:srgbClr val="000000"/>
                </a:solidFill>
                <a:latin typeface="Courier New"/>
                <a:ea typeface="Courier New"/>
                <a:cs typeface="Courier New"/>
              </a:rPr>
              <a:t>services</a:t>
            </a:r>
            <a:r>
              <a:rPr sz="1200" b="0" i="0" u="none">
                <a:solidFill>
                  <a:srgbClr val="000000"/>
                </a:solidFill>
                <a:latin typeface="Times New Roman"/>
                <a:ea typeface="Times New Roman"/>
                <a:cs typeface="Times New Roman"/>
              </a:rPr>
              <a:t> lists the containers that make up the application environment. </a:t>
            </a:r>
            <a:endParaRPr/>
          </a:p>
          <a:p>
            <a:pPr>
              <a:defRPr/>
            </a:pPr>
            <a:r>
              <a:rPr sz="1000" b="0" i="0" u="none">
                <a:solidFill>
                  <a:srgbClr val="000000"/>
                </a:solidFill>
                <a:latin typeface="Courier New"/>
                <a:ea typeface="Courier New"/>
                <a:cs typeface="Courier New"/>
              </a:rPr>
              <a:t>mongo</a:t>
            </a:r>
            <a:r>
              <a:rPr sz="1200" b="0" i="0" u="none">
                <a:solidFill>
                  <a:srgbClr val="000000"/>
                </a:solidFill>
                <a:latin typeface="Times New Roman"/>
                <a:ea typeface="Times New Roman"/>
                <a:cs typeface="Times New Roman"/>
              </a:rPr>
              <a:t> is simply the name we assign to the container service. </a:t>
            </a:r>
            <a:endParaRPr/>
          </a:p>
          <a:p>
            <a:pPr>
              <a:defRPr/>
            </a:pPr>
            <a:r>
              <a:rPr sz="1000" b="0" i="0" u="none">
                <a:solidFill>
                  <a:srgbClr val="000000"/>
                </a:solidFill>
                <a:latin typeface="Courier New"/>
                <a:ea typeface="Courier New"/>
                <a:cs typeface="Courier New"/>
              </a:rPr>
              <a:t>image: mongo</a:t>
            </a:r>
            <a:r>
              <a:rPr sz="1200" b="0" i="0" u="none">
                <a:solidFill>
                  <a:srgbClr val="000000"/>
                </a:solidFill>
                <a:latin typeface="Times New Roman"/>
                <a:ea typeface="Times New Roman"/>
                <a:cs typeface="Times New Roman"/>
              </a:rPr>
              <a:t> tells Docker to download the official MongoDB image from Docker Hub. </a:t>
            </a:r>
            <a:endParaRPr/>
          </a:p>
          <a:p>
            <a:pPr>
              <a:defRPr/>
            </a:pPr>
            <a:r>
              <a:rPr sz="1000" b="0" i="0" u="none">
                <a:solidFill>
                  <a:srgbClr val="000000"/>
                </a:solidFill>
                <a:latin typeface="Courier New"/>
                <a:ea typeface="Courier New"/>
                <a:cs typeface="Courier New"/>
              </a:rPr>
              <a:t>ports</a:t>
            </a:r>
            <a:r>
              <a:rPr sz="1200" b="0" i="0" u="none">
                <a:solidFill>
                  <a:srgbClr val="000000"/>
                </a:solidFill>
                <a:latin typeface="Times New Roman"/>
                <a:ea typeface="Times New Roman"/>
                <a:cs typeface="Times New Roman"/>
              </a:rPr>
              <a:t> exposes the database port so the application running on your laptop can connect to it. </a:t>
            </a:r>
            <a:endParaRPr/>
          </a:p>
          <a:p>
            <a:pPr>
              <a:defRPr/>
            </a:pPr>
            <a:r>
              <a:rPr sz="1400" b="1" i="0" u="none">
                <a:solidFill>
                  <a:srgbClr val="000000"/>
                </a:solidFill>
                <a:latin typeface="Times New Roman"/>
                <a:ea typeface="Times New Roman"/>
                <a:cs typeface="Times New Roman"/>
              </a:rPr>
              <a:t>Starting and Stopping the Database</a:t>
            </a:r>
            <a:endParaRPr/>
          </a:p>
          <a:p>
            <a:pPr>
              <a:defRPr/>
            </a:pPr>
            <a:r>
              <a:rPr sz="1200" b="0" i="0" u="none">
                <a:solidFill>
                  <a:srgbClr val="000000"/>
                </a:solidFill>
                <a:latin typeface="Times New Roman"/>
                <a:ea typeface="Times New Roman"/>
                <a:cs typeface="Times New Roman"/>
              </a:rPr>
              <a:t>To start the MongoDB container, run:</a:t>
            </a:r>
            <a:endParaRPr/>
          </a:p>
          <a:p>
            <a:pPr>
              <a:defRPr/>
            </a:pPr>
            <a:r>
              <a:rPr sz="1000" b="0" i="0" u="none">
                <a:solidFill>
                  <a:srgbClr val="000000"/>
                </a:solidFill>
                <a:latin typeface="Courier New"/>
                <a:ea typeface="Courier New"/>
                <a:cs typeface="Courier New"/>
              </a:rPr>
              <a:t>docker compose up </a:t>
            </a:r>
            <a:r>
              <a:rPr sz="1000" b="0" i="0" u="none">
                <a:solidFill>
                  <a:srgbClr val="000000"/>
                </a:solidFill>
                <a:latin typeface="Courier New"/>
                <a:ea typeface="Courier New"/>
                <a:cs typeface="Courier New"/>
              </a:rPr>
              <a:t>-d</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-d</a:t>
            </a:r>
            <a:r>
              <a:rPr sz="1200" b="0" i="0" u="none">
                <a:solidFill>
                  <a:srgbClr val="000000"/>
                </a:solidFill>
                <a:latin typeface="Times New Roman"/>
                <a:ea typeface="Times New Roman"/>
                <a:cs typeface="Times New Roman"/>
              </a:rPr>
              <a:t> flag means </a:t>
            </a:r>
            <a:r>
              <a:rPr sz="1200" b="1" i="0" u="none">
                <a:solidFill>
                  <a:srgbClr val="000000"/>
                </a:solidFill>
                <a:latin typeface="Times New Roman"/>
                <a:ea typeface="Times New Roman"/>
                <a:cs typeface="Times New Roman"/>
              </a:rPr>
              <a:t>detached mode</a:t>
            </a:r>
            <a:r>
              <a:rPr sz="1200" b="0" i="0" u="none">
                <a:solidFill>
                  <a:srgbClr val="000000"/>
                </a:solidFill>
                <a:latin typeface="Times New Roman"/>
                <a:ea typeface="Times New Roman"/>
                <a:cs typeface="Times New Roman"/>
              </a:rPr>
              <a:t>, which runs the container in the background and returns control to your terminal.</a:t>
            </a:r>
            <a:endParaRPr/>
          </a:p>
          <a:p>
            <a:pPr>
              <a:defRPr/>
            </a:pPr>
            <a:r>
              <a:rPr sz="1200" b="0" i="0" u="none">
                <a:solidFill>
                  <a:srgbClr val="000000"/>
                </a:solidFill>
                <a:latin typeface="Times New Roman"/>
                <a:ea typeface="Times New Roman"/>
                <a:cs typeface="Times New Roman"/>
              </a:rPr>
              <a:t>To stop and remove the container:</a:t>
            </a:r>
            <a:endParaRPr/>
          </a:p>
          <a:p>
            <a:pPr>
              <a:defRPr/>
            </a:pPr>
            <a:r>
              <a:rPr sz="1000" b="0" i="0" u="none">
                <a:solidFill>
                  <a:srgbClr val="000000"/>
                </a:solidFill>
                <a:latin typeface="Courier New"/>
                <a:ea typeface="Courier New"/>
                <a:cs typeface="Courier New"/>
              </a:rPr>
              <a:t>docker compose down</a:t>
            </a:r>
            <a:endParaRPr/>
          </a:p>
          <a:p>
            <a:pPr>
              <a:defRPr/>
            </a:pPr>
            <a:r>
              <a:rPr sz="1200" b="0" i="0" u="none">
                <a:solidFill>
                  <a:srgbClr val="000000"/>
                </a:solidFill>
                <a:latin typeface="Times New Roman"/>
                <a:ea typeface="Times New Roman"/>
                <a:cs typeface="Times New Roman"/>
              </a:rPr>
              <a:t>This command stops the running container and cleans up the environment.</a:t>
            </a:r>
            <a:endParaRPr/>
          </a:p>
          <a:p>
            <a:pPr>
              <a:defRPr/>
            </a:pPr>
            <a:r>
              <a:rPr sz="1400" b="1" i="0" u="none">
                <a:solidFill>
                  <a:srgbClr val="000000"/>
                </a:solidFill>
                <a:latin typeface="Times New Roman"/>
                <a:ea typeface="Times New Roman"/>
                <a:cs typeface="Times New Roman"/>
              </a:rPr>
              <a:t>Understanding the Port Mapping</a:t>
            </a:r>
            <a:endParaRPr/>
          </a:p>
          <a:p>
            <a:pPr>
              <a:defRPr/>
            </a:pPr>
            <a:r>
              <a:rPr sz="1200" b="0" i="0" u="none">
                <a:solidFill>
                  <a:srgbClr val="000000"/>
                </a:solidFill>
                <a:latin typeface="Times New Roman"/>
                <a:ea typeface="Times New Roman"/>
                <a:cs typeface="Times New Roman"/>
              </a:rPr>
              <a:t>The line:</a:t>
            </a:r>
            <a:endParaRPr/>
          </a:p>
          <a:p>
            <a:pPr>
              <a:defRPr/>
            </a:pPr>
            <a:r>
              <a:rPr sz="1000" b="0" i="0" u="none">
                <a:solidFill>
                  <a:srgbClr val="000000"/>
                </a:solidFill>
                <a:latin typeface="Courier New"/>
                <a:ea typeface="Courier New"/>
                <a:cs typeface="Courier New"/>
              </a:rPr>
              <a:t>ports:</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'27017:27017'</a:t>
            </a:r>
            <a:endParaRPr/>
          </a:p>
          <a:p>
            <a:pPr>
              <a:defRPr/>
            </a:pPr>
            <a:r>
              <a:rPr sz="1200" b="0" i="0" u="none">
                <a:solidFill>
                  <a:srgbClr val="000000"/>
                </a:solidFill>
                <a:latin typeface="Times New Roman"/>
                <a:ea typeface="Times New Roman"/>
                <a:cs typeface="Times New Roman"/>
              </a:rPr>
              <a:t>defines how the container communicates with your host machine.</a:t>
            </a:r>
            <a:endParaRPr/>
          </a:p>
          <a:p>
            <a:pPr>
              <a:defRPr/>
            </a:pPr>
            <a:r>
              <a:rPr sz="1200" b="0" i="0" u="none">
                <a:solidFill>
                  <a:srgbClr val="000000"/>
                </a:solidFill>
                <a:latin typeface="Times New Roman"/>
                <a:ea typeface="Times New Roman"/>
                <a:cs typeface="Times New Roman"/>
              </a:rPr>
              <a:t>The format is:</a:t>
            </a:r>
            <a:endParaRPr/>
          </a:p>
          <a:p>
            <a:pPr>
              <a:defRPr/>
            </a:pPr>
            <a:r>
              <a:rPr sz="1000" b="0" i="0" u="none">
                <a:solidFill>
                  <a:srgbClr val="000000"/>
                </a:solidFill>
                <a:latin typeface="Courier New"/>
                <a:ea typeface="Courier New"/>
                <a:cs typeface="Courier New"/>
              </a:rPr>
              <a:t>host_port : container_port</a:t>
            </a:r>
            <a:endParaRPr/>
          </a:p>
          <a:p>
            <a:pPr>
              <a:defRPr/>
            </a:pPr>
            <a:r>
              <a:rPr sz="1200" b="1" i="0" u="none">
                <a:solidFill>
                  <a:srgbClr val="000000"/>
                </a:solidFill>
                <a:latin typeface="Times New Roman"/>
                <a:ea typeface="Times New Roman"/>
                <a:cs typeface="Times New Roman"/>
              </a:rPr>
              <a:t>Left side (27017)</a:t>
            </a:r>
            <a:r>
              <a:rPr sz="1200" b="0" i="0" u="none">
                <a:solidFill>
                  <a:srgbClr val="000000"/>
                </a:solidFill>
                <a:latin typeface="Times New Roman"/>
                <a:ea typeface="Times New Roman"/>
                <a:cs typeface="Times New Roman"/>
              </a:rPr>
              <a:t> — port on your laptop </a:t>
            </a:r>
            <a:endParaRPr/>
          </a:p>
          <a:p>
            <a:pPr>
              <a:defRPr/>
            </a:pPr>
            <a:r>
              <a:rPr sz="1200" b="1" i="0" u="none">
                <a:solidFill>
                  <a:srgbClr val="000000"/>
                </a:solidFill>
                <a:latin typeface="Times New Roman"/>
                <a:ea typeface="Times New Roman"/>
                <a:cs typeface="Times New Roman"/>
              </a:rPr>
              <a:t>Right side (27017)</a:t>
            </a:r>
            <a:r>
              <a:rPr sz="1200" b="0" i="0" u="none">
                <a:solidFill>
                  <a:srgbClr val="000000"/>
                </a:solidFill>
                <a:latin typeface="Times New Roman"/>
                <a:ea typeface="Times New Roman"/>
                <a:cs typeface="Times New Roman"/>
              </a:rPr>
              <a:t> — port inside the container where MongoDB is listening </a:t>
            </a:r>
            <a:endParaRPr/>
          </a:p>
          <a:p>
            <a:pPr>
              <a:defRPr/>
            </a:pPr>
            <a:r>
              <a:rPr sz="1200" b="0" i="0" u="none">
                <a:solidFill>
                  <a:srgbClr val="000000"/>
                </a:solidFill>
                <a:latin typeface="Times New Roman"/>
                <a:ea typeface="Times New Roman"/>
                <a:cs typeface="Times New Roman"/>
              </a:rPr>
              <a:t>This mapping allows applications running on your computer—such as a Python API—to connect to the MongoDB server running inside the container using:</a:t>
            </a:r>
            <a:endParaRPr/>
          </a:p>
          <a:p>
            <a:pPr>
              <a:defRPr/>
            </a:pPr>
            <a:r>
              <a:rPr sz="1000" b="0" i="0" u="none">
                <a:solidFill>
                  <a:srgbClr val="000000"/>
                </a:solidFill>
                <a:latin typeface="Courier New"/>
                <a:ea typeface="Courier New"/>
                <a:cs typeface="Courier New"/>
              </a:rPr>
              <a:t>mongodb://localhost:27017</a:t>
            </a:r>
            <a:endParaRPr/>
          </a:p>
          <a:p>
            <a:pPr>
              <a:defRPr/>
            </a:pPr>
            <a:r>
              <a:rPr sz="1200" b="0" i="0" u="none">
                <a:solidFill>
                  <a:srgbClr val="000000"/>
                </a:solidFill>
                <a:latin typeface="Times New Roman"/>
                <a:ea typeface="Times New Roman"/>
                <a:cs typeface="Times New Roman"/>
              </a:rPr>
              <a:t>Without this mapping, the database would remain </a:t>
            </a:r>
            <a:r>
              <a:rPr sz="1200" b="1" i="0" u="none">
                <a:solidFill>
                  <a:srgbClr val="000000"/>
                </a:solidFill>
                <a:latin typeface="Times New Roman"/>
                <a:ea typeface="Times New Roman"/>
                <a:cs typeface="Times New Roman"/>
              </a:rPr>
              <a:t>isolated inside the container network</a:t>
            </a:r>
            <a:r>
              <a:rPr sz="1200" b="0" i="0" u="none">
                <a:solidFill>
                  <a:srgbClr val="000000"/>
                </a:solidFill>
                <a:latin typeface="Times New Roman"/>
                <a:ea typeface="Times New Roman"/>
                <a:cs typeface="Times New Roman"/>
              </a:rPr>
              <a:t> and would not be reachable from outside.</a:t>
            </a:r>
            <a:endParaRPr/>
          </a:p>
          <a:p>
            <a:pPr>
              <a:defRPr/>
            </a:pPr>
            <a:r>
              <a:rPr sz="1400" b="1" i="0" u="none">
                <a:solidFill>
                  <a:srgbClr val="000000"/>
                </a:solidFill>
                <a:latin typeface="Times New Roman"/>
                <a:ea typeface="Times New Roman"/>
                <a:cs typeface="Times New Roman"/>
              </a:rPr>
              <a:t>Why Docker Compose Is Useful</a:t>
            </a:r>
            <a:endParaRPr/>
          </a:p>
          <a:p>
            <a:pPr>
              <a:defRPr/>
            </a:pPr>
            <a:r>
              <a:rPr sz="1200" b="0" i="0" u="none">
                <a:solidFill>
                  <a:srgbClr val="000000"/>
                </a:solidFill>
                <a:latin typeface="Times New Roman"/>
                <a:ea typeface="Times New Roman"/>
                <a:cs typeface="Times New Roman"/>
              </a:rPr>
              <a:t>Docker Compose replaces long container commands with a </a:t>
            </a:r>
            <a:r>
              <a:rPr sz="1200" b="1" i="0" u="none">
                <a:solidFill>
                  <a:srgbClr val="000000"/>
                </a:solidFill>
                <a:latin typeface="Times New Roman"/>
                <a:ea typeface="Times New Roman"/>
                <a:cs typeface="Times New Roman"/>
              </a:rPr>
              <a:t>clear, version-controlled configuration file</a:t>
            </a:r>
            <a:r>
              <a:rPr sz="1200" b="0" i="0" u="none">
                <a:solidFill>
                  <a:srgbClr val="000000"/>
                </a:solidFill>
                <a:latin typeface="Times New Roman"/>
                <a:ea typeface="Times New Roman"/>
                <a:cs typeface="Times New Roman"/>
              </a:rPr>
              <a:t> that the entire team can share. Every developer can run exactly the same environment with a single command.</a:t>
            </a:r>
            <a:endParaRPr/>
          </a:p>
          <a:p>
            <a:pPr>
              <a:defRPr/>
            </a:pPr>
            <a:r>
              <a:rPr sz="1200" b="0" i="0" u="none">
                <a:solidFill>
                  <a:srgbClr val="000000"/>
                </a:solidFill>
                <a:latin typeface="Times New Roman"/>
                <a:ea typeface="Times New Roman"/>
                <a:cs typeface="Times New Roman"/>
              </a:rPr>
              <a:t>In real projects, a </a:t>
            </a:r>
            <a:r>
              <a:rPr sz="1000" b="0" i="0" u="none">
                <a:solidFill>
                  <a:srgbClr val="000000"/>
                </a:solidFill>
                <a:latin typeface="Courier New"/>
                <a:ea typeface="Courier New"/>
                <a:cs typeface="Courier New"/>
              </a:rPr>
              <a:t>docker-compose.yml</a:t>
            </a:r>
            <a:r>
              <a:rPr sz="1200" b="0" i="0" u="none">
                <a:solidFill>
                  <a:srgbClr val="000000"/>
                </a:solidFill>
                <a:latin typeface="Times New Roman"/>
                <a:ea typeface="Times New Roman"/>
                <a:cs typeface="Times New Roman"/>
              </a:rPr>
              <a:t> file often includes several services, such as:</a:t>
            </a:r>
            <a:endParaRPr/>
          </a:p>
          <a:p>
            <a:pPr>
              <a:defRPr/>
            </a:pPr>
            <a:r>
              <a:rPr sz="1200" b="0" i="0" u="none">
                <a:solidFill>
                  <a:srgbClr val="000000"/>
                </a:solidFill>
                <a:latin typeface="Times New Roman"/>
                <a:ea typeface="Times New Roman"/>
                <a:cs typeface="Times New Roman"/>
              </a:rPr>
              <a:t> an API service running </a:t>
            </a:r>
            <a:r>
              <a:rPr sz="1200" b="1" i="0" u="none">
                <a:solidFill>
                  <a:srgbClr val="000000"/>
                </a:solidFill>
                <a:latin typeface="Times New Roman"/>
                <a:ea typeface="Times New Roman"/>
                <a:cs typeface="Times New Roman"/>
              </a:rPr>
              <a:t>FastAPI</a:t>
            </a:r>
            <a:endParaRPr/>
          </a:p>
          <a:p>
            <a:pPr>
              <a:defRPr/>
            </a:pPr>
            <a:r>
              <a:rPr sz="1200" b="0" i="0" u="none">
                <a:solidFill>
                  <a:srgbClr val="000000"/>
                </a:solidFill>
                <a:latin typeface="Times New Roman"/>
                <a:ea typeface="Times New Roman"/>
                <a:cs typeface="Times New Roman"/>
              </a:rPr>
              <a:t> a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database </a:t>
            </a:r>
            <a:endParaRPr/>
          </a:p>
          <a:p>
            <a:pPr>
              <a:defRPr/>
            </a:pPr>
            <a:r>
              <a:rPr sz="1200" b="0" i="0" u="none">
                <a:solidFill>
                  <a:srgbClr val="000000"/>
                </a:solidFill>
                <a:latin typeface="Times New Roman"/>
                <a:ea typeface="Times New Roman"/>
                <a:cs typeface="Times New Roman"/>
              </a:rPr>
              <a:t> a cache like </a:t>
            </a:r>
            <a:r>
              <a:rPr sz="1200" b="1" i="0" u="none">
                <a:solidFill>
                  <a:srgbClr val="000000"/>
                </a:solidFill>
                <a:latin typeface="Times New Roman"/>
                <a:ea typeface="Times New Roman"/>
                <a:cs typeface="Times New Roman"/>
              </a:rPr>
              <a:t>Redis</a:t>
            </a:r>
            <a:endParaRPr/>
          </a:p>
          <a:p>
            <a:pPr>
              <a:defRPr/>
            </a:pPr>
            <a:r>
              <a:rPr sz="1200" b="0" i="0" u="none">
                <a:solidFill>
                  <a:srgbClr val="000000"/>
                </a:solidFill>
                <a:latin typeface="Times New Roman"/>
                <a:ea typeface="Times New Roman"/>
                <a:cs typeface="Times New Roman"/>
              </a:rPr>
              <a:t>Running:</a:t>
            </a:r>
            <a:endParaRPr/>
          </a:p>
          <a:p>
            <a:pPr>
              <a:defRPr/>
            </a:pPr>
            <a:r>
              <a:rPr sz="1000" b="0" i="0" u="none">
                <a:solidFill>
                  <a:srgbClr val="000000"/>
                </a:solidFill>
                <a:latin typeface="Courier New"/>
                <a:ea typeface="Courier New"/>
                <a:cs typeface="Courier New"/>
              </a:rPr>
              <a:t>docker compose up</a:t>
            </a:r>
            <a:endParaRPr/>
          </a:p>
          <a:p>
            <a:pPr>
              <a:defRPr/>
            </a:pPr>
            <a:r>
              <a:rPr sz="1200" b="0" i="0" u="none">
                <a:solidFill>
                  <a:srgbClr val="000000"/>
                </a:solidFill>
                <a:latin typeface="Times New Roman"/>
                <a:ea typeface="Times New Roman"/>
                <a:cs typeface="Times New Roman"/>
              </a:rPr>
              <a:t>can start the </a:t>
            </a:r>
            <a:r>
              <a:rPr sz="1200" b="1" i="0" u="none">
                <a:solidFill>
                  <a:srgbClr val="000000"/>
                </a:solidFill>
                <a:latin typeface="Times New Roman"/>
                <a:ea typeface="Times New Roman"/>
                <a:cs typeface="Times New Roman"/>
              </a:rPr>
              <a:t>entire development stack</a:t>
            </a:r>
            <a:r>
              <a:rPr sz="1200" b="0" i="0" u="none">
                <a:solidFill>
                  <a:srgbClr val="000000"/>
                </a:solidFill>
                <a:latin typeface="Times New Roman"/>
                <a:ea typeface="Times New Roman"/>
                <a:cs typeface="Times New Roman"/>
              </a:rPr>
              <a:t> instantly, ensuring every team member works with the same configuration.</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Docker Compose provides a </a:t>
            </a:r>
            <a:r>
              <a:rPr sz="1200" b="1" i="0" u="none">
                <a:solidFill>
                  <a:srgbClr val="000000"/>
                </a:solidFill>
                <a:latin typeface="Times New Roman"/>
                <a:ea typeface="Times New Roman"/>
                <a:cs typeface="Times New Roman"/>
              </a:rPr>
              <a:t>repeatable, shareable way to run containers</a:t>
            </a:r>
            <a:r>
              <a:rPr sz="1200" b="0" i="0" u="none">
                <a:solidFill>
                  <a:srgbClr val="000000"/>
                </a:solidFill>
                <a:latin typeface="Times New Roman"/>
                <a:ea typeface="Times New Roman"/>
                <a:cs typeface="Times New Roman"/>
              </a:rPr>
              <a:t>, allowing developers to start complex development environments with a single command.</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does the ports entry </a:t>
            </a:r>
            <a:r>
              <a:rPr sz="1000" b="0" i="0" u="none">
                <a:solidFill>
                  <a:srgbClr val="000000"/>
                </a:solidFill>
                <a:latin typeface="Courier New"/>
                <a:ea typeface="Courier New"/>
                <a:cs typeface="Courier New"/>
              </a:rPr>
              <a:t>'27017:27017'</a:t>
            </a:r>
            <a:r>
              <a:rPr sz="1200" b="0" i="0" u="none">
                <a:solidFill>
                  <a:srgbClr val="000000"/>
                </a:solidFill>
                <a:latin typeface="Times New Roman"/>
                <a:ea typeface="Times New Roman"/>
                <a:cs typeface="Times New Roman"/>
              </a:rPr>
              <a:t> mean exactly?</a:t>
            </a:r>
            <a:endParaRPr/>
          </a:p>
          <a:p>
            <a:pPr>
              <a:defRPr/>
            </a:pPr>
            <a:r>
              <a:rPr sz="12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It maps the </a:t>
            </a:r>
            <a:r>
              <a:rPr sz="1200" b="1" i="0" u="none">
                <a:solidFill>
                  <a:srgbClr val="000000"/>
                </a:solidFill>
                <a:latin typeface="Times New Roman"/>
                <a:ea typeface="Times New Roman"/>
                <a:cs typeface="Times New Roman"/>
              </a:rPr>
              <a:t>MongoDB port inside the container</a:t>
            </a:r>
            <a:r>
              <a:rPr sz="1200" b="0" i="0" u="none">
                <a:solidFill>
                  <a:srgbClr val="000000"/>
                </a:solidFill>
                <a:latin typeface="Times New Roman"/>
                <a:ea typeface="Times New Roman"/>
                <a:cs typeface="Times New Roman"/>
              </a:rPr>
              <a:t> to the same port on your laptop. The format is </a:t>
            </a:r>
            <a:r>
              <a:rPr sz="1000" b="0" i="0" u="none">
                <a:solidFill>
                  <a:srgbClr val="000000"/>
                </a:solidFill>
                <a:latin typeface="Courier New"/>
                <a:ea typeface="Courier New"/>
                <a:cs typeface="Courier New"/>
              </a:rPr>
              <a:t>host_port:container_port</a:t>
            </a:r>
            <a:r>
              <a:rPr sz="1200" b="0" i="0" u="none">
                <a:solidFill>
                  <a:srgbClr val="000000"/>
                </a:solidFill>
                <a:latin typeface="Times New Roman"/>
                <a:ea typeface="Times New Roman"/>
                <a:cs typeface="Times New Roman"/>
              </a:rPr>
              <a:t>. The left side (</a:t>
            </a:r>
            <a:r>
              <a:rPr sz="1000" b="0" i="0" u="none">
                <a:solidFill>
                  <a:srgbClr val="000000"/>
                </a:solidFill>
                <a:latin typeface="Courier New"/>
                <a:ea typeface="Courier New"/>
                <a:cs typeface="Courier New"/>
              </a:rPr>
              <a:t>27017</a:t>
            </a:r>
            <a:r>
              <a:rPr sz="1200" b="0" i="0" u="none">
                <a:solidFill>
                  <a:srgbClr val="000000"/>
                </a:solidFill>
                <a:latin typeface="Times New Roman"/>
                <a:ea typeface="Times New Roman"/>
                <a:cs typeface="Times New Roman"/>
              </a:rPr>
              <a:t>) is the port on your machine, and the right side (</a:t>
            </a:r>
            <a:r>
              <a:rPr sz="1000" b="0" i="0" u="none">
                <a:solidFill>
                  <a:srgbClr val="000000"/>
                </a:solidFill>
                <a:latin typeface="Courier New"/>
                <a:ea typeface="Courier New"/>
                <a:cs typeface="Courier New"/>
              </a:rPr>
              <a:t>27017</a:t>
            </a:r>
            <a:r>
              <a:rPr sz="1200" b="0" i="0" u="none">
                <a:solidFill>
                  <a:srgbClr val="000000"/>
                </a:solidFill>
                <a:latin typeface="Times New Roman"/>
                <a:ea typeface="Times New Roman"/>
                <a:cs typeface="Times New Roman"/>
              </a:rPr>
              <a:t>) is the port inside the container where MongoDB is running. Without this mapping, the database would not be accessible from your host system.</a:t>
            </a:r>
            <a:endParaRPr lang="en-US"/>
          </a:p>
        </p:txBody>
      </p:sp>
      <p:sp>
        <p:nvSpPr>
          <p:cNvPr id="447224434" name="Slide Number Placeholder 3"/>
          <p:cNvSpPr>
            <a:spLocks noGrp="1"/>
          </p:cNvSpPr>
          <p:nvPr>
            <p:ph type="sldNum" sz="quarter" idx="10"/>
          </p:nvPr>
        </p:nvSpPr>
        <p:spPr bwMode="auto"/>
        <p:txBody>
          <a:bodyPr/>
          <a:lstStyle/>
          <a:p>
            <a:pPr>
              <a:defRPr/>
            </a:pPr>
            <a:fld id="{F7021451-1387-4CA6-816F-3879F97B5CBC}" type="slidenum">
              <a:rPr lang="en-US"/>
              <a:t>71</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004376" name="Slide Image Placeholder 1"/>
          <p:cNvSpPr>
            <a:spLocks noChangeAspect="1" noGrp="1" noRot="1"/>
          </p:cNvSpPr>
          <p:nvPr>
            <p:ph type="sldImg"/>
          </p:nvPr>
        </p:nvSpPr>
        <p:spPr bwMode="auto"/>
      </p:sp>
      <p:sp>
        <p:nvSpPr>
          <p:cNvPr id="929750497"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FastAPI &amp; Uvicorn — How They Work Together</a:t>
            </a:r>
            <a:endParaRPr/>
          </a:p>
          <a:p>
            <a:pPr>
              <a:defRPr/>
            </a:pPr>
            <a:r>
              <a:rPr sz="1200" b="0" i="0" u="none">
                <a:solidFill>
                  <a:srgbClr val="000000"/>
                </a:solidFill>
                <a:latin typeface="Times New Roman"/>
                <a:ea typeface="Times New Roman"/>
                <a:cs typeface="Times New Roman"/>
              </a:rPr>
              <a:t>When building a Python API service, several components work together to process incoming requests and interact with the database. In this architecture, four key tools perform distinct roles:</a:t>
            </a:r>
            <a:endParaRPr/>
          </a:p>
          <a:p>
            <a:pPr>
              <a:defRPr/>
            </a:pPr>
            <a:r>
              <a:rPr sz="1200" b="1" i="0" u="none">
                <a:solidFill>
                  <a:srgbClr val="000000"/>
                </a:solidFill>
                <a:latin typeface="Times New Roman"/>
                <a:ea typeface="Times New Roman"/>
                <a:cs typeface="Times New Roman"/>
              </a:rPr>
              <a:t>Uvicorn</a:t>
            </a:r>
            <a:r>
              <a:rPr sz="1200" b="0" i="0" u="none">
                <a:solidFill>
                  <a:srgbClr val="000000"/>
                </a:solidFill>
                <a:latin typeface="Times New Roman"/>
                <a:ea typeface="Times New Roman"/>
                <a:cs typeface="Times New Roman"/>
              </a:rPr>
              <a:t> — the web server that listens for HTTP requests</a:t>
            </a:r>
            <a:endParaRPr/>
          </a:p>
          <a:p>
            <a:pPr>
              <a:defRPr/>
            </a:pPr>
            <a:r>
              <a:rPr sz="1200" b="1" i="0" u="none">
                <a:solidFill>
                  <a:srgbClr val="000000"/>
                </a:solidFill>
                <a:latin typeface="Times New Roman"/>
                <a:ea typeface="Times New Roman"/>
                <a:cs typeface="Times New Roman"/>
              </a:rPr>
              <a:t>FastAPI</a:t>
            </a:r>
            <a:r>
              <a:rPr sz="1200" b="0" i="0" u="none">
                <a:solidFill>
                  <a:srgbClr val="000000"/>
                </a:solidFill>
                <a:latin typeface="Times New Roman"/>
                <a:ea typeface="Times New Roman"/>
                <a:cs typeface="Times New Roman"/>
              </a:rPr>
              <a:t> — the web framework that routes requests to Python functions</a:t>
            </a:r>
            <a:endParaRPr/>
          </a:p>
          <a:p>
            <a:pPr>
              <a:defRPr/>
            </a:pPr>
            <a:r>
              <a:rPr sz="1200" b="1" i="0" u="none">
                <a:solidFill>
                  <a:srgbClr val="000000"/>
                </a:solidFill>
                <a:latin typeface="Times New Roman"/>
                <a:ea typeface="Times New Roman"/>
                <a:cs typeface="Times New Roman"/>
              </a:rPr>
              <a:t>Motor</a:t>
            </a:r>
            <a:r>
              <a:rPr sz="1200" b="0" i="0" u="none">
                <a:solidFill>
                  <a:srgbClr val="000000"/>
                </a:solidFill>
                <a:latin typeface="Times New Roman"/>
                <a:ea typeface="Times New Roman"/>
                <a:cs typeface="Times New Roman"/>
              </a:rPr>
              <a:t> — the asynchronous driver that communicates with MongoDB</a:t>
            </a:r>
            <a:endParaRPr/>
          </a:p>
          <a:p>
            <a:pPr>
              <a:defRPr/>
            </a:pPr>
            <a:r>
              <a:rPr sz="1200" b="1" i="0" u="none">
                <a:solidFill>
                  <a:srgbClr val="000000"/>
                </a:solidFill>
                <a:latin typeface="Times New Roman"/>
                <a:ea typeface="Times New Roman"/>
                <a:cs typeface="Times New Roman"/>
              </a:rPr>
              <a:t>Pydantic</a:t>
            </a:r>
            <a:r>
              <a:rPr sz="1200" b="0" i="0" u="none">
                <a:solidFill>
                  <a:srgbClr val="000000"/>
                </a:solidFill>
                <a:latin typeface="Times New Roman"/>
                <a:ea typeface="Times New Roman"/>
                <a:cs typeface="Times New Roman"/>
              </a:rPr>
              <a:t> — the validation layer that ensures incoming data matches the expected schema</a:t>
            </a:r>
            <a:endParaRPr/>
          </a:p>
          <a:p>
            <a:pPr>
              <a:defRPr/>
            </a:pPr>
            <a:r>
              <a:rPr sz="1200" b="0" i="0" u="none">
                <a:solidFill>
                  <a:srgbClr val="000000"/>
                </a:solidFill>
                <a:latin typeface="Times New Roman"/>
                <a:ea typeface="Times New Roman"/>
                <a:cs typeface="Times New Roman"/>
              </a:rPr>
              <a:t>Each component plays a specific role in handling an API request.</a:t>
            </a:r>
            <a:endParaRPr/>
          </a:p>
          <a:p>
            <a:pPr>
              <a:defRPr/>
            </a:pPr>
            <a:r>
              <a:rPr sz="1400" b="1" i="0" u="none">
                <a:solidFill>
                  <a:srgbClr val="000000"/>
                </a:solidFill>
                <a:latin typeface="Times New Roman"/>
                <a:ea typeface="Times New Roman"/>
                <a:cs typeface="Times New Roman"/>
              </a:rPr>
              <a:t>Step-by-Step Request Flow</a:t>
            </a:r>
            <a:endParaRPr/>
          </a:p>
          <a:p>
            <a:pPr>
              <a:defRPr/>
            </a:pPr>
            <a:r>
              <a:rPr sz="1200" b="1" i="0" u="none">
                <a:solidFill>
                  <a:srgbClr val="000000"/>
                </a:solidFill>
                <a:latin typeface="Times New Roman"/>
                <a:ea typeface="Times New Roman"/>
                <a:cs typeface="Times New Roman"/>
              </a:rPr>
              <a:t>Uvicorn receives the HTTP request</a:t>
            </a:r>
            <a:endParaRPr/>
          </a:p>
          <a:p>
            <a:pPr>
              <a:defRPr/>
            </a:pPr>
            <a:r>
              <a:rPr sz="1200" b="0" i="0" u="none">
                <a:solidFill>
                  <a:srgbClr val="000000"/>
                </a:solidFill>
                <a:latin typeface="Times New Roman"/>
                <a:ea typeface="Times New Roman"/>
                <a:cs typeface="Times New Roman"/>
              </a:rPr>
              <a:t>Uvicorn opens a network port (usually </a:t>
            </a:r>
            <a:r>
              <a:rPr sz="1200" b="1" i="0" u="none">
                <a:solidFill>
                  <a:srgbClr val="000000"/>
                </a:solidFill>
                <a:latin typeface="Times New Roman"/>
                <a:ea typeface="Times New Roman"/>
                <a:cs typeface="Times New Roman"/>
              </a:rPr>
              <a:t>port 8000</a:t>
            </a:r>
            <a:r>
              <a:rPr sz="1200" b="0" i="0" u="none">
                <a:solidFill>
                  <a:srgbClr val="000000"/>
                </a:solidFill>
                <a:latin typeface="Times New Roman"/>
                <a:ea typeface="Times New Roman"/>
                <a:cs typeface="Times New Roman"/>
              </a:rPr>
              <a:t>) and waits for incoming HTTP connections.</a:t>
            </a:r>
            <a:endParaRPr/>
          </a:p>
          <a:p>
            <a:pPr>
              <a:defRPr/>
            </a:pPr>
            <a:r>
              <a:rPr sz="1200" b="1" i="0" u="none">
                <a:solidFill>
                  <a:srgbClr val="000000"/>
                </a:solidFill>
                <a:latin typeface="Times New Roman"/>
                <a:ea typeface="Times New Roman"/>
                <a:cs typeface="Times New Roman"/>
              </a:rPr>
              <a:t>FastAPI determines which function should handle the request</a:t>
            </a:r>
            <a:endParaRPr/>
          </a:p>
          <a:p>
            <a:pPr>
              <a:defRPr/>
            </a:pPr>
            <a:r>
              <a:rPr sz="1200" b="0" i="0" u="none">
                <a:solidFill>
                  <a:srgbClr val="000000"/>
                </a:solidFill>
                <a:latin typeface="Times New Roman"/>
                <a:ea typeface="Times New Roman"/>
                <a:cs typeface="Times New Roman"/>
              </a:rPr>
              <a:t>FastAPI examines the request's </a:t>
            </a:r>
            <a:r>
              <a:rPr sz="1200" b="1" i="0" u="none">
                <a:solidFill>
                  <a:srgbClr val="000000"/>
                </a:solidFill>
                <a:latin typeface="Times New Roman"/>
                <a:ea typeface="Times New Roman"/>
                <a:cs typeface="Times New Roman"/>
              </a:rPr>
              <a:t>URL and HTTP method</a:t>
            </a:r>
            <a:r>
              <a:rPr sz="1200" b="0" i="0" u="none">
                <a:solidFill>
                  <a:srgbClr val="000000"/>
                </a:solidFill>
                <a:latin typeface="Times New Roman"/>
                <a:ea typeface="Times New Roman"/>
                <a:cs typeface="Times New Roman"/>
              </a:rPr>
              <a:t> (GET, POST, etc.) and maps it to the correct Python function.</a:t>
            </a:r>
            <a:endParaRPr/>
          </a:p>
          <a:p>
            <a:pPr>
              <a:defRPr/>
            </a:pPr>
            <a:r>
              <a:rPr sz="1200" b="1" i="0" u="none">
                <a:solidFill>
                  <a:srgbClr val="000000"/>
                </a:solidFill>
                <a:latin typeface="Times New Roman"/>
                <a:ea typeface="Times New Roman"/>
                <a:cs typeface="Times New Roman"/>
              </a:rPr>
              <a:t>Pydantic validates the request data</a:t>
            </a:r>
            <a:endParaRPr/>
          </a:p>
          <a:p>
            <a:pPr>
              <a:defRPr/>
            </a:pPr>
            <a:r>
              <a:rPr sz="1200" b="0" i="0" u="none">
                <a:solidFill>
                  <a:srgbClr val="000000"/>
                </a:solidFill>
                <a:latin typeface="Times New Roman"/>
                <a:ea typeface="Times New Roman"/>
                <a:cs typeface="Times New Roman"/>
              </a:rPr>
              <a:t>If the request includes JSON data, Pydantic checks that the fields and data types match the expected schema.</a:t>
            </a:r>
            <a:endParaRPr/>
          </a:p>
          <a:p>
            <a:pPr>
              <a:defRPr/>
            </a:pPr>
            <a:r>
              <a:rPr sz="1200" b="1" i="0" u="none">
                <a:solidFill>
                  <a:srgbClr val="000000"/>
                </a:solidFill>
                <a:latin typeface="Times New Roman"/>
                <a:ea typeface="Times New Roman"/>
                <a:cs typeface="Times New Roman"/>
              </a:rPr>
              <a:t>Motor communicates with MongoDB</a:t>
            </a:r>
            <a:endParaRPr/>
          </a:p>
          <a:p>
            <a:pPr>
              <a:defRPr/>
            </a:pPr>
            <a:r>
              <a:rPr sz="1200" b="0" i="0" u="none">
                <a:solidFill>
                  <a:srgbClr val="000000"/>
                </a:solidFill>
                <a:latin typeface="Times New Roman"/>
                <a:ea typeface="Times New Roman"/>
                <a:cs typeface="Times New Roman"/>
              </a:rPr>
              <a:t>If the endpoint requires database access, Motor sends the query to </a:t>
            </a:r>
            <a:r>
              <a:rPr sz="1200" b="1" i="0" u="none">
                <a:solidFill>
                  <a:srgbClr val="000000"/>
                </a:solidFill>
                <a:latin typeface="Times New Roman"/>
                <a:ea typeface="Times New Roman"/>
                <a:cs typeface="Times New Roman"/>
              </a:rPr>
              <a:t>MongoDB</a:t>
            </a:r>
            <a:r>
              <a:rPr sz="1200" b="0" i="0" u="none">
                <a:solidFill>
                  <a:srgbClr val="000000"/>
                </a:solidFill>
                <a:latin typeface="Times New Roman"/>
                <a:ea typeface="Times New Roman"/>
                <a:cs typeface="Times New Roman"/>
              </a:rPr>
              <a:t> and returns the results.</a:t>
            </a:r>
            <a:endParaRPr/>
          </a:p>
          <a:p>
            <a:pPr>
              <a:defRPr/>
            </a:pPr>
            <a:r>
              <a:rPr sz="1200" b="1" i="0" u="none">
                <a:solidFill>
                  <a:srgbClr val="000000"/>
                </a:solidFill>
                <a:latin typeface="Times New Roman"/>
                <a:ea typeface="Times New Roman"/>
                <a:cs typeface="Times New Roman"/>
              </a:rPr>
              <a:t>FastAPI sends the response</a:t>
            </a:r>
            <a:endParaRPr/>
          </a:p>
          <a:p>
            <a:pPr>
              <a:defRPr/>
            </a:pPr>
            <a:r>
              <a:rPr sz="1200" b="0" i="0" u="none">
                <a:solidFill>
                  <a:srgbClr val="000000"/>
                </a:solidFill>
                <a:latin typeface="Times New Roman"/>
                <a:ea typeface="Times New Roman"/>
                <a:cs typeface="Times New Roman"/>
              </a:rPr>
              <a:t>The processed result is returned as JSON to the client.</a:t>
            </a:r>
            <a:endParaRPr/>
          </a:p>
          <a:p>
            <a:pPr>
              <a:defRPr/>
            </a:pPr>
            <a:r>
              <a:rPr sz="1400" b="1" i="0" u="none">
                <a:solidFill>
                  <a:srgbClr val="000000"/>
                </a:solidFill>
                <a:latin typeface="Times New Roman"/>
                <a:ea typeface="Times New Roman"/>
                <a:cs typeface="Times New Roman"/>
              </a:rPr>
              <a:t>Starting the Server</a:t>
            </a:r>
            <a:endParaRPr/>
          </a:p>
          <a:p>
            <a:pPr>
              <a:defRPr/>
            </a:pPr>
            <a:r>
              <a:rPr sz="1200" b="0" i="0" u="none">
                <a:solidFill>
                  <a:srgbClr val="000000"/>
                </a:solidFill>
                <a:latin typeface="Times New Roman"/>
                <a:ea typeface="Times New Roman"/>
                <a:cs typeface="Times New Roman"/>
              </a:rPr>
              <a:t>The API server is started with the following command:</a:t>
            </a:r>
            <a:endParaRPr/>
          </a:p>
          <a:p>
            <a:pPr>
              <a:defRPr/>
            </a:pPr>
            <a:r>
              <a:rPr sz="1000" b="0" i="0" u="none">
                <a:solidFill>
                  <a:srgbClr val="000000"/>
                </a:solidFill>
                <a:latin typeface="Courier New"/>
                <a:ea typeface="Courier New"/>
                <a:cs typeface="Courier New"/>
              </a:rPr>
              <a:t>uvicorn main:app --reload
</a:t>
            </a:r>
            <a:endParaRPr/>
          </a:p>
          <a:p>
            <a:pPr>
              <a:defRPr/>
            </a:pPr>
            <a:r>
              <a:rPr sz="1200" b="0" i="0" u="none">
                <a:solidFill>
                  <a:srgbClr val="000000"/>
                </a:solidFill>
                <a:latin typeface="Times New Roman"/>
                <a:ea typeface="Times New Roman"/>
                <a:cs typeface="Times New Roman"/>
              </a:rPr>
              <a:t>This command launches the application and tells Uvicorn which Python module and application object to load.</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--reload</a:t>
            </a:r>
            <a:r>
              <a:rPr sz="1200" b="0" i="0" u="none">
                <a:solidFill>
                  <a:srgbClr val="000000"/>
                </a:solidFill>
                <a:latin typeface="Times New Roman"/>
                <a:ea typeface="Times New Roman"/>
                <a:cs typeface="Times New Roman"/>
              </a:rPr>
              <a:t> flag is used </a:t>
            </a:r>
            <a:r>
              <a:rPr sz="1200" b="1" i="0" u="none">
                <a:solidFill>
                  <a:srgbClr val="000000"/>
                </a:solidFill>
                <a:latin typeface="Times New Roman"/>
                <a:ea typeface="Times New Roman"/>
                <a:cs typeface="Times New Roman"/>
              </a:rPr>
              <a:t>during development</a:t>
            </a:r>
            <a:r>
              <a:rPr sz="1200" b="0" i="0" u="none">
                <a:solidFill>
                  <a:srgbClr val="000000"/>
                </a:solidFill>
                <a:latin typeface="Times New Roman"/>
                <a:ea typeface="Times New Roman"/>
                <a:cs typeface="Times New Roman"/>
              </a:rPr>
              <a:t>. It monitors Python files and automatically restarts the server whenever a file changes. This allows developers to edit code, save the file, and immediately see the updated behavior without manually restarting the server.</a:t>
            </a:r>
            <a:endParaRPr/>
          </a:p>
          <a:p>
            <a:pPr>
              <a:defRPr/>
            </a:pPr>
            <a:r>
              <a:rPr sz="1200" b="0" i="0" u="none">
                <a:solidFill>
                  <a:srgbClr val="000000"/>
                </a:solidFill>
                <a:latin typeface="Times New Roman"/>
                <a:ea typeface="Times New Roman"/>
                <a:cs typeface="Times New Roman"/>
              </a:rPr>
              <a:t>In production environments, </a:t>
            </a:r>
            <a:r>
              <a:rPr sz="1000" b="0" i="0" u="none">
                <a:solidFill>
                  <a:srgbClr val="000000"/>
                </a:solidFill>
                <a:latin typeface="Courier New"/>
                <a:ea typeface="Courier New"/>
                <a:cs typeface="Courier New"/>
              </a:rPr>
              <a:t>--reload</a:t>
            </a:r>
            <a:r>
              <a:rPr sz="1200" b="0" i="0" u="none">
                <a:solidFill>
                  <a:srgbClr val="000000"/>
                </a:solidFill>
                <a:latin typeface="Times New Roman"/>
                <a:ea typeface="Times New Roman"/>
                <a:cs typeface="Times New Roman"/>
              </a:rPr>
              <a:t> is typically removed because automatic restarts are unnecessary and can reduce stability.</a:t>
            </a:r>
            <a:endParaRPr/>
          </a:p>
          <a:p>
            <a:pPr>
              <a:defRPr/>
            </a:pPr>
            <a:r>
              <a:rPr sz="1400" b="1" i="0" u="none">
                <a:solidFill>
                  <a:srgbClr val="000000"/>
                </a:solidFill>
                <a:latin typeface="Times New Roman"/>
                <a:ea typeface="Times New Roman"/>
                <a:cs typeface="Times New Roman"/>
              </a:rPr>
              <a:t>Understanding </a:t>
            </a:r>
            <a:r>
              <a:rPr sz="1150" b="1" i="0" u="none">
                <a:solidFill>
                  <a:srgbClr val="000000"/>
                </a:solidFill>
                <a:latin typeface="Courier New"/>
                <a:ea typeface="Courier New"/>
                <a:cs typeface="Courier New"/>
              </a:rPr>
              <a:t>main:app</a:t>
            </a:r>
            <a:endParaRPr/>
          </a:p>
          <a:p>
            <a:pPr>
              <a:defRPr/>
            </a:pPr>
            <a:r>
              <a:rPr sz="1200" b="0" i="0" u="none">
                <a:solidFill>
                  <a:srgbClr val="000000"/>
                </a:solidFill>
                <a:latin typeface="Times New Roman"/>
                <a:ea typeface="Times New Roman"/>
                <a:cs typeface="Times New Roman"/>
              </a:rPr>
              <a:t>The syntax:</a:t>
            </a:r>
            <a:endParaRPr/>
          </a:p>
          <a:p>
            <a:pPr>
              <a:defRPr/>
            </a:pPr>
            <a:r>
              <a:rPr sz="1000" b="0" i="0" u="none">
                <a:solidFill>
                  <a:srgbClr val="000000"/>
                </a:solidFill>
                <a:latin typeface="Courier New"/>
                <a:ea typeface="Courier New"/>
                <a:cs typeface="Courier New"/>
              </a:rPr>
              <a:t>uvicorn main:app
</a:t>
            </a:r>
            <a:endParaRPr/>
          </a:p>
          <a:p>
            <a:pPr>
              <a:defRPr/>
            </a:pPr>
            <a:r>
              <a:rPr sz="1200" b="0" i="0" u="none">
                <a:solidFill>
                  <a:srgbClr val="000000"/>
                </a:solidFill>
                <a:latin typeface="Times New Roman"/>
                <a:ea typeface="Times New Roman"/>
                <a:cs typeface="Times New Roman"/>
              </a:rPr>
              <a:t>contains two pieces of information.</a:t>
            </a:r>
            <a:endParaRPr/>
          </a:p>
          <a:p>
            <a:pPr>
              <a:defRPr/>
            </a:pPr>
            <a:r>
              <a:rPr sz="1000" b="1" i="0" u="none">
                <a:solidFill>
                  <a:srgbClr val="000000"/>
                </a:solidFill>
                <a:latin typeface="Courier New"/>
                <a:ea typeface="Courier New"/>
                <a:cs typeface="Courier New"/>
              </a:rPr>
              <a:t>main</a:t>
            </a:r>
            <a:r>
              <a:rPr sz="1200" b="0" i="0" u="none">
                <a:solidFill>
                  <a:srgbClr val="000000"/>
                </a:solidFill>
                <a:latin typeface="Times New Roman"/>
                <a:ea typeface="Times New Roman"/>
                <a:cs typeface="Times New Roman"/>
              </a:rPr>
              <a:t> refers to the Python file </a:t>
            </a:r>
            <a:r>
              <a:rPr sz="1000" b="0" i="0" u="none">
                <a:solidFill>
                  <a:srgbClr val="000000"/>
                </a:solidFill>
                <a:latin typeface="Courier New"/>
                <a:ea typeface="Courier New"/>
                <a:cs typeface="Courier New"/>
              </a:rPr>
              <a:t>main.py</a:t>
            </a:r>
            <a:r>
              <a:rPr sz="1200" b="0" i="0" u="none">
                <a:solidFill>
                  <a:srgbClr val="000000"/>
                </a:solidFill>
                <a:latin typeface="Times New Roman"/>
                <a:ea typeface="Times New Roman"/>
                <a:cs typeface="Times New Roman"/>
              </a:rPr>
              <a:t> located in the current directory.</a:t>
            </a:r>
            <a:endParaRPr/>
          </a:p>
          <a:p>
            <a:pPr>
              <a:defRPr/>
            </a:pPr>
            <a:r>
              <a:rPr sz="1000" b="1" i="0" u="none">
                <a:solidFill>
                  <a:srgbClr val="000000"/>
                </a:solidFill>
                <a:latin typeface="Courier New"/>
                <a:ea typeface="Courier New"/>
                <a:cs typeface="Courier New"/>
              </a:rPr>
              <a:t>app</a:t>
            </a:r>
            <a:r>
              <a:rPr sz="1200" b="0" i="0" u="none">
                <a:solidFill>
                  <a:srgbClr val="000000"/>
                </a:solidFill>
                <a:latin typeface="Times New Roman"/>
                <a:ea typeface="Times New Roman"/>
                <a:cs typeface="Times New Roman"/>
              </a:rPr>
              <a:t> refers to the FastAPI application object created inside that file.</a:t>
            </a:r>
            <a:endParaRPr/>
          </a:p>
          <a:p>
            <a:pPr>
              <a:defRPr/>
            </a:pPr>
            <a:r>
              <a:rPr sz="1200" b="0" i="0" u="none">
                <a:solidFill>
                  <a:srgbClr val="000000"/>
                </a:solidFill>
                <a:latin typeface="Times New Roman"/>
                <a:ea typeface="Times New Roman"/>
                <a:cs typeface="Times New Roman"/>
              </a:rPr>
              <a:t>Example:</a:t>
            </a:r>
            <a:endParaRPr/>
          </a:p>
          <a:p>
            <a:pPr>
              <a:defRPr/>
            </a:pPr>
            <a:r>
              <a:rPr sz="1000" b="0" i="0" u="none">
                <a:solidFill>
                  <a:srgbClr val="000000"/>
                </a:solidFill>
                <a:latin typeface="Courier New"/>
                <a:ea typeface="Courier New"/>
                <a:cs typeface="Courier New"/>
              </a:rPr>
              <a:t>from fastapi import FastAPI
app = FastAPI()
</a:t>
            </a:r>
            <a:endParaRPr/>
          </a:p>
          <a:p>
            <a:pPr>
              <a:defRPr/>
            </a:pPr>
            <a:r>
              <a:rPr sz="1200" b="0" i="0" u="none">
                <a:solidFill>
                  <a:srgbClr val="000000"/>
                </a:solidFill>
                <a:latin typeface="Times New Roman"/>
                <a:ea typeface="Times New Roman"/>
                <a:cs typeface="Times New Roman"/>
              </a:rPr>
              <a:t>Uvicorn loads </a:t>
            </a:r>
            <a:r>
              <a:rPr sz="1000" b="0" i="0" u="none">
                <a:solidFill>
                  <a:srgbClr val="000000"/>
                </a:solidFill>
                <a:latin typeface="Courier New"/>
                <a:ea typeface="Courier New"/>
                <a:cs typeface="Courier New"/>
              </a:rPr>
              <a:t>main.py</a:t>
            </a:r>
            <a:r>
              <a:rPr sz="1200" b="0" i="0" u="none">
                <a:solidFill>
                  <a:srgbClr val="000000"/>
                </a:solidFill>
                <a:latin typeface="Times New Roman"/>
                <a:ea typeface="Times New Roman"/>
                <a:cs typeface="Times New Roman"/>
              </a:rPr>
              <a:t>, finds the variable named </a:t>
            </a:r>
            <a:r>
              <a:rPr sz="1000" b="0" i="0" u="none">
                <a:solidFill>
                  <a:srgbClr val="000000"/>
                </a:solidFill>
                <a:latin typeface="Courier New"/>
                <a:ea typeface="Courier New"/>
                <a:cs typeface="Courier New"/>
              </a:rPr>
              <a:t>app</a:t>
            </a:r>
            <a:r>
              <a:rPr sz="1200" b="0" i="0" u="none">
                <a:solidFill>
                  <a:srgbClr val="000000"/>
                </a:solidFill>
                <a:latin typeface="Times New Roman"/>
                <a:ea typeface="Times New Roman"/>
                <a:cs typeface="Times New Roman"/>
              </a:rPr>
              <a:t>, and runs it as the </a:t>
            </a:r>
            <a:r>
              <a:rPr sz="1200" b="1" i="0" u="none">
                <a:solidFill>
                  <a:srgbClr val="000000"/>
                </a:solidFill>
                <a:latin typeface="Times New Roman"/>
                <a:ea typeface="Times New Roman"/>
                <a:cs typeface="Times New Roman"/>
              </a:rPr>
              <a:t>ASGI application</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Real-world Deployment Pattern</a:t>
            </a:r>
            <a:endParaRPr/>
          </a:p>
          <a:p>
            <a:pPr>
              <a:defRPr/>
            </a:pPr>
            <a:r>
              <a:rPr sz="1200" b="0" i="0" u="none">
                <a:solidFill>
                  <a:srgbClr val="000000"/>
                </a:solidFill>
                <a:latin typeface="Times New Roman"/>
                <a:ea typeface="Times New Roman"/>
                <a:cs typeface="Times New Roman"/>
              </a:rPr>
              <a:t>In production systems, servers often run multiple Uvicorn worker processes to handle concurrent traffic. Platforms such as </a:t>
            </a:r>
            <a:r>
              <a:rPr sz="1200" b="1" i="0" u="none">
                <a:solidFill>
                  <a:srgbClr val="000000"/>
                </a:solidFill>
                <a:latin typeface="Times New Roman"/>
                <a:ea typeface="Times New Roman"/>
                <a:cs typeface="Times New Roman"/>
              </a:rPr>
              <a:t>Uber</a:t>
            </a:r>
            <a:r>
              <a:rPr sz="1200" b="0" i="0" u="none">
                <a:solidFill>
                  <a:srgbClr val="000000"/>
                </a:solidFill>
                <a:latin typeface="Times New Roman"/>
                <a:ea typeface="Times New Roman"/>
                <a:cs typeface="Times New Roman"/>
              </a:rPr>
              <a:t> or </a:t>
            </a:r>
            <a:r>
              <a:rPr sz="1200" b="1" i="0" u="none">
                <a:solidFill>
                  <a:srgbClr val="000000"/>
                </a:solidFill>
                <a:latin typeface="Times New Roman"/>
                <a:ea typeface="Times New Roman"/>
                <a:cs typeface="Times New Roman"/>
              </a:rPr>
              <a:t>Stripe</a:t>
            </a:r>
            <a:r>
              <a:rPr sz="1200" b="0" i="0" u="none">
                <a:solidFill>
                  <a:srgbClr val="000000"/>
                </a:solidFill>
                <a:latin typeface="Times New Roman"/>
                <a:ea typeface="Times New Roman"/>
                <a:cs typeface="Times New Roman"/>
              </a:rPr>
              <a:t> use similar asynchronous web server architectures so that slow database queries do not block other incoming requests.</a:t>
            </a:r>
            <a:endParaRPr/>
          </a:p>
          <a:p>
            <a:pPr>
              <a:defRPr/>
            </a:pPr>
            <a:r>
              <a:rPr sz="1400" b="1" i="0" u="none">
                <a:solidFill>
                  <a:srgbClr val="000000"/>
                </a:solidFill>
                <a:latin typeface="Times New Roman"/>
                <a:ea typeface="Times New Roman"/>
                <a:cs typeface="Times New Roman"/>
              </a:rPr>
              <a:t>Key Takeaway</a:t>
            </a:r>
            <a:endParaRPr/>
          </a:p>
          <a:p>
            <a:pPr>
              <a:defRPr/>
            </a:pPr>
            <a:r>
              <a:rPr sz="1200" b="0" i="0" u="none">
                <a:solidFill>
                  <a:srgbClr val="000000"/>
                </a:solidFill>
                <a:latin typeface="Times New Roman"/>
                <a:ea typeface="Times New Roman"/>
                <a:cs typeface="Times New Roman"/>
              </a:rPr>
              <a:t>A modern Python API stack separates responsibilities:</a:t>
            </a:r>
            <a:endParaRPr/>
          </a:p>
          <a:p>
            <a:pPr>
              <a:defRPr/>
            </a:pPr>
            <a:r>
              <a:rPr sz="1200" b="1" i="0" u="none">
                <a:solidFill>
                  <a:srgbClr val="000000"/>
                </a:solidFill>
                <a:latin typeface="Times New Roman"/>
                <a:ea typeface="Times New Roman"/>
                <a:cs typeface="Times New Roman"/>
              </a:rPr>
              <a:t>Uvicorn</a:t>
            </a:r>
            <a:r>
              <a:rPr sz="1200" b="0" i="0" u="none">
                <a:solidFill>
                  <a:srgbClr val="000000"/>
                </a:solidFill>
                <a:latin typeface="Times New Roman"/>
                <a:ea typeface="Times New Roman"/>
                <a:cs typeface="Times New Roman"/>
              </a:rPr>
              <a:t> handles network connections</a:t>
            </a:r>
            <a:endParaRPr/>
          </a:p>
          <a:p>
            <a:pPr>
              <a:defRPr/>
            </a:pPr>
            <a:r>
              <a:rPr sz="1200" b="1" i="0" u="none">
                <a:solidFill>
                  <a:srgbClr val="000000"/>
                </a:solidFill>
                <a:latin typeface="Times New Roman"/>
                <a:ea typeface="Times New Roman"/>
                <a:cs typeface="Times New Roman"/>
              </a:rPr>
              <a:t>FastAPI</a:t>
            </a:r>
            <a:r>
              <a:rPr sz="1200" b="0" i="0" u="none">
                <a:solidFill>
                  <a:srgbClr val="000000"/>
                </a:solidFill>
                <a:latin typeface="Times New Roman"/>
                <a:ea typeface="Times New Roman"/>
                <a:cs typeface="Times New Roman"/>
              </a:rPr>
              <a:t> manages routing and request handling</a:t>
            </a:r>
            <a:endParaRPr/>
          </a:p>
          <a:p>
            <a:pPr>
              <a:defRPr/>
            </a:pPr>
            <a:r>
              <a:rPr sz="1200" b="1" i="0" u="none">
                <a:solidFill>
                  <a:srgbClr val="000000"/>
                </a:solidFill>
                <a:latin typeface="Times New Roman"/>
                <a:ea typeface="Times New Roman"/>
                <a:cs typeface="Times New Roman"/>
              </a:rPr>
              <a:t>Pydantic</a:t>
            </a:r>
            <a:r>
              <a:rPr sz="1200" b="0" i="0" u="none">
                <a:solidFill>
                  <a:srgbClr val="000000"/>
                </a:solidFill>
                <a:latin typeface="Times New Roman"/>
                <a:ea typeface="Times New Roman"/>
                <a:cs typeface="Times New Roman"/>
              </a:rPr>
              <a:t> validates incoming data</a:t>
            </a:r>
            <a:endParaRPr/>
          </a:p>
          <a:p>
            <a:pPr>
              <a:defRPr/>
            </a:pPr>
            <a:r>
              <a:rPr sz="1200" b="1" i="0" u="none">
                <a:solidFill>
                  <a:srgbClr val="000000"/>
                </a:solidFill>
                <a:latin typeface="Times New Roman"/>
                <a:ea typeface="Times New Roman"/>
                <a:cs typeface="Times New Roman"/>
              </a:rPr>
              <a:t>Motor</a:t>
            </a:r>
            <a:r>
              <a:rPr sz="1200" b="0" i="0" u="none">
                <a:solidFill>
                  <a:srgbClr val="000000"/>
                </a:solidFill>
                <a:latin typeface="Times New Roman"/>
                <a:ea typeface="Times New Roman"/>
                <a:cs typeface="Times New Roman"/>
              </a:rPr>
              <a:t> communicates with MongoDB</a:t>
            </a:r>
            <a:endParaRPr/>
          </a:p>
          <a:p>
            <a:pPr>
              <a:defRPr/>
            </a:pPr>
            <a:r>
              <a:rPr sz="1200" b="0" i="0" u="none">
                <a:solidFill>
                  <a:srgbClr val="000000"/>
                </a:solidFill>
                <a:latin typeface="Times New Roman"/>
                <a:ea typeface="Times New Roman"/>
                <a:cs typeface="Times New Roman"/>
              </a:rPr>
              <a:t>Together, these components form the foundation of a </a:t>
            </a:r>
            <a:r>
              <a:rPr sz="1200" b="1" i="0" u="none">
                <a:solidFill>
                  <a:srgbClr val="000000"/>
                </a:solidFill>
                <a:latin typeface="Times New Roman"/>
                <a:ea typeface="Times New Roman"/>
                <a:cs typeface="Times New Roman"/>
              </a:rPr>
              <a:t>high-performance asynchronous API service</a:t>
            </a:r>
            <a:r>
              <a:rPr sz="1200" b="0" i="0" u="none">
                <a:solidFill>
                  <a:srgbClr val="000000"/>
                </a:solidFill>
                <a:latin typeface="Times New Roman"/>
                <a:ea typeface="Times New Roman"/>
                <a:cs typeface="Times New Roman"/>
              </a:rPr>
              <a:t>.</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If you run:</a:t>
            </a:r>
            <a:endParaRPr/>
          </a:p>
          <a:p>
            <a:pPr>
              <a:defRPr/>
            </a:pPr>
            <a:r>
              <a:rPr sz="1000" b="0" i="0" u="none">
                <a:solidFill>
                  <a:srgbClr val="000000"/>
                </a:solidFill>
                <a:latin typeface="Courier New"/>
                <a:ea typeface="Courier New"/>
                <a:cs typeface="Courier New"/>
              </a:rPr>
              <a:t>uvicorn main:app
</a:t>
            </a:r>
            <a:endParaRPr/>
          </a:p>
          <a:p>
            <a:pPr>
              <a:defRPr/>
            </a:pPr>
            <a:r>
              <a:rPr sz="1200" b="0" i="0" u="none">
                <a:solidFill>
                  <a:srgbClr val="000000"/>
                </a:solidFill>
                <a:latin typeface="Times New Roman"/>
                <a:ea typeface="Times New Roman"/>
                <a:cs typeface="Times New Roman"/>
              </a:rPr>
              <a:t>what do </a:t>
            </a:r>
            <a:r>
              <a:rPr sz="1000" b="1" i="0" u="none">
                <a:solidFill>
                  <a:srgbClr val="000000"/>
                </a:solidFill>
                <a:latin typeface="Courier New"/>
                <a:ea typeface="Courier New"/>
                <a:cs typeface="Courier New"/>
              </a:rPr>
              <a:t>main</a:t>
            </a:r>
            <a:r>
              <a:rPr sz="1200" b="0" i="0" u="none">
                <a:solidFill>
                  <a:srgbClr val="000000"/>
                </a:solidFill>
                <a:latin typeface="Times New Roman"/>
                <a:ea typeface="Times New Roman"/>
                <a:cs typeface="Times New Roman"/>
              </a:rPr>
              <a:t> and </a:t>
            </a:r>
            <a:r>
              <a:rPr sz="1000" b="1" i="0" u="none">
                <a:solidFill>
                  <a:srgbClr val="000000"/>
                </a:solidFill>
                <a:latin typeface="Courier New"/>
                <a:ea typeface="Courier New"/>
                <a:cs typeface="Courier New"/>
              </a:rPr>
              <a:t>app</a:t>
            </a:r>
            <a:r>
              <a:rPr sz="1200" b="0" i="0" u="none">
                <a:solidFill>
                  <a:srgbClr val="000000"/>
                </a:solidFill>
                <a:latin typeface="Times New Roman"/>
                <a:ea typeface="Times New Roman"/>
                <a:cs typeface="Times New Roman"/>
              </a:rPr>
              <a:t> refer to?</a:t>
            </a:r>
            <a:endParaRPr/>
          </a:p>
          <a:p>
            <a:pPr>
              <a:defRPr/>
            </a:pPr>
            <a:r>
              <a:rPr sz="1200" b="1" i="0" u="none">
                <a:solidFill>
                  <a:srgbClr val="000000"/>
                </a:solidFill>
                <a:latin typeface="Times New Roman"/>
                <a:ea typeface="Times New Roman"/>
                <a:cs typeface="Times New Roman"/>
              </a:rPr>
              <a:t>Answer</a:t>
            </a:r>
            <a:endParaRPr/>
          </a:p>
          <a:p>
            <a:pPr>
              <a:defRPr/>
            </a:pPr>
            <a:r>
              <a:rPr sz="1000" b="0" i="0" u="none">
                <a:solidFill>
                  <a:srgbClr val="000000"/>
                </a:solidFill>
                <a:latin typeface="Courier New"/>
                <a:ea typeface="Courier New"/>
                <a:cs typeface="Courier New"/>
              </a:rPr>
              <a:t>main</a:t>
            </a:r>
            <a:r>
              <a:rPr sz="1200" b="0" i="0" u="none">
                <a:solidFill>
                  <a:srgbClr val="000000"/>
                </a:solidFill>
                <a:latin typeface="Times New Roman"/>
                <a:ea typeface="Times New Roman"/>
                <a:cs typeface="Times New Roman"/>
              </a:rPr>
              <a:t> refers to the </a:t>
            </a:r>
            <a:r>
              <a:rPr sz="1200" b="1" i="0" u="none">
                <a:solidFill>
                  <a:srgbClr val="000000"/>
                </a:solidFill>
                <a:latin typeface="Times New Roman"/>
                <a:ea typeface="Times New Roman"/>
                <a:cs typeface="Times New Roman"/>
              </a:rPr>
              <a:t>Python file </a:t>
            </a:r>
            <a:r>
              <a:rPr sz="1000" b="1" i="0" u="none">
                <a:solidFill>
                  <a:srgbClr val="000000"/>
                </a:solidFill>
                <a:latin typeface="Courier New"/>
                <a:ea typeface="Courier New"/>
                <a:cs typeface="Courier New"/>
              </a:rPr>
              <a:t>main.py</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app</a:t>
            </a:r>
            <a:r>
              <a:rPr sz="1200" b="0" i="0" u="none">
                <a:solidFill>
                  <a:srgbClr val="000000"/>
                </a:solidFill>
                <a:latin typeface="Times New Roman"/>
                <a:ea typeface="Times New Roman"/>
                <a:cs typeface="Times New Roman"/>
              </a:rPr>
              <a:t> refers to the </a:t>
            </a:r>
            <a:r>
              <a:rPr sz="1200" b="1" i="0" u="none">
                <a:solidFill>
                  <a:srgbClr val="000000"/>
                </a:solidFill>
                <a:latin typeface="Times New Roman"/>
                <a:ea typeface="Times New Roman"/>
                <a:cs typeface="Times New Roman"/>
              </a:rPr>
              <a:t>FastAPI application instance defined inside that file</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app = FastAPI()</a:t>
            </a:r>
            <a:r>
              <a:rPr sz="1200" b="0" i="0" u="none">
                <a:solidFill>
                  <a:srgbClr val="000000"/>
                </a:solidFill>
                <a:latin typeface="Times New Roman"/>
                <a:ea typeface="Times New Roman"/>
                <a:cs typeface="Times New Roman"/>
              </a:rPr>
              <a:t>). Uvicorn uses both to locate and start the correct ASGI application.</a:t>
            </a:r>
            <a:endParaRPr lang="en-US"/>
          </a:p>
        </p:txBody>
      </p:sp>
      <p:sp>
        <p:nvSpPr>
          <p:cNvPr id="99370593" name="Slide Number Placeholder 3"/>
          <p:cNvSpPr>
            <a:spLocks noGrp="1"/>
          </p:cNvSpPr>
          <p:nvPr>
            <p:ph type="sldNum" sz="quarter" idx="10"/>
          </p:nvPr>
        </p:nvSpPr>
        <p:spPr bwMode="auto"/>
        <p:txBody>
          <a:bodyPr/>
          <a:lstStyle/>
          <a:p>
            <a:pPr>
              <a:defRPr/>
            </a:pPr>
            <a:fld id="{F7021451-1387-4CA6-816F-3879F97B5CBC}" type="slidenum">
              <a:rPr lang="en-US"/>
              <a:t>72</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1904301" name="Slide Image Placeholder 1"/>
          <p:cNvSpPr>
            <a:spLocks noChangeAspect="1" noGrp="1" noRot="1"/>
          </p:cNvSpPr>
          <p:nvPr>
            <p:ph type="sldImg"/>
          </p:nvPr>
        </p:nvSpPr>
        <p:spPr bwMode="auto"/>
      </p:sp>
      <p:sp>
        <p:nvSpPr>
          <p:cNvPr id="440046702"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Pydantic Models — Defining Data Shapes</a:t>
            </a:r>
            <a:endParaRPr/>
          </a:p>
          <a:p>
            <a:pPr>
              <a:defRPr/>
            </a:pPr>
            <a:r>
              <a:rPr sz="1200" b="0" i="0" u="none">
                <a:solidFill>
                  <a:srgbClr val="000000"/>
                </a:solidFill>
                <a:latin typeface="Times New Roman"/>
                <a:ea typeface="Times New Roman"/>
                <a:cs typeface="Times New Roman"/>
              </a:rPr>
              <a:t>Pydantic models define the </a:t>
            </a:r>
            <a:r>
              <a:rPr sz="1200" b="1" i="0" u="none">
                <a:solidFill>
                  <a:srgbClr val="000000"/>
                </a:solidFill>
                <a:latin typeface="Times New Roman"/>
                <a:ea typeface="Times New Roman"/>
                <a:cs typeface="Times New Roman"/>
              </a:rPr>
              <a:t>structure and data types of JSON objects</a:t>
            </a:r>
            <a:r>
              <a:rPr sz="1200" b="0" i="0" u="none">
                <a:solidFill>
                  <a:srgbClr val="000000"/>
                </a:solidFill>
                <a:latin typeface="Times New Roman"/>
                <a:ea typeface="Times New Roman"/>
                <a:cs typeface="Times New Roman"/>
              </a:rPr>
              <a:t> that an API endpoint expects to receive or return. In a FastAPI application, they act as the bridge between the raw JSON sent by a client and the Python objects that the backend code works with.</a:t>
            </a:r>
            <a:endParaRPr/>
          </a:p>
          <a:p>
            <a:pPr>
              <a:defRPr/>
            </a:pPr>
            <a:r>
              <a:rPr sz="1200" b="0" i="0" u="none">
                <a:solidFill>
                  <a:srgbClr val="000000"/>
                </a:solidFill>
                <a:latin typeface="Times New Roman"/>
                <a:ea typeface="Times New Roman"/>
                <a:cs typeface="Times New Roman"/>
              </a:rPr>
              <a:t>Consider the following example model:</a:t>
            </a:r>
            <a:endParaRPr/>
          </a:p>
          <a:p>
            <a:pPr>
              <a:defRPr/>
            </a:pPr>
            <a:r>
              <a:rPr sz="1000" b="0" i="0" u="none">
                <a:solidFill>
                  <a:srgbClr val="000000"/>
                </a:solidFill>
                <a:latin typeface="Courier New"/>
                <a:ea typeface="Courier New"/>
                <a:cs typeface="Courier New"/>
              </a:rPr>
              <a:t>from pydantic import BaseModel
class Student(BaseModel):
    student_id: str
    name: str
    grade: int
</a:t>
            </a:r>
            <a:endParaRPr/>
          </a:p>
          <a:p>
            <a:pPr>
              <a:defRPr/>
            </a:pPr>
            <a:r>
              <a:rPr sz="1200" b="0" i="0" u="none">
                <a:solidFill>
                  <a:srgbClr val="000000"/>
                </a:solidFill>
                <a:latin typeface="Times New Roman"/>
                <a:ea typeface="Times New Roman"/>
                <a:cs typeface="Times New Roman"/>
              </a:rPr>
              <a:t>Each attribute in the class defines a required field and its expected data type.</a:t>
            </a:r>
            <a:br>
              <a:rPr sz="1200" b="0" i="0" u="none">
                <a:solidFill>
                  <a:srgbClr val="000000"/>
                </a:solidFill>
                <a:latin typeface="Times New Roman"/>
                <a:ea typeface="Times New Roman"/>
                <a:cs typeface="Times New Roman"/>
              </a:rPr>
            </a:br>
            <a:r>
              <a:rPr sz="1200" b="0" i="0" u="none">
                <a:solidFill>
                  <a:srgbClr val="000000"/>
                </a:solidFill>
                <a:latin typeface="Times New Roman"/>
                <a:ea typeface="Times New Roman"/>
                <a:cs typeface="Times New Roman"/>
              </a:rPr>
              <a:t>In this example, a valid request body must contain three fields:</a:t>
            </a:r>
            <a:endParaRPr/>
          </a:p>
          <a:p>
            <a:pPr>
              <a:defRPr/>
            </a:pP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as a string</a:t>
            </a:r>
            <a:endParaRPr/>
          </a:p>
          <a:p>
            <a:pPr>
              <a:defRPr/>
            </a:pP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as a string</a:t>
            </a:r>
            <a:endParaRPr/>
          </a:p>
          <a:p>
            <a:pPr>
              <a:defRPr/>
            </a:pPr>
            <a:r>
              <a:rPr sz="1000" b="0" i="0" u="none">
                <a:solidFill>
                  <a:srgbClr val="000000"/>
                </a:solidFill>
                <a:latin typeface="Courier New"/>
                <a:ea typeface="Courier New"/>
                <a:cs typeface="Courier New"/>
              </a:rPr>
              <a:t>grade</a:t>
            </a:r>
            <a:r>
              <a:rPr sz="1200" b="0" i="0" u="none">
                <a:solidFill>
                  <a:srgbClr val="000000"/>
                </a:solidFill>
                <a:latin typeface="Times New Roman"/>
                <a:ea typeface="Times New Roman"/>
                <a:cs typeface="Times New Roman"/>
              </a:rPr>
              <a:t> as an integer</a:t>
            </a:r>
            <a:endParaRPr/>
          </a:p>
          <a:p>
            <a:pPr>
              <a:defRPr/>
            </a:pPr>
            <a:r>
              <a:rPr sz="1200" b="0" i="0" u="none">
                <a:solidFill>
                  <a:srgbClr val="000000"/>
                </a:solidFill>
                <a:latin typeface="Times New Roman"/>
                <a:ea typeface="Times New Roman"/>
                <a:cs typeface="Times New Roman"/>
              </a:rPr>
              <a:t>When a POST request arrives, FastAPI reads the JSON body and attempts to construct a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object from it. During this process, Pydantic automatically validates the data. If a required field is missing or a field has the wrong type, FastAPI rejects the request immediately.</a:t>
            </a:r>
            <a:endParaRPr/>
          </a:p>
          <a:p>
            <a:pPr>
              <a:defRPr/>
            </a:pPr>
            <a:r>
              <a:rPr sz="1200" b="0" i="0" u="none">
                <a:solidFill>
                  <a:srgbClr val="000000"/>
                </a:solidFill>
                <a:latin typeface="Times New Roman"/>
                <a:ea typeface="Times New Roman"/>
                <a:cs typeface="Times New Roman"/>
              </a:rPr>
              <a:t>For example, if a client sends the following JSON:</a:t>
            </a:r>
            <a:endParaRPr/>
          </a:p>
          <a:p>
            <a:pPr>
              <a:defRPr/>
            </a:pPr>
            <a:r>
              <a:rPr sz="1000" b="0" i="0" u="none">
                <a:solidFill>
                  <a:srgbClr val="000000"/>
                </a:solidFill>
                <a:latin typeface="Courier New"/>
                <a:ea typeface="Courier New"/>
                <a:cs typeface="Courier New"/>
              </a:rPr>
              <a:t>{ "student_id": "101", "name": "Ana", "grade": 3 }
</a:t>
            </a:r>
            <a:endParaRPr/>
          </a:p>
          <a:p>
            <a:pPr>
              <a:defRPr/>
            </a:pPr>
            <a:r>
              <a:rPr sz="1200" b="0" i="0" u="none">
                <a:solidFill>
                  <a:srgbClr val="000000"/>
                </a:solidFill>
                <a:latin typeface="Times New Roman"/>
                <a:ea typeface="Times New Roman"/>
                <a:cs typeface="Times New Roman"/>
              </a:rPr>
              <a:t>the validation succeeds and a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object is created.</a:t>
            </a:r>
            <a:endParaRPr/>
          </a:p>
          <a:p>
            <a:pPr>
              <a:defRPr/>
            </a:pPr>
            <a:r>
              <a:rPr sz="1200" b="0" i="0" u="none">
                <a:solidFill>
                  <a:srgbClr val="000000"/>
                </a:solidFill>
                <a:latin typeface="Times New Roman"/>
                <a:ea typeface="Times New Roman"/>
                <a:cs typeface="Times New Roman"/>
              </a:rPr>
              <a:t>However, if the client sends:</a:t>
            </a:r>
            <a:endParaRPr/>
          </a:p>
          <a:p>
            <a:pPr>
              <a:defRPr/>
            </a:pPr>
            <a:r>
              <a:rPr sz="1000" b="0" i="0" u="none">
                <a:solidFill>
                  <a:srgbClr val="000000"/>
                </a:solidFill>
                <a:latin typeface="Courier New"/>
                <a:ea typeface="Courier New"/>
                <a:cs typeface="Courier New"/>
              </a:rPr>
              <a:t>{ "student_id": "101", "name": "Ana", "grade": "A" }
</a:t>
            </a:r>
            <a:endParaRPr/>
          </a:p>
          <a:p>
            <a:pPr>
              <a:defRPr/>
            </a:pPr>
            <a:r>
              <a:rPr sz="1200" b="0" i="0" u="none">
                <a:solidFill>
                  <a:srgbClr val="000000"/>
                </a:solidFill>
                <a:latin typeface="Times New Roman"/>
                <a:ea typeface="Times New Roman"/>
                <a:cs typeface="Times New Roman"/>
              </a:rPr>
              <a:t>validation fails because </a:t>
            </a:r>
            <a:r>
              <a:rPr sz="1000" b="0" i="0" u="none">
                <a:solidFill>
                  <a:srgbClr val="000000"/>
                </a:solidFill>
                <a:latin typeface="Courier New"/>
                <a:ea typeface="Courier New"/>
                <a:cs typeface="Courier New"/>
              </a:rPr>
              <a:t>grade</a:t>
            </a:r>
            <a:r>
              <a:rPr sz="1200" b="0" i="0" u="none">
                <a:solidFill>
                  <a:srgbClr val="000000"/>
                </a:solidFill>
                <a:latin typeface="Times New Roman"/>
                <a:ea typeface="Times New Roman"/>
                <a:cs typeface="Times New Roman"/>
              </a:rPr>
              <a:t> must be an integer. Similarly, if the JSON is missing required fields such as </a:t>
            </a: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the request will also fail validation.</a:t>
            </a:r>
            <a:endParaRPr/>
          </a:p>
          <a:p>
            <a:pPr>
              <a:defRPr/>
            </a:pPr>
            <a:r>
              <a:rPr sz="1200" b="0" i="0" u="none">
                <a:solidFill>
                  <a:srgbClr val="000000"/>
                </a:solidFill>
                <a:latin typeface="Times New Roman"/>
                <a:ea typeface="Times New Roman"/>
                <a:cs typeface="Times New Roman"/>
              </a:rPr>
              <a:t>This validation happens </a:t>
            </a:r>
            <a:r>
              <a:rPr sz="1200" b="1" i="0" u="none">
                <a:solidFill>
                  <a:srgbClr val="000000"/>
                </a:solidFill>
                <a:latin typeface="Times New Roman"/>
                <a:ea typeface="Times New Roman"/>
                <a:cs typeface="Times New Roman"/>
              </a:rPr>
              <a:t>before the route function runs</a:t>
            </a:r>
            <a:r>
              <a:rPr sz="1200" b="0" i="0" u="none">
                <a:solidFill>
                  <a:srgbClr val="000000"/>
                </a:solidFill>
                <a:latin typeface="Times New Roman"/>
                <a:ea typeface="Times New Roman"/>
                <a:cs typeface="Times New Roman"/>
              </a:rPr>
              <a:t>, meaning your application code only receives data that is already guaranteed to be structurally correct.</a:t>
            </a:r>
            <a:endParaRPr/>
          </a:p>
          <a:p>
            <a:pPr>
              <a:defRPr/>
            </a:pPr>
            <a:r>
              <a:rPr sz="1200" b="0" i="0" u="none">
                <a:solidFill>
                  <a:srgbClr val="000000"/>
                </a:solidFill>
                <a:latin typeface="Times New Roman"/>
                <a:ea typeface="Times New Roman"/>
                <a:cs typeface="Times New Roman"/>
              </a:rPr>
              <a:t>Once the model object is created, it can be converted into a standard Python dictionary using the method:</a:t>
            </a:r>
            <a:endParaRPr/>
          </a:p>
          <a:p>
            <a:pPr>
              <a:defRPr/>
            </a:pPr>
            <a:r>
              <a:rPr sz="1000" b="0" i="0" u="none">
                <a:solidFill>
                  <a:srgbClr val="000000"/>
                </a:solidFill>
                <a:latin typeface="Courier New"/>
                <a:ea typeface="Courier New"/>
                <a:cs typeface="Courier New"/>
              </a:rPr>
              <a:t>student.model_dump()
</a:t>
            </a:r>
            <a:endParaRPr/>
          </a:p>
          <a:p>
            <a:pPr>
              <a:defRPr/>
            </a:pPr>
            <a:r>
              <a:rPr sz="1200" b="0" i="0" u="none">
                <a:solidFill>
                  <a:srgbClr val="000000"/>
                </a:solidFill>
                <a:latin typeface="Times New Roman"/>
                <a:ea typeface="Times New Roman"/>
                <a:cs typeface="Times New Roman"/>
              </a:rPr>
              <a:t>In older versions of Pydantic (v1), the equivalent method was </a:t>
            </a:r>
            <a:r>
              <a:rPr sz="1000" b="0" i="0" u="none">
                <a:solidFill>
                  <a:srgbClr val="000000"/>
                </a:solidFill>
                <a:latin typeface="Courier New"/>
                <a:ea typeface="Courier New"/>
                <a:cs typeface="Courier New"/>
              </a:rPr>
              <a:t>.dict()</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result is a normal Python dictionary such as:</a:t>
            </a:r>
            <a:endParaRPr/>
          </a:p>
          <a:p>
            <a:pPr>
              <a:defRPr/>
            </a:pPr>
            <a:r>
              <a:rPr sz="1000" b="0" i="0" u="none">
                <a:solidFill>
                  <a:srgbClr val="000000"/>
                </a:solidFill>
                <a:latin typeface="Courier New"/>
                <a:ea typeface="Courier New"/>
                <a:cs typeface="Courier New"/>
              </a:rPr>
              <a:t>{'student_id': '101', 'name': 'Ana', 'grade': 3}
</a:t>
            </a:r>
            <a:endParaRPr/>
          </a:p>
          <a:p>
            <a:pPr>
              <a:defRPr/>
            </a:pPr>
            <a:r>
              <a:rPr sz="1200" b="0" i="0" u="none">
                <a:solidFill>
                  <a:srgbClr val="000000"/>
                </a:solidFill>
                <a:latin typeface="Times New Roman"/>
                <a:ea typeface="Times New Roman"/>
                <a:cs typeface="Times New Roman"/>
              </a:rPr>
              <a:t>This step is necessary because database drivers like Motor (the asynchronous MongoDB driver) expect plain dictionaries rather than custom Python classes. The dictionary is then serialized into BSON and stored in MongoDB.</a:t>
            </a:r>
            <a:endParaRPr/>
          </a:p>
          <a:p>
            <a:pPr>
              <a:defRPr/>
            </a:pPr>
            <a:r>
              <a:rPr sz="1200" b="0" i="0" u="none">
                <a:solidFill>
                  <a:srgbClr val="000000"/>
                </a:solidFill>
                <a:latin typeface="Times New Roman"/>
                <a:ea typeface="Times New Roman"/>
                <a:cs typeface="Times New Roman"/>
              </a:rPr>
              <a:t>In real-world systems, Pydantic models serve an additional role as </a:t>
            </a:r>
            <a:r>
              <a:rPr sz="1200" b="1" i="0" u="none">
                <a:solidFill>
                  <a:srgbClr val="000000"/>
                </a:solidFill>
                <a:latin typeface="Times New Roman"/>
                <a:ea typeface="Times New Roman"/>
                <a:cs typeface="Times New Roman"/>
              </a:rPr>
              <a:t>living documentation</a:t>
            </a:r>
            <a:r>
              <a:rPr sz="1200" b="0" i="0" u="none">
                <a:solidFill>
                  <a:srgbClr val="000000"/>
                </a:solidFill>
                <a:latin typeface="Times New Roman"/>
                <a:ea typeface="Times New Roman"/>
                <a:cs typeface="Times New Roman"/>
              </a:rPr>
              <a:t>. Any developer reading the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class can immediately see what fields the API expects, what types they must have, and how the data is structured. This removes the need for separate documentation and helps teams maintain consistent API contracts.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What error does FastAPI return if a client sends the JSON:</a:t>
            </a:r>
            <a:endParaRPr/>
          </a:p>
          <a:p>
            <a:pPr>
              <a:defRPr/>
            </a:pPr>
            <a:r>
              <a:rPr sz="1000" b="0" i="0" u="none">
                <a:solidFill>
                  <a:srgbClr val="000000"/>
                </a:solidFill>
                <a:latin typeface="Courier New"/>
                <a:ea typeface="Courier New"/>
                <a:cs typeface="Courier New"/>
              </a:rPr>
              <a:t>{ "student_id": "101" }
</a:t>
            </a:r>
            <a:endParaRPr/>
          </a:p>
          <a:p>
            <a:pPr>
              <a:defRPr/>
            </a:pPr>
            <a:r>
              <a:rPr sz="1200" b="0" i="0" u="none">
                <a:solidFill>
                  <a:srgbClr val="000000"/>
                </a:solidFill>
                <a:latin typeface="Times New Roman"/>
                <a:ea typeface="Times New Roman"/>
                <a:cs typeface="Times New Roman"/>
              </a:rPr>
              <a:t>to a POST endpoint that expects a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model?</a:t>
            </a:r>
            <a:endParaRPr/>
          </a:p>
          <a:p>
            <a:pPr>
              <a:defRPr/>
            </a:pPr>
            <a:r>
              <a:rPr sz="14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FastAPI returns </a:t>
            </a:r>
            <a:r>
              <a:rPr sz="1200" b="1" i="0" u="none">
                <a:solidFill>
                  <a:srgbClr val="000000"/>
                </a:solidFill>
                <a:latin typeface="Times New Roman"/>
                <a:ea typeface="Times New Roman"/>
                <a:cs typeface="Times New Roman"/>
              </a:rPr>
              <a:t>HTTP 422 Unprocessable Entity</a:t>
            </a:r>
            <a:r>
              <a:rPr sz="1200" b="0" i="0" u="none">
                <a:solidFill>
                  <a:srgbClr val="000000"/>
                </a:solidFill>
                <a:latin typeface="Times New Roman"/>
                <a:ea typeface="Times New Roman"/>
                <a:cs typeface="Times New Roman"/>
              </a:rPr>
              <a:t> along with a JSON response explaining which fields are missing and what types were expected. The request is rejected during Pydantic validation, and the database is never contacted.</a:t>
            </a:r>
            <a:endParaRPr lang="en-US"/>
          </a:p>
        </p:txBody>
      </p:sp>
      <p:sp>
        <p:nvSpPr>
          <p:cNvPr id="180310728" name="Slide Number Placeholder 3"/>
          <p:cNvSpPr>
            <a:spLocks noGrp="1"/>
          </p:cNvSpPr>
          <p:nvPr>
            <p:ph type="sldNum" sz="quarter" idx="10"/>
          </p:nvPr>
        </p:nvSpPr>
        <p:spPr bwMode="auto"/>
        <p:txBody>
          <a:bodyPr/>
          <a:lstStyle/>
          <a:p>
            <a:pPr>
              <a:defRPr/>
            </a:pPr>
            <a:fld id="{F7021451-1387-4CA6-816F-3879F97B5CBC}" type="slidenum">
              <a:rPr lang="en-US"/>
              <a:t>73</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9541352" name="Slide Image Placeholder 1"/>
          <p:cNvSpPr>
            <a:spLocks noChangeAspect="1" noGrp="1" noRot="1"/>
          </p:cNvSpPr>
          <p:nvPr>
            <p:ph type="sldImg"/>
          </p:nvPr>
        </p:nvSpPr>
        <p:spPr bwMode="auto"/>
      </p:sp>
      <p:sp>
        <p:nvSpPr>
          <p:cNvPr id="154299907"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Step 3: Create &amp; Read Endpoints</a:t>
            </a:r>
            <a:endParaRPr/>
          </a:p>
          <a:p>
            <a:pPr>
              <a:defRPr/>
            </a:pPr>
            <a:r>
              <a:rPr sz="1200" b="0" i="0" u="none">
                <a:solidFill>
                  <a:srgbClr val="000000"/>
                </a:solidFill>
                <a:latin typeface="Times New Roman"/>
                <a:ea typeface="Times New Roman"/>
                <a:cs typeface="Times New Roman"/>
              </a:rPr>
              <a:t>Now that the environment and data models are defined, we can implement the first </a:t>
            </a:r>
            <a:r>
              <a:rPr sz="1200" b="1" i="0" u="none">
                <a:solidFill>
                  <a:srgbClr val="000000"/>
                </a:solidFill>
                <a:latin typeface="Times New Roman"/>
                <a:ea typeface="Times New Roman"/>
                <a:cs typeface="Times New Roman"/>
              </a:rPr>
              <a:t>API endpoints</a:t>
            </a:r>
            <a:r>
              <a:rPr sz="1200" b="0" i="0" u="none">
                <a:solidFill>
                  <a:srgbClr val="000000"/>
                </a:solidFill>
                <a:latin typeface="Times New Roman"/>
                <a:ea typeface="Times New Roman"/>
                <a:cs typeface="Times New Roman"/>
              </a:rPr>
              <a:t> for our service. These endpoints allow the application to </a:t>
            </a:r>
            <a:r>
              <a:rPr sz="1200" b="1" i="0" u="none">
                <a:solidFill>
                  <a:srgbClr val="000000"/>
                </a:solidFill>
                <a:latin typeface="Times New Roman"/>
                <a:ea typeface="Times New Roman"/>
                <a:cs typeface="Times New Roman"/>
              </a:rPr>
              <a:t>create a student record</a:t>
            </a:r>
            <a:r>
              <a:rPr sz="1200" b="0" i="0" u="none">
                <a:solidFill>
                  <a:srgbClr val="000000"/>
                </a:solidFill>
                <a:latin typeface="Times New Roman"/>
                <a:ea typeface="Times New Roman"/>
                <a:cs typeface="Times New Roman"/>
              </a:rPr>
              <a:t> and </a:t>
            </a:r>
            <a:r>
              <a:rPr sz="1200" b="1" i="0" u="none">
                <a:solidFill>
                  <a:srgbClr val="000000"/>
                </a:solidFill>
                <a:latin typeface="Times New Roman"/>
                <a:ea typeface="Times New Roman"/>
                <a:cs typeface="Times New Roman"/>
              </a:rPr>
              <a:t>retrieve a student record</a:t>
            </a:r>
            <a:r>
              <a:rPr sz="1200" b="0" i="0" u="none">
                <a:solidFill>
                  <a:srgbClr val="000000"/>
                </a:solidFill>
                <a:latin typeface="Times New Roman"/>
                <a:ea typeface="Times New Roman"/>
                <a:cs typeface="Times New Roman"/>
              </a:rPr>
              <a:t> from the MongoDB database.</a:t>
            </a:r>
            <a:endParaRPr/>
          </a:p>
          <a:p>
            <a:pPr>
              <a:defRPr/>
            </a:pPr>
            <a:r>
              <a:rPr sz="1200" b="0" i="0" u="none">
                <a:solidFill>
                  <a:srgbClr val="000000"/>
                </a:solidFill>
                <a:latin typeface="Times New Roman"/>
                <a:ea typeface="Times New Roman"/>
                <a:cs typeface="Times New Roman"/>
              </a:rPr>
              <a:t>Example code:</a:t>
            </a:r>
            <a:endParaRPr/>
          </a:p>
          <a:p>
            <a:pPr>
              <a:defRPr/>
            </a:pPr>
            <a:r>
              <a:rPr sz="1000" b="0" i="0" u="none">
                <a:solidFill>
                  <a:srgbClr val="000000"/>
                </a:solidFill>
                <a:latin typeface="Courier New"/>
                <a:ea typeface="Courier New"/>
                <a:cs typeface="Courier New"/>
              </a:rPr>
              <a:t>@app.post('/students/')
async def create(s: Student):
    await db.students.insert_one(s.model_dump())
    return {'status': 'created'}
@app.get('/students/{student_id}')
async def read(student_id: str):
    doc = await db.students.find_one({'student_id': student_id})
    return doc
</a:t>
            </a:r>
            <a:endParaRPr/>
          </a:p>
          <a:p>
            <a:pPr>
              <a:defRPr/>
            </a:pPr>
            <a:r>
              <a:rPr sz="1400" b="1" i="0" u="none">
                <a:solidFill>
                  <a:srgbClr val="000000"/>
                </a:solidFill>
                <a:latin typeface="Times New Roman"/>
                <a:ea typeface="Times New Roman"/>
                <a:cs typeface="Times New Roman"/>
              </a:rPr>
              <a:t>Understanding the POST Endpoint</a:t>
            </a:r>
            <a:endParaRPr/>
          </a:p>
          <a:p>
            <a:pPr>
              <a:defRPr/>
            </a:pPr>
            <a:r>
              <a:rPr sz="1200" b="0" i="0" u="none">
                <a:solidFill>
                  <a:srgbClr val="000000"/>
                </a:solidFill>
                <a:latin typeface="Times New Roman"/>
                <a:ea typeface="Times New Roman"/>
                <a:cs typeface="Times New Roman"/>
              </a:rPr>
              <a:t>The line:</a:t>
            </a:r>
            <a:endParaRPr/>
          </a:p>
          <a:p>
            <a:pPr>
              <a:defRPr/>
            </a:pPr>
            <a:r>
              <a:rPr sz="1000" b="0" i="0" u="none">
                <a:solidFill>
                  <a:srgbClr val="000000"/>
                </a:solidFill>
                <a:latin typeface="Courier New"/>
                <a:ea typeface="Courier New"/>
                <a:cs typeface="Courier New"/>
              </a:rPr>
              <a:t>@app.post('/students/')
</a:t>
            </a:r>
            <a:endParaRPr/>
          </a:p>
          <a:p>
            <a:pPr>
              <a:defRPr/>
            </a:pPr>
            <a:r>
              <a:rPr sz="1200" b="0" i="0" u="none">
                <a:solidFill>
                  <a:srgbClr val="000000"/>
                </a:solidFill>
                <a:latin typeface="Times New Roman"/>
                <a:ea typeface="Times New Roman"/>
                <a:cs typeface="Times New Roman"/>
              </a:rPr>
              <a:t>is a </a:t>
            </a:r>
            <a:r>
              <a:rPr sz="1200" b="1" i="0" u="none">
                <a:solidFill>
                  <a:srgbClr val="000000"/>
                </a:solidFill>
                <a:latin typeface="Times New Roman"/>
                <a:ea typeface="Times New Roman"/>
                <a:cs typeface="Times New Roman"/>
              </a:rPr>
              <a:t>FastAPI decorator</a:t>
            </a:r>
            <a:r>
              <a:rPr sz="1200" b="0" i="0" u="none">
                <a:solidFill>
                  <a:srgbClr val="000000"/>
                </a:solidFill>
                <a:latin typeface="Times New Roman"/>
                <a:ea typeface="Times New Roman"/>
                <a:cs typeface="Times New Roman"/>
              </a:rPr>
              <a:t>. It tells the framework that whenever an HTTP </a:t>
            </a:r>
            <a:r>
              <a:rPr sz="1200" b="1" i="0" u="none">
                <a:solidFill>
                  <a:srgbClr val="000000"/>
                </a:solidFill>
                <a:latin typeface="Times New Roman"/>
                <a:ea typeface="Times New Roman"/>
                <a:cs typeface="Times New Roman"/>
              </a:rPr>
              <a:t>POST request</a:t>
            </a:r>
            <a:r>
              <a:rPr sz="1200" b="0" i="0" u="none">
                <a:solidFill>
                  <a:srgbClr val="000000"/>
                </a:solidFill>
                <a:latin typeface="Times New Roman"/>
                <a:ea typeface="Times New Roman"/>
                <a:cs typeface="Times New Roman"/>
              </a:rPr>
              <a:t> arrives at the path </a:t>
            </a:r>
            <a:r>
              <a:rPr sz="1000" b="0" i="0" u="none">
                <a:solidFill>
                  <a:srgbClr val="000000"/>
                </a:solidFill>
                <a:latin typeface="Courier New"/>
                <a:ea typeface="Courier New"/>
                <a:cs typeface="Courier New"/>
              </a:rPr>
              <a:t>/students/</a:t>
            </a:r>
            <a:r>
              <a:rPr sz="1200" b="0" i="0" u="none">
                <a:solidFill>
                  <a:srgbClr val="000000"/>
                </a:solidFill>
                <a:latin typeface="Times New Roman"/>
                <a:ea typeface="Times New Roman"/>
                <a:cs typeface="Times New Roman"/>
              </a:rPr>
              <a:t>, this function should be executed.</a:t>
            </a:r>
            <a:endParaRPr/>
          </a:p>
          <a:p>
            <a:pPr>
              <a:defRPr/>
            </a:pPr>
            <a:r>
              <a:rPr sz="1200" b="0" i="0" u="none">
                <a:solidFill>
                  <a:srgbClr val="000000"/>
                </a:solidFill>
                <a:latin typeface="Times New Roman"/>
                <a:ea typeface="Times New Roman"/>
                <a:cs typeface="Times New Roman"/>
              </a:rPr>
              <a:t>The function parameter:</a:t>
            </a:r>
            <a:endParaRPr/>
          </a:p>
          <a:p>
            <a:pPr>
              <a:defRPr/>
            </a:pPr>
            <a:r>
              <a:rPr sz="1000" b="0" i="0" u="none">
                <a:solidFill>
                  <a:srgbClr val="000000"/>
                </a:solidFill>
                <a:latin typeface="Courier New"/>
                <a:ea typeface="Courier New"/>
                <a:cs typeface="Courier New"/>
              </a:rPr>
              <a:t>s: Student
</a:t>
            </a:r>
            <a:endParaRPr/>
          </a:p>
          <a:p>
            <a:pPr>
              <a:defRPr/>
            </a:pPr>
            <a:r>
              <a:rPr sz="1200" b="0" i="0" u="none">
                <a:solidFill>
                  <a:srgbClr val="000000"/>
                </a:solidFill>
                <a:latin typeface="Times New Roman"/>
                <a:ea typeface="Times New Roman"/>
                <a:cs typeface="Times New Roman"/>
              </a:rPr>
              <a:t>means that FastAPI expects the request body to contain JSON matching the </a:t>
            </a:r>
            <a:r>
              <a:rPr sz="1200" b="1" i="0" u="none">
                <a:solidFill>
                  <a:srgbClr val="000000"/>
                </a:solidFill>
                <a:latin typeface="Times New Roman"/>
                <a:ea typeface="Times New Roman"/>
                <a:cs typeface="Times New Roman"/>
              </a:rPr>
              <a:t>Student Pydantic model</a:t>
            </a:r>
            <a:r>
              <a:rPr sz="1200" b="0" i="0" u="none">
                <a:solidFill>
                  <a:srgbClr val="000000"/>
                </a:solidFill>
                <a:latin typeface="Times New Roman"/>
                <a:ea typeface="Times New Roman"/>
                <a:cs typeface="Times New Roman"/>
              </a:rPr>
              <a:t>. Before the function runs, FastAPI automatically validates the incoming JSON.</a:t>
            </a:r>
            <a:endParaRPr/>
          </a:p>
          <a:p>
            <a:pPr>
              <a:defRPr/>
            </a:pPr>
            <a:r>
              <a:rPr sz="1200" b="0" i="0" u="none">
                <a:solidFill>
                  <a:srgbClr val="000000"/>
                </a:solidFill>
                <a:latin typeface="Times New Roman"/>
                <a:ea typeface="Times New Roman"/>
                <a:cs typeface="Times New Roman"/>
              </a:rPr>
              <a:t>Inside the function, the line:</a:t>
            </a:r>
            <a:endParaRPr/>
          </a:p>
          <a:p>
            <a:pPr>
              <a:defRPr/>
            </a:pPr>
            <a:r>
              <a:rPr sz="1000" b="0" i="0" u="none">
                <a:solidFill>
                  <a:srgbClr val="000000"/>
                </a:solidFill>
                <a:latin typeface="Courier New"/>
                <a:ea typeface="Courier New"/>
                <a:cs typeface="Courier New"/>
              </a:rPr>
              <a:t>s.model_dump()
</a:t>
            </a:r>
            <a:endParaRPr/>
          </a:p>
          <a:p>
            <a:pPr>
              <a:defRPr/>
            </a:pPr>
            <a:r>
              <a:rPr sz="1200" b="0" i="0" u="none">
                <a:solidFill>
                  <a:srgbClr val="000000"/>
                </a:solidFill>
                <a:latin typeface="Times New Roman"/>
                <a:ea typeface="Times New Roman"/>
                <a:cs typeface="Times New Roman"/>
              </a:rPr>
              <a:t>converts the validated Pydantic model into a </a:t>
            </a:r>
            <a:r>
              <a:rPr sz="1200" b="1" i="0" u="none">
                <a:solidFill>
                  <a:srgbClr val="000000"/>
                </a:solidFill>
                <a:latin typeface="Times New Roman"/>
                <a:ea typeface="Times New Roman"/>
                <a:cs typeface="Times New Roman"/>
              </a:rPr>
              <a:t>standard Python dictionary</a:t>
            </a:r>
            <a:r>
              <a:rPr sz="1200" b="0" i="0" u="none">
                <a:solidFill>
                  <a:srgbClr val="000000"/>
                </a:solidFill>
                <a:latin typeface="Times New Roman"/>
                <a:ea typeface="Times New Roman"/>
                <a:cs typeface="Times New Roman"/>
              </a:rPr>
              <a:t>. This step is required because the MongoDB driver expects a dictionary rather than a custom Python object.</a:t>
            </a:r>
            <a:endParaRPr/>
          </a:p>
          <a:p>
            <a:pPr>
              <a:defRPr/>
            </a:pPr>
            <a:r>
              <a:rPr sz="1200" b="0" i="0" u="none">
                <a:solidFill>
                  <a:srgbClr val="000000"/>
                </a:solidFill>
                <a:latin typeface="Times New Roman"/>
                <a:ea typeface="Times New Roman"/>
                <a:cs typeface="Times New Roman"/>
              </a:rPr>
              <a:t>The dictionary is then stored in the database using:</a:t>
            </a:r>
            <a:endParaRPr/>
          </a:p>
          <a:p>
            <a:pPr>
              <a:defRPr/>
            </a:pPr>
            <a:r>
              <a:rPr sz="1000" b="0" i="0" u="none">
                <a:solidFill>
                  <a:srgbClr val="000000"/>
                </a:solidFill>
                <a:latin typeface="Courier New"/>
                <a:ea typeface="Courier New"/>
                <a:cs typeface="Courier New"/>
              </a:rPr>
              <a:t>await db.students.insert_one(...)
</a:t>
            </a:r>
            <a:endParaRPr/>
          </a:p>
          <a:p>
            <a:pPr>
              <a:defRPr/>
            </a:pPr>
            <a:r>
              <a:rPr sz="1200" b="0" i="0" u="none">
                <a:solidFill>
                  <a:srgbClr val="000000"/>
                </a:solidFill>
                <a:latin typeface="Times New Roman"/>
                <a:ea typeface="Times New Roman"/>
                <a:cs typeface="Times New Roman"/>
              </a:rPr>
              <a:t>This command inserts the document into the </a:t>
            </a:r>
            <a:r>
              <a:rPr sz="1200" b="1" i="0" u="none">
                <a:solidFill>
                  <a:srgbClr val="000000"/>
                </a:solidFill>
                <a:latin typeface="Times New Roman"/>
                <a:ea typeface="Times New Roman"/>
                <a:cs typeface="Times New Roman"/>
              </a:rPr>
              <a:t>students collection</a:t>
            </a:r>
            <a:r>
              <a:rPr sz="1200" b="0" i="0" u="none">
                <a:solidFill>
                  <a:srgbClr val="000000"/>
                </a:solidFill>
                <a:latin typeface="Times New Roman"/>
                <a:ea typeface="Times New Roman"/>
                <a:cs typeface="Times New Roman"/>
              </a:rPr>
              <a:t> in MongoDB.</a:t>
            </a:r>
            <a:endParaRPr/>
          </a:p>
          <a:p>
            <a:pPr>
              <a:defRPr/>
            </a:pPr>
            <a:r>
              <a:rPr sz="1200" b="0" i="0" u="none">
                <a:solidFill>
                  <a:srgbClr val="000000"/>
                </a:solidFill>
                <a:latin typeface="Times New Roman"/>
                <a:ea typeface="Times New Roman"/>
                <a:cs typeface="Times New Roman"/>
              </a:rPr>
              <a:t>Finally, the API returns a simple JSON response indicating success:</a:t>
            </a:r>
            <a:endParaRPr/>
          </a:p>
          <a:p>
            <a:pPr>
              <a:defRPr/>
            </a:pPr>
            <a:r>
              <a:rPr sz="1000" b="0" i="0" u="none">
                <a:solidFill>
                  <a:srgbClr val="000000"/>
                </a:solidFill>
                <a:latin typeface="Courier New"/>
                <a:ea typeface="Courier New"/>
                <a:cs typeface="Courier New"/>
              </a:rPr>
              <a:t>{'status': 'created'}
</a:t>
            </a:r>
            <a:endParaRPr/>
          </a:p>
          <a:p>
            <a:pPr>
              <a:defRPr/>
            </a:pPr>
            <a:r>
              <a:rPr sz="1400" b="1" i="0" u="none">
                <a:solidFill>
                  <a:srgbClr val="000000"/>
                </a:solidFill>
                <a:latin typeface="Times New Roman"/>
                <a:ea typeface="Times New Roman"/>
                <a:cs typeface="Times New Roman"/>
              </a:rPr>
              <a:t>Understanding the GET Endpoint</a:t>
            </a:r>
            <a:endParaRPr/>
          </a:p>
          <a:p>
            <a:pPr>
              <a:defRPr/>
            </a:pPr>
            <a:r>
              <a:rPr sz="1200" b="0" i="0" u="none">
                <a:solidFill>
                  <a:srgbClr val="000000"/>
                </a:solidFill>
                <a:latin typeface="Times New Roman"/>
                <a:ea typeface="Times New Roman"/>
                <a:cs typeface="Times New Roman"/>
              </a:rPr>
              <a:t>The second endpoint handles retrieving a student:</a:t>
            </a:r>
            <a:endParaRPr/>
          </a:p>
          <a:p>
            <a:pPr>
              <a:defRPr/>
            </a:pPr>
            <a:r>
              <a:rPr sz="1000" b="0" i="0" u="none">
                <a:solidFill>
                  <a:srgbClr val="000000"/>
                </a:solidFill>
                <a:latin typeface="Courier New"/>
                <a:ea typeface="Courier New"/>
                <a:cs typeface="Courier New"/>
              </a:rPr>
              <a:t>@app.get('/students/{student_id}')
</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part of the URL is a </a:t>
            </a:r>
            <a:r>
              <a:rPr sz="1200" b="1" i="0" u="none">
                <a:solidFill>
                  <a:srgbClr val="000000"/>
                </a:solidFill>
                <a:latin typeface="Times New Roman"/>
                <a:ea typeface="Times New Roman"/>
                <a:cs typeface="Times New Roman"/>
              </a:rPr>
              <a:t>path parameter</a:t>
            </a:r>
            <a:r>
              <a:rPr sz="1200" b="0" i="0" u="none">
                <a:solidFill>
                  <a:srgbClr val="000000"/>
                </a:solidFill>
                <a:latin typeface="Times New Roman"/>
                <a:ea typeface="Times New Roman"/>
                <a:cs typeface="Times New Roman"/>
              </a:rPr>
              <a:t>. FastAPI automatically extracts this value from the URL and passes it to the function.</a:t>
            </a:r>
            <a:endParaRPr/>
          </a:p>
          <a:p>
            <a:pPr>
              <a:defRPr/>
            </a:pPr>
            <a:r>
              <a:rPr sz="1200" b="0" i="0" u="none">
                <a:solidFill>
                  <a:srgbClr val="000000"/>
                </a:solidFill>
                <a:latin typeface="Times New Roman"/>
                <a:ea typeface="Times New Roman"/>
                <a:cs typeface="Times New Roman"/>
              </a:rPr>
              <a:t>Example request:</a:t>
            </a:r>
            <a:endParaRPr/>
          </a:p>
          <a:p>
            <a:pPr>
              <a:defRPr/>
            </a:pPr>
            <a:r>
              <a:rPr sz="1000" b="0" i="0" u="none">
                <a:solidFill>
                  <a:srgbClr val="000000"/>
                </a:solidFill>
                <a:latin typeface="Courier New"/>
                <a:ea typeface="Courier New"/>
                <a:cs typeface="Courier New"/>
              </a:rPr>
              <a:t>GET /students/101
</a:t>
            </a:r>
            <a:endParaRPr/>
          </a:p>
          <a:p>
            <a:pPr>
              <a:defRPr/>
            </a:pPr>
            <a:r>
              <a:rPr sz="1200" b="0" i="0" u="none">
                <a:solidFill>
                  <a:srgbClr val="000000"/>
                </a:solidFill>
                <a:latin typeface="Times New Roman"/>
                <a:ea typeface="Times New Roman"/>
                <a:cs typeface="Times New Roman"/>
              </a:rPr>
              <a:t>FastAPI will call the function with:</a:t>
            </a:r>
            <a:endParaRPr/>
          </a:p>
          <a:p>
            <a:pPr>
              <a:defRPr/>
            </a:pPr>
            <a:r>
              <a:rPr sz="1000" b="0" i="0" u="none">
                <a:solidFill>
                  <a:srgbClr val="000000"/>
                </a:solidFill>
                <a:latin typeface="Courier New"/>
                <a:ea typeface="Courier New"/>
                <a:cs typeface="Courier New"/>
              </a:rPr>
              <a:t>student_id = "101"
</a:t>
            </a:r>
            <a:endParaRPr/>
          </a:p>
          <a:p>
            <a:pPr>
              <a:defRPr/>
            </a:pPr>
            <a:r>
              <a:rPr sz="1200" b="0" i="0" u="none">
                <a:solidFill>
                  <a:srgbClr val="000000"/>
                </a:solidFill>
                <a:latin typeface="Times New Roman"/>
                <a:ea typeface="Times New Roman"/>
                <a:cs typeface="Times New Roman"/>
              </a:rPr>
              <a:t>Inside the function, the database query:</a:t>
            </a:r>
            <a:endParaRPr/>
          </a:p>
          <a:p>
            <a:pPr>
              <a:defRPr/>
            </a:pPr>
            <a:r>
              <a:rPr sz="1000" b="0" i="0" u="none">
                <a:solidFill>
                  <a:srgbClr val="000000"/>
                </a:solidFill>
                <a:latin typeface="Courier New"/>
                <a:ea typeface="Courier New"/>
                <a:cs typeface="Courier New"/>
              </a:rPr>
              <a:t>doc = await db.students.find_one({'student_id': student_id})
</a:t>
            </a:r>
            <a:endParaRPr/>
          </a:p>
          <a:p>
            <a:pPr>
              <a:defRPr/>
            </a:pPr>
            <a:r>
              <a:rPr sz="1200" b="0" i="0" u="none">
                <a:solidFill>
                  <a:srgbClr val="000000"/>
                </a:solidFill>
                <a:latin typeface="Times New Roman"/>
                <a:ea typeface="Times New Roman"/>
                <a:cs typeface="Times New Roman"/>
              </a:rPr>
              <a:t>searches the students collection for a document whose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field matches the value from the URL.</a:t>
            </a:r>
            <a:endParaRPr/>
          </a:p>
          <a:p>
            <a:pPr>
              <a:defRPr/>
            </a:pPr>
            <a:r>
              <a:rPr sz="1200" b="0" i="0" u="none">
                <a:solidFill>
                  <a:srgbClr val="000000"/>
                </a:solidFill>
                <a:latin typeface="Times New Roman"/>
                <a:ea typeface="Times New Roman"/>
                <a:cs typeface="Times New Roman"/>
              </a:rPr>
              <a:t>The result returned by </a:t>
            </a:r>
            <a:r>
              <a:rPr sz="1000" b="0" i="0" u="none">
                <a:solidFill>
                  <a:srgbClr val="000000"/>
                </a:solidFill>
                <a:latin typeface="Courier New"/>
                <a:ea typeface="Courier New"/>
                <a:cs typeface="Courier New"/>
              </a:rPr>
              <a:t>find_one</a:t>
            </a:r>
            <a:r>
              <a:rPr sz="1200" b="0" i="0" u="none">
                <a:solidFill>
                  <a:srgbClr val="000000"/>
                </a:solidFill>
                <a:latin typeface="Times New Roman"/>
                <a:ea typeface="Times New Roman"/>
                <a:cs typeface="Times New Roman"/>
              </a:rPr>
              <a:t> is either:</a:t>
            </a:r>
            <a:endParaRPr/>
          </a:p>
          <a:p>
            <a:pPr>
              <a:defRPr/>
            </a:pPr>
            <a:r>
              <a:rPr sz="1200" b="0" i="0" u="none">
                <a:solidFill>
                  <a:srgbClr val="000000"/>
                </a:solidFill>
                <a:latin typeface="Times New Roman"/>
                <a:ea typeface="Times New Roman"/>
                <a:cs typeface="Times New Roman"/>
              </a:rPr>
              <a:t>the matching document (as a dictionary), or</a:t>
            </a:r>
            <a:endParaRPr/>
          </a:p>
          <a:p>
            <a:pPr>
              <a:defRPr/>
            </a:pPr>
            <a:r>
              <a:rPr sz="1000" b="0" i="0" u="none">
                <a:solidFill>
                  <a:srgbClr val="000000"/>
                </a:solidFill>
                <a:latin typeface="Courier New"/>
                <a:ea typeface="Courier New"/>
                <a:cs typeface="Courier New"/>
              </a:rPr>
              <a:t>None</a:t>
            </a:r>
            <a:r>
              <a:rPr sz="1200" b="0" i="0" u="none">
                <a:solidFill>
                  <a:srgbClr val="000000"/>
                </a:solidFill>
                <a:latin typeface="Times New Roman"/>
                <a:ea typeface="Times New Roman"/>
                <a:cs typeface="Times New Roman"/>
              </a:rPr>
              <a:t> if no document exists.</a:t>
            </a:r>
            <a:endParaRPr/>
          </a:p>
          <a:p>
            <a:pPr>
              <a:defRPr/>
            </a:pPr>
            <a:r>
              <a:rPr sz="1200" b="0" i="0" u="none">
                <a:solidFill>
                  <a:srgbClr val="000000"/>
                </a:solidFill>
                <a:latin typeface="Times New Roman"/>
                <a:ea typeface="Times New Roman"/>
                <a:cs typeface="Times New Roman"/>
              </a:rPr>
              <a:t>The function then returns this result to the client.</a:t>
            </a:r>
            <a:endParaRPr/>
          </a:p>
          <a:p>
            <a:pPr>
              <a:defRPr/>
            </a:pPr>
            <a:r>
              <a:rPr sz="1400" b="1" i="0" u="none">
                <a:solidFill>
                  <a:srgbClr val="000000"/>
                </a:solidFill>
                <a:latin typeface="Times New Roman"/>
                <a:ea typeface="Times New Roman"/>
                <a:cs typeface="Times New Roman"/>
              </a:rPr>
              <a:t>Why the </a:t>
            </a:r>
            <a:r>
              <a:rPr sz="1150" b="1" i="0" u="none">
                <a:solidFill>
                  <a:srgbClr val="000000"/>
                </a:solidFill>
                <a:latin typeface="Courier New"/>
                <a:ea typeface="Courier New"/>
                <a:cs typeface="Courier New"/>
              </a:rPr>
              <a:t>await</a:t>
            </a:r>
            <a:r>
              <a:rPr sz="1400" b="1" i="0" u="none">
                <a:solidFill>
                  <a:srgbClr val="000000"/>
                </a:solidFill>
                <a:latin typeface="Times New Roman"/>
                <a:ea typeface="Times New Roman"/>
                <a:cs typeface="Times New Roman"/>
              </a:rPr>
              <a:t> Keyword Is Required</a:t>
            </a:r>
            <a:endParaRPr/>
          </a:p>
          <a:p>
            <a:pPr>
              <a:defRPr/>
            </a:pPr>
            <a:r>
              <a:rPr sz="1200" b="0" i="0" u="none">
                <a:solidFill>
                  <a:srgbClr val="000000"/>
                </a:solidFill>
                <a:latin typeface="Times New Roman"/>
                <a:ea typeface="Times New Roman"/>
                <a:cs typeface="Times New Roman"/>
              </a:rPr>
              <a:t>The keyword </a:t>
            </a: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 appears in both database calls because the </a:t>
            </a:r>
            <a:r>
              <a:rPr sz="1200" b="1" i="0" u="none">
                <a:solidFill>
                  <a:srgbClr val="000000"/>
                </a:solidFill>
                <a:latin typeface="Times New Roman"/>
                <a:ea typeface="Times New Roman"/>
                <a:cs typeface="Times New Roman"/>
              </a:rPr>
              <a:t>Motor MongoDB driver is asynchronous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When the API sends a query to MongoDB, the database needs time to respond. Instead of freezing the entire server while waiting, Python’s asynchronous event loop temporarily suspends the function and allows the server to handle other requests.</a:t>
            </a:r>
            <a:endParaRPr/>
          </a:p>
          <a:p>
            <a:pPr>
              <a:defRPr/>
            </a:pPr>
            <a:r>
              <a:rPr sz="1200" b="0" i="0" u="none">
                <a:solidFill>
                  <a:srgbClr val="000000"/>
                </a:solidFill>
                <a:latin typeface="Times New Roman"/>
                <a:ea typeface="Times New Roman"/>
                <a:cs typeface="Times New Roman"/>
              </a:rPr>
              <a:t>This is how a single FastAPI process can handle </a:t>
            </a:r>
            <a:r>
              <a:rPr sz="1200" b="1" i="0" u="none">
                <a:solidFill>
                  <a:srgbClr val="000000"/>
                </a:solidFill>
                <a:latin typeface="Times New Roman"/>
                <a:ea typeface="Times New Roman"/>
                <a:cs typeface="Times New Roman"/>
              </a:rPr>
              <a:t>thousands of simultaneous connections</a:t>
            </a:r>
            <a:r>
              <a:rPr sz="1200" b="0" i="0" u="none">
                <a:solidFill>
                  <a:srgbClr val="000000"/>
                </a:solidFill>
                <a:latin typeface="Times New Roman"/>
                <a:ea typeface="Times New Roman"/>
                <a:cs typeface="Times New Roman"/>
              </a:rPr>
              <a:t> efficiently.</a:t>
            </a:r>
            <a:endParaRPr/>
          </a:p>
          <a:p>
            <a:pPr>
              <a:defRPr/>
            </a:pPr>
            <a:r>
              <a:rPr sz="1200" b="0" i="0" u="none">
                <a:solidFill>
                  <a:srgbClr val="000000"/>
                </a:solidFill>
                <a:latin typeface="Times New Roman"/>
                <a:ea typeface="Times New Roman"/>
                <a:cs typeface="Times New Roman"/>
              </a:rPr>
              <a:t>Without asynchronous I/O, every database request would block the server and severely limit scalability.</a:t>
            </a:r>
            <a:endParaRPr/>
          </a:p>
          <a:p>
            <a:pPr>
              <a:defRPr/>
            </a:pPr>
            <a:r>
              <a:rPr sz="1400" b="1" i="0" u="none">
                <a:solidFill>
                  <a:srgbClr val="000000"/>
                </a:solidFill>
                <a:latin typeface="Times New Roman"/>
                <a:ea typeface="Times New Roman"/>
                <a:cs typeface="Times New Roman"/>
              </a:rPr>
              <a:t>Recommended Production Improvement</a:t>
            </a:r>
            <a:endParaRPr/>
          </a:p>
          <a:p>
            <a:pPr>
              <a:defRPr/>
            </a:pPr>
            <a:r>
              <a:rPr sz="1200" b="0" i="0" u="none">
                <a:solidFill>
                  <a:srgbClr val="000000"/>
                </a:solidFill>
                <a:latin typeface="Times New Roman"/>
                <a:ea typeface="Times New Roman"/>
                <a:cs typeface="Times New Roman"/>
              </a:rPr>
              <a:t>In a real application, the GET endpoint should check whether the document exists.</a:t>
            </a:r>
            <a:endParaRPr/>
          </a:p>
          <a:p>
            <a:pPr>
              <a:defRPr/>
            </a:pPr>
            <a:r>
              <a:rPr sz="1200" b="0" i="0" u="none">
                <a:solidFill>
                  <a:srgbClr val="000000"/>
                </a:solidFill>
                <a:latin typeface="Times New Roman"/>
                <a:ea typeface="Times New Roman"/>
                <a:cs typeface="Times New Roman"/>
              </a:rPr>
              <a:t>If </a:t>
            </a:r>
            <a:r>
              <a:rPr sz="1000" b="0" i="0" u="none">
                <a:solidFill>
                  <a:srgbClr val="000000"/>
                </a:solidFill>
                <a:latin typeface="Courier New"/>
                <a:ea typeface="Courier New"/>
                <a:cs typeface="Courier New"/>
              </a:rPr>
              <a:t>find_one</a:t>
            </a:r>
            <a:r>
              <a:rPr sz="1200" b="0" i="0" u="none">
                <a:solidFill>
                  <a:srgbClr val="000000"/>
                </a:solidFill>
                <a:latin typeface="Times New Roman"/>
                <a:ea typeface="Times New Roman"/>
                <a:cs typeface="Times New Roman"/>
              </a:rPr>
              <a:t> returns </a:t>
            </a:r>
            <a:r>
              <a:rPr sz="1000" b="0" i="0" u="none">
                <a:solidFill>
                  <a:srgbClr val="000000"/>
                </a:solidFill>
                <a:latin typeface="Courier New"/>
                <a:ea typeface="Courier New"/>
                <a:cs typeface="Courier New"/>
              </a:rPr>
              <a:t>None</a:t>
            </a:r>
            <a:r>
              <a:rPr sz="1200" b="0" i="0" u="none">
                <a:solidFill>
                  <a:srgbClr val="000000"/>
                </a:solidFill>
                <a:latin typeface="Times New Roman"/>
                <a:ea typeface="Times New Roman"/>
                <a:cs typeface="Times New Roman"/>
              </a:rPr>
              <a:t>, the API should return a </a:t>
            </a:r>
            <a:r>
              <a:rPr sz="1200" b="1" i="0" u="none">
                <a:solidFill>
                  <a:srgbClr val="000000"/>
                </a:solidFill>
                <a:latin typeface="Times New Roman"/>
                <a:ea typeface="Times New Roman"/>
                <a:cs typeface="Times New Roman"/>
              </a:rPr>
              <a:t>404 Not Found</a:t>
            </a:r>
            <a:r>
              <a:rPr sz="1200" b="0" i="0" u="none">
                <a:solidFill>
                  <a:srgbClr val="000000"/>
                </a:solidFill>
                <a:latin typeface="Times New Roman"/>
                <a:ea typeface="Times New Roman"/>
                <a:cs typeface="Times New Roman"/>
              </a:rPr>
              <a:t> response rather than returning </a:t>
            </a:r>
            <a:r>
              <a:rPr sz="1000" b="0" i="0" u="none">
                <a:solidFill>
                  <a:srgbClr val="000000"/>
                </a:solidFill>
                <a:latin typeface="Courier New"/>
                <a:ea typeface="Courier New"/>
                <a:cs typeface="Courier New"/>
              </a:rPr>
              <a:t>null</a:t>
            </a:r>
            <a:r>
              <a:rPr sz="1200" b="0" i="0" u="none">
                <a:solidFill>
                  <a:srgbClr val="000000"/>
                </a:solidFill>
                <a:latin typeface="Times New Roman"/>
                <a:ea typeface="Times New Roman"/>
                <a:cs typeface="Times New Roman"/>
              </a:rPr>
              <a:t> to the client. Returning </a:t>
            </a:r>
            <a:r>
              <a:rPr sz="1000" b="0" i="0" u="none">
                <a:solidFill>
                  <a:srgbClr val="000000"/>
                </a:solidFill>
                <a:latin typeface="Courier New"/>
                <a:ea typeface="Courier New"/>
                <a:cs typeface="Courier New"/>
              </a:rPr>
              <a:t>null</a:t>
            </a:r>
            <a:r>
              <a:rPr sz="1200" b="0" i="0" u="none">
                <a:solidFill>
                  <a:srgbClr val="000000"/>
                </a:solidFill>
                <a:latin typeface="Times New Roman"/>
                <a:ea typeface="Times New Roman"/>
                <a:cs typeface="Times New Roman"/>
              </a:rPr>
              <a:t> is ambiguous and can confuse frontend developers.</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Why do we use </a:t>
            </a: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 when calling </a:t>
            </a:r>
            <a:r>
              <a:rPr sz="1000" b="0" i="0" u="none">
                <a:solidFill>
                  <a:srgbClr val="000000"/>
                </a:solidFill>
                <a:latin typeface="Courier New"/>
                <a:ea typeface="Courier New"/>
                <a:cs typeface="Courier New"/>
              </a:rPr>
              <a:t>insert_one</a:t>
            </a:r>
            <a:r>
              <a:rPr sz="1200" b="0" i="0" u="none">
                <a:solidFill>
                  <a:srgbClr val="000000"/>
                </a:solidFill>
                <a:latin typeface="Times New Roman"/>
                <a:ea typeface="Times New Roman"/>
                <a:cs typeface="Times New Roman"/>
              </a:rPr>
              <a:t> but not when simply reading a local variable?</a:t>
            </a:r>
            <a:endParaRPr/>
          </a:p>
          <a:p>
            <a:pPr>
              <a:defRPr/>
            </a:pPr>
            <a:r>
              <a:rPr sz="1400" b="1" i="0" u="none">
                <a:solidFill>
                  <a:srgbClr val="000000"/>
                </a:solidFill>
                <a:latin typeface="Times New Roman"/>
                <a:ea typeface="Times New Roman"/>
                <a:cs typeface="Times New Roman"/>
              </a:rPr>
              <a:t>Answer</a:t>
            </a:r>
            <a:endParaRPr/>
          </a:p>
          <a:p>
            <a:pPr>
              <a:defRPr/>
            </a:pP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 is only required when an operation involves </a:t>
            </a:r>
            <a:r>
              <a:rPr sz="1200" b="1" i="0" u="none">
                <a:solidFill>
                  <a:srgbClr val="000000"/>
                </a:solidFill>
                <a:latin typeface="Times New Roman"/>
                <a:ea typeface="Times New Roman"/>
                <a:cs typeface="Times New Roman"/>
              </a:rPr>
              <a:t>waiting for an external resource</a:t>
            </a:r>
            <a:r>
              <a:rPr sz="1200" b="0" i="0" u="none">
                <a:solidFill>
                  <a:srgbClr val="000000"/>
                </a:solidFill>
                <a:latin typeface="Times New Roman"/>
                <a:ea typeface="Times New Roman"/>
                <a:cs typeface="Times New Roman"/>
              </a:rPr>
              <a:t>, such as a database query, an API request, or a file read. These operations take time and should not block the server.</a:t>
            </a:r>
            <a:endParaRPr/>
          </a:p>
          <a:p>
            <a:pPr>
              <a:defRPr/>
            </a:pPr>
            <a:r>
              <a:rPr sz="1200" b="0" i="0" u="none">
                <a:solidFill>
                  <a:srgbClr val="000000"/>
                </a:solidFill>
                <a:latin typeface="Times New Roman"/>
                <a:ea typeface="Times New Roman"/>
                <a:cs typeface="Times New Roman"/>
              </a:rPr>
              <a:t>Reading a local variable happens instantly in memory and does not involve any external system. Therefore it does not require </a:t>
            </a: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 Attempting to use </a:t>
            </a: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 on a normal synchronous operation would cause a </a:t>
            </a:r>
            <a:r>
              <a:rPr sz="1000" b="0" i="0" u="none">
                <a:solidFill>
                  <a:srgbClr val="000000"/>
                </a:solidFill>
                <a:latin typeface="Courier New"/>
                <a:ea typeface="Courier New"/>
                <a:cs typeface="Courier New"/>
              </a:rPr>
              <a:t>TypeError</a:t>
            </a:r>
            <a:r>
              <a:rPr sz="1200" b="0" i="0" u="none">
                <a:solidFill>
                  <a:srgbClr val="000000"/>
                </a:solidFill>
                <a:latin typeface="Times New Roman"/>
                <a:ea typeface="Times New Roman"/>
                <a:cs typeface="Times New Roman"/>
              </a:rPr>
              <a:t>.</a:t>
            </a:r>
            <a:endParaRPr lang="en-US"/>
          </a:p>
        </p:txBody>
      </p:sp>
      <p:sp>
        <p:nvSpPr>
          <p:cNvPr id="1668139077" name="Slide Number Placeholder 3"/>
          <p:cNvSpPr>
            <a:spLocks noGrp="1"/>
          </p:cNvSpPr>
          <p:nvPr>
            <p:ph type="sldNum" sz="quarter" idx="10"/>
          </p:nvPr>
        </p:nvSpPr>
        <p:spPr bwMode="auto"/>
        <p:txBody>
          <a:bodyPr/>
          <a:lstStyle/>
          <a:p>
            <a:pPr>
              <a:defRPr/>
            </a:pPr>
            <a:fld id="{F7021451-1387-4CA6-816F-3879F97B5CBC}" type="slidenum">
              <a:rPr lang="en-US"/>
              <a:t>74</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3157238" name="Slide Image Placeholder 1"/>
          <p:cNvSpPr>
            <a:spLocks noChangeAspect="1" noGrp="1" noRot="1"/>
          </p:cNvSpPr>
          <p:nvPr>
            <p:ph type="sldImg"/>
          </p:nvPr>
        </p:nvSpPr>
        <p:spPr bwMode="auto"/>
      </p:sp>
      <p:sp>
        <p:nvSpPr>
          <p:cNvPr id="1805110938"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Step 4: Delete &amp; Testing with Postman</a:t>
            </a:r>
            <a:endParaRPr/>
          </a:p>
          <a:p>
            <a:pPr>
              <a:defRPr/>
            </a:pPr>
            <a:r>
              <a:rPr sz="1200" b="0" i="0" u="none">
                <a:solidFill>
                  <a:srgbClr val="000000"/>
                </a:solidFill>
                <a:latin typeface="Times New Roman"/>
                <a:ea typeface="Times New Roman"/>
                <a:cs typeface="Times New Roman"/>
              </a:rPr>
              <a:t>After implementing the create and read endpoints, the next step is to add the </a:t>
            </a:r>
            <a:r>
              <a:rPr sz="1200" b="1" i="0" u="none">
                <a:solidFill>
                  <a:srgbClr val="000000"/>
                </a:solidFill>
                <a:latin typeface="Times New Roman"/>
                <a:ea typeface="Times New Roman"/>
                <a:cs typeface="Times New Roman"/>
              </a:rPr>
              <a:t>delete operation</a:t>
            </a:r>
            <a:r>
              <a:rPr sz="1200" b="0" i="0" u="none">
                <a:solidFill>
                  <a:srgbClr val="000000"/>
                </a:solidFill>
                <a:latin typeface="Times New Roman"/>
                <a:ea typeface="Times New Roman"/>
                <a:cs typeface="Times New Roman"/>
              </a:rPr>
              <a:t> and test the API using a request client.</a:t>
            </a:r>
            <a:endParaRPr/>
          </a:p>
          <a:p>
            <a:pPr>
              <a:defRPr/>
            </a:pPr>
            <a:r>
              <a:rPr sz="1200" b="0" i="0" u="none">
                <a:solidFill>
                  <a:srgbClr val="000000"/>
                </a:solidFill>
                <a:latin typeface="Times New Roman"/>
                <a:ea typeface="Times New Roman"/>
                <a:cs typeface="Times New Roman"/>
              </a:rPr>
              <a:t>Example delete endpoint:</a:t>
            </a:r>
            <a:endParaRPr/>
          </a:p>
          <a:p>
            <a:pPr>
              <a:defRPr/>
            </a:pPr>
            <a:r>
              <a:rPr sz="1000" b="0" i="0" u="none">
                <a:solidFill>
                  <a:srgbClr val="000000"/>
                </a:solidFill>
                <a:latin typeface="Courier New"/>
                <a:ea typeface="Courier New"/>
                <a:cs typeface="Courier New"/>
              </a:rPr>
              <a:t>@app.delete('/students/{student_id}')
async def delete(student_id: str):
    await db.students.delete_one({'student_id': student_id})
    return {'status': 'deleted'}
</a:t>
            </a:r>
            <a:endParaRPr/>
          </a:p>
          <a:p>
            <a:pPr>
              <a:defRPr/>
            </a:pPr>
            <a:r>
              <a:rPr sz="1200" b="0" i="0" u="none">
                <a:solidFill>
                  <a:srgbClr val="000000"/>
                </a:solidFill>
                <a:latin typeface="Times New Roman"/>
                <a:ea typeface="Times New Roman"/>
                <a:cs typeface="Times New Roman"/>
              </a:rPr>
              <a:t>This endpoint follows the same structure as the GET endpoint but performs a different database action.</a:t>
            </a:r>
            <a:endParaRPr/>
          </a:p>
          <a:p>
            <a:pPr>
              <a:defRPr/>
            </a:pPr>
            <a:r>
              <a:rPr sz="1200" b="0" i="0" u="none">
                <a:solidFill>
                  <a:srgbClr val="000000"/>
                </a:solidFill>
                <a:latin typeface="Times New Roman"/>
                <a:ea typeface="Times New Roman"/>
                <a:cs typeface="Times New Roman"/>
              </a:rPr>
              <a:t>The decorator</a:t>
            </a:r>
            <a:endParaRPr/>
          </a:p>
          <a:p>
            <a:pPr>
              <a:defRPr/>
            </a:pPr>
            <a:r>
              <a:rPr sz="1000" b="0" i="0" u="none">
                <a:solidFill>
                  <a:srgbClr val="000000"/>
                </a:solidFill>
                <a:latin typeface="Courier New"/>
                <a:ea typeface="Courier New"/>
                <a:cs typeface="Courier New"/>
              </a:rPr>
              <a:t>@app.delete('/students/{student_id}')
</a:t>
            </a:r>
            <a:endParaRPr/>
          </a:p>
          <a:p>
            <a:pPr>
              <a:defRPr/>
            </a:pPr>
            <a:r>
              <a:rPr sz="1200" b="0" i="0" u="none">
                <a:solidFill>
                  <a:srgbClr val="000000"/>
                </a:solidFill>
                <a:latin typeface="Times New Roman"/>
                <a:ea typeface="Times New Roman"/>
                <a:cs typeface="Times New Roman"/>
              </a:rPr>
              <a:t>tells FastAPI that when an HTTP </a:t>
            </a:r>
            <a:r>
              <a:rPr sz="1200" b="1" i="0" u="none">
                <a:solidFill>
                  <a:srgbClr val="000000"/>
                </a:solidFill>
                <a:latin typeface="Times New Roman"/>
                <a:ea typeface="Times New Roman"/>
                <a:cs typeface="Times New Roman"/>
              </a:rPr>
              <a:t>DELETE request</a:t>
            </a:r>
            <a:r>
              <a:rPr sz="1200" b="0" i="0" u="none">
                <a:solidFill>
                  <a:srgbClr val="000000"/>
                </a:solidFill>
                <a:latin typeface="Times New Roman"/>
                <a:ea typeface="Times New Roman"/>
                <a:cs typeface="Times New Roman"/>
              </a:rPr>
              <a:t> arrives at the path </a:t>
            </a:r>
            <a:r>
              <a:rPr sz="1000" b="0" i="0" u="none">
                <a:solidFill>
                  <a:srgbClr val="000000"/>
                </a:solidFill>
                <a:latin typeface="Courier New"/>
                <a:ea typeface="Courier New"/>
                <a:cs typeface="Courier New"/>
              </a:rPr>
              <a:t>/students/{student_id}</a:t>
            </a:r>
            <a:r>
              <a:rPr sz="1200" b="0" i="0" u="none">
                <a:solidFill>
                  <a:srgbClr val="000000"/>
                </a:solidFill>
                <a:latin typeface="Times New Roman"/>
                <a:ea typeface="Times New Roman"/>
                <a:cs typeface="Times New Roman"/>
              </a:rPr>
              <a:t>, the function should execute.</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part of the URL is a </a:t>
            </a:r>
            <a:r>
              <a:rPr sz="1200" b="1" i="0" u="none">
                <a:solidFill>
                  <a:srgbClr val="000000"/>
                </a:solidFill>
                <a:latin typeface="Times New Roman"/>
                <a:ea typeface="Times New Roman"/>
                <a:cs typeface="Times New Roman"/>
              </a:rPr>
              <a:t>path parameter</a:t>
            </a:r>
            <a:r>
              <a:rPr sz="1200" b="0" i="0" u="none">
                <a:solidFill>
                  <a:srgbClr val="000000"/>
                </a:solidFill>
                <a:latin typeface="Times New Roman"/>
                <a:ea typeface="Times New Roman"/>
                <a:cs typeface="Times New Roman"/>
              </a:rPr>
              <a:t>. FastAPI automatically extracts the value from the URL and passes it to the function.</a:t>
            </a:r>
            <a:endParaRPr/>
          </a:p>
          <a:p>
            <a:pPr>
              <a:defRPr/>
            </a:pPr>
            <a:r>
              <a:rPr sz="1200" b="0" i="0" u="none">
                <a:solidFill>
                  <a:srgbClr val="000000"/>
                </a:solidFill>
                <a:latin typeface="Times New Roman"/>
                <a:ea typeface="Times New Roman"/>
                <a:cs typeface="Times New Roman"/>
              </a:rPr>
              <a:t>Inside the function, the database command</a:t>
            </a:r>
            <a:endParaRPr/>
          </a:p>
          <a:p>
            <a:pPr>
              <a:defRPr/>
            </a:pPr>
            <a:r>
              <a:rPr sz="1000" b="0" i="0" u="none">
                <a:solidFill>
                  <a:srgbClr val="000000"/>
                </a:solidFill>
                <a:latin typeface="Courier New"/>
                <a:ea typeface="Courier New"/>
                <a:cs typeface="Courier New"/>
              </a:rPr>
              <a:t>await db.students.delete_one({'student_id': student_id})
</a:t>
            </a:r>
            <a:endParaRPr/>
          </a:p>
          <a:p>
            <a:pPr>
              <a:defRPr/>
            </a:pPr>
            <a:r>
              <a:rPr sz="1200" b="0" i="0" u="none">
                <a:solidFill>
                  <a:srgbClr val="000000"/>
                </a:solidFill>
                <a:latin typeface="Times New Roman"/>
                <a:ea typeface="Times New Roman"/>
                <a:cs typeface="Times New Roman"/>
              </a:rPr>
              <a:t>searches the </a:t>
            </a:r>
            <a:r>
              <a:rPr sz="1000" b="0" i="0" u="none">
                <a:solidFill>
                  <a:srgbClr val="000000"/>
                </a:solidFill>
                <a:latin typeface="Courier New"/>
                <a:ea typeface="Courier New"/>
                <a:cs typeface="Courier New"/>
              </a:rPr>
              <a:t>students</a:t>
            </a:r>
            <a:r>
              <a:rPr sz="1200" b="0" i="0" u="none">
                <a:solidFill>
                  <a:srgbClr val="000000"/>
                </a:solidFill>
                <a:latin typeface="Times New Roman"/>
                <a:ea typeface="Times New Roman"/>
                <a:cs typeface="Times New Roman"/>
              </a:rPr>
              <a:t> collection for a document whose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field matches the provided value and deletes it.</a:t>
            </a:r>
            <a:endParaRPr/>
          </a:p>
          <a:p>
            <a:pPr>
              <a:defRPr/>
            </a:pPr>
            <a:r>
              <a:rPr sz="1200" b="0" i="0" u="none">
                <a:solidFill>
                  <a:srgbClr val="000000"/>
                </a:solidFill>
                <a:latin typeface="Times New Roman"/>
                <a:ea typeface="Times New Roman"/>
                <a:cs typeface="Times New Roman"/>
              </a:rPr>
              <a:t>Because the MongoDB driver is asynchronous, the operation must be preceded by </a:t>
            </a: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 allowing the server to remain responsive while the database processes the request.</a:t>
            </a:r>
            <a:endParaRPr/>
          </a:p>
          <a:p>
            <a:pPr>
              <a:defRPr/>
            </a:pPr>
            <a:r>
              <a:rPr sz="1400" b="1" i="0" u="none">
                <a:solidFill>
                  <a:srgbClr val="000000"/>
                </a:solidFill>
                <a:latin typeface="Times New Roman"/>
                <a:ea typeface="Times New Roman"/>
                <a:cs typeface="Times New Roman"/>
              </a:rPr>
              <a:t>Starting the API Server</a:t>
            </a:r>
            <a:endParaRPr/>
          </a:p>
          <a:p>
            <a:pPr>
              <a:defRPr/>
            </a:pPr>
            <a:r>
              <a:rPr sz="1200" b="0" i="0" u="none">
                <a:solidFill>
                  <a:srgbClr val="000000"/>
                </a:solidFill>
                <a:latin typeface="Times New Roman"/>
                <a:ea typeface="Times New Roman"/>
                <a:cs typeface="Times New Roman"/>
              </a:rPr>
              <a:t>Before testing the endpoints, start the FastAPI server with:</a:t>
            </a:r>
            <a:endParaRPr/>
          </a:p>
          <a:p>
            <a:pPr>
              <a:defRPr/>
            </a:pPr>
            <a:r>
              <a:rPr sz="1000" b="0" i="0" u="none">
                <a:solidFill>
                  <a:srgbClr val="000000"/>
                </a:solidFill>
                <a:latin typeface="Courier New"/>
                <a:ea typeface="Courier New"/>
                <a:cs typeface="Courier New"/>
              </a:rPr>
              <a:t>uvicorn main:app --reload
</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--reload</a:t>
            </a:r>
            <a:r>
              <a:rPr sz="1200" b="0" i="0" u="none">
                <a:solidFill>
                  <a:srgbClr val="000000"/>
                </a:solidFill>
                <a:latin typeface="Times New Roman"/>
                <a:ea typeface="Times New Roman"/>
                <a:cs typeface="Times New Roman"/>
              </a:rPr>
              <a:t> flag restarts the server automatically whenever the source code changes, which makes development faster.</a:t>
            </a:r>
            <a:endParaRPr/>
          </a:p>
          <a:p>
            <a:pPr>
              <a:defRPr/>
            </a:pPr>
            <a:r>
              <a:rPr sz="1200" b="0" i="0" u="none">
                <a:solidFill>
                  <a:srgbClr val="000000"/>
                </a:solidFill>
                <a:latin typeface="Times New Roman"/>
                <a:ea typeface="Times New Roman"/>
                <a:cs typeface="Times New Roman"/>
              </a:rPr>
              <a:t>Once the server is running, the API will be available at:</a:t>
            </a:r>
            <a:endParaRPr/>
          </a:p>
          <a:p>
            <a:pPr>
              <a:defRPr/>
            </a:pPr>
            <a:r>
              <a:rPr sz="1000" b="0" i="0" u="none">
                <a:solidFill>
                  <a:srgbClr val="000000"/>
                </a:solidFill>
                <a:latin typeface="Courier New"/>
                <a:ea typeface="Courier New"/>
                <a:cs typeface="Courier New"/>
              </a:rPr>
              <a:t>http://localhost:8000
</a:t>
            </a:r>
            <a:endParaRPr/>
          </a:p>
          <a:p>
            <a:pPr>
              <a:defRPr/>
            </a:pPr>
            <a:r>
              <a:rPr sz="1400" b="1" i="0" u="none">
                <a:solidFill>
                  <a:srgbClr val="000000"/>
                </a:solidFill>
                <a:latin typeface="Times New Roman"/>
                <a:ea typeface="Times New Roman"/>
                <a:cs typeface="Times New Roman"/>
              </a:rPr>
              <a:t>Testing the API with Postman</a:t>
            </a:r>
            <a:endParaRPr/>
          </a:p>
          <a:p>
            <a:pPr>
              <a:defRPr/>
            </a:pPr>
            <a:r>
              <a:rPr sz="1200" b="0" i="0" u="none">
                <a:solidFill>
                  <a:srgbClr val="000000"/>
                </a:solidFill>
                <a:latin typeface="Times New Roman"/>
                <a:ea typeface="Times New Roman"/>
                <a:cs typeface="Times New Roman"/>
              </a:rPr>
              <a:t>Postman is a tool that allows you to send HTTP requests manually and inspect the responses.</a:t>
            </a:r>
            <a:endParaRPr/>
          </a:p>
          <a:p>
            <a:pPr>
              <a:defRPr/>
            </a:pPr>
            <a:r>
              <a:rPr sz="1200" b="1" i="0" u="none">
                <a:solidFill>
                  <a:srgbClr val="000000"/>
                </a:solidFill>
                <a:latin typeface="Times New Roman"/>
                <a:ea typeface="Times New Roman"/>
                <a:cs typeface="Times New Roman"/>
              </a:rPr>
              <a:t>Step 1 — Create a Student</a:t>
            </a:r>
            <a:endParaRPr/>
          </a:p>
          <a:p>
            <a:pPr>
              <a:defRPr/>
            </a:pPr>
            <a:r>
              <a:rPr sz="1200" b="0" i="0" u="none">
                <a:solidFill>
                  <a:srgbClr val="000000"/>
                </a:solidFill>
                <a:latin typeface="Times New Roman"/>
                <a:ea typeface="Times New Roman"/>
                <a:cs typeface="Times New Roman"/>
              </a:rPr>
              <a:t>Open Postman and create a new request tab.</a:t>
            </a:r>
            <a:endParaRPr/>
          </a:p>
          <a:p>
            <a:pPr>
              <a:defRPr/>
            </a:pPr>
            <a:r>
              <a:rPr sz="1200" b="0" i="0" u="none">
                <a:solidFill>
                  <a:srgbClr val="000000"/>
                </a:solidFill>
                <a:latin typeface="Times New Roman"/>
                <a:ea typeface="Times New Roman"/>
                <a:cs typeface="Times New Roman"/>
              </a:rPr>
              <a:t>Select the </a:t>
            </a:r>
            <a:r>
              <a:rPr sz="1200" b="1" i="0" u="none">
                <a:solidFill>
                  <a:srgbClr val="000000"/>
                </a:solidFill>
                <a:latin typeface="Times New Roman"/>
                <a:ea typeface="Times New Roman"/>
                <a:cs typeface="Times New Roman"/>
              </a:rPr>
              <a:t>POST</a:t>
            </a:r>
            <a:r>
              <a:rPr sz="1200" b="0" i="0" u="none">
                <a:solidFill>
                  <a:srgbClr val="000000"/>
                </a:solidFill>
                <a:latin typeface="Times New Roman"/>
                <a:ea typeface="Times New Roman"/>
                <a:cs typeface="Times New Roman"/>
              </a:rPr>
              <a:t> method.</a:t>
            </a:r>
            <a:endParaRPr/>
          </a:p>
          <a:p>
            <a:pPr>
              <a:defRPr/>
            </a:pPr>
            <a:r>
              <a:rPr sz="1200" b="0" i="0" u="none">
                <a:solidFill>
                  <a:srgbClr val="000000"/>
                </a:solidFill>
                <a:latin typeface="Times New Roman"/>
                <a:ea typeface="Times New Roman"/>
                <a:cs typeface="Times New Roman"/>
              </a:rPr>
              <a:t>Enter the URL:</a:t>
            </a:r>
            <a:endParaRPr/>
          </a:p>
          <a:p>
            <a:pPr>
              <a:defRPr/>
            </a:pPr>
            <a:r>
              <a:rPr sz="1000" b="0" i="0" u="none">
                <a:solidFill>
                  <a:srgbClr val="000000"/>
                </a:solidFill>
                <a:latin typeface="Courier New"/>
                <a:ea typeface="Courier New"/>
                <a:cs typeface="Courier New"/>
              </a:rPr>
              <a:t>http://localhost:8000/students/
</a:t>
            </a:r>
            <a:endParaRPr/>
          </a:p>
          <a:p>
            <a:pPr>
              <a:defRPr/>
            </a:pPr>
            <a:r>
              <a:rPr sz="1200" b="0" i="0" u="none">
                <a:solidFill>
                  <a:srgbClr val="000000"/>
                </a:solidFill>
                <a:latin typeface="Times New Roman"/>
                <a:ea typeface="Times New Roman"/>
                <a:cs typeface="Times New Roman"/>
              </a:rPr>
              <a:t>Click the </a:t>
            </a:r>
            <a:r>
              <a:rPr sz="1200" b="1" i="0" u="none">
                <a:solidFill>
                  <a:srgbClr val="000000"/>
                </a:solidFill>
                <a:latin typeface="Times New Roman"/>
                <a:ea typeface="Times New Roman"/>
                <a:cs typeface="Times New Roman"/>
              </a:rPr>
              <a:t>Body</a:t>
            </a:r>
            <a:r>
              <a:rPr sz="1200" b="0" i="0" u="none">
                <a:solidFill>
                  <a:srgbClr val="000000"/>
                </a:solidFill>
                <a:latin typeface="Times New Roman"/>
                <a:ea typeface="Times New Roman"/>
                <a:cs typeface="Times New Roman"/>
              </a:rPr>
              <a:t> tab.</a:t>
            </a:r>
            <a:endParaRPr/>
          </a:p>
          <a:p>
            <a:pPr>
              <a:defRPr/>
            </a:pPr>
            <a:r>
              <a:rPr sz="1200" b="0" i="0" u="none">
                <a:solidFill>
                  <a:srgbClr val="000000"/>
                </a:solidFill>
                <a:latin typeface="Times New Roman"/>
                <a:ea typeface="Times New Roman"/>
                <a:cs typeface="Times New Roman"/>
              </a:rPr>
              <a:t>Select </a:t>
            </a:r>
            <a:r>
              <a:rPr sz="1200" b="1" i="0" u="none">
                <a:solidFill>
                  <a:srgbClr val="000000"/>
                </a:solidFill>
                <a:latin typeface="Times New Roman"/>
                <a:ea typeface="Times New Roman"/>
                <a:cs typeface="Times New Roman"/>
              </a:rPr>
              <a:t>raw</a:t>
            </a:r>
            <a:r>
              <a:rPr sz="1200" b="0" i="0" u="none">
                <a:solidFill>
                  <a:srgbClr val="000000"/>
                </a:solidFill>
                <a:latin typeface="Times New Roman"/>
                <a:ea typeface="Times New Roman"/>
                <a:cs typeface="Times New Roman"/>
              </a:rPr>
              <a:t> and choose </a:t>
            </a:r>
            <a:r>
              <a:rPr sz="1200" b="1" i="0" u="none">
                <a:solidFill>
                  <a:srgbClr val="000000"/>
                </a:solidFill>
                <a:latin typeface="Times New Roman"/>
                <a:ea typeface="Times New Roman"/>
                <a:cs typeface="Times New Roman"/>
              </a:rPr>
              <a:t>JSON</a:t>
            </a:r>
            <a:r>
              <a:rPr sz="1200" b="0" i="0" u="none">
                <a:solidFill>
                  <a:srgbClr val="000000"/>
                </a:solidFill>
                <a:latin typeface="Times New Roman"/>
                <a:ea typeface="Times New Roman"/>
                <a:cs typeface="Times New Roman"/>
              </a:rPr>
              <a:t> as the format.</a:t>
            </a:r>
            <a:endParaRPr/>
          </a:p>
          <a:p>
            <a:pPr>
              <a:defRPr/>
            </a:pPr>
            <a:r>
              <a:rPr sz="1200" b="0" i="0" u="none">
                <a:solidFill>
                  <a:srgbClr val="000000"/>
                </a:solidFill>
                <a:latin typeface="Times New Roman"/>
                <a:ea typeface="Times New Roman"/>
                <a:cs typeface="Times New Roman"/>
              </a:rPr>
              <a:t>Enter a JSON object such as:</a:t>
            </a:r>
            <a:endParaRPr/>
          </a:p>
          <a:p>
            <a:pPr>
              <a:defRPr/>
            </a:pPr>
            <a:r>
              <a:rPr sz="1000" b="0" i="0" u="none">
                <a:solidFill>
                  <a:srgbClr val="000000"/>
                </a:solidFill>
                <a:latin typeface="Courier New"/>
                <a:ea typeface="Courier New"/>
                <a:cs typeface="Courier New"/>
              </a:rPr>
              <a:t>{
  "student_id": "101",
  "name": "Ana",
  "grade": 3
}
</a:t>
            </a:r>
            <a:endParaRPr/>
          </a:p>
          <a:p>
            <a:pPr>
              <a:defRPr/>
            </a:pPr>
            <a:r>
              <a:rPr sz="1200" b="0" i="0" u="none">
                <a:solidFill>
                  <a:srgbClr val="000000"/>
                </a:solidFill>
                <a:latin typeface="Times New Roman"/>
                <a:ea typeface="Times New Roman"/>
                <a:cs typeface="Times New Roman"/>
              </a:rPr>
              <a:t>Click </a:t>
            </a:r>
            <a:r>
              <a:rPr sz="1200" b="1" i="0" u="none">
                <a:solidFill>
                  <a:srgbClr val="000000"/>
                </a:solidFill>
                <a:latin typeface="Times New Roman"/>
                <a:ea typeface="Times New Roman"/>
                <a:cs typeface="Times New Roman"/>
              </a:rPr>
              <a:t>Send</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The response panel will display the returned JSON and the HTTP status code.</a:t>
            </a:r>
            <a:endParaRPr/>
          </a:p>
          <a:p>
            <a:pPr>
              <a:defRPr/>
            </a:pPr>
            <a:r>
              <a:rPr sz="1200" b="1" i="0" u="none">
                <a:solidFill>
                  <a:srgbClr val="000000"/>
                </a:solidFill>
                <a:latin typeface="Times New Roman"/>
                <a:ea typeface="Times New Roman"/>
                <a:cs typeface="Times New Roman"/>
              </a:rPr>
              <a:t>Step 2 — Read the Student</a:t>
            </a:r>
            <a:endParaRPr/>
          </a:p>
          <a:p>
            <a:pPr>
              <a:defRPr/>
            </a:pPr>
            <a:r>
              <a:rPr sz="1200" b="0" i="0" u="none">
                <a:solidFill>
                  <a:srgbClr val="000000"/>
                </a:solidFill>
                <a:latin typeface="Times New Roman"/>
                <a:ea typeface="Times New Roman"/>
                <a:cs typeface="Times New Roman"/>
              </a:rPr>
              <a:t>Change the request method to </a:t>
            </a:r>
            <a:r>
              <a:rPr sz="1200" b="1" i="0" u="none">
                <a:solidFill>
                  <a:srgbClr val="000000"/>
                </a:solidFill>
                <a:latin typeface="Times New Roman"/>
                <a:ea typeface="Times New Roman"/>
                <a:cs typeface="Times New Roman"/>
              </a:rPr>
              <a:t>GET</a:t>
            </a:r>
            <a:r>
              <a:rPr sz="1200" b="0" i="0" u="none">
                <a:solidFill>
                  <a:srgbClr val="000000"/>
                </a:solidFill>
                <a:latin typeface="Times New Roman"/>
                <a:ea typeface="Times New Roman"/>
                <a:cs typeface="Times New Roman"/>
              </a:rPr>
              <a:t> and use the URL:</a:t>
            </a:r>
            <a:endParaRPr/>
          </a:p>
          <a:p>
            <a:pPr>
              <a:defRPr/>
            </a:pPr>
            <a:r>
              <a:rPr sz="1000" b="0" i="0" u="none">
                <a:solidFill>
                  <a:srgbClr val="000000"/>
                </a:solidFill>
                <a:latin typeface="Courier New"/>
                <a:ea typeface="Courier New"/>
                <a:cs typeface="Courier New"/>
              </a:rPr>
              <a:t>http://localhost:8000/students/101
</a:t>
            </a:r>
            <a:endParaRPr/>
          </a:p>
          <a:p>
            <a:pPr>
              <a:defRPr/>
            </a:pPr>
            <a:r>
              <a:rPr sz="1200" b="0" i="0" u="none">
                <a:solidFill>
                  <a:srgbClr val="000000"/>
                </a:solidFill>
                <a:latin typeface="Times New Roman"/>
                <a:ea typeface="Times New Roman"/>
                <a:cs typeface="Times New Roman"/>
              </a:rPr>
              <a:t>Click </a:t>
            </a:r>
            <a:r>
              <a:rPr sz="1200" b="1" i="0" u="none">
                <a:solidFill>
                  <a:srgbClr val="000000"/>
                </a:solidFill>
                <a:latin typeface="Times New Roman"/>
                <a:ea typeface="Times New Roman"/>
                <a:cs typeface="Times New Roman"/>
              </a:rPr>
              <a:t>Send</a:t>
            </a:r>
            <a:r>
              <a:rPr sz="1200" b="0" i="0" u="none">
                <a:solidFill>
                  <a:srgbClr val="000000"/>
                </a:solidFill>
                <a:latin typeface="Times New Roman"/>
                <a:ea typeface="Times New Roman"/>
                <a:cs typeface="Times New Roman"/>
              </a:rPr>
              <a:t>. The API should return the student document stored in MongoDB.</a:t>
            </a:r>
            <a:endParaRPr/>
          </a:p>
          <a:p>
            <a:pPr>
              <a:defRPr/>
            </a:pPr>
            <a:r>
              <a:rPr sz="1200" b="1" i="0" u="none">
                <a:solidFill>
                  <a:srgbClr val="000000"/>
                </a:solidFill>
                <a:latin typeface="Times New Roman"/>
                <a:ea typeface="Times New Roman"/>
                <a:cs typeface="Times New Roman"/>
              </a:rPr>
              <a:t>Step 3 — Delete the Student</a:t>
            </a:r>
            <a:endParaRPr/>
          </a:p>
          <a:p>
            <a:pPr>
              <a:defRPr/>
            </a:pPr>
            <a:r>
              <a:rPr sz="1200" b="0" i="0" u="none">
                <a:solidFill>
                  <a:srgbClr val="000000"/>
                </a:solidFill>
                <a:latin typeface="Times New Roman"/>
                <a:ea typeface="Times New Roman"/>
                <a:cs typeface="Times New Roman"/>
              </a:rPr>
              <a:t>Change the request method to </a:t>
            </a:r>
            <a:r>
              <a:rPr sz="1200" b="1" i="0" u="none">
                <a:solidFill>
                  <a:srgbClr val="000000"/>
                </a:solidFill>
                <a:latin typeface="Times New Roman"/>
                <a:ea typeface="Times New Roman"/>
                <a:cs typeface="Times New Roman"/>
              </a:rPr>
              <a:t>DELETE</a:t>
            </a:r>
            <a:r>
              <a:rPr sz="1200" b="0" i="0" u="none">
                <a:solidFill>
                  <a:srgbClr val="000000"/>
                </a:solidFill>
                <a:latin typeface="Times New Roman"/>
                <a:ea typeface="Times New Roman"/>
                <a:cs typeface="Times New Roman"/>
              </a:rPr>
              <a:t> and use the same URL:</a:t>
            </a:r>
            <a:endParaRPr/>
          </a:p>
          <a:p>
            <a:pPr>
              <a:defRPr/>
            </a:pPr>
            <a:r>
              <a:rPr sz="1000" b="0" i="0" u="none">
                <a:solidFill>
                  <a:srgbClr val="000000"/>
                </a:solidFill>
                <a:latin typeface="Courier New"/>
                <a:ea typeface="Courier New"/>
                <a:cs typeface="Courier New"/>
              </a:rPr>
              <a:t>http://localhost:8000/students/101
</a:t>
            </a:r>
            <a:endParaRPr/>
          </a:p>
          <a:p>
            <a:pPr>
              <a:defRPr/>
            </a:pPr>
            <a:r>
              <a:rPr sz="1200" b="0" i="0" u="none">
                <a:solidFill>
                  <a:srgbClr val="000000"/>
                </a:solidFill>
                <a:latin typeface="Times New Roman"/>
                <a:ea typeface="Times New Roman"/>
                <a:cs typeface="Times New Roman"/>
              </a:rPr>
              <a:t>Click </a:t>
            </a:r>
            <a:r>
              <a:rPr sz="1200" b="1" i="0" u="none">
                <a:solidFill>
                  <a:srgbClr val="000000"/>
                </a:solidFill>
                <a:latin typeface="Times New Roman"/>
                <a:ea typeface="Times New Roman"/>
                <a:cs typeface="Times New Roman"/>
              </a:rPr>
              <a:t>Send</a:t>
            </a:r>
            <a:r>
              <a:rPr sz="1200" b="0" i="0" u="none">
                <a:solidFill>
                  <a:srgbClr val="000000"/>
                </a:solidFill>
                <a:latin typeface="Times New Roman"/>
                <a:ea typeface="Times New Roman"/>
                <a:cs typeface="Times New Roman"/>
              </a:rPr>
              <a:t>. The API will remove the document from the database.</a:t>
            </a:r>
            <a:endParaRPr/>
          </a:p>
          <a:p>
            <a:pPr>
              <a:defRPr/>
            </a:pPr>
            <a:r>
              <a:rPr sz="1400" b="1" i="0" u="none">
                <a:solidFill>
                  <a:srgbClr val="000000"/>
                </a:solidFill>
                <a:latin typeface="Times New Roman"/>
                <a:ea typeface="Times New Roman"/>
                <a:cs typeface="Times New Roman"/>
              </a:rPr>
              <a:t>Alternative Testing Method</a:t>
            </a:r>
            <a:endParaRPr/>
          </a:p>
          <a:p>
            <a:pPr>
              <a:defRPr/>
            </a:pPr>
            <a:r>
              <a:rPr sz="1200" b="0" i="0" u="none">
                <a:solidFill>
                  <a:srgbClr val="000000"/>
                </a:solidFill>
                <a:latin typeface="Times New Roman"/>
                <a:ea typeface="Times New Roman"/>
                <a:cs typeface="Times New Roman"/>
              </a:rPr>
              <a:t>FastAPI also provides a built-in testing interface called </a:t>
            </a:r>
            <a:r>
              <a:rPr sz="1200" b="1" i="0" u="none">
                <a:solidFill>
                  <a:srgbClr val="000000"/>
                </a:solidFill>
                <a:latin typeface="Times New Roman"/>
                <a:ea typeface="Times New Roman"/>
                <a:cs typeface="Times New Roman"/>
              </a:rPr>
              <a:t>Swagger UI</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Open the browser at:</a:t>
            </a:r>
            <a:endParaRPr/>
          </a:p>
          <a:p>
            <a:pPr>
              <a:defRPr/>
            </a:pPr>
            <a:r>
              <a:rPr sz="1000" b="0" i="0" u="none">
                <a:solidFill>
                  <a:srgbClr val="000000"/>
                </a:solidFill>
                <a:latin typeface="Courier New"/>
                <a:ea typeface="Courier New"/>
                <a:cs typeface="Courier New"/>
              </a:rPr>
              <a:t>http://localhost:8000/docs
</a:t>
            </a:r>
            <a:endParaRPr/>
          </a:p>
          <a:p>
            <a:pPr>
              <a:defRPr/>
            </a:pPr>
            <a:r>
              <a:rPr sz="1200" b="0" i="0" u="none">
                <a:solidFill>
                  <a:srgbClr val="000000"/>
                </a:solidFill>
                <a:latin typeface="Times New Roman"/>
                <a:ea typeface="Times New Roman"/>
                <a:cs typeface="Times New Roman"/>
              </a:rPr>
              <a:t>This page automatically lists all API endpoints as interactive forms. You can fill in parameters, press </a:t>
            </a:r>
            <a:r>
              <a:rPr sz="1200" b="1" i="0" u="none">
                <a:solidFill>
                  <a:srgbClr val="000000"/>
                </a:solidFill>
                <a:latin typeface="Times New Roman"/>
                <a:ea typeface="Times New Roman"/>
                <a:cs typeface="Times New Roman"/>
              </a:rPr>
              <a:t>Execute</a:t>
            </a:r>
            <a:r>
              <a:rPr sz="1200" b="0" i="0" u="none">
                <a:solidFill>
                  <a:srgbClr val="000000"/>
                </a:solidFill>
                <a:latin typeface="Times New Roman"/>
                <a:ea typeface="Times New Roman"/>
                <a:cs typeface="Times New Roman"/>
              </a:rPr>
              <a:t>, and see the request and response immediately.</a:t>
            </a:r>
            <a:endParaRPr/>
          </a:p>
          <a:p>
            <a:pPr>
              <a:defRPr/>
            </a:pPr>
            <a:r>
              <a:rPr sz="1200" b="0" i="0" u="none">
                <a:solidFill>
                  <a:srgbClr val="000000"/>
                </a:solidFill>
                <a:latin typeface="Times New Roman"/>
                <a:ea typeface="Times New Roman"/>
                <a:cs typeface="Times New Roman"/>
              </a:rPr>
              <a:t>Swagger UI is extremely useful because it requires </a:t>
            </a:r>
            <a:r>
              <a:rPr sz="1200" b="1" i="0" u="none">
                <a:solidFill>
                  <a:srgbClr val="000000"/>
                </a:solidFill>
                <a:latin typeface="Times New Roman"/>
                <a:ea typeface="Times New Roman"/>
                <a:cs typeface="Times New Roman"/>
              </a:rPr>
              <a:t>no external tools</a:t>
            </a:r>
            <a:r>
              <a:rPr sz="1200" b="0" i="0" u="none">
                <a:solidFill>
                  <a:srgbClr val="000000"/>
                </a:solidFill>
                <a:latin typeface="Times New Roman"/>
                <a:ea typeface="Times New Roman"/>
                <a:cs typeface="Times New Roman"/>
              </a:rPr>
              <a:t> and is automatically generated from the FastAPI code.</a:t>
            </a:r>
            <a:endParaRPr/>
          </a:p>
          <a:p>
            <a:pPr>
              <a:defRPr/>
            </a:pPr>
            <a:r>
              <a:rPr sz="1400" b="1" i="0" u="none">
                <a:solidFill>
                  <a:srgbClr val="000000"/>
                </a:solidFill>
                <a:latin typeface="Times New Roman"/>
                <a:ea typeface="Times New Roman"/>
                <a:cs typeface="Times New Roman"/>
              </a:rPr>
              <a:t>Real Project Practice</a:t>
            </a:r>
            <a:endParaRPr/>
          </a:p>
          <a:p>
            <a:pPr>
              <a:defRPr/>
            </a:pPr>
            <a:r>
              <a:rPr sz="1200" b="0" i="0" u="none">
                <a:solidFill>
                  <a:srgbClr val="000000"/>
                </a:solidFill>
                <a:latin typeface="Times New Roman"/>
                <a:ea typeface="Times New Roman"/>
                <a:cs typeface="Times New Roman"/>
              </a:rPr>
              <a:t>In professional teams, API requests used for testing are usually saved as a </a:t>
            </a:r>
            <a:r>
              <a:rPr sz="1200" b="1" i="0" u="none">
                <a:solidFill>
                  <a:srgbClr val="000000"/>
                </a:solidFill>
                <a:latin typeface="Times New Roman"/>
                <a:ea typeface="Times New Roman"/>
                <a:cs typeface="Times New Roman"/>
              </a:rPr>
              <a:t>Postman Collection</a:t>
            </a:r>
            <a:r>
              <a:rPr sz="1200" b="0" i="0" u="none">
                <a:solidFill>
                  <a:srgbClr val="000000"/>
                </a:solidFill>
                <a:latin typeface="Times New Roman"/>
                <a:ea typeface="Times New Roman"/>
                <a:cs typeface="Times New Roman"/>
              </a:rPr>
              <a:t> and committed to the project repository. New developers can import the collection and immediately access all predefined requests, eliminating the need to recreate test scenarios manually.</a:t>
            </a:r>
            <a:endParaRPr/>
          </a:p>
          <a:p>
            <a:pPr>
              <a:defRPr/>
            </a:pPr>
            <a:r>
              <a:rPr sz="1400" b="1" i="0" u="none">
                <a:solidFill>
                  <a:srgbClr val="000000"/>
                </a:solidFill>
                <a:latin typeface="Times New Roman"/>
                <a:ea typeface="Times New Roman"/>
                <a:cs typeface="Times New Roman"/>
              </a:rPr>
              <a:t>Question</a:t>
            </a:r>
            <a:endParaRPr/>
          </a:p>
          <a:p>
            <a:pPr>
              <a:defRPr/>
            </a:pPr>
            <a:r>
              <a:rPr sz="1200" b="0" i="0" u="none">
                <a:solidFill>
                  <a:srgbClr val="000000"/>
                </a:solidFill>
                <a:latin typeface="Times New Roman"/>
                <a:ea typeface="Times New Roman"/>
                <a:cs typeface="Times New Roman"/>
              </a:rPr>
              <a:t>After successfully deleting student </a:t>
            </a:r>
            <a:r>
              <a:rPr sz="1000" b="0" i="0" u="none">
                <a:solidFill>
                  <a:srgbClr val="000000"/>
                </a:solidFill>
                <a:latin typeface="Courier New"/>
                <a:ea typeface="Courier New"/>
                <a:cs typeface="Courier New"/>
              </a:rPr>
              <a:t>101</a:t>
            </a:r>
            <a:r>
              <a:rPr sz="1200" b="0" i="0" u="none">
                <a:solidFill>
                  <a:srgbClr val="000000"/>
                </a:solidFill>
                <a:latin typeface="Times New Roman"/>
                <a:ea typeface="Times New Roman"/>
                <a:cs typeface="Times New Roman"/>
              </a:rPr>
              <a:t>, what should a GET request for the same student return?</a:t>
            </a:r>
            <a:endParaRPr/>
          </a:p>
          <a:p>
            <a:pPr>
              <a:defRPr/>
            </a:pPr>
            <a:r>
              <a:rPr sz="1400" b="1" i="0" u="none">
                <a:solidFill>
                  <a:srgbClr val="000000"/>
                </a:solidFill>
                <a:latin typeface="Times New Roman"/>
                <a:ea typeface="Times New Roman"/>
                <a:cs typeface="Times New Roman"/>
              </a:rPr>
              <a:t>Answer</a:t>
            </a:r>
            <a:endParaRPr/>
          </a:p>
          <a:p>
            <a:pPr>
              <a:defRPr/>
            </a:pPr>
            <a:r>
              <a:rPr sz="1200" b="0" i="0" u="none">
                <a:solidFill>
                  <a:srgbClr val="000000"/>
                </a:solidFill>
                <a:latin typeface="Times New Roman"/>
                <a:ea typeface="Times New Roman"/>
                <a:cs typeface="Times New Roman"/>
              </a:rPr>
              <a:t>The database query </a:t>
            </a:r>
            <a:r>
              <a:rPr sz="1000" b="0" i="0" u="none">
                <a:solidFill>
                  <a:srgbClr val="000000"/>
                </a:solidFill>
                <a:latin typeface="Courier New"/>
                <a:ea typeface="Courier New"/>
                <a:cs typeface="Courier New"/>
              </a:rPr>
              <a:t>find_one</a:t>
            </a:r>
            <a:r>
              <a:rPr sz="1200" b="0" i="0" u="none">
                <a:solidFill>
                  <a:srgbClr val="000000"/>
                </a:solidFill>
                <a:latin typeface="Times New Roman"/>
                <a:ea typeface="Times New Roman"/>
                <a:cs typeface="Times New Roman"/>
              </a:rPr>
              <a:t> will return </a:t>
            </a:r>
            <a:r>
              <a:rPr sz="1000" b="0" i="0" u="none">
                <a:solidFill>
                  <a:srgbClr val="000000"/>
                </a:solidFill>
                <a:latin typeface="Courier New"/>
                <a:ea typeface="Courier New"/>
                <a:cs typeface="Courier New"/>
              </a:rPr>
              <a:t>None</a:t>
            </a:r>
            <a:r>
              <a:rPr sz="1200" b="0" i="0" u="none">
                <a:solidFill>
                  <a:srgbClr val="000000"/>
                </a:solidFill>
                <a:latin typeface="Times New Roman"/>
                <a:ea typeface="Times New Roman"/>
                <a:cs typeface="Times New Roman"/>
              </a:rPr>
              <a:t> because the document no longer exists. A well-designed API endpoint should detect this condition and return an HTTP </a:t>
            </a:r>
            <a:r>
              <a:rPr sz="1200" b="1" i="0" u="none">
                <a:solidFill>
                  <a:srgbClr val="000000"/>
                </a:solidFill>
                <a:latin typeface="Times New Roman"/>
                <a:ea typeface="Times New Roman"/>
                <a:cs typeface="Times New Roman"/>
              </a:rPr>
              <a:t>404 Not Found</a:t>
            </a:r>
            <a:r>
              <a:rPr sz="1200" b="0" i="0" u="none">
                <a:solidFill>
                  <a:srgbClr val="000000"/>
                </a:solidFill>
                <a:latin typeface="Times New Roman"/>
                <a:ea typeface="Times New Roman"/>
                <a:cs typeface="Times New Roman"/>
              </a:rPr>
              <a:t> response with a clear message. If this check is not implemented, the API will return </a:t>
            </a:r>
            <a:r>
              <a:rPr sz="1000" b="0" i="0" u="none">
                <a:solidFill>
                  <a:srgbClr val="000000"/>
                </a:solidFill>
                <a:latin typeface="Courier New"/>
                <a:ea typeface="Courier New"/>
                <a:cs typeface="Courier New"/>
              </a:rPr>
              <a:t>null</a:t>
            </a:r>
            <a:r>
              <a:rPr sz="1200" b="0" i="0" u="none">
                <a:solidFill>
                  <a:srgbClr val="000000"/>
                </a:solidFill>
                <a:latin typeface="Times New Roman"/>
                <a:ea typeface="Times New Roman"/>
                <a:cs typeface="Times New Roman"/>
              </a:rPr>
              <a:t>, which can be confusing for clients consuming the API.</a:t>
            </a:r>
            <a:endParaRPr lang="en-US"/>
          </a:p>
        </p:txBody>
      </p:sp>
      <p:sp>
        <p:nvSpPr>
          <p:cNvPr id="250959090" name="Slide Number Placeholder 3"/>
          <p:cNvSpPr>
            <a:spLocks noGrp="1"/>
          </p:cNvSpPr>
          <p:nvPr>
            <p:ph type="sldNum" sz="quarter" idx="10"/>
          </p:nvPr>
        </p:nvSpPr>
        <p:spPr bwMode="auto"/>
        <p:txBody>
          <a:bodyPr/>
          <a:lstStyle/>
          <a:p>
            <a:pPr>
              <a:defRPr/>
            </a:pPr>
            <a:fld id="{F7021451-1387-4CA6-816F-3879F97B5CBC}" type="slidenum">
              <a:rPr lang="en-US"/>
              <a:t>75</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8005497" name="Slide Image Placeholder 1"/>
          <p:cNvSpPr>
            <a:spLocks noChangeAspect="1" noGrp="1" noRot="1"/>
          </p:cNvSpPr>
          <p:nvPr>
            <p:ph type="sldImg"/>
          </p:nvPr>
        </p:nvSpPr>
        <p:spPr bwMode="auto"/>
      </p:sp>
      <p:sp>
        <p:nvSpPr>
          <p:cNvPr id="689053391" name="Notes Placeholder 2"/>
          <p:cNvSpPr>
            <a:spLocks noGrp="1"/>
          </p:cNvSpPr>
          <p:nvPr>
            <p:ph type="body" idx="1"/>
          </p:nvPr>
        </p:nvSpPr>
        <p:spPr bwMode="auto"/>
        <p:txBody>
          <a:bodyPr/>
          <a:lstStyle/>
          <a:p>
            <a:pPr>
              <a:defRPr/>
            </a:pPr>
            <a:r>
              <a:rPr sz="1400" b="1" i="0" u="none">
                <a:solidFill>
                  <a:srgbClr val="000000"/>
                </a:solidFill>
                <a:latin typeface="Times New Roman"/>
                <a:ea typeface="Times New Roman"/>
                <a:cs typeface="Times New Roman"/>
              </a:rPr>
              <a:t>Closing the Lab — Further Exploration and Exam Focus</a:t>
            </a:r>
            <a:endParaRPr/>
          </a:p>
          <a:p>
            <a:pPr>
              <a:defRPr/>
            </a:pPr>
            <a:r>
              <a:rPr sz="1200" b="0" i="0" u="none">
                <a:solidFill>
                  <a:srgbClr val="000000"/>
                </a:solidFill>
                <a:latin typeface="Times New Roman"/>
                <a:ea typeface="Times New Roman"/>
                <a:cs typeface="Times New Roman"/>
              </a:rPr>
              <a:t>At this point, the floor should be opened for student questions. This is usually the moment when students begin connecting the individual concepts — APIs, schema design, MongoDB queries, and microservices — into a complete system architecture.</a:t>
            </a:r>
            <a:endParaRPr/>
          </a:p>
          <a:p>
            <a:pPr>
              <a:defRPr/>
            </a:pPr>
            <a:r>
              <a:rPr sz="1200" b="0" i="0" u="none">
                <a:solidFill>
                  <a:srgbClr val="000000"/>
                </a:solidFill>
                <a:latin typeface="Times New Roman"/>
                <a:ea typeface="Times New Roman"/>
                <a:cs typeface="Times New Roman"/>
              </a:rPr>
              <a:t>Students who want to continue experimenting beyond the local Docker setup can explore </a:t>
            </a:r>
            <a:r>
              <a:rPr sz="1200" b="1" i="0" u="none">
                <a:solidFill>
                  <a:srgbClr val="000000"/>
                </a:solidFill>
                <a:latin typeface="Times New Roman"/>
                <a:ea typeface="Times New Roman"/>
                <a:cs typeface="Times New Roman"/>
              </a:rPr>
              <a:t>MongoDB Atlas</a:t>
            </a:r>
            <a:r>
              <a:rPr sz="1200" b="0" i="0" u="none">
                <a:solidFill>
                  <a:srgbClr val="000000"/>
                </a:solidFill>
                <a:latin typeface="Times New Roman"/>
                <a:ea typeface="Times New Roman"/>
                <a:cs typeface="Times New Roman"/>
              </a:rPr>
              <a:t>, the managed cloud platform for MongoDB. Atlas allows you to deploy a production-ready MongoDB cluster in minutes without installing or managing database servers yourself. The free tier is sufficient for small projects and student experiments, and it exposes the same database interface used in the lab.</a:t>
            </a:r>
            <a:endParaRPr/>
          </a:p>
          <a:p>
            <a:pPr>
              <a:defRPr/>
            </a:pPr>
            <a:r>
              <a:rPr sz="1200" b="0" i="0" u="none">
                <a:solidFill>
                  <a:srgbClr val="000000"/>
                </a:solidFill>
                <a:latin typeface="Times New Roman"/>
                <a:ea typeface="Times New Roman"/>
                <a:cs typeface="Times New Roman"/>
              </a:rPr>
              <a:t>For structured learning, students are strongly encouraged to follow the free courses offered by </a:t>
            </a:r>
            <a:r>
              <a:rPr sz="1200" b="1" i="0" u="none">
                <a:solidFill>
                  <a:srgbClr val="000000"/>
                </a:solidFill>
                <a:latin typeface="Times New Roman"/>
                <a:ea typeface="Times New Roman"/>
                <a:cs typeface="Times New Roman"/>
              </a:rPr>
              <a:t>MongoDB University</a:t>
            </a:r>
            <a:r>
              <a:rPr sz="1200" b="0" i="0" u="none">
                <a:solidFill>
                  <a:srgbClr val="000000"/>
                </a:solidFill>
                <a:latin typeface="Times New Roman"/>
                <a:ea typeface="Times New Roman"/>
                <a:cs typeface="Times New Roman"/>
              </a:rPr>
              <a:t>. These courses cover topics such as document schema design, indexing strategies, aggregation pipelines, and performance optimization in much greater depth. They also include practical exercises that mirror real industry scenarios.</a:t>
            </a:r>
            <a:endParaRPr/>
          </a:p>
          <a:p>
            <a:pPr>
              <a:defRPr/>
            </a:pPr>
            <a:r>
              <a:rPr sz="1200" b="0" i="0" u="none">
                <a:solidFill>
                  <a:srgbClr val="000000"/>
                </a:solidFill>
                <a:latin typeface="Times New Roman"/>
                <a:ea typeface="Times New Roman"/>
                <a:cs typeface="Times New Roman"/>
              </a:rPr>
              <a:t>From an exam perspective, students should focus on understanding the architectural principles rather than memorizing syntax. The most important topics include the </a:t>
            </a:r>
            <a:r>
              <a:rPr sz="1200" b="1" i="0" u="none">
                <a:solidFill>
                  <a:srgbClr val="000000"/>
                </a:solidFill>
                <a:latin typeface="Times New Roman"/>
                <a:ea typeface="Times New Roman"/>
                <a:cs typeface="Times New Roman"/>
              </a:rPr>
              <a:t>schema design philosophy of document databases</a:t>
            </a:r>
            <a:r>
              <a:rPr sz="1200" b="0" i="0" u="none">
                <a:solidFill>
                  <a:srgbClr val="000000"/>
                </a:solidFill>
                <a:latin typeface="Times New Roman"/>
                <a:ea typeface="Times New Roman"/>
                <a:cs typeface="Times New Roman"/>
              </a:rPr>
              <a:t>, where data structures are derived from application access patterns rather than normalized entity relationships. Students should clearly understand the trade-offs between </a:t>
            </a:r>
            <a:r>
              <a:rPr sz="1200" b="1" i="0" u="none">
                <a:solidFill>
                  <a:srgbClr val="000000"/>
                </a:solidFill>
                <a:latin typeface="Times New Roman"/>
                <a:ea typeface="Times New Roman"/>
                <a:cs typeface="Times New Roman"/>
              </a:rPr>
              <a:t>embedding and referencing</a:t>
            </a:r>
            <a:r>
              <a:rPr sz="1200" b="0" i="0" u="none">
                <a:solidFill>
                  <a:srgbClr val="000000"/>
                </a:solidFill>
                <a:latin typeface="Times New Roman"/>
                <a:ea typeface="Times New Roman"/>
                <a:cs typeface="Times New Roman"/>
              </a:rPr>
              <a:t>, including when embedded documents improve read performance and when references are necessary for shared or independently updated data.</a:t>
            </a:r>
            <a:endParaRPr/>
          </a:p>
          <a:p>
            <a:pPr>
              <a:defRPr/>
            </a:pPr>
            <a:r>
              <a:rPr sz="1200" b="0" i="0" u="none">
                <a:solidFill>
                  <a:srgbClr val="000000"/>
                </a:solidFill>
                <a:latin typeface="Times New Roman"/>
                <a:ea typeface="Times New Roman"/>
                <a:cs typeface="Times New Roman"/>
              </a:rPr>
              <a:t>Another critical topic is </a:t>
            </a:r>
            <a:r>
              <a:rPr sz="1200" b="1" i="0" u="none">
                <a:solidFill>
                  <a:srgbClr val="000000"/>
                </a:solidFill>
                <a:latin typeface="Times New Roman"/>
                <a:ea typeface="Times New Roman"/>
                <a:cs typeface="Times New Roman"/>
              </a:rPr>
              <a:t>indexing strategy</a:t>
            </a:r>
            <a:r>
              <a:rPr sz="1200" b="0" i="0" u="none">
                <a:solidFill>
                  <a:srgbClr val="000000"/>
                </a:solidFill>
                <a:latin typeface="Times New Roman"/>
                <a:ea typeface="Times New Roman"/>
                <a:cs typeface="Times New Roman"/>
              </a:rPr>
              <a:t>. Students should know how indexes improve query performance, why indexing every field is harmful for write performance, and how indexes should be chosen based on actual query patterns rather than speculation.</a:t>
            </a:r>
            <a:endParaRPr/>
          </a:p>
          <a:p>
            <a:pPr>
              <a:defRPr/>
            </a:pPr>
            <a:r>
              <a:rPr sz="1200" b="0" i="0" u="none">
                <a:solidFill>
                  <a:srgbClr val="000000"/>
                </a:solidFill>
                <a:latin typeface="Times New Roman"/>
                <a:ea typeface="Times New Roman"/>
                <a:cs typeface="Times New Roman"/>
              </a:rPr>
              <a:t>Students should also understand the </a:t>
            </a:r>
            <a:r>
              <a:rPr sz="1200" b="1" i="0" u="none">
                <a:solidFill>
                  <a:srgbClr val="000000"/>
                </a:solidFill>
                <a:latin typeface="Times New Roman"/>
                <a:ea typeface="Times New Roman"/>
                <a:cs typeface="Times New Roman"/>
              </a:rPr>
              <a:t>aggregation pipeline</a:t>
            </a:r>
            <a:r>
              <a:rPr sz="1200" b="0" i="0" u="none">
                <a:solidFill>
                  <a:srgbClr val="000000"/>
                </a:solidFill>
                <a:latin typeface="Times New Roman"/>
                <a:ea typeface="Times New Roman"/>
                <a:cs typeface="Times New Roman"/>
              </a:rPr>
              <a:t>, including the role of stages such as </a:t>
            </a:r>
            <a:r>
              <a:rPr sz="1000" b="0" i="0" u="none">
                <a:solidFill>
                  <a:srgbClr val="000000"/>
                </a:solidFill>
                <a:latin typeface="Courier New"/>
                <a:ea typeface="Courier New"/>
                <a:cs typeface="Courier New"/>
              </a:rPr>
              <a:t>$match</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$group</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$project</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$sort</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$unwind</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$lookup</a:t>
            </a:r>
            <a:r>
              <a:rPr sz="1200" b="0" i="0" u="none">
                <a:solidFill>
                  <a:srgbClr val="000000"/>
                </a:solidFill>
                <a:latin typeface="Times New Roman"/>
                <a:ea typeface="Times New Roman"/>
                <a:cs typeface="Times New Roman"/>
              </a:rPr>
              <a:t>. The key idea is that aggregations transform multiple documents into computed analytical results used for dashboards, reports, and metrics.</a:t>
            </a:r>
            <a:endParaRPr/>
          </a:p>
          <a:p>
            <a:pPr>
              <a:defRPr/>
            </a:pPr>
            <a:r>
              <a:rPr sz="1200" b="0" i="0" u="none">
                <a:solidFill>
                  <a:srgbClr val="000000"/>
                </a:solidFill>
                <a:latin typeface="Times New Roman"/>
                <a:ea typeface="Times New Roman"/>
                <a:cs typeface="Times New Roman"/>
              </a:rPr>
              <a:t>Finally, an important architectural principle in modern distributed systems is the </a:t>
            </a:r>
            <a:r>
              <a:rPr sz="1200" b="1" i="0" u="none">
                <a:solidFill>
                  <a:srgbClr val="000000"/>
                </a:solidFill>
                <a:latin typeface="Times New Roman"/>
                <a:ea typeface="Times New Roman"/>
                <a:cs typeface="Times New Roman"/>
              </a:rPr>
              <a:t>microservices database ownership rule</a:t>
            </a:r>
            <a:r>
              <a:rPr sz="1200" b="0" i="0" u="none">
                <a:solidFill>
                  <a:srgbClr val="000000"/>
                </a:solidFill>
                <a:latin typeface="Times New Roman"/>
                <a:ea typeface="Times New Roman"/>
                <a:cs typeface="Times New Roman"/>
              </a:rPr>
              <a:t>: each microservice owns and manages its own database and communicates with other services through APIs rather than direct database access. Violating this rule creates tight coupling between services and undermines the independence that microservices are designed to provide.</a:t>
            </a:r>
            <a:endParaRPr/>
          </a:p>
          <a:p>
            <a:pPr>
              <a:defRPr/>
            </a:pPr>
            <a:r>
              <a:rPr sz="1200" b="0" i="0" u="none">
                <a:solidFill>
                  <a:srgbClr val="000000"/>
                </a:solidFill>
                <a:latin typeface="Times New Roman"/>
                <a:ea typeface="Times New Roman"/>
                <a:cs typeface="Times New Roman"/>
              </a:rPr>
              <a:t>These concepts form the foundation of modern data-driven application architecture and are the core ideas students should retain from the lab.</a:t>
            </a:r>
            <a:endParaRPr lang="en-US"/>
          </a:p>
        </p:txBody>
      </p:sp>
      <p:sp>
        <p:nvSpPr>
          <p:cNvPr id="157174136" name="Slide Number Placeholder 3"/>
          <p:cNvSpPr>
            <a:spLocks noGrp="1"/>
          </p:cNvSpPr>
          <p:nvPr>
            <p:ph type="sldNum" sz="quarter" idx="10"/>
          </p:nvPr>
        </p:nvSpPr>
        <p:spPr bwMode="auto"/>
        <p:txBody>
          <a:bodyPr/>
          <a:lstStyle/>
          <a:p>
            <a:pPr>
              <a:defRPr/>
            </a:pPr>
            <a:fld id="{F7021451-1387-4CA6-816F-3879F97B5CBC}" type="slidenum">
              <a:rPr lang="en-US"/>
              <a:t>76</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269199632"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504502073" name="Shape 1"/>
          <p:cNvSpPr/>
          <p:nvPr/>
        </p:nvSpPr>
        <p:spPr bwMode="auto">
          <a:xfrm>
            <a:off x="5943600" y="3840480"/>
            <a:ext cx="3200400" cy="3200400"/>
          </a:xfrm>
          <a:prstGeom prst="rect">
            <a:avLst/>
          </a:prstGeom>
          <a:solidFill>
            <a:srgbClr val="7EC8E3">
              <a:alpha val="15000"/>
            </a:srgbClr>
          </a:solidFill>
          <a:ln w="12700">
            <a:solidFill>
              <a:srgbClr val="7EC8E3">
                <a:alpha val="15000"/>
              </a:srgbClr>
            </a:solidFill>
            <a:prstDash val="solid"/>
          </a:ln>
        </p:spPr>
      </p:sp>
      <p:sp>
        <p:nvSpPr>
          <p:cNvPr id="1602135482" name="Shape 2"/>
          <p:cNvSpPr/>
          <p:nvPr/>
        </p:nvSpPr>
        <p:spPr bwMode="auto">
          <a:xfrm>
            <a:off x="365760" y="2011680"/>
            <a:ext cx="73152" cy="1828800"/>
          </a:xfrm>
          <a:prstGeom prst="rect">
            <a:avLst/>
          </a:prstGeom>
          <a:solidFill>
            <a:srgbClr val="7EC8E3"/>
          </a:solidFill>
          <a:ln w="12700">
            <a:solidFill>
              <a:srgbClr val="7EC8E3"/>
            </a:solidFill>
            <a:prstDash val="solid"/>
          </a:ln>
        </p:spPr>
      </p:sp>
      <p:sp>
        <p:nvSpPr>
          <p:cNvPr id="1826789349" name="Text 3"/>
          <p:cNvSpPr/>
          <p:nvPr/>
        </p:nvSpPr>
        <p:spPr bwMode="auto">
          <a:xfrm>
            <a:off x="594360" y="1645920"/>
            <a:ext cx="7772400" cy="1280160"/>
          </a:xfrm>
          <a:prstGeom prst="rect">
            <a:avLst/>
          </a:prstGeom>
          <a:noFill/>
          <a:ln/>
        </p:spPr>
        <p:txBody>
          <a:bodyPr wrap="square" rtlCol="0" anchor="ctr"/>
          <a:lstStyle/>
          <a:p>
            <a:pPr marL="0" indent="0">
              <a:buNone/>
              <a:defRPr/>
            </a:pPr>
            <a:r>
              <a:rPr lang="en-US" sz="4000" b="1">
                <a:solidFill>
                  <a:srgbClr val="FFFFFF"/>
                </a:solidFill>
                <a:latin typeface="Calibri"/>
                <a:ea typeface="Calibri"/>
                <a:cs typeface="Calibri"/>
              </a:rPr>
              <a:t>Advanced Data Management</a:t>
            </a:r>
            <a:endParaRPr lang="en-US" sz="4000"/>
          </a:p>
        </p:txBody>
      </p:sp>
      <p:sp>
        <p:nvSpPr>
          <p:cNvPr id="276552953" name="Text 4"/>
          <p:cNvSpPr/>
          <p:nvPr/>
        </p:nvSpPr>
        <p:spPr bwMode="auto">
          <a:xfrm>
            <a:off x="594360" y="3063240"/>
            <a:ext cx="6400800" cy="640080"/>
          </a:xfrm>
          <a:prstGeom prst="rect">
            <a:avLst/>
          </a:prstGeom>
          <a:noFill/>
          <a:ln/>
        </p:spPr>
        <p:txBody>
          <a:bodyPr wrap="square" rtlCol="0" anchor="ctr"/>
          <a:lstStyle/>
          <a:p>
            <a:pPr marL="0" indent="0">
              <a:buNone/>
              <a:defRPr/>
            </a:pPr>
            <a:r>
              <a:rPr lang="en-US" sz="1800">
                <a:solidFill>
                  <a:srgbClr val="B8D4E8"/>
                </a:solidFill>
                <a:latin typeface="Calibri"/>
                <a:ea typeface="Calibri"/>
                <a:cs typeface="Calibri"/>
              </a:rPr>
              <a:t>Week 5: Document Databases, Flexible Schemas &amp; APIs</a:t>
            </a:r>
            <a:endParaRPr lang="en-US" sz="1800"/>
          </a:p>
          <a:p>
            <a:pPr marL="0" indent="0">
              <a:buNone/>
              <a:defRPr/>
            </a:pPr>
            <a:r>
              <a:rPr lang="en-US" sz="1800">
                <a:solidFill>
                  <a:srgbClr val="B8D4E8"/>
                </a:solidFill>
                <a:latin typeface="Calibri"/>
                <a:ea typeface="Calibri"/>
                <a:cs typeface="Calibri"/>
              </a:rPr>
              <a:t>Bachelor of Computer Science · 4-Hour Lecture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1608812576"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81570803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13780213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Agenda — What We Cover Today</a:t>
            </a:r>
            <a:endParaRPr lang="en-US" sz="2600"/>
          </a:p>
        </p:txBody>
      </p:sp>
      <p:sp>
        <p:nvSpPr>
          <p:cNvPr id="1957828779"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659694912"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MODULE 1 — Document Databases: JSON, BSON, and storage philosophy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MODULE 2 — Schema Flexibility: Versioning and evolutionary design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MODULE 3 — Indexing &amp; Querying: Performance at scale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MODULE 4 — Aggregation &amp; Analytics: Computing results from data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MODULE 5 — APIs: REST, CRUD, requests, and authentication</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209387961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452900751"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69184469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From Tables to Documents</a:t>
            </a:r>
            <a:endParaRPr lang="en-US" sz="2600"/>
          </a:p>
        </p:txBody>
      </p:sp>
      <p:sp>
        <p:nvSpPr>
          <p:cNvPr id="1364167691"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2013331820"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2084709423"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846289055"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Traditional: data split across many tables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Multiple JOIN operations reconstruct one object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Schema is defined before data exists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Optimised for storage efficiency</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Query complexity grows with relationships</a:t>
            </a:r>
            <a:endParaRPr lang="en-US" sz="1600"/>
          </a:p>
        </p:txBody>
      </p:sp>
      <p:sp>
        <p:nvSpPr>
          <p:cNvPr id="1474582871"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Modern: one document per entity</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All related data stored together — no joins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Schema reflects real application objects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Optimised for read performance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Single collection query returns complete data</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54297194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131548605"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870910112"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The Impedance Mismatch Problem</a:t>
            </a:r>
            <a:endParaRPr lang="en-US" sz="2600"/>
          </a:p>
        </p:txBody>
      </p:sp>
      <p:sp>
        <p:nvSpPr>
          <p:cNvPr id="2016176268"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09890780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Code works with objects: Student has a list of Courses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Relational DB works with rows: a student_courses join table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Every read requires translating rows back to objects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ORMs (Hibernate, SQLAlchemy) automate translation but add overhead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Document DBs store and return objects as-is — no translation needed</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spTree>
      <p:nvGrpSpPr>
        <p:cNvPr id="1" name=""/>
        <p:cNvGrpSpPr/>
        <p:nvPr/>
      </p:nvGrpSpPr>
      <p:grpSpPr bwMode="auto">
        <a:xfrm>
          <a:off x="0" y="0"/>
          <a:ext cx="0" cy="0"/>
          <a:chOff x="0" y="0"/>
          <a:chExt cx="0" cy="0"/>
        </a:xfrm>
      </p:grpSpPr>
      <p:sp>
        <p:nvSpPr>
          <p:cNvPr id="138320284" name="Shape 0"/>
          <p:cNvSpPr/>
          <p:nvPr/>
        </p:nvSpPr>
        <p:spPr bwMode="auto">
          <a:xfrm>
            <a:off x="0" y="0"/>
            <a:ext cx="12192000" cy="6858000"/>
          </a:xfrm>
          <a:prstGeom prst="rect">
            <a:avLst/>
          </a:prstGeom>
          <a:solidFill>
            <a:srgbClr val="141C4A"/>
          </a:solidFill>
          <a:ln w="12700">
            <a:solidFill>
              <a:srgbClr val="141C4A"/>
            </a:solidFill>
            <a:prstDash val="solid"/>
          </a:ln>
        </p:spPr>
      </p:sp>
      <p:sp>
        <p:nvSpPr>
          <p:cNvPr id="1388781205" name="Shape 1"/>
          <p:cNvSpPr/>
          <p:nvPr/>
        </p:nvSpPr>
        <p:spPr bwMode="auto">
          <a:xfrm>
            <a:off x="365760" y="1463040"/>
            <a:ext cx="73152" cy="1463040"/>
          </a:xfrm>
          <a:prstGeom prst="rect">
            <a:avLst/>
          </a:prstGeom>
          <a:solidFill>
            <a:srgbClr val="7EC8E3"/>
          </a:solidFill>
          <a:ln w="12700">
            <a:solidFill>
              <a:srgbClr val="7EC8E3"/>
            </a:solidFill>
            <a:prstDash val="solid"/>
          </a:ln>
        </p:spPr>
      </p:sp>
      <p:sp>
        <p:nvSpPr>
          <p:cNvPr id="1319884135" name="Text 2"/>
          <p:cNvSpPr/>
          <p:nvPr/>
        </p:nvSpPr>
        <p:spPr bwMode="auto">
          <a:xfrm>
            <a:off x="640080" y="1463040"/>
            <a:ext cx="8046720" cy="1463040"/>
          </a:xfrm>
          <a:prstGeom prst="rect">
            <a:avLst/>
          </a:prstGeom>
          <a:noFill/>
          <a:ln/>
        </p:spPr>
        <p:txBody>
          <a:bodyPr wrap="square" rtlCol="0" anchor="ctr"/>
          <a:lstStyle/>
          <a:p>
            <a:pPr marL="0" indent="0" algn="l">
              <a:buNone/>
              <a:defRPr/>
            </a:pPr>
            <a:r>
              <a:rPr lang="en-US" sz="4400" b="1">
                <a:solidFill>
                  <a:srgbClr val="FFFFFF"/>
                </a:solidFill>
                <a:latin typeface="Calibri"/>
                <a:ea typeface="Calibri"/>
                <a:cs typeface="Calibri"/>
              </a:rPr>
              <a:t>MODULE 1</a:t>
            </a:r>
            <a:endParaRPr lang="en-US" sz="4400"/>
          </a:p>
        </p:txBody>
      </p:sp>
      <p:sp>
        <p:nvSpPr>
          <p:cNvPr id="16167710" name="Shape 3"/>
          <p:cNvSpPr/>
          <p:nvPr/>
        </p:nvSpPr>
        <p:spPr bwMode="auto">
          <a:xfrm>
            <a:off x="640080" y="3063240"/>
            <a:ext cx="3200400" cy="54864"/>
          </a:xfrm>
          <a:prstGeom prst="rect">
            <a:avLst/>
          </a:prstGeom>
          <a:solidFill>
            <a:srgbClr val="7EC8E3">
              <a:alpha val="60000"/>
            </a:srgbClr>
          </a:solidFill>
          <a:ln w="12700">
            <a:solidFill>
              <a:srgbClr val="7EC8E3">
                <a:alpha val="60000"/>
              </a:srgbClr>
            </a:solidFill>
            <a:prstDash val="solid"/>
          </a:ln>
        </p:spPr>
      </p:sp>
      <p:sp>
        <p:nvSpPr>
          <p:cNvPr id="1602610878" name="Text 4"/>
          <p:cNvSpPr/>
          <p:nvPr/>
        </p:nvSpPr>
        <p:spPr bwMode="auto">
          <a:xfrm>
            <a:off x="640080" y="3246120"/>
            <a:ext cx="6400800" cy="548640"/>
          </a:xfrm>
          <a:prstGeom prst="rect">
            <a:avLst/>
          </a:prstGeom>
          <a:noFill/>
          <a:ln/>
        </p:spPr>
        <p:txBody>
          <a:bodyPr wrap="square" rtlCol="0" anchor="ctr"/>
          <a:lstStyle/>
          <a:p>
            <a:pPr marL="0" indent="0">
              <a:buNone/>
              <a:defRPr/>
            </a:pPr>
            <a:r>
              <a:rPr lang="en-US" sz="1800">
                <a:solidFill>
                  <a:srgbClr val="B8D4E8"/>
                </a:solidFill>
                <a:latin typeface="Calibri"/>
                <a:ea typeface="Calibri"/>
                <a:cs typeface="Calibri"/>
              </a:rPr>
              <a:t>Document Databases — JSON, BSON &amp; Storage Philosophy</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spTree>
      <p:nvGrpSpPr>
        <p:cNvPr id="1" name=""/>
        <p:cNvGrpSpPr/>
        <p:nvPr/>
      </p:nvGrpSpPr>
      <p:grpSpPr bwMode="auto">
        <a:xfrm>
          <a:off x="0" y="0"/>
          <a:ext cx="0" cy="0"/>
          <a:chOff x="0" y="0"/>
          <a:chExt cx="0" cy="0"/>
        </a:xfrm>
      </p:grpSpPr>
      <p:sp>
        <p:nvSpPr>
          <p:cNvPr id="46127851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2120463844"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733279511"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is a Document Database?</a:t>
            </a:r>
            <a:endParaRPr lang="en-US" sz="2600"/>
          </a:p>
        </p:txBody>
      </p:sp>
      <p:sp>
        <p:nvSpPr>
          <p:cNvPr id="5529063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43761381"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Stores data as self-contained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One document describes one entity completely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All relevant data kept together — no splits, no joins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Documents use JSON format (or binary BSON internally)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Philosophy: store data as the application sees it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sp>
        <p:nvSpPr>
          <p:cNvPr id="1850503175"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64840526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454565917"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Document Thinking</a:t>
            </a:r>
            <a:endParaRPr lang="en-US" sz="2600"/>
          </a:p>
        </p:txBody>
      </p:sp>
      <p:sp>
        <p:nvSpPr>
          <p:cNvPr id="69764019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739005542"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Ask first: how will the application use this data?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Design around access patterns, not normalisation rules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If the UI needs profile + courses together, store them together</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database adapts to the application's shape — not vice versa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Duplicate data is acceptable if it saves expensive read operations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44223383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14814422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477835507"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One Document = One Object</a:t>
            </a:r>
            <a:endParaRPr lang="en-US" sz="2600"/>
          </a:p>
        </p:txBody>
      </p:sp>
      <p:sp>
        <p:nvSpPr>
          <p:cNvPr id="92889165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193708005"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 document corresponds directly to a programming object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Student in code → Student document in the database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Complete data returned in a single database read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No JOIN statements required in application code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Document databases complement, not replace, relational systems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spTree>
      <p:nvGrpSpPr>
        <p:cNvPr id="1" name=""/>
        <p:cNvGrpSpPr/>
        <p:nvPr/>
      </p:nvGrpSpPr>
      <p:grpSpPr bwMode="auto">
        <a:xfrm>
          <a:off x="0" y="0"/>
          <a:ext cx="0" cy="0"/>
          <a:chOff x="0" y="0"/>
          <a:chExt cx="0" cy="0"/>
        </a:xfrm>
      </p:grpSpPr>
      <p:sp>
        <p:nvSpPr>
          <p:cNvPr id="936051537"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749959517"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34852975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is JSON?</a:t>
            </a:r>
            <a:endParaRPr lang="en-US" sz="2600"/>
          </a:p>
        </p:txBody>
      </p:sp>
      <p:sp>
        <p:nvSpPr>
          <p:cNvPr id="56475659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188747400"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JSON: JavaScript Object Notation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 lightweight text format for representing structured data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Human-readable — developers can understand it at a glance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Language-independent — every programming language parses it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universal language of web APIs and document databases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spTree>
      <p:nvGrpSpPr>
        <p:cNvPr id="1" name=""/>
        <p:cNvGrpSpPr/>
        <p:nvPr/>
      </p:nvGrpSpPr>
      <p:grpSpPr bwMode="auto">
        <a:xfrm>
          <a:off x="0" y="0"/>
          <a:ext cx="0" cy="0"/>
          <a:chOff x="0" y="0"/>
          <a:chExt cx="0" cy="0"/>
        </a:xfrm>
      </p:grpSpPr>
      <p:sp>
        <p:nvSpPr>
          <p:cNvPr id="421249128"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014282558"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89139566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Structure of JSON</a:t>
            </a:r>
            <a:endParaRPr lang="en-US" sz="2600"/>
          </a:p>
        </p:txBody>
      </p:sp>
      <p:sp>
        <p:nvSpPr>
          <p:cNvPr id="152113769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152642421"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Objects defined with curly braces { } — contain key:value pairs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Arrays defined with square brackets [ ] — contain ordered lists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Keys must be strings in double quotes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Values can be strings, numbers, booleans, arrays, or objects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Any level of nesting is allowed: objects inside arrays inside objects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spTree>
      <p:nvGrpSpPr>
        <p:cNvPr id="1" name=""/>
        <p:cNvGrpSpPr/>
        <p:nvPr/>
      </p:nvGrpSpPr>
      <p:grpSpPr bwMode="auto">
        <a:xfrm>
          <a:off x="0" y="0"/>
          <a:ext cx="0" cy="0"/>
          <a:chOff x="0" y="0"/>
          <a:chExt cx="0" cy="0"/>
        </a:xfrm>
      </p:grpSpPr>
      <p:sp>
        <p:nvSpPr>
          <p:cNvPr id="1046899893"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631245562"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210321480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Basic JSON Data Types</a:t>
            </a:r>
            <a:endParaRPr lang="en-US" sz="2600"/>
          </a:p>
        </p:txBody>
      </p:sp>
      <p:sp>
        <p:nvSpPr>
          <p:cNvPr id="150179833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717617962"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string: text in double quotes — "Maria Papadopoulou"</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number: integer or decimal — 8.5 or 12345</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boolean: true or false — no quotes, always lowercase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null: explicitly absent value — intentionally unknown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array and object: composite types that contain other values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spTree>
      <p:nvGrpSpPr>
        <p:cNvPr id="1" name=""/>
        <p:cNvGrpSpPr/>
        <p:nvPr/>
      </p:nvGrpSpPr>
      <p:grpSpPr bwMode="auto">
        <a:xfrm>
          <a:off x="0" y="0"/>
          <a:ext cx="0" cy="0"/>
          <a:chOff x="0" y="0"/>
          <a:chExt cx="0" cy="0"/>
        </a:xfrm>
      </p:grpSpPr>
      <p:sp>
        <p:nvSpPr>
          <p:cNvPr id="220758652"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308097226"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017631435"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Nested Structures in JSON</a:t>
            </a:r>
            <a:endParaRPr lang="en-US" sz="2600"/>
          </a:p>
        </p:txBody>
      </p:sp>
      <p:sp>
        <p:nvSpPr>
          <p:cNvPr id="93350557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2089612149"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Objects can contain other objects as field values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Arrays can contain objects — a list of nested entities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Unlimited depth: model any real-world hierarchy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Replaces foreign keys and JOIN tables with embedded data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Performance benefit: one disk read returns the complete hierarchy</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spTree>
      <p:nvGrpSpPr>
        <p:cNvPr id="1" name=""/>
        <p:cNvGrpSpPr/>
        <p:nvPr/>
      </p:nvGrpSpPr>
      <p:grpSpPr bwMode="auto">
        <a:xfrm>
          <a:off x="0" y="0"/>
          <a:ext cx="0" cy="0"/>
          <a:chOff x="0" y="0"/>
          <a:chExt cx="0" cy="0"/>
        </a:xfrm>
      </p:grpSpPr>
      <p:sp>
        <p:nvSpPr>
          <p:cNvPr id="322622729"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5507108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53747496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Simple vs Nested Document</a:t>
            </a:r>
            <a:endParaRPr lang="en-US" sz="2600"/>
          </a:p>
        </p:txBody>
      </p:sp>
      <p:sp>
        <p:nvSpPr>
          <p:cNvPr id="53598774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306550646"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819414163"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1852928706"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Simple Document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student_id: '12345'</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name: 'Maria'</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email: 'maria@example.com'</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Looks like a standard database row</a:t>
            </a:r>
            <a:endParaRPr lang="en-US" sz="1600"/>
          </a:p>
        </p:txBody>
      </p:sp>
      <p:sp>
        <p:nvSpPr>
          <p:cNvPr id="68686740"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Nested Document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student_id: '12345'</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name: 'Maria'</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courses: [ { name: 'NoSQL', grade: 8.5 } ]</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Courses embedded — no separate table needed</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spTree>
      <p:nvGrpSpPr>
        <p:cNvPr id="1" name=""/>
        <p:cNvGrpSpPr/>
        <p:nvPr/>
      </p:nvGrpSpPr>
      <p:grpSpPr bwMode="auto">
        <a:xfrm>
          <a:off x="0" y="0"/>
          <a:ext cx="0" cy="0"/>
          <a:chOff x="0" y="0"/>
          <a:chExt cx="0" cy="0"/>
        </a:xfrm>
      </p:grpSpPr>
      <p:sp>
        <p:nvSpPr>
          <p:cNvPr id="1490762382"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825726021"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23499507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JSON vs BSON</a:t>
            </a:r>
            <a:endParaRPr lang="en-US" sz="2600"/>
          </a:p>
        </p:txBody>
      </p:sp>
      <p:sp>
        <p:nvSpPr>
          <p:cNvPr id="1772023852"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548082319"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1479862818"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1826721314"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JSON</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Text format — human readable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Perfect for API transmission</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No native Date or Binary type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Larger file size on disk</a:t>
            </a:r>
            <a:endParaRPr lang="en-US" sz="1600"/>
          </a:p>
        </p:txBody>
      </p:sp>
      <p:sp>
        <p:nvSpPr>
          <p:cNvPr id="1475271610"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BSON (Binary JSON)</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Binary format — machine readable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Used internally by databases (MongoDB)</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Adds Date, Binary, and ObjectId types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Faster parsing and smaller on disk</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spTree>
      <p:nvGrpSpPr>
        <p:cNvPr id="1" name=""/>
        <p:cNvGrpSpPr/>
        <p:nvPr/>
      </p:nvGrpSpPr>
      <p:grpSpPr bwMode="auto">
        <a:xfrm>
          <a:off x="0" y="0"/>
          <a:ext cx="0" cy="0"/>
          <a:chOff x="0" y="0"/>
          <a:chExt cx="0" cy="0"/>
        </a:xfrm>
      </p:grpSpPr>
      <p:sp>
        <p:nvSpPr>
          <p:cNvPr id="513932222"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031582986"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26799176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Popular Document Databases</a:t>
            </a:r>
            <a:endParaRPr lang="en-US" sz="2600"/>
          </a:p>
        </p:txBody>
      </p:sp>
      <p:sp>
        <p:nvSpPr>
          <p:cNvPr id="6819490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86925680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MongoDB: most popular, mature ecosystem, Atlas cloud service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CouchDB: built-in replication, HTTP API, offline-first design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RavenDB: developer-friendly, auto-indexing, .NET-first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Firebase Firestore: Google-managed, real-time sync for mobile apps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Amazon DocumentDB: managed MongoDB-compatible service on AWS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spTree>
      <p:nvGrpSpPr>
        <p:cNvPr id="1" name=""/>
        <p:cNvGrpSpPr/>
        <p:nvPr/>
      </p:nvGrpSpPr>
      <p:grpSpPr bwMode="auto">
        <a:xfrm>
          <a:off x="0" y="0"/>
          <a:ext cx="0" cy="0"/>
          <a:chOff x="0" y="0"/>
          <a:chExt cx="0" cy="0"/>
        </a:xfrm>
      </p:grpSpPr>
      <p:sp>
        <p:nvSpPr>
          <p:cNvPr id="483525936"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88588406"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00338125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CouchDB — What It Is</a:t>
            </a:r>
            <a:endParaRPr lang="en-US" sz="2600"/>
          </a:p>
        </p:txBody>
      </p:sp>
      <p:sp>
        <p:nvSpPr>
          <p:cNvPr id="98393542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772785295"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Built on Erlang — the language designed for telecom systems that never go down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Every database operation is a plain HTTP request — no special driver needed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Documents are pure JSON; the database speaks the web's native language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Open-source Apache project since 2005; used by BBC, npm registry, NHS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Philosophy: simplicity, reliability, and distributed-first design</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spTree>
      <p:nvGrpSpPr>
        <p:cNvPr id="1" name=""/>
        <p:cNvGrpSpPr/>
        <p:nvPr/>
      </p:nvGrpSpPr>
      <p:grpSpPr bwMode="auto">
        <a:xfrm>
          <a:off x="0" y="0"/>
          <a:ext cx="0" cy="0"/>
          <a:chOff x="0" y="0"/>
          <a:chExt cx="0" cy="0"/>
        </a:xfrm>
      </p:grpSpPr>
      <p:sp>
        <p:nvSpPr>
          <p:cNvPr id="39074038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448906996"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39742720"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CouchDB — Offline First &amp; Replication</a:t>
            </a:r>
            <a:endParaRPr lang="en-US" sz="2600"/>
          </a:p>
        </p:txBody>
      </p:sp>
      <p:sp>
        <p:nvSpPr>
          <p:cNvPr id="101766771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925332708"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Replication built in: sync any CouchDB instance to any other automatically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Bidirectional sync: changes flow both ways — server to device and back</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Conflict detection: if the same document changes in two places, both versions are kept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MVCC: readers and writers never block each other — no locking</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Use case: apps that must work without internet and sync when reconnected</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spTree>
      <p:nvGrpSpPr>
        <p:cNvPr id="1" name=""/>
        <p:cNvGrpSpPr/>
        <p:nvPr/>
      </p:nvGrpSpPr>
      <p:grpSpPr bwMode="auto">
        <a:xfrm>
          <a:off x="0" y="0"/>
          <a:ext cx="0" cy="0"/>
          <a:chOff x="0" y="0"/>
          <a:chExt cx="0" cy="0"/>
        </a:xfrm>
      </p:grpSpPr>
      <p:sp>
        <p:nvSpPr>
          <p:cNvPr id="345251897"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41367091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425849048"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RavenDB — What It Is</a:t>
            </a:r>
            <a:endParaRPr lang="en-US" sz="2600"/>
          </a:p>
        </p:txBody>
      </p:sp>
      <p:sp>
        <p:nvSpPr>
          <p:cNvPr id="170073918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0873643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Created in 2010 by Oren Eini — built out of frustration with complex NoSQL configuration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only major document DB with first-class .NET and C# support from day one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Auto-indexing: RavenDB watches your queries and creates indexes automatically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Goal: developer is productive on day one, no deep database expertise required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Used in enterprises needing NoSQL flexibility with relational-grade reliability</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spTree>
      <p:nvGrpSpPr>
        <p:cNvPr id="1" name=""/>
        <p:cNvGrpSpPr/>
        <p:nvPr/>
      </p:nvGrpSpPr>
      <p:grpSpPr bwMode="auto">
        <a:xfrm>
          <a:off x="0" y="0"/>
          <a:ext cx="0" cy="0"/>
          <a:chOff x="0" y="0"/>
          <a:chExt cx="0" cy="0"/>
        </a:xfrm>
      </p:grpSpPr>
      <p:sp>
        <p:nvSpPr>
          <p:cNvPr id="398668060"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605521946"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5648018"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RavenDB — Key Features</a:t>
            </a:r>
            <a:endParaRPr lang="en-US" sz="2600"/>
          </a:p>
        </p:txBody>
      </p:sp>
      <p:sp>
        <p:nvSpPr>
          <p:cNvPr id="1033432981"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11122734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ACID across multiple documents — guarantees consistency for complex operations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Full-text search built in via Lucene — no separate search service required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Document compression: stores data compressed on disk, reducing storage costs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Subscriptions: push live document changes to connected services automatically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Strong C# and Java SDKs with session-based unit-of-work pattern</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spTree>
      <p:nvGrpSpPr>
        <p:cNvPr id="1" name=""/>
        <p:cNvGrpSpPr/>
        <p:nvPr/>
      </p:nvGrpSpPr>
      <p:grpSpPr bwMode="auto">
        <a:xfrm>
          <a:off x="0" y="0"/>
          <a:ext cx="0" cy="0"/>
          <a:chOff x="0" y="0"/>
          <a:chExt cx="0" cy="0"/>
        </a:xfrm>
      </p:grpSpPr>
      <p:sp>
        <p:nvSpPr>
          <p:cNvPr id="1420389225"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83822057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372814747"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Choosing Your Document Database</a:t>
            </a:r>
            <a:endParaRPr lang="en-US" sz="2600"/>
          </a:p>
        </p:txBody>
      </p:sp>
      <p:sp>
        <p:nvSpPr>
          <p:cNvPr id="31585209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381067571"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1848389938"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898956291"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MongoDB — best general-purpose choice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Largest ecosystem, most tutorials, Atlas cloud</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Use when: any web/mobile app; no special constraints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CouchDB — best for offline &amp; sync</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Use when: app must work without internet; bidirectional sync required</a:t>
            </a:r>
            <a:endParaRPr lang="en-US" sz="1600"/>
          </a:p>
        </p:txBody>
      </p:sp>
      <p:sp>
        <p:nvSpPr>
          <p:cNvPr id="1696676782"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RavenDB — best for .NET enterprise teams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Auto-indexing, ACID across docs, LINQ support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Use when: team is C# / .NET; need transactional safety</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Firebase Firestore — best for mobile real-time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Use when: mobile app; need automatic push updates</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spTree>
      <p:nvGrpSpPr>
        <p:cNvPr id="1" name=""/>
        <p:cNvGrpSpPr/>
        <p:nvPr/>
      </p:nvGrpSpPr>
      <p:grpSpPr bwMode="auto">
        <a:xfrm>
          <a:off x="0" y="0"/>
          <a:ext cx="0" cy="0"/>
          <a:chOff x="0" y="0"/>
          <a:chExt cx="0" cy="0"/>
        </a:xfrm>
      </p:grpSpPr>
      <p:sp>
        <p:nvSpPr>
          <p:cNvPr id="332193310" name="Shape 0"/>
          <p:cNvSpPr/>
          <p:nvPr/>
        </p:nvSpPr>
        <p:spPr bwMode="auto">
          <a:xfrm>
            <a:off x="0" y="0"/>
            <a:ext cx="12192000" cy="6858000"/>
          </a:xfrm>
          <a:prstGeom prst="rect">
            <a:avLst/>
          </a:prstGeom>
          <a:solidFill>
            <a:srgbClr val="141C4A"/>
          </a:solidFill>
          <a:ln w="12700">
            <a:solidFill>
              <a:srgbClr val="141C4A"/>
            </a:solidFill>
            <a:prstDash val="solid"/>
          </a:ln>
        </p:spPr>
      </p:sp>
      <p:sp>
        <p:nvSpPr>
          <p:cNvPr id="2030737801" name="Shape 1"/>
          <p:cNvSpPr/>
          <p:nvPr/>
        </p:nvSpPr>
        <p:spPr bwMode="auto">
          <a:xfrm>
            <a:off x="365760" y="1463040"/>
            <a:ext cx="73152" cy="1463040"/>
          </a:xfrm>
          <a:prstGeom prst="rect">
            <a:avLst/>
          </a:prstGeom>
          <a:solidFill>
            <a:srgbClr val="7EC8E3"/>
          </a:solidFill>
          <a:ln w="12700">
            <a:solidFill>
              <a:srgbClr val="7EC8E3"/>
            </a:solidFill>
            <a:prstDash val="solid"/>
          </a:ln>
        </p:spPr>
      </p:sp>
      <p:sp>
        <p:nvSpPr>
          <p:cNvPr id="594361057" name="Text 2"/>
          <p:cNvSpPr/>
          <p:nvPr/>
        </p:nvSpPr>
        <p:spPr bwMode="auto">
          <a:xfrm>
            <a:off x="640080" y="1463040"/>
            <a:ext cx="8046720" cy="1463040"/>
          </a:xfrm>
          <a:prstGeom prst="rect">
            <a:avLst/>
          </a:prstGeom>
          <a:noFill/>
          <a:ln/>
        </p:spPr>
        <p:txBody>
          <a:bodyPr wrap="square" rtlCol="0" anchor="ctr"/>
          <a:lstStyle/>
          <a:p>
            <a:pPr marL="0" indent="0" algn="l">
              <a:buNone/>
              <a:defRPr/>
            </a:pPr>
            <a:r>
              <a:rPr lang="en-US" sz="4400" b="1">
                <a:solidFill>
                  <a:srgbClr val="FFFFFF"/>
                </a:solidFill>
                <a:latin typeface="Calibri"/>
                <a:ea typeface="Calibri"/>
                <a:cs typeface="Calibri"/>
              </a:rPr>
              <a:t>MODULE 2</a:t>
            </a:r>
            <a:endParaRPr lang="en-US" sz="4400"/>
          </a:p>
        </p:txBody>
      </p:sp>
      <p:sp>
        <p:nvSpPr>
          <p:cNvPr id="1493609743" name="Shape 3"/>
          <p:cNvSpPr/>
          <p:nvPr/>
        </p:nvSpPr>
        <p:spPr bwMode="auto">
          <a:xfrm>
            <a:off x="640080" y="3063240"/>
            <a:ext cx="3200400" cy="54864"/>
          </a:xfrm>
          <a:prstGeom prst="rect">
            <a:avLst/>
          </a:prstGeom>
          <a:solidFill>
            <a:srgbClr val="7EC8E3">
              <a:alpha val="60000"/>
            </a:srgbClr>
          </a:solidFill>
          <a:ln w="12700">
            <a:solidFill>
              <a:srgbClr val="7EC8E3">
                <a:alpha val="60000"/>
              </a:srgbClr>
            </a:solidFill>
            <a:prstDash val="solid"/>
          </a:ln>
        </p:spPr>
      </p:sp>
      <p:sp>
        <p:nvSpPr>
          <p:cNvPr id="1528548363" name="Text 4"/>
          <p:cNvSpPr/>
          <p:nvPr/>
        </p:nvSpPr>
        <p:spPr bwMode="auto">
          <a:xfrm>
            <a:off x="640080" y="3246120"/>
            <a:ext cx="6400800" cy="548640"/>
          </a:xfrm>
          <a:prstGeom prst="rect">
            <a:avLst/>
          </a:prstGeom>
          <a:noFill/>
          <a:ln/>
        </p:spPr>
        <p:txBody>
          <a:bodyPr wrap="square" rtlCol="0" anchor="ctr"/>
          <a:lstStyle/>
          <a:p>
            <a:pPr marL="0" indent="0">
              <a:buNone/>
              <a:defRPr/>
            </a:pPr>
            <a:r>
              <a:rPr lang="en-US" sz="1800">
                <a:solidFill>
                  <a:srgbClr val="B8D4E8"/>
                </a:solidFill>
                <a:latin typeface="Calibri"/>
                <a:ea typeface="Calibri"/>
                <a:cs typeface="Calibri"/>
              </a:rPr>
              <a:t>Schema Flexibility — Versioning &amp; Evolutionary Design</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2">
    <p:spTree>
      <p:nvGrpSpPr>
        <p:cNvPr id="1" name=""/>
        <p:cNvGrpSpPr/>
        <p:nvPr/>
      </p:nvGrpSpPr>
      <p:grpSpPr bwMode="auto">
        <a:xfrm>
          <a:off x="0" y="0"/>
          <a:ext cx="0" cy="0"/>
          <a:chOff x="0" y="0"/>
          <a:chExt cx="0" cy="0"/>
        </a:xfrm>
      </p:grpSpPr>
      <p:sp>
        <p:nvSpPr>
          <p:cNvPr id="1149298093"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098438758"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678538688"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is Schema Flexibility?</a:t>
            </a:r>
            <a:endParaRPr lang="en-US" sz="2600"/>
          </a:p>
        </p:txBody>
      </p:sp>
      <p:sp>
        <p:nvSpPr>
          <p:cNvPr id="787805056"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023885033"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Schema exists — there is a logical structure and expected fields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Schema is NOT enforced by the database engine itself</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Fields can be absent from some documents in the same collection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Responsibility for consistency moves to the application code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Different documents in one collection can have different shapes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spTree>
      <p:nvGrpSpPr>
        <p:cNvPr id="1" name=""/>
        <p:cNvGrpSpPr/>
        <p:nvPr/>
      </p:nvGrpSpPr>
      <p:grpSpPr bwMode="auto">
        <a:xfrm>
          <a:off x="0" y="0"/>
          <a:ext cx="0" cy="0"/>
          <a:chOff x="0" y="0"/>
          <a:chExt cx="0" cy="0"/>
        </a:xfrm>
      </p:grpSpPr>
      <p:sp>
        <p:nvSpPr>
          <p:cNvPr id="90064595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454924568"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56738883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Why We Need Schema Flexibility</a:t>
            </a:r>
            <a:endParaRPr lang="en-US" sz="2600"/>
          </a:p>
        </p:txBody>
      </p:sp>
      <p:sp>
        <p:nvSpPr>
          <p:cNvPr id="29314425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818506973"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Modern agile teams release new features multiple times per day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New features often require new fields in existing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Old documents remain valid alongside new document structures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Business requirements change faster than data migrations can run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database must support continuous delivery, not block it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4">
    <p:spTree>
      <p:nvGrpSpPr>
        <p:cNvPr id="1" name=""/>
        <p:cNvGrpSpPr/>
        <p:nvPr/>
      </p:nvGrpSpPr>
      <p:grpSpPr bwMode="auto">
        <a:xfrm>
          <a:off x="0" y="0"/>
          <a:ext cx="0" cy="0"/>
          <a:chOff x="0" y="0"/>
          <a:chExt cx="0" cy="0"/>
        </a:xfrm>
      </p:grpSpPr>
      <p:sp>
        <p:nvSpPr>
          <p:cNvPr id="331915338"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261040432"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497842389"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The Problem with Rigid Schemas</a:t>
            </a:r>
            <a:endParaRPr lang="en-US" sz="2600"/>
          </a:p>
        </p:txBody>
      </p:sp>
      <p:sp>
        <p:nvSpPr>
          <p:cNvPr id="21569854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859205981"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Every structural change requires an ALTER TABLE command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ALTER TABLE on a 100-million-row table can take hours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Table is often locked during migration — app goes offline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All existing rows must be updated simultaneously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Migration failure can corrupt millions of rows at once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5">
    <p:spTree>
      <p:nvGrpSpPr>
        <p:cNvPr id="1" name=""/>
        <p:cNvGrpSpPr/>
        <p:nvPr/>
      </p:nvGrpSpPr>
      <p:grpSpPr bwMode="auto">
        <a:xfrm>
          <a:off x="0" y="0"/>
          <a:ext cx="0" cy="0"/>
          <a:chOff x="0" y="0"/>
          <a:chExt cx="0" cy="0"/>
        </a:xfrm>
      </p:grpSpPr>
      <p:sp>
        <p:nvSpPr>
          <p:cNvPr id="1586474388"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205862057"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114816559"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Document Versioning</a:t>
            </a:r>
            <a:endParaRPr lang="en-US" sz="2600"/>
          </a:p>
        </p:txBody>
      </p:sp>
      <p:sp>
        <p:nvSpPr>
          <p:cNvPr id="1981383258"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857943940"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Each document declares its own schema version number</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New documents receive the latest version number on creation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Old documents retain their original version and structure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Application code handles each version with appropriate logic</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Background migration gradually upgrades old documents over time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6">
    <p:spTree>
      <p:nvGrpSpPr>
        <p:cNvPr id="1" name=""/>
        <p:cNvGrpSpPr/>
        <p:nvPr/>
      </p:nvGrpSpPr>
      <p:grpSpPr bwMode="auto">
        <a:xfrm>
          <a:off x="0" y="0"/>
          <a:ext cx="0" cy="0"/>
          <a:chOff x="0" y="0"/>
          <a:chExt cx="0" cy="0"/>
        </a:xfrm>
      </p:grpSpPr>
      <p:sp>
        <p:nvSpPr>
          <p:cNvPr id="283017795"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71906120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042872697"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Document Versioning — Example</a:t>
            </a:r>
            <a:endParaRPr lang="en-US" sz="2600"/>
          </a:p>
        </p:txBody>
      </p:sp>
      <p:sp>
        <p:nvSpPr>
          <p:cNvPr id="1823184908"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8244170"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Version 1: { name: 'Maria Papadopoulou', schema_version: 1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Version 2: adds separate first_name and last_name fields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Version 2 doc: { first_name: 'Maria', last_name: 'Papadopoulou', schema_version: 2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App reads version: if 1, split name on space to get first/last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schema_version is just a normal integer field — DB is unaware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7">
    <p:spTree>
      <p:nvGrpSpPr>
        <p:cNvPr id="1" name=""/>
        <p:cNvGrpSpPr/>
        <p:nvPr/>
      </p:nvGrpSpPr>
      <p:grpSpPr bwMode="auto">
        <a:xfrm>
          <a:off x="0" y="0"/>
          <a:ext cx="0" cy="0"/>
          <a:chOff x="0" y="0"/>
          <a:chExt cx="0" cy="0"/>
        </a:xfrm>
      </p:grpSpPr>
      <p:sp>
        <p:nvSpPr>
          <p:cNvPr id="1665456680"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782872067"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2009391261"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Advantages of Document Versioning</a:t>
            </a:r>
            <a:endParaRPr lang="en-US" sz="2600"/>
          </a:p>
        </p:txBody>
      </p:sp>
      <p:sp>
        <p:nvSpPr>
          <p:cNvPr id="75827455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678476526"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Zero downtime — no database-level migration required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Old data remains valid — never invalidated by new versions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Backward compatibility maintained through all schema changes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Rollback is trivial — revert the application code, not the data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Development velocity is preserved — ship features without migrations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8">
    <p:spTree>
      <p:nvGrpSpPr>
        <p:cNvPr id="1" name=""/>
        <p:cNvGrpSpPr/>
        <p:nvPr/>
      </p:nvGrpSpPr>
      <p:grpSpPr bwMode="auto">
        <a:xfrm>
          <a:off x="0" y="0"/>
          <a:ext cx="0" cy="0"/>
          <a:chOff x="0" y="0"/>
          <a:chExt cx="0" cy="0"/>
        </a:xfrm>
      </p:grpSpPr>
      <p:sp>
        <p:nvSpPr>
          <p:cNvPr id="41885749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534611412"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411918345"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Schema Design Patterns Overview</a:t>
            </a:r>
            <a:endParaRPr lang="en-US" sz="2600"/>
          </a:p>
        </p:txBody>
      </p:sp>
      <p:sp>
        <p:nvSpPr>
          <p:cNvPr id="135831325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485227487"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Embedding: put related data inside the document — owner relationship</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Referencing: store an ID and look up separately — shared entities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Polymorphism: different document shapes in one collection via type field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Bucket pattern: group time-series events into time-range buckets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Schema versioning: stamp every document with a schema_version number</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6910543" name="Content Placeholder 2"/>
          <p:cNvSpPr>
            <a:spLocks noGrp="1"/>
          </p:cNvSpPr>
          <p:nvPr>
            <p:ph sz="half" idx="1"/>
          </p:nvPr>
        </p:nvSpPr>
        <p:spPr bwMode="auto">
          <a:xfrm flipH="0" flipV="0">
            <a:off x="838198" y="306159"/>
            <a:ext cx="5181599" cy="6327320"/>
          </a:xfrm>
        </p:spPr>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sz="2200" b="1" i="0" u="none">
                <a:solidFill>
                  <a:srgbClr val="00B050"/>
                </a:solidFill>
                <a:latin typeface="Times New Roman"/>
                <a:ea typeface="Times New Roman"/>
                <a:cs typeface="Times New Roman"/>
              </a:rPr>
              <a:t>{</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"order_id": </a:t>
            </a:r>
            <a:r>
              <a:rPr sz="2200" b="1" i="0" u="none">
                <a:solidFill>
                  <a:srgbClr val="00B050"/>
                </a:solidFill>
                <a:latin typeface="Times New Roman"/>
                <a:ea typeface="Times New Roman"/>
                <a:cs typeface="Times New Roman"/>
              </a:rPr>
              <a:t>10045</a:t>
            </a:r>
            <a:r>
              <a:rPr sz="2200" b="1" i="0" u="none">
                <a:solidFill>
                  <a:srgbClr val="00B050"/>
                </a:solidFill>
                <a:latin typeface="Times New Roman"/>
                <a:ea typeface="Times New Roman"/>
                <a:cs typeface="Times New Roman"/>
              </a:rPr>
              <a:t>,</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"customer_id": </a:t>
            </a:r>
            <a:r>
              <a:rPr sz="2200" b="1" i="0" u="none">
                <a:solidFill>
                  <a:srgbClr val="00B050"/>
                </a:solidFill>
                <a:latin typeface="Times New Roman"/>
                <a:ea typeface="Times New Roman"/>
                <a:cs typeface="Times New Roman"/>
              </a:rPr>
              <a:t>872</a:t>
            </a:r>
            <a:r>
              <a:rPr sz="2200" b="1" i="0" u="none">
                <a:solidFill>
                  <a:srgbClr val="00B050"/>
                </a:solidFill>
                <a:latin typeface="Times New Roman"/>
                <a:ea typeface="Times New Roman"/>
                <a:cs typeface="Times New Roman"/>
              </a:rPr>
              <a:t>,</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"date": </a:t>
            </a:r>
            <a:r>
              <a:rPr sz="2200" b="1" i="0" u="none">
                <a:solidFill>
                  <a:srgbClr val="00B050"/>
                </a:solidFill>
                <a:latin typeface="Times New Roman"/>
                <a:ea typeface="Times New Roman"/>
                <a:cs typeface="Times New Roman"/>
              </a:rPr>
              <a:t>"2026-03-23"</a:t>
            </a:r>
            <a:r>
              <a:rPr sz="2200" b="1" i="0" u="none">
                <a:solidFill>
                  <a:srgbClr val="00B050"/>
                </a:solidFill>
                <a:latin typeface="Times New Roman"/>
                <a:ea typeface="Times New Roman"/>
                <a:cs typeface="Times New Roman"/>
              </a:rPr>
              <a:t>,</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"items": [</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"product_name": </a:t>
            </a:r>
            <a:r>
              <a:rPr sz="2200" b="1" i="0" u="none">
                <a:solidFill>
                  <a:srgbClr val="00B050"/>
                </a:solidFill>
                <a:latin typeface="Times New Roman"/>
                <a:ea typeface="Times New Roman"/>
                <a:cs typeface="Times New Roman"/>
              </a:rPr>
              <a:t>"Wireless Mouse"</a:t>
            </a:r>
            <a:r>
              <a:rPr sz="2200" b="1" i="0" u="none">
                <a:solidFill>
                  <a:srgbClr val="00B050"/>
                </a:solidFill>
                <a:latin typeface="Times New Roman"/>
                <a:ea typeface="Times New Roman"/>
                <a:cs typeface="Times New Roman"/>
              </a:rPr>
              <a:t>,</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a:t>
            </a:r>
            <a:r>
              <a:rPr sz="2200" b="1" i="0" u="none">
                <a:solidFill>
                  <a:srgbClr val="00B050"/>
                </a:solidFill>
                <a:latin typeface="Times New Roman"/>
                <a:ea typeface="Times New Roman"/>
                <a:cs typeface="Times New Roman"/>
              </a:rPr>
              <a:t>price": </a:t>
            </a:r>
            <a:r>
              <a:rPr sz="2200" b="1" i="0" u="none">
                <a:solidFill>
                  <a:srgbClr val="00B050"/>
                </a:solidFill>
                <a:latin typeface="Times New Roman"/>
                <a:ea typeface="Times New Roman"/>
                <a:cs typeface="Times New Roman"/>
              </a:rPr>
              <a:t>25</a:t>
            </a:r>
            <a:r>
              <a:rPr sz="2200" b="1" i="0" u="none">
                <a:solidFill>
                  <a:srgbClr val="00B050"/>
                </a:solidFill>
                <a:latin typeface="Times New Roman"/>
                <a:ea typeface="Times New Roman"/>
                <a:cs typeface="Times New Roman"/>
              </a:rPr>
              <a:t>,</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"quantity": </a:t>
            </a:r>
            <a:r>
              <a:rPr sz="2200" b="1" i="0" u="none">
                <a:solidFill>
                  <a:srgbClr val="00B050"/>
                </a:solidFill>
                <a:latin typeface="Times New Roman"/>
                <a:ea typeface="Times New Roman"/>
                <a:cs typeface="Times New Roman"/>
              </a:rPr>
              <a:t>1</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"product_name": </a:t>
            </a:r>
            <a:r>
              <a:rPr sz="2200" b="1" i="0" u="none">
                <a:solidFill>
                  <a:srgbClr val="00B050"/>
                </a:solidFill>
                <a:latin typeface="Times New Roman"/>
                <a:ea typeface="Times New Roman"/>
                <a:cs typeface="Times New Roman"/>
              </a:rPr>
              <a:t>"Keyboard"</a:t>
            </a:r>
            <a:r>
              <a:rPr sz="2200" b="1" i="0" u="none">
                <a:solidFill>
                  <a:srgbClr val="00B050"/>
                </a:solidFill>
                <a:latin typeface="Times New Roman"/>
                <a:ea typeface="Times New Roman"/>
                <a:cs typeface="Times New Roman"/>
              </a:rPr>
              <a:t>,</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"price": </a:t>
            </a:r>
            <a:r>
              <a:rPr sz="2200" b="1" i="0" u="none">
                <a:solidFill>
                  <a:srgbClr val="00B050"/>
                </a:solidFill>
                <a:latin typeface="Times New Roman"/>
                <a:ea typeface="Times New Roman"/>
                <a:cs typeface="Times New Roman"/>
              </a:rPr>
              <a:t>60</a:t>
            </a:r>
            <a:r>
              <a:rPr sz="2200" b="1" i="0" u="none">
                <a:solidFill>
                  <a:srgbClr val="00B050"/>
                </a:solidFill>
                <a:latin typeface="Times New Roman"/>
                <a:ea typeface="Times New Roman"/>
                <a:cs typeface="Times New Roman"/>
              </a:rPr>
              <a:t>,</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"quantity": </a:t>
            </a:r>
            <a:r>
              <a:rPr sz="2200" b="1" i="0" u="none">
                <a:solidFill>
                  <a:srgbClr val="00B050"/>
                </a:solidFill>
                <a:latin typeface="Times New Roman"/>
                <a:ea typeface="Times New Roman"/>
                <a:cs typeface="Times New Roman"/>
              </a:rPr>
              <a:t>1</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  ]</a:t>
            </a:r>
            <a:br>
              <a:rPr sz="2200" b="1" i="0" u="none">
                <a:solidFill>
                  <a:srgbClr val="00B050"/>
                </a:solidFill>
                <a:latin typeface="Times New Roman"/>
                <a:ea typeface="Times New Roman"/>
                <a:cs typeface="Times New Roman"/>
              </a:rPr>
            </a:br>
            <a:r>
              <a:rPr sz="2200" b="1" i="0" u="none">
                <a:solidFill>
                  <a:srgbClr val="00B050"/>
                </a:solidFill>
                <a:latin typeface="Times New Roman"/>
                <a:ea typeface="Times New Roman"/>
                <a:cs typeface="Times New Roman"/>
              </a:rPr>
              <a:t>}</a:t>
            </a:r>
            <a:endParaRPr sz="8000"/>
          </a:p>
        </p:txBody>
      </p:sp>
      <p:sp>
        <p:nvSpPr>
          <p:cNvPr id="2062230116" name="Content Placeholder 3"/>
          <p:cNvSpPr>
            <a:spLocks noGrp="1"/>
          </p:cNvSpPr>
          <p:nvPr>
            <p:ph sz="half" idx="2"/>
          </p:nvPr>
        </p:nvSpPr>
        <p:spPr bwMode="auto">
          <a:xfrm flipH="0" flipV="0">
            <a:off x="6172200" y="306159"/>
            <a:ext cx="5181599" cy="6327320"/>
          </a:xfrm>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marL="0" indent="0">
              <a:buFont typeface="Arial"/>
              <a:buNone/>
              <a:defRPr/>
            </a:pPr>
            <a:r>
              <a:rPr lang="en-US" sz="2600" b="1" i="0" u="none" strike="noStrike" cap="none" spc="0">
                <a:solidFill>
                  <a:srgbClr val="00B050"/>
                </a:solidFill>
                <a:latin typeface="Times New Roman"/>
                <a:ea typeface="Times New Roman"/>
                <a:cs typeface="Times New Roman"/>
              </a:rPr>
              <a:t>{</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"order_id": 10045,</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"customer_id": 872,</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"items": [ </a:t>
            </a:r>
            <a:r>
              <a:rPr lang="en-US" sz="2600" b="1" i="0" u="none" strike="noStrike" cap="none" spc="0">
                <a:solidFill>
                  <a:srgbClr val="00B050"/>
                </a:solidFill>
                <a:latin typeface="Times New Roman"/>
                <a:ea typeface="Times New Roman"/>
                <a:cs typeface="Times New Roman"/>
              </a:rPr>
              <a:t>{</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"product_id": "P1001",</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"quantity": 1</a:t>
            </a:r>
            <a:r>
              <a:rPr lang="en-US" sz="2600" b="1" i="0" u="none" strike="noStrike" cap="none" spc="0">
                <a:solidFill>
                  <a:srgbClr val="00B050"/>
                </a:solidFill>
                <a:latin typeface="Times New Roman"/>
                <a:ea typeface="Times New Roman"/>
                <a:cs typeface="Times New Roman"/>
              </a:rPr>
              <a:t> }</a:t>
            </a:r>
            <a:r>
              <a:rPr lang="en-US" sz="2600" b="1" i="0" u="none" strike="noStrike" cap="none" spc="0">
                <a:solidFill>
                  <a:srgbClr val="00B050"/>
                </a:solidFill>
                <a:latin typeface="Times New Roman"/>
                <a:ea typeface="Times New Roman"/>
                <a:cs typeface="Times New Roman"/>
              </a:rPr>
              <a:t>]</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a:t>
            </a:r>
            <a:endParaRPr sz="2600" b="1">
              <a:solidFill>
                <a:srgbClr val="00B050"/>
              </a:solidFill>
              <a:latin typeface="Times New Roman"/>
              <a:ea typeface="Times New Roman"/>
              <a:cs typeface="Times New Roman"/>
            </a:endParaRPr>
          </a:p>
          <a:p>
            <a:pPr marL="0" indent="0">
              <a:buFont typeface="Arial"/>
              <a:buNone/>
              <a:defRPr/>
            </a:pPr>
            <a:endParaRPr sz="2800" b="1">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a:t>
            </a:r>
            <a:endParaRPr sz="2800" b="0"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"product_id": "P1001",</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"name": "Wireless Mouse",</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"price": 25,</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  "category": "Electronics"</a:t>
            </a:r>
            <a:endParaRPr sz="2800" b="1" i="0" u="none" strike="noStrike" cap="none" spc="0">
              <a:solidFill>
                <a:srgbClr val="00B050"/>
              </a:solidFill>
              <a:latin typeface="Times New Roman"/>
              <a:cs typeface="Times New Roman"/>
            </a:endParaRPr>
          </a:p>
          <a:p>
            <a:pPr marL="0" indent="0">
              <a:buFont typeface="Arial"/>
              <a:buNone/>
              <a:defRPr/>
            </a:pPr>
            <a:r>
              <a:rPr lang="en-US" sz="2600" b="1" i="0" u="none" strike="noStrike" cap="none" spc="0">
                <a:solidFill>
                  <a:srgbClr val="00B050"/>
                </a:solidFill>
                <a:latin typeface="Times New Roman"/>
                <a:ea typeface="Times New Roman"/>
                <a:cs typeface="Times New Roman"/>
              </a:rPr>
              <a:t>}</a:t>
            </a:r>
            <a:endParaRPr sz="2800">
              <a:solidFill>
                <a:srgbClr val="00B050"/>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9">
    <p:spTree>
      <p:nvGrpSpPr>
        <p:cNvPr id="1" name=""/>
        <p:cNvGrpSpPr/>
        <p:nvPr/>
      </p:nvGrpSpPr>
      <p:grpSpPr bwMode="auto">
        <a:xfrm>
          <a:off x="0" y="0"/>
          <a:ext cx="0" cy="0"/>
          <a:chOff x="0" y="0"/>
          <a:chExt cx="0" cy="0"/>
        </a:xfrm>
      </p:grpSpPr>
      <p:sp>
        <p:nvSpPr>
          <p:cNvPr id="1815616187" name="Shape 0"/>
          <p:cNvSpPr/>
          <p:nvPr/>
        </p:nvSpPr>
        <p:spPr bwMode="auto">
          <a:xfrm>
            <a:off x="0" y="0"/>
            <a:ext cx="12192000" cy="6858000"/>
          </a:xfrm>
          <a:prstGeom prst="rect">
            <a:avLst/>
          </a:prstGeom>
          <a:solidFill>
            <a:srgbClr val="141C4A"/>
          </a:solidFill>
          <a:ln w="12700">
            <a:solidFill>
              <a:srgbClr val="141C4A"/>
            </a:solidFill>
            <a:prstDash val="solid"/>
          </a:ln>
        </p:spPr>
      </p:sp>
      <p:sp>
        <p:nvSpPr>
          <p:cNvPr id="410140836" name="Shape 1"/>
          <p:cNvSpPr/>
          <p:nvPr/>
        </p:nvSpPr>
        <p:spPr bwMode="auto">
          <a:xfrm>
            <a:off x="365760" y="1463040"/>
            <a:ext cx="73152" cy="1463040"/>
          </a:xfrm>
          <a:prstGeom prst="rect">
            <a:avLst/>
          </a:prstGeom>
          <a:solidFill>
            <a:srgbClr val="7EC8E3"/>
          </a:solidFill>
          <a:ln w="12700">
            <a:solidFill>
              <a:srgbClr val="7EC8E3"/>
            </a:solidFill>
            <a:prstDash val="solid"/>
          </a:ln>
        </p:spPr>
      </p:sp>
      <p:sp>
        <p:nvSpPr>
          <p:cNvPr id="1739121860" name="Text 2"/>
          <p:cNvSpPr/>
          <p:nvPr/>
        </p:nvSpPr>
        <p:spPr bwMode="auto">
          <a:xfrm>
            <a:off x="640080" y="1463040"/>
            <a:ext cx="8046720" cy="1463040"/>
          </a:xfrm>
          <a:prstGeom prst="rect">
            <a:avLst/>
          </a:prstGeom>
          <a:noFill/>
          <a:ln/>
        </p:spPr>
        <p:txBody>
          <a:bodyPr wrap="square" rtlCol="0" anchor="ctr"/>
          <a:lstStyle/>
          <a:p>
            <a:pPr marL="0" indent="0" algn="l">
              <a:buNone/>
              <a:defRPr/>
            </a:pPr>
            <a:r>
              <a:rPr lang="en-US" sz="4400" b="1">
                <a:solidFill>
                  <a:srgbClr val="FFFFFF"/>
                </a:solidFill>
                <a:latin typeface="Calibri"/>
                <a:ea typeface="Calibri"/>
                <a:cs typeface="Calibri"/>
              </a:rPr>
              <a:t>MODULE 3</a:t>
            </a:r>
            <a:endParaRPr lang="en-US" sz="4400"/>
          </a:p>
        </p:txBody>
      </p:sp>
      <p:sp>
        <p:nvSpPr>
          <p:cNvPr id="394054655" name="Shape 3"/>
          <p:cNvSpPr/>
          <p:nvPr/>
        </p:nvSpPr>
        <p:spPr bwMode="auto">
          <a:xfrm>
            <a:off x="640080" y="3063240"/>
            <a:ext cx="3200400" cy="54864"/>
          </a:xfrm>
          <a:prstGeom prst="rect">
            <a:avLst/>
          </a:prstGeom>
          <a:solidFill>
            <a:srgbClr val="7EC8E3">
              <a:alpha val="60000"/>
            </a:srgbClr>
          </a:solidFill>
          <a:ln w="12700">
            <a:solidFill>
              <a:srgbClr val="7EC8E3">
                <a:alpha val="60000"/>
              </a:srgbClr>
            </a:solidFill>
            <a:prstDash val="solid"/>
          </a:ln>
        </p:spPr>
      </p:sp>
      <p:sp>
        <p:nvSpPr>
          <p:cNvPr id="1208987260" name="Text 4"/>
          <p:cNvSpPr/>
          <p:nvPr/>
        </p:nvSpPr>
        <p:spPr bwMode="auto">
          <a:xfrm>
            <a:off x="640080" y="3246120"/>
            <a:ext cx="6400800" cy="548640"/>
          </a:xfrm>
          <a:prstGeom prst="rect">
            <a:avLst/>
          </a:prstGeom>
          <a:noFill/>
          <a:ln/>
        </p:spPr>
        <p:txBody>
          <a:bodyPr wrap="square" rtlCol="0" anchor="ctr"/>
          <a:lstStyle/>
          <a:p>
            <a:pPr marL="0" indent="0">
              <a:buNone/>
              <a:defRPr/>
            </a:pPr>
            <a:r>
              <a:rPr lang="en-US" sz="1800">
                <a:solidFill>
                  <a:srgbClr val="B8D4E8"/>
                </a:solidFill>
                <a:latin typeface="Calibri"/>
                <a:ea typeface="Calibri"/>
                <a:cs typeface="Calibri"/>
              </a:rPr>
              <a:t>Indexing &amp; Querying — Performance at Scale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0">
    <p:spTree>
      <p:nvGrpSpPr>
        <p:cNvPr id="1" name=""/>
        <p:cNvGrpSpPr/>
        <p:nvPr/>
      </p:nvGrpSpPr>
      <p:grpSpPr bwMode="auto">
        <a:xfrm>
          <a:off x="0" y="0"/>
          <a:ext cx="0" cy="0"/>
          <a:chOff x="0" y="0"/>
          <a:chExt cx="0" cy="0"/>
        </a:xfrm>
      </p:grpSpPr>
      <p:sp>
        <p:nvSpPr>
          <p:cNvPr id="506635608"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40762966"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873131084"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is an Index?</a:t>
            </a:r>
            <a:endParaRPr lang="en-US" sz="2600"/>
          </a:p>
        </p:txBody>
      </p:sp>
      <p:sp>
        <p:nvSpPr>
          <p:cNvPr id="101612627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582385501"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 data structure mapping field values to document locations on disk</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Allows the database to find documents without scanning the collection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Analogous to a book's index: look up keyword, get the page number</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Stored separately from documents — maintained automatically by the DB</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Improves read speed; slightly slows write speed (index must be updated)</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4062685" name="Content Placeholder 2"/>
          <p:cNvSpPr>
            <a:spLocks noGrp="1"/>
          </p:cNvSpPr>
          <p:nvPr>
            <p:ph sz="half" idx="1"/>
          </p:nvPr>
        </p:nvSpPr>
        <p:spPr bwMode="auto">
          <a:xfrm flipH="0" flipV="0">
            <a:off x="838198" y="306159"/>
            <a:ext cx="10514073" cy="6327320"/>
          </a:xfrm>
        </p:spPr>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lang="en-US" sz="2200" b="1" i="0" u="none" strike="noStrike" cap="none" spc="0">
                <a:solidFill>
                  <a:srgbClr val="00B050"/>
                </a:solidFill>
                <a:latin typeface="Times New Roman"/>
                <a:ea typeface="Times New Roman"/>
                <a:cs typeface="Times New Roman"/>
              </a:rPr>
              <a:t>{</a:t>
            </a:r>
            <a:endParaRPr lang="en-US" sz="2200" b="1" i="0" u="none" strike="noStrike" cap="none" spc="0">
              <a:solidFill>
                <a:srgbClr val="00B050"/>
              </a:solidFill>
              <a:latin typeface="Times New Roman"/>
              <a:cs typeface="Times New Roman"/>
            </a:endParaRPr>
          </a:p>
          <a:p>
            <a:pPr marL="0" indent="0">
              <a:buFont typeface="Arial"/>
              <a:buNone/>
              <a:defRPr/>
            </a:pPr>
            <a:r>
              <a:rPr lang="en-US" sz="2200" b="1" i="0" u="none" strike="noStrike" cap="none" spc="0">
                <a:solidFill>
                  <a:srgbClr val="00B050"/>
                </a:solidFill>
                <a:latin typeface="Times New Roman"/>
                <a:ea typeface="Times New Roman"/>
                <a:cs typeface="Times New Roman"/>
              </a:rPr>
              <a:t>  "student_id": "ECE202400123",</a:t>
            </a:r>
            <a:endParaRPr lang="en-US" sz="2200" b="1" i="0" u="none" strike="noStrike" cap="none" spc="0">
              <a:solidFill>
                <a:srgbClr val="00B050"/>
              </a:solidFill>
              <a:latin typeface="Times New Roman"/>
              <a:cs typeface="Times New Roman"/>
            </a:endParaRPr>
          </a:p>
          <a:p>
            <a:pPr marL="0" indent="0">
              <a:buFont typeface="Arial"/>
              <a:buNone/>
              <a:defRPr/>
            </a:pPr>
            <a:r>
              <a:rPr lang="en-US" sz="2200" b="1" i="0" u="none" strike="noStrike" cap="none" spc="0">
                <a:solidFill>
                  <a:srgbClr val="00B050"/>
                </a:solidFill>
                <a:latin typeface="Times New Roman"/>
                <a:ea typeface="Times New Roman"/>
                <a:cs typeface="Times New Roman"/>
              </a:rPr>
              <a:t>  "name": "Maria Papadopoulou",</a:t>
            </a:r>
            <a:endParaRPr lang="en-US" sz="2200" b="1" i="0" u="none" strike="noStrike" cap="none" spc="0">
              <a:solidFill>
                <a:srgbClr val="00B050"/>
              </a:solidFill>
              <a:latin typeface="Times New Roman"/>
              <a:cs typeface="Times New Roman"/>
            </a:endParaRPr>
          </a:p>
          <a:p>
            <a:pPr marL="0" indent="0">
              <a:buFont typeface="Arial"/>
              <a:buNone/>
              <a:defRPr/>
            </a:pPr>
            <a:r>
              <a:rPr lang="en-US" sz="2200" b="1" i="0" u="none" strike="noStrike" cap="none" spc="0">
                <a:solidFill>
                  <a:srgbClr val="00B050"/>
                </a:solidFill>
                <a:latin typeface="Times New Roman"/>
                <a:ea typeface="Times New Roman"/>
                <a:cs typeface="Times New Roman"/>
              </a:rPr>
              <a:t>  "department": "Electrical and Computer Engineering",</a:t>
            </a:r>
            <a:endParaRPr lang="en-US" sz="2200" b="1" i="0" u="none" strike="noStrike" cap="none" spc="0">
              <a:solidFill>
                <a:srgbClr val="00B050"/>
              </a:solidFill>
              <a:latin typeface="Times New Roman"/>
              <a:cs typeface="Times New Roman"/>
            </a:endParaRPr>
          </a:p>
          <a:p>
            <a:pPr marL="0" indent="0">
              <a:buFont typeface="Arial"/>
              <a:buNone/>
              <a:defRPr/>
            </a:pPr>
            <a:r>
              <a:rPr lang="en-US" sz="2200" b="1" i="0" u="none" strike="noStrike" cap="none" spc="0">
                <a:solidFill>
                  <a:srgbClr val="00B050"/>
                </a:solidFill>
                <a:latin typeface="Times New Roman"/>
                <a:ea typeface="Times New Roman"/>
                <a:cs typeface="Times New Roman"/>
              </a:rPr>
              <a:t>  "email": "maria.papadopoulou@uth.gr"</a:t>
            </a:r>
            <a:endParaRPr lang="en-US" sz="2200" b="1" i="0" u="none" strike="noStrike" cap="none" spc="0">
              <a:solidFill>
                <a:srgbClr val="00B050"/>
              </a:solidFill>
              <a:latin typeface="Times New Roman"/>
              <a:ea typeface="Times New Roman"/>
              <a:cs typeface="Times New Roman"/>
            </a:endParaRPr>
          </a:p>
          <a:p>
            <a:pPr marL="0" indent="0">
              <a:buFont typeface="Arial"/>
              <a:buNone/>
              <a:defRPr/>
            </a:pPr>
            <a:r>
              <a:rPr lang="en-US" sz="2200" b="1" i="0" u="none" strike="noStrike" cap="none" spc="0">
                <a:solidFill>
                  <a:srgbClr val="00B050"/>
                </a:solidFill>
                <a:latin typeface="Times New Roman"/>
                <a:cs typeface="Times New Roman"/>
              </a:rPr>
              <a:t>}</a:t>
            </a:r>
            <a:endParaRPr lang="en-US" sz="2200" b="1" i="0" u="none" strike="noStrike" cap="none" spc="0">
              <a:solidFill>
                <a:srgbClr val="00B050"/>
              </a:solidFill>
              <a:latin typeface="Times New Roman"/>
              <a:cs typeface="Times New Roman"/>
            </a:endParaRPr>
          </a:p>
          <a:p>
            <a:pPr marL="0" indent="0">
              <a:buFont typeface="Arial"/>
              <a:buNone/>
              <a:defRPr/>
            </a:pPr>
            <a:endParaRPr lang="en-US" sz="2200" b="1" i="0" u="none" strike="noStrike" cap="none" spc="0">
              <a:solidFill>
                <a:srgbClr val="00B050"/>
              </a:solidFill>
              <a:latin typeface="Times New Roman"/>
              <a:cs typeface="Times New Roman"/>
            </a:endParaRPr>
          </a:p>
          <a:p>
            <a:pPr>
              <a:defRPr/>
            </a:pPr>
            <a:endParaRPr lang="en-US" sz="2200" b="1" i="0" u="none" strike="noStrike" cap="none" spc="0">
              <a:solidFill>
                <a:srgbClr val="00B050"/>
              </a:solidFill>
              <a:latin typeface="Times New Roman"/>
              <a:cs typeface="Times New Roman"/>
            </a:endParaRPr>
          </a:p>
          <a:p>
            <a:pPr>
              <a:defRPr/>
            </a:pPr>
            <a:endParaRPr lang="en-US" sz="2200" b="1" i="0" u="none" strike="noStrike" cap="none" spc="0">
              <a:solidFill>
                <a:srgbClr val="00B050"/>
              </a:solidFill>
              <a:latin typeface="Times New Roman"/>
              <a:cs typeface="Times New Roman"/>
            </a:endParaRPr>
          </a:p>
          <a:p>
            <a:pPr>
              <a:defRPr/>
            </a:pPr>
            <a:r>
              <a:rPr lang="en-US" sz="2200" b="1" i="0" u="none" strike="noStrike" cap="none" spc="0">
                <a:solidFill>
                  <a:srgbClr val="00B050"/>
                </a:solidFill>
                <a:latin typeface="Times New Roman"/>
                <a:ea typeface="Times New Roman"/>
                <a:cs typeface="Times New Roman"/>
              </a:rPr>
              <a:t>db.students.createIndex({ student_id: 1 })</a:t>
            </a:r>
            <a:r>
              <a:rPr lang="en-US" sz="2200" b="1" i="0" u="none" strike="noStrike" cap="none" spc="0">
                <a:solidFill>
                  <a:srgbClr val="00B050"/>
                </a:solidFill>
                <a:latin typeface="Times New Roman"/>
                <a:ea typeface="Times New Roman"/>
                <a:cs typeface="Times New Roman"/>
              </a:rPr>
              <a:t> MONGODB INDEX</a:t>
            </a:r>
            <a:endParaRPr lang="en-US" sz="2200" b="1" i="0" u="none" strike="noStrike" cap="none" spc="0">
              <a:solidFill>
                <a:srgbClr val="00B050"/>
              </a:solidFill>
              <a:latin typeface="Times New Roman"/>
              <a:cs typeface="Times New Roman"/>
            </a:endParaRPr>
          </a:p>
          <a:p>
            <a:pPr marL="0" indent="0">
              <a:buFont typeface="Arial"/>
              <a:buNone/>
              <a:defRPr/>
            </a:pPr>
            <a:endParaRPr sz="8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1">
    <p:spTree>
      <p:nvGrpSpPr>
        <p:cNvPr id="1" name=""/>
        <p:cNvGrpSpPr/>
        <p:nvPr/>
      </p:nvGrpSpPr>
      <p:grpSpPr bwMode="auto">
        <a:xfrm>
          <a:off x="0" y="0"/>
          <a:ext cx="0" cy="0"/>
          <a:chOff x="0" y="0"/>
          <a:chExt cx="0" cy="0"/>
        </a:xfrm>
      </p:grpSpPr>
      <p:sp>
        <p:nvSpPr>
          <p:cNvPr id="1060882968"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913375082"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477293710"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Why Indexes are Critical</a:t>
            </a:r>
            <a:endParaRPr lang="en-US" sz="2600"/>
          </a:p>
        </p:txBody>
      </p:sp>
      <p:sp>
        <p:nvSpPr>
          <p:cNvPr id="200276032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545074842"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701985902"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409614318"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Without Index</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Performs a full collection scan</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Reads every document one by one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Query time: O(N) — linear growth</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1 million documents → 1M comparisons</a:t>
            </a:r>
            <a:endParaRPr lang="en-US" sz="1600"/>
          </a:p>
        </p:txBody>
      </p:sp>
      <p:sp>
        <p:nvSpPr>
          <p:cNvPr id="681565668"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With Index</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Consults pre-sorted B-tree structure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Jumps directly to matching documents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Query time: O(log N) — logarithmic</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1 million documents → ~20 comparisons</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463892" name="Content Placeholder 2"/>
          <p:cNvSpPr>
            <a:spLocks noGrp="1"/>
          </p:cNvSpPr>
          <p:nvPr>
            <p:ph sz="half" idx="1"/>
          </p:nvPr>
        </p:nvSpPr>
        <p:spPr bwMode="auto">
          <a:xfrm flipH="0" flipV="0">
            <a:off x="838198" y="306159"/>
            <a:ext cx="10514072" cy="6327320"/>
          </a:xfrm>
        </p:spPr>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lang="en-US" sz="2800" b="1" i="0" u="none" strike="noStrike" cap="none" spc="0">
                <a:solidFill>
                  <a:srgbClr val="00B050"/>
                </a:solidFill>
                <a:latin typeface="Times New Roman"/>
                <a:ea typeface="Times New Roman"/>
                <a:cs typeface="Times New Roman"/>
              </a:rPr>
              <a:t>{</a:t>
            </a:r>
            <a:endParaRPr sz="2800" b="1" i="0" u="none" strike="noStrike" cap="none" spc="0">
              <a:solidFill>
                <a:srgbClr val="00B050"/>
              </a:solidFill>
              <a:latin typeface="Times New Roman"/>
              <a:cs typeface="Times New Roman"/>
            </a:endParaRPr>
          </a:p>
          <a:p>
            <a:pPr marL="0" indent="0">
              <a:buFont typeface="Arial"/>
              <a:buNone/>
              <a:defRPr/>
            </a:pPr>
            <a:r>
              <a:rPr lang="en-US" sz="2800" b="1" i="0" u="none" strike="noStrike" cap="none" spc="0">
                <a:solidFill>
                  <a:srgbClr val="00B050"/>
                </a:solidFill>
                <a:latin typeface="Times New Roman"/>
                <a:ea typeface="Times New Roman"/>
                <a:cs typeface="Times New Roman"/>
              </a:rPr>
              <a:t>  "registration_id": "REG938201",</a:t>
            </a:r>
            <a:endParaRPr sz="2800" b="1" i="0" u="none" strike="noStrike" cap="none" spc="0">
              <a:solidFill>
                <a:srgbClr val="00B050"/>
              </a:solidFill>
              <a:latin typeface="Times New Roman"/>
              <a:cs typeface="Times New Roman"/>
            </a:endParaRPr>
          </a:p>
          <a:p>
            <a:pPr marL="0" indent="0">
              <a:buFont typeface="Arial"/>
              <a:buNone/>
              <a:defRPr/>
            </a:pPr>
            <a:r>
              <a:rPr lang="en-US" sz="2800" b="1" i="0" u="none" strike="noStrike" cap="none" spc="0">
                <a:solidFill>
                  <a:srgbClr val="00B050"/>
                </a:solidFill>
                <a:latin typeface="Times New Roman"/>
                <a:ea typeface="Times New Roman"/>
                <a:cs typeface="Times New Roman"/>
              </a:rPr>
              <a:t>  "student_id": "ECE202400123",</a:t>
            </a:r>
            <a:endParaRPr sz="2800" b="1" i="0" u="none" strike="noStrike" cap="none" spc="0">
              <a:solidFill>
                <a:srgbClr val="00B050"/>
              </a:solidFill>
              <a:latin typeface="Times New Roman"/>
              <a:cs typeface="Times New Roman"/>
            </a:endParaRPr>
          </a:p>
          <a:p>
            <a:pPr marL="0" indent="0">
              <a:buFont typeface="Arial"/>
              <a:buNone/>
              <a:defRPr/>
            </a:pPr>
            <a:r>
              <a:rPr lang="en-US" sz="2800" b="1" i="0" u="none" strike="noStrike" cap="none" spc="0">
                <a:solidFill>
                  <a:srgbClr val="00B050"/>
                </a:solidFill>
                <a:latin typeface="Times New Roman"/>
                <a:ea typeface="Times New Roman"/>
                <a:cs typeface="Times New Roman"/>
              </a:rPr>
              <a:t>  "course_id": "ECE460",</a:t>
            </a:r>
            <a:endParaRPr sz="2800" b="1" i="0" u="none" strike="noStrike" cap="none" spc="0">
              <a:solidFill>
                <a:srgbClr val="00B050"/>
              </a:solidFill>
              <a:latin typeface="Times New Roman"/>
              <a:cs typeface="Times New Roman"/>
            </a:endParaRPr>
          </a:p>
          <a:p>
            <a:pPr marL="0" indent="0">
              <a:buFont typeface="Arial"/>
              <a:buNone/>
              <a:defRPr/>
            </a:pPr>
            <a:r>
              <a:rPr lang="en-US" sz="2800" b="1" i="0" u="none" strike="noStrike" cap="none" spc="0">
                <a:solidFill>
                  <a:srgbClr val="00B050"/>
                </a:solidFill>
                <a:latin typeface="Times New Roman"/>
                <a:ea typeface="Times New Roman"/>
                <a:cs typeface="Times New Roman"/>
              </a:rPr>
              <a:t>  "semester": "Spring 2026",</a:t>
            </a:r>
            <a:endParaRPr sz="2800" b="1" i="0" u="none" strike="noStrike" cap="none" spc="0">
              <a:solidFill>
                <a:srgbClr val="00B050"/>
              </a:solidFill>
              <a:latin typeface="Times New Roman"/>
              <a:cs typeface="Times New Roman"/>
            </a:endParaRPr>
          </a:p>
          <a:p>
            <a:pPr marL="0" indent="0">
              <a:buFont typeface="Arial"/>
              <a:buNone/>
              <a:defRPr/>
            </a:pPr>
            <a:r>
              <a:rPr lang="en-US" sz="2800" b="1" i="0" u="none" strike="noStrike" cap="none" spc="0">
                <a:solidFill>
                  <a:srgbClr val="00B050"/>
                </a:solidFill>
                <a:latin typeface="Times New Roman"/>
                <a:ea typeface="Times New Roman"/>
                <a:cs typeface="Times New Roman"/>
              </a:rPr>
              <a:t>  "grade": null</a:t>
            </a:r>
            <a:endParaRPr sz="2800" b="1" i="0" u="none" strike="noStrike" cap="none" spc="0">
              <a:solidFill>
                <a:srgbClr val="00B050"/>
              </a:solidFill>
              <a:latin typeface="Times New Roman"/>
              <a:cs typeface="Times New Roman"/>
            </a:endParaRPr>
          </a:p>
          <a:p>
            <a:pPr marL="0" indent="0">
              <a:buFont typeface="Arial"/>
              <a:buNone/>
              <a:defRPr/>
            </a:pPr>
            <a:r>
              <a:rPr lang="en-US" sz="2800" b="1" i="0" u="none" strike="noStrike" cap="none" spc="0">
                <a:solidFill>
                  <a:srgbClr val="00B050"/>
                </a:solidFill>
                <a:latin typeface="Times New Roman"/>
                <a:ea typeface="Times New Roman"/>
                <a:cs typeface="Times New Roman"/>
              </a:rPr>
              <a:t>}</a:t>
            </a:r>
            <a:endParaRPr sz="2800" b="1">
              <a:solidFill>
                <a:srgbClr val="00B050"/>
              </a:solidFill>
              <a:latin typeface="Times New Roman"/>
              <a:cs typeface="Times New Roman"/>
            </a:endParaRPr>
          </a:p>
          <a:p>
            <a:pPr marL="0" indent="0">
              <a:buFont typeface="Arial"/>
              <a:buNone/>
              <a:defRPr/>
            </a:pPr>
            <a:endParaRPr sz="2800" b="1">
              <a:solidFill>
                <a:srgbClr val="00B050"/>
              </a:solidFill>
              <a:latin typeface="Times New Roman"/>
              <a:cs typeface="Times New Roman"/>
            </a:endParaRPr>
          </a:p>
          <a:p>
            <a:pPr marL="0" indent="0">
              <a:buFont typeface="Arial"/>
              <a:buNone/>
              <a:defRPr/>
            </a:pPr>
            <a:endParaRPr sz="2800" b="1">
              <a:solidFill>
                <a:srgbClr val="00B050"/>
              </a:solidFill>
              <a:latin typeface="Times New Roman"/>
              <a:cs typeface="Times New Roman"/>
            </a:endParaRPr>
          </a:p>
          <a:p>
            <a:pPr marL="0" indent="0">
              <a:buFont typeface="Arial"/>
              <a:buNone/>
              <a:defRPr/>
            </a:pPr>
            <a:r>
              <a:rPr lang="en-US" sz="2800" b="1" i="0" u="none" strike="noStrike" cap="none" spc="0">
                <a:solidFill>
                  <a:srgbClr val="00B050"/>
                </a:solidFill>
                <a:latin typeface="Times New Roman"/>
                <a:ea typeface="Times New Roman"/>
                <a:cs typeface="Times New Roman"/>
              </a:rPr>
              <a:t>Find all registrations where student_id = "ECE202400123"</a:t>
            </a:r>
            <a:endParaRPr sz="2800" b="1">
              <a:solidFill>
                <a:srgbClr val="00B050"/>
              </a:solidFill>
              <a:latin typeface="Times New Roman"/>
              <a:cs typeface="Times New Roman"/>
            </a:endParaRPr>
          </a:p>
          <a:p>
            <a:pPr marL="0" indent="0">
              <a:buFont typeface="Arial"/>
              <a:buNone/>
              <a:defRPr/>
            </a:pPr>
            <a:endParaRPr sz="2800" b="1">
              <a:solidFill>
                <a:srgbClr val="00B050"/>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2">
    <p:spTree>
      <p:nvGrpSpPr>
        <p:cNvPr id="1" name=""/>
        <p:cNvGrpSpPr/>
        <p:nvPr/>
      </p:nvGrpSpPr>
      <p:grpSpPr bwMode="auto">
        <a:xfrm>
          <a:off x="0" y="0"/>
          <a:ext cx="0" cy="0"/>
          <a:chOff x="0" y="0"/>
          <a:chExt cx="0" cy="0"/>
        </a:xfrm>
      </p:grpSpPr>
      <p:sp>
        <p:nvSpPr>
          <p:cNvPr id="52720477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682269363"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028748411"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When to Create an Index</a:t>
            </a:r>
            <a:endParaRPr lang="en-US" sz="2600"/>
          </a:p>
        </p:txBody>
      </p:sp>
      <p:sp>
        <p:nvSpPr>
          <p:cNvPr id="2009771116"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976712489"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Index fields used in frequent filter conditions (find queries)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Index fields used in sort operations on large collections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Index fields used for uniqueness constraints (email, username)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Do NOT index every field — writes become unacceptably slow</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Profile slow queries first — index based on evidence, not guesses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3">
    <p:spTree>
      <p:nvGrpSpPr>
        <p:cNvPr id="1" name=""/>
        <p:cNvGrpSpPr/>
        <p:nvPr/>
      </p:nvGrpSpPr>
      <p:grpSpPr bwMode="auto">
        <a:xfrm>
          <a:off x="0" y="0"/>
          <a:ext cx="0" cy="0"/>
          <a:chOff x="0" y="0"/>
          <a:chExt cx="0" cy="0"/>
        </a:xfrm>
      </p:grpSpPr>
      <p:sp>
        <p:nvSpPr>
          <p:cNvPr id="1552919325"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932064714"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2007416137"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Types of Indexes</a:t>
            </a:r>
            <a:endParaRPr lang="en-US" sz="2600"/>
          </a:p>
        </p:txBody>
      </p:sp>
      <p:sp>
        <p:nvSpPr>
          <p:cNvPr id="201998689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61498079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Single field: index on one field — email, student_id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Compound: index on multiple fields together — city + age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Text: full-text search index for searching inside string content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Geospatial: indexes GPS coordinates for location-based queries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Unique: enforces that no two documents share the same field value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spTree>
      <p:nvGrpSpPr>
        <p:cNvPr id="1" name=""/>
        <p:cNvGrpSpPr/>
        <p:nvPr/>
      </p:nvGrpSpPr>
      <p:grpSpPr bwMode="auto">
        <a:xfrm>
          <a:off x="0" y="0"/>
          <a:ext cx="0" cy="0"/>
          <a:chOff x="0" y="0"/>
          <a:chExt cx="0" cy="0"/>
        </a:xfrm>
      </p:grpSpPr>
      <p:sp>
        <p:nvSpPr>
          <p:cNvPr id="1432502238"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85359976"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61726305"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Creating an Index</a:t>
            </a:r>
            <a:endParaRPr lang="en-US" sz="2600"/>
          </a:p>
        </p:txBody>
      </p:sp>
      <p:sp>
        <p:nvSpPr>
          <p:cNvPr id="1399343301"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150931866"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Command: db.students.createIndex({ email: 1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Collection: students — specifies which collection to index</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Field: email — the field the index will be built 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Value 1: ascending sort order (use -1 for descending)</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DB builds and maintains the index automatically from this point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5">
    <p:spTree>
      <p:nvGrpSpPr>
        <p:cNvPr id="1" name=""/>
        <p:cNvGrpSpPr/>
        <p:nvPr/>
      </p:nvGrpSpPr>
      <p:grpSpPr bwMode="auto">
        <a:xfrm>
          <a:off x="0" y="0"/>
          <a:ext cx="0" cy="0"/>
          <a:chOff x="0" y="0"/>
          <a:chExt cx="0" cy="0"/>
        </a:xfrm>
      </p:grpSpPr>
      <p:sp>
        <p:nvSpPr>
          <p:cNvPr id="355526083"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323727255"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29625620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is a Query?</a:t>
            </a:r>
            <a:endParaRPr lang="en-US" sz="2600"/>
          </a:p>
        </p:txBody>
      </p:sp>
      <p:sp>
        <p:nvSpPr>
          <p:cNvPr id="1343608938"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160096329"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 structured request to the database for specific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Expressed as a JSON object matching the shape of desired data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database evaluates conditions and returns matching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Query planner automatically selects the best available index</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Results are returned as an array of JSON documents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5480576" name="Content Placeholder 2"/>
          <p:cNvSpPr>
            <a:spLocks noGrp="1"/>
          </p:cNvSpPr>
          <p:nvPr>
            <p:ph sz="half" idx="1"/>
          </p:nvPr>
        </p:nvSpPr>
        <p:spPr bwMode="auto">
          <a:xfrm flipH="0" flipV="0">
            <a:off x="838198" y="306159"/>
            <a:ext cx="10514072" cy="6327320"/>
          </a:xfrm>
        </p:spPr>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lang="en-US" sz="2800" b="1" i="0" u="none" strike="noStrike" cap="none" spc="0">
                <a:solidFill>
                  <a:srgbClr val="00B050"/>
                </a:solidFill>
                <a:latin typeface="Times New Roman"/>
                <a:ea typeface="Times New Roman"/>
                <a:cs typeface="Times New Roman"/>
              </a:rPr>
              <a:t>For example, a query searching for students in a particular department might look like this:</a:t>
            </a:r>
            <a:endParaRPr sz="2800" b="1">
              <a:solidFill>
                <a:srgbClr val="00B050"/>
              </a:solidFill>
              <a:latin typeface="Times New Roman"/>
              <a:cs typeface="Times New Roman"/>
            </a:endParaRPr>
          </a:p>
          <a:p>
            <a:pPr marL="0" indent="0">
              <a:buFont typeface="Arial"/>
              <a:buNone/>
              <a:defRPr/>
            </a:pPr>
            <a:endParaRPr sz="2800" b="1">
              <a:solidFill>
                <a:srgbClr val="00B050"/>
              </a:solidFill>
              <a:latin typeface="Times New Roman"/>
              <a:cs typeface="Times New Roman"/>
            </a:endParaRPr>
          </a:p>
          <a:p>
            <a:pPr marL="0" indent="0">
              <a:buFont typeface="Arial"/>
              <a:buNone/>
              <a:defRPr/>
            </a:pPr>
            <a:endParaRPr sz="2800" b="1">
              <a:solidFill>
                <a:srgbClr val="00B050"/>
              </a:solidFill>
              <a:latin typeface="Times New Roman"/>
              <a:cs typeface="Times New Roman"/>
            </a:endParaRPr>
          </a:p>
          <a:p>
            <a:pPr marL="0" indent="0">
              <a:buFont typeface="Arial"/>
              <a:buNone/>
              <a:defRPr/>
            </a:pPr>
            <a:r>
              <a:rPr lang="en-US" sz="2800" b="1" i="0" u="none" strike="noStrike" cap="none" spc="0">
                <a:solidFill>
                  <a:srgbClr val="7030A0"/>
                </a:solidFill>
                <a:latin typeface="Times New Roman"/>
                <a:ea typeface="Times New Roman"/>
                <a:cs typeface="Times New Roman"/>
              </a:rPr>
              <a:t>db.students.find({ department: "Electrical and Computer Engineering" })</a:t>
            </a:r>
            <a:endParaRPr sz="2800" b="1">
              <a:solidFill>
                <a:srgbClr val="7030A0"/>
              </a:solidFill>
              <a:latin typeface="Times New Roman"/>
              <a:cs typeface="Times New Roman"/>
            </a:endParaRPr>
          </a:p>
          <a:p>
            <a:pPr marL="0" indent="0">
              <a:buFont typeface="Arial"/>
              <a:buNone/>
              <a:defRPr/>
            </a:pPr>
            <a:endParaRPr sz="2800" b="1">
              <a:solidFill>
                <a:srgbClr val="7030A0"/>
              </a:solidFill>
              <a:latin typeface="Times New Roman"/>
              <a:cs typeface="Times New Roman"/>
            </a:endParaRPr>
          </a:p>
          <a:p>
            <a:pPr marL="0" indent="0">
              <a:buFont typeface="Arial"/>
              <a:buNone/>
              <a:defRPr/>
            </a:pPr>
            <a:r>
              <a:rPr lang="en-US" sz="2800" b="1" i="0" u="none" strike="noStrike" cap="none" spc="0">
                <a:solidFill>
                  <a:srgbClr val="00B050"/>
                </a:solidFill>
                <a:latin typeface="Times New Roman"/>
                <a:ea typeface="Times New Roman"/>
                <a:cs typeface="Times New Roman"/>
              </a:rPr>
              <a:t>This command shows whether the query uses an index or performs a full collection scan, along with additional details about the execution strategy.</a:t>
            </a:r>
            <a:endParaRPr sz="2800" b="1">
              <a:solidFill>
                <a:srgbClr val="7030A0"/>
              </a:solidFill>
              <a:latin typeface="Times New Roman"/>
              <a:cs typeface="Times New Roman"/>
            </a:endParaRPr>
          </a:p>
          <a:p>
            <a:pPr marL="0" indent="0">
              <a:buFont typeface="Arial"/>
              <a:buNone/>
              <a:defRPr/>
            </a:pPr>
            <a:endParaRPr sz="2800" b="1">
              <a:solidFill>
                <a:srgbClr val="7030A0"/>
              </a:solidFill>
              <a:latin typeface="Times New Roman"/>
              <a:cs typeface="Times New Roman"/>
            </a:endParaRPr>
          </a:p>
          <a:p>
            <a:pPr marL="0" indent="0">
              <a:buFont typeface="Arial"/>
              <a:buNone/>
              <a:defRPr/>
            </a:pPr>
            <a:r>
              <a:rPr lang="en-US" sz="2800" b="1" i="0" u="none" strike="noStrike" cap="none" spc="0">
                <a:solidFill>
                  <a:srgbClr val="7030A0"/>
                </a:solidFill>
                <a:latin typeface="Times New Roman"/>
                <a:ea typeface="Times New Roman"/>
                <a:cs typeface="Times New Roman"/>
              </a:rPr>
              <a:t>db.students.find({ department: "ECE" }).explain()</a:t>
            </a:r>
            <a:endParaRPr sz="2800" b="1">
              <a:solidFill>
                <a:srgbClr val="7030A0"/>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6">
    <p:spTree>
      <p:nvGrpSpPr>
        <p:cNvPr id="1" name=""/>
        <p:cNvGrpSpPr/>
        <p:nvPr/>
      </p:nvGrpSpPr>
      <p:grpSpPr bwMode="auto">
        <a:xfrm>
          <a:off x="0" y="0"/>
          <a:ext cx="0" cy="0"/>
          <a:chOff x="0" y="0"/>
          <a:chExt cx="0" cy="0"/>
        </a:xfrm>
      </p:grpSpPr>
      <p:sp>
        <p:nvSpPr>
          <p:cNvPr id="556220452"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955858026"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024905569"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Query Using an Index</a:t>
            </a:r>
            <a:endParaRPr lang="en-US" sz="2600"/>
          </a:p>
        </p:txBody>
      </p:sp>
      <p:sp>
        <p:nvSpPr>
          <p:cNvPr id="199151306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17857824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Command: db.students.find({ email: 'maria@example.com'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query planner detects the email index exists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Traverses the B-tree index to find 'maria@example.com'</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Retrieves only the matching document's disk location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Fetches the document directly — typically under 1 millisecond</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7">
    <p:spTree>
      <p:nvGrpSpPr>
        <p:cNvPr id="1" name=""/>
        <p:cNvGrpSpPr/>
        <p:nvPr/>
      </p:nvGrpSpPr>
      <p:grpSpPr bwMode="auto">
        <a:xfrm>
          <a:off x="0" y="0"/>
          <a:ext cx="0" cy="0"/>
          <a:chOff x="0" y="0"/>
          <a:chExt cx="0" cy="0"/>
        </a:xfrm>
      </p:grpSpPr>
      <p:sp>
        <p:nvSpPr>
          <p:cNvPr id="207935070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88087630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059079804"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Simple Query &amp; Projection</a:t>
            </a:r>
            <a:endParaRPr lang="en-US" sz="2600"/>
          </a:p>
        </p:txBody>
      </p:sp>
      <p:sp>
        <p:nvSpPr>
          <p:cNvPr id="888500408"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46267340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Find all students in Volos: db.students.find({ city: 'Volos'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Returns all documents where city exactly matches 'Volos'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Projection: db.students.find({ city: 'Volos' }, { name: 1, email: 1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Projection returns only name and email — all other fields stripped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Less data sent over the network → faster response for mobile apps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8">
    <p:spTree>
      <p:nvGrpSpPr>
        <p:cNvPr id="1" name=""/>
        <p:cNvGrpSpPr/>
        <p:nvPr/>
      </p:nvGrpSpPr>
      <p:grpSpPr bwMode="auto">
        <a:xfrm>
          <a:off x="0" y="0"/>
          <a:ext cx="0" cy="0"/>
          <a:chOff x="0" y="0"/>
          <a:chExt cx="0" cy="0"/>
        </a:xfrm>
      </p:grpSpPr>
      <p:sp>
        <p:nvSpPr>
          <p:cNvPr id="1978094840"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362574582"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499812019"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Filtering with Operators</a:t>
            </a:r>
            <a:endParaRPr lang="en-US" sz="2600"/>
          </a:p>
        </p:txBody>
      </p:sp>
      <p:sp>
        <p:nvSpPr>
          <p:cNvPr id="153092937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71695128"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$gt / $lt: greater than / less than — { age: { $gt: 20 }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$gte / $lte: greater or equal / less or equal</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$ne: not equal — { status: { $ne: 'inactive' }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$in: matches any value in array — { city: { $in: ['Volos','Athens'] }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$and / $or: combine multiple conditions logically</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0268224" name="Content Placeholder 2"/>
          <p:cNvSpPr>
            <a:spLocks noGrp="1"/>
          </p:cNvSpPr>
          <p:nvPr>
            <p:ph sz="half" idx="1"/>
          </p:nvPr>
        </p:nvSpPr>
        <p:spPr bwMode="auto">
          <a:xfrm flipH="0" flipV="0">
            <a:off x="838198" y="306159"/>
            <a:ext cx="10514072" cy="6327320"/>
          </a:xfrm>
        </p:spPr>
        <p:txBody>
          <a:bodyPr vertOverflow="overflow" horzOverflow="overflow" vert="horz" wrap="square" lIns="91440" tIns="45720" rIns="91440" bIns="45720" numCol="1" spcCol="0" rtlCol="0" fromWordArt="0" anchor="t" anchorCtr="0" forceAA="0" upright="0" compatLnSpc="0">
            <a:normAutofit/>
          </a:bodyPr>
          <a:lstStyle/>
          <a:p>
            <a:pPr>
              <a:defRPr/>
            </a:pPr>
            <a:r>
              <a:rPr lang="en-US" sz="2800" b="1" i="0" u="none" strike="noStrike" cap="none" spc="0">
                <a:solidFill>
                  <a:srgbClr val="7030A0"/>
                </a:solidFill>
                <a:latin typeface="Times New Roman"/>
                <a:ea typeface="Times New Roman"/>
                <a:cs typeface="Times New Roman"/>
              </a:rPr>
              <a:t>Question</a:t>
            </a:r>
            <a:endParaRPr lang="en-US" sz="2800" b="1" i="0" u="none" strike="noStrike" cap="none" spc="0">
              <a:solidFill>
                <a:srgbClr val="7030A0"/>
              </a:solidFill>
              <a:latin typeface="Times New Roman"/>
              <a:cs typeface="Times New Roman"/>
            </a:endParaRPr>
          </a:p>
          <a:p>
            <a:pPr>
              <a:defRPr/>
            </a:pPr>
            <a:endParaRPr lang="en-US" sz="2800" b="1" i="0" u="none" strike="noStrike" cap="none" spc="0">
              <a:solidFill>
                <a:srgbClr val="7030A0"/>
              </a:solidFill>
              <a:latin typeface="Times New Roman"/>
              <a:cs typeface="Times New Roman"/>
            </a:endParaRPr>
          </a:p>
          <a:p>
            <a:pPr>
              <a:defRPr/>
            </a:pPr>
            <a:r>
              <a:rPr lang="en-US" sz="2800" b="1" i="0" u="none" strike="noStrike" cap="none" spc="0">
                <a:solidFill>
                  <a:srgbClr val="7030A0"/>
                </a:solidFill>
                <a:latin typeface="Times New Roman"/>
                <a:ea typeface="Times New Roman"/>
                <a:cs typeface="Times New Roman"/>
              </a:rPr>
              <a:t>How would you write a query to find students who are older than 20 and live in either Volos or Athens?</a:t>
            </a:r>
            <a:endParaRPr lang="en-US" sz="2800" b="1" i="0" u="none" strike="noStrike" cap="none" spc="0">
              <a:solidFill>
                <a:srgbClr val="7030A0"/>
              </a:solidFill>
              <a:latin typeface="Times New Roman"/>
              <a:cs typeface="Times New Roman"/>
            </a:endParaRPr>
          </a:p>
          <a:p>
            <a:pPr>
              <a:defRPr/>
            </a:pPr>
            <a:endParaRPr lang="en-US" sz="2800" b="1" i="0" u="none" strike="noStrike" cap="none" spc="0">
              <a:solidFill>
                <a:srgbClr val="7030A0"/>
              </a:solidFill>
              <a:latin typeface="Times New Roman"/>
              <a:cs typeface="Times New Roman"/>
            </a:endParaRPr>
          </a:p>
          <a:p>
            <a:pPr>
              <a:defRPr/>
            </a:pPr>
            <a:r>
              <a:rPr lang="en-US" sz="2800" b="1" i="0" u="none" strike="noStrike" cap="none" spc="0">
                <a:solidFill>
                  <a:srgbClr val="7030A0"/>
                </a:solidFill>
                <a:latin typeface="Times New Roman"/>
                <a:ea typeface="Times New Roman"/>
                <a:cs typeface="Times New Roman"/>
              </a:rPr>
              <a:t>Answer</a:t>
            </a:r>
            <a:endParaRPr lang="en-US" sz="2800" b="1" i="0" u="none" strike="noStrike" cap="none" spc="0">
              <a:solidFill>
                <a:srgbClr val="7030A0"/>
              </a:solidFill>
              <a:latin typeface="Times New Roman"/>
              <a:cs typeface="Times New Roman"/>
            </a:endParaRPr>
          </a:p>
          <a:p>
            <a:pPr>
              <a:defRPr/>
            </a:pPr>
            <a:endParaRPr lang="en-US" sz="2800" b="1" i="0" u="none" strike="noStrike" cap="none" spc="0">
              <a:solidFill>
                <a:srgbClr val="7030A0"/>
              </a:solidFill>
              <a:latin typeface="Times New Roman"/>
              <a:cs typeface="Times New Roman"/>
            </a:endParaRPr>
          </a:p>
          <a:p>
            <a:pPr>
              <a:defRPr/>
            </a:pPr>
            <a:r>
              <a:rPr lang="en-US" sz="2800" b="1" i="0" u="none" strike="noStrike" cap="none" spc="0">
                <a:solidFill>
                  <a:srgbClr val="00B050"/>
                </a:solidFill>
                <a:latin typeface="Times New Roman"/>
                <a:ea typeface="Times New Roman"/>
                <a:cs typeface="Times New Roman"/>
              </a:rPr>
              <a:t>db.students.find({</a:t>
            </a:r>
            <a:endParaRPr sz="2800" b="1" i="0" u="none" strike="noStrike" cap="none" spc="0">
              <a:solidFill>
                <a:srgbClr val="00B050"/>
              </a:solidFill>
              <a:latin typeface="Times New Roman"/>
              <a:cs typeface="Times New Roman"/>
            </a:endParaRPr>
          </a:p>
          <a:p>
            <a:pPr>
              <a:defRPr/>
            </a:pPr>
            <a:r>
              <a:rPr lang="en-US" sz="2800" b="1" i="0" u="none" strike="noStrike" cap="none" spc="0">
                <a:solidFill>
                  <a:srgbClr val="00B050"/>
                </a:solidFill>
                <a:latin typeface="Times New Roman"/>
                <a:ea typeface="Times New Roman"/>
                <a:cs typeface="Times New Roman"/>
              </a:rPr>
              <a:t>  age: { $gt: 20 },</a:t>
            </a:r>
            <a:endParaRPr sz="2800" b="1" i="0" u="none" strike="noStrike" cap="none" spc="0">
              <a:solidFill>
                <a:srgbClr val="00B050"/>
              </a:solidFill>
              <a:latin typeface="Times New Roman"/>
              <a:cs typeface="Times New Roman"/>
            </a:endParaRPr>
          </a:p>
          <a:p>
            <a:pPr>
              <a:defRPr/>
            </a:pPr>
            <a:r>
              <a:rPr lang="en-US" sz="2800" b="1" i="0" u="none" strike="noStrike" cap="none" spc="0">
                <a:solidFill>
                  <a:srgbClr val="00B050"/>
                </a:solidFill>
                <a:latin typeface="Times New Roman"/>
                <a:ea typeface="Times New Roman"/>
                <a:cs typeface="Times New Roman"/>
              </a:rPr>
              <a:t>  city: { $in: ["Volos", "Athens"] }</a:t>
            </a:r>
            <a:endParaRPr sz="2800" b="1" i="0" u="none" strike="noStrike" cap="none" spc="0">
              <a:solidFill>
                <a:srgbClr val="00B050"/>
              </a:solidFill>
              <a:latin typeface="Times New Roman"/>
              <a:cs typeface="Times New Roman"/>
            </a:endParaRPr>
          </a:p>
          <a:p>
            <a:pPr>
              <a:defRPr/>
            </a:pPr>
            <a:r>
              <a:rPr lang="en-US" sz="2800" b="1" i="0" u="none" strike="noStrike" cap="none" spc="0">
                <a:solidFill>
                  <a:srgbClr val="00B050"/>
                </a:solidFill>
                <a:latin typeface="Times New Roman"/>
                <a:ea typeface="Times New Roman"/>
                <a:cs typeface="Times New Roman"/>
              </a:rPr>
              <a:t>})</a:t>
            </a:r>
            <a:endParaRPr lang="en-US" sz="2800" b="1" i="0" u="none" strike="noStrike" cap="none" spc="0">
              <a:solidFill>
                <a:srgbClr val="7030A0"/>
              </a:solidFill>
              <a:latin typeface="Times New Roman"/>
              <a:cs typeface="Times New Roman"/>
            </a:endParaRPr>
          </a:p>
          <a:p>
            <a:pPr>
              <a:defRPr/>
            </a:pPr>
            <a:endParaRPr lang="en-US" sz="2800" b="1" i="0" u="none" strike="noStrike" cap="none" spc="0">
              <a:solidFill>
                <a:srgbClr val="7030A0"/>
              </a:solidFill>
              <a:latin typeface="Times New Roman"/>
              <a:cs typeface="Times New Roman"/>
            </a:endParaRPr>
          </a:p>
          <a:p>
            <a:pPr marL="0" indent="0">
              <a:buFont typeface="Arial"/>
              <a:buNone/>
              <a:defRPr/>
            </a:pPr>
            <a:r>
              <a:rPr lang="en-US" sz="2800" b="1" i="0" u="none" strike="noStrike" cap="none" spc="0">
                <a:solidFill>
                  <a:srgbClr val="7030A0"/>
                </a:solidFill>
                <a:latin typeface="Times New Roman"/>
                <a:ea typeface="Times New Roman"/>
                <a:cs typeface="Times New Roman"/>
              </a:rPr>
              <a:t>This query filters students whose age is greater than 20 and whose city is either Volos or Athens.</a:t>
            </a:r>
            <a:endParaRPr sz="2800" b="1">
              <a:solidFill>
                <a:srgbClr val="7030A0"/>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9">
    <p:spTree>
      <p:nvGrpSpPr>
        <p:cNvPr id="1" name=""/>
        <p:cNvGrpSpPr/>
        <p:nvPr/>
      </p:nvGrpSpPr>
      <p:grpSpPr bwMode="auto">
        <a:xfrm>
          <a:off x="0" y="0"/>
          <a:ext cx="0" cy="0"/>
          <a:chOff x="0" y="0"/>
          <a:chExt cx="0" cy="0"/>
        </a:xfrm>
      </p:grpSpPr>
      <p:sp>
        <p:nvSpPr>
          <p:cNvPr id="891157430"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289434993"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721385247"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Sorting and Limiting Results</a:t>
            </a:r>
            <a:endParaRPr lang="en-US" sz="2600"/>
          </a:p>
        </p:txBody>
      </p:sp>
      <p:sp>
        <p:nvSpPr>
          <p:cNvPr id="720033147"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083626539"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Sort ascending: .sort({ name: 1 }) — alphabetical A to Z</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Sort descending: .sort({ age: -1 }) — oldest first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Limit results: .limit(10) — return only the first 10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Skip for pagination: .skip(20).limit(10) — page 3 of 10 per page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Combined: db.students.find().sort({ name: 1 }).limit(20)</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0">
    <p:spTree>
      <p:nvGrpSpPr>
        <p:cNvPr id="1" name=""/>
        <p:cNvGrpSpPr/>
        <p:nvPr/>
      </p:nvGrpSpPr>
      <p:grpSpPr bwMode="auto">
        <a:xfrm>
          <a:off x="0" y="0"/>
          <a:ext cx="0" cy="0"/>
          <a:chOff x="0" y="0"/>
          <a:chExt cx="0" cy="0"/>
        </a:xfrm>
      </p:grpSpPr>
      <p:sp>
        <p:nvSpPr>
          <p:cNvPr id="183556531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34044531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427196092"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Queries Do NOT Do</a:t>
            </a:r>
            <a:endParaRPr lang="en-US" sz="2600"/>
          </a:p>
        </p:txBody>
      </p:sp>
      <p:sp>
        <p:nvSpPr>
          <p:cNvPr id="581920142"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916920389"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Queries do NOT join across multiple collections automatically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Queries do NOT restructure document shape at retrieval time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If frequent cross-collection joins are needed, schema is wrong</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Application-level joins: fetch from A, fetch from B, merge in code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Design the document to match query needs — not the reverse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1">
    <p:spTree>
      <p:nvGrpSpPr>
        <p:cNvPr id="1" name=""/>
        <p:cNvGrpSpPr/>
        <p:nvPr/>
      </p:nvGrpSpPr>
      <p:grpSpPr bwMode="auto">
        <a:xfrm>
          <a:off x="0" y="0"/>
          <a:ext cx="0" cy="0"/>
          <a:chOff x="0" y="0"/>
          <a:chExt cx="0" cy="0"/>
        </a:xfrm>
      </p:grpSpPr>
      <p:sp>
        <p:nvSpPr>
          <p:cNvPr id="6674403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148129535"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83225909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Common Querying Mistakes</a:t>
            </a:r>
            <a:endParaRPr lang="en-US" sz="2600"/>
          </a:p>
        </p:txBody>
      </p:sp>
      <p:sp>
        <p:nvSpPr>
          <p:cNvPr id="947746716"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505820067"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Indexing every field: cripples write performance with too many B-trees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Fetching all documents and filtering in the application code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Sorting in application memory instead of using the database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Ignoring query explain plans — never verifying an index is used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Schema designed without knowing the access patterns first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2">
    <p:spTree>
      <p:nvGrpSpPr>
        <p:cNvPr id="1" name=""/>
        <p:cNvGrpSpPr/>
        <p:nvPr/>
      </p:nvGrpSpPr>
      <p:grpSpPr bwMode="auto">
        <a:xfrm>
          <a:off x="0" y="0"/>
          <a:ext cx="0" cy="0"/>
          <a:chOff x="0" y="0"/>
          <a:chExt cx="0" cy="0"/>
        </a:xfrm>
      </p:grpSpPr>
      <p:sp>
        <p:nvSpPr>
          <p:cNvPr id="1259486950" name="Shape 0"/>
          <p:cNvSpPr/>
          <p:nvPr/>
        </p:nvSpPr>
        <p:spPr bwMode="auto">
          <a:xfrm>
            <a:off x="0" y="0"/>
            <a:ext cx="12192000" cy="6858000"/>
          </a:xfrm>
          <a:prstGeom prst="rect">
            <a:avLst/>
          </a:prstGeom>
          <a:solidFill>
            <a:srgbClr val="141C4A"/>
          </a:solidFill>
          <a:ln w="12700">
            <a:solidFill>
              <a:srgbClr val="141C4A"/>
            </a:solidFill>
            <a:prstDash val="solid"/>
          </a:ln>
        </p:spPr>
      </p:sp>
      <p:sp>
        <p:nvSpPr>
          <p:cNvPr id="12677257" name="Shape 1"/>
          <p:cNvSpPr/>
          <p:nvPr/>
        </p:nvSpPr>
        <p:spPr bwMode="auto">
          <a:xfrm>
            <a:off x="365760" y="1463040"/>
            <a:ext cx="73152" cy="1463040"/>
          </a:xfrm>
          <a:prstGeom prst="rect">
            <a:avLst/>
          </a:prstGeom>
          <a:solidFill>
            <a:srgbClr val="7EC8E3"/>
          </a:solidFill>
          <a:ln w="12700">
            <a:solidFill>
              <a:srgbClr val="7EC8E3"/>
            </a:solidFill>
            <a:prstDash val="solid"/>
          </a:ln>
        </p:spPr>
      </p:sp>
      <p:sp>
        <p:nvSpPr>
          <p:cNvPr id="1816217871" name="Text 2"/>
          <p:cNvSpPr/>
          <p:nvPr/>
        </p:nvSpPr>
        <p:spPr bwMode="auto">
          <a:xfrm>
            <a:off x="640080" y="1463040"/>
            <a:ext cx="8046720" cy="1463040"/>
          </a:xfrm>
          <a:prstGeom prst="rect">
            <a:avLst/>
          </a:prstGeom>
          <a:noFill/>
          <a:ln/>
        </p:spPr>
        <p:txBody>
          <a:bodyPr wrap="square" rtlCol="0" anchor="ctr"/>
          <a:lstStyle/>
          <a:p>
            <a:pPr marL="0" indent="0" algn="l">
              <a:buNone/>
              <a:defRPr/>
            </a:pPr>
            <a:r>
              <a:rPr lang="en-US" sz="4400" b="1">
                <a:solidFill>
                  <a:srgbClr val="FFFFFF"/>
                </a:solidFill>
                <a:latin typeface="Calibri"/>
                <a:ea typeface="Calibri"/>
                <a:cs typeface="Calibri"/>
              </a:rPr>
              <a:t>MODULE 4</a:t>
            </a:r>
            <a:endParaRPr lang="en-US" sz="4400"/>
          </a:p>
        </p:txBody>
      </p:sp>
      <p:sp>
        <p:nvSpPr>
          <p:cNvPr id="621922892" name="Shape 3"/>
          <p:cNvSpPr/>
          <p:nvPr/>
        </p:nvSpPr>
        <p:spPr bwMode="auto">
          <a:xfrm>
            <a:off x="640080" y="3063240"/>
            <a:ext cx="3200400" cy="54864"/>
          </a:xfrm>
          <a:prstGeom prst="rect">
            <a:avLst/>
          </a:prstGeom>
          <a:solidFill>
            <a:srgbClr val="7EC8E3">
              <a:alpha val="60000"/>
            </a:srgbClr>
          </a:solidFill>
          <a:ln w="12700">
            <a:solidFill>
              <a:srgbClr val="7EC8E3">
                <a:alpha val="60000"/>
              </a:srgbClr>
            </a:solidFill>
            <a:prstDash val="solid"/>
          </a:ln>
        </p:spPr>
      </p:sp>
      <p:sp>
        <p:nvSpPr>
          <p:cNvPr id="496800326" name="Text 4"/>
          <p:cNvSpPr/>
          <p:nvPr/>
        </p:nvSpPr>
        <p:spPr bwMode="auto">
          <a:xfrm>
            <a:off x="640080" y="3246120"/>
            <a:ext cx="6400800" cy="548640"/>
          </a:xfrm>
          <a:prstGeom prst="rect">
            <a:avLst/>
          </a:prstGeom>
          <a:noFill/>
          <a:ln/>
        </p:spPr>
        <p:txBody>
          <a:bodyPr wrap="square" rtlCol="0" anchor="ctr"/>
          <a:lstStyle/>
          <a:p>
            <a:pPr marL="0" indent="0">
              <a:buNone/>
              <a:defRPr/>
            </a:pPr>
            <a:r>
              <a:rPr lang="en-US" sz="1800">
                <a:solidFill>
                  <a:srgbClr val="B8D4E8"/>
                </a:solidFill>
                <a:latin typeface="Calibri"/>
                <a:ea typeface="Calibri"/>
                <a:cs typeface="Calibri"/>
              </a:rPr>
              <a:t>Aggregation &amp; Analytics — Computing Results from Data</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3">
    <p:spTree>
      <p:nvGrpSpPr>
        <p:cNvPr id="1" name=""/>
        <p:cNvGrpSpPr/>
        <p:nvPr/>
      </p:nvGrpSpPr>
      <p:grpSpPr bwMode="auto">
        <a:xfrm>
          <a:off x="0" y="0"/>
          <a:ext cx="0" cy="0"/>
          <a:chOff x="0" y="0"/>
          <a:chExt cx="0" cy="0"/>
        </a:xfrm>
      </p:grpSpPr>
      <p:sp>
        <p:nvSpPr>
          <p:cNvPr id="772162199"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979362243"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81101026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is Aggregation?</a:t>
            </a:r>
            <a:endParaRPr lang="en-US" sz="2600"/>
          </a:p>
        </p:txBody>
      </p:sp>
      <p:sp>
        <p:nvSpPr>
          <p:cNvPr id="141380045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82506932"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Process multiple documents together and produce a computed result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Not a data retrieval operation — a computation operation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Produces new synthetic data: counts, averages, sums, groups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Results are not stored in the database unless explicitly requested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foundation of dashboards, reports, and business analytics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4">
    <p:spTree>
      <p:nvGrpSpPr>
        <p:cNvPr id="1" name=""/>
        <p:cNvGrpSpPr/>
        <p:nvPr/>
      </p:nvGrpSpPr>
      <p:grpSpPr bwMode="auto">
        <a:xfrm>
          <a:off x="0" y="0"/>
          <a:ext cx="0" cy="0"/>
          <a:chOff x="0" y="0"/>
          <a:chExt cx="0" cy="0"/>
        </a:xfrm>
      </p:grpSpPr>
      <p:sp>
        <p:nvSpPr>
          <p:cNvPr id="17980567"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201611837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395722124"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The Aggregation Pipeline</a:t>
            </a:r>
            <a:endParaRPr lang="en-US" sz="2600"/>
          </a:p>
        </p:txBody>
      </p:sp>
      <p:sp>
        <p:nvSpPr>
          <p:cNvPr id="7206068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388604141"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 pipeline is a sequence of processing stages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Documents flow through each stage, transformed step by step</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Each stage receives the output of the previous stage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Order of stages matters significantly for performance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Syntax: db.students.aggregate([ stage1, stage2, stage3 ])</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5">
    <p:spTree>
      <p:nvGrpSpPr>
        <p:cNvPr id="1" name=""/>
        <p:cNvGrpSpPr/>
        <p:nvPr/>
      </p:nvGrpSpPr>
      <p:grpSpPr bwMode="auto">
        <a:xfrm>
          <a:off x="0" y="0"/>
          <a:ext cx="0" cy="0"/>
          <a:chOff x="0" y="0"/>
          <a:chExt cx="0" cy="0"/>
        </a:xfrm>
      </p:grpSpPr>
      <p:sp>
        <p:nvSpPr>
          <p:cNvPr id="1491295990"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714640481"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906135565"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Core Pipeline Stages</a:t>
            </a:r>
            <a:endParaRPr lang="en-US" sz="2600"/>
          </a:p>
        </p:txBody>
      </p:sp>
      <p:sp>
        <p:nvSpPr>
          <p:cNvPr id="1864796589"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269258457"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366010430"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825261685"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$match — filter documents (like find)</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$group — group by field, apply accumulators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$project — reshape: include, exclude, compute fields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$sort — sort the result set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$limit / $skip — paginate aggregation results</a:t>
            </a:r>
            <a:endParaRPr lang="en-US" sz="1600"/>
          </a:p>
        </p:txBody>
      </p:sp>
      <p:sp>
        <p:nvSpPr>
          <p:cNvPr id="162103619"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$unwind — flatten array fields into separate documents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$lookup — left outer join with another collection</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$count — count matching documents into one result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$out — write result to a new collection</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$addFields — add computed fields without removing existing ones</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6">
    <p:spTree>
      <p:nvGrpSpPr>
        <p:cNvPr id="1" name=""/>
        <p:cNvGrpSpPr/>
        <p:nvPr/>
      </p:nvGrpSpPr>
      <p:grpSpPr bwMode="auto">
        <a:xfrm>
          <a:off x="0" y="0"/>
          <a:ext cx="0" cy="0"/>
          <a:chOff x="0" y="0"/>
          <a:chExt cx="0" cy="0"/>
        </a:xfrm>
      </p:grpSpPr>
      <p:sp>
        <p:nvSpPr>
          <p:cNvPr id="538983246"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516264088"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525677241"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Aggregation Example: Count by City</a:t>
            </a:r>
            <a:endParaRPr lang="en-US" sz="2600"/>
          </a:p>
        </p:txBody>
      </p:sp>
      <p:sp>
        <p:nvSpPr>
          <p:cNvPr id="49137704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52546606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Goal: count how many students are in each city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Stage 1 — $group: group by city field, count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 $group: { _id: '$city', total_students: { $sum: 1 } }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Result: [ { _id: 'Volos', total_students: 120 }, { _id: 'Athens', total_students: 200 }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One pipeline stage replaces complex application-level logic</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7">
    <p:spTree>
      <p:nvGrpSpPr>
        <p:cNvPr id="1" name=""/>
        <p:cNvGrpSpPr/>
        <p:nvPr/>
      </p:nvGrpSpPr>
      <p:grpSpPr bwMode="auto">
        <a:xfrm>
          <a:off x="0" y="0"/>
          <a:ext cx="0" cy="0"/>
          <a:chOff x="0" y="0"/>
          <a:chExt cx="0" cy="0"/>
        </a:xfrm>
      </p:grpSpPr>
      <p:sp>
        <p:nvSpPr>
          <p:cNvPr id="1757257647"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387128101"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49826828"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Aggregation Example: Average Grade</a:t>
            </a:r>
            <a:endParaRPr lang="en-US" sz="2600"/>
          </a:p>
        </p:txBody>
      </p:sp>
      <p:sp>
        <p:nvSpPr>
          <p:cNvPr id="188803786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80119046"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Goal: find average grade per course across all students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Stage 1 — $unwind: flatten courses array into one doc per course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Stage 2 — $group: group by course name, compute $avg of grade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 $group: { _id: '$courses.name', avgGrade: { $avg: '$courses.grade' } } }</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Result: [ { _id: 'NoSQL Databases', avgGrade: 7.8 } ... ]</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8">
    <p:spTree>
      <p:nvGrpSpPr>
        <p:cNvPr id="1" name=""/>
        <p:cNvGrpSpPr/>
        <p:nvPr/>
      </p:nvGrpSpPr>
      <p:grpSpPr bwMode="auto">
        <a:xfrm>
          <a:off x="0" y="0"/>
          <a:ext cx="0" cy="0"/>
          <a:chOff x="0" y="0"/>
          <a:chExt cx="0" cy="0"/>
        </a:xfrm>
      </p:grpSpPr>
      <p:sp>
        <p:nvSpPr>
          <p:cNvPr id="187019679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41537624"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464113765"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When to Avoid Aggregations</a:t>
            </a:r>
            <a:endParaRPr lang="en-US" sz="2600"/>
          </a:p>
        </p:txBody>
      </p:sp>
      <p:sp>
        <p:nvSpPr>
          <p:cNvPr id="138998708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2066465522"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Aggregations are NOT a replacement for analytics or BI systems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Do not run heavy aggregations on every user-facing page load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Avoid aggregations that scan millions of documents in real-time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Alternative: pre-compute and store results as summary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For very large workloads, use dedicated data warehouses (BigQuery, Redshift)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9">
    <p:spTree>
      <p:nvGrpSpPr>
        <p:cNvPr id="1" name=""/>
        <p:cNvGrpSpPr/>
        <p:nvPr/>
      </p:nvGrpSpPr>
      <p:grpSpPr bwMode="auto">
        <a:xfrm>
          <a:off x="0" y="0"/>
          <a:ext cx="0" cy="0"/>
          <a:chOff x="0" y="0"/>
          <a:chExt cx="0" cy="0"/>
        </a:xfrm>
      </p:grpSpPr>
      <p:sp>
        <p:nvSpPr>
          <p:cNvPr id="1916102783" name="Shape 0"/>
          <p:cNvSpPr/>
          <p:nvPr/>
        </p:nvSpPr>
        <p:spPr bwMode="auto">
          <a:xfrm>
            <a:off x="0" y="0"/>
            <a:ext cx="12192000" cy="6858000"/>
          </a:xfrm>
          <a:prstGeom prst="rect">
            <a:avLst/>
          </a:prstGeom>
          <a:solidFill>
            <a:srgbClr val="141C4A"/>
          </a:solidFill>
          <a:ln w="12700">
            <a:solidFill>
              <a:srgbClr val="141C4A"/>
            </a:solidFill>
            <a:prstDash val="solid"/>
          </a:ln>
        </p:spPr>
      </p:sp>
      <p:sp>
        <p:nvSpPr>
          <p:cNvPr id="1939295545" name="Shape 1"/>
          <p:cNvSpPr/>
          <p:nvPr/>
        </p:nvSpPr>
        <p:spPr bwMode="auto">
          <a:xfrm>
            <a:off x="365760" y="1463040"/>
            <a:ext cx="73152" cy="1463040"/>
          </a:xfrm>
          <a:prstGeom prst="rect">
            <a:avLst/>
          </a:prstGeom>
          <a:solidFill>
            <a:srgbClr val="7EC8E3"/>
          </a:solidFill>
          <a:ln w="12700">
            <a:solidFill>
              <a:srgbClr val="7EC8E3"/>
            </a:solidFill>
            <a:prstDash val="solid"/>
          </a:ln>
        </p:spPr>
      </p:sp>
      <p:sp>
        <p:nvSpPr>
          <p:cNvPr id="1481434271" name="Text 2"/>
          <p:cNvSpPr/>
          <p:nvPr/>
        </p:nvSpPr>
        <p:spPr bwMode="auto">
          <a:xfrm>
            <a:off x="640080" y="1463040"/>
            <a:ext cx="8046720" cy="1463040"/>
          </a:xfrm>
          <a:prstGeom prst="rect">
            <a:avLst/>
          </a:prstGeom>
          <a:noFill/>
          <a:ln/>
        </p:spPr>
        <p:txBody>
          <a:bodyPr wrap="square" rtlCol="0" anchor="ctr"/>
          <a:lstStyle/>
          <a:p>
            <a:pPr marL="0" indent="0" algn="l">
              <a:buNone/>
              <a:defRPr/>
            </a:pPr>
            <a:r>
              <a:rPr lang="en-US" sz="4400" b="1">
                <a:solidFill>
                  <a:srgbClr val="FFFFFF"/>
                </a:solidFill>
                <a:latin typeface="Calibri"/>
                <a:ea typeface="Calibri"/>
                <a:cs typeface="Calibri"/>
              </a:rPr>
              <a:t>MODULE 5</a:t>
            </a:r>
            <a:endParaRPr lang="en-US" sz="4400"/>
          </a:p>
        </p:txBody>
      </p:sp>
      <p:sp>
        <p:nvSpPr>
          <p:cNvPr id="1810432144" name="Shape 3"/>
          <p:cNvSpPr/>
          <p:nvPr/>
        </p:nvSpPr>
        <p:spPr bwMode="auto">
          <a:xfrm>
            <a:off x="640080" y="3063240"/>
            <a:ext cx="3200400" cy="54864"/>
          </a:xfrm>
          <a:prstGeom prst="rect">
            <a:avLst/>
          </a:prstGeom>
          <a:solidFill>
            <a:srgbClr val="7EC8E3">
              <a:alpha val="60000"/>
            </a:srgbClr>
          </a:solidFill>
          <a:ln w="12700">
            <a:solidFill>
              <a:srgbClr val="7EC8E3">
                <a:alpha val="60000"/>
              </a:srgbClr>
            </a:solidFill>
            <a:prstDash val="solid"/>
          </a:ln>
        </p:spPr>
      </p:sp>
      <p:sp>
        <p:nvSpPr>
          <p:cNvPr id="1945975567" name="Text 4"/>
          <p:cNvSpPr/>
          <p:nvPr/>
        </p:nvSpPr>
        <p:spPr bwMode="auto">
          <a:xfrm>
            <a:off x="640080" y="3246120"/>
            <a:ext cx="6400800" cy="548640"/>
          </a:xfrm>
          <a:prstGeom prst="rect">
            <a:avLst/>
          </a:prstGeom>
          <a:noFill/>
          <a:ln/>
        </p:spPr>
        <p:txBody>
          <a:bodyPr wrap="square" rtlCol="0" anchor="ctr"/>
          <a:lstStyle/>
          <a:p>
            <a:pPr marL="0" indent="0">
              <a:buNone/>
              <a:defRPr/>
            </a:pPr>
            <a:r>
              <a:rPr lang="en-US" sz="1800">
                <a:solidFill>
                  <a:srgbClr val="B8D4E8"/>
                </a:solidFill>
                <a:latin typeface="Calibri"/>
                <a:ea typeface="Calibri"/>
                <a:cs typeface="Calibri"/>
              </a:rPr>
              <a:t>APIs — The Foundation of Modern Communication</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0">
    <p:spTree>
      <p:nvGrpSpPr>
        <p:cNvPr id="1" name=""/>
        <p:cNvGrpSpPr/>
        <p:nvPr/>
      </p:nvGrpSpPr>
      <p:grpSpPr bwMode="auto">
        <a:xfrm>
          <a:off x="0" y="0"/>
          <a:ext cx="0" cy="0"/>
          <a:chOff x="0" y="0"/>
          <a:chExt cx="0" cy="0"/>
        </a:xfrm>
      </p:grpSpPr>
      <p:sp>
        <p:nvSpPr>
          <p:cNvPr id="2134056795"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82839001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46158311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is an API?</a:t>
            </a:r>
            <a:endParaRPr lang="en-US" sz="2600"/>
          </a:p>
        </p:txBody>
      </p:sp>
      <p:sp>
        <p:nvSpPr>
          <p:cNvPr id="451282188"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511120843"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API: Application Programming Interface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 set of rules allowing different software systems to communicate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Frontends never query the database directly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Frontends send requests to the backend API</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backend translates those requests into database operations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1">
    <p:spTree>
      <p:nvGrpSpPr>
        <p:cNvPr id="1" name=""/>
        <p:cNvGrpSpPr/>
        <p:nvPr/>
      </p:nvGrpSpPr>
      <p:grpSpPr bwMode="auto">
        <a:xfrm>
          <a:off x="0" y="0"/>
          <a:ext cx="0" cy="0"/>
          <a:chOff x="0" y="0"/>
          <a:chExt cx="0" cy="0"/>
        </a:xfrm>
      </p:grpSpPr>
      <p:sp>
        <p:nvSpPr>
          <p:cNvPr id="813008738"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26965224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53672262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Main Characteristics of REST APIs</a:t>
            </a:r>
            <a:endParaRPr lang="en-US" sz="2600"/>
          </a:p>
        </p:txBody>
      </p:sp>
      <p:sp>
        <p:nvSpPr>
          <p:cNvPr id="45821999"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766299156"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Stateless: every request contains all information needed — no sessions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Resource-based: data treated as named resources (Student, Course)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Uniform Interface: consistent rules applied to all resources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JSON format: data exchanged as lightweight, human-readable text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Cacheable: GET responses can be cached by browsers and CDNs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2">
    <p:spTree>
      <p:nvGrpSpPr>
        <p:cNvPr id="1" name=""/>
        <p:cNvGrpSpPr/>
        <p:nvPr/>
      </p:nvGrpSpPr>
      <p:grpSpPr bwMode="auto">
        <a:xfrm>
          <a:off x="0" y="0"/>
          <a:ext cx="0" cy="0"/>
          <a:chOff x="0" y="0"/>
          <a:chExt cx="0" cy="0"/>
        </a:xfrm>
      </p:grpSpPr>
      <p:sp>
        <p:nvSpPr>
          <p:cNvPr id="44545879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086673634"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88318512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CRUD Operations Mapped to HTTP</a:t>
            </a:r>
            <a:endParaRPr lang="en-US" sz="2600"/>
          </a:p>
        </p:txBody>
      </p:sp>
      <p:sp>
        <p:nvSpPr>
          <p:cNvPr id="48553679"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892482775"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1719086618"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1212830397"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Create → POST /students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Read → GET /students/123</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Update (full) → PUT /students/123</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Update (partial) → PATCH /students/123</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Delete → DELETE /students/123</a:t>
            </a:r>
            <a:endParaRPr lang="en-US" sz="1600"/>
          </a:p>
        </p:txBody>
      </p:sp>
      <p:sp>
        <p:nvSpPr>
          <p:cNvPr id="416465277"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POST sends new data in the request body</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GET retrieves — never modifies server data</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PUT replaces the entire document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PATCH updates only the specified fields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DELETE removes the resource permanently</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3">
    <p:spTree>
      <p:nvGrpSpPr>
        <p:cNvPr id="1" name=""/>
        <p:cNvGrpSpPr/>
        <p:nvPr/>
      </p:nvGrpSpPr>
      <p:grpSpPr bwMode="auto">
        <a:xfrm>
          <a:off x="0" y="0"/>
          <a:ext cx="0" cy="0"/>
          <a:chOff x="0" y="0"/>
          <a:chExt cx="0" cy="0"/>
        </a:xfrm>
      </p:grpSpPr>
      <p:sp>
        <p:nvSpPr>
          <p:cNvPr id="348612526"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583109138"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743674800"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API Request: Path &amp; Query Parameters</a:t>
            </a:r>
            <a:endParaRPr lang="en-US" sz="2600"/>
          </a:p>
        </p:txBody>
      </p:sp>
      <p:sp>
        <p:nvSpPr>
          <p:cNvPr id="212538135"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524436827"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1009317323"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1912154509"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Path Parameters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Embedded directly in the URL path</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Identify one specific resource uniquely</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Example: /api/students/12345</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Used for: GET, PUT, PATCH, DELETE by ID</a:t>
            </a:r>
            <a:endParaRPr lang="en-US" sz="1600"/>
          </a:p>
        </p:txBody>
      </p:sp>
      <p:sp>
        <p:nvSpPr>
          <p:cNvPr id="604697285"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Query Parameters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Appended after ? in the URL</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Filter, sort, search, or paginate a list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Example: /api/students?city=Volos&amp;sort=name</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Used for: optional refinements on collections</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4">
    <p:spTree>
      <p:nvGrpSpPr>
        <p:cNvPr id="1" name=""/>
        <p:cNvGrpSpPr/>
        <p:nvPr/>
      </p:nvGrpSpPr>
      <p:grpSpPr bwMode="auto">
        <a:xfrm>
          <a:off x="0" y="0"/>
          <a:ext cx="0" cy="0"/>
          <a:chOff x="0" y="0"/>
          <a:chExt cx="0" cy="0"/>
        </a:xfrm>
      </p:grpSpPr>
      <p:sp>
        <p:nvSpPr>
          <p:cNvPr id="1792187757"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83732379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778826400"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API Request: Body &amp; Headers</a:t>
            </a:r>
            <a:endParaRPr lang="en-US" sz="2600"/>
          </a:p>
        </p:txBody>
      </p:sp>
      <p:sp>
        <p:nvSpPr>
          <p:cNvPr id="370906139"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2054794618"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171610949"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1954698003"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Request Body (Payload)</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Main data sent with POST, PUT, or PATCH</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Contains complex nested JSON structures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Transmitted securely — not visible in URL</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Can carry megabytes of structured data safely</a:t>
            </a:r>
            <a:endParaRPr lang="en-US" sz="1600"/>
          </a:p>
        </p:txBody>
      </p:sp>
      <p:sp>
        <p:nvSpPr>
          <p:cNvPr id="546957443"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Request Headers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Metadata about the request itself</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Authorization: Bearer &lt;token&gt; for security</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Content-Type: application/json signals format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Accept: tells server what format client expects</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5">
    <p:spTree>
      <p:nvGrpSpPr>
        <p:cNvPr id="1" name=""/>
        <p:cNvGrpSpPr/>
        <p:nvPr/>
      </p:nvGrpSpPr>
      <p:grpSpPr bwMode="auto">
        <a:xfrm>
          <a:off x="0" y="0"/>
          <a:ext cx="0" cy="0"/>
          <a:chOff x="0" y="0"/>
          <a:chExt cx="0" cy="0"/>
        </a:xfrm>
      </p:grpSpPr>
      <p:sp>
        <p:nvSpPr>
          <p:cNvPr id="1656418083"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74265667"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220029598"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HTTP Response Status Codes</a:t>
            </a:r>
            <a:endParaRPr lang="en-US" sz="2600"/>
          </a:p>
        </p:txBody>
      </p:sp>
      <p:sp>
        <p:nvSpPr>
          <p:cNvPr id="170168849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913388980"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200 OK — request succeeded, data returned in body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201 Created — new resource saved successfully (POST)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400 Bad Request — client sent invalid or malformed data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401 Unauthorized — missing or invalid authentication token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404 Not Found — requested resource does not exist in DB</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6">
    <p:spTree>
      <p:nvGrpSpPr>
        <p:cNvPr id="1" name=""/>
        <p:cNvGrpSpPr/>
        <p:nvPr/>
      </p:nvGrpSpPr>
      <p:grpSpPr bwMode="auto">
        <a:xfrm>
          <a:off x="0" y="0"/>
          <a:ext cx="0" cy="0"/>
          <a:chOff x="0" y="0"/>
          <a:chExt cx="0" cy="0"/>
        </a:xfrm>
      </p:grpSpPr>
      <p:sp>
        <p:nvSpPr>
          <p:cNvPr id="1605047263"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357254641"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37560705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API Authentication Methods</a:t>
            </a:r>
            <a:endParaRPr lang="en-US" sz="2600"/>
          </a:p>
        </p:txBody>
      </p:sp>
      <p:sp>
        <p:nvSpPr>
          <p:cNvPr id="845033418"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369663870"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API Key: a static secret passed in a header — simple but less secure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JWT (JSON Web Token): signed token encoding user identity and roles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OAuth 2.0: delegated access — Sign in with Google / GitHub</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Basic Auth: username:password in Base64 — only safe over HTTPS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Bearer Token: JWT sent as Authorization: Bearer &lt;token&gt; header</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7">
    <p:spTree>
      <p:nvGrpSpPr>
        <p:cNvPr id="1" name=""/>
        <p:cNvGrpSpPr/>
        <p:nvPr/>
      </p:nvGrpSpPr>
      <p:grpSpPr bwMode="auto">
        <a:xfrm>
          <a:off x="0" y="0"/>
          <a:ext cx="0" cy="0"/>
          <a:chOff x="0" y="0"/>
          <a:chExt cx="0" cy="0"/>
        </a:xfrm>
      </p:grpSpPr>
      <p:sp>
        <p:nvSpPr>
          <p:cNvPr id="1002883018" name="Shape 0"/>
          <p:cNvSpPr/>
          <p:nvPr/>
        </p:nvSpPr>
        <p:spPr bwMode="auto">
          <a:xfrm>
            <a:off x="0" y="0"/>
            <a:ext cx="12192000" cy="6858000"/>
          </a:xfrm>
          <a:prstGeom prst="rect">
            <a:avLst/>
          </a:prstGeom>
          <a:solidFill>
            <a:srgbClr val="141C4A"/>
          </a:solidFill>
          <a:ln w="12700">
            <a:solidFill>
              <a:srgbClr val="141C4A"/>
            </a:solidFill>
            <a:prstDash val="solid"/>
          </a:ln>
        </p:spPr>
      </p:sp>
      <p:sp>
        <p:nvSpPr>
          <p:cNvPr id="2087991280" name="Shape 1"/>
          <p:cNvSpPr/>
          <p:nvPr/>
        </p:nvSpPr>
        <p:spPr bwMode="auto">
          <a:xfrm>
            <a:off x="365760" y="1463040"/>
            <a:ext cx="73152" cy="1463040"/>
          </a:xfrm>
          <a:prstGeom prst="rect">
            <a:avLst/>
          </a:prstGeom>
          <a:solidFill>
            <a:srgbClr val="7EC8E3"/>
          </a:solidFill>
          <a:ln w="12700">
            <a:solidFill>
              <a:srgbClr val="7EC8E3"/>
            </a:solidFill>
            <a:prstDash val="solid"/>
          </a:ln>
        </p:spPr>
      </p:sp>
      <p:sp>
        <p:nvSpPr>
          <p:cNvPr id="1055284409" name="Text 2"/>
          <p:cNvSpPr/>
          <p:nvPr/>
        </p:nvSpPr>
        <p:spPr bwMode="auto">
          <a:xfrm>
            <a:off x="640080" y="1463040"/>
            <a:ext cx="8046720" cy="1463040"/>
          </a:xfrm>
          <a:prstGeom prst="rect">
            <a:avLst/>
          </a:prstGeom>
          <a:noFill/>
          <a:ln/>
        </p:spPr>
        <p:txBody>
          <a:bodyPr wrap="square" rtlCol="0" anchor="ctr"/>
          <a:lstStyle/>
          <a:p>
            <a:pPr marL="0" indent="0" algn="l">
              <a:buNone/>
              <a:defRPr/>
            </a:pPr>
            <a:r>
              <a:rPr lang="en-US" sz="4400" b="1">
                <a:solidFill>
                  <a:srgbClr val="FFFFFF"/>
                </a:solidFill>
                <a:latin typeface="Calibri"/>
                <a:ea typeface="Calibri"/>
                <a:cs typeface="Calibri"/>
              </a:rPr>
              <a:t>MODULE 6</a:t>
            </a:r>
            <a:endParaRPr lang="en-US" sz="4400"/>
          </a:p>
        </p:txBody>
      </p:sp>
      <p:sp>
        <p:nvSpPr>
          <p:cNvPr id="1574656102" name="Shape 3"/>
          <p:cNvSpPr/>
          <p:nvPr/>
        </p:nvSpPr>
        <p:spPr bwMode="auto">
          <a:xfrm>
            <a:off x="640080" y="3063240"/>
            <a:ext cx="3200400" cy="54864"/>
          </a:xfrm>
          <a:prstGeom prst="rect">
            <a:avLst/>
          </a:prstGeom>
          <a:solidFill>
            <a:srgbClr val="7EC8E3">
              <a:alpha val="60000"/>
            </a:srgbClr>
          </a:solidFill>
          <a:ln w="12700">
            <a:solidFill>
              <a:srgbClr val="7EC8E3">
                <a:alpha val="60000"/>
              </a:srgbClr>
            </a:solidFill>
            <a:prstDash val="solid"/>
          </a:ln>
        </p:spPr>
      </p:sp>
      <p:sp>
        <p:nvSpPr>
          <p:cNvPr id="919288651" name="Text 4"/>
          <p:cNvSpPr/>
          <p:nvPr/>
        </p:nvSpPr>
        <p:spPr bwMode="auto">
          <a:xfrm>
            <a:off x="640080" y="3246120"/>
            <a:ext cx="6400800" cy="548640"/>
          </a:xfrm>
          <a:prstGeom prst="rect">
            <a:avLst/>
          </a:prstGeom>
          <a:noFill/>
          <a:ln/>
        </p:spPr>
        <p:txBody>
          <a:bodyPr wrap="square" rtlCol="0" anchor="ctr"/>
          <a:lstStyle/>
          <a:p>
            <a:pPr marL="0" indent="0">
              <a:buNone/>
              <a:defRPr/>
            </a:pPr>
            <a:r>
              <a:rPr lang="en-US" sz="1800">
                <a:solidFill>
                  <a:srgbClr val="B8D4E8"/>
                </a:solidFill>
                <a:latin typeface="Calibri"/>
                <a:ea typeface="Calibri"/>
                <a:cs typeface="Calibri"/>
              </a:rPr>
              <a:t>Schema Design, APIs &amp; Microservices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8">
    <p:spTree>
      <p:nvGrpSpPr>
        <p:cNvPr id="1" name=""/>
        <p:cNvGrpSpPr/>
        <p:nvPr/>
      </p:nvGrpSpPr>
      <p:grpSpPr bwMode="auto">
        <a:xfrm>
          <a:off x="0" y="0"/>
          <a:ext cx="0" cy="0"/>
          <a:chOff x="0" y="0"/>
          <a:chExt cx="0" cy="0"/>
        </a:xfrm>
      </p:grpSpPr>
      <p:sp>
        <p:nvSpPr>
          <p:cNvPr id="1119196583"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28661949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18999418"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Schema Design Philosophy</a:t>
            </a:r>
            <a:endParaRPr lang="en-US" sz="2600"/>
          </a:p>
        </p:txBody>
      </p:sp>
      <p:sp>
        <p:nvSpPr>
          <p:cNvPr id="199386064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53558394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Schema design does NOT start from tables or normalisation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Schema design does NOT start from entity relationships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Schema design starts from the API request the app will make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Key question: what does this endpoint need to return?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Design the document to answer that question in one query</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9">
    <p:spTree>
      <p:nvGrpSpPr>
        <p:cNvPr id="1" name=""/>
        <p:cNvGrpSpPr/>
        <p:nvPr/>
      </p:nvGrpSpPr>
      <p:grpSpPr bwMode="auto">
        <a:xfrm>
          <a:off x="0" y="0"/>
          <a:ext cx="0" cy="0"/>
          <a:chOff x="0" y="0"/>
          <a:chExt cx="0" cy="0"/>
        </a:xfrm>
      </p:grpSpPr>
      <p:sp>
        <p:nvSpPr>
          <p:cNvPr id="1886717642"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458173281"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50925314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Access Patterns</a:t>
            </a:r>
            <a:endParaRPr lang="en-US" sz="2600"/>
          </a:p>
        </p:txBody>
      </p:sp>
      <p:sp>
        <p:nvSpPr>
          <p:cNvPr id="1400720696"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843520696"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Access pattern: how and how often the application reads data</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Which fields are requested together in the same API call?</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How often is this read performed — once per day or 1000 times per second?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Is the data read more often than it is written?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Design schema and indexes to serve the most frequent access patterns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0">
    <p:spTree>
      <p:nvGrpSpPr>
        <p:cNvPr id="1" name=""/>
        <p:cNvGrpSpPr/>
        <p:nvPr/>
      </p:nvGrpSpPr>
      <p:grpSpPr bwMode="auto">
        <a:xfrm>
          <a:off x="0" y="0"/>
          <a:ext cx="0" cy="0"/>
          <a:chOff x="0" y="0"/>
          <a:chExt cx="0" cy="0"/>
        </a:xfrm>
      </p:grpSpPr>
      <p:sp>
        <p:nvSpPr>
          <p:cNvPr id="113809046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644916731"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942033564"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Embedding vs Referencing</a:t>
            </a:r>
            <a:endParaRPr lang="en-US" sz="2600"/>
          </a:p>
        </p:txBody>
      </p:sp>
      <p:sp>
        <p:nvSpPr>
          <p:cNvPr id="147245181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780853698" name="Shape 4"/>
          <p:cNvSpPr/>
          <p:nvPr/>
        </p:nvSpPr>
        <p:spPr bwMode="auto">
          <a:xfrm>
            <a:off x="4434840" y="1143000"/>
            <a:ext cx="36576" cy="4023360"/>
          </a:xfrm>
          <a:prstGeom prst="rect">
            <a:avLst/>
          </a:prstGeom>
          <a:solidFill>
            <a:srgbClr val="7EC8E3">
              <a:alpha val="50000"/>
            </a:srgbClr>
          </a:solidFill>
          <a:ln w="12700">
            <a:solidFill>
              <a:srgbClr val="7EC8E3">
                <a:alpha val="50000"/>
              </a:srgbClr>
            </a:solidFill>
            <a:prstDash val="solid"/>
          </a:ln>
        </p:spPr>
      </p:sp>
      <p:sp>
        <p:nvSpPr>
          <p:cNvPr id="898404236" name="Text 5"/>
          <p:cNvSpPr/>
          <p:nvPr/>
        </p:nvSpPr>
        <p:spPr bwMode="auto">
          <a:xfrm>
            <a:off x="365760" y="1097280"/>
            <a:ext cx="3840480" cy="4114800"/>
          </a:xfrm>
          <a:prstGeom prst="rect">
            <a:avLst/>
          </a:prstGeom>
          <a:noFill/>
          <a:ln/>
        </p:spPr>
        <p:txBody>
          <a:bodyPr wrap="square" rtlCol="0" anchor="t"/>
          <a:lstStyle/>
          <a:p>
            <a:pPr marL="0" indent="0">
              <a:buNone/>
              <a:defRPr/>
            </a:pPr>
            <a:endParaRPr lang="en-US"/>
          </a:p>
        </p:txBody>
      </p:sp>
      <p:sp>
        <p:nvSpPr>
          <p:cNvPr id="1204778072" name="Text 6"/>
          <p:cNvSpPr/>
          <p:nvPr/>
        </p:nvSpPr>
        <p:spPr bwMode="auto">
          <a:xfrm>
            <a:off x="365760" y="1234440"/>
            <a:ext cx="384048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Embedding</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Data stored inside the parent document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Single query returns everything</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Best for: data owned by one parent</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Best for: data always read together</a:t>
            </a:r>
            <a:endParaRPr lang="en-US" sz="1600"/>
          </a:p>
        </p:txBody>
      </p:sp>
      <p:sp>
        <p:nvSpPr>
          <p:cNvPr id="2015393864" name="Text 7"/>
          <p:cNvSpPr/>
          <p:nvPr/>
        </p:nvSpPr>
        <p:spPr bwMode="auto">
          <a:xfrm>
            <a:off x="4663440" y="1234440"/>
            <a:ext cx="3931920" cy="3931920"/>
          </a:xfrm>
          <a:prstGeom prst="rect">
            <a:avLst/>
          </a:prstGeom>
          <a:noFill/>
          <a:ln/>
        </p:spPr>
        <p:txBody>
          <a:bodyPr wrap="square" rtlCol="0" anchor="t"/>
          <a:lstStyle/>
          <a:p>
            <a:pPr marL="342900" indent="-342900">
              <a:lnSpc>
                <a:spcPct val="120000"/>
              </a:lnSpc>
              <a:spcAft>
                <a:spcPts val="1200"/>
              </a:spcAft>
              <a:buSzPct val="100000"/>
              <a:buChar char="▶"/>
              <a:defRPr/>
            </a:pPr>
            <a:r>
              <a:rPr lang="en-US" sz="1600">
                <a:solidFill>
                  <a:srgbClr val="FFFFFF"/>
                </a:solidFill>
                <a:latin typeface="Calibri"/>
                <a:ea typeface="Calibri"/>
                <a:cs typeface="Calibri"/>
              </a:rPr>
              <a:t>Referencing</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Store ID — look up in separate collection</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Requires multiple queries or $lookup</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Best for: shared data used by many parents</a:t>
            </a:r>
            <a:endParaRPr lang="en-US" sz="1600"/>
          </a:p>
          <a:p>
            <a:pPr marL="342900" indent="-342900">
              <a:lnSpc>
                <a:spcPct val="120000"/>
              </a:lnSpc>
              <a:spcAft>
                <a:spcPts val="1200"/>
              </a:spcAft>
              <a:buSzPct val="100000"/>
              <a:buChar char="▶"/>
              <a:defRPr/>
            </a:pPr>
            <a:r>
              <a:rPr lang="en-US" sz="1600">
                <a:solidFill>
                  <a:srgbClr val="FFFFFF"/>
                </a:solidFill>
                <a:latin typeface="Calibri"/>
                <a:ea typeface="Calibri"/>
                <a:cs typeface="Calibri"/>
              </a:rPr>
              <a:t>Best for: data updated independently</a:t>
            </a:r>
            <a:endParaRPr lang="en-US"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1">
    <p:spTree>
      <p:nvGrpSpPr>
        <p:cNvPr id="1" name=""/>
        <p:cNvGrpSpPr/>
        <p:nvPr/>
      </p:nvGrpSpPr>
      <p:grpSpPr bwMode="auto">
        <a:xfrm>
          <a:off x="0" y="0"/>
          <a:ext cx="0" cy="0"/>
          <a:chOff x="0" y="0"/>
          <a:chExt cx="0" cy="0"/>
        </a:xfrm>
      </p:grpSpPr>
      <p:sp>
        <p:nvSpPr>
          <p:cNvPr id="148121142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707528004"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999680699"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Embedding — When and Why</a:t>
            </a:r>
            <a:endParaRPr lang="en-US" sz="2600"/>
          </a:p>
        </p:txBody>
      </p:sp>
      <p:sp>
        <p:nvSpPr>
          <p:cNvPr id="492353476"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85500273"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Use embedding when data belongs to exactly one parent document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Use embedding when the data is always read together with the parent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Use embedding when the data has the same lifecycle as the parent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Example: student's course list is exclusively owned by the student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Result: one query returns the student and all their courses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2">
    <p:spTree>
      <p:nvGrpSpPr>
        <p:cNvPr id="1" name=""/>
        <p:cNvGrpSpPr/>
        <p:nvPr/>
      </p:nvGrpSpPr>
      <p:grpSpPr bwMode="auto">
        <a:xfrm>
          <a:off x="0" y="0"/>
          <a:ext cx="0" cy="0"/>
          <a:chOff x="0" y="0"/>
          <a:chExt cx="0" cy="0"/>
        </a:xfrm>
      </p:grpSpPr>
      <p:sp>
        <p:nvSpPr>
          <p:cNvPr id="1915507362"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304712587"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238866284"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Referencing — When and Why</a:t>
            </a:r>
            <a:endParaRPr lang="en-US" sz="2600"/>
          </a:p>
        </p:txBody>
      </p:sp>
      <p:sp>
        <p:nvSpPr>
          <p:cNvPr id="1240530682"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741888027"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Use references when data is shared across many parent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Use references when child data is updated independently of the parent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Use references when embedded arrays would grow without bound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Example: course catalog exists independently of any student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Result: two queries needed — but each entity is clean and independent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3">
    <p:spTree>
      <p:nvGrpSpPr>
        <p:cNvPr id="1" name=""/>
        <p:cNvGrpSpPr/>
        <p:nvPr/>
      </p:nvGrpSpPr>
      <p:grpSpPr bwMode="auto">
        <a:xfrm>
          <a:off x="0" y="0"/>
          <a:ext cx="0" cy="0"/>
          <a:chOff x="0" y="0"/>
          <a:chExt cx="0" cy="0"/>
        </a:xfrm>
      </p:grpSpPr>
      <p:sp>
        <p:nvSpPr>
          <p:cNvPr id="1725487854"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78122630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866476579"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Web App Pattern: One Request, One Document</a:t>
            </a:r>
            <a:endParaRPr lang="en-US" sz="2600"/>
          </a:p>
        </p:txBody>
      </p:sp>
      <p:sp>
        <p:nvSpPr>
          <p:cNvPr id="128036028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31218895"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Every web request expects a fast, complete response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Ideal: one HTTP request → one database query → one complete document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Design the document shape to match the frontend's exact data need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Example: GET /api/students/12345 returns student + courses in one document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Extra fields in the document are stripped via projection — no extra cost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4">
    <p:spTree>
      <p:nvGrpSpPr>
        <p:cNvPr id="1" name=""/>
        <p:cNvGrpSpPr/>
        <p:nvPr/>
      </p:nvGrpSpPr>
      <p:grpSpPr bwMode="auto">
        <a:xfrm>
          <a:off x="0" y="0"/>
          <a:ext cx="0" cy="0"/>
          <a:chOff x="0" y="0"/>
          <a:chExt cx="0" cy="0"/>
        </a:xfrm>
      </p:grpSpPr>
      <p:sp>
        <p:nvSpPr>
          <p:cNvPr id="76053066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20005336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627272904"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What are Microservices?</a:t>
            </a:r>
            <a:endParaRPr lang="en-US" sz="2600"/>
          </a:p>
        </p:txBody>
      </p:sp>
      <p:sp>
        <p:nvSpPr>
          <p:cNvPr id="1668389198"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94870819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An architecture where the system is built as many small, independent services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Each service has a single, well-defined responsibility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Services communicate with each other via APIs — never via shared databases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Each service is independently deployable and scalable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Failure in one service does not cascade to bring down the entire system</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5">
    <p:spTree>
      <p:nvGrpSpPr>
        <p:cNvPr id="1" name=""/>
        <p:cNvGrpSpPr/>
        <p:nvPr/>
      </p:nvGrpSpPr>
      <p:grpSpPr bwMode="auto">
        <a:xfrm>
          <a:off x="0" y="0"/>
          <a:ext cx="0" cy="0"/>
          <a:chOff x="0" y="0"/>
          <a:chExt cx="0" cy="0"/>
        </a:xfrm>
      </p:grpSpPr>
      <p:sp>
        <p:nvSpPr>
          <p:cNvPr id="309528970"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761540283"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701853542"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Microservices &amp; Document Databases</a:t>
            </a:r>
            <a:endParaRPr lang="en-US" sz="2600"/>
          </a:p>
        </p:txBody>
      </p:sp>
      <p:sp>
        <p:nvSpPr>
          <p:cNvPr id="780874202"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726612916"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Each microservice owns its own database — no sharing</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Student Service: owns students_db with student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Enrollment Service: owns enrollments_db with enrollment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two services never query each other's database directly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Services communicate exclusively via REST API calls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6">
    <p:spTree>
      <p:nvGrpSpPr>
        <p:cNvPr id="1" name=""/>
        <p:cNvGrpSpPr/>
        <p:nvPr/>
      </p:nvGrpSpPr>
      <p:grpSpPr bwMode="auto">
        <a:xfrm>
          <a:off x="0" y="0"/>
          <a:ext cx="0" cy="0"/>
          <a:chOff x="0" y="0"/>
          <a:chExt cx="0" cy="0"/>
        </a:xfrm>
      </p:grpSpPr>
      <p:sp>
        <p:nvSpPr>
          <p:cNvPr id="51582420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272707955"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963388707"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API Gateway Pattern</a:t>
            </a:r>
            <a:endParaRPr lang="en-US" sz="2600"/>
          </a:p>
        </p:txBody>
      </p:sp>
      <p:sp>
        <p:nvSpPr>
          <p:cNvPr id="587902931"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364248392"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API Gateway: a single entry point that composes responses from multiple services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Frontend calls the gateway — not individual microservices directly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Gateway calls Student Service and Enrollment Service in parallel</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Gateway merges the results in memory and returns one unified response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join happens in application code — never in the database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7">
    <p:spTree>
      <p:nvGrpSpPr>
        <p:cNvPr id="1" name=""/>
        <p:cNvGrpSpPr/>
        <p:nvPr/>
      </p:nvGrpSpPr>
      <p:grpSpPr bwMode="auto">
        <a:xfrm>
          <a:off x="0" y="0"/>
          <a:ext cx="0" cy="0"/>
          <a:chOff x="0" y="0"/>
          <a:chExt cx="0" cy="0"/>
        </a:xfrm>
      </p:grpSpPr>
      <p:sp>
        <p:nvSpPr>
          <p:cNvPr id="891636411" name="Shape 0"/>
          <p:cNvSpPr/>
          <p:nvPr/>
        </p:nvSpPr>
        <p:spPr bwMode="auto">
          <a:xfrm>
            <a:off x="0" y="0"/>
            <a:ext cx="12192000" cy="6858000"/>
          </a:xfrm>
          <a:prstGeom prst="rect">
            <a:avLst/>
          </a:prstGeom>
          <a:solidFill>
            <a:srgbClr val="141C4A"/>
          </a:solidFill>
          <a:ln w="12700">
            <a:solidFill>
              <a:srgbClr val="141C4A"/>
            </a:solidFill>
            <a:prstDash val="solid"/>
          </a:ln>
        </p:spPr>
      </p:sp>
      <p:sp>
        <p:nvSpPr>
          <p:cNvPr id="1475057996" name="Shape 1"/>
          <p:cNvSpPr/>
          <p:nvPr/>
        </p:nvSpPr>
        <p:spPr bwMode="auto">
          <a:xfrm>
            <a:off x="365760" y="1463040"/>
            <a:ext cx="73152" cy="1463040"/>
          </a:xfrm>
          <a:prstGeom prst="rect">
            <a:avLst/>
          </a:prstGeom>
          <a:solidFill>
            <a:srgbClr val="7EC8E3"/>
          </a:solidFill>
          <a:ln w="12700">
            <a:solidFill>
              <a:srgbClr val="7EC8E3"/>
            </a:solidFill>
            <a:prstDash val="solid"/>
          </a:ln>
        </p:spPr>
      </p:sp>
      <p:sp>
        <p:nvSpPr>
          <p:cNvPr id="901765343" name="Text 2"/>
          <p:cNvSpPr/>
          <p:nvPr/>
        </p:nvSpPr>
        <p:spPr bwMode="auto">
          <a:xfrm>
            <a:off x="640080" y="1463040"/>
            <a:ext cx="8046720" cy="1463040"/>
          </a:xfrm>
          <a:prstGeom prst="rect">
            <a:avLst/>
          </a:prstGeom>
          <a:noFill/>
          <a:ln/>
        </p:spPr>
        <p:txBody>
          <a:bodyPr wrap="square" rtlCol="0" anchor="ctr"/>
          <a:lstStyle/>
          <a:p>
            <a:pPr marL="0" indent="0" algn="l">
              <a:buNone/>
              <a:defRPr/>
            </a:pPr>
            <a:r>
              <a:rPr lang="en-US" sz="4400" b="1">
                <a:solidFill>
                  <a:srgbClr val="FFFFFF"/>
                </a:solidFill>
                <a:latin typeface="Calibri"/>
                <a:ea typeface="Calibri"/>
                <a:cs typeface="Calibri"/>
              </a:rPr>
              <a:t>LAB SESSION</a:t>
            </a:r>
            <a:endParaRPr lang="en-US" sz="4400"/>
          </a:p>
        </p:txBody>
      </p:sp>
      <p:sp>
        <p:nvSpPr>
          <p:cNvPr id="1724833112" name="Shape 3"/>
          <p:cNvSpPr/>
          <p:nvPr/>
        </p:nvSpPr>
        <p:spPr bwMode="auto">
          <a:xfrm>
            <a:off x="640080" y="3063240"/>
            <a:ext cx="3200400" cy="54864"/>
          </a:xfrm>
          <a:prstGeom prst="rect">
            <a:avLst/>
          </a:prstGeom>
          <a:solidFill>
            <a:srgbClr val="7EC8E3">
              <a:alpha val="60000"/>
            </a:srgbClr>
          </a:solidFill>
          <a:ln w="12700">
            <a:solidFill>
              <a:srgbClr val="7EC8E3">
                <a:alpha val="60000"/>
              </a:srgbClr>
            </a:solidFill>
            <a:prstDash val="solid"/>
          </a:ln>
        </p:spPr>
      </p:sp>
      <p:sp>
        <p:nvSpPr>
          <p:cNvPr id="1256789029" name="Text 4"/>
          <p:cNvSpPr/>
          <p:nvPr/>
        </p:nvSpPr>
        <p:spPr bwMode="auto">
          <a:xfrm>
            <a:off x="640080" y="3246120"/>
            <a:ext cx="6400800" cy="548640"/>
          </a:xfrm>
          <a:prstGeom prst="rect">
            <a:avLst/>
          </a:prstGeom>
          <a:noFill/>
          <a:ln/>
        </p:spPr>
        <p:txBody>
          <a:bodyPr wrap="square" rtlCol="0" anchor="ctr"/>
          <a:lstStyle/>
          <a:p>
            <a:pPr marL="0" indent="0">
              <a:buNone/>
              <a:defRPr/>
            </a:pPr>
            <a:r>
              <a:rPr lang="en-US" sz="1800">
                <a:solidFill>
                  <a:srgbClr val="B8D4E8"/>
                </a:solidFill>
                <a:latin typeface="Calibri"/>
                <a:ea typeface="Calibri"/>
                <a:cs typeface="Calibri"/>
              </a:rPr>
              <a:t>Build a REST API with FastAPI, MongoDB &amp; Docker</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8">
    <p:spTree>
      <p:nvGrpSpPr>
        <p:cNvPr id="1" name=""/>
        <p:cNvGrpSpPr/>
        <p:nvPr/>
      </p:nvGrpSpPr>
      <p:grpSpPr bwMode="auto">
        <a:xfrm>
          <a:off x="0" y="0"/>
          <a:ext cx="0" cy="0"/>
          <a:chOff x="0" y="0"/>
          <a:chExt cx="0" cy="0"/>
        </a:xfrm>
      </p:grpSpPr>
      <p:sp>
        <p:nvSpPr>
          <p:cNvPr id="360837835"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973345624"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604104262"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Setting Up Your Python Environment</a:t>
            </a:r>
            <a:endParaRPr lang="en-US" sz="2600"/>
          </a:p>
        </p:txBody>
      </p:sp>
      <p:sp>
        <p:nvSpPr>
          <p:cNvPr id="188004704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26563606"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Create a virtual environment: python -m venv venv  (isolates packages per project)</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Activate — macOS/Linux: source venv/bin/activate  |  Windows: venv\Scripts\activate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Install all dependencies: pip install fastapi motor pydantic uvicorn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Verify: uvicorn --version  (should print the installed version number)</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If pip is outdated: python -m pip install --upgrade pip  then re-run install</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9">
    <p:spTree>
      <p:nvGrpSpPr>
        <p:cNvPr id="1" name=""/>
        <p:cNvGrpSpPr/>
        <p:nvPr/>
      </p:nvGrpSpPr>
      <p:grpSpPr bwMode="auto">
        <a:xfrm>
          <a:off x="0" y="0"/>
          <a:ext cx="0" cy="0"/>
          <a:chOff x="0" y="0"/>
          <a:chExt cx="0" cy="0"/>
        </a:xfrm>
      </p:grpSpPr>
      <p:sp>
        <p:nvSpPr>
          <p:cNvPr id="1612201953"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19995524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514645283"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LAB: What We Are Building</a:t>
            </a:r>
            <a:endParaRPr lang="en-US" sz="2600"/>
          </a:p>
        </p:txBody>
      </p:sp>
      <p:sp>
        <p:nvSpPr>
          <p:cNvPr id="69121276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319677254"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Goal: a working CRUD REST API connected to a real MongoDB database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API creates, reads, and deletes student records stored as JSON documents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Any client — Postman, a browser, a mobile app — can talk to our API over HTTP</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Everything runs locally inside Docker — no cloud account or installation needed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End result: one running microservice you could deploy to the cloud today</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0">
    <p:spTree>
      <p:nvGrpSpPr>
        <p:cNvPr id="1" name=""/>
        <p:cNvGrpSpPr/>
        <p:nvPr/>
      </p:nvGrpSpPr>
      <p:grpSpPr bwMode="auto">
        <a:xfrm>
          <a:off x="0" y="0"/>
          <a:ext cx="0" cy="0"/>
          <a:chOff x="0" y="0"/>
          <a:chExt cx="0" cy="0"/>
        </a:xfrm>
      </p:grpSpPr>
      <p:sp>
        <p:nvSpPr>
          <p:cNvPr id="76209432"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322534395"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500043246"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Postman — Your API Testing Tool</a:t>
            </a:r>
            <a:endParaRPr lang="en-US" sz="2600"/>
          </a:p>
        </p:txBody>
      </p:sp>
      <p:sp>
        <p:nvSpPr>
          <p:cNvPr id="1314422229"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536113089"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Postman is a desktop app for sending any HTTP request to any URL</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 browser's address bar can only make GET requests — it cannot send a JSON body</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In Postman: choose method → enter URL → add JSON body → click Send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The response panel shows the returned JSON and the HTTP status code</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Alternative: FastAPI's built-in Swagger UI at http://localhost:8000/docs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1">
    <p:spTree>
      <p:nvGrpSpPr>
        <p:cNvPr id="1" name=""/>
        <p:cNvGrpSpPr/>
        <p:nvPr/>
      </p:nvGrpSpPr>
      <p:grpSpPr bwMode="auto">
        <a:xfrm>
          <a:off x="0" y="0"/>
          <a:ext cx="0" cy="0"/>
          <a:chOff x="0" y="0"/>
          <a:chExt cx="0" cy="0"/>
        </a:xfrm>
      </p:grpSpPr>
      <p:sp>
        <p:nvSpPr>
          <p:cNvPr id="467453521"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87471227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943053625"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Docker Compose — Running MongoDB</a:t>
            </a:r>
            <a:endParaRPr lang="en-US" sz="2600"/>
          </a:p>
        </p:txBody>
      </p:sp>
      <p:sp>
        <p:nvSpPr>
          <p:cNvPr id="820998883"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639488676" name="Shape 4"/>
          <p:cNvSpPr/>
          <p:nvPr/>
        </p:nvSpPr>
        <p:spPr bwMode="auto">
          <a:xfrm>
            <a:off x="480059" y="1101852"/>
            <a:ext cx="8503920" cy="3429000"/>
          </a:xfrm>
          <a:prstGeom prst="rect">
            <a:avLst/>
          </a:prstGeom>
          <a:solidFill>
            <a:srgbClr val="1E1E1E"/>
          </a:solidFill>
          <a:ln w="12700">
            <a:solidFill>
              <a:srgbClr val="2D2D2D"/>
            </a:solidFill>
            <a:prstDash val="solid"/>
          </a:ln>
        </p:spPr>
      </p:sp>
      <p:sp>
        <p:nvSpPr>
          <p:cNvPr id="923122838" name="Shape 5"/>
          <p:cNvSpPr/>
          <p:nvPr/>
        </p:nvSpPr>
        <p:spPr bwMode="auto">
          <a:xfrm>
            <a:off x="320040" y="1435608"/>
            <a:ext cx="8503920" cy="11887"/>
          </a:xfrm>
          <a:prstGeom prst="rect">
            <a:avLst/>
          </a:prstGeom>
          <a:solidFill>
            <a:srgbClr val="3C3C3C"/>
          </a:solidFill>
          <a:ln w="12700">
            <a:solidFill>
              <a:srgbClr val="3C3C3C"/>
            </a:solidFill>
            <a:prstDash val="solid"/>
          </a:ln>
        </p:spPr>
      </p:sp>
      <p:sp>
        <p:nvSpPr>
          <p:cNvPr id="176898745" name="Shape 6"/>
          <p:cNvSpPr/>
          <p:nvPr/>
        </p:nvSpPr>
        <p:spPr bwMode="auto">
          <a:xfrm>
            <a:off x="566928" y="1207008"/>
            <a:ext cx="100584" cy="100584"/>
          </a:xfrm>
          <a:prstGeom prst="ellipse">
            <a:avLst/>
          </a:prstGeom>
          <a:solidFill>
            <a:srgbClr val="FF5F57"/>
          </a:solidFill>
          <a:ln w="12700">
            <a:solidFill>
              <a:srgbClr val="FF5F57"/>
            </a:solidFill>
            <a:prstDash val="solid"/>
          </a:ln>
        </p:spPr>
      </p:sp>
      <p:sp>
        <p:nvSpPr>
          <p:cNvPr id="830027543" name="Shape 7"/>
          <p:cNvSpPr/>
          <p:nvPr/>
        </p:nvSpPr>
        <p:spPr bwMode="auto">
          <a:xfrm>
            <a:off x="777240" y="1207008"/>
            <a:ext cx="100584" cy="100584"/>
          </a:xfrm>
          <a:prstGeom prst="ellipse">
            <a:avLst/>
          </a:prstGeom>
          <a:solidFill>
            <a:srgbClr val="FEBC2E"/>
          </a:solidFill>
          <a:ln w="12700">
            <a:solidFill>
              <a:srgbClr val="FEBC2E"/>
            </a:solidFill>
            <a:prstDash val="solid"/>
          </a:ln>
        </p:spPr>
      </p:sp>
      <p:sp>
        <p:nvSpPr>
          <p:cNvPr id="1989663048" name="Shape 8"/>
          <p:cNvSpPr/>
          <p:nvPr/>
        </p:nvSpPr>
        <p:spPr bwMode="auto">
          <a:xfrm>
            <a:off x="987552" y="1207008"/>
            <a:ext cx="100584" cy="100584"/>
          </a:xfrm>
          <a:prstGeom prst="ellipse">
            <a:avLst/>
          </a:prstGeom>
          <a:solidFill>
            <a:srgbClr val="28C840"/>
          </a:solidFill>
          <a:ln w="12700">
            <a:solidFill>
              <a:srgbClr val="28C840"/>
            </a:solidFill>
            <a:prstDash val="solid"/>
          </a:ln>
        </p:spPr>
      </p:sp>
      <p:sp>
        <p:nvSpPr>
          <p:cNvPr id="896693822" name="Text 9"/>
          <p:cNvSpPr/>
          <p:nvPr/>
        </p:nvSpPr>
        <p:spPr bwMode="auto">
          <a:xfrm>
            <a:off x="1188720" y="1143000"/>
            <a:ext cx="3200400" cy="274320"/>
          </a:xfrm>
          <a:prstGeom prst="rect">
            <a:avLst/>
          </a:prstGeom>
          <a:noFill/>
          <a:ln/>
        </p:spPr>
        <p:txBody>
          <a:bodyPr wrap="square" rtlCol="0" anchor="ctr"/>
          <a:lstStyle/>
          <a:p>
            <a:pPr marL="0" indent="0">
              <a:buNone/>
              <a:defRPr/>
            </a:pPr>
            <a:r>
              <a:rPr lang="en-US" sz="1100">
                <a:solidFill>
                  <a:srgbClr val="B0B0B0"/>
                </a:solidFill>
                <a:latin typeface="Courier New"/>
                <a:ea typeface="Courier New"/>
                <a:cs typeface="Courier New"/>
              </a:rPr>
              <a:t>docker-compose.yml</a:t>
            </a:r>
            <a:endParaRPr lang="en-US" sz="1100"/>
          </a:p>
        </p:txBody>
      </p:sp>
      <p:sp>
        <p:nvSpPr>
          <p:cNvPr id="709395574" name="Text 10"/>
          <p:cNvSpPr/>
          <p:nvPr/>
        </p:nvSpPr>
        <p:spPr bwMode="auto">
          <a:xfrm>
            <a:off x="374904" y="1499616"/>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1</a:t>
            </a:r>
            <a:endParaRPr lang="en-US" sz="1100"/>
          </a:p>
        </p:txBody>
      </p:sp>
      <p:sp>
        <p:nvSpPr>
          <p:cNvPr id="2127913094" name="Text 11"/>
          <p:cNvSpPr/>
          <p:nvPr/>
        </p:nvSpPr>
        <p:spPr bwMode="auto">
          <a:xfrm>
            <a:off x="731520" y="1499616"/>
            <a:ext cx="8001000" cy="292608"/>
          </a:xfrm>
          <a:prstGeom prst="rect">
            <a:avLst/>
          </a:prstGeom>
          <a:noFill/>
          <a:ln/>
        </p:spPr>
        <p:txBody>
          <a:bodyPr wrap="square" rtlCol="0" anchor="t"/>
          <a:lstStyle/>
          <a:p>
            <a:pPr marL="0" indent="0">
              <a:buNone/>
              <a:defRPr/>
            </a:pPr>
            <a:r>
              <a:rPr lang="en-US" sz="1300">
                <a:solidFill>
                  <a:srgbClr val="9CDCFE"/>
                </a:solidFill>
                <a:latin typeface="Courier New"/>
                <a:ea typeface="Courier New"/>
                <a:cs typeface="Courier New"/>
              </a:rPr>
              <a:t>version</a:t>
            </a:r>
            <a:r>
              <a:rPr lang="en-US" sz="1300">
                <a:solidFill>
                  <a:srgbClr val="D4D4D4"/>
                </a:solidFill>
                <a:latin typeface="Courier New"/>
                <a:ea typeface="Courier New"/>
                <a:cs typeface="Courier New"/>
              </a:rPr>
              <a:t>:</a:t>
            </a:r>
            <a:r>
              <a:rPr lang="en-US" sz="1300">
                <a:solidFill>
                  <a:srgbClr val="CE9178"/>
                </a:solidFill>
                <a:latin typeface="Courier New"/>
                <a:ea typeface="Courier New"/>
                <a:cs typeface="Courier New"/>
              </a:rPr>
              <a:t> '3.8'</a:t>
            </a:r>
            <a:endParaRPr lang="en-US" sz="1300"/>
          </a:p>
        </p:txBody>
      </p:sp>
      <p:sp>
        <p:nvSpPr>
          <p:cNvPr id="297344836" name="Text 12"/>
          <p:cNvSpPr/>
          <p:nvPr/>
        </p:nvSpPr>
        <p:spPr bwMode="auto">
          <a:xfrm>
            <a:off x="374904" y="1792224"/>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2</a:t>
            </a:r>
            <a:endParaRPr lang="en-US" sz="1100"/>
          </a:p>
        </p:txBody>
      </p:sp>
      <p:sp>
        <p:nvSpPr>
          <p:cNvPr id="1510036705" name="Text 13"/>
          <p:cNvSpPr/>
          <p:nvPr/>
        </p:nvSpPr>
        <p:spPr bwMode="auto">
          <a:xfrm>
            <a:off x="731520" y="1792224"/>
            <a:ext cx="8001000" cy="292608"/>
          </a:xfrm>
          <a:prstGeom prst="rect">
            <a:avLst/>
          </a:prstGeom>
          <a:noFill/>
          <a:ln/>
        </p:spPr>
        <p:txBody>
          <a:bodyPr wrap="square" rtlCol="0" anchor="t"/>
          <a:lstStyle/>
          <a:p>
            <a:pPr marL="0" indent="0">
              <a:buNone/>
              <a:defRPr/>
            </a:pPr>
            <a:r>
              <a:rPr lang="en-US" sz="1300">
                <a:solidFill>
                  <a:srgbClr val="9CDCFE"/>
                </a:solidFill>
                <a:latin typeface="Courier New"/>
                <a:ea typeface="Courier New"/>
                <a:cs typeface="Courier New"/>
              </a:rPr>
              <a:t>services</a:t>
            </a:r>
            <a:r>
              <a:rPr lang="en-US" sz="1300">
                <a:solidFill>
                  <a:srgbClr val="D4D4D4"/>
                </a:solidFill>
                <a:latin typeface="Courier New"/>
                <a:ea typeface="Courier New"/>
                <a:cs typeface="Courier New"/>
              </a:rPr>
              <a:t>:</a:t>
            </a:r>
            <a:endParaRPr lang="en-US" sz="1300"/>
          </a:p>
        </p:txBody>
      </p:sp>
      <p:sp>
        <p:nvSpPr>
          <p:cNvPr id="672488348" name="Text 14"/>
          <p:cNvSpPr/>
          <p:nvPr/>
        </p:nvSpPr>
        <p:spPr bwMode="auto">
          <a:xfrm>
            <a:off x="374904" y="2084832"/>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3</a:t>
            </a:r>
            <a:endParaRPr lang="en-US" sz="1100"/>
          </a:p>
        </p:txBody>
      </p:sp>
      <p:sp>
        <p:nvSpPr>
          <p:cNvPr id="894098388" name="Text 15"/>
          <p:cNvSpPr/>
          <p:nvPr/>
        </p:nvSpPr>
        <p:spPr bwMode="auto">
          <a:xfrm>
            <a:off x="731520" y="2084832"/>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9CDCFE"/>
                </a:solidFill>
                <a:latin typeface="Courier New"/>
                <a:ea typeface="Courier New"/>
                <a:cs typeface="Courier New"/>
              </a:rPr>
              <a:t>mongo</a:t>
            </a:r>
            <a:r>
              <a:rPr lang="en-US" sz="1300">
                <a:solidFill>
                  <a:srgbClr val="D4D4D4"/>
                </a:solidFill>
                <a:latin typeface="Courier New"/>
                <a:ea typeface="Courier New"/>
                <a:cs typeface="Courier New"/>
              </a:rPr>
              <a:t>:</a:t>
            </a:r>
            <a:endParaRPr lang="en-US" sz="1300"/>
          </a:p>
        </p:txBody>
      </p:sp>
      <p:sp>
        <p:nvSpPr>
          <p:cNvPr id="908158528" name="Text 16"/>
          <p:cNvSpPr/>
          <p:nvPr/>
        </p:nvSpPr>
        <p:spPr bwMode="auto">
          <a:xfrm>
            <a:off x="374904" y="2377440"/>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4</a:t>
            </a:r>
            <a:endParaRPr lang="en-US" sz="1100"/>
          </a:p>
        </p:txBody>
      </p:sp>
      <p:sp>
        <p:nvSpPr>
          <p:cNvPr id="2101774928" name="Text 17"/>
          <p:cNvSpPr/>
          <p:nvPr/>
        </p:nvSpPr>
        <p:spPr bwMode="auto">
          <a:xfrm>
            <a:off x="731520" y="2377440"/>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9CDCFE"/>
                </a:solidFill>
                <a:latin typeface="Courier New"/>
                <a:ea typeface="Courier New"/>
                <a:cs typeface="Courier New"/>
              </a:rPr>
              <a:t>image</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 mongo</a:t>
            </a:r>
            <a:endParaRPr lang="en-US" sz="1300"/>
          </a:p>
        </p:txBody>
      </p:sp>
      <p:sp>
        <p:nvSpPr>
          <p:cNvPr id="49321211" name="Text 18"/>
          <p:cNvSpPr/>
          <p:nvPr/>
        </p:nvSpPr>
        <p:spPr bwMode="auto">
          <a:xfrm>
            <a:off x="374904" y="2670048"/>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5</a:t>
            </a:r>
            <a:endParaRPr lang="en-US" sz="1100"/>
          </a:p>
        </p:txBody>
      </p:sp>
      <p:sp>
        <p:nvSpPr>
          <p:cNvPr id="1449210711" name="Text 19"/>
          <p:cNvSpPr/>
          <p:nvPr/>
        </p:nvSpPr>
        <p:spPr bwMode="auto">
          <a:xfrm>
            <a:off x="731520" y="2670048"/>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9CDCFE"/>
                </a:solidFill>
                <a:latin typeface="Courier New"/>
                <a:ea typeface="Courier New"/>
                <a:cs typeface="Courier New"/>
              </a:rPr>
              <a:t>ports</a:t>
            </a:r>
            <a:r>
              <a:rPr lang="en-US" sz="1300">
                <a:solidFill>
                  <a:srgbClr val="D4D4D4"/>
                </a:solidFill>
                <a:latin typeface="Courier New"/>
                <a:ea typeface="Courier New"/>
                <a:cs typeface="Courier New"/>
              </a:rPr>
              <a:t>:</a:t>
            </a:r>
            <a:endParaRPr lang="en-US" sz="1300"/>
          </a:p>
        </p:txBody>
      </p:sp>
      <p:sp>
        <p:nvSpPr>
          <p:cNvPr id="1702163116" name="Text 20"/>
          <p:cNvSpPr/>
          <p:nvPr/>
        </p:nvSpPr>
        <p:spPr bwMode="auto">
          <a:xfrm>
            <a:off x="374904" y="2962656"/>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6</a:t>
            </a:r>
            <a:endParaRPr lang="en-US" sz="1100"/>
          </a:p>
        </p:txBody>
      </p:sp>
      <p:sp>
        <p:nvSpPr>
          <p:cNvPr id="751203854" name="Text 21"/>
          <p:cNvSpPr/>
          <p:nvPr/>
        </p:nvSpPr>
        <p:spPr bwMode="auto">
          <a:xfrm>
            <a:off x="731520" y="2962656"/>
            <a:ext cx="8001000" cy="292608"/>
          </a:xfrm>
          <a:prstGeom prst="rect">
            <a:avLst/>
          </a:prstGeom>
          <a:noFill/>
          <a:ln/>
        </p:spPr>
        <p:txBody>
          <a:bodyPr wrap="square" rtlCol="0" anchor="t"/>
          <a:lstStyle/>
          <a:p>
            <a:pPr marL="0" indent="0">
              <a:buNone/>
              <a:defRPr/>
            </a:pPr>
            <a:r>
              <a:rPr lang="en-US" sz="1300">
                <a:solidFill>
                  <a:srgbClr val="9CDCFE"/>
                </a:solidFill>
                <a:latin typeface="Courier New"/>
                <a:ea typeface="Courier New"/>
                <a:cs typeface="Courier New"/>
              </a:rPr>
              <a:t>      - </a:t>
            </a:r>
            <a:r>
              <a:rPr lang="en-US" sz="1300">
                <a:solidFill>
                  <a:srgbClr val="CE9178"/>
                </a:solidFill>
                <a:latin typeface="Courier New"/>
                <a:ea typeface="Courier New"/>
                <a:cs typeface="Courier New"/>
              </a:rPr>
              <a:t>'27017:27017'</a:t>
            </a:r>
            <a:endParaRPr lang="en-US" sz="1300"/>
          </a:p>
        </p:txBody>
      </p:sp>
      <p:sp>
        <p:nvSpPr>
          <p:cNvPr id="1755199232" name="Text 22"/>
          <p:cNvSpPr/>
          <p:nvPr/>
        </p:nvSpPr>
        <p:spPr bwMode="auto">
          <a:xfrm>
            <a:off x="320040" y="4599432"/>
            <a:ext cx="8503920" cy="320040"/>
          </a:xfrm>
          <a:prstGeom prst="rect">
            <a:avLst/>
          </a:prstGeom>
          <a:noFill/>
          <a:ln/>
        </p:spPr>
        <p:txBody>
          <a:bodyPr wrap="square" rtlCol="0" anchor="ctr"/>
          <a:lstStyle/>
          <a:p>
            <a:pPr marL="0" indent="0">
              <a:buNone/>
              <a:defRPr/>
            </a:pPr>
            <a:r>
              <a:rPr lang="en-US" sz="1300" i="1">
                <a:solidFill>
                  <a:srgbClr val="B8D4E8"/>
                </a:solidFill>
                <a:latin typeface="Calibri"/>
                <a:ea typeface="Calibri"/>
                <a:cs typeface="Calibri"/>
              </a:rPr>
              <a:t>docker compose up -d  →  starts MongoDB in the background   |   docker compose down  →  stops it</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2">
    <p:spTree>
      <p:nvGrpSpPr>
        <p:cNvPr id="1" name=""/>
        <p:cNvGrpSpPr/>
        <p:nvPr/>
      </p:nvGrpSpPr>
      <p:grpSpPr bwMode="auto">
        <a:xfrm>
          <a:off x="0" y="0"/>
          <a:ext cx="0" cy="0"/>
          <a:chOff x="0" y="0"/>
          <a:chExt cx="0" cy="0"/>
        </a:xfrm>
      </p:grpSpPr>
      <p:sp>
        <p:nvSpPr>
          <p:cNvPr id="998472197"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45963405"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222939559"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FastAPI &amp; Uvicorn — How They Work Together</a:t>
            </a:r>
            <a:endParaRPr lang="en-US" sz="2600"/>
          </a:p>
        </p:txBody>
      </p:sp>
      <p:sp>
        <p:nvSpPr>
          <p:cNvPr id="1682061999"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477549503"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Uvicorn: the web server — opens port 8000 and listens for HTTP connections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FastAPI: the framework — maps each URL and method to a Python function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Motor: the database driver — sends queries to MongoDB and returns results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Pydantic: the data validator — checks incoming JSON has the right fields and types</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Start everything: uvicorn main:app --reload  (--reload restarts on file save)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3">
    <p:spTree>
      <p:nvGrpSpPr>
        <p:cNvPr id="1" name=""/>
        <p:cNvGrpSpPr/>
        <p:nvPr/>
      </p:nvGrpSpPr>
      <p:grpSpPr bwMode="auto">
        <a:xfrm>
          <a:off x="0" y="0"/>
          <a:ext cx="0" cy="0"/>
          <a:chOff x="0" y="0"/>
          <a:chExt cx="0" cy="0"/>
        </a:xfrm>
      </p:grpSpPr>
      <p:sp>
        <p:nvSpPr>
          <p:cNvPr id="1204571687"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31108658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2059126122"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Pydantic Models — Defining Data Shapes</a:t>
            </a:r>
            <a:endParaRPr lang="en-US" sz="2600"/>
          </a:p>
        </p:txBody>
      </p:sp>
      <p:sp>
        <p:nvSpPr>
          <p:cNvPr id="1188789334"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863300122" name="Shape 4"/>
          <p:cNvSpPr/>
          <p:nvPr/>
        </p:nvSpPr>
        <p:spPr bwMode="auto">
          <a:xfrm>
            <a:off x="320040" y="1097280"/>
            <a:ext cx="8503920" cy="3429000"/>
          </a:xfrm>
          <a:prstGeom prst="rect">
            <a:avLst/>
          </a:prstGeom>
          <a:solidFill>
            <a:srgbClr val="1E1E1E"/>
          </a:solidFill>
          <a:ln w="12700">
            <a:solidFill>
              <a:srgbClr val="2D2D2D"/>
            </a:solidFill>
            <a:prstDash val="solid"/>
          </a:ln>
        </p:spPr>
      </p:sp>
      <p:sp>
        <p:nvSpPr>
          <p:cNvPr id="2018437366" name="Shape 5"/>
          <p:cNvSpPr/>
          <p:nvPr/>
        </p:nvSpPr>
        <p:spPr bwMode="auto">
          <a:xfrm>
            <a:off x="320040" y="1435608"/>
            <a:ext cx="8503920" cy="11887"/>
          </a:xfrm>
          <a:prstGeom prst="rect">
            <a:avLst/>
          </a:prstGeom>
          <a:solidFill>
            <a:srgbClr val="3C3C3C"/>
          </a:solidFill>
          <a:ln w="12700">
            <a:solidFill>
              <a:srgbClr val="3C3C3C"/>
            </a:solidFill>
            <a:prstDash val="solid"/>
          </a:ln>
        </p:spPr>
      </p:sp>
      <p:sp>
        <p:nvSpPr>
          <p:cNvPr id="1572845076" name="Shape 6"/>
          <p:cNvSpPr/>
          <p:nvPr/>
        </p:nvSpPr>
        <p:spPr bwMode="auto">
          <a:xfrm>
            <a:off x="566928" y="1207008"/>
            <a:ext cx="100584" cy="100584"/>
          </a:xfrm>
          <a:prstGeom prst="ellipse">
            <a:avLst/>
          </a:prstGeom>
          <a:solidFill>
            <a:srgbClr val="FF5F57"/>
          </a:solidFill>
          <a:ln w="12700">
            <a:solidFill>
              <a:srgbClr val="FF5F57"/>
            </a:solidFill>
            <a:prstDash val="solid"/>
          </a:ln>
        </p:spPr>
      </p:sp>
      <p:sp>
        <p:nvSpPr>
          <p:cNvPr id="1554138" name="Shape 7"/>
          <p:cNvSpPr/>
          <p:nvPr/>
        </p:nvSpPr>
        <p:spPr bwMode="auto">
          <a:xfrm>
            <a:off x="777240" y="1207008"/>
            <a:ext cx="100584" cy="100584"/>
          </a:xfrm>
          <a:prstGeom prst="ellipse">
            <a:avLst/>
          </a:prstGeom>
          <a:solidFill>
            <a:srgbClr val="FEBC2E"/>
          </a:solidFill>
          <a:ln w="12700">
            <a:solidFill>
              <a:srgbClr val="FEBC2E"/>
            </a:solidFill>
            <a:prstDash val="solid"/>
          </a:ln>
        </p:spPr>
      </p:sp>
      <p:sp>
        <p:nvSpPr>
          <p:cNvPr id="866194702" name="Shape 8"/>
          <p:cNvSpPr/>
          <p:nvPr/>
        </p:nvSpPr>
        <p:spPr bwMode="auto">
          <a:xfrm>
            <a:off x="987552" y="1207008"/>
            <a:ext cx="100584" cy="100584"/>
          </a:xfrm>
          <a:prstGeom prst="ellipse">
            <a:avLst/>
          </a:prstGeom>
          <a:solidFill>
            <a:srgbClr val="28C840"/>
          </a:solidFill>
          <a:ln w="12700">
            <a:solidFill>
              <a:srgbClr val="28C840"/>
            </a:solidFill>
            <a:prstDash val="solid"/>
          </a:ln>
        </p:spPr>
      </p:sp>
      <p:sp>
        <p:nvSpPr>
          <p:cNvPr id="1797585515" name="Text 9"/>
          <p:cNvSpPr/>
          <p:nvPr/>
        </p:nvSpPr>
        <p:spPr bwMode="auto">
          <a:xfrm>
            <a:off x="1188720" y="1143000"/>
            <a:ext cx="3200400" cy="274320"/>
          </a:xfrm>
          <a:prstGeom prst="rect">
            <a:avLst/>
          </a:prstGeom>
          <a:noFill/>
          <a:ln/>
        </p:spPr>
        <p:txBody>
          <a:bodyPr wrap="square" rtlCol="0" anchor="ctr"/>
          <a:lstStyle/>
          <a:p>
            <a:pPr marL="0" indent="0">
              <a:buNone/>
              <a:defRPr/>
            </a:pPr>
            <a:r>
              <a:rPr lang="en-US" sz="1100">
                <a:solidFill>
                  <a:srgbClr val="B0B0B0"/>
                </a:solidFill>
                <a:latin typeface="Courier New"/>
                <a:ea typeface="Courier New"/>
                <a:cs typeface="Courier New"/>
              </a:rPr>
              <a:t>models.py</a:t>
            </a:r>
            <a:endParaRPr lang="en-US" sz="1100"/>
          </a:p>
        </p:txBody>
      </p:sp>
      <p:sp>
        <p:nvSpPr>
          <p:cNvPr id="729091127" name="Text 10"/>
          <p:cNvSpPr/>
          <p:nvPr/>
        </p:nvSpPr>
        <p:spPr bwMode="auto">
          <a:xfrm>
            <a:off x="374904" y="1499616"/>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1</a:t>
            </a:r>
            <a:endParaRPr lang="en-US" sz="1100"/>
          </a:p>
        </p:txBody>
      </p:sp>
      <p:sp>
        <p:nvSpPr>
          <p:cNvPr id="2129818501" name="Text 11"/>
          <p:cNvSpPr/>
          <p:nvPr/>
        </p:nvSpPr>
        <p:spPr bwMode="auto">
          <a:xfrm>
            <a:off x="731520" y="1499616"/>
            <a:ext cx="8001000" cy="292608"/>
          </a:xfrm>
          <a:prstGeom prst="rect">
            <a:avLst/>
          </a:prstGeom>
          <a:noFill/>
          <a:ln/>
        </p:spPr>
        <p:txBody>
          <a:bodyPr wrap="square" rtlCol="0" anchor="t"/>
          <a:lstStyle/>
          <a:p>
            <a:pPr marL="0" indent="0">
              <a:buNone/>
              <a:defRPr/>
            </a:pPr>
            <a:r>
              <a:rPr lang="en-US" sz="1300">
                <a:solidFill>
                  <a:srgbClr val="C586C0"/>
                </a:solidFill>
                <a:latin typeface="Courier New"/>
                <a:ea typeface="Courier New"/>
                <a:cs typeface="Courier New"/>
              </a:rPr>
              <a:t>from</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pydantic</a:t>
            </a:r>
            <a:r>
              <a:rPr lang="en-US" sz="1300">
                <a:solidFill>
                  <a:srgbClr val="D4D4D4"/>
                </a:solidFill>
                <a:latin typeface="Courier New"/>
                <a:ea typeface="Courier New"/>
                <a:cs typeface="Courier New"/>
              </a:rPr>
              <a:t> </a:t>
            </a:r>
            <a:r>
              <a:rPr lang="en-US" sz="1300">
                <a:solidFill>
                  <a:srgbClr val="C586C0"/>
                </a:solidFill>
                <a:latin typeface="Courier New"/>
                <a:ea typeface="Courier New"/>
                <a:cs typeface="Courier New"/>
              </a:rPr>
              <a:t>import</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BaseModel</a:t>
            </a:r>
            <a:endParaRPr lang="en-US" sz="1300"/>
          </a:p>
        </p:txBody>
      </p:sp>
      <p:sp>
        <p:nvSpPr>
          <p:cNvPr id="674812582" name="Text 12"/>
          <p:cNvSpPr/>
          <p:nvPr/>
        </p:nvSpPr>
        <p:spPr bwMode="auto">
          <a:xfrm>
            <a:off x="374904" y="1792224"/>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2</a:t>
            </a:r>
            <a:endParaRPr lang="en-US" sz="1100"/>
          </a:p>
        </p:txBody>
      </p:sp>
      <p:sp>
        <p:nvSpPr>
          <p:cNvPr id="807564456" name="Text 13"/>
          <p:cNvSpPr/>
          <p:nvPr/>
        </p:nvSpPr>
        <p:spPr bwMode="auto">
          <a:xfrm>
            <a:off x="731520" y="1792224"/>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endParaRPr lang="en-US" sz="1300"/>
          </a:p>
        </p:txBody>
      </p:sp>
      <p:sp>
        <p:nvSpPr>
          <p:cNvPr id="760833354" name="Text 14"/>
          <p:cNvSpPr/>
          <p:nvPr/>
        </p:nvSpPr>
        <p:spPr bwMode="auto">
          <a:xfrm>
            <a:off x="374904" y="2084832"/>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3</a:t>
            </a:r>
            <a:endParaRPr lang="en-US" sz="1100"/>
          </a:p>
        </p:txBody>
      </p:sp>
      <p:sp>
        <p:nvSpPr>
          <p:cNvPr id="1396411306" name="Text 15"/>
          <p:cNvSpPr/>
          <p:nvPr/>
        </p:nvSpPr>
        <p:spPr bwMode="auto">
          <a:xfrm>
            <a:off x="731520" y="2084832"/>
            <a:ext cx="8001000" cy="292608"/>
          </a:xfrm>
          <a:prstGeom prst="rect">
            <a:avLst/>
          </a:prstGeom>
          <a:noFill/>
          <a:ln/>
        </p:spPr>
        <p:txBody>
          <a:bodyPr wrap="square" rtlCol="0" anchor="t"/>
          <a:lstStyle/>
          <a:p>
            <a:pPr marL="0" indent="0">
              <a:buNone/>
              <a:defRPr/>
            </a:pPr>
            <a:r>
              <a:rPr lang="en-US" sz="1300">
                <a:solidFill>
                  <a:srgbClr val="C586C0"/>
                </a:solidFill>
                <a:latin typeface="Courier New"/>
                <a:ea typeface="Courier New"/>
                <a:cs typeface="Courier New"/>
              </a:rPr>
              <a:t>class</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Student</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BaseModel</a:t>
            </a:r>
            <a:r>
              <a:rPr lang="en-US" sz="1300">
                <a:solidFill>
                  <a:srgbClr val="D4D4D4"/>
                </a:solidFill>
                <a:latin typeface="Courier New"/>
                <a:ea typeface="Courier New"/>
                <a:cs typeface="Courier New"/>
              </a:rPr>
              <a:t>):</a:t>
            </a:r>
            <a:endParaRPr lang="en-US" sz="1300"/>
          </a:p>
        </p:txBody>
      </p:sp>
      <p:sp>
        <p:nvSpPr>
          <p:cNvPr id="1987021461" name="Text 16"/>
          <p:cNvSpPr/>
          <p:nvPr/>
        </p:nvSpPr>
        <p:spPr bwMode="auto">
          <a:xfrm>
            <a:off x="374904" y="2377440"/>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4</a:t>
            </a:r>
            <a:endParaRPr lang="en-US" sz="1100"/>
          </a:p>
        </p:txBody>
      </p:sp>
      <p:sp>
        <p:nvSpPr>
          <p:cNvPr id="1844232063" name="Text 17"/>
          <p:cNvSpPr/>
          <p:nvPr/>
        </p:nvSpPr>
        <p:spPr bwMode="auto">
          <a:xfrm>
            <a:off x="731520" y="2377440"/>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student_id</a:t>
            </a:r>
            <a:r>
              <a:rPr lang="en-US" sz="1300">
                <a:solidFill>
                  <a:srgbClr val="D4D4D4"/>
                </a:solidFill>
                <a:latin typeface="Courier New"/>
                <a:ea typeface="Courier New"/>
                <a:cs typeface="Courier New"/>
              </a:rPr>
              <a:t>: </a:t>
            </a:r>
            <a:r>
              <a:rPr lang="en-US" sz="1300">
                <a:solidFill>
                  <a:srgbClr val="4EC9B0"/>
                </a:solidFill>
                <a:latin typeface="Courier New"/>
                <a:ea typeface="Courier New"/>
                <a:cs typeface="Courier New"/>
              </a:rPr>
              <a:t>str</a:t>
            </a:r>
            <a:endParaRPr lang="en-US" sz="1300"/>
          </a:p>
        </p:txBody>
      </p:sp>
      <p:sp>
        <p:nvSpPr>
          <p:cNvPr id="1613244065" name="Text 18"/>
          <p:cNvSpPr/>
          <p:nvPr/>
        </p:nvSpPr>
        <p:spPr bwMode="auto">
          <a:xfrm>
            <a:off x="374904" y="2670048"/>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5</a:t>
            </a:r>
            <a:endParaRPr lang="en-US" sz="1100"/>
          </a:p>
        </p:txBody>
      </p:sp>
      <p:sp>
        <p:nvSpPr>
          <p:cNvPr id="638366954" name="Text 19"/>
          <p:cNvSpPr/>
          <p:nvPr/>
        </p:nvSpPr>
        <p:spPr bwMode="auto">
          <a:xfrm>
            <a:off x="731520" y="2670048"/>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name</a:t>
            </a:r>
            <a:r>
              <a:rPr lang="en-US" sz="1300">
                <a:solidFill>
                  <a:srgbClr val="D4D4D4"/>
                </a:solidFill>
                <a:latin typeface="Courier New"/>
                <a:ea typeface="Courier New"/>
                <a:cs typeface="Courier New"/>
              </a:rPr>
              <a:t>: </a:t>
            </a:r>
            <a:r>
              <a:rPr lang="en-US" sz="1300">
                <a:solidFill>
                  <a:srgbClr val="4EC9B0"/>
                </a:solidFill>
                <a:latin typeface="Courier New"/>
                <a:ea typeface="Courier New"/>
                <a:cs typeface="Courier New"/>
              </a:rPr>
              <a:t>str</a:t>
            </a:r>
            <a:endParaRPr lang="en-US" sz="1300"/>
          </a:p>
        </p:txBody>
      </p:sp>
      <p:sp>
        <p:nvSpPr>
          <p:cNvPr id="1110044135" name="Text 20"/>
          <p:cNvSpPr/>
          <p:nvPr/>
        </p:nvSpPr>
        <p:spPr bwMode="auto">
          <a:xfrm>
            <a:off x="374904" y="2962656"/>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6</a:t>
            </a:r>
            <a:endParaRPr lang="en-US" sz="1100"/>
          </a:p>
        </p:txBody>
      </p:sp>
      <p:sp>
        <p:nvSpPr>
          <p:cNvPr id="1039048276" name="Text 21"/>
          <p:cNvSpPr/>
          <p:nvPr/>
        </p:nvSpPr>
        <p:spPr bwMode="auto">
          <a:xfrm>
            <a:off x="731520" y="2962656"/>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grade</a:t>
            </a:r>
            <a:r>
              <a:rPr lang="en-US" sz="1300">
                <a:solidFill>
                  <a:srgbClr val="D4D4D4"/>
                </a:solidFill>
                <a:latin typeface="Courier New"/>
                <a:ea typeface="Courier New"/>
                <a:cs typeface="Courier New"/>
              </a:rPr>
              <a:t>: </a:t>
            </a:r>
            <a:r>
              <a:rPr lang="en-US" sz="1300">
                <a:solidFill>
                  <a:srgbClr val="4EC9B0"/>
                </a:solidFill>
                <a:latin typeface="Courier New"/>
                <a:ea typeface="Courier New"/>
                <a:cs typeface="Courier New"/>
              </a:rPr>
              <a:t>int</a:t>
            </a:r>
            <a:endParaRPr lang="en-US" sz="1300"/>
          </a:p>
        </p:txBody>
      </p:sp>
      <p:sp>
        <p:nvSpPr>
          <p:cNvPr id="1443522941" name="Text 22"/>
          <p:cNvSpPr/>
          <p:nvPr/>
        </p:nvSpPr>
        <p:spPr bwMode="auto">
          <a:xfrm>
            <a:off x="374904" y="3255264"/>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7</a:t>
            </a:r>
            <a:endParaRPr lang="en-US" sz="1100"/>
          </a:p>
        </p:txBody>
      </p:sp>
      <p:sp>
        <p:nvSpPr>
          <p:cNvPr id="859582815" name="Text 23"/>
          <p:cNvSpPr/>
          <p:nvPr/>
        </p:nvSpPr>
        <p:spPr bwMode="auto">
          <a:xfrm>
            <a:off x="731520" y="3255264"/>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endParaRPr lang="en-US" sz="1300"/>
          </a:p>
        </p:txBody>
      </p:sp>
      <p:sp>
        <p:nvSpPr>
          <p:cNvPr id="849139702" name="Text 24"/>
          <p:cNvSpPr/>
          <p:nvPr/>
        </p:nvSpPr>
        <p:spPr bwMode="auto">
          <a:xfrm>
            <a:off x="374904" y="3547872"/>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8</a:t>
            </a:r>
            <a:endParaRPr lang="en-US" sz="1100"/>
          </a:p>
        </p:txBody>
      </p:sp>
      <p:sp>
        <p:nvSpPr>
          <p:cNvPr id="1521152404" name="Text 25"/>
          <p:cNvSpPr/>
          <p:nvPr/>
        </p:nvSpPr>
        <p:spPr bwMode="auto">
          <a:xfrm>
            <a:off x="731520" y="3547872"/>
            <a:ext cx="8001000" cy="292608"/>
          </a:xfrm>
          <a:prstGeom prst="rect">
            <a:avLst/>
          </a:prstGeom>
          <a:noFill/>
          <a:ln/>
        </p:spPr>
        <p:txBody>
          <a:bodyPr wrap="square" rtlCol="0" anchor="t"/>
          <a:lstStyle/>
          <a:p>
            <a:pPr marL="0" indent="0">
              <a:buNone/>
              <a:defRPr/>
            </a:pPr>
            <a:r>
              <a:rPr lang="en-US" sz="1300">
                <a:solidFill>
                  <a:srgbClr val="6A9955"/>
                </a:solidFill>
                <a:latin typeface="Courier New"/>
                <a:ea typeface="Courier New"/>
                <a:cs typeface="Courier New"/>
              </a:rPr>
              <a:t># FastAPI validates incoming JSON automatically</a:t>
            </a:r>
            <a:endParaRPr lang="en-US" sz="1300"/>
          </a:p>
        </p:txBody>
      </p:sp>
      <p:sp>
        <p:nvSpPr>
          <p:cNvPr id="1464426250" name="Text 26"/>
          <p:cNvSpPr/>
          <p:nvPr/>
        </p:nvSpPr>
        <p:spPr bwMode="auto">
          <a:xfrm>
            <a:off x="374904" y="3840480"/>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9</a:t>
            </a:r>
            <a:endParaRPr lang="en-US" sz="1100"/>
          </a:p>
        </p:txBody>
      </p:sp>
      <p:sp>
        <p:nvSpPr>
          <p:cNvPr id="1839621978" name="Text 27"/>
          <p:cNvSpPr/>
          <p:nvPr/>
        </p:nvSpPr>
        <p:spPr bwMode="auto">
          <a:xfrm>
            <a:off x="731520" y="3840480"/>
            <a:ext cx="8001000" cy="292608"/>
          </a:xfrm>
          <a:prstGeom prst="rect">
            <a:avLst/>
          </a:prstGeom>
          <a:noFill/>
          <a:ln/>
        </p:spPr>
        <p:txBody>
          <a:bodyPr wrap="square" rtlCol="0" anchor="t"/>
          <a:lstStyle/>
          <a:p>
            <a:pPr marL="0" indent="0">
              <a:buNone/>
              <a:defRPr/>
            </a:pPr>
            <a:r>
              <a:rPr lang="en-US" sz="1300">
                <a:solidFill>
                  <a:srgbClr val="6A9955"/>
                </a:solidFill>
                <a:latin typeface="Courier New"/>
                <a:ea typeface="Courier New"/>
                <a:cs typeface="Courier New"/>
              </a:rPr>
              <a:t># .model_dump() -&gt; {'student_id': '101', 'name': 'Ana', 'grade': 3}</a:t>
            </a:r>
            <a:endParaRPr lang="en-US" sz="1300"/>
          </a:p>
        </p:txBody>
      </p:sp>
      <p:sp>
        <p:nvSpPr>
          <p:cNvPr id="187208261" name="Text 28"/>
          <p:cNvSpPr/>
          <p:nvPr/>
        </p:nvSpPr>
        <p:spPr bwMode="auto">
          <a:xfrm>
            <a:off x="320040" y="4599432"/>
            <a:ext cx="8503920" cy="320040"/>
          </a:xfrm>
          <a:prstGeom prst="rect">
            <a:avLst/>
          </a:prstGeom>
          <a:noFill/>
          <a:ln/>
        </p:spPr>
        <p:txBody>
          <a:bodyPr wrap="square" rtlCol="0" anchor="ctr"/>
          <a:lstStyle/>
          <a:p>
            <a:pPr marL="0" indent="0">
              <a:buNone/>
              <a:defRPr/>
            </a:pPr>
            <a:r>
              <a:rPr lang="en-US" sz="1300" i="1">
                <a:solidFill>
                  <a:srgbClr val="B8D4E8"/>
                </a:solidFill>
                <a:latin typeface="Calibri"/>
                <a:ea typeface="Calibri"/>
                <a:cs typeface="Calibri"/>
              </a:rPr>
              <a:t>Wrong type or missing field  →  FastAPI returns 422 Unprocessable Entity before the DB is ever touched</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4">
    <p:spTree>
      <p:nvGrpSpPr>
        <p:cNvPr id="1" name=""/>
        <p:cNvGrpSpPr/>
        <p:nvPr/>
      </p:nvGrpSpPr>
      <p:grpSpPr bwMode="auto">
        <a:xfrm>
          <a:off x="0" y="0"/>
          <a:ext cx="0" cy="0"/>
          <a:chOff x="0" y="0"/>
          <a:chExt cx="0" cy="0"/>
        </a:xfrm>
      </p:grpSpPr>
      <p:sp>
        <p:nvSpPr>
          <p:cNvPr id="1662580565"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017171719"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1119733639"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Step 3: Create &amp; Read Endpoints</a:t>
            </a:r>
            <a:endParaRPr lang="en-US" sz="2600"/>
          </a:p>
        </p:txBody>
      </p:sp>
      <p:sp>
        <p:nvSpPr>
          <p:cNvPr id="556087099"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634034717" name="Shape 4"/>
          <p:cNvSpPr/>
          <p:nvPr/>
        </p:nvSpPr>
        <p:spPr bwMode="auto">
          <a:xfrm>
            <a:off x="320040" y="1097280"/>
            <a:ext cx="8503920" cy="3429000"/>
          </a:xfrm>
          <a:prstGeom prst="rect">
            <a:avLst/>
          </a:prstGeom>
          <a:solidFill>
            <a:srgbClr val="1E1E1E"/>
          </a:solidFill>
          <a:ln w="12700">
            <a:solidFill>
              <a:srgbClr val="2D2D2D"/>
            </a:solidFill>
            <a:prstDash val="solid"/>
          </a:ln>
        </p:spPr>
      </p:sp>
      <p:sp>
        <p:nvSpPr>
          <p:cNvPr id="1957156864" name="Shape 5"/>
          <p:cNvSpPr/>
          <p:nvPr/>
        </p:nvSpPr>
        <p:spPr bwMode="auto">
          <a:xfrm>
            <a:off x="320040" y="1435608"/>
            <a:ext cx="8503920" cy="11887"/>
          </a:xfrm>
          <a:prstGeom prst="rect">
            <a:avLst/>
          </a:prstGeom>
          <a:solidFill>
            <a:srgbClr val="3C3C3C"/>
          </a:solidFill>
          <a:ln w="12700">
            <a:solidFill>
              <a:srgbClr val="3C3C3C"/>
            </a:solidFill>
            <a:prstDash val="solid"/>
          </a:ln>
        </p:spPr>
      </p:sp>
      <p:sp>
        <p:nvSpPr>
          <p:cNvPr id="302771827" name="Shape 6"/>
          <p:cNvSpPr/>
          <p:nvPr/>
        </p:nvSpPr>
        <p:spPr bwMode="auto">
          <a:xfrm>
            <a:off x="566928" y="1207008"/>
            <a:ext cx="100584" cy="100584"/>
          </a:xfrm>
          <a:prstGeom prst="ellipse">
            <a:avLst/>
          </a:prstGeom>
          <a:solidFill>
            <a:srgbClr val="FF5F57"/>
          </a:solidFill>
          <a:ln w="12700">
            <a:solidFill>
              <a:srgbClr val="FF5F57"/>
            </a:solidFill>
            <a:prstDash val="solid"/>
          </a:ln>
        </p:spPr>
      </p:sp>
      <p:sp>
        <p:nvSpPr>
          <p:cNvPr id="538345092" name="Shape 7"/>
          <p:cNvSpPr/>
          <p:nvPr/>
        </p:nvSpPr>
        <p:spPr bwMode="auto">
          <a:xfrm>
            <a:off x="777240" y="1207008"/>
            <a:ext cx="100584" cy="100584"/>
          </a:xfrm>
          <a:prstGeom prst="ellipse">
            <a:avLst/>
          </a:prstGeom>
          <a:solidFill>
            <a:srgbClr val="FEBC2E"/>
          </a:solidFill>
          <a:ln w="12700">
            <a:solidFill>
              <a:srgbClr val="FEBC2E"/>
            </a:solidFill>
            <a:prstDash val="solid"/>
          </a:ln>
        </p:spPr>
      </p:sp>
      <p:sp>
        <p:nvSpPr>
          <p:cNvPr id="758325114" name="Shape 8"/>
          <p:cNvSpPr/>
          <p:nvPr/>
        </p:nvSpPr>
        <p:spPr bwMode="auto">
          <a:xfrm>
            <a:off x="987552" y="1207008"/>
            <a:ext cx="100584" cy="100584"/>
          </a:xfrm>
          <a:prstGeom prst="ellipse">
            <a:avLst/>
          </a:prstGeom>
          <a:solidFill>
            <a:srgbClr val="28C840"/>
          </a:solidFill>
          <a:ln w="12700">
            <a:solidFill>
              <a:srgbClr val="28C840"/>
            </a:solidFill>
            <a:prstDash val="solid"/>
          </a:ln>
        </p:spPr>
      </p:sp>
      <p:sp>
        <p:nvSpPr>
          <p:cNvPr id="26093735" name="Text 9"/>
          <p:cNvSpPr/>
          <p:nvPr/>
        </p:nvSpPr>
        <p:spPr bwMode="auto">
          <a:xfrm>
            <a:off x="1188720" y="1143000"/>
            <a:ext cx="3200400" cy="274320"/>
          </a:xfrm>
          <a:prstGeom prst="rect">
            <a:avLst/>
          </a:prstGeom>
          <a:noFill/>
          <a:ln/>
        </p:spPr>
        <p:txBody>
          <a:bodyPr wrap="square" rtlCol="0" anchor="ctr"/>
          <a:lstStyle/>
          <a:p>
            <a:pPr marL="0" indent="0">
              <a:buNone/>
              <a:defRPr/>
            </a:pPr>
            <a:r>
              <a:rPr lang="en-US" sz="1100">
                <a:solidFill>
                  <a:srgbClr val="B0B0B0"/>
                </a:solidFill>
                <a:latin typeface="Courier New"/>
                <a:ea typeface="Courier New"/>
                <a:cs typeface="Courier New"/>
              </a:rPr>
              <a:t>main.py</a:t>
            </a:r>
            <a:endParaRPr lang="en-US" sz="1100"/>
          </a:p>
        </p:txBody>
      </p:sp>
      <p:sp>
        <p:nvSpPr>
          <p:cNvPr id="211006259" name="Text 10"/>
          <p:cNvSpPr/>
          <p:nvPr/>
        </p:nvSpPr>
        <p:spPr bwMode="auto">
          <a:xfrm>
            <a:off x="374904" y="1499616"/>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1</a:t>
            </a:r>
            <a:endParaRPr lang="en-US" sz="1100"/>
          </a:p>
        </p:txBody>
      </p:sp>
      <p:sp>
        <p:nvSpPr>
          <p:cNvPr id="201664127" name="Text 11"/>
          <p:cNvSpPr/>
          <p:nvPr/>
        </p:nvSpPr>
        <p:spPr bwMode="auto">
          <a:xfrm>
            <a:off x="731520" y="1499616"/>
            <a:ext cx="8001000" cy="292608"/>
          </a:xfrm>
          <a:prstGeom prst="rect">
            <a:avLst/>
          </a:prstGeom>
          <a:noFill/>
          <a:ln/>
        </p:spPr>
        <p:txBody>
          <a:bodyPr wrap="square" rtlCol="0" anchor="t"/>
          <a:lstStyle/>
          <a:p>
            <a:pPr marL="0" indent="0">
              <a:buNone/>
              <a:defRPr/>
            </a:pPr>
            <a:r>
              <a:rPr lang="en-US" sz="1300">
                <a:solidFill>
                  <a:srgbClr val="DCDCAA"/>
                </a:solidFill>
                <a:latin typeface="Courier New"/>
                <a:ea typeface="Courier New"/>
                <a:cs typeface="Courier New"/>
              </a:rPr>
              <a:t>@app.post</a:t>
            </a:r>
            <a:r>
              <a:rPr lang="en-US" sz="1300">
                <a:solidFill>
                  <a:srgbClr val="D4D4D4"/>
                </a:solidFill>
                <a:latin typeface="Courier New"/>
                <a:ea typeface="Courier New"/>
                <a:cs typeface="Courier New"/>
              </a:rPr>
              <a:t>(</a:t>
            </a:r>
            <a:r>
              <a:rPr lang="en-US" sz="1300">
                <a:solidFill>
                  <a:srgbClr val="CE9178"/>
                </a:solidFill>
                <a:latin typeface="Courier New"/>
                <a:ea typeface="Courier New"/>
                <a:cs typeface="Courier New"/>
              </a:rPr>
              <a:t>'/students/'</a:t>
            </a:r>
            <a:r>
              <a:rPr lang="en-US" sz="1300">
                <a:solidFill>
                  <a:srgbClr val="D4D4D4"/>
                </a:solidFill>
                <a:latin typeface="Courier New"/>
                <a:ea typeface="Courier New"/>
                <a:cs typeface="Courier New"/>
              </a:rPr>
              <a:t>)</a:t>
            </a:r>
            <a:endParaRPr lang="en-US" sz="1300"/>
          </a:p>
        </p:txBody>
      </p:sp>
      <p:sp>
        <p:nvSpPr>
          <p:cNvPr id="1897751144" name="Text 12"/>
          <p:cNvSpPr/>
          <p:nvPr/>
        </p:nvSpPr>
        <p:spPr bwMode="auto">
          <a:xfrm>
            <a:off x="374904" y="1792224"/>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2</a:t>
            </a:r>
            <a:endParaRPr lang="en-US" sz="1100"/>
          </a:p>
        </p:txBody>
      </p:sp>
      <p:sp>
        <p:nvSpPr>
          <p:cNvPr id="271917393" name="Text 13"/>
          <p:cNvSpPr/>
          <p:nvPr/>
        </p:nvSpPr>
        <p:spPr bwMode="auto">
          <a:xfrm>
            <a:off x="731520" y="1792224"/>
            <a:ext cx="8001000" cy="292608"/>
          </a:xfrm>
          <a:prstGeom prst="rect">
            <a:avLst/>
          </a:prstGeom>
          <a:noFill/>
          <a:ln/>
        </p:spPr>
        <p:txBody>
          <a:bodyPr wrap="square" rtlCol="0" anchor="t"/>
          <a:lstStyle/>
          <a:p>
            <a:pPr marL="0" indent="0">
              <a:buNone/>
              <a:defRPr/>
            </a:pPr>
            <a:r>
              <a:rPr lang="en-US" sz="1300">
                <a:solidFill>
                  <a:srgbClr val="C586C0"/>
                </a:solidFill>
                <a:latin typeface="Courier New"/>
                <a:ea typeface="Courier New"/>
                <a:cs typeface="Courier New"/>
              </a:rPr>
              <a:t>async</a:t>
            </a:r>
            <a:r>
              <a:rPr lang="en-US" sz="1300">
                <a:solidFill>
                  <a:srgbClr val="D4D4D4"/>
                </a:solidFill>
                <a:latin typeface="Courier New"/>
                <a:ea typeface="Courier New"/>
                <a:cs typeface="Courier New"/>
              </a:rPr>
              <a:t> </a:t>
            </a:r>
            <a:r>
              <a:rPr lang="en-US" sz="1300">
                <a:solidFill>
                  <a:srgbClr val="C586C0"/>
                </a:solidFill>
                <a:latin typeface="Courier New"/>
                <a:ea typeface="Courier New"/>
                <a:cs typeface="Courier New"/>
              </a:rPr>
              <a:t>def</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create</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s</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Student</a:t>
            </a:r>
            <a:r>
              <a:rPr lang="en-US" sz="1300">
                <a:solidFill>
                  <a:srgbClr val="D4D4D4"/>
                </a:solidFill>
                <a:latin typeface="Courier New"/>
                <a:ea typeface="Courier New"/>
                <a:cs typeface="Courier New"/>
              </a:rPr>
              <a:t>):</a:t>
            </a:r>
            <a:endParaRPr lang="en-US" sz="1300"/>
          </a:p>
        </p:txBody>
      </p:sp>
      <p:sp>
        <p:nvSpPr>
          <p:cNvPr id="1688463847" name="Text 14"/>
          <p:cNvSpPr/>
          <p:nvPr/>
        </p:nvSpPr>
        <p:spPr bwMode="auto">
          <a:xfrm>
            <a:off x="374904" y="2084832"/>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3</a:t>
            </a:r>
            <a:endParaRPr lang="en-US" sz="1100"/>
          </a:p>
        </p:txBody>
      </p:sp>
      <p:sp>
        <p:nvSpPr>
          <p:cNvPr id="1081812775" name="Text 15"/>
          <p:cNvSpPr/>
          <p:nvPr/>
        </p:nvSpPr>
        <p:spPr bwMode="auto">
          <a:xfrm>
            <a:off x="731520" y="2084832"/>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C586C0"/>
                </a:solidFill>
                <a:latin typeface="Courier New"/>
                <a:ea typeface="Courier New"/>
                <a:cs typeface="Courier New"/>
              </a:rPr>
              <a:t>await</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db</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students</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insert_one</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s</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model_dump</a:t>
            </a:r>
            <a:r>
              <a:rPr lang="en-US" sz="1300">
                <a:solidFill>
                  <a:srgbClr val="D4D4D4"/>
                </a:solidFill>
                <a:latin typeface="Courier New"/>
                <a:ea typeface="Courier New"/>
                <a:cs typeface="Courier New"/>
              </a:rPr>
              <a:t>())</a:t>
            </a:r>
            <a:endParaRPr lang="en-US" sz="1300"/>
          </a:p>
        </p:txBody>
      </p:sp>
      <p:sp>
        <p:nvSpPr>
          <p:cNvPr id="1395166889" name="Text 16"/>
          <p:cNvSpPr/>
          <p:nvPr/>
        </p:nvSpPr>
        <p:spPr bwMode="auto">
          <a:xfrm>
            <a:off x="374904" y="2377440"/>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4</a:t>
            </a:r>
            <a:endParaRPr lang="en-US" sz="1100"/>
          </a:p>
        </p:txBody>
      </p:sp>
      <p:sp>
        <p:nvSpPr>
          <p:cNvPr id="587704540" name="Text 17"/>
          <p:cNvSpPr/>
          <p:nvPr/>
        </p:nvSpPr>
        <p:spPr bwMode="auto">
          <a:xfrm>
            <a:off x="731520" y="2377440"/>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C586C0"/>
                </a:solidFill>
                <a:latin typeface="Courier New"/>
                <a:ea typeface="Courier New"/>
                <a:cs typeface="Courier New"/>
              </a:rPr>
              <a:t>return</a:t>
            </a:r>
            <a:r>
              <a:rPr lang="en-US" sz="1300">
                <a:solidFill>
                  <a:srgbClr val="D4D4D4"/>
                </a:solidFill>
                <a:latin typeface="Courier New"/>
                <a:ea typeface="Courier New"/>
                <a:cs typeface="Courier New"/>
              </a:rPr>
              <a:t> {</a:t>
            </a:r>
            <a:r>
              <a:rPr lang="en-US" sz="1300">
                <a:solidFill>
                  <a:srgbClr val="CE9178"/>
                </a:solidFill>
                <a:latin typeface="Courier New"/>
                <a:ea typeface="Courier New"/>
                <a:cs typeface="Courier New"/>
              </a:rPr>
              <a:t>'status'</a:t>
            </a:r>
            <a:r>
              <a:rPr lang="en-US" sz="1300">
                <a:solidFill>
                  <a:srgbClr val="D4D4D4"/>
                </a:solidFill>
                <a:latin typeface="Courier New"/>
                <a:ea typeface="Courier New"/>
                <a:cs typeface="Courier New"/>
              </a:rPr>
              <a:t>: </a:t>
            </a:r>
            <a:r>
              <a:rPr lang="en-US" sz="1300">
                <a:solidFill>
                  <a:srgbClr val="CE9178"/>
                </a:solidFill>
                <a:latin typeface="Courier New"/>
                <a:ea typeface="Courier New"/>
                <a:cs typeface="Courier New"/>
              </a:rPr>
              <a:t>'created'</a:t>
            </a:r>
            <a:r>
              <a:rPr lang="en-US" sz="1300">
                <a:solidFill>
                  <a:srgbClr val="D4D4D4"/>
                </a:solidFill>
                <a:latin typeface="Courier New"/>
                <a:ea typeface="Courier New"/>
                <a:cs typeface="Courier New"/>
              </a:rPr>
              <a:t>}</a:t>
            </a:r>
            <a:endParaRPr lang="en-US" sz="1300"/>
          </a:p>
        </p:txBody>
      </p:sp>
      <p:sp>
        <p:nvSpPr>
          <p:cNvPr id="1170126883" name="Text 18"/>
          <p:cNvSpPr/>
          <p:nvPr/>
        </p:nvSpPr>
        <p:spPr bwMode="auto">
          <a:xfrm>
            <a:off x="374904" y="2670048"/>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5</a:t>
            </a:r>
            <a:endParaRPr lang="en-US" sz="1100"/>
          </a:p>
        </p:txBody>
      </p:sp>
      <p:sp>
        <p:nvSpPr>
          <p:cNvPr id="563966008" name="Text 19"/>
          <p:cNvSpPr/>
          <p:nvPr/>
        </p:nvSpPr>
        <p:spPr bwMode="auto">
          <a:xfrm>
            <a:off x="731520" y="2670048"/>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endParaRPr lang="en-US" sz="1300"/>
          </a:p>
        </p:txBody>
      </p:sp>
      <p:sp>
        <p:nvSpPr>
          <p:cNvPr id="1144251230" name="Text 20"/>
          <p:cNvSpPr/>
          <p:nvPr/>
        </p:nvSpPr>
        <p:spPr bwMode="auto">
          <a:xfrm>
            <a:off x="374904" y="2962656"/>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6</a:t>
            </a:r>
            <a:endParaRPr lang="en-US" sz="1100"/>
          </a:p>
        </p:txBody>
      </p:sp>
      <p:sp>
        <p:nvSpPr>
          <p:cNvPr id="93599007" name="Text 21"/>
          <p:cNvSpPr/>
          <p:nvPr/>
        </p:nvSpPr>
        <p:spPr bwMode="auto">
          <a:xfrm>
            <a:off x="731520" y="2962656"/>
            <a:ext cx="8001000" cy="292608"/>
          </a:xfrm>
          <a:prstGeom prst="rect">
            <a:avLst/>
          </a:prstGeom>
          <a:noFill/>
          <a:ln/>
        </p:spPr>
        <p:txBody>
          <a:bodyPr wrap="square" rtlCol="0" anchor="t"/>
          <a:lstStyle/>
          <a:p>
            <a:pPr marL="0" indent="0">
              <a:buNone/>
              <a:defRPr/>
            </a:pPr>
            <a:r>
              <a:rPr lang="en-US" sz="1300">
                <a:solidFill>
                  <a:srgbClr val="DCDCAA"/>
                </a:solidFill>
                <a:latin typeface="Courier New"/>
                <a:ea typeface="Courier New"/>
                <a:cs typeface="Courier New"/>
              </a:rPr>
              <a:t>@app.get</a:t>
            </a:r>
            <a:r>
              <a:rPr lang="en-US" sz="1300">
                <a:solidFill>
                  <a:srgbClr val="D4D4D4"/>
                </a:solidFill>
                <a:latin typeface="Courier New"/>
                <a:ea typeface="Courier New"/>
                <a:cs typeface="Courier New"/>
              </a:rPr>
              <a:t>(</a:t>
            </a:r>
            <a:r>
              <a:rPr lang="en-US" sz="1300">
                <a:solidFill>
                  <a:srgbClr val="CE9178"/>
                </a:solidFill>
                <a:latin typeface="Courier New"/>
                <a:ea typeface="Courier New"/>
                <a:cs typeface="Courier New"/>
              </a:rPr>
              <a:t>'/students/{student_id}'</a:t>
            </a:r>
            <a:r>
              <a:rPr lang="en-US" sz="1300">
                <a:solidFill>
                  <a:srgbClr val="D4D4D4"/>
                </a:solidFill>
                <a:latin typeface="Courier New"/>
                <a:ea typeface="Courier New"/>
                <a:cs typeface="Courier New"/>
              </a:rPr>
              <a:t>)</a:t>
            </a:r>
            <a:endParaRPr lang="en-US" sz="1300"/>
          </a:p>
        </p:txBody>
      </p:sp>
      <p:sp>
        <p:nvSpPr>
          <p:cNvPr id="1737783426" name="Text 22"/>
          <p:cNvSpPr/>
          <p:nvPr/>
        </p:nvSpPr>
        <p:spPr bwMode="auto">
          <a:xfrm>
            <a:off x="374904" y="3255264"/>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7</a:t>
            </a:r>
            <a:endParaRPr lang="en-US" sz="1100"/>
          </a:p>
        </p:txBody>
      </p:sp>
      <p:sp>
        <p:nvSpPr>
          <p:cNvPr id="2134208037" name="Text 23"/>
          <p:cNvSpPr/>
          <p:nvPr/>
        </p:nvSpPr>
        <p:spPr bwMode="auto">
          <a:xfrm>
            <a:off x="731520" y="3255264"/>
            <a:ext cx="8001000" cy="292608"/>
          </a:xfrm>
          <a:prstGeom prst="rect">
            <a:avLst/>
          </a:prstGeom>
          <a:noFill/>
          <a:ln/>
        </p:spPr>
        <p:txBody>
          <a:bodyPr wrap="square" rtlCol="0" anchor="t"/>
          <a:lstStyle/>
          <a:p>
            <a:pPr marL="0" indent="0">
              <a:buNone/>
              <a:defRPr/>
            </a:pPr>
            <a:r>
              <a:rPr lang="en-US" sz="1300">
                <a:solidFill>
                  <a:srgbClr val="C586C0"/>
                </a:solidFill>
                <a:latin typeface="Courier New"/>
                <a:ea typeface="Courier New"/>
                <a:cs typeface="Courier New"/>
              </a:rPr>
              <a:t>async</a:t>
            </a:r>
            <a:r>
              <a:rPr lang="en-US" sz="1300">
                <a:solidFill>
                  <a:srgbClr val="D4D4D4"/>
                </a:solidFill>
                <a:latin typeface="Courier New"/>
                <a:ea typeface="Courier New"/>
                <a:cs typeface="Courier New"/>
              </a:rPr>
              <a:t> </a:t>
            </a:r>
            <a:r>
              <a:rPr lang="en-US" sz="1300">
                <a:solidFill>
                  <a:srgbClr val="C586C0"/>
                </a:solidFill>
                <a:latin typeface="Courier New"/>
                <a:ea typeface="Courier New"/>
                <a:cs typeface="Courier New"/>
              </a:rPr>
              <a:t>def</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read</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student_id</a:t>
            </a:r>
            <a:r>
              <a:rPr lang="en-US" sz="1300">
                <a:solidFill>
                  <a:srgbClr val="D4D4D4"/>
                </a:solidFill>
                <a:latin typeface="Courier New"/>
                <a:ea typeface="Courier New"/>
                <a:cs typeface="Courier New"/>
              </a:rPr>
              <a:t>: </a:t>
            </a:r>
            <a:r>
              <a:rPr lang="en-US" sz="1300">
                <a:solidFill>
                  <a:srgbClr val="4EC9B0"/>
                </a:solidFill>
                <a:latin typeface="Courier New"/>
                <a:ea typeface="Courier New"/>
                <a:cs typeface="Courier New"/>
              </a:rPr>
              <a:t>str</a:t>
            </a:r>
            <a:r>
              <a:rPr lang="en-US" sz="1300">
                <a:solidFill>
                  <a:srgbClr val="D4D4D4"/>
                </a:solidFill>
                <a:latin typeface="Courier New"/>
                <a:ea typeface="Courier New"/>
                <a:cs typeface="Courier New"/>
              </a:rPr>
              <a:t>):</a:t>
            </a:r>
            <a:endParaRPr lang="en-US" sz="1300"/>
          </a:p>
        </p:txBody>
      </p:sp>
      <p:sp>
        <p:nvSpPr>
          <p:cNvPr id="1442140723" name="Text 24"/>
          <p:cNvSpPr/>
          <p:nvPr/>
        </p:nvSpPr>
        <p:spPr bwMode="auto">
          <a:xfrm>
            <a:off x="374904" y="3547872"/>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8</a:t>
            </a:r>
            <a:endParaRPr lang="en-US" sz="1100"/>
          </a:p>
        </p:txBody>
      </p:sp>
      <p:sp>
        <p:nvSpPr>
          <p:cNvPr id="1811840797" name="Text 25"/>
          <p:cNvSpPr/>
          <p:nvPr/>
        </p:nvSpPr>
        <p:spPr bwMode="auto">
          <a:xfrm>
            <a:off x="731520" y="3547872"/>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doc</a:t>
            </a:r>
            <a:r>
              <a:rPr lang="en-US" sz="1300">
                <a:solidFill>
                  <a:srgbClr val="D4D4D4"/>
                </a:solidFill>
                <a:latin typeface="Courier New"/>
                <a:ea typeface="Courier New"/>
                <a:cs typeface="Courier New"/>
              </a:rPr>
              <a:t> = </a:t>
            </a:r>
            <a:r>
              <a:rPr lang="en-US" sz="1300">
                <a:solidFill>
                  <a:srgbClr val="C586C0"/>
                </a:solidFill>
                <a:latin typeface="Courier New"/>
                <a:ea typeface="Courier New"/>
                <a:cs typeface="Courier New"/>
              </a:rPr>
              <a:t>await</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db</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students</a:t>
            </a:r>
            <a:r>
              <a:rPr lang="en-US" sz="1300">
                <a:solidFill>
                  <a:srgbClr val="D4D4D4"/>
                </a:solidFill>
                <a:latin typeface="Courier New"/>
                <a:ea typeface="Courier New"/>
                <a:cs typeface="Courier New"/>
              </a:rPr>
              <a:t>.</a:t>
            </a:r>
            <a:r>
              <a:rPr lang="en-US" sz="1300">
                <a:solidFill>
                  <a:srgbClr val="D4D4D4"/>
                </a:solidFill>
                <a:latin typeface="Courier New"/>
                <a:ea typeface="Courier New"/>
                <a:cs typeface="Courier New"/>
              </a:rPr>
              <a:t>find_one</a:t>
            </a:r>
            <a:r>
              <a:rPr lang="en-US" sz="1300">
                <a:solidFill>
                  <a:srgbClr val="D4D4D4"/>
                </a:solidFill>
                <a:latin typeface="Courier New"/>
                <a:ea typeface="Courier New"/>
                <a:cs typeface="Courier New"/>
              </a:rPr>
              <a:t>({</a:t>
            </a:r>
            <a:r>
              <a:rPr lang="en-US" sz="1300">
                <a:solidFill>
                  <a:srgbClr val="CE9178"/>
                </a:solidFill>
                <a:latin typeface="Courier New"/>
                <a:ea typeface="Courier New"/>
                <a:cs typeface="Courier New"/>
              </a:rPr>
              <a:t>'student_id'</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student_id</a:t>
            </a:r>
            <a:r>
              <a:rPr lang="en-US" sz="1300">
                <a:solidFill>
                  <a:srgbClr val="D4D4D4"/>
                </a:solidFill>
                <a:latin typeface="Courier New"/>
                <a:ea typeface="Courier New"/>
                <a:cs typeface="Courier New"/>
              </a:rPr>
              <a:t>})</a:t>
            </a:r>
            <a:endParaRPr lang="en-US" sz="1300"/>
          </a:p>
        </p:txBody>
      </p:sp>
      <p:sp>
        <p:nvSpPr>
          <p:cNvPr id="1034827815" name="Text 26"/>
          <p:cNvSpPr/>
          <p:nvPr/>
        </p:nvSpPr>
        <p:spPr bwMode="auto">
          <a:xfrm>
            <a:off x="374904" y="3840480"/>
            <a:ext cx="292608" cy="292608"/>
          </a:xfrm>
          <a:prstGeom prst="rect">
            <a:avLst/>
          </a:prstGeom>
          <a:noFill/>
          <a:ln/>
        </p:spPr>
        <p:txBody>
          <a:bodyPr wrap="square" rtlCol="0" anchor="t"/>
          <a:lstStyle/>
          <a:p>
            <a:pPr marL="0" indent="0" algn="r">
              <a:buNone/>
              <a:defRPr/>
            </a:pPr>
            <a:r>
              <a:rPr lang="en-US" sz="1100">
                <a:solidFill>
                  <a:srgbClr val="606060"/>
                </a:solidFill>
                <a:latin typeface="Courier New"/>
                <a:ea typeface="Courier New"/>
                <a:cs typeface="Courier New"/>
              </a:rPr>
              <a:t>9</a:t>
            </a:r>
            <a:endParaRPr lang="en-US" sz="1100"/>
          </a:p>
        </p:txBody>
      </p:sp>
      <p:sp>
        <p:nvSpPr>
          <p:cNvPr id="1566783776" name="Text 27"/>
          <p:cNvSpPr/>
          <p:nvPr/>
        </p:nvSpPr>
        <p:spPr bwMode="auto">
          <a:xfrm>
            <a:off x="731520" y="3840480"/>
            <a:ext cx="8001000" cy="292608"/>
          </a:xfrm>
          <a:prstGeom prst="rect">
            <a:avLst/>
          </a:prstGeom>
          <a:noFill/>
          <a:ln/>
        </p:spPr>
        <p:txBody>
          <a:bodyPr wrap="square" rtlCol="0" anchor="t"/>
          <a:lstStyle/>
          <a:p>
            <a:pPr marL="0" indent="0">
              <a:buNone/>
              <a:defRPr/>
            </a:pPr>
            <a:r>
              <a:rPr lang="en-US" sz="1300">
                <a:solidFill>
                  <a:srgbClr val="D4D4D4"/>
                </a:solidFill>
                <a:latin typeface="Courier New"/>
                <a:ea typeface="Courier New"/>
                <a:cs typeface="Courier New"/>
              </a:rPr>
              <a:t>    </a:t>
            </a:r>
            <a:r>
              <a:rPr lang="en-US" sz="1300">
                <a:solidFill>
                  <a:srgbClr val="C586C0"/>
                </a:solidFill>
                <a:latin typeface="Courier New"/>
                <a:ea typeface="Courier New"/>
                <a:cs typeface="Courier New"/>
              </a:rPr>
              <a:t>return</a:t>
            </a:r>
            <a:r>
              <a:rPr lang="en-US" sz="1300">
                <a:solidFill>
                  <a:srgbClr val="D4D4D4"/>
                </a:solidFill>
                <a:latin typeface="Courier New"/>
                <a:ea typeface="Courier New"/>
                <a:cs typeface="Courier New"/>
              </a:rPr>
              <a:t> </a:t>
            </a:r>
            <a:r>
              <a:rPr lang="en-US" sz="1300">
                <a:solidFill>
                  <a:srgbClr val="D4D4D4"/>
                </a:solidFill>
                <a:latin typeface="Courier New"/>
                <a:ea typeface="Courier New"/>
                <a:cs typeface="Courier New"/>
              </a:rPr>
              <a:t>doc</a:t>
            </a:r>
            <a:endParaRPr lang="en-US" sz="1300"/>
          </a:p>
        </p:txBody>
      </p:sp>
      <p:sp>
        <p:nvSpPr>
          <p:cNvPr id="1890047173" name="Text 28"/>
          <p:cNvSpPr/>
          <p:nvPr/>
        </p:nvSpPr>
        <p:spPr bwMode="auto">
          <a:xfrm>
            <a:off x="320040" y="4599432"/>
            <a:ext cx="8503920" cy="320040"/>
          </a:xfrm>
          <a:prstGeom prst="rect">
            <a:avLst/>
          </a:prstGeom>
          <a:noFill/>
          <a:ln/>
        </p:spPr>
        <p:txBody>
          <a:bodyPr wrap="square" rtlCol="0" anchor="ctr"/>
          <a:lstStyle/>
          <a:p>
            <a:pPr marL="0" indent="0">
              <a:buNone/>
              <a:defRPr/>
            </a:pPr>
            <a:r>
              <a:rPr lang="en-US" sz="1300" i="1">
                <a:solidFill>
                  <a:srgbClr val="B8D4E8"/>
                </a:solidFill>
                <a:latin typeface="Calibri"/>
                <a:ea typeface="Calibri"/>
                <a:cs typeface="Calibri"/>
              </a:rPr>
              <a:t>await pauses the function without blocking other requests — the server stays responsive while MongoDB replies</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5">
    <p:spTree>
      <p:nvGrpSpPr>
        <p:cNvPr id="1" name=""/>
        <p:cNvGrpSpPr/>
        <p:nvPr/>
      </p:nvGrpSpPr>
      <p:grpSpPr bwMode="auto">
        <a:xfrm>
          <a:off x="0" y="0"/>
          <a:ext cx="0" cy="0"/>
          <a:chOff x="0" y="0"/>
          <a:chExt cx="0" cy="0"/>
        </a:xfrm>
      </p:grpSpPr>
      <p:sp>
        <p:nvSpPr>
          <p:cNvPr id="870075013"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2147018490" name="Shape 1"/>
          <p:cNvSpPr/>
          <p:nvPr/>
        </p:nvSpPr>
        <p:spPr bwMode="auto">
          <a:xfrm>
            <a:off x="0" y="0"/>
            <a:ext cx="12192000" cy="1005840"/>
          </a:xfrm>
          <a:prstGeom prst="rect">
            <a:avLst/>
          </a:prstGeom>
          <a:solidFill>
            <a:srgbClr val="141C4A"/>
          </a:solidFill>
          <a:ln w="12700">
            <a:solidFill>
              <a:srgbClr val="141C4A"/>
            </a:solidFill>
            <a:prstDash val="solid"/>
          </a:ln>
        </p:spPr>
      </p:sp>
      <p:sp>
        <p:nvSpPr>
          <p:cNvPr id="400749370" name="Text 2"/>
          <p:cNvSpPr/>
          <p:nvPr/>
        </p:nvSpPr>
        <p:spPr bwMode="auto">
          <a:xfrm>
            <a:off x="365760" y="137160"/>
            <a:ext cx="8229600" cy="594360"/>
          </a:xfrm>
          <a:prstGeom prst="rect">
            <a:avLst/>
          </a:prstGeom>
          <a:noFill/>
          <a:ln/>
        </p:spPr>
        <p:txBody>
          <a:bodyPr wrap="square" rtlCol="0" anchor="ctr"/>
          <a:lstStyle/>
          <a:p>
            <a:pPr marL="0" indent="0">
              <a:buNone/>
              <a:defRPr/>
            </a:pPr>
            <a:r>
              <a:rPr lang="en-US" sz="2600" b="1">
                <a:solidFill>
                  <a:srgbClr val="FFFFFF"/>
                </a:solidFill>
                <a:latin typeface="Calibri"/>
                <a:ea typeface="Calibri"/>
                <a:cs typeface="Calibri"/>
              </a:rPr>
              <a:t>Step 4: Delete &amp; Testing with Postman</a:t>
            </a:r>
            <a:endParaRPr lang="en-US" sz="2600"/>
          </a:p>
        </p:txBody>
      </p:sp>
      <p:sp>
        <p:nvSpPr>
          <p:cNvPr id="1115033970" name="Shape 3"/>
          <p:cNvSpPr/>
          <p:nvPr/>
        </p:nvSpPr>
        <p:spPr bwMode="auto">
          <a:xfrm>
            <a:off x="365760" y="822960"/>
            <a:ext cx="1280160" cy="45720"/>
          </a:xfrm>
          <a:prstGeom prst="rect">
            <a:avLst/>
          </a:prstGeom>
          <a:solidFill>
            <a:srgbClr val="7EC8E3"/>
          </a:solidFill>
          <a:ln w="12700">
            <a:solidFill>
              <a:srgbClr val="7EC8E3"/>
            </a:solidFill>
            <a:prstDash val="solid"/>
          </a:ln>
        </p:spPr>
      </p:sp>
      <p:sp>
        <p:nvSpPr>
          <p:cNvPr id="1728382067" name="Text 4"/>
          <p:cNvSpPr/>
          <p:nvPr/>
        </p:nvSpPr>
        <p:spPr bwMode="auto">
          <a:xfrm>
            <a:off x="548640" y="1188720"/>
            <a:ext cx="8046720" cy="4114800"/>
          </a:xfrm>
          <a:prstGeom prst="rect">
            <a:avLst/>
          </a:prstGeom>
          <a:noFill/>
          <a:ln/>
        </p:spPr>
        <p:txBody>
          <a:bodyPr wrap="square" rtlCol="0" anchor="t"/>
          <a:lstStyle/>
          <a:p>
            <a:pPr marL="342900" indent="-342900">
              <a:lnSpc>
                <a:spcPct val="130000"/>
              </a:lnSpc>
              <a:spcAft>
                <a:spcPts val="1000"/>
              </a:spcAft>
              <a:buSzPct val="100000"/>
              <a:buChar char="•"/>
              <a:defRPr/>
            </a:pPr>
            <a:r>
              <a:rPr lang="en-US" sz="1800">
                <a:solidFill>
                  <a:srgbClr val="FFFFFF"/>
                </a:solidFill>
                <a:latin typeface="Calibri"/>
                <a:ea typeface="Calibri"/>
                <a:cs typeface="Calibri"/>
              </a:rPr>
              <a:t>DELETE /students/{student_id} — await db.students.delete_one({'student_id': id})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Start the server: uvicorn main:app --reload then open Postman</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CREATE: method POST → URL localhost:8000/students/ → Body: raw JSON → Send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READ: method GET → URL localhost:8000/students/101 → Send</a:t>
            </a:r>
            <a:endParaRPr lang="en-US" sz="1800"/>
          </a:p>
          <a:p>
            <a:pPr marL="342900" indent="-342900">
              <a:lnSpc>
                <a:spcPct val="130000"/>
              </a:lnSpc>
              <a:spcAft>
                <a:spcPts val="1000"/>
              </a:spcAft>
              <a:buSzPct val="100000"/>
              <a:buChar char="•"/>
              <a:defRPr/>
            </a:pPr>
            <a:r>
              <a:rPr lang="en-US" sz="1800">
                <a:solidFill>
                  <a:srgbClr val="FFFFFF"/>
                </a:solidFill>
                <a:latin typeface="Calibri"/>
                <a:ea typeface="Calibri"/>
                <a:cs typeface="Calibri"/>
              </a:rPr>
              <a:t>DELETE: method DELETE → URL localhost:8000/students/101 → Send</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6">
    <p:spTree>
      <p:nvGrpSpPr>
        <p:cNvPr id="1" name=""/>
        <p:cNvGrpSpPr/>
        <p:nvPr/>
      </p:nvGrpSpPr>
      <p:grpSpPr bwMode="auto">
        <a:xfrm>
          <a:off x="0" y="0"/>
          <a:ext cx="0" cy="0"/>
          <a:chOff x="0" y="0"/>
          <a:chExt cx="0" cy="0"/>
        </a:xfrm>
      </p:grpSpPr>
      <p:sp>
        <p:nvSpPr>
          <p:cNvPr id="1723431907" name="Shape 0"/>
          <p:cNvSpPr/>
          <p:nvPr/>
        </p:nvSpPr>
        <p:spPr bwMode="auto">
          <a:xfrm>
            <a:off x="0" y="0"/>
            <a:ext cx="12192000" cy="6858000"/>
          </a:xfrm>
          <a:prstGeom prst="rect">
            <a:avLst/>
          </a:prstGeom>
          <a:solidFill>
            <a:srgbClr val="1E2761"/>
          </a:solidFill>
          <a:ln w="12700">
            <a:solidFill>
              <a:srgbClr val="1E2761"/>
            </a:solidFill>
            <a:prstDash val="solid"/>
          </a:ln>
        </p:spPr>
      </p:sp>
      <p:sp>
        <p:nvSpPr>
          <p:cNvPr id="1239745103" name="Shape 1"/>
          <p:cNvSpPr/>
          <p:nvPr/>
        </p:nvSpPr>
        <p:spPr bwMode="auto">
          <a:xfrm>
            <a:off x="5029200" y="0"/>
            <a:ext cx="4114800" cy="6858000"/>
          </a:xfrm>
          <a:prstGeom prst="rect">
            <a:avLst/>
          </a:prstGeom>
          <a:solidFill>
            <a:srgbClr val="7EC8E3">
              <a:alpha val="12000"/>
            </a:srgbClr>
          </a:solidFill>
          <a:ln w="12700">
            <a:solidFill>
              <a:srgbClr val="7EC8E3">
                <a:alpha val="12000"/>
              </a:srgbClr>
            </a:solidFill>
            <a:prstDash val="solid"/>
          </a:ln>
        </p:spPr>
      </p:sp>
      <p:sp>
        <p:nvSpPr>
          <p:cNvPr id="65874362" name="Shape 2"/>
          <p:cNvSpPr/>
          <p:nvPr/>
        </p:nvSpPr>
        <p:spPr bwMode="auto">
          <a:xfrm>
            <a:off x="365760" y="1645920"/>
            <a:ext cx="73152" cy="2286000"/>
          </a:xfrm>
          <a:prstGeom prst="rect">
            <a:avLst/>
          </a:prstGeom>
          <a:solidFill>
            <a:srgbClr val="7EC8E3"/>
          </a:solidFill>
          <a:ln w="12700">
            <a:solidFill>
              <a:srgbClr val="7EC8E3"/>
            </a:solidFill>
            <a:prstDash val="solid"/>
          </a:ln>
        </p:spPr>
      </p:sp>
      <p:sp>
        <p:nvSpPr>
          <p:cNvPr id="1877871741" name="Text 3"/>
          <p:cNvSpPr/>
          <p:nvPr/>
        </p:nvSpPr>
        <p:spPr bwMode="auto">
          <a:xfrm>
            <a:off x="594360" y="1371600"/>
            <a:ext cx="6858000" cy="1371600"/>
          </a:xfrm>
          <a:prstGeom prst="rect">
            <a:avLst/>
          </a:prstGeom>
          <a:noFill/>
          <a:ln/>
        </p:spPr>
        <p:txBody>
          <a:bodyPr wrap="square" rtlCol="0" anchor="ctr"/>
          <a:lstStyle/>
          <a:p>
            <a:pPr marL="0" indent="0">
              <a:buNone/>
              <a:defRPr/>
            </a:pPr>
            <a:r>
              <a:rPr lang="en-US" sz="4800" b="1">
                <a:solidFill>
                  <a:srgbClr val="FFFFFF"/>
                </a:solidFill>
                <a:latin typeface="Calibri"/>
                <a:ea typeface="Calibri"/>
                <a:cs typeface="Calibri"/>
              </a:rPr>
              <a:t>Thank You</a:t>
            </a:r>
            <a:endParaRPr lang="en-US" sz="4800"/>
          </a:p>
        </p:txBody>
      </p:sp>
      <p:sp>
        <p:nvSpPr>
          <p:cNvPr id="647089401" name="Text 4"/>
          <p:cNvSpPr/>
          <p:nvPr/>
        </p:nvSpPr>
        <p:spPr bwMode="auto">
          <a:xfrm>
            <a:off x="594360" y="2926080"/>
            <a:ext cx="5943600" cy="731520"/>
          </a:xfrm>
          <a:prstGeom prst="rect">
            <a:avLst/>
          </a:prstGeom>
          <a:noFill/>
          <a:ln/>
        </p:spPr>
        <p:txBody>
          <a:bodyPr wrap="square" rtlCol="0" anchor="ctr"/>
          <a:lstStyle/>
          <a:p>
            <a:pPr marL="0" indent="0">
              <a:buNone/>
              <a:defRPr/>
            </a:pPr>
            <a:r>
              <a:rPr lang="en-US" sz="2000">
                <a:solidFill>
                  <a:srgbClr val="B8D4E8"/>
                </a:solidFill>
                <a:latin typeface="Calibri"/>
                <a:ea typeface="Calibri"/>
                <a:cs typeface="Calibri"/>
              </a:rPr>
              <a:t>Questions &amp; Discussion</a:t>
            </a:r>
            <a:endParaRPr lang="en-US" sz="2000"/>
          </a:p>
          <a:p>
            <a:pPr marL="0" indent="0">
              <a:buNone/>
              <a:defRPr/>
            </a:pPr>
            <a:endParaRPr lang="en-US" sz="2000"/>
          </a:p>
          <a:p>
            <a:pPr marL="0" indent="0">
              <a:buNone/>
              <a:defRPr/>
            </a:pPr>
            <a:r>
              <a:rPr lang="en-US" sz="2000">
                <a:solidFill>
                  <a:srgbClr val="B8D4E8"/>
                </a:solidFill>
                <a:latin typeface="Calibri"/>
                <a:ea typeface="Calibri"/>
                <a:cs typeface="Calibri"/>
              </a:rPr>
              <a:t>Advanced Data Management — Week 6</a:t>
            </a:r>
            <a:endParaRPr lang="en-US" sz="2000"/>
          </a:p>
        </p:txBody>
      </p:sp>
      <p:sp>
        <p:nvSpPr>
          <p:cNvPr id="745018641" name="Text 5"/>
          <p:cNvSpPr/>
          <p:nvPr/>
        </p:nvSpPr>
        <p:spPr bwMode="auto">
          <a:xfrm>
            <a:off x="594360" y="3931920"/>
            <a:ext cx="4572000" cy="365760"/>
          </a:xfrm>
          <a:prstGeom prst="rect">
            <a:avLst/>
          </a:prstGeom>
          <a:noFill/>
          <a:ln/>
        </p:spPr>
        <p:txBody>
          <a:bodyPr wrap="square" rtlCol="0" anchor="ctr"/>
          <a:lstStyle/>
          <a:p>
            <a:pPr marL="0" indent="0">
              <a:buNone/>
              <a:defRPr/>
            </a:pPr>
            <a:r>
              <a:rPr lang="en-US" sz="1300" i="1">
                <a:solidFill>
                  <a:srgbClr val="B8D4E8"/>
                </a:solidFill>
                <a:latin typeface="Calibri"/>
                <a:ea typeface="Calibri"/>
                <a:cs typeface="Calibri"/>
              </a:rPr>
              <a:t>Bachelor of Computer Science</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81</Slides>
  <Notes>81</Notes>
  <HiddenSlides>0</HiddenSlides>
  <MMClips>2</MMClips>
  <ScaleCrop>0</ScaleCrop>
  <HeadingPairs>
    <vt:vector size="4" baseType="variant">
      <vt:variant>
        <vt:lpstr>Theme</vt:lpstr>
      </vt:variant>
      <vt:variant>
        <vt:i4>1</vt:i4>
      </vt:variant>
      <vt:variant>
        <vt:lpstr>Slide Titles</vt:lpstr>
      </vt:variant>
      <vt:variant>
        <vt:i4>81</vt:i4>
      </vt:variant>
    </vt:vector>
  </HeadingPairs>
  <TitlesOfParts>
    <vt:vector size="8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Generated by Knowledge-to-Slides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Data Management — Week 6</dc:title>
  <dc:subject>PptxGenJS Presentation</dc:subject>
  <dc:creator>Bachelor of Computer Science · 4-Hour Lecture</dc:creator>
  <cp:lastModifiedBy/>
  <cp:revision>3</cp:revision>
  <dcterms:created xsi:type="dcterms:W3CDTF">2026-03-21T19:11:16Z</dcterms:created>
  <dcterms:modified xsi:type="dcterms:W3CDTF">2026-03-23T20:58:50Z</dcterms:modified>
</cp:coreProperties>
</file>