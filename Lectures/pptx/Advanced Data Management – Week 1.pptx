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71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22.xml" ContentType="application/vnd.openxmlformats-officedocument.presentationml.slide+xml"/>
  <Override PartName="/ppt/slides/slide2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notesSlides/notesSlide28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s/slide2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1.xml" ContentType="application/vnd.openxmlformats-officedocument.presentationml.slide+xml"/>
  <Override PartName="/ppt/slides/slide38.xml" ContentType="application/vnd.openxmlformats-officedocument.presentationml.slide+xml"/>
  <Override PartName="/ppt/slides/slide28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notesSlides/notesSlide49.xml" ContentType="application/vnd.openxmlformats-officedocument.presentationml.notesSlide+xml"/>
  <Override PartName="/ppt/slides/slide20.xml" ContentType="application/vnd.openxmlformats-officedocument.presentationml.slide+xml"/>
  <Override PartName="/ppt/slides/slide47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32.xml" ContentType="application/vnd.openxmlformats-officedocument.presentationml.slide+xml"/>
  <Override PartName="/ppt/viewProps.xml" ContentType="application/vnd.openxmlformats-officedocument.presentationml.viewProps+xml"/>
  <Override PartName="/ppt/slides/slide17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58.xml" ContentType="application/vnd.openxmlformats-officedocument.presentationml.slide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41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12.xml" ContentType="application/vnd.openxmlformats-officedocument.presentationml.slide+xml"/>
  <Override PartName="/ppt/slides/slide68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53.xml" ContentType="application/vnd.openxmlformats-officedocument.presentationml.notes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notesSlides/notesSlide15.xml" ContentType="application/vnd.openxmlformats-officedocument.presentationml.notesSlide+xml"/>
  <Override PartName="/ppt/slides/slide13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67.xml" ContentType="application/vnd.openxmlformats-officedocument.presentationml.slide+xml"/>
  <Override PartName="/ppt/slides/slide1.xml" ContentType="application/vnd.openxmlformats-officedocument.presentationml.slide+xml"/>
  <Override PartName="/ppt/slides/slide25.xml" ContentType="application/vnd.openxmlformats-officedocument.presentationml.slide+xml"/>
  <Override PartName="/ppt/notesSlides/notesSlide27.xml" ContentType="application/vnd.openxmlformats-officedocument.presentationml.notesSlide+xml"/>
  <Override PartName="/ppt/presProps.xml" ContentType="application/vnd.openxmlformats-officedocument.presentationml.presProps+xml"/>
  <Override PartName="/ppt/slides/slide21.xml" ContentType="application/vnd.openxmlformats-officedocument.presentationml.slide+xml"/>
  <Override PartName="/ppt/slides/slide61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65.xml" ContentType="application/vnd.openxmlformats-officedocument.presentationml.slide+xml"/>
  <Override PartName="/ppt/slides/slide72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26.xml" ContentType="application/vnd.openxmlformats-officedocument.presentationml.slide+xml"/>
  <Override PartName="/ppt/theme/theme2.xml" ContentType="application/vnd.openxmlformats-officedocument.theme+xml"/>
  <Override PartName="/ppt/slides/slide30.xml" ContentType="application/vnd.openxmlformats-officedocument.presentationml.slide+xml"/>
  <Override PartName="/ppt/slides/slide18.xml" ContentType="application/vnd.openxmlformats-officedocument.presentationml.slide+xml"/>
  <Override PartName="/ppt/slides/slide69.xml" ContentType="application/vnd.openxmlformats-officedocument.presentationml.slide+xml"/>
  <Override PartName="/ppt/slides/slide31.xml" ContentType="application/vnd.openxmlformats-officedocument.presentationml.slide+xml"/>
  <Override PartName="/ppt/slides/slide24.xml" ContentType="application/vnd.openxmlformats-officedocument.presentationml.slide+xml"/>
  <Override PartName="/ppt/slides/slide40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49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71.xml" ContentType="application/vnd.openxmlformats-officedocument.presentationml.slide+xml"/>
  <Override PartName="/ppt/slides/slide39.xml" ContentType="application/vnd.openxmlformats-officedocument.presentationml.slide+xml"/>
  <Override PartName="/ppt/slides/slide33.xml" ContentType="application/vnd.openxmlformats-officedocument.presentationml.slide+xml"/>
  <Override PartName="/ppt/slides/slide63.xml" ContentType="application/vnd.openxmlformats-officedocument.presentationml.slide+xml"/>
  <Override PartName="/ppt/presentation.xml" ContentType="application/vnd.openxmlformats-officedocument.presentationml.presentation.main+xml"/>
  <Override PartName="/ppt/slides/slide42.xml" ContentType="application/vnd.openxmlformats-officedocument.presentationml.slide+xml"/>
  <Override PartName="/ppt/slides/slide44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5.xml" ContentType="application/vnd.openxmlformats-officedocument.presentationml.slide+xml"/>
  <Override PartName="/ppt/slides/slide53.xml" ContentType="application/vnd.openxmlformats-officedocument.presentationml.slide+xml"/>
  <Override PartName="/ppt/slides/slide46.xml" ContentType="application/vnd.openxmlformats-officedocument.presentationml.slide+xml"/>
  <Override PartName="/ppt/slides/slide48.xml" ContentType="application/vnd.openxmlformats-officedocument.presentationml.slide+xml"/>
  <Override PartName="/ppt/notesSlides/notesSlide65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50.xml" ContentType="application/vnd.openxmlformats-officedocument.presentationml.slide+xml"/>
  <Override PartName="/ppt/slides/slide8.xml" ContentType="application/vnd.openxmlformats-officedocument.presentationml.slide+xml"/>
  <Override PartName="/ppt/slides/slide51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57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52.xml" ContentType="application/vnd.openxmlformats-officedocument.presentationml.slide+xml"/>
  <Override PartName="/ppt/slides/slide55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Layouts/slideLayout3.xml" ContentType="application/vnd.openxmlformats-officedocument.presentationml.slideLayout+xml"/>
  <Override PartName="/ppt/slides/slide62.xml" ContentType="application/vnd.openxmlformats-officedocument.presentationml.slide+xml"/>
  <Override PartName="/ppt/slides/slide64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66.xml" ContentType="application/vnd.openxmlformats-officedocument.presentationml.slide+xml"/>
  <Override PartName="/ppt/slides/slide43.xml" ContentType="application/vnd.openxmlformats-officedocument.presentationml.slide+xml"/>
  <Override PartName="/ppt/slides/slide70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7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notesMaster" Target="notesMasters/notesMaster1.xml"/><Relationship Id="rId77" Type="http://schemas.openxmlformats.org/officeDocument/2006/relationships/presProps" Target="presProps.xml" /><Relationship Id="rId78" Type="http://schemas.openxmlformats.org/officeDocument/2006/relationships/tableStyles" Target="tableStyles.xml" /><Relationship Id="rId7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48212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9313488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763775846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930802353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3256568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69821040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 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 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 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 ?>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 ?>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 ?>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 ?>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 ?>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 ?>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 ?>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 ?>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 ?>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 ?>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 ?>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 ?>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 ?>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 ?>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 ?>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 ?>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 ?>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 ?>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 ?>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 ?>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 ?>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 ?>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 ?>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 ?>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 ?>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 ?>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 ?>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 ?>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 ?>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 ?>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 ?>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 ?>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 ?>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 ?>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 ?>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 ?>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 ?>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 ?>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 ?>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36800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040068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733058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F7FF4D-DEF4-A91D-3E76-D5A3B77885E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7477ED-9F2A-E8DE-E557-5BC58B37190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6EE56BA-A620-3CB7-4D2B-CD3A7273A8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BD1986-D385-4521-4F30-2366FDDA33A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F529BA-4D14-E6C8-D17E-212F66E05CF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942DB7-9BDF-0A48-1E16-15DDAD127DB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026BD0-8354-01BD-7773-50FA8426116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311D332-F02E-3A89-D6E7-E7C67554C36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1068E0-53A2-7642-A818-EF631469017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ABFC189-5E7A-E29E-8968-D7425B110A8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6F04DC-0109-A515-8ACD-4E443715575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5BFE78-8E93-A57E-6EEF-293D3328C0E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CC591B7-20A2-75C5-52BE-9225C7526E1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CD8B5F-D739-0964-ECEC-E2E6C790CE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80C69C-D4D8-B426-CF0D-5BC2BD0C622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716B0B2-4646-32E3-E024-1253338CCCF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E9EECC2-51E2-03B0-9694-13DBC299D9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632FB81-BEF3-9100-4BCE-40084A3CDE8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78F74C-4FF9-8EC2-937A-54561BD1531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B0262E-AB7C-D83F-5BE9-E7DA92712A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r>
              <a:rPr lang="en-US" sz="12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Concurrency Control (Έλεγχος ταυτόχρονης πρόσβασης)</a:t>
            </a:r>
            <a:endParaRPr sz="1200">
              <a:latin typeface="Arial"/>
              <a:cs typeface="Arial"/>
            </a:endParaRPr>
          </a:p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D3914F-5A35-C80B-52F4-0FCD779E075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8275586-98CA-AAD5-9FFB-47F2827063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9B1FE4-0A6C-93E0-547F-C78C9962B41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9E9AB3-9A85-0B6B-97FC-14061ECED54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89770C-52AA-4A12-21B0-E8B7F37D440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3EA58F-F5DF-396C-5945-F72EAB82BAF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93764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181171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22647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EFA037-F9AE-6CD6-4800-838534C61C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A68E9D-9AC4-B425-C1E9-AFC631F53A5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DD76A10-E328-5119-1521-5D3CDE99A67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A782E1-6ABC-B578-F6C9-1F01934C402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3410114-7A35-7D33-082B-7BB42CE21CA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AA2B73-6304-C24C-F981-F5F9EEB65EC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03AAD9-F07E-A4CF-9080-A0D65C1B2B4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06114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3673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46572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AD6E5FF-7DBB-61AB-3EFE-02239B769D9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92142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189586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25061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073A1DF-35CD-F643-61AF-7218CA03D9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71802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93124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32734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997C791-A531-4101-266A-DDEF505B1D7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37682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656690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96703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ED5F27-D91D-D491-C856-44C6AE8E39F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76925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68331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91749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BB867B7-DE2C-F6CD-2F1D-166244E3A6D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2BD9CC-9187-1BCA-CD91-4BDF4555227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A1C830E-4D22-2674-364F-119CB40F973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67B4E2-B982-BBFF-0A82-9D9B34F6C86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F09D1BE-7E28-2333-AAF6-7A8FEFEF98D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25048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191442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74076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D2836E-01FA-DD68-4BB0-A194012445C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94164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23572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18065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F52FF2-FF3A-95B5-3633-90CCA7978CC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54D6949-D706-7211-5CEB-48A99607C9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1FA94A-5B35-B2D5-A1E2-65DAD913FCE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Η εικόνα δείχνει ένα </a:t>
            </a:r>
            <a:r>
              <a:rPr lang="en-US" sz="12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διάγραμμα Sankey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που απεικονίζει την </a:t>
            </a:r>
            <a:r>
              <a:rPr lang="en-US" sz="12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κατανομή workloads (φορτίου εργασίας)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μεταξύ πόλεων, καθώς αλλάζει η </a:t>
            </a:r>
            <a:r>
              <a:rPr lang="en-US" sz="12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καθυστέρηση δικτύου (delay σε ms)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lang="el-GR" sz="12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</a:t>
            </a:r>
            <a:endParaRPr sz="1200"/>
          </a:p>
          <a:p>
            <a:pPr>
              <a:defRPr/>
            </a:pPr>
            <a:endParaRPr sz="1200"/>
          </a:p>
          <a:p>
            <a:pPr>
              <a:defRPr/>
            </a:pPr>
            <a:r>
              <a:rPr lang="en-US" sz="12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Τι βλέπουμε δομικά</a:t>
            </a:r>
            <a:endParaRPr sz="1200"/>
          </a:p>
          <a:p>
            <a:pPr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Στον οριζόντιο άξονα υπάρχουν διαφορετικά επίπεδα καθυστέρησης:</a:t>
            </a:r>
            <a:endParaRPr sz="1200"/>
          </a:p>
          <a:p>
            <a:pPr>
              <a:defRPr/>
            </a:pPr>
            <a:r>
              <a:rPr lang="en-US" sz="12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80 ms</a:t>
            </a:r>
            <a:endParaRPr sz="1200"/>
          </a:p>
          <a:p>
            <a:pPr>
              <a:defRPr/>
            </a:pPr>
            <a:r>
              <a:rPr lang="en-US" sz="12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56 ms</a:t>
            </a:r>
            <a:endParaRPr sz="1200"/>
          </a:p>
          <a:p>
            <a:pPr>
              <a:defRPr/>
            </a:pPr>
            <a:r>
              <a:rPr lang="en-US" sz="12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48 ms</a:t>
            </a:r>
            <a:endParaRPr sz="1200"/>
          </a:p>
          <a:p>
            <a:pPr>
              <a:defRPr/>
            </a:pPr>
            <a:r>
              <a:rPr lang="en-US" sz="12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42 ms</a:t>
            </a:r>
            <a:endParaRPr sz="1200"/>
          </a:p>
          <a:p>
            <a:pPr>
              <a:defRPr/>
            </a:pPr>
            <a:r>
              <a:rPr lang="en-US" sz="12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30 ms</a:t>
            </a:r>
            <a:endParaRPr sz="1200"/>
          </a:p>
          <a:p>
            <a:pPr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Οι κάθετες μπάρες είναι πόλεις (π.χ. Nanjing, Wuhan, Beijing κ.λπ.)</a:t>
            </a:r>
            <a:endParaRPr sz="1200"/>
          </a:p>
          <a:p>
            <a:pPr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Οι αριθμοί μέσα στις μπάρες δείχνουν το workload που έχει ανατεθεί σε κάθε πόλη.</a:t>
            </a:r>
            <a:endParaRPr sz="1200"/>
          </a:p>
          <a:p>
            <a:pPr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Οι γκρι ροές δείχνουν πώς </a:t>
            </a:r>
            <a:r>
              <a:rPr lang="en-US" sz="12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μετακινείται το workload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από πόλη σε πόλη όταν αλλάζει το delay.</a:t>
            </a:r>
            <a:endParaRPr sz="1200"/>
          </a:p>
          <a:p>
            <a:pPr>
              <a:defRPr/>
            </a:pPr>
            <a:endParaRPr sz="1200"/>
          </a:p>
          <a:p>
            <a:pPr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Το διάγραμμα δείχνει πώς ένα σύστημα (πιθανόν distributed cloud / edge infrastructure) </a:t>
            </a:r>
            <a:r>
              <a:rPr lang="en-US" sz="12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ανακατανέμει υπολογιστικό φορτίο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μεταξύ data centers, όταν η καθυστέρηση δικτύου μειώνεται.</a:t>
            </a:r>
            <a:endParaRPr sz="1200"/>
          </a:p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7B5CCF0-A451-A2E3-2226-373BD5380CB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D821379-F3F4-BC83-72FB-F3BEC60E094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4E8F683-1C01-E923-CCC6-2D2886F2DAE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26345FA-0CCA-4843-EFC7-DAAE785412E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535571-FB3D-BDB6-A069-64728BFCB1D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7D39EF-024E-E1AF-D946-105772EF80F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12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Διδακτική Σημείωση</a:t>
            </a:r>
            <a:endParaRPr sz="1200"/>
          </a:p>
          <a:p>
            <a:pPr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Τα Big Data </a:t>
            </a:r>
            <a:r>
              <a:rPr lang="en-US" sz="12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δεν είναι απλώς “πολλά δεδομένα”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b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Είναι δεδομένα:</a:t>
            </a:r>
            <a:endParaRPr sz="1200"/>
          </a:p>
          <a:p>
            <a:pPr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διαφορετικού τύπου,</a:t>
            </a:r>
            <a:endParaRPr sz="1200"/>
          </a:p>
          <a:p>
            <a:pPr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διαφορετικού ρυθμού,</a:t>
            </a:r>
            <a:endParaRPr sz="1200"/>
          </a:p>
          <a:p>
            <a:pPr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συχνά χωρίς προκαθορισμένο σχήμα.</a:t>
            </a:r>
            <a:endParaRPr sz="1200"/>
          </a:p>
          <a:p>
            <a:pPr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Αυτός ο συνδυασμός είναι που δημιουργεί τις πραγματικές τεχνολογικές προκλήσεις και οδηγεί στην ανάγκη για </a:t>
            </a:r>
            <a:r>
              <a:rPr lang="en-US" sz="12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νέα 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91671E-6F83-1494-D037-8099645E8A1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5375709-815E-38CF-3405-A323EBC1FA6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39576E-4920-82B5-E32D-3884FC49BD5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EE6D80-F2AC-C089-D369-EFBC32D5F27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CE9F6D-8369-AAA1-26CB-F5B8ADF6B7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F280A7-E609-EC21-ECF3-9796AE0CD55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E03376-C843-2E57-64D9-84014EBE32A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A2905FB-7477-0F79-DABA-5D9416B62FA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454BFF-3AC3-1485-609D-B310C19E5D6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Sharding involves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separating different rows of information from the table and storing them on different machin</a:t>
            </a:r>
            <a:r>
              <a:rPr/>
              <a:t>es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FFE07C4-84B9-D720-EB48-C2DDB50A609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641055-6283-2527-92AB-1DEB7B0472E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AD4CDFF-1AF0-C1AC-C20A-BABA98959B2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49595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70844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66704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6177BE6-469E-AFBD-7E67-BFA5F16F3B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96F5D95-0F0B-8E5E-7CA0-21BCE9FC205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EF7708-4D65-2DEA-B43D-405F8FD394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F0810D-53A8-D5F8-FCF8-E8333E9A974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B78BBA-DAAA-E8DA-F3C6-66186AFDD1B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FFA76B-1832-D038-780E-BD38B69221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35076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55507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37318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340069A-94C5-3820-A1C1-427A91A9F0E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264912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76077029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213080871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1324684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7747470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66117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4148136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0618001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86725860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5843351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6728781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1484660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6895264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07139678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5852693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242213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17533490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8958935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9812857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0634428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7287993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041744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891244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2845881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2061399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7751137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477143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91720312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2142803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234973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2456597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5447219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18735851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7459579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84319188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5971206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608646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13810558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710860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806039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4666139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0656221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0466230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53693698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17870614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7150988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6434257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1216273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703150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7159302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3528586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3208364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2726537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9526150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17940186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7093074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85234346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345989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4966142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280952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77373992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43213437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230132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jp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.png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9.png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9.png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0.png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1.png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2.png"/></Relationships>
</file>

<file path=ppt/slides/_rels/slide4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3.png"/></Relationships>
</file>

<file path=ppt/slides/_rels/slide4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4.png"/></Relationships>
</file>

<file path=ppt/slides/_rels/slide4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5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7.png"/></Relationships>
</file>

<file path=ppt/slides/_rels/slide5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8.png"/></Relationships>
</file>

<file path=ppt/slides/_rels/slide5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9.png"/></Relationships>
</file>

<file path=ppt/slides/_rels/slide5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0.png"/></Relationships>
</file>

<file path=ppt/slides/_rels/slide6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21.png"/></Relationships>
</file>

<file path=ppt/slides/_rels/slide6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22.png"/></Relationships>
</file>

<file path=ppt/slides/_rels/slide6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7030A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5045116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6000" b="1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Advanced Data Management – Week 1</a:t>
            </a:r>
            <a:endParaRPr b="1">
              <a:solidFill>
                <a:schemeClr val="bg1"/>
              </a:solidFill>
            </a:endParaRPr>
          </a:p>
        </p:txBody>
      </p:sp>
      <p:sp>
        <p:nvSpPr>
          <p:cNvPr id="648924961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2400" b="1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Introduction to Data Management and Relational Systems</a:t>
            </a:r>
            <a:endParaRPr b="1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890811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Lecture Objectives</a:t>
            </a:r>
            <a:endParaRPr b="1"/>
          </a:p>
        </p:txBody>
      </p:sp>
      <p:sp>
        <p:nvSpPr>
          <p:cNvPr id="827428798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65000" lnSpcReduction="7000"/>
          </a:bodyPr>
          <a:lstStyle/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By the end of this lecture, students should be able to: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Explain the historical evolution of data management systems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Analyze the limitations of Relational Database Management Systems (RDBMS) in large-scale environments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Describe the fundamental characteristics of Big Data (Volume, Velocity, Variety)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Distinguish the architectural and philosophical differences between relational and NoSQL databases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Justify why database selection is an architectural decision in modern distributed systems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7919743" name="Title 1"/>
          <p:cNvSpPr>
            <a:spLocks noGrp="1"/>
          </p:cNvSpPr>
          <p:nvPr>
            <p:ph type="title"/>
          </p:nvPr>
        </p:nvSpPr>
        <p:spPr bwMode="auto">
          <a:xfrm>
            <a:off x="831849" y="1709737"/>
            <a:ext cx="10515600" cy="2852736"/>
          </a:xfrm>
        </p:spPr>
        <p:txBody>
          <a:bodyPr/>
          <a:lstStyle>
            <a:lvl1pPr>
              <a:defRPr sz="6000"/>
            </a:lvl1pPr>
          </a:lstStyle>
          <a:p>
            <a:pPr>
              <a:defRPr/>
            </a:pPr>
            <a:r>
              <a:rPr lang="en-US" sz="60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Course Context &amp; Evolution of Data Management</a:t>
            </a:r>
            <a:endParaRPr b="1"/>
          </a:p>
        </p:txBody>
      </p:sp>
      <p:sp>
        <p:nvSpPr>
          <p:cNvPr id="29230798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49" y="4589462"/>
            <a:ext cx="10515600" cy="150018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r">
              <a:defRPr/>
            </a:pPr>
            <a:r>
              <a:rPr sz="18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Transition from file-based systems to DBMS</a:t>
            </a:r>
            <a:endParaRPr sz="3600" b="1">
              <a:latin typeface="Arial"/>
              <a:cs typeface="Arial"/>
            </a:endParaRPr>
          </a:p>
          <a:p>
            <a:pPr algn="r">
              <a:defRPr/>
            </a:pPr>
            <a:r>
              <a:rPr sz="18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Dominance of relational databases</a:t>
            </a:r>
            <a:endParaRPr sz="3600" b="1">
              <a:latin typeface="Arial"/>
              <a:cs typeface="Arial"/>
            </a:endParaRPr>
          </a:p>
          <a:p>
            <a:pPr algn="r">
              <a:defRPr/>
            </a:pPr>
            <a:r>
              <a:rPr sz="18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Emergence of large-scale distributed applications</a:t>
            </a:r>
            <a:endParaRPr sz="3600" b="1">
              <a:latin typeface="Arial"/>
              <a:cs typeface="Arial"/>
            </a:endParaRPr>
          </a:p>
          <a:p>
            <a:pPr algn="r">
              <a:defRPr/>
            </a:pPr>
            <a:r>
              <a:rPr sz="18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Rise of Big Data and NoSQL architectures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5236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What is Data Management?</a:t>
            </a:r>
            <a:endParaRPr b="1"/>
          </a:p>
        </p:txBody>
      </p:sp>
      <p:sp>
        <p:nvSpPr>
          <p:cNvPr id="182225984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algn="just"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Data Management refers to the set of principles, processes, technologies, and practices that ensure that an organization’s data are </a:t>
            </a:r>
            <a:r>
              <a:rPr lang="en-US" sz="2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collected, stored, organized, protected, and utilized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in a reliable, efficient, and secure manner.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algn="just">
              <a:defRPr/>
            </a:pP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algn="just"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Its objective is not simply the storage of data, but their transformation into useful, reliable, and </a:t>
            </a:r>
            <a:r>
              <a:rPr lang="en-US" sz="2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reusable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information throughout their lifecycle.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118788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What “Data Management” Means</a:t>
            </a:r>
            <a:endParaRPr b="1"/>
          </a:p>
        </p:txBody>
      </p:sp>
      <p:sp>
        <p:nvSpPr>
          <p:cNvPr id="1197533557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lang="en-US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The term data management includes a broad range of activities such as:</a:t>
            </a:r>
            <a:endParaRPr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lvl="1">
              <a:defRPr/>
            </a:pPr>
            <a:r>
              <a:rPr lang="en-US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Designing the structure of data</a:t>
            </a:r>
            <a:endParaRPr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lvl="1">
              <a:defRPr/>
            </a:pPr>
            <a:r>
              <a:rPr lang="en-US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Storing and retrieving data</a:t>
            </a:r>
            <a:endParaRPr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lvl="1">
              <a:defRPr/>
            </a:pPr>
            <a:r>
              <a:rPr lang="en-US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Ensuring quality, consistency, and integrity</a:t>
            </a:r>
            <a:endParaRPr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lvl="1">
              <a:defRPr/>
            </a:pPr>
            <a:r>
              <a:rPr lang="en-US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Security and access control</a:t>
            </a:r>
            <a:endParaRPr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lvl="1">
              <a:defRPr/>
            </a:pPr>
            <a:r>
              <a:rPr lang="en-US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Compliance with regulatory frameworks</a:t>
            </a:r>
            <a:endParaRPr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lvl="1">
              <a:defRPr/>
            </a:pPr>
            <a:r>
              <a:rPr lang="en-US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Supporting analytics and decision-making</a:t>
            </a:r>
            <a:endParaRPr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 algn="just">
              <a:buFont typeface="Arial"/>
              <a:buNone/>
              <a:defRPr/>
            </a:pPr>
            <a:r>
              <a:rPr lang="en-US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In other words, data management answers the question: 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How do we manage data so that they are always available, correct, and useful when required by the information system?</a:t>
            </a:r>
            <a:endParaRPr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424636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Why Data Are a Central Element of Every Information System</a:t>
            </a:r>
            <a:endParaRPr b="1"/>
          </a:p>
        </p:txBody>
      </p:sp>
      <p:sp>
        <p:nvSpPr>
          <p:cNvPr id="1502277902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 marL="0" indent="0">
              <a:buFont typeface="Arial"/>
              <a:buNone/>
              <a:defRPr/>
            </a:pP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Every information system, regardless of application or domain, has as its primary purpose the management of data.</a:t>
            </a:r>
            <a:endParaRPr sz="2000">
              <a:latin typeface="Arial"/>
              <a:cs typeface="Arial"/>
            </a:endParaRPr>
          </a:p>
          <a:p>
            <a:pPr>
              <a:defRPr/>
            </a:pP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Applications:</a:t>
            </a:r>
            <a:endParaRPr sz="2000">
              <a:latin typeface="Arial"/>
              <a:cs typeface="Arial"/>
            </a:endParaRPr>
          </a:p>
          <a:p>
            <a:pPr lvl="1">
              <a:defRPr/>
            </a:pP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Input data</a:t>
            </a:r>
            <a:endParaRPr sz="2000">
              <a:latin typeface="Arial"/>
              <a:cs typeface="Arial"/>
            </a:endParaRPr>
          </a:p>
          <a:p>
            <a:pPr lvl="1">
              <a:defRPr/>
            </a:pP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Process them</a:t>
            </a:r>
            <a:endParaRPr sz="2000">
              <a:latin typeface="Arial"/>
              <a:cs typeface="Arial"/>
            </a:endParaRPr>
          </a:p>
          <a:p>
            <a:pPr lvl="1">
              <a:defRPr/>
            </a:pP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Produce output</a:t>
            </a:r>
            <a:endParaRPr sz="2000">
              <a:latin typeface="Arial"/>
              <a:cs typeface="Arial"/>
            </a:endParaRPr>
          </a:p>
          <a:p>
            <a:pPr>
              <a:defRPr/>
            </a:pP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Without data:</a:t>
            </a:r>
            <a:endParaRPr sz="2000">
              <a:latin typeface="Arial"/>
              <a:cs typeface="Arial"/>
            </a:endParaRPr>
          </a:p>
          <a:p>
            <a:pPr lvl="1">
              <a:defRPr/>
            </a:pP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There is no information</a:t>
            </a:r>
            <a:endParaRPr sz="2000">
              <a:latin typeface="Arial"/>
              <a:cs typeface="Arial"/>
            </a:endParaRPr>
          </a:p>
          <a:p>
            <a:pPr lvl="1">
              <a:defRPr/>
            </a:pP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No automation</a:t>
            </a:r>
            <a:endParaRPr sz="2000">
              <a:latin typeface="Arial"/>
              <a:cs typeface="Arial"/>
            </a:endParaRPr>
          </a:p>
          <a:p>
            <a:pPr lvl="1">
              <a:defRPr/>
            </a:pP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No knowledge</a:t>
            </a:r>
            <a:endParaRPr sz="2000">
              <a:latin typeface="Arial"/>
              <a:cs typeface="Arial"/>
            </a:endParaRPr>
          </a:p>
          <a:p>
            <a:pPr lvl="1">
              <a:defRPr/>
            </a:pP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No decision support</a:t>
            </a:r>
            <a:endParaRPr sz="2000"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 constitute the permanent and long-term component of a system, unlike applications that change or are replaced. </a:t>
            </a: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For this reason, their proper management is critical for the sustainability, reliability, and scalability of every information system.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6097203" name="Title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Role of the Database as an Intermediate Layer Between Application and Storage</a:t>
            </a:r>
            <a:endParaRPr b="1"/>
          </a:p>
        </p:txBody>
      </p:sp>
      <p:sp>
        <p:nvSpPr>
          <p:cNvPr id="571475451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5000" lnSpcReduction="3000"/>
          </a:bodyPr>
          <a:lstStyle/>
          <a:p>
            <a:pPr marL="0" indent="0">
              <a:buFont typeface="Arial"/>
              <a:buNone/>
              <a:defRPr/>
            </a:pP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database functions as the intermediate layer (middleware) between:</a:t>
            </a:r>
            <a:endParaRPr sz="2000">
              <a:latin typeface="Arial"/>
              <a:cs typeface="Arial"/>
            </a:endParaRPr>
          </a:p>
          <a:p>
            <a:pPr lvl="1">
              <a:defRPr/>
            </a:pP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Applications (logic and user interface)</a:t>
            </a:r>
            <a:endParaRPr sz="2000">
              <a:latin typeface="Arial"/>
              <a:cs typeface="Arial"/>
            </a:endParaRPr>
          </a:p>
          <a:p>
            <a:pPr lvl="1">
              <a:defRPr/>
            </a:pP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Physical storage media (disks, cloud storage, distributed systems)</a:t>
            </a:r>
            <a:endParaRPr sz="2000">
              <a:latin typeface="Arial"/>
              <a:ea typeface="Arial"/>
              <a:cs typeface="Arial"/>
            </a:endParaRPr>
          </a:p>
          <a:p>
            <a:pPr marL="457200" lvl="1" indent="0">
              <a:buFont typeface="Arial"/>
              <a:buNone/>
              <a:defRPr/>
            </a:pPr>
            <a:endParaRPr sz="2000"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Its role is crucial because it:</a:t>
            </a:r>
            <a:endParaRPr sz="2000">
              <a:latin typeface="Arial"/>
              <a:cs typeface="Arial"/>
            </a:endParaRPr>
          </a:p>
          <a:p>
            <a:pPr lvl="1">
              <a:defRPr/>
            </a:pP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Hides physical storage details from the application</a:t>
            </a:r>
            <a:endParaRPr sz="2000">
              <a:latin typeface="Arial"/>
              <a:cs typeface="Arial"/>
            </a:endParaRPr>
          </a:p>
          <a:p>
            <a:pPr lvl="1">
              <a:defRPr/>
            </a:pP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Provides a unified and structured way to access data</a:t>
            </a:r>
            <a:endParaRPr sz="2000">
              <a:latin typeface="Arial"/>
              <a:cs typeface="Arial"/>
            </a:endParaRPr>
          </a:p>
          <a:p>
            <a:pPr lvl="1">
              <a:defRPr/>
            </a:pP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Guarantees integrity, consistency, and concurrent multi-user access</a:t>
            </a:r>
            <a:endParaRPr sz="2000">
              <a:latin typeface="Arial"/>
              <a:cs typeface="Arial"/>
            </a:endParaRPr>
          </a:p>
          <a:p>
            <a:pPr lvl="1">
              <a:defRPr/>
            </a:pP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Implements security, transaction, and recovery mechanisms</a:t>
            </a:r>
            <a:endParaRPr sz="2000">
              <a:latin typeface="Arial"/>
              <a:ea typeface="Arial"/>
              <a:cs typeface="Arial"/>
            </a:endParaRPr>
          </a:p>
          <a:p>
            <a:pPr marL="457200" lvl="1" indent="0">
              <a:buFont typeface="Arial"/>
              <a:buNone/>
              <a:defRPr/>
            </a:pPr>
            <a:endParaRPr sz="2000"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Thus, the application does not directly manage files or disks, but communicates with the database, which handles all the complexity of storage and data management.</a:t>
            </a:r>
            <a:endParaRPr sz="2000" b="0" i="0" u="none">
              <a:solidFill>
                <a:srgbClr val="000000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In conclusion, data management constitutes the foundation of every modern information system, with the database serving as the reliable and controlled connector between application logic and underlying storage infrastructure.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5409734" name="Title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Role of the Database as an Intermediate Layer Between Application and Storage</a:t>
            </a:r>
            <a:endParaRPr sz="4400" b="1"/>
          </a:p>
        </p:txBody>
      </p:sp>
      <p:pic>
        <p:nvPicPr>
          <p:cNvPr id="134812905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90571" y="1812126"/>
            <a:ext cx="5555025" cy="4927375"/>
          </a:xfrm>
          <a:prstGeom prst="rect">
            <a:avLst/>
          </a:prstGeom>
        </p:spPr>
      </p:pic>
      <p:pic>
        <p:nvPicPr>
          <p:cNvPr id="1493809341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rot="0">
            <a:off x="6691896" y="1939923"/>
            <a:ext cx="5018499" cy="43513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2958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File-based Systems</a:t>
            </a:r>
            <a:endParaRPr b="1"/>
          </a:p>
        </p:txBody>
      </p:sp>
      <p:sp>
        <p:nvSpPr>
          <p:cNvPr id="175599233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Before the emergence of Database Management Systems (DBMS), most information systems relied on file-based systems.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In this approach, each application managed its data directly through operating system files, without an intermediate management layer.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File-based systems represented the first step in organizing digital data, but the increasing complexity of applications quickly exposed their structural limitations.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038190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Storage of Data in Files</a:t>
            </a:r>
            <a:endParaRPr b="1"/>
          </a:p>
        </p:txBody>
      </p:sp>
      <p:sp>
        <p:nvSpPr>
          <p:cNvPr id="1708075068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In file-based systems:</a:t>
            </a:r>
            <a:endParaRPr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lvl="1"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Data are stored in simple files (e.g., text, binary, CSV)</a:t>
            </a:r>
            <a:endParaRPr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lvl="1">
              <a:defRPr/>
            </a:pPr>
            <a:endParaRPr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lvl="1"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Each application defines its own file structure</a:t>
            </a:r>
            <a:endParaRPr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lvl="1">
              <a:defRPr/>
            </a:pPr>
            <a:endParaRPr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lvl="1"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Reading and writing are performed directly by application code</a:t>
            </a:r>
            <a:endParaRPr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lvl="1">
              <a:defRPr/>
            </a:pPr>
            <a:endParaRPr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lvl="1"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There is no central control or integration mechanism</a:t>
            </a:r>
            <a:endParaRPr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lvl="1">
              <a:defRPr/>
            </a:pPr>
            <a:endParaRPr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The file simultaneously serves as both storage medium and logical data model.</a:t>
            </a:r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081031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Tight Coupling Between Data and Code</a:t>
            </a:r>
            <a:endParaRPr b="1"/>
          </a:p>
        </p:txBody>
      </p:sp>
      <p:sp>
        <p:nvSpPr>
          <p:cNvPr id="2008991067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199" y="1825624"/>
            <a:ext cx="5181599" cy="43513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 marL="0" indent="0">
              <a:buFont typeface="Arial"/>
              <a:buNone/>
              <a:defRPr/>
            </a:pPr>
            <a:r>
              <a:rPr sz="2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A central characteristic of file-based systems is tight coupling:</a:t>
            </a:r>
            <a:endParaRPr sz="2200">
              <a:latin typeface="Arial"/>
              <a:ea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endParaRPr sz="2200">
              <a:latin typeface="Arial"/>
              <a:cs typeface="Arial"/>
            </a:endParaRPr>
          </a:p>
          <a:p>
            <a:pPr lvl="1">
              <a:defRPr/>
            </a:pPr>
            <a:r>
              <a:rPr sz="2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data structure is hard-coded into the application</a:t>
            </a:r>
            <a:endParaRPr sz="2200">
              <a:latin typeface="Arial"/>
              <a:cs typeface="Arial"/>
            </a:endParaRPr>
          </a:p>
          <a:p>
            <a:pPr lvl="1">
              <a:defRPr/>
            </a:pPr>
            <a:r>
              <a:rPr sz="2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Any change in file format requires code modifications</a:t>
            </a:r>
            <a:endParaRPr sz="2200">
              <a:latin typeface="Arial"/>
              <a:cs typeface="Arial"/>
            </a:endParaRPr>
          </a:p>
          <a:p>
            <a:pPr lvl="1">
              <a:defRPr/>
            </a:pPr>
            <a:r>
              <a:rPr sz="2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application “knows” storage details</a:t>
            </a:r>
            <a:endParaRPr sz="2200"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endParaRPr sz="2200" b="0" i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sz="2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This means that data are not independent from the application that uses them.</a:t>
            </a:r>
            <a:endParaRPr sz="2200" b="0" i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12488123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172200" y="1825624"/>
            <a:ext cx="5191599" cy="36988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323741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Problems of File-based Systems</a:t>
            </a:r>
            <a:endParaRPr b="1"/>
          </a:p>
        </p:txBody>
      </p:sp>
      <p:sp>
        <p:nvSpPr>
          <p:cNvPr id="973030819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199" y="1825624"/>
            <a:ext cx="5181599" cy="4351338"/>
          </a:xfrm>
        </p:spPr>
        <p:txBody>
          <a:bodyPr/>
          <a:lstStyle/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Redundancy (Πλεονασμός δεδομένων)</a:t>
            </a:r>
            <a:endParaRPr sz="2800"/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Inconsistency (Ασυνέπεια δεδομένων)</a:t>
            </a:r>
            <a:endParaRPr sz="2800"/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Maintenance difficulty</a:t>
            </a:r>
            <a:endParaRPr sz="2800"/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Lack of concurrent access</a:t>
            </a:r>
            <a:endParaRPr sz="2800"/>
          </a:p>
          <a:p>
            <a:pPr>
              <a:defRPr/>
            </a:pPr>
            <a:endParaRPr sz="2800"/>
          </a:p>
          <a:p>
            <a:pPr>
              <a:defRPr/>
            </a:pPr>
            <a:endParaRPr/>
          </a:p>
        </p:txBody>
      </p:sp>
      <p:pic>
        <p:nvPicPr>
          <p:cNvPr id="182829333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059833" y="1825624"/>
            <a:ext cx="5389215" cy="36988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570992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File-based Systems – Redundancy</a:t>
            </a:r>
            <a:endParaRPr b="1"/>
          </a:p>
        </p:txBody>
      </p:sp>
      <p:sp>
        <p:nvSpPr>
          <p:cNvPr id="24216499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same data are often stored in multiple files for different applications.</a:t>
            </a:r>
            <a:endParaRPr sz="2800"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endParaRPr sz="2800"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This leads to:</a:t>
            </a:r>
            <a:endParaRPr sz="2800" b="0" i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Waste of storage space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Increased probability of errors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Difficulty in synchronizing information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937441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File-based Systems – Inconsistency</a:t>
            </a:r>
            <a:endParaRPr b="1"/>
          </a:p>
        </p:txBody>
      </p:sp>
      <p:sp>
        <p:nvSpPr>
          <p:cNvPr id="161549048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When the same data exist in multiple files:</a:t>
            </a:r>
            <a:endParaRPr sz="2600">
              <a:latin typeface="Arial"/>
              <a:ea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endParaRPr sz="2600">
              <a:latin typeface="Arial"/>
              <a:cs typeface="Arial"/>
            </a:endParaRPr>
          </a:p>
          <a:p>
            <a:pPr lvl="1"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Updates may be applied only to some of them</a:t>
            </a:r>
            <a:endParaRPr sz="2600">
              <a:latin typeface="Arial"/>
              <a:ea typeface="Arial"/>
              <a:cs typeface="Arial"/>
            </a:endParaRPr>
          </a:p>
          <a:p>
            <a:pPr lvl="1">
              <a:defRPr/>
            </a:pPr>
            <a:endParaRPr sz="2600">
              <a:latin typeface="Arial"/>
              <a:cs typeface="Arial"/>
            </a:endParaRPr>
          </a:p>
          <a:p>
            <a:pPr lvl="1"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Conflicting values arise</a:t>
            </a:r>
            <a:endParaRPr sz="2600">
              <a:latin typeface="Arial"/>
              <a:ea typeface="Arial"/>
              <a:cs typeface="Arial"/>
            </a:endParaRPr>
          </a:p>
          <a:p>
            <a:pPr lvl="1">
              <a:defRPr/>
            </a:pPr>
            <a:endParaRPr sz="2600">
              <a:latin typeface="Arial"/>
              <a:cs typeface="Arial"/>
            </a:endParaRPr>
          </a:p>
          <a:p>
            <a:pPr lvl="1"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System reliability decreases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462960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File-based Systems – Maintenance Difficulty</a:t>
            </a:r>
            <a:endParaRPr b="1"/>
          </a:p>
        </p:txBody>
      </p:sp>
      <p:sp>
        <p:nvSpPr>
          <p:cNvPr id="172550014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Tight coupling makes maintenance particularly difficult:</a:t>
            </a:r>
            <a:endParaRPr sz="2600">
              <a:latin typeface="Arial"/>
              <a:ea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endParaRPr sz="2600">
              <a:latin typeface="Arial"/>
              <a:cs typeface="Arial"/>
            </a:endParaRPr>
          </a:p>
          <a:p>
            <a:pPr lvl="1"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Small changes in data structure require extensive code changes</a:t>
            </a:r>
            <a:endParaRPr sz="2600" b="0" i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endParaRPr sz="2600">
              <a:latin typeface="Arial"/>
              <a:cs typeface="Arial"/>
            </a:endParaRPr>
          </a:p>
          <a:p>
            <a:pPr lvl="1"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Development and evolution costs increase</a:t>
            </a:r>
            <a:endParaRPr sz="2600">
              <a:latin typeface="Arial"/>
              <a:ea typeface="Arial"/>
              <a:cs typeface="Arial"/>
            </a:endParaRPr>
          </a:p>
          <a:p>
            <a:pPr lvl="1">
              <a:defRPr/>
            </a:pPr>
            <a:endParaRPr sz="2600">
              <a:latin typeface="Arial"/>
              <a:cs typeface="Arial"/>
            </a:endParaRPr>
          </a:p>
          <a:p>
            <a:pPr lvl="1"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System scalability decreases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463228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File-based Systems – Lack of Concurrency</a:t>
            </a:r>
            <a:endParaRPr b="1"/>
          </a:p>
        </p:txBody>
      </p:sp>
      <p:sp>
        <p:nvSpPr>
          <p:cNvPr id="944260694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0000" lnSpcReduction="4000"/>
          </a:bodyPr>
          <a:lstStyle/>
          <a:p>
            <a:pPr marL="0" indent="0">
              <a:buFont typeface="Arial"/>
              <a:buNone/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File-based systems do not effectively support multiple users: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No concurrency control mechanisms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Conflicts during simultaneous writes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Risk of data loss or corruption</a:t>
            </a:r>
            <a:endParaRPr sz="2800"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endParaRPr sz="2800"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File-based systems were suitable for simple, single-user, small-scale applications.</a:t>
            </a:r>
            <a:endParaRPr sz="2800" b="0" i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However, redundancy, inconsistency, maintenance, and concurrency problems made it clear that a more structured and independent approach was necessary.</a:t>
            </a:r>
            <a:endParaRPr sz="2800">
              <a:latin typeface="Arial"/>
              <a:ea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This need led directly to the development of Database Management Systems (DBMS), which address precisely these weaknesses.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679578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Emergence of DBMS (Database Management Systems)</a:t>
            </a:r>
            <a:endParaRPr b="1"/>
          </a:p>
        </p:txBody>
      </p:sp>
      <p:sp>
        <p:nvSpPr>
          <p:cNvPr id="1081255880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199" y="1825624"/>
            <a:ext cx="5181599" cy="43513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5000" lnSpcReduction="3000"/>
          </a:bodyPr>
          <a:lstStyle/>
          <a:p>
            <a:pPr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emergence of Database Management Systems (DBMS) was a direct response to the structural problems of file-based systems.</a:t>
            </a:r>
            <a:endParaRPr sz="2600">
              <a:latin typeface="Arial"/>
              <a:ea typeface="Arial"/>
              <a:cs typeface="Arial"/>
            </a:endParaRPr>
          </a:p>
          <a:p>
            <a:pPr>
              <a:defRPr/>
            </a:pPr>
            <a:endParaRPr sz="2600">
              <a:latin typeface="Arial"/>
              <a:cs typeface="Arial"/>
            </a:endParaRPr>
          </a:p>
          <a:p>
            <a:pPr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DBMS introduced an intermediate software layer between applications and storage, centrally managing data.</a:t>
            </a:r>
            <a:endParaRPr sz="2600">
              <a:latin typeface="Arial"/>
              <a:ea typeface="Arial"/>
              <a:cs typeface="Arial"/>
            </a:endParaRPr>
          </a:p>
          <a:p>
            <a:pPr>
              <a:defRPr/>
            </a:pPr>
            <a:endParaRPr sz="2600">
              <a:latin typeface="Arial"/>
              <a:cs typeface="Arial"/>
            </a:endParaRPr>
          </a:p>
          <a:p>
            <a:pPr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Thus, data cease to be the property of a single application and become a shared, controlled, and independent resource.</a:t>
            </a:r>
            <a:endParaRPr sz="2600">
              <a:latin typeface="Arial"/>
              <a:cs typeface="Arial"/>
            </a:endParaRPr>
          </a:p>
        </p:txBody>
      </p:sp>
      <p:pic>
        <p:nvPicPr>
          <p:cNvPr id="160554878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591300" y="1690687"/>
            <a:ext cx="4762498" cy="47624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244028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DBMS – Abstraction</a:t>
            </a:r>
            <a:endParaRPr b="1"/>
          </a:p>
        </p:txBody>
      </p:sp>
      <p:sp>
        <p:nvSpPr>
          <p:cNvPr id="663537256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 marL="0" indent="0">
              <a:buFont typeface="Arial"/>
              <a:buNone/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concept of abstraction is fundamental in DBMS.</a:t>
            </a:r>
            <a:endParaRPr sz="2800"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system: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Hides the details of how data are stored</a:t>
            </a:r>
            <a:endParaRPr sz="2800">
              <a:latin typeface="Arial"/>
              <a:ea typeface="Arial"/>
              <a:cs typeface="Arial"/>
            </a:endParaRPr>
          </a:p>
          <a:p>
            <a:pPr lvl="1">
              <a:defRPr/>
            </a:pP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Provides users and applications with a simplified logical view of data</a:t>
            </a:r>
            <a:endParaRPr sz="2800">
              <a:latin typeface="Arial"/>
              <a:ea typeface="Arial"/>
              <a:cs typeface="Arial"/>
            </a:endParaRPr>
          </a:p>
          <a:p>
            <a:pPr lvl="1">
              <a:defRPr/>
            </a:pP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Separates physical storage, logical structure, and access levels</a:t>
            </a:r>
            <a:endParaRPr sz="2800"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endParaRPr sz="2800"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Through abstraction, applications interact with data via commands and interfaces, without knowing where or how they are physically stored.</a:t>
            </a:r>
            <a:endParaRPr sz="2800" b="0" i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991564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DBMS – Data Independence</a:t>
            </a:r>
            <a:endParaRPr b="1"/>
          </a:p>
        </p:txBody>
      </p:sp>
      <p:sp>
        <p:nvSpPr>
          <p:cNvPr id="1456531924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5000" lnSpcReduction="3000"/>
          </a:bodyPr>
          <a:lstStyle/>
          <a:p>
            <a:pPr marL="0" indent="0">
              <a:buFont typeface="Arial"/>
              <a:buNone/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 independence means that: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Changes in storage mechanisms (files, indexes, partitions) do not require changes in application code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Changes in logical structure can occur without affecting users</a:t>
            </a:r>
            <a:endParaRPr sz="2800"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endParaRPr sz="2800"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It is distinguished into:</a:t>
            </a:r>
            <a:endParaRPr sz="2800" b="0" i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r>
              <a:rPr sz="28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Physical Data Independence:</a:t>
            </a: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Independence from physical storage details.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Logical Data Independence: </a:t>
            </a: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Independence from schema changes.</a:t>
            </a:r>
            <a:endParaRPr sz="2800"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endParaRPr sz="2800"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This represents a fundamental advantage over file-based systems.</a:t>
            </a:r>
            <a:endParaRPr sz="2800" b="0" i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076249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DBMS – Centralized Data Management</a:t>
            </a:r>
            <a:endParaRPr b="1"/>
          </a:p>
        </p:txBody>
      </p:sp>
      <p:sp>
        <p:nvSpPr>
          <p:cNvPr id="67390906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With DBMS: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 are stored and controlled centrally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 are shared among multiple applications and users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Unified integrity, security, and access rules are enforced</a:t>
            </a:r>
            <a:endParaRPr sz="2800"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endParaRPr sz="2800"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Centralized management reduces redundancy, increases consistency, and enables holistic supervision of the information system.</a:t>
            </a:r>
            <a:endParaRPr sz="2800" b="0" i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473482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DBMS – Core Functions 1/3</a:t>
            </a:r>
            <a:endParaRPr b="1"/>
          </a:p>
        </p:txBody>
      </p:sp>
      <p:sp>
        <p:nvSpPr>
          <p:cNvPr id="69197924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r>
              <a:rPr sz="28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CRUD (Create, Read, Update, Delete)</a:t>
            </a:r>
            <a:endParaRPr sz="2800">
              <a:latin typeface="Arial"/>
              <a:ea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endParaRPr sz="2800"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DBMS provide standardized operations for: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 insertion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Information retrieval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Record updating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 deletion</a:t>
            </a:r>
            <a:endParaRPr sz="2800"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endParaRPr sz="2800"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These operations constitute the core of database interaction.</a:t>
            </a:r>
            <a:endParaRPr sz="2800" b="0" i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23346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DBMS – Core Functions 2/3</a:t>
            </a:r>
            <a:endParaRPr b="1"/>
          </a:p>
        </p:txBody>
      </p:sp>
      <p:sp>
        <p:nvSpPr>
          <p:cNvPr id="138502122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199" y="1825624"/>
            <a:ext cx="5181599" cy="4351338"/>
          </a:xfrm>
        </p:spPr>
        <p:txBody>
          <a:bodyPr/>
          <a:lstStyle/>
          <a:p>
            <a:pPr marL="0" indent="0">
              <a:buFont typeface="Arial"/>
              <a:buNone/>
              <a:defRPr/>
            </a:pPr>
            <a:r>
              <a:rPr sz="28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Concurrency Control</a:t>
            </a:r>
            <a:endParaRPr sz="2800">
              <a:latin typeface="Arial"/>
              <a:ea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endParaRPr sz="2800"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DBMS allow safe concurrent access by multiple users: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Prevent write conflicts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Ensure data consistency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Implement locking and transaction mechanisms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108037234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5635818" y="2031351"/>
            <a:ext cx="6093301" cy="39398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730977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DBMS – Core Functions 3/3</a:t>
            </a:r>
            <a:endParaRPr b="1"/>
          </a:p>
        </p:txBody>
      </p:sp>
      <p:sp>
        <p:nvSpPr>
          <p:cNvPr id="1199224767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0000" lnSpcReduction="4000"/>
          </a:bodyPr>
          <a:lstStyle/>
          <a:p>
            <a:pPr marL="0" indent="0">
              <a:buFont typeface="Arial"/>
              <a:buNone/>
              <a:defRPr/>
            </a:pPr>
            <a:r>
              <a:rPr sz="26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Recovery</a:t>
            </a:r>
            <a:endParaRPr sz="2600"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In case of failure:</a:t>
            </a:r>
            <a:endParaRPr sz="2600">
              <a:latin typeface="Arial"/>
              <a:cs typeface="Arial"/>
            </a:endParaRPr>
          </a:p>
          <a:p>
            <a:pPr lvl="1"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DBMS can restore the database to a consistent state</a:t>
            </a:r>
            <a:endParaRPr sz="2600">
              <a:latin typeface="Arial"/>
              <a:cs typeface="Arial"/>
            </a:endParaRPr>
          </a:p>
          <a:p>
            <a:pPr lvl="1"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Uses logs and rollback mechanisms</a:t>
            </a:r>
            <a:endParaRPr sz="2600">
              <a:latin typeface="Arial"/>
              <a:cs typeface="Arial"/>
            </a:endParaRPr>
          </a:p>
          <a:p>
            <a:pPr lvl="1"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Protects data from loss or partial writes</a:t>
            </a:r>
            <a:endParaRPr sz="2600">
              <a:latin typeface="Arial"/>
              <a:cs typeface="Arial"/>
            </a:endParaRPr>
          </a:p>
          <a:p>
            <a:pPr>
              <a:defRPr/>
            </a:pPr>
            <a:endParaRPr sz="2600"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sz="26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Conclusion (DBMS Section)</a:t>
            </a:r>
            <a:endParaRPr sz="2600">
              <a:latin typeface="Arial"/>
              <a:cs typeface="Arial"/>
            </a:endParaRPr>
          </a:p>
          <a:p>
            <a:pPr lvl="1"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emergence of DBMS marked the transition from applications that “owned” data to systems where data are an autonomous, centrally managed resource.</a:t>
            </a:r>
            <a:endParaRPr sz="2600">
              <a:latin typeface="Arial"/>
              <a:cs typeface="Arial"/>
            </a:endParaRPr>
          </a:p>
          <a:p>
            <a:pPr lvl="1"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Abstraction, data independence, and core functions such as CRUD, concurrency control, and recovery constitute the cornerstone of every modern information system.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930928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The Dominance of Relational Databases</a:t>
            </a:r>
            <a:endParaRPr b="1"/>
          </a:p>
        </p:txBody>
      </p:sp>
      <p:sp>
        <p:nvSpPr>
          <p:cNvPr id="37739352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Relational databases prevailed as the dominant model of data storage and management for decades because they provided a strict, mathematically grounded, and universally understandable </a:t>
            </a:r>
            <a:r>
              <a:rPr sz="28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way of organizing data</a:t>
            </a: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  <a:endParaRPr sz="2800">
              <a:latin typeface="Arial"/>
              <a:cs typeface="Arial"/>
            </a:endParaRPr>
          </a:p>
          <a:p>
            <a:pPr>
              <a:defRPr/>
            </a:pPr>
            <a:endParaRPr sz="2800">
              <a:latin typeface="Arial"/>
              <a:cs typeface="Arial"/>
            </a:endParaRPr>
          </a:p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relational model offered clear structure, formal rules, and a high degree of reliability — essential characteristics for enterprise and mission-critical systems.</a:t>
            </a:r>
            <a:endParaRPr sz="2800" b="0" i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214649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718518" y="365121"/>
            <a:ext cx="8754953" cy="60843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806594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Relational Model</a:t>
            </a:r>
            <a:endParaRPr b="1"/>
          </a:p>
        </p:txBody>
      </p:sp>
      <p:sp>
        <p:nvSpPr>
          <p:cNvPr id="142306978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relational model is based on set theory and relational algebra.</a:t>
            </a:r>
            <a:endParaRPr sz="2600">
              <a:latin typeface="Arial"/>
              <a:cs typeface="Arial"/>
            </a:endParaRPr>
          </a:p>
          <a:p>
            <a:pPr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 are represented as sets of tuples organized into relations.</a:t>
            </a:r>
            <a:endParaRPr sz="2600">
              <a:latin typeface="Arial"/>
              <a:cs typeface="Arial"/>
            </a:endParaRPr>
          </a:p>
          <a:p>
            <a:pPr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Each relation:</a:t>
            </a:r>
            <a:endParaRPr sz="2600">
              <a:latin typeface="Arial"/>
              <a:cs typeface="Arial"/>
            </a:endParaRPr>
          </a:p>
          <a:p>
            <a:pPr lvl="1"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Has a clearly defined schema</a:t>
            </a:r>
            <a:endParaRPr sz="2600">
              <a:latin typeface="Arial"/>
              <a:cs typeface="Arial"/>
            </a:endParaRPr>
          </a:p>
          <a:p>
            <a:pPr lvl="1"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Consists of attributes with specified data types</a:t>
            </a:r>
            <a:endParaRPr sz="2600">
              <a:latin typeface="Arial"/>
              <a:cs typeface="Arial"/>
            </a:endParaRPr>
          </a:p>
          <a:p>
            <a:pPr lvl="1"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Is subject to integrity constraints</a:t>
            </a:r>
            <a:endParaRPr sz="2600">
              <a:latin typeface="Arial"/>
              <a:cs typeface="Arial"/>
            </a:endParaRPr>
          </a:p>
          <a:p>
            <a:pPr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This strict definition enabled data independence and rigorous consistency enforcement.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288248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Tables, Relations, Keys</a:t>
            </a:r>
            <a:endParaRPr b="1"/>
          </a:p>
        </p:txBody>
      </p:sp>
      <p:sp>
        <p:nvSpPr>
          <p:cNvPr id="312171332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75000" lnSpcReduction="5000"/>
          </a:bodyPr>
          <a:lstStyle/>
          <a:p>
            <a:pPr marL="0" indent="0">
              <a:buFont typeface="Arial"/>
              <a:buNone/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In practical implementation: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Tables correspond to relations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Rows represent records (entities)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Columns represent attributes</a:t>
            </a:r>
            <a:endParaRPr sz="2800"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endParaRPr sz="2800"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Keys ensure uniqueness and relationships:</a:t>
            </a:r>
            <a:endParaRPr sz="2800" b="0" i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r>
              <a:rPr sz="28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Primary Key:</a:t>
            </a: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Unique identifier of each record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Foreign Key:</a:t>
            </a: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Link between tables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Constraints:</a:t>
            </a: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Rules that preserve data integrity</a:t>
            </a:r>
            <a:endParaRPr sz="2800"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endParaRPr sz="2800"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In this way, complex data structures are modeled in a simple and standardized manner.</a:t>
            </a:r>
            <a:endParaRPr sz="2800" b="0" i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24486412" name=""/>
          <p:cNvPicPr>
            <a:picLocks noChangeAspect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 rot="0">
            <a:off x="682332" y="1571013"/>
            <a:ext cx="10515600" cy="37159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172539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SQL as a Universal Language</a:t>
            </a:r>
            <a:endParaRPr b="1"/>
          </a:p>
        </p:txBody>
      </p:sp>
      <p:sp>
        <p:nvSpPr>
          <p:cNvPr id="1963394705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 marL="0" indent="0">
              <a:buFont typeface="Arial"/>
              <a:buNone/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SQL (Structured Query Language) was established as the universal language for interacting with relational databases.</a:t>
            </a:r>
            <a:endParaRPr sz="2600"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endParaRPr sz="2600"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It provides:</a:t>
            </a:r>
            <a:endParaRPr sz="2600" b="0" i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Declarative query specification</a:t>
            </a:r>
            <a:endParaRPr sz="2600">
              <a:latin typeface="Arial"/>
              <a:cs typeface="Arial"/>
            </a:endParaRPr>
          </a:p>
          <a:p>
            <a:pPr lvl="1"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Independence from physical storage</a:t>
            </a:r>
            <a:endParaRPr sz="2600">
              <a:latin typeface="Arial"/>
              <a:cs typeface="Arial"/>
            </a:endParaRPr>
          </a:p>
          <a:p>
            <a:pPr lvl="1"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Unified standard for CRUD operations</a:t>
            </a:r>
            <a:endParaRPr sz="2600">
              <a:latin typeface="Arial"/>
              <a:cs typeface="Arial"/>
            </a:endParaRPr>
          </a:p>
          <a:p>
            <a:pPr lvl="1"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Schema definition and access control</a:t>
            </a:r>
            <a:endParaRPr sz="2600">
              <a:latin typeface="Arial"/>
              <a:cs typeface="Arial"/>
            </a:endParaRPr>
          </a:p>
          <a:p>
            <a:pPr>
              <a:defRPr/>
            </a:pPr>
            <a:endParaRPr sz="2600">
              <a:latin typeface="Arial"/>
              <a:cs typeface="Arial"/>
            </a:endParaRPr>
          </a:p>
          <a:p>
            <a:pPr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user describes what needs to be retrieved, not how, leaving execution optimization to the DBMS.</a:t>
            </a:r>
            <a:endParaRPr sz="2600" b="0" i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532757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ACID Properties</a:t>
            </a:r>
            <a:endParaRPr b="1"/>
          </a:p>
        </p:txBody>
      </p:sp>
      <p:sp>
        <p:nvSpPr>
          <p:cNvPr id="1702493431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 marL="0" indent="0">
              <a:buFont typeface="Arial"/>
              <a:buNone/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reliability of relational databases is based on the ACID properties of transactions:</a:t>
            </a:r>
            <a:endParaRPr sz="2600">
              <a:latin typeface="Arial"/>
              <a:cs typeface="Arial"/>
            </a:endParaRPr>
          </a:p>
          <a:p>
            <a:pPr lvl="1">
              <a:defRPr/>
            </a:pPr>
            <a:r>
              <a:rPr sz="26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Atomicity: </a:t>
            </a: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Each transaction is executed entirely or not at all.</a:t>
            </a:r>
            <a:endParaRPr sz="2600">
              <a:latin typeface="Arial"/>
              <a:cs typeface="Arial"/>
            </a:endParaRPr>
          </a:p>
          <a:p>
            <a:pPr lvl="1">
              <a:defRPr/>
            </a:pPr>
            <a:r>
              <a:rPr sz="26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Consistency: </a:t>
            </a: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database transitions from one valid state to another.</a:t>
            </a:r>
            <a:endParaRPr sz="2600">
              <a:latin typeface="Arial"/>
              <a:cs typeface="Arial"/>
            </a:endParaRPr>
          </a:p>
          <a:p>
            <a:pPr lvl="1">
              <a:defRPr/>
            </a:pPr>
            <a:r>
              <a:rPr sz="26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Isolation: </a:t>
            </a: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Concurrent transactions do not interfere with each other.</a:t>
            </a:r>
            <a:endParaRPr sz="2600">
              <a:latin typeface="Arial"/>
              <a:cs typeface="Arial"/>
            </a:endParaRPr>
          </a:p>
          <a:p>
            <a:pPr lvl="1">
              <a:defRPr/>
            </a:pPr>
            <a:r>
              <a:rPr sz="26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Durability: </a:t>
            </a: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 remain stored even after system failure.</a:t>
            </a:r>
            <a:endParaRPr sz="2600"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endParaRPr sz="2600"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ACID properties make relational databases suitable for banking, accounting, and other critical systems.</a:t>
            </a:r>
            <a:endParaRPr sz="2600" b="0" i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37126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Relational Databases – Conclusion</a:t>
            </a:r>
            <a:endParaRPr b="1"/>
          </a:p>
        </p:txBody>
      </p:sp>
      <p:sp>
        <p:nvSpPr>
          <p:cNvPr id="1864887909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dominance of relational databases was not accidental.</a:t>
            </a:r>
            <a:endParaRPr sz="2600"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endParaRPr sz="2600"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combination of:</a:t>
            </a:r>
            <a:endParaRPr sz="2600" b="0" i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A strict relational model</a:t>
            </a:r>
            <a:endParaRPr sz="2600">
              <a:latin typeface="Arial"/>
              <a:cs typeface="Arial"/>
            </a:endParaRPr>
          </a:p>
          <a:p>
            <a:pPr lvl="1"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universal SQL language</a:t>
            </a:r>
            <a:endParaRPr sz="2600">
              <a:latin typeface="Arial"/>
              <a:cs typeface="Arial"/>
            </a:endParaRPr>
          </a:p>
          <a:p>
            <a:pPr lvl="1"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ACID guarantees</a:t>
            </a:r>
            <a:endParaRPr sz="2600">
              <a:latin typeface="Arial"/>
              <a:cs typeface="Arial"/>
            </a:endParaRPr>
          </a:p>
          <a:p>
            <a:pPr lvl="1"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created a stable, reliable, and scalable foundation for large-scale information systems.</a:t>
            </a:r>
            <a:endParaRPr sz="2600">
              <a:latin typeface="Arial"/>
              <a:cs typeface="Arial"/>
            </a:endParaRPr>
          </a:p>
          <a:p>
            <a:pPr lvl="1"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This background explains why relational databases remain a reference point even in the modern era of NoSQL systems.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577548" name="Title 1"/>
          <p:cNvSpPr>
            <a:spLocks noGrp="1"/>
          </p:cNvSpPr>
          <p:nvPr>
            <p:ph type="title"/>
          </p:nvPr>
        </p:nvSpPr>
        <p:spPr bwMode="auto">
          <a:xfrm>
            <a:off x="831849" y="1709737"/>
            <a:ext cx="10515600" cy="2852736"/>
          </a:xfrm>
        </p:spPr>
        <p:txBody>
          <a:bodyPr/>
          <a:lstStyle>
            <a:lvl1pPr>
              <a:defRPr sz="6000"/>
            </a:lvl1pPr>
          </a:lstStyle>
          <a:p>
            <a:pPr>
              <a:defRPr/>
            </a:pPr>
            <a:r>
              <a:rPr lang="en-US" sz="60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Limits of RDBMS &amp; Big Data</a:t>
            </a:r>
            <a:endParaRPr b="1"/>
          </a:p>
        </p:txBody>
      </p:sp>
      <p:sp>
        <p:nvSpPr>
          <p:cNvPr id="41222960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49" y="4589462"/>
            <a:ext cx="10515600" cy="150018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96224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What Changed in the Application World</a:t>
            </a:r>
            <a:endParaRPr b="1"/>
          </a:p>
        </p:txBody>
      </p:sp>
      <p:sp>
        <p:nvSpPr>
          <p:cNvPr id="100860930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classical era of information systems was based on </a:t>
            </a:r>
            <a:r>
              <a:rPr sz="26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relatively stable, small-scale, and internal applications.</a:t>
            </a:r>
            <a:endParaRPr sz="2600" b="1">
              <a:latin typeface="Arial"/>
              <a:ea typeface="Arial"/>
              <a:cs typeface="Arial"/>
            </a:endParaRPr>
          </a:p>
          <a:p>
            <a:pPr>
              <a:defRPr/>
            </a:pPr>
            <a:endParaRPr sz="2600">
              <a:latin typeface="Arial"/>
              <a:cs typeface="Arial"/>
            </a:endParaRPr>
          </a:p>
          <a:p>
            <a:pPr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Today, the application environment has been radically transformed, leading to </a:t>
            </a:r>
            <a:r>
              <a:rPr sz="26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explosive growth in data volume, number of users, update rate, and system complexity </a:t>
            </a: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— often beyond the design assumptions of traditional RDBMS.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768774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Web Applications</a:t>
            </a:r>
            <a:endParaRPr b="1"/>
          </a:p>
        </p:txBody>
      </p:sp>
      <p:sp>
        <p:nvSpPr>
          <p:cNvPr id="647916247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199" y="1825624"/>
            <a:ext cx="5181599" cy="43513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75000" lnSpcReduction="5000"/>
          </a:bodyPr>
          <a:lstStyle/>
          <a:p>
            <a:pPr marL="0" indent="0">
              <a:buFont typeface="Arial"/>
              <a:buNone/>
              <a:defRPr/>
            </a:pPr>
            <a:r>
              <a:rPr lang="en-US" sz="2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Applications moved </a:t>
            </a:r>
            <a:r>
              <a:rPr lang="en-US" sz="2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from local systems to globally accessible web platforms, serving millions of concurrent users.</a:t>
            </a:r>
            <a:endParaRPr sz="2600" b="1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sz="2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They are characterized by:</a:t>
            </a:r>
            <a:endParaRPr sz="2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sz="2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lvl="1">
              <a:defRPr/>
            </a:pPr>
            <a:r>
              <a:rPr lang="en-US" sz="2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High concurrency</a:t>
            </a:r>
            <a:endParaRPr sz="2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lvl="1">
              <a:defRPr/>
            </a:pPr>
            <a:endParaRPr sz="2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lvl="1">
              <a:defRPr/>
            </a:pPr>
            <a:r>
              <a:rPr lang="en-US" sz="2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Intensive read/write traffic</a:t>
            </a:r>
            <a:endParaRPr sz="2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lvl="1">
              <a:defRPr/>
            </a:pPr>
            <a:endParaRPr sz="2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lvl="1">
              <a:defRPr/>
            </a:pPr>
            <a:r>
              <a:rPr lang="en-US" sz="2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Need for horizontal scalability</a:t>
            </a:r>
            <a:endParaRPr sz="2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lvl="1">
              <a:defRPr/>
            </a:pPr>
            <a:endParaRPr sz="2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lvl="1">
              <a:defRPr/>
            </a:pPr>
            <a:r>
              <a:rPr lang="en-US" sz="2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Low latency requirements</a:t>
            </a:r>
            <a:endParaRPr sz="2600"/>
          </a:p>
        </p:txBody>
      </p:sp>
      <p:pic>
        <p:nvPicPr>
          <p:cNvPr id="83633698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146289" y="1882774"/>
            <a:ext cx="5531164" cy="42322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70243545" name=""/>
          <p:cNvPicPr>
            <a:picLocks noChangeAspect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 rot="0" flipH="0" flipV="0">
            <a:off x="1649008" y="-14428"/>
            <a:ext cx="8893976" cy="68053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53721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Mobile Users</a:t>
            </a:r>
            <a:endParaRPr b="1"/>
          </a:p>
        </p:txBody>
      </p:sp>
      <p:sp>
        <p:nvSpPr>
          <p:cNvPr id="94150099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dominance of smartphones introduced: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Continuous real-time data generation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Geospatial information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Asynchronous and unstable connectivity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Demand for immediate response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Offline-first architectures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Databases are now required to serve mobile, distributed, and dynamic data flows.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34171131" name=""/>
          <p:cNvPicPr>
            <a:picLocks noChangeAspect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 rot="0" flipH="0" flipV="0">
            <a:off x="1927643" y="93681"/>
            <a:ext cx="8336705" cy="66706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752887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Social Networks</a:t>
            </a:r>
            <a:endParaRPr b="1"/>
          </a:p>
        </p:txBody>
      </p:sp>
      <p:sp>
        <p:nvSpPr>
          <p:cNvPr id="50767588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Social networks generated: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Massive volumes of unstructured data (posts, media, reactions)</a:t>
            </a:r>
            <a:endParaRPr sz="2800" b="1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Graph relationships between users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Complex recommendation and graph queries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Extremely high write throughput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 are no longer only tables — they are graph structures, streams, and dynamic social graphs.</a:t>
            </a:r>
            <a:endParaRPr sz="2800" b="1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7949168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0" flipH="0" flipV="0">
            <a:off x="1956305" y="346149"/>
            <a:ext cx="8279376" cy="61656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922295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Cloud Computing</a:t>
            </a:r>
            <a:endParaRPr b="1"/>
          </a:p>
        </p:txBody>
      </p:sp>
      <p:sp>
        <p:nvSpPr>
          <p:cNvPr id="120371465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transition to cloud computing imposed: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Distributed data storage across multiple data centers</a:t>
            </a:r>
            <a:endParaRPr sz="2800" b="1">
              <a:latin typeface="Arial"/>
              <a:cs typeface="Arial"/>
            </a:endParaRPr>
          </a:p>
          <a:p>
            <a:pPr lvl="1">
              <a:defRPr/>
            </a:pPr>
            <a:r>
              <a:rPr sz="28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Elastic scaling</a:t>
            </a:r>
            <a:endParaRPr sz="2800" b="1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Node failure tolerance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Geographic distribution of users and workloads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Databases must operate in distributed, fault-tolerant, multi-region environments.</a:t>
            </a:r>
            <a:endParaRPr sz="2800" b="1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844812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IoT and Sensors</a:t>
            </a:r>
            <a:endParaRPr b="1"/>
          </a:p>
        </p:txBody>
      </p:sp>
      <p:sp>
        <p:nvSpPr>
          <p:cNvPr id="129269386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expansion of the Internet of Things introduced: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Continuous data streams from millions of devices</a:t>
            </a:r>
            <a:endParaRPr sz="2800" b="1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High-frequency time-series data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Need for real-time ingestion and analytics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Huge volume of low-value-per-record data but extremely high overall scale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 are now generated automatically, continuously, and in real time.</a:t>
            </a:r>
            <a:endParaRPr sz="2800" b="1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434542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Conclusion</a:t>
            </a:r>
            <a:endParaRPr b="1"/>
          </a:p>
        </p:txBody>
      </p:sp>
      <p:sp>
        <p:nvSpPr>
          <p:cNvPr id="69384961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world of applications </a:t>
            </a:r>
            <a:r>
              <a:rPr sz="28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shifted from static, small-scale, and structured data usage to a massive, distributed, high-speed, and heterogeneous environment.</a:t>
            </a:r>
            <a:endParaRPr sz="2800">
              <a:latin typeface="Arial"/>
              <a:ea typeface="Arial"/>
              <a:cs typeface="Arial"/>
            </a:endParaRPr>
          </a:p>
          <a:p>
            <a:pPr>
              <a:defRPr/>
            </a:pPr>
            <a:endParaRPr sz="2800">
              <a:latin typeface="Arial"/>
              <a:cs typeface="Arial"/>
            </a:endParaRPr>
          </a:p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This transformation is the primary</a:t>
            </a:r>
            <a:r>
              <a:rPr sz="28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reason traditional RDBMS reach their limits</a:t>
            </a: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and it paved the way for </a:t>
            </a:r>
            <a:r>
              <a:rPr sz="28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Big Data platforms and NoSQL architectures.</a:t>
            </a:r>
            <a:endParaRPr sz="2800" b="1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746339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New Requirements</a:t>
            </a:r>
            <a:endParaRPr b="1"/>
          </a:p>
        </p:txBody>
      </p:sp>
      <p:sp>
        <p:nvSpPr>
          <p:cNvPr id="200160457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The radical transformation of the application ecosystem created a set of new, non-negotiable requirements for data systems.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These requirements no longer concern only correct storage, but continuous, global, and immediate access under extreme scale.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402692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New Requirements – Massive Number of Users</a:t>
            </a:r>
            <a:endParaRPr b="1"/>
          </a:p>
        </p:txBody>
      </p:sp>
      <p:sp>
        <p:nvSpPr>
          <p:cNvPr id="1050891983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 marL="0" indent="0">
              <a:buFont typeface="Arial"/>
              <a:buNone/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Modern systems serve:</a:t>
            </a:r>
            <a:endParaRPr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lvl="1">
              <a:defRPr/>
            </a:pPr>
            <a:endParaRPr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Millions or even billions of users</a:t>
            </a:r>
            <a:endParaRPr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lvl="1">
              <a:defRPr/>
            </a:pPr>
            <a:endParaRPr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High levels of concurrency</a:t>
            </a:r>
            <a:endParaRPr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lvl="1">
              <a:defRPr/>
            </a:pPr>
            <a:endParaRPr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Highly variable workloads</a:t>
            </a:r>
            <a:endParaRPr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lvl="1">
              <a:defRPr/>
            </a:pPr>
            <a:endParaRPr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The classical RDBMS architecture proves insufficient, as scalability must be </a:t>
            </a:r>
            <a:r>
              <a:rPr lang="en-US" sz="2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horizontal and dynamic.</a:t>
            </a:r>
            <a:endParaRPr sz="2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70559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349813779" name=""/>
          <p:cNvPicPr>
            <a:picLocks noChangeAspect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 rot="0" flipH="0" flipV="0">
            <a:off x="663741" y="365121"/>
            <a:ext cx="10864514" cy="60202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591957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New Requirements – 24/7 Availability</a:t>
            </a:r>
            <a:endParaRPr b="1"/>
          </a:p>
        </p:txBody>
      </p:sp>
      <p:sp>
        <p:nvSpPr>
          <p:cNvPr id="461963136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Modern applications: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Do not tolerate downtime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Require uninterrupted operation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Must withstand hardware, network, or software failures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High availability is no longer optional — it is a fundamental design requirement.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700142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New Requirements – Global Distribution</a:t>
            </a:r>
            <a:endParaRPr b="1"/>
          </a:p>
        </p:txBody>
      </p:sp>
      <p:sp>
        <p:nvSpPr>
          <p:cNvPr id="1288633528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199" y="1825624"/>
            <a:ext cx="5181599" cy="43513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Users are geographically distributed: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4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Across continents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4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With different network conditions and latencies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4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Requiring access to the same datasets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4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This necessitates geographically distributed databases with replication and synchronization between data centers.</a:t>
            </a:r>
            <a:endParaRPr sz="2800" b="1">
              <a:latin typeface="Arial"/>
              <a:cs typeface="Arial"/>
            </a:endParaRPr>
          </a:p>
        </p:txBody>
      </p:sp>
      <p:pic>
        <p:nvPicPr>
          <p:cNvPr id="429046151" name=""/>
          <p:cNvPicPr>
            <a:picLocks noChangeAspect="1"/>
          </p:cNvPicPr>
          <p:nvPr/>
        </p:nvPicPr>
        <p:blipFill rotWithShape="1">
          <a:blip r:embed="rId3"/>
          <a:srcRect l="0" t="0" r="0" b="5932"/>
          <a:stretch/>
        </p:blipFill>
        <p:spPr bwMode="auto">
          <a:xfrm flipH="0" flipV="0">
            <a:off x="6095999" y="1825624"/>
            <a:ext cx="5656291" cy="37369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657710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New Requirements – Low Latency</a:t>
            </a:r>
            <a:endParaRPr b="1"/>
          </a:p>
        </p:txBody>
      </p:sp>
      <p:sp>
        <p:nvSpPr>
          <p:cNvPr id="76556988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199" y="1825624"/>
            <a:ext cx="5181599" cy="4351338"/>
          </a:xfrm>
        </p:spPr>
        <p:txBody>
          <a:bodyPr/>
          <a:lstStyle/>
          <a:p>
            <a:pPr>
              <a:defRPr/>
            </a:pPr>
            <a:r>
              <a:rPr sz="24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User experience depends on:</a:t>
            </a:r>
            <a:endParaRPr sz="2400">
              <a:latin typeface="Arial"/>
              <a:cs typeface="Arial"/>
            </a:endParaRPr>
          </a:p>
          <a:p>
            <a:pPr lvl="1">
              <a:defRPr/>
            </a:pPr>
            <a:r>
              <a:rPr sz="24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Millisecond-level responses</a:t>
            </a:r>
            <a:endParaRPr sz="2400">
              <a:latin typeface="Arial"/>
              <a:cs typeface="Arial"/>
            </a:endParaRPr>
          </a:p>
          <a:p>
            <a:pPr lvl="1">
              <a:defRPr/>
            </a:pPr>
            <a:r>
              <a:rPr sz="24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Immediate data retrieval and updates</a:t>
            </a:r>
            <a:endParaRPr sz="2400">
              <a:latin typeface="Arial"/>
              <a:cs typeface="Arial"/>
            </a:endParaRPr>
          </a:p>
          <a:p>
            <a:pPr lvl="1">
              <a:defRPr/>
            </a:pPr>
            <a:r>
              <a:rPr sz="24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Predictable performance regardless of load</a:t>
            </a:r>
            <a:endParaRPr sz="2400">
              <a:latin typeface="Arial"/>
              <a:cs typeface="Arial"/>
            </a:endParaRPr>
          </a:p>
          <a:p>
            <a:pPr lvl="1">
              <a:defRPr/>
            </a:pPr>
            <a:r>
              <a:rPr sz="24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Even small delays result in user or revenue loss, making latency a critical design factor.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20061988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440006" y="2153944"/>
            <a:ext cx="4980463" cy="27800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309460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New Requirements – Conclusion</a:t>
            </a:r>
            <a:endParaRPr b="1"/>
          </a:p>
        </p:txBody>
      </p:sp>
      <p:sp>
        <p:nvSpPr>
          <p:cNvPr id="136929371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new requirements shift the emphasis from </a:t>
            </a:r>
            <a:r>
              <a:rPr sz="28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maximum consistency to availability, scalability, and global performance.</a:t>
            </a:r>
            <a:endParaRPr sz="2800">
              <a:latin typeface="Arial"/>
              <a:cs typeface="Arial"/>
            </a:endParaRPr>
          </a:p>
          <a:p>
            <a:pPr>
              <a:defRPr/>
            </a:pPr>
            <a:endParaRPr sz="2800">
              <a:latin typeface="Arial"/>
              <a:cs typeface="Arial"/>
            </a:endParaRPr>
          </a:p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This gap between requirements and traditional relational databases explains why alternative data architectures emerged — designed from the outset for </a:t>
            </a:r>
            <a:r>
              <a:rPr sz="28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large-scale distributed systems.</a:t>
            </a:r>
            <a:endParaRPr sz="2800" b="1" i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807018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Big Data — Definition</a:t>
            </a:r>
            <a:endParaRPr b="1"/>
          </a:p>
        </p:txBody>
      </p:sp>
      <p:sp>
        <p:nvSpPr>
          <p:cNvPr id="18366424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term </a:t>
            </a:r>
            <a:r>
              <a:rPr sz="28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Big Data </a:t>
            </a: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describes datasets whose s</a:t>
            </a:r>
            <a:r>
              <a:rPr sz="28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cale, speed, and heterogeneity</a:t>
            </a: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exceed the capabilities of traditional data systems in terms of storage, processing, and analysis.</a:t>
            </a:r>
            <a:endParaRPr sz="2800">
              <a:latin typeface="Arial"/>
              <a:ea typeface="Arial"/>
              <a:cs typeface="Arial"/>
            </a:endParaRPr>
          </a:p>
          <a:p>
            <a:pPr>
              <a:defRPr/>
            </a:pPr>
            <a:endParaRPr sz="2800">
              <a:latin typeface="Arial"/>
              <a:cs typeface="Arial"/>
            </a:endParaRPr>
          </a:p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It is not simply about more data, but about a </a:t>
            </a:r>
            <a:r>
              <a:rPr sz="28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qualitative transformation</a:t>
            </a: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in the way data are generated, flow, and are utilized.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2942315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0">
            <a:off x="935897" y="1349372"/>
            <a:ext cx="4593078" cy="4351338"/>
          </a:xfrm>
          <a:prstGeom prst="rect">
            <a:avLst/>
          </a:prstGeom>
        </p:spPr>
      </p:pic>
      <p:pic>
        <p:nvPicPr>
          <p:cNvPr id="410327218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6095999" y="959787"/>
            <a:ext cx="5279580" cy="51305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987235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Big Data – Volume</a:t>
            </a:r>
            <a:endParaRPr b="1"/>
          </a:p>
        </p:txBody>
      </p:sp>
      <p:sp>
        <p:nvSpPr>
          <p:cNvPr id="152987387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Volume refers to: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enormous amount of data generated and stored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 sizes ranging from terabytes to petabytes and beyond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Continuously and cumulatively growing datasets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This magnitude makes management through traditional monolithic databases impractical.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931217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Big Data – Velocity</a:t>
            </a:r>
            <a:endParaRPr b="1"/>
          </a:p>
        </p:txBody>
      </p:sp>
      <p:sp>
        <p:nvSpPr>
          <p:cNvPr id="28817790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Velocity concerns: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rate at which data are generated and arrive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Continuous streaming in real or near-real time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need for immediate processing and response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Examples include sensors, user clicks, system logs, and social media activity.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507113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Big Data – Variety</a:t>
            </a:r>
            <a:endParaRPr b="1"/>
          </a:p>
        </p:txBody>
      </p:sp>
      <p:sp>
        <p:nvSpPr>
          <p:cNvPr id="106895576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Variety describes: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4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coexistence of structured, semi-structured, and unstructured data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4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Different schemas, formats, and models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4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Text, images, video, graphs, time-series data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4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This heterogeneity challenges the rigid structure of traditional relational models.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22774716" name=""/>
          <p:cNvPicPr>
            <a:picLocks noChangeAspect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 rot="0" flipH="0" flipV="0">
            <a:off x="469976" y="379819"/>
            <a:ext cx="10104722" cy="60983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744429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Vertical vs Horizontal Scaling</a:t>
            </a:r>
            <a:endParaRPr b="1"/>
          </a:p>
        </p:txBody>
      </p:sp>
      <p:sp>
        <p:nvSpPr>
          <p:cNvPr id="23869504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Scalability is a critical issue in modern data systems.</a:t>
            </a:r>
            <a:endParaRPr sz="2800">
              <a:latin typeface="Arial"/>
              <a:ea typeface="Arial"/>
              <a:cs typeface="Arial"/>
            </a:endParaRPr>
          </a:p>
          <a:p>
            <a:pPr>
              <a:defRPr/>
            </a:pPr>
            <a:endParaRPr sz="2800">
              <a:latin typeface="Arial"/>
              <a:cs typeface="Arial"/>
            </a:endParaRPr>
          </a:p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There are two fundamentally different approaches: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Vertical scaling (scale-up)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Horizontal scaling (scale-out)</a:t>
            </a:r>
            <a:endParaRPr sz="2800">
              <a:latin typeface="Arial"/>
              <a:ea typeface="Arial"/>
              <a:cs typeface="Arial"/>
            </a:endParaRPr>
          </a:p>
          <a:p>
            <a:pPr lvl="1">
              <a:defRPr/>
            </a:pPr>
            <a:endParaRPr sz="2800">
              <a:latin typeface="Arial"/>
              <a:cs typeface="Arial"/>
            </a:endParaRPr>
          </a:p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choice between them has significant technical and economic implications.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597320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Scale-up (Vertical Scaling)</a:t>
            </a:r>
            <a:endParaRPr b="1"/>
          </a:p>
        </p:txBody>
      </p:sp>
      <p:sp>
        <p:nvSpPr>
          <p:cNvPr id="52986849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199" y="1825624"/>
            <a:ext cx="5181599" cy="43513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0000" lnSpcReduction="4000"/>
          </a:bodyPr>
          <a:lstStyle/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Vertical scaling is based on upgrading a single server: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More CPU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More memory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Faster disks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Characteristics: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Simple architecture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Single central management point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Limited upper scalability bound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This approach is historically associated with traditional RDBMS.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193162620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0" flipH="0" flipV="0">
            <a:off x="5960585" y="1918708"/>
            <a:ext cx="5680167" cy="37772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728346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Scale-out (Horizontal Scaling)</a:t>
            </a:r>
            <a:endParaRPr b="1"/>
          </a:p>
        </p:txBody>
      </p:sp>
      <p:sp>
        <p:nvSpPr>
          <p:cNvPr id="955642207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199" y="1825624"/>
            <a:ext cx="5181599" cy="43513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0000" lnSpcReduction="4000"/>
          </a:bodyPr>
          <a:lstStyle/>
          <a:p>
            <a:pPr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Horizontal scaling is based on adding more servers:</a:t>
            </a:r>
            <a:endParaRPr sz="2600">
              <a:latin typeface="Arial"/>
              <a:cs typeface="Arial"/>
            </a:endParaRPr>
          </a:p>
          <a:p>
            <a:pPr lvl="1"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 partitioning (sharding)</a:t>
            </a:r>
            <a:endParaRPr sz="2600">
              <a:latin typeface="Arial"/>
              <a:cs typeface="Arial"/>
            </a:endParaRPr>
          </a:p>
          <a:p>
            <a:pPr lvl="1"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Replication</a:t>
            </a:r>
            <a:endParaRPr sz="2600">
              <a:latin typeface="Arial"/>
              <a:cs typeface="Arial"/>
            </a:endParaRPr>
          </a:p>
          <a:p>
            <a:pPr lvl="1"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Parallel processing</a:t>
            </a:r>
            <a:endParaRPr sz="2600">
              <a:latin typeface="Arial"/>
              <a:cs typeface="Arial"/>
            </a:endParaRPr>
          </a:p>
          <a:p>
            <a:pPr lvl="1"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Characteristics:</a:t>
            </a:r>
            <a:endParaRPr sz="2600">
              <a:latin typeface="Arial"/>
              <a:cs typeface="Arial"/>
            </a:endParaRPr>
          </a:p>
          <a:p>
            <a:pPr lvl="1"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Theoretically unlimited scalability</a:t>
            </a:r>
            <a:endParaRPr sz="2600">
              <a:latin typeface="Arial"/>
              <a:cs typeface="Arial"/>
            </a:endParaRPr>
          </a:p>
          <a:p>
            <a:pPr lvl="1"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Fault tolerance against node failures</a:t>
            </a:r>
            <a:endParaRPr sz="2600">
              <a:latin typeface="Arial"/>
              <a:cs typeface="Arial"/>
            </a:endParaRPr>
          </a:p>
          <a:p>
            <a:pPr lvl="1"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Increased synchronization complexity</a:t>
            </a:r>
            <a:endParaRPr sz="2600">
              <a:latin typeface="Arial"/>
              <a:cs typeface="Arial"/>
            </a:endParaRPr>
          </a:p>
          <a:p>
            <a:pPr lvl="1"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It constitutes the core design principle of Big Data and NoSQL systems.</a:t>
            </a:r>
            <a:endParaRPr sz="2600">
              <a:latin typeface="Arial"/>
              <a:cs typeface="Arial"/>
            </a:endParaRPr>
          </a:p>
        </p:txBody>
      </p:sp>
      <p:pic>
        <p:nvPicPr>
          <p:cNvPr id="1042530682" name=""/>
          <p:cNvPicPr>
            <a:picLocks noChangeAspect="1"/>
          </p:cNvPicPr>
          <p:nvPr/>
        </p:nvPicPr>
        <p:blipFill rotWithShape="1">
          <a:blip r:embed="rId3"/>
          <a:srcRect l="10098" t="0" r="12503" b="0"/>
          <a:stretch/>
        </p:blipFill>
        <p:spPr bwMode="auto">
          <a:xfrm flipH="0" flipV="0">
            <a:off x="6457949" y="1674235"/>
            <a:ext cx="5240699" cy="45027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205945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Vertical vs Horizontal Scaling – Economic Implications</a:t>
            </a:r>
            <a:endParaRPr b="1"/>
          </a:p>
        </p:txBody>
      </p:sp>
      <p:sp>
        <p:nvSpPr>
          <p:cNvPr id="677821709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199" y="1825624"/>
            <a:ext cx="5181599" cy="43513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0000" lnSpcReduction="4000"/>
          </a:bodyPr>
          <a:lstStyle/>
          <a:p>
            <a:pPr>
              <a:defRPr/>
            </a:pPr>
            <a:r>
              <a:rPr sz="28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Scale-up: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Expensive specialized hardware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Exponential cost growth for marginal performance gains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Vendor lock-in</a:t>
            </a:r>
            <a:endParaRPr sz="2800">
              <a:latin typeface="Arial"/>
              <a:cs typeface="Arial"/>
            </a:endParaRPr>
          </a:p>
          <a:p>
            <a:pPr>
              <a:defRPr/>
            </a:pPr>
            <a:endParaRPr sz="2800">
              <a:latin typeface="Arial"/>
              <a:cs typeface="Arial"/>
            </a:endParaRPr>
          </a:p>
          <a:p>
            <a:pPr>
              <a:defRPr/>
            </a:pPr>
            <a:r>
              <a:rPr sz="28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Scale-out: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Use of commodity hardware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Gradual investment based on workload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Better cost-performance ratio at large scale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1748753353" name=""/>
          <p:cNvPicPr>
            <a:picLocks noChangeAspect="1"/>
          </p:cNvPicPr>
          <p:nvPr/>
        </p:nvPicPr>
        <p:blipFill rotWithShape="1">
          <a:blip r:embed="rId3"/>
          <a:srcRect l="5344" t="10042" r="4325" b="8659"/>
          <a:stretch/>
        </p:blipFill>
        <p:spPr bwMode="auto">
          <a:xfrm flipH="0" flipV="0">
            <a:off x="5886449" y="2619371"/>
            <a:ext cx="5868528" cy="29342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48831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Vertical vs Horizontal Scaling – Technical Implications</a:t>
            </a:r>
            <a:endParaRPr b="1"/>
          </a:p>
        </p:txBody>
      </p:sp>
      <p:sp>
        <p:nvSpPr>
          <p:cNvPr id="20350349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8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Scale-up: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Simpler consistency management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Limited availability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Single point of failure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endParaRPr sz="2800">
              <a:latin typeface="Arial"/>
              <a:cs typeface="Arial"/>
            </a:endParaRPr>
          </a:p>
          <a:p>
            <a:pPr>
              <a:defRPr/>
            </a:pPr>
            <a:r>
              <a:rPr sz="28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Scale-out: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Distributed data and computation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Need for replication and consistency models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Introduction of latency and synchronization challenges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521962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Vertical vs Horizontal Scaling – Conclusion</a:t>
            </a:r>
            <a:endParaRPr b="1"/>
          </a:p>
        </p:txBody>
      </p:sp>
      <p:sp>
        <p:nvSpPr>
          <p:cNvPr id="177028203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Traditional RDBMS were primarily designed for </a:t>
            </a:r>
            <a:r>
              <a:rPr sz="28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scale-up</a:t>
            </a: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environments.</a:t>
            </a:r>
            <a:endParaRPr sz="2800">
              <a:latin typeface="Arial"/>
              <a:ea typeface="Arial"/>
              <a:cs typeface="Arial"/>
            </a:endParaRPr>
          </a:p>
          <a:p>
            <a:pPr>
              <a:defRPr/>
            </a:pPr>
            <a:endParaRPr sz="2800">
              <a:latin typeface="Arial"/>
              <a:cs typeface="Arial"/>
            </a:endParaRPr>
          </a:p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world of </a:t>
            </a:r>
            <a:r>
              <a:rPr sz="28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Big Data requires scale-out architectures</a:t>
            </a: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, where scalability, availability, and fault tolerance are achieved through distributed systems — at the cost of increased complexity.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854016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Limitations of RDBMS</a:t>
            </a:r>
            <a:endParaRPr b="1"/>
          </a:p>
        </p:txBody>
      </p:sp>
      <p:sp>
        <p:nvSpPr>
          <p:cNvPr id="122082436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Although relational database systems remain highly reliable, their design is based on assumptions that do not align with the requirements of modern, distributed, large-scale applications.</a:t>
            </a:r>
            <a:endParaRPr sz="2800">
              <a:latin typeface="Arial"/>
              <a:ea typeface="Arial"/>
              <a:cs typeface="Arial"/>
            </a:endParaRPr>
          </a:p>
          <a:p>
            <a:pPr>
              <a:defRPr/>
            </a:pPr>
            <a:endParaRPr sz="2800">
              <a:latin typeface="Arial"/>
              <a:cs typeface="Arial"/>
            </a:endParaRPr>
          </a:p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Their core limitations become evident in Big Data environments.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586303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Limitations of RDBMS – Difficulty in Scale-out</a:t>
            </a:r>
            <a:endParaRPr b="1"/>
          </a:p>
        </p:txBody>
      </p:sp>
      <p:sp>
        <p:nvSpPr>
          <p:cNvPr id="16598803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RDBMS were designed primarily for vertical scaling: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Horizontal data distribution is complex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Sharding requires manual design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Maintaining ACID properties across multiple nodes is expensive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As a result, horizontal scalability is not an inherent characteristic of classical RDBMS.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030734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Limitations of RDBMS – Fixed Schema</a:t>
            </a:r>
            <a:endParaRPr b="1"/>
          </a:p>
        </p:txBody>
      </p:sp>
      <p:sp>
        <p:nvSpPr>
          <p:cNvPr id="61345318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strict and predefined schema: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Requires full knowledge of data structure in advance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Slows rapid application evolution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Makes changes costly in large datasets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In dynamic and heterogeneous environments, fixed schemas act as a restrictive factor.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521608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Limitations of RDBMS – Expensive Joins</a:t>
            </a:r>
            <a:endParaRPr b="1"/>
          </a:p>
        </p:txBody>
      </p:sp>
      <p:sp>
        <p:nvSpPr>
          <p:cNvPr id="78780945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Joins are a fundamental feature of RDBMS, but: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In distributed environments, they require data movement between nodes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They significantly increase latency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They limit scalability at large scale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In Big Data scenarios, joins become a major performance bottleneck.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70135929" name=""/>
          <p:cNvPicPr>
            <a:picLocks noChangeAspect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 rot="0" flipH="0" flipV="0">
            <a:off x="268649" y="1181099"/>
            <a:ext cx="10449403" cy="49186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6193442" name=""/>
          <p:cNvPicPr>
            <a:picLocks noChangeAspect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 rot="0" flipH="0" flipV="0">
            <a:off x="300601" y="664176"/>
            <a:ext cx="11184132" cy="543182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438016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Limitations of RDBMS – Complex Distributed Consistency</a:t>
            </a:r>
            <a:endParaRPr b="1"/>
          </a:p>
        </p:txBody>
      </p:sp>
      <p:sp>
        <p:nvSpPr>
          <p:cNvPr id="204566770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Maintaining strong consistency: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Requires synchronization across nodes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Increases response time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Reduces availability during network failures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Distributed implementation of ACID guarantees becomes extremely complex and often impractical at global scale.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534006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Limitations of RDBMS – Conclusion</a:t>
            </a:r>
            <a:endParaRPr b="1"/>
          </a:p>
        </p:txBody>
      </p:sp>
      <p:sp>
        <p:nvSpPr>
          <p:cNvPr id="178659756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limitations of RDBMS are not technological failures, but consequences of their original design goals.</a:t>
            </a:r>
            <a:endParaRPr sz="2800">
              <a:latin typeface="Arial"/>
              <a:cs typeface="Arial"/>
            </a:endParaRPr>
          </a:p>
          <a:p>
            <a:pPr>
              <a:defRPr/>
            </a:pPr>
            <a:endParaRPr sz="2800">
              <a:latin typeface="Arial"/>
              <a:cs typeface="Arial"/>
            </a:endParaRPr>
          </a:p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gap between those goals and modern requirements explains why alternative data models emerged — designed from the outset for distributed operation, scalability, and flexibility.</a:t>
            </a:r>
            <a:endParaRPr sz="2800" b="0" i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809330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The Problem Is NOT SQL</a:t>
            </a:r>
            <a:endParaRPr b="1"/>
          </a:p>
        </p:txBody>
      </p:sp>
      <p:sp>
        <p:nvSpPr>
          <p:cNvPr id="119266496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In discussions around Big Data and NoSQL systems, it is often mistakenly assumed that SQL is the limiting factor.</a:t>
            </a:r>
            <a:endParaRPr sz="2800">
              <a:latin typeface="Arial"/>
              <a:ea typeface="Arial"/>
              <a:cs typeface="Arial"/>
            </a:endParaRPr>
          </a:p>
          <a:p>
            <a:pPr>
              <a:defRPr/>
            </a:pPr>
            <a:endParaRPr sz="2800">
              <a:latin typeface="Arial"/>
              <a:cs typeface="Arial"/>
            </a:endParaRPr>
          </a:p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In reality, SQL remains one of the most powerful and expressive data management languages.</a:t>
            </a:r>
            <a:endParaRPr sz="2800">
              <a:latin typeface="Arial"/>
              <a:ea typeface="Arial"/>
              <a:cs typeface="Arial"/>
            </a:endParaRPr>
          </a:p>
          <a:p>
            <a:pPr>
              <a:defRPr/>
            </a:pPr>
            <a:endParaRPr sz="2800">
              <a:latin typeface="Arial"/>
              <a:cs typeface="Arial"/>
            </a:endParaRPr>
          </a:p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issue does not lie in the language, </a:t>
            </a:r>
            <a:r>
              <a:rPr sz="28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but in the underlying data model and architectural implementation </a:t>
            </a: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of traditional RDBMS.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810620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SQL Is Powerful</a:t>
            </a:r>
            <a:endParaRPr b="1"/>
          </a:p>
        </p:txBody>
      </p:sp>
      <p:sp>
        <p:nvSpPr>
          <p:cNvPr id="30301818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SQL: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Is declarative and expressive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Supports complex queries and analytics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Provides strict semantics and clear modeling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Has decades of maturity and a vast ecosystem</a:t>
            </a:r>
            <a:endParaRPr sz="2800">
              <a:latin typeface="Arial"/>
              <a:cs typeface="Arial"/>
            </a:endParaRPr>
          </a:p>
          <a:p>
            <a:pPr lvl="1"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This language did not “fail” — it continues to serve as the foundation of many modern systems.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1093932" name="Title 1"/>
          <p:cNvSpPr>
            <a:spLocks noGrp="1"/>
          </p:cNvSpPr>
          <p:nvPr>
            <p:ph type="ctrTitle"/>
          </p:nvPr>
        </p:nvSpPr>
        <p:spPr bwMode="auto">
          <a:xfrm>
            <a:off x="1523997" y="1122363"/>
            <a:ext cx="9144000" cy="2387596"/>
          </a:xfrm>
        </p:spPr>
        <p:txBody>
          <a:bodyPr/>
          <a:lstStyle>
            <a:lvl1pPr algn="ctr">
              <a:defRPr sz="6000"/>
            </a:lvl1pPr>
          </a:lstStyle>
          <a:p>
            <a:pPr>
              <a:defRPr/>
            </a:pPr>
            <a:r>
              <a:rPr lang="el-GR" b="1"/>
              <a:t>Σας Ευχαριστώ</a:t>
            </a:r>
            <a:r>
              <a:rPr b="1"/>
              <a:t> </a:t>
            </a:r>
            <a:br>
              <a:rPr b="1"/>
            </a:br>
            <a:r>
              <a:rPr b="1"/>
              <a:t>(Thank you)</a:t>
            </a:r>
            <a:endParaRPr b="1"/>
          </a:p>
        </p:txBody>
      </p:sp>
      <p:sp>
        <p:nvSpPr>
          <p:cNvPr id="1797821691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3997" y="3602034"/>
            <a:ext cx="9144000" cy="165575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ONLYOFFICE/9.1.0.173</Application>
  <PresentationFormat>On-screen Show (4:3)</PresentationFormat>
  <Paragraphs>0</Paragraphs>
  <Slides>72</Slides>
  <Notes>72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7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2026-02-23T21:21:32Z</dcterms:modified>
</cp:coreProperties>
</file>