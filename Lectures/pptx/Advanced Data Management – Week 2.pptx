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30.xml" ContentType="application/vnd.openxmlformats-officedocument.presentationml.notesSlide+xml"/>
  <Override PartName="/ppt/slides/slide22.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slide2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notesSlides/notesSlide28.xml" ContentType="application/vnd.openxmlformats-officedocument.presentationml.notesSlide+xml"/>
  <Override PartName="/ppt/slideLayouts/slideLayout7.xml" ContentType="application/vnd.openxmlformats-officedocument.presentationml.slideLayout+xml"/>
  <Override PartName="/ppt/slides/slide29.xml" ContentType="application/vnd.openxmlformats-officedocument.presentationml.slide+xml"/>
  <Override PartName="/ppt/slides/slide38.xml" ContentType="application/vnd.openxmlformats-officedocument.presentationml.slide+xml"/>
  <Override PartName="/ppt/slides/slide28.xml" ContentType="application/vnd.openxmlformats-officedocument.presentationml.slide+xml"/>
  <Override PartName="/ppt/notesSlides/notesSlide13.xml" ContentType="application/vnd.openxmlformats-officedocument.presentationml.notesSlide+xml"/>
  <Override PartName="/ppt/slides/slide43.xml" ContentType="application/vnd.openxmlformats-officedocument.presentationml.slide+xml"/>
  <Override PartName="/ppt/notesSlides/notesSlide46.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slides/slide2.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s/slide6.xml" ContentType="application/vnd.openxmlformats-officedocument.presentationml.slide+xml"/>
  <Override PartName="/ppt/slides/slide10.xml" ContentType="application/vnd.openxmlformats-officedocument.presentationml.slide+xml"/>
  <Override PartName="/ppt/notesSlides/notesSlide11.xml" ContentType="application/vnd.openxmlformats-officedocument.presentationml.notesSlide+xml"/>
  <Override PartName="/docProps/core.xml" ContentType="application/vnd.openxmlformats-package.core-properties+xml"/>
  <Override PartName="/ppt/slideLayouts/slideLayout8.xml" ContentType="application/vnd.openxmlformats-officedocument.presentationml.slideLayout+xml"/>
  <Override PartName="/ppt/notesSlides/notesSlide49.xml" ContentType="application/vnd.openxmlformats-officedocument.presentationml.notesSlide+xml"/>
  <Override PartName="/ppt/slides/slide20.xml" ContentType="application/vnd.openxmlformats-officedocument.presentationml.slide+xml"/>
  <Override PartName="/ppt/slides/slide47.xml" ContentType="application/vnd.openxmlformats-officedocument.presentationml.slide+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ppt/notesMasters/notesMaster1.xml" ContentType="application/vnd.openxmlformats-officedocument.presentationml.notesMaster+xml"/>
  <Override PartName="/ppt/slides/slide52.xml" ContentType="application/vnd.openxmlformats-officedocument.presentationml.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viewProps.xml" ContentType="application/vnd.openxmlformats-officedocument.presentationml.viewProps+xml"/>
  <Override PartName="/ppt/slides/slide17.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slides/slide7.xml" ContentType="application/vnd.openxmlformats-officedocument.presentationml.slide+xml"/>
  <Override PartName="/ppt/slides/slide41.xml" ContentType="application/vnd.openxmlformats-officedocument.presentationml.slide+xml"/>
  <Override PartName="/ppt/slideLayouts/slideLayout5.xml" ContentType="application/vnd.openxmlformats-officedocument.presentationml.slideLayout+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27.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notesSlides/notesSlide20.xml" ContentType="application/vnd.openxmlformats-officedocument.presentationml.notesSlide+xml"/>
  <Override PartName="/ppt/slideLayouts/slideLayout4.xml" ContentType="application/vnd.openxmlformats-officedocument.presentationml.slideLayout+xml"/>
  <Override PartName="/ppt/notesSlides/notesSlide22.xml" ContentType="application/vnd.openxmlformats-officedocument.presentationml.notesSlide+xml"/>
  <Override PartName="/ppt/notesSlides/notesSlide53.xml" ContentType="application/vnd.openxmlformats-officedocument.presentationml.notesSlide+xml"/>
  <Override PartName="/ppt/slides/slide3.xml" ContentType="application/vnd.openxmlformats-officedocument.presentationml.slide+xml"/>
  <Override PartName="/ppt/theme/theme1.xml" ContentType="application/vnd.openxmlformats-officedocument.theme+xml"/>
  <Override PartName="/ppt/notesSlides/notesSlide15.xml" ContentType="application/vnd.openxmlformats-officedocument.presentationml.notesSlide+xml"/>
  <Override PartName="/ppt/slides/slide13.xml" ContentType="application/vnd.openxmlformats-officedocument.presentationml.slide+xml"/>
  <Override PartName="/ppt/slideLayouts/slideLayout9.xml" ContentType="application/vnd.openxmlformats-officedocument.presentationml.slideLayout+xml"/>
  <Override PartName="/ppt/slides/slide1.xml" ContentType="application/vnd.openxmlformats-officedocument.presentationml.slide+xml"/>
  <Override PartName="/ppt/slides/slide25.xml" ContentType="application/vnd.openxmlformats-officedocument.presentationml.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26.xml" ContentType="application/vnd.openxmlformats-officedocument.presentationml.slide+xml"/>
  <Override PartName="/ppt/theme/theme2.xml" ContentType="application/vnd.openxmlformats-officedocument.them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24.xml" ContentType="application/vnd.openxmlformats-officedocument.presentationml.slide+xml"/>
  <Override PartName="/ppt/slides/slide40.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35.xml" ContentType="application/vnd.openxmlformats-officedocument.presentationml.slide+xml"/>
  <Override PartName="/ppt/notesSlides/notesSlide10.xml" ContentType="application/vnd.openxmlformats-officedocument.presentationml.notesSlide+xml"/>
  <Override PartName="/ppt/slides/slide49.xml" ContentType="application/vnd.openxmlformats-officedocument.presentationml.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slides/slide36.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notesSlides/notesSlide48.xml" ContentType="application/vnd.openxmlformats-officedocument.presentationml.notesSlide+xml"/>
  <Override PartName="/ppt/slides/slide45.xml" ContentType="application/vnd.openxmlformats-officedocument.presentationml.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53.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slides/slide8.xml" ContentType="application/vnd.openxmlformats-officedocument.presentationml.slide+xml"/>
  <Override PartName="/ppt/slides/slide51.xml" ContentType="application/vnd.openxmlformats-officedocument.presentationml.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4.xml" ContentType="application/vnd.openxmlformats-officedocument.presentationml.notesSlide+xml"/>
  <Override PartName="/ppt/slides/slide9.xml" ContentType="application/vnd.openxmlformats-officedocument.presentationml.slide+xml"/>
  <Override PartName="/ppt/notesSlides/notesSlide2.xml" ContentType="application/vnd.openxmlformats-officedocument.presentationml.notesSlide+xml"/>
  <Override PartName="/ppt/slides/slide50.xml" ContentType="application/vnd.openxmlformats-officedocument.presentationml.slide+xml"/>
  <Override PartName="/ppt/notesSlides/notesSlide9.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5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notesMaster" Target="notesMasters/notesMaster1.xml"/><Relationship Id="rId58" Type="http://schemas.openxmlformats.org/officeDocument/2006/relationships/presProps" Target="presProps.xml" /><Relationship Id="rId59" Type="http://schemas.openxmlformats.org/officeDocument/2006/relationships/tableStyles" Target="tableStyles.xml" /><Relationship Id="rId6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48080246"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893651224"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60311485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23760020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33586277"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965891553"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8402993" name="Slide Image Placeholder 1"/>
          <p:cNvSpPr>
            <a:spLocks noChangeAspect="1" noGrp="1" noRot="1"/>
          </p:cNvSpPr>
          <p:nvPr>
            <p:ph type="sldImg"/>
          </p:nvPr>
        </p:nvSpPr>
        <p:spPr bwMode="auto">
          <a:xfrm>
            <a:off x="685800" y="1143000"/>
            <a:ext cx="5486400" cy="3086100"/>
          </a:xfrm>
        </p:spPr>
      </p:sp>
      <p:sp>
        <p:nvSpPr>
          <p:cNvPr id="1365973188" name="Notes Placeholder 2"/>
          <p:cNvSpPr>
            <a:spLocks noGrp="1"/>
          </p:cNvSpPr>
          <p:nvPr>
            <p:ph type="body" idx="1"/>
          </p:nvPr>
        </p:nvSpPr>
        <p:spPr bwMode="auto"/>
        <p:txBody>
          <a:bodyPr/>
          <a:lstStyle/>
          <a:p>
            <a:pPr>
              <a:defRPr/>
            </a:pPr>
            <a:endParaRPr lang="en-US">
              <a:latin typeface="Arial"/>
              <a:cs typeface="Arial"/>
            </a:endParaRPr>
          </a:p>
        </p:txBody>
      </p:sp>
      <p:sp>
        <p:nvSpPr>
          <p:cNvPr id="1675958093" name="Slide Number Placeholder 3"/>
          <p:cNvSpPr>
            <a:spLocks noGrp="1"/>
          </p:cNvSpPr>
          <p:nvPr>
            <p:ph type="sldNum" sz="quarter" idx="10"/>
          </p:nvPr>
        </p:nvSpPr>
        <p:spPr bwMode="auto"/>
        <p:txBody>
          <a:bodyPr/>
          <a:lstStyle/>
          <a:p>
            <a:pPr>
              <a:defRPr/>
            </a:pPr>
            <a:fld id="{43CBE24A-487A-7209-86F3-F94947CA2BFC}" type="slidenum">
              <a:rPr lang="en-US"/>
              <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9208775" name="Slide Image Placeholder 1"/>
          <p:cNvSpPr>
            <a:spLocks noChangeAspect="1" noGrp="1" noRot="1"/>
          </p:cNvSpPr>
          <p:nvPr>
            <p:ph type="sldImg"/>
          </p:nvPr>
        </p:nvSpPr>
        <p:spPr bwMode="auto"/>
      </p:sp>
      <p:sp>
        <p:nvSpPr>
          <p:cNvPr id="85673897" name="Notes Placeholder 2"/>
          <p:cNvSpPr>
            <a:spLocks noGrp="1"/>
          </p:cNvSpPr>
          <p:nvPr>
            <p:ph type="body" idx="1"/>
          </p:nvPr>
        </p:nvSpPr>
        <p:spPr bwMode="auto"/>
        <p:txBody>
          <a:bodyPr/>
          <a:lstStyle/>
          <a:p>
            <a:pPr>
              <a:defRPr/>
            </a:pPr>
            <a:endParaRPr/>
          </a:p>
        </p:txBody>
      </p:sp>
      <p:sp>
        <p:nvSpPr>
          <p:cNvPr id="1486604445" name="Slide Number Placeholder 3"/>
          <p:cNvSpPr>
            <a:spLocks noGrp="1"/>
          </p:cNvSpPr>
          <p:nvPr>
            <p:ph type="sldNum" sz="quarter" idx="10"/>
          </p:nvPr>
        </p:nvSpPr>
        <p:spPr bwMode="auto"/>
        <p:txBody>
          <a:bodyPr/>
          <a:lstStyle/>
          <a:p>
            <a:pPr>
              <a:defRPr/>
            </a:pPr>
            <a:fld id="{30F839EC-CC03-50FB-616E-6F5C6ED2A409}"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3726796" name="Slide Image Placeholder 1"/>
          <p:cNvSpPr>
            <a:spLocks noChangeAspect="1" noGrp="1" noRot="1"/>
          </p:cNvSpPr>
          <p:nvPr>
            <p:ph type="sldImg"/>
          </p:nvPr>
        </p:nvSpPr>
        <p:spPr bwMode="auto"/>
      </p:sp>
      <p:sp>
        <p:nvSpPr>
          <p:cNvPr id="1024731227" name="Notes Placeholder 2"/>
          <p:cNvSpPr>
            <a:spLocks noGrp="1"/>
          </p:cNvSpPr>
          <p:nvPr>
            <p:ph type="body" idx="1"/>
          </p:nvPr>
        </p:nvSpPr>
        <p:spPr bwMode="auto"/>
        <p:txBody>
          <a:bodyPr/>
          <a:lstStyle/>
          <a:p>
            <a:pPr>
              <a:defRPr/>
            </a:pPr>
            <a:r>
              <a:rPr/>
              <a:t>On-premise = local physical property</a:t>
            </a:r>
            <a:endParaRPr/>
          </a:p>
        </p:txBody>
      </p:sp>
      <p:sp>
        <p:nvSpPr>
          <p:cNvPr id="974523670" name="Slide Number Placeholder 3"/>
          <p:cNvSpPr>
            <a:spLocks noGrp="1"/>
          </p:cNvSpPr>
          <p:nvPr>
            <p:ph type="sldNum" sz="quarter" idx="10"/>
          </p:nvPr>
        </p:nvSpPr>
        <p:spPr bwMode="auto"/>
        <p:txBody>
          <a:bodyPr/>
          <a:lstStyle/>
          <a:p>
            <a:pPr>
              <a:defRPr/>
            </a:pPr>
            <a:fld id="{DCDB3CA3-DE25-B742-78EF-09566043A08F}"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961080" name="Slide Image Placeholder 1"/>
          <p:cNvSpPr>
            <a:spLocks noChangeAspect="1" noGrp="1" noRot="1"/>
          </p:cNvSpPr>
          <p:nvPr>
            <p:ph type="sldImg"/>
          </p:nvPr>
        </p:nvSpPr>
        <p:spPr bwMode="auto"/>
      </p:sp>
      <p:sp>
        <p:nvSpPr>
          <p:cNvPr id="1974334947" name="Notes Placeholder 2"/>
          <p:cNvSpPr>
            <a:spLocks noGrp="1"/>
          </p:cNvSpPr>
          <p:nvPr>
            <p:ph type="body" idx="1"/>
          </p:nvPr>
        </p:nvSpPr>
        <p:spPr bwMode="auto"/>
        <p:txBody>
          <a:bodyPr/>
          <a:lstStyle/>
          <a:p>
            <a:pPr>
              <a:defRPr/>
            </a:pPr>
            <a:endParaRPr/>
          </a:p>
        </p:txBody>
      </p:sp>
      <p:sp>
        <p:nvSpPr>
          <p:cNvPr id="1242552176" name="Slide Number Placeholder 3"/>
          <p:cNvSpPr>
            <a:spLocks noGrp="1"/>
          </p:cNvSpPr>
          <p:nvPr>
            <p:ph type="sldNum" sz="quarter" idx="10"/>
          </p:nvPr>
        </p:nvSpPr>
        <p:spPr bwMode="auto"/>
        <p:txBody>
          <a:bodyPr/>
          <a:lstStyle/>
          <a:p>
            <a:pPr>
              <a:defRPr/>
            </a:pPr>
            <a:fld id="{79745191-2226-A9F4-1632-7FCB150EAC10}"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0101954" name="Slide Image Placeholder 1"/>
          <p:cNvSpPr>
            <a:spLocks noChangeAspect="1" noGrp="1" noRot="1"/>
          </p:cNvSpPr>
          <p:nvPr>
            <p:ph type="sldImg"/>
          </p:nvPr>
        </p:nvSpPr>
        <p:spPr bwMode="auto"/>
      </p:sp>
      <p:sp>
        <p:nvSpPr>
          <p:cNvPr id="64510912" name="Notes Placeholder 2"/>
          <p:cNvSpPr>
            <a:spLocks noGrp="1"/>
          </p:cNvSpPr>
          <p:nvPr>
            <p:ph type="body" idx="1"/>
          </p:nvPr>
        </p:nvSpPr>
        <p:spPr bwMode="auto"/>
        <p:txBody>
          <a:bodyPr/>
          <a:lstStyle/>
          <a:p>
            <a:pPr>
              <a:defRPr/>
            </a:pPr>
            <a:endParaRPr/>
          </a:p>
        </p:txBody>
      </p:sp>
      <p:sp>
        <p:nvSpPr>
          <p:cNvPr id="1935003218" name="Slide Number Placeholder 3"/>
          <p:cNvSpPr>
            <a:spLocks noGrp="1"/>
          </p:cNvSpPr>
          <p:nvPr>
            <p:ph type="sldNum" sz="quarter" idx="10"/>
          </p:nvPr>
        </p:nvSpPr>
        <p:spPr bwMode="auto"/>
        <p:txBody>
          <a:bodyPr/>
          <a:lstStyle/>
          <a:p>
            <a:pPr>
              <a:defRPr/>
            </a:pPr>
            <a:fld id="{A0BA873F-4B28-00A2-2284-CC011D90E434}"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2353067" name="Slide Image Placeholder 1"/>
          <p:cNvSpPr>
            <a:spLocks noChangeAspect="1" noGrp="1" noRot="1"/>
          </p:cNvSpPr>
          <p:nvPr>
            <p:ph type="sldImg"/>
          </p:nvPr>
        </p:nvSpPr>
        <p:spPr bwMode="auto"/>
      </p:sp>
      <p:sp>
        <p:nvSpPr>
          <p:cNvPr id="1635263043" name="Notes Placeholder 2"/>
          <p:cNvSpPr>
            <a:spLocks noGrp="1"/>
          </p:cNvSpPr>
          <p:nvPr>
            <p:ph type="body" idx="1"/>
          </p:nvPr>
        </p:nvSpPr>
        <p:spPr bwMode="auto"/>
        <p:txBody>
          <a:bodyPr/>
          <a:lstStyle/>
          <a:p>
            <a:pPr>
              <a:defRPr/>
            </a:pPr>
            <a:r>
              <a:rPr sz="1800" b="1" i="0" u="none">
                <a:solidFill>
                  <a:srgbClr val="000000"/>
                </a:solidFill>
                <a:latin typeface="Times New Roman"/>
                <a:ea typeface="Times New Roman"/>
                <a:cs typeface="Times New Roman"/>
              </a:rPr>
              <a:t>Why Google Search is a Distributed System</a:t>
            </a:r>
            <a:endParaRPr/>
          </a:p>
          <a:p>
            <a:pPr>
              <a:defRPr/>
            </a:pPr>
            <a:r>
              <a:rPr sz="1200" b="0" i="0" u="none">
                <a:solidFill>
                  <a:srgbClr val="000000"/>
                </a:solidFill>
                <a:latin typeface="Times New Roman"/>
                <a:ea typeface="Times New Roman"/>
                <a:cs typeface="Times New Roman"/>
              </a:rPr>
              <a:t>Google Search is not a single computer.</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It is composed of:</a:t>
            </a:r>
            <a:endParaRPr/>
          </a:p>
          <a:p>
            <a:pPr>
              <a:defRPr/>
            </a:pPr>
            <a:r>
              <a:rPr sz="1200" b="0" i="0" u="none">
                <a:solidFill>
                  <a:srgbClr val="000000"/>
                </a:solidFill>
                <a:latin typeface="Times New Roman"/>
                <a:ea typeface="Times New Roman"/>
                <a:cs typeface="Times New Roman"/>
              </a:rPr>
              <a:t>Thousands (actually millions) of servers</a:t>
            </a:r>
            <a:endParaRPr/>
          </a:p>
          <a:p>
            <a:pPr>
              <a:defRPr/>
            </a:pPr>
            <a:r>
              <a:rPr sz="1200" b="0" i="0" u="none">
                <a:solidFill>
                  <a:srgbClr val="000000"/>
                </a:solidFill>
                <a:latin typeface="Times New Roman"/>
                <a:ea typeface="Times New Roman"/>
                <a:cs typeface="Times New Roman"/>
              </a:rPr>
              <a:t>Distributed across multiple data centers worldwide</a:t>
            </a:r>
            <a:endParaRPr/>
          </a:p>
          <a:p>
            <a:pPr>
              <a:defRPr/>
            </a:pPr>
            <a:r>
              <a:rPr sz="1200" b="0" i="0" u="none">
                <a:solidFill>
                  <a:srgbClr val="000000"/>
                </a:solidFill>
                <a:latin typeface="Times New Roman"/>
                <a:ea typeface="Times New Roman"/>
                <a:cs typeface="Times New Roman"/>
              </a:rPr>
              <a:t>Working together as one unified system</a:t>
            </a:r>
            <a:endParaRPr/>
          </a:p>
          <a:p>
            <a:pPr>
              <a:defRPr/>
            </a:pPr>
            <a:r>
              <a:rPr sz="1200" b="0" i="0" u="none">
                <a:solidFill>
                  <a:srgbClr val="000000"/>
                </a:solidFill>
                <a:latin typeface="Times New Roman"/>
                <a:ea typeface="Times New Roman"/>
                <a:cs typeface="Times New Roman"/>
              </a:rPr>
              <a:t>To the user, it appears as a single search engine.</a:t>
            </a:r>
            <a:endParaRPr/>
          </a:p>
          <a:p>
            <a:pPr>
              <a:defRPr/>
            </a:pPr>
            <a:r>
              <a:rPr sz="1200" b="0" i="0" u="none">
                <a:solidFill>
                  <a:srgbClr val="000000"/>
                </a:solidFill>
                <a:latin typeface="Times New Roman"/>
                <a:ea typeface="Times New Roman"/>
                <a:cs typeface="Times New Roman"/>
              </a:rPr>
              <a:t>In reality, it is a massive distributed system.</a:t>
            </a:r>
            <a:endParaRPr/>
          </a:p>
          <a:p>
            <a:pPr>
              <a:defRPr/>
            </a:pPr>
            <a:endParaRPr/>
          </a:p>
          <a:p>
            <a:pPr>
              <a:defRPr/>
            </a:pPr>
            <a:r>
              <a:rPr sz="1200" b="0" i="0" u="none">
                <a:solidFill>
                  <a:srgbClr val="000000"/>
                </a:solidFill>
                <a:latin typeface="Times New Roman"/>
                <a:ea typeface="Times New Roman"/>
                <a:cs typeface="Times New Roman"/>
              </a:rPr>
              <a:t>Google Search:</a:t>
            </a:r>
            <a:endParaRPr/>
          </a:p>
          <a:p>
            <a:pPr>
              <a:defRPr/>
            </a:pPr>
            <a:r>
              <a:rPr sz="1200" b="0" i="0" u="none">
                <a:solidFill>
                  <a:srgbClr val="000000"/>
                </a:solidFill>
                <a:latin typeface="Times New Roman"/>
                <a:ea typeface="Times New Roman"/>
                <a:cs typeface="Times New Roman"/>
              </a:rPr>
              <a:t>✔ Has autonomous servers</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 Communicates via network</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 Handles failures automatically</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 Appears as one unified service</a:t>
            </a:r>
            <a:endParaRPr/>
          </a:p>
          <a:p>
            <a:pPr>
              <a:defRPr/>
            </a:pPr>
            <a:endParaRPr/>
          </a:p>
          <a:p>
            <a:pPr>
              <a:defRPr/>
            </a:pPr>
            <a:r>
              <a:rPr sz="1800" b="1" i="0" u="none">
                <a:solidFill>
                  <a:srgbClr val="000000"/>
                </a:solidFill>
                <a:latin typeface="Times New Roman"/>
                <a:ea typeface="Times New Roman"/>
                <a:cs typeface="Times New Roman"/>
              </a:rPr>
              <a:t>Core Distributed Characteristics</a:t>
            </a:r>
            <a:endParaRPr/>
          </a:p>
          <a:p>
            <a:pPr>
              <a:defRPr/>
            </a:pPr>
            <a:r>
              <a:rPr sz="1400" b="1" i="0" u="none">
                <a:solidFill>
                  <a:srgbClr val="000000"/>
                </a:solidFill>
                <a:latin typeface="Times New Roman"/>
                <a:ea typeface="Times New Roman"/>
                <a:cs typeface="Times New Roman"/>
              </a:rPr>
              <a:t>1️⃣ Data Partitioning (Sharding)</a:t>
            </a:r>
            <a:endParaRPr/>
          </a:p>
          <a:p>
            <a:pPr>
              <a:defRPr/>
            </a:pPr>
            <a:r>
              <a:rPr sz="1200" b="0" i="0" u="none">
                <a:solidFill>
                  <a:srgbClr val="000000"/>
                </a:solidFill>
                <a:latin typeface="Times New Roman"/>
                <a:ea typeface="Times New Roman"/>
                <a:cs typeface="Times New Roman"/>
              </a:rPr>
              <a:t>The web index is divided into parts and stored across different machines.</a:t>
            </a:r>
            <a:endParaRPr/>
          </a:p>
          <a:p>
            <a:pPr>
              <a:defRPr/>
            </a:pPr>
            <a:r>
              <a:rPr sz="1400" b="1" i="0" u="none">
                <a:solidFill>
                  <a:srgbClr val="000000"/>
                </a:solidFill>
                <a:latin typeface="Times New Roman"/>
                <a:ea typeface="Times New Roman"/>
                <a:cs typeface="Times New Roman"/>
              </a:rPr>
              <a:t>2️⃣ Replication</a:t>
            </a:r>
            <a:endParaRPr/>
          </a:p>
          <a:p>
            <a:pPr>
              <a:defRPr/>
            </a:pPr>
            <a:r>
              <a:rPr sz="1200" b="0" i="0" u="none">
                <a:solidFill>
                  <a:srgbClr val="000000"/>
                </a:solidFill>
                <a:latin typeface="Times New Roman"/>
                <a:ea typeface="Times New Roman"/>
                <a:cs typeface="Times New Roman"/>
              </a:rPr>
              <a:t>Each piece of data is stored in multiple locations:</a:t>
            </a:r>
            <a:endParaRPr/>
          </a:p>
          <a:p>
            <a:pPr>
              <a:defRPr/>
            </a:pPr>
            <a:r>
              <a:rPr sz="1200" b="0" i="0" u="none">
                <a:solidFill>
                  <a:srgbClr val="000000"/>
                </a:solidFill>
                <a:latin typeface="Times New Roman"/>
                <a:ea typeface="Times New Roman"/>
                <a:cs typeface="Times New Roman"/>
              </a:rPr>
              <a:t>Fault tolerance</a:t>
            </a:r>
            <a:endParaRPr/>
          </a:p>
          <a:p>
            <a:pPr>
              <a:defRPr/>
            </a:pPr>
            <a:r>
              <a:rPr sz="1200" b="0" i="0" u="none">
                <a:solidFill>
                  <a:srgbClr val="000000"/>
                </a:solidFill>
                <a:latin typeface="Times New Roman"/>
                <a:ea typeface="Times New Roman"/>
                <a:cs typeface="Times New Roman"/>
              </a:rPr>
              <a:t>High availability</a:t>
            </a:r>
            <a:endParaRPr/>
          </a:p>
          <a:p>
            <a:pPr>
              <a:defRPr/>
            </a:pPr>
            <a:r>
              <a:rPr sz="1400" b="1" i="0" u="none">
                <a:solidFill>
                  <a:srgbClr val="000000"/>
                </a:solidFill>
                <a:latin typeface="Times New Roman"/>
                <a:ea typeface="Times New Roman"/>
                <a:cs typeface="Times New Roman"/>
              </a:rPr>
              <a:t>3️⃣ Fault Tolerance</a:t>
            </a:r>
            <a:endParaRPr/>
          </a:p>
          <a:p>
            <a:pPr>
              <a:defRPr/>
            </a:pPr>
            <a:r>
              <a:rPr sz="1200" b="0" i="0" u="none">
                <a:solidFill>
                  <a:srgbClr val="000000"/>
                </a:solidFill>
                <a:latin typeface="Times New Roman"/>
                <a:ea typeface="Times New Roman"/>
                <a:cs typeface="Times New Roman"/>
              </a:rPr>
              <a:t>If one server fails:</a:t>
            </a:r>
            <a:endParaRPr/>
          </a:p>
          <a:p>
            <a:pPr>
              <a:defRPr/>
            </a:pPr>
            <a:r>
              <a:rPr sz="1200" b="0" i="0" u="none">
                <a:solidFill>
                  <a:srgbClr val="000000"/>
                </a:solidFill>
                <a:latin typeface="Times New Roman"/>
                <a:ea typeface="Times New Roman"/>
                <a:cs typeface="Times New Roman"/>
              </a:rPr>
              <a:t>Another replica serves the request</a:t>
            </a:r>
            <a:endParaRPr/>
          </a:p>
          <a:p>
            <a:pPr>
              <a:defRPr/>
            </a:pPr>
            <a:r>
              <a:rPr sz="1200" b="0" i="0" u="none">
                <a:solidFill>
                  <a:srgbClr val="000000"/>
                </a:solidFill>
                <a:latin typeface="Times New Roman"/>
                <a:ea typeface="Times New Roman"/>
                <a:cs typeface="Times New Roman"/>
              </a:rPr>
              <a:t>The user never notices</a:t>
            </a:r>
            <a:endParaRPr/>
          </a:p>
          <a:p>
            <a:pPr>
              <a:defRPr/>
            </a:pPr>
            <a:r>
              <a:rPr sz="1400" b="1" i="0" u="none">
                <a:solidFill>
                  <a:srgbClr val="000000"/>
                </a:solidFill>
                <a:latin typeface="Times New Roman"/>
                <a:ea typeface="Times New Roman"/>
                <a:cs typeface="Times New Roman"/>
              </a:rPr>
              <a:t>4️⃣ Horizontal Scalability</a:t>
            </a:r>
            <a:endParaRPr/>
          </a:p>
          <a:p>
            <a:pPr>
              <a:defRPr/>
            </a:pPr>
            <a:r>
              <a:rPr sz="1200" b="0" i="0" u="none">
                <a:solidFill>
                  <a:srgbClr val="000000"/>
                </a:solidFill>
                <a:latin typeface="Times New Roman"/>
                <a:ea typeface="Times New Roman"/>
                <a:cs typeface="Times New Roman"/>
              </a:rPr>
              <a:t>Google scales by:</a:t>
            </a:r>
            <a:endParaRPr/>
          </a:p>
          <a:p>
            <a:pPr>
              <a:defRPr/>
            </a:pPr>
            <a:r>
              <a:rPr sz="1200" b="0" i="0" u="none">
                <a:solidFill>
                  <a:srgbClr val="000000"/>
                </a:solidFill>
                <a:latin typeface="Times New Roman"/>
                <a:ea typeface="Times New Roman"/>
                <a:cs typeface="Times New Roman"/>
              </a:rPr>
              <a:t>Adding more machines (scale-out)</a:t>
            </a:r>
            <a:endParaRPr/>
          </a:p>
          <a:p>
            <a:pPr>
              <a:defRPr/>
            </a:pPr>
            <a:r>
              <a:rPr sz="1200" b="0" i="0" u="none">
                <a:solidFill>
                  <a:srgbClr val="000000"/>
                </a:solidFill>
                <a:latin typeface="Times New Roman"/>
                <a:ea typeface="Times New Roman"/>
                <a:cs typeface="Times New Roman"/>
              </a:rPr>
              <a:t>Not by upgrading a single machine</a:t>
            </a:r>
            <a:endParaRPr/>
          </a:p>
          <a:p>
            <a:pPr>
              <a:defRPr/>
            </a:pPr>
            <a:r>
              <a:rPr sz="1400" b="1" i="0" u="none">
                <a:solidFill>
                  <a:srgbClr val="000000"/>
                </a:solidFill>
                <a:latin typeface="Times New Roman"/>
                <a:ea typeface="Times New Roman"/>
                <a:cs typeface="Times New Roman"/>
              </a:rPr>
              <a:t>5️⃣ No Global Clock</a:t>
            </a:r>
            <a:endParaRPr/>
          </a:p>
          <a:p>
            <a:pPr>
              <a:defRPr/>
            </a:pPr>
            <a:r>
              <a:rPr sz="1200" b="0" i="0" u="none">
                <a:solidFill>
                  <a:srgbClr val="000000"/>
                </a:solidFill>
                <a:latin typeface="Times New Roman"/>
                <a:ea typeface="Times New Roman"/>
                <a:cs typeface="Times New Roman"/>
              </a:rPr>
              <a:t>Servers operate independently and coordinate through protocols.</a:t>
            </a:r>
            <a:endParaRPr/>
          </a:p>
        </p:txBody>
      </p:sp>
      <p:sp>
        <p:nvSpPr>
          <p:cNvPr id="1000973584" name="Slide Number Placeholder 3"/>
          <p:cNvSpPr>
            <a:spLocks noGrp="1"/>
          </p:cNvSpPr>
          <p:nvPr>
            <p:ph type="sldNum" sz="quarter" idx="10"/>
          </p:nvPr>
        </p:nvSpPr>
        <p:spPr bwMode="auto"/>
        <p:txBody>
          <a:bodyPr/>
          <a:lstStyle/>
          <a:p>
            <a:pPr>
              <a:defRPr/>
            </a:pPr>
            <a:fld id="{CEB06521-D893-0258-6287-187DFAFCCB3A}"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0690673" name="Slide Image Placeholder 1"/>
          <p:cNvSpPr>
            <a:spLocks noChangeAspect="1" noGrp="1" noRot="1"/>
          </p:cNvSpPr>
          <p:nvPr>
            <p:ph type="sldImg"/>
          </p:nvPr>
        </p:nvSpPr>
        <p:spPr bwMode="auto"/>
      </p:sp>
      <p:sp>
        <p:nvSpPr>
          <p:cNvPr id="706297825" name="Notes Placeholder 2"/>
          <p:cNvSpPr>
            <a:spLocks noGrp="1"/>
          </p:cNvSpPr>
          <p:nvPr>
            <p:ph type="body" idx="1"/>
          </p:nvPr>
        </p:nvSpPr>
        <p:spPr bwMode="auto"/>
        <p:txBody>
          <a:bodyPr/>
          <a:lstStyle/>
          <a:p>
            <a:pPr>
              <a:defRPr/>
            </a:pPr>
            <a:r>
              <a:rPr sz="2400" b="1" i="0" u="none">
                <a:solidFill>
                  <a:srgbClr val="000000"/>
                </a:solidFill>
                <a:latin typeface="Times New Roman"/>
                <a:ea typeface="Times New Roman"/>
                <a:cs typeface="Times New Roman"/>
              </a:rPr>
              <a:t>Best Example to Explain in Class</a:t>
            </a:r>
            <a:endParaRPr/>
          </a:p>
          <a:p>
            <a:pPr>
              <a:defRPr/>
            </a:pPr>
            <a:r>
              <a:rPr sz="1200" b="0" i="0" u="none">
                <a:solidFill>
                  <a:srgbClr val="000000"/>
                </a:solidFill>
                <a:latin typeface="Times New Roman"/>
                <a:ea typeface="Times New Roman"/>
                <a:cs typeface="Times New Roman"/>
              </a:rPr>
              <a:t>If you want something students understand instantly:</a:t>
            </a:r>
            <a:endParaRPr/>
          </a:p>
          <a:p>
            <a:pPr>
              <a:defRPr/>
            </a:pPr>
            <a:r>
              <a:rPr sz="1200" b="0" i="0" u="none">
                <a:solidFill>
                  <a:srgbClr val="000000"/>
                </a:solidFill>
                <a:latin typeface="Times New Roman"/>
                <a:ea typeface="Times New Roman"/>
                <a:cs typeface="Times New Roman"/>
              </a:rPr>
              <a:t>👉 Instagram</a:t>
            </a:r>
            <a:endParaRPr/>
          </a:p>
          <a:p>
            <a:pPr>
              <a:defRPr/>
            </a:pPr>
            <a:r>
              <a:rPr sz="1200" b="0" i="0" u="none">
                <a:solidFill>
                  <a:srgbClr val="000000"/>
                </a:solidFill>
                <a:latin typeface="Times New Roman"/>
                <a:ea typeface="Times New Roman"/>
                <a:cs typeface="Times New Roman"/>
              </a:rPr>
              <a:t>Users = nodes in a graph</a:t>
            </a:r>
            <a:endParaRPr/>
          </a:p>
          <a:p>
            <a:pPr>
              <a:defRPr/>
            </a:pPr>
            <a:r>
              <a:rPr sz="1200" b="0" i="0" u="none">
                <a:solidFill>
                  <a:srgbClr val="000000"/>
                </a:solidFill>
                <a:latin typeface="Times New Roman"/>
                <a:ea typeface="Times New Roman"/>
                <a:cs typeface="Times New Roman"/>
              </a:rPr>
              <a:t>Posts stored distributed</a:t>
            </a:r>
            <a:endParaRPr/>
          </a:p>
          <a:p>
            <a:pPr>
              <a:defRPr/>
            </a:pPr>
            <a:r>
              <a:rPr sz="1200" b="0" i="0" u="none">
                <a:solidFill>
                  <a:srgbClr val="000000"/>
                </a:solidFill>
                <a:latin typeface="Times New Roman"/>
                <a:ea typeface="Times New Roman"/>
                <a:cs typeface="Times New Roman"/>
              </a:rPr>
              <a:t>Likes and follows replicated</a:t>
            </a:r>
            <a:endParaRPr/>
          </a:p>
          <a:p>
            <a:pPr>
              <a:defRPr/>
            </a:pPr>
            <a:r>
              <a:rPr sz="1200" b="0" i="0" u="none">
                <a:solidFill>
                  <a:srgbClr val="000000"/>
                </a:solidFill>
                <a:latin typeface="Times New Roman"/>
                <a:ea typeface="Times New Roman"/>
                <a:cs typeface="Times New Roman"/>
              </a:rPr>
              <a:t>Always available</a:t>
            </a:r>
            <a:endParaRPr/>
          </a:p>
          <a:p>
            <a:pPr>
              <a:defRPr/>
            </a:pPr>
            <a:r>
              <a:rPr sz="1200" b="0" i="0" u="none">
                <a:solidFill>
                  <a:srgbClr val="000000"/>
                </a:solidFill>
                <a:latin typeface="Times New Roman"/>
                <a:ea typeface="Times New Roman"/>
                <a:cs typeface="Times New Roman"/>
              </a:rPr>
              <a:t>Fault tolerant</a:t>
            </a:r>
            <a:endParaRPr/>
          </a:p>
        </p:txBody>
      </p:sp>
      <p:sp>
        <p:nvSpPr>
          <p:cNvPr id="1416985216" name="Slide Number Placeholder 3"/>
          <p:cNvSpPr>
            <a:spLocks noGrp="1"/>
          </p:cNvSpPr>
          <p:nvPr>
            <p:ph type="sldNum" sz="quarter" idx="10"/>
          </p:nvPr>
        </p:nvSpPr>
        <p:spPr bwMode="auto"/>
        <p:txBody>
          <a:bodyPr/>
          <a:lstStyle/>
          <a:p>
            <a:pPr>
              <a:defRPr/>
            </a:pPr>
            <a:fld id="{3D67A544-9AD5-77FC-9726-2FF257E19911}"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3383939" name="Slide Image Placeholder 1"/>
          <p:cNvSpPr>
            <a:spLocks noChangeAspect="1" noGrp="1" noRot="1"/>
          </p:cNvSpPr>
          <p:nvPr>
            <p:ph type="sldImg"/>
          </p:nvPr>
        </p:nvSpPr>
        <p:spPr bwMode="auto"/>
      </p:sp>
      <p:sp>
        <p:nvSpPr>
          <p:cNvPr id="113895080" name="Notes Placeholder 2"/>
          <p:cNvSpPr>
            <a:spLocks noGrp="1"/>
          </p:cNvSpPr>
          <p:nvPr>
            <p:ph type="body" idx="1"/>
          </p:nvPr>
        </p:nvSpPr>
        <p:spPr bwMode="auto"/>
        <p:txBody>
          <a:bodyPr/>
          <a:lstStyle/>
          <a:p>
            <a:pPr>
              <a:defRPr/>
            </a:pPr>
            <a:endParaRPr/>
          </a:p>
        </p:txBody>
      </p:sp>
      <p:sp>
        <p:nvSpPr>
          <p:cNvPr id="1454310283" name="Slide Number Placeholder 3"/>
          <p:cNvSpPr>
            <a:spLocks noGrp="1"/>
          </p:cNvSpPr>
          <p:nvPr>
            <p:ph type="sldNum" sz="quarter" idx="10"/>
          </p:nvPr>
        </p:nvSpPr>
        <p:spPr bwMode="auto"/>
        <p:txBody>
          <a:bodyPr/>
          <a:lstStyle/>
          <a:p>
            <a:pPr>
              <a:defRPr/>
            </a:pPr>
            <a:fld id="{1731E132-BD92-EF23-E9AF-FE2B19078A6E}"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7193643" name="Slide Image Placeholder 1"/>
          <p:cNvSpPr>
            <a:spLocks noChangeAspect="1" noGrp="1" noRot="1"/>
          </p:cNvSpPr>
          <p:nvPr>
            <p:ph type="sldImg"/>
          </p:nvPr>
        </p:nvSpPr>
        <p:spPr bwMode="auto"/>
      </p:sp>
      <p:sp>
        <p:nvSpPr>
          <p:cNvPr id="1206073656" name="Notes Placeholder 2"/>
          <p:cNvSpPr>
            <a:spLocks noGrp="1"/>
          </p:cNvSpPr>
          <p:nvPr>
            <p:ph type="body" idx="1"/>
          </p:nvPr>
        </p:nvSpPr>
        <p:spPr bwMode="auto"/>
        <p:txBody>
          <a:bodyPr/>
          <a:lstStyle/>
          <a:p>
            <a:pPr>
              <a:defRPr/>
            </a:pPr>
            <a:endParaRPr/>
          </a:p>
        </p:txBody>
      </p:sp>
      <p:sp>
        <p:nvSpPr>
          <p:cNvPr id="1029308820" name="Slide Number Placeholder 3"/>
          <p:cNvSpPr>
            <a:spLocks noGrp="1"/>
          </p:cNvSpPr>
          <p:nvPr>
            <p:ph type="sldNum" sz="quarter" idx="10"/>
          </p:nvPr>
        </p:nvSpPr>
        <p:spPr bwMode="auto"/>
        <p:txBody>
          <a:bodyPr/>
          <a:lstStyle/>
          <a:p>
            <a:pPr>
              <a:defRPr/>
            </a:pPr>
            <a:fld id="{03BC98BD-34B5-8FB1-BE68-4180FB7B44EB}"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0019917" name="Slide Image Placeholder 1"/>
          <p:cNvSpPr>
            <a:spLocks noChangeAspect="1" noGrp="1" noRot="1"/>
          </p:cNvSpPr>
          <p:nvPr>
            <p:ph type="sldImg"/>
          </p:nvPr>
        </p:nvSpPr>
        <p:spPr bwMode="auto"/>
      </p:sp>
      <p:sp>
        <p:nvSpPr>
          <p:cNvPr id="100896526" name="Notes Placeholder 2"/>
          <p:cNvSpPr>
            <a:spLocks noGrp="1"/>
          </p:cNvSpPr>
          <p:nvPr>
            <p:ph type="body" idx="1"/>
          </p:nvPr>
        </p:nvSpPr>
        <p:spPr bwMode="auto"/>
        <p:txBody>
          <a:bodyPr/>
          <a:lstStyle/>
          <a:p>
            <a:pPr>
              <a:defRPr/>
            </a:pPr>
            <a:endParaRPr/>
          </a:p>
        </p:txBody>
      </p:sp>
      <p:sp>
        <p:nvSpPr>
          <p:cNvPr id="775862871" name="Slide Number Placeholder 3"/>
          <p:cNvSpPr>
            <a:spLocks noGrp="1"/>
          </p:cNvSpPr>
          <p:nvPr>
            <p:ph type="sldNum" sz="quarter" idx="10"/>
          </p:nvPr>
        </p:nvSpPr>
        <p:spPr bwMode="auto"/>
        <p:txBody>
          <a:bodyPr/>
          <a:lstStyle/>
          <a:p>
            <a:pPr>
              <a:defRPr/>
            </a:pPr>
            <a:fld id="{D95FD00C-D852-927D-02A0-FEA63FC4063D}"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7685959" name="Slide Image Placeholder 1"/>
          <p:cNvSpPr>
            <a:spLocks noChangeAspect="1" noGrp="1" noRot="1"/>
          </p:cNvSpPr>
          <p:nvPr>
            <p:ph type="sldImg"/>
          </p:nvPr>
        </p:nvSpPr>
        <p:spPr bwMode="auto"/>
      </p:sp>
      <p:sp>
        <p:nvSpPr>
          <p:cNvPr id="1802964721" name="Notes Placeholder 2"/>
          <p:cNvSpPr>
            <a:spLocks noGrp="1"/>
          </p:cNvSpPr>
          <p:nvPr>
            <p:ph type="body" idx="1"/>
          </p:nvPr>
        </p:nvSpPr>
        <p:spPr bwMode="auto"/>
        <p:txBody>
          <a:bodyPr/>
          <a:lstStyle/>
          <a:p>
            <a:pPr>
              <a:defRPr/>
            </a:pPr>
            <a:endParaRPr/>
          </a:p>
        </p:txBody>
      </p:sp>
      <p:sp>
        <p:nvSpPr>
          <p:cNvPr id="433110246" name="Slide Number Placeholder 3"/>
          <p:cNvSpPr>
            <a:spLocks noGrp="1"/>
          </p:cNvSpPr>
          <p:nvPr>
            <p:ph type="sldNum" sz="quarter" idx="10"/>
          </p:nvPr>
        </p:nvSpPr>
        <p:spPr bwMode="auto"/>
        <p:txBody>
          <a:bodyPr/>
          <a:lstStyle/>
          <a:p>
            <a:pPr>
              <a:defRPr/>
            </a:pPr>
            <a:fld id="{29226837-D94B-67F1-A512-574CE1B56307}"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12878429" name="Slide Image Placeholder 1"/>
          <p:cNvSpPr>
            <a:spLocks noChangeAspect="1" noGrp="1" noRot="1"/>
          </p:cNvSpPr>
          <p:nvPr>
            <p:ph type="sldImg"/>
          </p:nvPr>
        </p:nvSpPr>
        <p:spPr bwMode="auto"/>
      </p:sp>
      <p:sp>
        <p:nvSpPr>
          <p:cNvPr id="473615727" name="Notes Placeholder 2"/>
          <p:cNvSpPr>
            <a:spLocks noGrp="1"/>
          </p:cNvSpPr>
          <p:nvPr>
            <p:ph type="body" idx="1"/>
          </p:nvPr>
        </p:nvSpPr>
        <p:spPr bwMode="auto"/>
        <p:txBody>
          <a:bodyPr/>
          <a:lstStyle/>
          <a:p>
            <a:pPr>
              <a:defRPr/>
            </a:pPr>
            <a:endParaRPr/>
          </a:p>
        </p:txBody>
      </p:sp>
      <p:sp>
        <p:nvSpPr>
          <p:cNvPr id="170647502" name="Slide Number Placeholder 3"/>
          <p:cNvSpPr>
            <a:spLocks noGrp="1"/>
          </p:cNvSpPr>
          <p:nvPr>
            <p:ph type="sldNum" sz="quarter" idx="10"/>
          </p:nvPr>
        </p:nvSpPr>
        <p:spPr bwMode="auto"/>
        <p:txBody>
          <a:bodyPr/>
          <a:lstStyle/>
          <a:p>
            <a:pPr>
              <a:defRPr/>
            </a:pPr>
            <a:fld id="{F8DB4CD5-8C37-F76D-7BA0-9E6603073D5F}"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0966220" name="Slide Image Placeholder 1"/>
          <p:cNvSpPr>
            <a:spLocks noChangeAspect="1" noGrp="1" noRot="1"/>
          </p:cNvSpPr>
          <p:nvPr>
            <p:ph type="sldImg"/>
          </p:nvPr>
        </p:nvSpPr>
        <p:spPr bwMode="auto"/>
      </p:sp>
      <p:sp>
        <p:nvSpPr>
          <p:cNvPr id="1994487793" name="Notes Placeholder 2"/>
          <p:cNvSpPr>
            <a:spLocks noGrp="1"/>
          </p:cNvSpPr>
          <p:nvPr>
            <p:ph type="body" idx="1"/>
          </p:nvPr>
        </p:nvSpPr>
        <p:spPr bwMode="auto"/>
        <p:txBody>
          <a:bodyPr/>
          <a:lstStyle/>
          <a:p>
            <a:pPr>
              <a:defRPr/>
            </a:pPr>
            <a:endParaRPr/>
          </a:p>
        </p:txBody>
      </p:sp>
      <p:sp>
        <p:nvSpPr>
          <p:cNvPr id="350067232" name="Slide Number Placeholder 3"/>
          <p:cNvSpPr>
            <a:spLocks noGrp="1"/>
          </p:cNvSpPr>
          <p:nvPr>
            <p:ph type="sldNum" sz="quarter" idx="10"/>
          </p:nvPr>
        </p:nvSpPr>
        <p:spPr bwMode="auto"/>
        <p:txBody>
          <a:bodyPr/>
          <a:lstStyle/>
          <a:p>
            <a:pPr>
              <a:defRPr/>
            </a:pPr>
            <a:fld id="{8709D419-B6E8-F953-D429-9101F0887CF1}"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6072375" name="Slide Image Placeholder 1"/>
          <p:cNvSpPr>
            <a:spLocks noChangeAspect="1" noGrp="1" noRot="1"/>
          </p:cNvSpPr>
          <p:nvPr>
            <p:ph type="sldImg"/>
          </p:nvPr>
        </p:nvSpPr>
        <p:spPr bwMode="auto"/>
      </p:sp>
      <p:sp>
        <p:nvSpPr>
          <p:cNvPr id="1238574315" name="Notes Placeholder 2"/>
          <p:cNvSpPr>
            <a:spLocks noGrp="1"/>
          </p:cNvSpPr>
          <p:nvPr>
            <p:ph type="body" idx="1"/>
          </p:nvPr>
        </p:nvSpPr>
        <p:spPr bwMode="auto"/>
        <p:txBody>
          <a:bodyPr/>
          <a:lstStyle/>
          <a:p>
            <a:pPr>
              <a:defRPr/>
            </a:pPr>
            <a:r>
              <a:rPr sz="2400" b="1" i="0" u="none">
                <a:solidFill>
                  <a:srgbClr val="000000"/>
                </a:solidFill>
                <a:latin typeface="Times New Roman"/>
                <a:ea typeface="Times New Roman"/>
                <a:cs typeface="Times New Roman"/>
              </a:rPr>
              <a:t> Example: How a Distributed System Continues When Nodes Fail</a:t>
            </a:r>
            <a:endParaRPr/>
          </a:p>
          <a:p>
            <a:pPr>
              <a:defRPr/>
            </a:pPr>
            <a:r>
              <a:rPr sz="1800" b="1" i="0" u="none">
                <a:solidFill>
                  <a:srgbClr val="000000"/>
                </a:solidFill>
                <a:latin typeface="Times New Roman"/>
                <a:ea typeface="Times New Roman"/>
                <a:cs typeface="Times New Roman"/>
              </a:rPr>
              <a:t>Case: Netflix Using Cassandra</a:t>
            </a:r>
            <a:endParaRPr/>
          </a:p>
          <a:p>
            <a:pPr>
              <a:defRPr/>
            </a:pPr>
            <a:r>
              <a:rPr sz="1800" b="1" i="0" u="none">
                <a:solidFill>
                  <a:srgbClr val="000000"/>
                </a:solidFill>
                <a:latin typeface="Times New Roman"/>
                <a:ea typeface="Times New Roman"/>
                <a:cs typeface="Times New Roman"/>
              </a:rPr>
              <a:t>Scenario</a:t>
            </a:r>
            <a:endParaRPr/>
          </a:p>
          <a:p>
            <a:pPr>
              <a:defRPr/>
            </a:pPr>
            <a:r>
              <a:rPr sz="1200" b="0" i="0" u="none">
                <a:solidFill>
                  <a:srgbClr val="000000"/>
                </a:solidFill>
                <a:latin typeface="Times New Roman"/>
                <a:ea typeface="Times New Roman"/>
                <a:cs typeface="Times New Roman"/>
              </a:rPr>
              <a:t>Netflix stores user viewing history in a distributed database (Apache Cassandra).</a:t>
            </a:r>
            <a:endParaRPr/>
          </a:p>
          <a:p>
            <a:pPr>
              <a:defRPr/>
            </a:pPr>
            <a:r>
              <a:rPr sz="1200" b="0" i="0" u="none">
                <a:solidFill>
                  <a:srgbClr val="000000"/>
                </a:solidFill>
                <a:latin typeface="Times New Roman"/>
                <a:ea typeface="Times New Roman"/>
                <a:cs typeface="Times New Roman"/>
              </a:rPr>
              <a:t>Assume:</a:t>
            </a:r>
            <a:endParaRPr/>
          </a:p>
          <a:p>
            <a:pPr>
              <a:defRPr/>
            </a:pPr>
            <a:r>
              <a:rPr sz="1200" b="0" i="0" u="none">
                <a:solidFill>
                  <a:srgbClr val="000000"/>
                </a:solidFill>
                <a:latin typeface="Times New Roman"/>
                <a:ea typeface="Times New Roman"/>
                <a:cs typeface="Times New Roman"/>
              </a:rPr>
              <a:t>Data is replicated 3 times.</a:t>
            </a:r>
            <a:endParaRPr/>
          </a:p>
          <a:p>
            <a:pPr>
              <a:defRPr/>
            </a:pPr>
            <a:r>
              <a:rPr sz="1200" b="0" i="0" u="none">
                <a:solidFill>
                  <a:srgbClr val="000000"/>
                </a:solidFill>
                <a:latin typeface="Times New Roman"/>
                <a:ea typeface="Times New Roman"/>
                <a:cs typeface="Times New Roman"/>
              </a:rPr>
              <a:t>Each piece of data exists on 3 different nodes.</a:t>
            </a:r>
            <a:endParaRPr/>
          </a:p>
          <a:p>
            <a:pPr>
              <a:defRPr/>
            </a:pPr>
            <a:r>
              <a:rPr sz="1200" b="0" i="0" u="none">
                <a:solidFill>
                  <a:srgbClr val="000000"/>
                </a:solidFill>
                <a:latin typeface="Times New Roman"/>
                <a:ea typeface="Times New Roman"/>
                <a:cs typeface="Times New Roman"/>
              </a:rPr>
              <a:t>Example:</a:t>
            </a:r>
            <a:endParaRPr/>
          </a:p>
          <a:p>
            <a:pPr>
              <a:defRPr/>
            </a:pPr>
            <a:r>
              <a:rPr sz="1200" b="0" i="0" u="none">
                <a:solidFill>
                  <a:srgbClr val="000000"/>
                </a:solidFill>
                <a:latin typeface="Times New Roman"/>
                <a:ea typeface="Times New Roman"/>
                <a:cs typeface="Times New Roman"/>
              </a:rPr>
              <a:t>User 123 watch history is stored on:</a:t>
            </a:r>
            <a:endParaRPr/>
          </a:p>
          <a:p>
            <a:pPr>
              <a:defRPr/>
            </a:pPr>
            <a:r>
              <a:rPr sz="1200" b="0" i="0" u="none">
                <a:solidFill>
                  <a:srgbClr val="000000"/>
                </a:solidFill>
                <a:latin typeface="Times New Roman"/>
                <a:ea typeface="Times New Roman"/>
                <a:cs typeface="Times New Roman"/>
              </a:rPr>
              <a:t>Node A (USA)</a:t>
            </a:r>
            <a:endParaRPr/>
          </a:p>
          <a:p>
            <a:pPr>
              <a:defRPr/>
            </a:pPr>
            <a:r>
              <a:rPr sz="1200" b="0" i="0" u="none">
                <a:solidFill>
                  <a:srgbClr val="000000"/>
                </a:solidFill>
                <a:latin typeface="Times New Roman"/>
                <a:ea typeface="Times New Roman"/>
                <a:cs typeface="Times New Roman"/>
              </a:rPr>
              <a:t>Node B (Germany)</a:t>
            </a:r>
            <a:endParaRPr/>
          </a:p>
          <a:p>
            <a:pPr>
              <a:defRPr/>
            </a:pPr>
            <a:r>
              <a:rPr sz="1200" b="0" i="0" u="none">
                <a:solidFill>
                  <a:srgbClr val="000000"/>
                </a:solidFill>
                <a:latin typeface="Times New Roman"/>
                <a:ea typeface="Times New Roman"/>
                <a:cs typeface="Times New Roman"/>
              </a:rPr>
              <a:t>Node C (France)</a:t>
            </a:r>
            <a:endParaRPr/>
          </a:p>
          <a:p>
            <a:pPr>
              <a:defRPr/>
            </a:pPr>
            <a:r>
              <a:rPr sz="1200" b="0" i="0" u="none">
                <a:solidFill>
                  <a:srgbClr val="000000"/>
                </a:solidFill>
                <a:latin typeface="Times New Roman"/>
                <a:ea typeface="Times New Roman"/>
                <a:cs typeface="Times New Roman"/>
              </a:rPr>
              <a:t>This is called </a:t>
            </a:r>
            <a:r>
              <a:rPr sz="1200" b="1" i="0" u="none">
                <a:solidFill>
                  <a:srgbClr val="000000"/>
                </a:solidFill>
                <a:latin typeface="Times New Roman"/>
                <a:ea typeface="Times New Roman"/>
                <a:cs typeface="Times New Roman"/>
              </a:rPr>
              <a:t>replication factor = 3</a:t>
            </a:r>
            <a:r>
              <a:rPr sz="1200" b="0" i="0" u="none">
                <a:solidFill>
                  <a:srgbClr val="000000"/>
                </a:solidFill>
                <a:latin typeface="Times New Roman"/>
                <a:ea typeface="Times New Roman"/>
                <a:cs typeface="Times New Roman"/>
              </a:rPr>
              <a:t>.</a:t>
            </a:r>
            <a:endParaRPr/>
          </a:p>
          <a:p>
            <a:pPr>
              <a:defRPr/>
            </a:pPr>
            <a:r>
              <a:rPr sz="2400" b="1" i="0" u="none">
                <a:solidFill>
                  <a:srgbClr val="000000"/>
                </a:solidFill>
                <a:latin typeface="Times New Roman"/>
                <a:ea typeface="Times New Roman"/>
                <a:cs typeface="Times New Roman"/>
              </a:rPr>
              <a:t>💥 What Happens If One Node Collapses?</a:t>
            </a:r>
            <a:endParaRPr/>
          </a:p>
          <a:p>
            <a:pPr>
              <a:defRPr/>
            </a:pPr>
            <a:r>
              <a:rPr sz="1400" b="1" i="0" u="none">
                <a:solidFill>
                  <a:srgbClr val="000000"/>
                </a:solidFill>
                <a:latin typeface="Times New Roman"/>
                <a:ea typeface="Times New Roman"/>
                <a:cs typeface="Times New Roman"/>
              </a:rPr>
              <a:t>Step 1 — Node B crashes</a:t>
            </a:r>
            <a:endParaRPr/>
          </a:p>
          <a:p>
            <a:pPr>
              <a:defRPr/>
            </a:pPr>
            <a:r>
              <a:rPr sz="1200" b="0" i="0" u="none">
                <a:solidFill>
                  <a:srgbClr val="000000"/>
                </a:solidFill>
                <a:latin typeface="Times New Roman"/>
                <a:ea typeface="Times New Roman"/>
                <a:cs typeface="Times New Roman"/>
              </a:rPr>
              <a:t>Maybe:</a:t>
            </a:r>
            <a:endParaRPr/>
          </a:p>
          <a:p>
            <a:pPr>
              <a:defRPr/>
            </a:pPr>
            <a:r>
              <a:rPr sz="1200" b="0" i="0" u="none">
                <a:solidFill>
                  <a:srgbClr val="000000"/>
                </a:solidFill>
                <a:latin typeface="Times New Roman"/>
                <a:ea typeface="Times New Roman"/>
                <a:cs typeface="Times New Roman"/>
              </a:rPr>
              <a:t>Hardware failure</a:t>
            </a:r>
            <a:endParaRPr/>
          </a:p>
          <a:p>
            <a:pPr>
              <a:defRPr/>
            </a:pPr>
            <a:r>
              <a:rPr sz="1200" b="0" i="0" u="none">
                <a:solidFill>
                  <a:srgbClr val="000000"/>
                </a:solidFill>
                <a:latin typeface="Times New Roman"/>
                <a:ea typeface="Times New Roman"/>
                <a:cs typeface="Times New Roman"/>
              </a:rPr>
              <a:t>Power outage</a:t>
            </a:r>
            <a:endParaRPr/>
          </a:p>
          <a:p>
            <a:pPr>
              <a:defRPr/>
            </a:pPr>
            <a:r>
              <a:rPr sz="1200" b="0" i="0" u="none">
                <a:solidFill>
                  <a:srgbClr val="000000"/>
                </a:solidFill>
                <a:latin typeface="Times New Roman"/>
                <a:ea typeface="Times New Roman"/>
                <a:cs typeface="Times New Roman"/>
              </a:rPr>
              <a:t>Network partition</a:t>
            </a:r>
            <a:endParaRPr/>
          </a:p>
          <a:p>
            <a:pPr>
              <a:defRPr/>
            </a:pPr>
            <a:r>
              <a:rPr sz="1200" b="0" i="0" u="none">
                <a:solidFill>
                  <a:srgbClr val="000000"/>
                </a:solidFill>
                <a:latin typeface="Times New Roman"/>
                <a:ea typeface="Times New Roman"/>
                <a:cs typeface="Times New Roman"/>
              </a:rPr>
              <a:t>Node B becomes unavailable.</a:t>
            </a:r>
            <a:endParaRPr/>
          </a:p>
          <a:p>
            <a:pPr>
              <a:defRPr/>
            </a:pPr>
            <a:r>
              <a:rPr sz="1400" b="1" i="0" u="none">
                <a:solidFill>
                  <a:srgbClr val="000000"/>
                </a:solidFill>
                <a:latin typeface="Times New Roman"/>
                <a:ea typeface="Times New Roman"/>
                <a:cs typeface="Times New Roman"/>
              </a:rPr>
              <a:t>Step 2 — System Response</a:t>
            </a:r>
            <a:endParaRPr/>
          </a:p>
          <a:p>
            <a:pPr>
              <a:defRPr/>
            </a:pPr>
            <a:r>
              <a:rPr sz="1200" b="0" i="0" u="none">
                <a:solidFill>
                  <a:srgbClr val="000000"/>
                </a:solidFill>
                <a:latin typeface="Times New Roman"/>
                <a:ea typeface="Times New Roman"/>
                <a:cs typeface="Times New Roman"/>
              </a:rPr>
              <a:t>The system automatically:</a:t>
            </a:r>
            <a:endParaRPr/>
          </a:p>
          <a:p>
            <a:pPr>
              <a:defRPr/>
            </a:pPr>
            <a:r>
              <a:rPr sz="1200" b="0" i="0" u="none">
                <a:solidFill>
                  <a:srgbClr val="000000"/>
                </a:solidFill>
                <a:latin typeface="Times New Roman"/>
                <a:ea typeface="Times New Roman"/>
                <a:cs typeface="Times New Roman"/>
              </a:rPr>
              <a:t>✔ Detects node failure</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 Stops sending traffic to Node B</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 Routes requests to Node A or Node C</a:t>
            </a:r>
            <a:endParaRPr/>
          </a:p>
          <a:p>
            <a:pPr>
              <a:defRPr/>
            </a:pPr>
            <a:r>
              <a:rPr sz="1200" b="0" i="0" u="none">
                <a:solidFill>
                  <a:srgbClr val="000000"/>
                </a:solidFill>
                <a:latin typeface="Times New Roman"/>
                <a:ea typeface="Times New Roman"/>
                <a:cs typeface="Times New Roman"/>
              </a:rPr>
              <a:t>The user continues streaming normally.</a:t>
            </a:r>
            <a:endParaRPr/>
          </a:p>
          <a:p>
            <a:pPr>
              <a:defRPr/>
            </a:pPr>
            <a:r>
              <a:rPr sz="1200" b="0" i="0" u="none">
                <a:solidFill>
                  <a:srgbClr val="000000"/>
                </a:solidFill>
                <a:latin typeface="Times New Roman"/>
                <a:ea typeface="Times New Roman"/>
                <a:cs typeface="Times New Roman"/>
              </a:rPr>
              <a:t>No visible downtime.</a:t>
            </a:r>
            <a:endParaRPr/>
          </a:p>
          <a:p>
            <a:pPr>
              <a:defRPr/>
            </a:pPr>
            <a:r>
              <a:rPr sz="2400" b="1" i="0" u="none">
                <a:solidFill>
                  <a:srgbClr val="000000"/>
                </a:solidFill>
                <a:latin typeface="Times New Roman"/>
                <a:ea typeface="Times New Roman"/>
                <a:cs typeface="Times New Roman"/>
              </a:rPr>
              <a:t>🔁 How Is This Possible?</a:t>
            </a:r>
            <a:endParaRPr/>
          </a:p>
          <a:p>
            <a:pPr>
              <a:defRPr/>
            </a:pPr>
            <a:r>
              <a:rPr sz="1200" b="0" i="0" u="none">
                <a:solidFill>
                  <a:srgbClr val="000000"/>
                </a:solidFill>
                <a:latin typeface="Times New Roman"/>
                <a:ea typeface="Times New Roman"/>
                <a:cs typeface="Times New Roman"/>
              </a:rPr>
              <a:t>Because of:</a:t>
            </a:r>
            <a:endParaRPr/>
          </a:p>
          <a:p>
            <a:pPr>
              <a:defRPr/>
            </a:pPr>
            <a:r>
              <a:rPr sz="1800" b="1" i="0" u="none">
                <a:solidFill>
                  <a:srgbClr val="000000"/>
                </a:solidFill>
                <a:latin typeface="Times New Roman"/>
                <a:ea typeface="Times New Roman"/>
                <a:cs typeface="Times New Roman"/>
              </a:rPr>
              <a:t>1️⃣ Replication</a:t>
            </a:r>
            <a:endParaRPr/>
          </a:p>
          <a:p>
            <a:pPr>
              <a:defRPr/>
            </a:pPr>
            <a:r>
              <a:rPr sz="1200" b="0" i="0" u="none">
                <a:solidFill>
                  <a:srgbClr val="000000"/>
                </a:solidFill>
                <a:latin typeface="Times New Roman"/>
                <a:ea typeface="Times New Roman"/>
                <a:cs typeface="Times New Roman"/>
              </a:rPr>
              <a:t>Data exists in multiple copies.</a:t>
            </a:r>
            <a:endParaRPr/>
          </a:p>
          <a:p>
            <a:pPr>
              <a:defRPr/>
            </a:pPr>
            <a:r>
              <a:rPr sz="1200" b="0" i="0" u="none">
                <a:solidFill>
                  <a:srgbClr val="000000"/>
                </a:solidFill>
                <a:latin typeface="Times New Roman"/>
                <a:ea typeface="Times New Roman"/>
                <a:cs typeface="Times New Roman"/>
              </a:rPr>
              <a:t>If one copy fails → others exist.</a:t>
            </a:r>
            <a:endParaRPr/>
          </a:p>
          <a:p>
            <a:pPr>
              <a:defRPr/>
            </a:pPr>
            <a:r>
              <a:rPr sz="1800" b="1" i="0" u="none">
                <a:solidFill>
                  <a:srgbClr val="000000"/>
                </a:solidFill>
                <a:latin typeface="Times New Roman"/>
                <a:ea typeface="Times New Roman"/>
                <a:cs typeface="Times New Roman"/>
              </a:rPr>
              <a:t>2️⃣ Consistency Model</a:t>
            </a:r>
            <a:endParaRPr/>
          </a:p>
          <a:p>
            <a:pPr>
              <a:defRPr/>
            </a:pPr>
            <a:r>
              <a:rPr sz="1200" b="0" i="0" u="none">
                <a:solidFill>
                  <a:srgbClr val="000000"/>
                </a:solidFill>
                <a:latin typeface="Times New Roman"/>
                <a:ea typeface="Times New Roman"/>
                <a:cs typeface="Times New Roman"/>
              </a:rPr>
              <a:t>Cassandra can operate with:</a:t>
            </a:r>
            <a:endParaRPr/>
          </a:p>
          <a:p>
            <a:pPr>
              <a:defRPr/>
            </a:pPr>
            <a:r>
              <a:rPr sz="1200" b="0" i="0" u="none">
                <a:solidFill>
                  <a:srgbClr val="000000"/>
                </a:solidFill>
                <a:latin typeface="Times New Roman"/>
                <a:ea typeface="Times New Roman"/>
                <a:cs typeface="Times New Roman"/>
              </a:rPr>
              <a:t>Strong consistency (if needed)</a:t>
            </a:r>
            <a:endParaRPr/>
          </a:p>
          <a:p>
            <a:pPr>
              <a:defRPr/>
            </a:pPr>
            <a:r>
              <a:rPr sz="1200" b="0" i="0" u="none">
                <a:solidFill>
                  <a:srgbClr val="000000"/>
                </a:solidFill>
                <a:latin typeface="Times New Roman"/>
                <a:ea typeface="Times New Roman"/>
                <a:cs typeface="Times New Roman"/>
              </a:rPr>
              <a:t>Eventual consistency (default)</a:t>
            </a:r>
            <a:endParaRPr/>
          </a:p>
          <a:p>
            <a:pPr>
              <a:defRPr/>
            </a:pPr>
            <a:r>
              <a:rPr sz="1200" b="0" i="0" u="none">
                <a:solidFill>
                  <a:srgbClr val="000000"/>
                </a:solidFill>
                <a:latin typeface="Times New Roman"/>
                <a:ea typeface="Times New Roman"/>
                <a:cs typeface="Times New Roman"/>
              </a:rPr>
              <a:t>If one node is down:</a:t>
            </a:r>
            <a:endParaRPr/>
          </a:p>
          <a:p>
            <a:pPr>
              <a:defRPr/>
            </a:pPr>
            <a:r>
              <a:rPr sz="1200" b="0" i="0" u="none">
                <a:solidFill>
                  <a:srgbClr val="000000"/>
                </a:solidFill>
                <a:latin typeface="Times New Roman"/>
                <a:ea typeface="Times New Roman"/>
                <a:cs typeface="Times New Roman"/>
              </a:rPr>
              <a:t>Remaining nodes still respond</a:t>
            </a:r>
            <a:endParaRPr/>
          </a:p>
          <a:p>
            <a:pPr>
              <a:defRPr/>
            </a:pPr>
            <a:r>
              <a:rPr sz="1200" b="0" i="0" u="none">
                <a:solidFill>
                  <a:srgbClr val="000000"/>
                </a:solidFill>
                <a:latin typeface="Times New Roman"/>
                <a:ea typeface="Times New Roman"/>
                <a:cs typeface="Times New Roman"/>
              </a:rPr>
              <a:t>Data remains accessible</a:t>
            </a:r>
            <a:endParaRPr/>
          </a:p>
          <a:p>
            <a:pPr>
              <a:defRPr/>
            </a:pPr>
            <a:r>
              <a:rPr sz="1800" b="1" i="0" u="none">
                <a:solidFill>
                  <a:srgbClr val="000000"/>
                </a:solidFill>
                <a:latin typeface="Times New Roman"/>
                <a:ea typeface="Times New Roman"/>
                <a:cs typeface="Times New Roman"/>
              </a:rPr>
              <a:t>3️⃣ Automatic Recovery (Self-Healing)</a:t>
            </a:r>
            <a:endParaRPr/>
          </a:p>
          <a:p>
            <a:pPr>
              <a:defRPr/>
            </a:pPr>
            <a:r>
              <a:rPr sz="1200" b="0" i="0" u="none">
                <a:solidFill>
                  <a:srgbClr val="000000"/>
                </a:solidFill>
                <a:latin typeface="Times New Roman"/>
                <a:ea typeface="Times New Roman"/>
                <a:cs typeface="Times New Roman"/>
              </a:rPr>
              <a:t>When Node B comes back:</a:t>
            </a:r>
            <a:endParaRPr/>
          </a:p>
          <a:p>
            <a:pPr>
              <a:defRPr/>
            </a:pPr>
            <a:r>
              <a:rPr sz="1200" b="0" i="0" u="none">
                <a:solidFill>
                  <a:srgbClr val="000000"/>
                </a:solidFill>
                <a:latin typeface="Times New Roman"/>
                <a:ea typeface="Times New Roman"/>
                <a:cs typeface="Times New Roman"/>
              </a:rPr>
              <a:t>It automatically syncs missing updates</a:t>
            </a:r>
            <a:endParaRPr/>
          </a:p>
          <a:p>
            <a:pPr>
              <a:defRPr/>
            </a:pPr>
            <a:r>
              <a:rPr sz="1200" b="0" i="0" u="none">
                <a:solidFill>
                  <a:srgbClr val="000000"/>
                </a:solidFill>
                <a:latin typeface="Times New Roman"/>
                <a:ea typeface="Times New Roman"/>
                <a:cs typeface="Times New Roman"/>
              </a:rPr>
              <a:t>Replicas are repaired</a:t>
            </a:r>
            <a:endParaRPr/>
          </a:p>
          <a:p>
            <a:pPr>
              <a:defRPr/>
            </a:pPr>
            <a:r>
              <a:rPr sz="1200" b="0" i="0" u="none">
                <a:solidFill>
                  <a:srgbClr val="000000"/>
                </a:solidFill>
                <a:latin typeface="Times New Roman"/>
                <a:ea typeface="Times New Roman"/>
                <a:cs typeface="Times New Roman"/>
              </a:rPr>
              <a:t>Cluster returns to full redundancy</a:t>
            </a:r>
            <a:endParaRPr/>
          </a:p>
          <a:p>
            <a:pPr>
              <a:defRPr/>
            </a:pPr>
            <a:r>
              <a:rPr sz="1200" b="0" i="0" u="none">
                <a:solidFill>
                  <a:srgbClr val="000000"/>
                </a:solidFill>
                <a:latin typeface="Times New Roman"/>
                <a:ea typeface="Times New Roman"/>
                <a:cs typeface="Times New Roman"/>
              </a:rPr>
              <a:t>This is called </a:t>
            </a:r>
            <a:r>
              <a:rPr sz="1200" b="1" i="0" u="none">
                <a:solidFill>
                  <a:srgbClr val="000000"/>
                </a:solidFill>
                <a:latin typeface="Times New Roman"/>
                <a:ea typeface="Times New Roman"/>
                <a:cs typeface="Times New Roman"/>
              </a:rPr>
              <a:t>anti-entropy repair</a:t>
            </a:r>
            <a:r>
              <a:rPr sz="1200" b="0" i="0" u="none">
                <a:solidFill>
                  <a:srgbClr val="000000"/>
                </a:solidFill>
                <a:latin typeface="Times New Roman"/>
                <a:ea typeface="Times New Roman"/>
                <a:cs typeface="Times New Roman"/>
              </a:rPr>
              <a:t>.</a:t>
            </a:r>
            <a:endParaRPr/>
          </a:p>
        </p:txBody>
      </p:sp>
      <p:sp>
        <p:nvSpPr>
          <p:cNvPr id="1360972882" name="Slide Number Placeholder 3"/>
          <p:cNvSpPr>
            <a:spLocks noGrp="1"/>
          </p:cNvSpPr>
          <p:nvPr>
            <p:ph type="sldNum" sz="quarter" idx="10"/>
          </p:nvPr>
        </p:nvSpPr>
        <p:spPr bwMode="auto"/>
        <p:txBody>
          <a:bodyPr/>
          <a:lstStyle/>
          <a:p>
            <a:pPr>
              <a:defRPr/>
            </a:pPr>
            <a:fld id="{3EBB5CA5-13D3-5CFF-3558-F1BCE5B8FD02}"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90811187" name="Slide Image Placeholder 1"/>
          <p:cNvSpPr>
            <a:spLocks noChangeAspect="1" noGrp="1" noRot="1"/>
          </p:cNvSpPr>
          <p:nvPr>
            <p:ph type="sldImg"/>
          </p:nvPr>
        </p:nvSpPr>
        <p:spPr bwMode="auto"/>
      </p:sp>
      <p:sp>
        <p:nvSpPr>
          <p:cNvPr id="1360067249" name="Notes Placeholder 2"/>
          <p:cNvSpPr>
            <a:spLocks noGrp="1"/>
          </p:cNvSpPr>
          <p:nvPr>
            <p:ph type="body" idx="1"/>
          </p:nvPr>
        </p:nvSpPr>
        <p:spPr bwMode="auto"/>
        <p:txBody>
          <a:bodyPr/>
          <a:lstStyle/>
          <a:p>
            <a:pPr>
              <a:defRPr/>
            </a:pPr>
            <a:r>
              <a:rPr sz="2400" b="1" i="0" u="none">
                <a:solidFill>
                  <a:srgbClr val="000000"/>
                </a:solidFill>
                <a:latin typeface="Times New Roman"/>
                <a:ea typeface="Times New Roman"/>
                <a:cs typeface="Times New Roman"/>
              </a:rPr>
              <a:t>🔬 Concrete Example with Numbers</a:t>
            </a:r>
            <a:endParaRPr/>
          </a:p>
          <a:p>
            <a:pPr>
              <a:defRPr/>
            </a:pPr>
            <a:r>
              <a:rPr sz="1200" b="0" i="0" u="none">
                <a:solidFill>
                  <a:srgbClr val="000000"/>
                </a:solidFill>
                <a:latin typeface="Times New Roman"/>
                <a:ea typeface="Times New Roman"/>
                <a:cs typeface="Times New Roman"/>
              </a:rPr>
              <a:t>Imagine:</a:t>
            </a:r>
            <a:endParaRPr/>
          </a:p>
          <a:p>
            <a:pPr>
              <a:defRPr/>
            </a:pPr>
            <a:r>
              <a:rPr sz="1200" b="0" i="0" u="none">
                <a:solidFill>
                  <a:srgbClr val="000000"/>
                </a:solidFill>
                <a:latin typeface="Times New Roman"/>
                <a:ea typeface="Times New Roman"/>
                <a:cs typeface="Times New Roman"/>
              </a:rPr>
              <a:t>Replication Factor = 3</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Consistency Level = QUORUM</a:t>
            </a:r>
            <a:endParaRPr/>
          </a:p>
          <a:p>
            <a:pPr>
              <a:defRPr/>
            </a:pPr>
            <a:r>
              <a:rPr sz="1200" b="0" i="0" u="none">
                <a:solidFill>
                  <a:srgbClr val="000000"/>
                </a:solidFill>
                <a:latin typeface="Times New Roman"/>
                <a:ea typeface="Times New Roman"/>
                <a:cs typeface="Times New Roman"/>
              </a:rPr>
              <a:t>To read/write, the system needs 2 out of 3 nodes.</a:t>
            </a:r>
            <a:endParaRPr/>
          </a:p>
          <a:p>
            <a:pPr>
              <a:defRPr/>
            </a:pPr>
            <a:r>
              <a:rPr sz="1200" b="0" i="0" u="none">
                <a:solidFill>
                  <a:srgbClr val="000000"/>
                </a:solidFill>
                <a:latin typeface="Times New Roman"/>
                <a:ea typeface="Times New Roman"/>
                <a:cs typeface="Times New Roman"/>
              </a:rPr>
              <a:t>If 1 node fails:</a:t>
            </a:r>
            <a:endParaRPr/>
          </a:p>
          <a:p>
            <a:pPr>
              <a:defRPr/>
            </a:pPr>
            <a:r>
              <a:rPr sz="1200" b="0" i="0" u="none">
                <a:solidFill>
                  <a:srgbClr val="000000"/>
                </a:solidFill>
                <a:latin typeface="Times New Roman"/>
                <a:ea typeface="Times New Roman"/>
                <a:cs typeface="Times New Roman"/>
              </a:rPr>
              <a:t>Remaining nodes = 2</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2 ≥ quorum</a:t>
            </a:r>
            <a:endParaRPr/>
          </a:p>
          <a:p>
            <a:pPr>
              <a:defRPr/>
            </a:pPr>
            <a:r>
              <a:rPr sz="1200" b="0" i="0" u="none">
                <a:solidFill>
                  <a:srgbClr val="000000"/>
                </a:solidFill>
                <a:latin typeface="Times New Roman"/>
                <a:ea typeface="Times New Roman"/>
                <a:cs typeface="Times New Roman"/>
              </a:rPr>
              <a:t>✔ System continues operating</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 No service interruption</a:t>
            </a:r>
            <a:endParaRPr/>
          </a:p>
          <a:p>
            <a:pPr>
              <a:defRPr/>
            </a:pPr>
            <a:r>
              <a:rPr sz="1200" b="0" i="0" u="none">
                <a:solidFill>
                  <a:srgbClr val="000000"/>
                </a:solidFill>
                <a:latin typeface="Times New Roman"/>
                <a:ea typeface="Times New Roman"/>
                <a:cs typeface="Times New Roman"/>
              </a:rPr>
              <a:t>If 2 nodes fail:</a:t>
            </a:r>
            <a:endParaRPr/>
          </a:p>
          <a:p>
            <a:pPr>
              <a:defRPr/>
            </a:pPr>
            <a:r>
              <a:rPr sz="1200" b="0" i="0" u="none">
                <a:solidFill>
                  <a:srgbClr val="000000"/>
                </a:solidFill>
                <a:latin typeface="Times New Roman"/>
                <a:ea typeface="Times New Roman"/>
                <a:cs typeface="Times New Roman"/>
              </a:rPr>
              <a:t>Remaining nodes = 1</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1 &lt; quorum</a:t>
            </a:r>
            <a:endParaRPr/>
          </a:p>
          <a:p>
            <a:pPr>
              <a:defRPr/>
            </a:pPr>
            <a:r>
              <a:rPr sz="1200" b="0" i="0" u="none">
                <a:solidFill>
                  <a:srgbClr val="000000"/>
                </a:solidFill>
                <a:latin typeface="Times New Roman"/>
                <a:ea typeface="Times New Roman"/>
                <a:cs typeface="Times New Roman"/>
              </a:rPr>
              <a:t>❌ Strong consistency cannot be guaranteed</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But eventual consistency may still serve reads</a:t>
            </a:r>
            <a:endParaRPr/>
          </a:p>
        </p:txBody>
      </p:sp>
      <p:sp>
        <p:nvSpPr>
          <p:cNvPr id="1885975292" name="Slide Number Placeholder 3"/>
          <p:cNvSpPr>
            <a:spLocks noGrp="1"/>
          </p:cNvSpPr>
          <p:nvPr>
            <p:ph type="sldNum" sz="quarter" idx="10"/>
          </p:nvPr>
        </p:nvSpPr>
        <p:spPr bwMode="auto"/>
        <p:txBody>
          <a:bodyPr/>
          <a:lstStyle/>
          <a:p>
            <a:pPr>
              <a:defRPr/>
            </a:pPr>
            <a:fld id="{EF921F91-93F9-4637-AD67-EF3430961542}"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3777110" name="Slide Image Placeholder 1"/>
          <p:cNvSpPr>
            <a:spLocks noChangeAspect="1" noGrp="1" noRot="1"/>
          </p:cNvSpPr>
          <p:nvPr>
            <p:ph type="sldImg"/>
          </p:nvPr>
        </p:nvSpPr>
        <p:spPr bwMode="auto"/>
      </p:sp>
      <p:sp>
        <p:nvSpPr>
          <p:cNvPr id="1235058375"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Remote Procedure Call (RPC) protocol is generally used </a:t>
            </a:r>
            <a:r>
              <a:rPr sz="1200" b="1" i="0" u="none">
                <a:solidFill>
                  <a:srgbClr val="000000"/>
                </a:solidFill>
                <a:latin typeface="Times New Roman"/>
                <a:ea typeface="Times New Roman"/>
                <a:cs typeface="Times New Roman"/>
              </a:rPr>
              <a:t>to communicate between processes on different workstations</a:t>
            </a:r>
            <a:endParaRPr/>
          </a:p>
          <a:p>
            <a:pPr>
              <a:defRPr/>
            </a:pPr>
            <a:endParaRPr/>
          </a:p>
          <a:p>
            <a:pPr>
              <a:defRPr/>
            </a:pPr>
            <a:r>
              <a:rPr sz="1200" b="0" i="0" u="none">
                <a:solidFill>
                  <a:srgbClr val="000000"/>
                </a:solidFill>
                <a:latin typeface="Times New Roman"/>
                <a:ea typeface="Times New Roman"/>
                <a:cs typeface="Times New Roman"/>
              </a:rPr>
              <a:t>An API, or application programming interface, is </a:t>
            </a:r>
            <a:r>
              <a:rPr sz="1200" b="1" i="0" u="none">
                <a:solidFill>
                  <a:srgbClr val="000000"/>
                </a:solidFill>
                <a:latin typeface="Times New Roman"/>
                <a:ea typeface="Times New Roman"/>
                <a:cs typeface="Times New Roman"/>
              </a:rPr>
              <a:t>a  set of rules or protocols that enables software applications to  communicate with each other to exchange data, features and functionality</a:t>
            </a:r>
            <a:r>
              <a:rPr sz="1200" b="0" i="0" u="none">
                <a:solidFill>
                  <a:srgbClr val="000000"/>
                </a:solidFill>
                <a:latin typeface="Times New Roman"/>
                <a:ea typeface="Times New Roman"/>
                <a:cs typeface="Times New Roman"/>
              </a:rPr>
              <a:t>.</a:t>
            </a:r>
            <a:endParaRPr/>
          </a:p>
        </p:txBody>
      </p:sp>
      <p:sp>
        <p:nvSpPr>
          <p:cNvPr id="725483180" name="Slide Number Placeholder 3"/>
          <p:cNvSpPr>
            <a:spLocks noGrp="1"/>
          </p:cNvSpPr>
          <p:nvPr>
            <p:ph type="sldNum" sz="quarter" idx="10"/>
          </p:nvPr>
        </p:nvSpPr>
        <p:spPr bwMode="auto"/>
        <p:txBody>
          <a:bodyPr/>
          <a:lstStyle/>
          <a:p>
            <a:pPr>
              <a:defRPr/>
            </a:pPr>
            <a:fld id="{05F9E1BB-B061-CBFE-9F2D-3A369BA28BBC}"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5181765" name="Slide Image Placeholder 1"/>
          <p:cNvSpPr>
            <a:spLocks noChangeAspect="1" noGrp="1" noRot="1"/>
          </p:cNvSpPr>
          <p:nvPr>
            <p:ph type="sldImg"/>
          </p:nvPr>
        </p:nvSpPr>
        <p:spPr bwMode="auto"/>
      </p:sp>
      <p:sp>
        <p:nvSpPr>
          <p:cNvPr id="1208160418"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Example of Coordination &amp; Agreement</a:t>
            </a: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Case: Leader Election in a Distributed Database (e.g., Raft in etcd / MongoDB / Kafka)</a:t>
            </a: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 Scenario</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You have a distributed system with 5 nodes:</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Node A</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Node B</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Node C</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Node D</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Node E</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One of them must act as the leader.</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The leader is responsible for:</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Accepting writes</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Coordinating updates</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Ensuring consistency</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 What Happens If the Leader Crashes?</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Suppose:</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Node A is the leader.</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Suddenly:</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Node A crashes.</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Now the system must:</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1️⃣ Detect the failure</a:t>
            </a: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2️⃣ Elect a new leader</a:t>
            </a: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3️⃣ Ensure everyone agrees who the new leader is</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This is coordination &amp; agreement.</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 How Agreement Happens (Raft Example)</a:t>
            </a: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Step 1 — Failure Detection</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Nodes notice:</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They stop receiving heartbeats from Node A.</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After a timeout:</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Each node becomes a candidate.</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Step 2 — Voting</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Each candidate asks others:</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“Vote for me as leader.”</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Each node can vote only once.</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Example:</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Node B gets votes from C and D.</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That is 3 out of 5.</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Majority = 3</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 Node B becomes new leader.</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Step 3 — Agreement Achieved</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All nodes now:</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Accept Node B as leader.</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Route writes through Node B.</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System continues normally.</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 Why This Is Agreement</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Agreement means:</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All non-faulty nodes agree on the same value.</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In this case:</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The value = “Node B is leader”</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If nodes disagree:</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Two leaders may exist</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Data inconsistency occurs</a:t>
            </a:r>
            <a:endParaRPr lang="en-US" sz="1200" b="0" i="0" u="none" strike="noStrike" cap="none" spc="0">
              <a:solidFill>
                <a:schemeClr val="tx1"/>
              </a:solidFill>
              <a:latin typeface="Arial"/>
              <a:cs typeface="Arial"/>
            </a:endParaRPr>
          </a:p>
          <a:p>
            <a:pPr>
              <a:defRPr/>
            </a:pPr>
            <a:endParaRPr lang="en-US" sz="1200" b="0" i="0" u="none" strike="noStrike" cap="none" spc="0">
              <a:solidFill>
                <a:schemeClr val="tx1"/>
              </a:solidFill>
              <a:latin typeface="Arial"/>
              <a:cs typeface="Arial"/>
            </a:endParaRPr>
          </a:p>
          <a:p>
            <a:pPr>
              <a:defRPr/>
            </a:pPr>
            <a:r>
              <a:rPr lang="en-US" sz="1200" b="0" i="0" u="none" strike="noStrike" cap="none" spc="0">
                <a:solidFill>
                  <a:schemeClr val="tx1"/>
                </a:solidFill>
                <a:latin typeface="Arial"/>
                <a:ea typeface="Arial"/>
                <a:cs typeface="Arial"/>
              </a:rPr>
              <a:t>System breaks</a:t>
            </a:r>
            <a:endParaRPr/>
          </a:p>
        </p:txBody>
      </p:sp>
      <p:sp>
        <p:nvSpPr>
          <p:cNvPr id="1033748563" name="Slide Number Placeholder 3"/>
          <p:cNvSpPr>
            <a:spLocks noGrp="1"/>
          </p:cNvSpPr>
          <p:nvPr>
            <p:ph type="sldNum" sz="quarter" idx="10"/>
          </p:nvPr>
        </p:nvSpPr>
        <p:spPr bwMode="auto"/>
        <p:txBody>
          <a:bodyPr/>
          <a:lstStyle/>
          <a:p>
            <a:pPr>
              <a:defRPr/>
            </a:pPr>
            <a:fld id="{44BA40B1-9359-5124-9E8D-6FA9A001E435}"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4138245" name="Slide Image Placeholder 1"/>
          <p:cNvSpPr>
            <a:spLocks noChangeAspect="1" noGrp="1" noRot="1"/>
          </p:cNvSpPr>
          <p:nvPr>
            <p:ph type="sldImg"/>
          </p:nvPr>
        </p:nvSpPr>
        <p:spPr bwMode="auto"/>
      </p:sp>
      <p:sp>
        <p:nvSpPr>
          <p:cNvPr id="1042105934" name="Notes Placeholder 2"/>
          <p:cNvSpPr>
            <a:spLocks noGrp="1"/>
          </p:cNvSpPr>
          <p:nvPr>
            <p:ph type="body" idx="1"/>
          </p:nvPr>
        </p:nvSpPr>
        <p:spPr bwMode="auto"/>
        <p:txBody>
          <a:bodyPr/>
          <a:lstStyle/>
          <a:p>
            <a:pPr>
              <a:defRPr/>
            </a:pPr>
            <a:endParaRPr/>
          </a:p>
        </p:txBody>
      </p:sp>
      <p:sp>
        <p:nvSpPr>
          <p:cNvPr id="1243838486" name="Slide Number Placeholder 3"/>
          <p:cNvSpPr>
            <a:spLocks noGrp="1"/>
          </p:cNvSpPr>
          <p:nvPr>
            <p:ph type="sldNum" sz="quarter" idx="10"/>
          </p:nvPr>
        </p:nvSpPr>
        <p:spPr bwMode="auto"/>
        <p:txBody>
          <a:bodyPr/>
          <a:lstStyle/>
          <a:p>
            <a:pPr>
              <a:defRPr/>
            </a:pPr>
            <a:fld id="{D5C56E42-6351-2A17-0BA1-01D2E64C38E2}"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4204484" name="Slide Image Placeholder 1"/>
          <p:cNvSpPr>
            <a:spLocks noChangeAspect="1" noGrp="1" noRot="1"/>
          </p:cNvSpPr>
          <p:nvPr>
            <p:ph type="sldImg"/>
          </p:nvPr>
        </p:nvSpPr>
        <p:spPr bwMode="auto"/>
      </p:sp>
      <p:sp>
        <p:nvSpPr>
          <p:cNvPr id="369354905" name="Notes Placeholder 2"/>
          <p:cNvSpPr>
            <a:spLocks noGrp="1"/>
          </p:cNvSpPr>
          <p:nvPr>
            <p:ph type="body" idx="1"/>
          </p:nvPr>
        </p:nvSpPr>
        <p:spPr bwMode="auto"/>
        <p:txBody>
          <a:bodyPr/>
          <a:lstStyle/>
          <a:p>
            <a:pPr>
              <a:defRPr/>
            </a:pPr>
            <a:endParaRPr/>
          </a:p>
        </p:txBody>
      </p:sp>
      <p:sp>
        <p:nvSpPr>
          <p:cNvPr id="981176430" name="Slide Number Placeholder 3"/>
          <p:cNvSpPr>
            <a:spLocks noGrp="1"/>
          </p:cNvSpPr>
          <p:nvPr>
            <p:ph type="sldNum" sz="quarter" idx="10"/>
          </p:nvPr>
        </p:nvSpPr>
        <p:spPr bwMode="auto"/>
        <p:txBody>
          <a:bodyPr/>
          <a:lstStyle/>
          <a:p>
            <a:pPr>
              <a:defRPr/>
            </a:pPr>
            <a:fld id="{A1F9D291-24CE-EBFB-1A7D-14AB00D23EDD}"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5863736" name="Slide Image Placeholder 1"/>
          <p:cNvSpPr>
            <a:spLocks noChangeAspect="1" noGrp="1" noRot="1"/>
          </p:cNvSpPr>
          <p:nvPr>
            <p:ph type="sldImg"/>
          </p:nvPr>
        </p:nvSpPr>
        <p:spPr bwMode="auto"/>
      </p:sp>
      <p:sp>
        <p:nvSpPr>
          <p:cNvPr id="858180254" name="Notes Placeholder 2"/>
          <p:cNvSpPr>
            <a:spLocks noGrp="1"/>
          </p:cNvSpPr>
          <p:nvPr>
            <p:ph type="body" idx="1"/>
          </p:nvPr>
        </p:nvSpPr>
        <p:spPr bwMode="auto"/>
        <p:txBody>
          <a:bodyPr/>
          <a:lstStyle/>
          <a:p>
            <a:pPr>
              <a:defRPr/>
            </a:pPr>
            <a:endParaRPr/>
          </a:p>
        </p:txBody>
      </p:sp>
      <p:sp>
        <p:nvSpPr>
          <p:cNvPr id="1995358879" name="Slide Number Placeholder 3"/>
          <p:cNvSpPr>
            <a:spLocks noGrp="1"/>
          </p:cNvSpPr>
          <p:nvPr>
            <p:ph type="sldNum" sz="quarter" idx="10"/>
          </p:nvPr>
        </p:nvSpPr>
        <p:spPr bwMode="auto"/>
        <p:txBody>
          <a:bodyPr/>
          <a:lstStyle/>
          <a:p>
            <a:pPr>
              <a:defRPr/>
            </a:pPr>
            <a:fld id="{9188C844-549F-7359-D5BF-7B81A69BB1CD}"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884061" name="Slide Image Placeholder 1"/>
          <p:cNvSpPr>
            <a:spLocks noChangeAspect="1" noGrp="1" noRot="1"/>
          </p:cNvSpPr>
          <p:nvPr>
            <p:ph type="sldImg"/>
          </p:nvPr>
        </p:nvSpPr>
        <p:spPr bwMode="auto"/>
      </p:sp>
      <p:sp>
        <p:nvSpPr>
          <p:cNvPr id="1057117199" name="Notes Placeholder 2"/>
          <p:cNvSpPr>
            <a:spLocks noGrp="1"/>
          </p:cNvSpPr>
          <p:nvPr>
            <p:ph type="body" idx="1"/>
          </p:nvPr>
        </p:nvSpPr>
        <p:spPr bwMode="auto"/>
        <p:txBody>
          <a:bodyPr/>
          <a:lstStyle/>
          <a:p>
            <a:pPr>
              <a:defRPr/>
            </a:pPr>
            <a:endParaRPr/>
          </a:p>
        </p:txBody>
      </p:sp>
      <p:sp>
        <p:nvSpPr>
          <p:cNvPr id="2051835467" name="Slide Number Placeholder 3"/>
          <p:cNvSpPr>
            <a:spLocks noGrp="1"/>
          </p:cNvSpPr>
          <p:nvPr>
            <p:ph type="sldNum" sz="quarter" idx="10"/>
          </p:nvPr>
        </p:nvSpPr>
        <p:spPr bwMode="auto"/>
        <p:txBody>
          <a:bodyPr/>
          <a:lstStyle/>
          <a:p>
            <a:pPr>
              <a:defRPr/>
            </a:pPr>
            <a:fld id="{0C18E6B1-BF87-D4FA-966A-32F255D2BFFC}"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5804649" name="Slide Image Placeholder 1"/>
          <p:cNvSpPr>
            <a:spLocks noChangeAspect="1" noGrp="1" noRot="1"/>
          </p:cNvSpPr>
          <p:nvPr>
            <p:ph type="sldImg"/>
          </p:nvPr>
        </p:nvSpPr>
        <p:spPr bwMode="auto"/>
      </p:sp>
      <p:sp>
        <p:nvSpPr>
          <p:cNvPr id="1176390991" name="Notes Placeholder 2"/>
          <p:cNvSpPr>
            <a:spLocks noGrp="1"/>
          </p:cNvSpPr>
          <p:nvPr>
            <p:ph type="body" idx="1"/>
          </p:nvPr>
        </p:nvSpPr>
        <p:spPr bwMode="auto"/>
        <p:txBody>
          <a:bodyPr/>
          <a:lstStyle/>
          <a:p>
            <a:pPr>
              <a:defRPr/>
            </a:pPr>
            <a:endParaRPr/>
          </a:p>
        </p:txBody>
      </p:sp>
      <p:sp>
        <p:nvSpPr>
          <p:cNvPr id="2040467619" name="Slide Number Placeholder 3"/>
          <p:cNvSpPr>
            <a:spLocks noGrp="1"/>
          </p:cNvSpPr>
          <p:nvPr>
            <p:ph type="sldNum" sz="quarter" idx="10"/>
          </p:nvPr>
        </p:nvSpPr>
        <p:spPr bwMode="auto"/>
        <p:txBody>
          <a:bodyPr/>
          <a:lstStyle/>
          <a:p>
            <a:pPr>
              <a:defRPr/>
            </a:pPr>
            <a:fld id="{BB19FB38-BB6B-3ABB-80A2-30CAAD64491E}"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8854507" name="Slide Image Placeholder 1"/>
          <p:cNvSpPr>
            <a:spLocks noChangeAspect="1" noGrp="1" noRot="1"/>
          </p:cNvSpPr>
          <p:nvPr>
            <p:ph type="sldImg"/>
          </p:nvPr>
        </p:nvSpPr>
        <p:spPr bwMode="auto"/>
      </p:sp>
      <p:sp>
        <p:nvSpPr>
          <p:cNvPr id="1061649572"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 commodity is </a:t>
            </a:r>
            <a:r>
              <a:rPr sz="1200" b="1" i="0" u="none">
                <a:solidFill>
                  <a:srgbClr val="000000"/>
                </a:solidFill>
                <a:latin typeface="Times New Roman"/>
                <a:ea typeface="Times New Roman"/>
                <a:cs typeface="Times New Roman"/>
              </a:rPr>
              <a:t>any useful or valuable thing, especially something that is bought and sold</a:t>
            </a:r>
            <a:r>
              <a:rPr sz="1200" b="0" i="0" u="none">
                <a:solidFill>
                  <a:srgbClr val="000000"/>
                </a:solidFill>
                <a:latin typeface="Times New Roman"/>
                <a:ea typeface="Times New Roman"/>
                <a:cs typeface="Times New Roman"/>
              </a:rPr>
              <a:t>.</a:t>
            </a:r>
            <a:endParaRPr/>
          </a:p>
        </p:txBody>
      </p:sp>
      <p:sp>
        <p:nvSpPr>
          <p:cNvPr id="272153980" name="Slide Number Placeholder 3"/>
          <p:cNvSpPr>
            <a:spLocks noGrp="1"/>
          </p:cNvSpPr>
          <p:nvPr>
            <p:ph type="sldNum" sz="quarter" idx="10"/>
          </p:nvPr>
        </p:nvSpPr>
        <p:spPr bwMode="auto"/>
        <p:txBody>
          <a:bodyPr/>
          <a:lstStyle/>
          <a:p>
            <a:pPr>
              <a:defRPr/>
            </a:pPr>
            <a:fld id="{EBA1BE08-B7A4-4A7F-7B75-65D20E5E448D}"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5498391" name="Slide Image Placeholder 1"/>
          <p:cNvSpPr>
            <a:spLocks noChangeAspect="1" noGrp="1" noRot="1"/>
          </p:cNvSpPr>
          <p:nvPr>
            <p:ph type="sldImg"/>
          </p:nvPr>
        </p:nvSpPr>
        <p:spPr bwMode="auto"/>
      </p:sp>
      <p:sp>
        <p:nvSpPr>
          <p:cNvPr id="792367976" name="Notes Placeholder 2"/>
          <p:cNvSpPr>
            <a:spLocks noGrp="1"/>
          </p:cNvSpPr>
          <p:nvPr>
            <p:ph type="body" idx="1"/>
          </p:nvPr>
        </p:nvSpPr>
        <p:spPr bwMode="auto"/>
        <p:txBody>
          <a:bodyPr/>
          <a:lstStyle/>
          <a:p>
            <a:pPr>
              <a:defRPr/>
            </a:pPr>
            <a:endParaRPr/>
          </a:p>
        </p:txBody>
      </p:sp>
      <p:sp>
        <p:nvSpPr>
          <p:cNvPr id="1803130841" name="Slide Number Placeholder 3"/>
          <p:cNvSpPr>
            <a:spLocks noGrp="1"/>
          </p:cNvSpPr>
          <p:nvPr>
            <p:ph type="sldNum" sz="quarter" idx="10"/>
          </p:nvPr>
        </p:nvSpPr>
        <p:spPr bwMode="auto"/>
        <p:txBody>
          <a:bodyPr/>
          <a:lstStyle/>
          <a:p>
            <a:pPr>
              <a:defRPr/>
            </a:pPr>
            <a:fld id="{B066DDEE-53D6-79D6-1665-8CA51E4D38D7}"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02030896" name="Slide Image Placeholder 1"/>
          <p:cNvSpPr>
            <a:spLocks noChangeAspect="1" noGrp="1" noRot="1"/>
          </p:cNvSpPr>
          <p:nvPr>
            <p:ph type="sldImg"/>
          </p:nvPr>
        </p:nvSpPr>
        <p:spPr bwMode="auto"/>
      </p:sp>
      <p:sp>
        <p:nvSpPr>
          <p:cNvPr id="1371077166" name="Notes Placeholder 2"/>
          <p:cNvSpPr>
            <a:spLocks noGrp="1"/>
          </p:cNvSpPr>
          <p:nvPr>
            <p:ph type="body" idx="1"/>
          </p:nvPr>
        </p:nvSpPr>
        <p:spPr bwMode="auto"/>
        <p:txBody>
          <a:bodyPr/>
          <a:lstStyle/>
          <a:p>
            <a:pPr>
              <a:defRPr/>
            </a:pPr>
            <a:endParaRPr/>
          </a:p>
        </p:txBody>
      </p:sp>
      <p:sp>
        <p:nvSpPr>
          <p:cNvPr id="365553886" name="Slide Number Placeholder 3"/>
          <p:cNvSpPr>
            <a:spLocks noGrp="1"/>
          </p:cNvSpPr>
          <p:nvPr>
            <p:ph type="sldNum" sz="quarter" idx="10"/>
          </p:nvPr>
        </p:nvSpPr>
        <p:spPr bwMode="auto"/>
        <p:txBody>
          <a:bodyPr/>
          <a:lstStyle/>
          <a:p>
            <a:pPr>
              <a:defRPr/>
            </a:pPr>
            <a:fld id="{EA8B4A0B-3002-F8A3-51DD-626D4BF5ADE0}"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8797274" name="Slide Image Placeholder 1"/>
          <p:cNvSpPr>
            <a:spLocks noChangeAspect="1" noGrp="1" noRot="1"/>
          </p:cNvSpPr>
          <p:nvPr>
            <p:ph type="sldImg"/>
          </p:nvPr>
        </p:nvSpPr>
        <p:spPr bwMode="auto"/>
      </p:sp>
      <p:sp>
        <p:nvSpPr>
          <p:cNvPr id="328430051" name="Notes Placeholder 2"/>
          <p:cNvSpPr>
            <a:spLocks noGrp="1"/>
          </p:cNvSpPr>
          <p:nvPr>
            <p:ph type="body" idx="1"/>
          </p:nvPr>
        </p:nvSpPr>
        <p:spPr bwMode="auto"/>
        <p:txBody>
          <a:bodyPr/>
          <a:lstStyle/>
          <a:p>
            <a:pPr>
              <a:defRPr/>
            </a:pPr>
            <a:endParaRPr/>
          </a:p>
        </p:txBody>
      </p:sp>
      <p:sp>
        <p:nvSpPr>
          <p:cNvPr id="1578456698" name="Slide Number Placeholder 3"/>
          <p:cNvSpPr>
            <a:spLocks noGrp="1"/>
          </p:cNvSpPr>
          <p:nvPr>
            <p:ph type="sldNum" sz="quarter" idx="10"/>
          </p:nvPr>
        </p:nvSpPr>
        <p:spPr bwMode="auto"/>
        <p:txBody>
          <a:bodyPr/>
          <a:lstStyle/>
          <a:p>
            <a:pPr>
              <a:defRPr/>
            </a:pPr>
            <a:fld id="{5D823A1D-E2F5-BB30-F5D7-CAE650E14CC8}"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111900" name="Slide Image Placeholder 1"/>
          <p:cNvSpPr>
            <a:spLocks noChangeAspect="1" noGrp="1" noRot="1"/>
          </p:cNvSpPr>
          <p:nvPr>
            <p:ph type="sldImg"/>
          </p:nvPr>
        </p:nvSpPr>
        <p:spPr bwMode="auto"/>
      </p:sp>
      <p:sp>
        <p:nvSpPr>
          <p:cNvPr id="1962236038"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ACID in databases stands for </a:t>
            </a:r>
            <a:r>
              <a:rPr sz="1200" b="0" i="0" u="none">
                <a:solidFill>
                  <a:srgbClr val="000000"/>
                </a:solidFill>
                <a:latin typeface="Times New Roman"/>
                <a:ea typeface="Times New Roman"/>
                <a:cs typeface="Times New Roman"/>
              </a:rPr>
              <a:t>Atomicity, Consistency, Isolation, and Durability</a:t>
            </a:r>
            <a:r>
              <a:rPr sz="1200" b="0" i="0" u="none">
                <a:solidFill>
                  <a:srgbClr val="000000"/>
                </a:solidFill>
                <a:latin typeface="Times New Roman"/>
                <a:ea typeface="Times New Roman"/>
                <a:cs typeface="Times New Roman"/>
              </a:rPr>
              <a:t>,  a set of properties ensuring database transactions are processed  reliably, securely, and accurately, even during failures or errors. It  guarantees that data remains valid and consistent, making it essential  for financial and critical systems.</a:t>
            </a:r>
            <a:endParaRPr/>
          </a:p>
        </p:txBody>
      </p:sp>
      <p:sp>
        <p:nvSpPr>
          <p:cNvPr id="446494161" name="Slide Number Placeholder 3"/>
          <p:cNvSpPr>
            <a:spLocks noGrp="1"/>
          </p:cNvSpPr>
          <p:nvPr>
            <p:ph type="sldNum" sz="quarter" idx="10"/>
          </p:nvPr>
        </p:nvSpPr>
        <p:spPr bwMode="auto"/>
        <p:txBody>
          <a:bodyPr/>
          <a:lstStyle/>
          <a:p>
            <a:pPr>
              <a:defRPr/>
            </a:pPr>
            <a:fld id="{72C67678-A26F-7B53-7530-40F6907B8621}"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2844958" name="Slide Image Placeholder 1"/>
          <p:cNvSpPr>
            <a:spLocks noChangeAspect="1" noGrp="1" noRot="1"/>
          </p:cNvSpPr>
          <p:nvPr>
            <p:ph type="sldImg"/>
          </p:nvPr>
        </p:nvSpPr>
        <p:spPr bwMode="auto"/>
      </p:sp>
      <p:sp>
        <p:nvSpPr>
          <p:cNvPr id="33600281" name="Notes Placeholder 2"/>
          <p:cNvSpPr>
            <a:spLocks noGrp="1"/>
          </p:cNvSpPr>
          <p:nvPr>
            <p:ph type="body" idx="1"/>
          </p:nvPr>
        </p:nvSpPr>
        <p:spPr bwMode="auto"/>
        <p:txBody>
          <a:bodyPr/>
          <a:lstStyle/>
          <a:p>
            <a:pPr>
              <a:defRPr/>
            </a:pPr>
            <a:endParaRPr/>
          </a:p>
        </p:txBody>
      </p:sp>
      <p:sp>
        <p:nvSpPr>
          <p:cNvPr id="964542144" name="Slide Number Placeholder 3"/>
          <p:cNvSpPr>
            <a:spLocks noGrp="1"/>
          </p:cNvSpPr>
          <p:nvPr>
            <p:ph type="sldNum" sz="quarter" idx="10"/>
          </p:nvPr>
        </p:nvSpPr>
        <p:spPr bwMode="auto"/>
        <p:txBody>
          <a:bodyPr/>
          <a:lstStyle/>
          <a:p>
            <a:pPr>
              <a:defRPr/>
            </a:pPr>
            <a:fld id="{6EC9F774-EF03-9C43-9955-7703CE993664}"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58398221" name="Slide Image Placeholder 1"/>
          <p:cNvSpPr>
            <a:spLocks noChangeAspect="1" noGrp="1" noRot="1"/>
          </p:cNvSpPr>
          <p:nvPr>
            <p:ph type="sldImg"/>
          </p:nvPr>
        </p:nvSpPr>
        <p:spPr bwMode="auto"/>
      </p:sp>
      <p:sp>
        <p:nvSpPr>
          <p:cNvPr id="31325777" name="Notes Placeholder 2"/>
          <p:cNvSpPr>
            <a:spLocks noGrp="1"/>
          </p:cNvSpPr>
          <p:nvPr>
            <p:ph type="body" idx="1"/>
          </p:nvPr>
        </p:nvSpPr>
        <p:spPr bwMode="auto"/>
        <p:txBody>
          <a:bodyPr/>
          <a:lstStyle/>
          <a:p>
            <a:pPr>
              <a:defRPr/>
            </a:pPr>
            <a:endParaRPr/>
          </a:p>
        </p:txBody>
      </p:sp>
      <p:sp>
        <p:nvSpPr>
          <p:cNvPr id="1742585273" name="Slide Number Placeholder 3"/>
          <p:cNvSpPr>
            <a:spLocks noGrp="1"/>
          </p:cNvSpPr>
          <p:nvPr>
            <p:ph type="sldNum" sz="quarter" idx="10"/>
          </p:nvPr>
        </p:nvSpPr>
        <p:spPr bwMode="auto"/>
        <p:txBody>
          <a:bodyPr/>
          <a:lstStyle/>
          <a:p>
            <a:pPr>
              <a:defRPr/>
            </a:pPr>
            <a:fld id="{8E2EE826-5525-D643-2CBD-8F7EBFB053A7}"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67905517" name="Slide Image Placeholder 1"/>
          <p:cNvSpPr>
            <a:spLocks noChangeAspect="1" noGrp="1" noRot="1"/>
          </p:cNvSpPr>
          <p:nvPr>
            <p:ph type="sldImg"/>
          </p:nvPr>
        </p:nvSpPr>
        <p:spPr bwMode="auto"/>
      </p:sp>
      <p:sp>
        <p:nvSpPr>
          <p:cNvPr id="964388785" name="Notes Placeholder 2"/>
          <p:cNvSpPr>
            <a:spLocks noGrp="1"/>
          </p:cNvSpPr>
          <p:nvPr>
            <p:ph type="body" idx="1"/>
          </p:nvPr>
        </p:nvSpPr>
        <p:spPr bwMode="auto"/>
        <p:txBody>
          <a:bodyPr/>
          <a:lstStyle/>
          <a:p>
            <a:pPr>
              <a:defRPr/>
            </a:pPr>
            <a:endParaRPr/>
          </a:p>
        </p:txBody>
      </p:sp>
      <p:sp>
        <p:nvSpPr>
          <p:cNvPr id="506724012" name="Slide Number Placeholder 3"/>
          <p:cNvSpPr>
            <a:spLocks noGrp="1"/>
          </p:cNvSpPr>
          <p:nvPr>
            <p:ph type="sldNum" sz="quarter" idx="10"/>
          </p:nvPr>
        </p:nvSpPr>
        <p:spPr bwMode="auto"/>
        <p:txBody>
          <a:bodyPr/>
          <a:lstStyle/>
          <a:p>
            <a:pPr>
              <a:defRPr/>
            </a:pPr>
            <a:fld id="{5ADC4A41-2EA3-D73F-5224-BCD8539C7409}"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2796296" name="Slide Image Placeholder 1"/>
          <p:cNvSpPr>
            <a:spLocks noChangeAspect="1" noGrp="1" noRot="1"/>
          </p:cNvSpPr>
          <p:nvPr>
            <p:ph type="sldImg"/>
          </p:nvPr>
        </p:nvSpPr>
        <p:spPr bwMode="auto"/>
      </p:sp>
      <p:sp>
        <p:nvSpPr>
          <p:cNvPr id="1680134563" name="Notes Placeholder 2"/>
          <p:cNvSpPr>
            <a:spLocks noGrp="1"/>
          </p:cNvSpPr>
          <p:nvPr>
            <p:ph type="body" idx="1"/>
          </p:nvPr>
        </p:nvSpPr>
        <p:spPr bwMode="auto"/>
        <p:txBody>
          <a:bodyPr/>
          <a:lstStyle/>
          <a:p>
            <a:pPr>
              <a:defRPr/>
            </a:pPr>
            <a:endParaRPr/>
          </a:p>
        </p:txBody>
      </p:sp>
      <p:sp>
        <p:nvSpPr>
          <p:cNvPr id="1655088019" name="Slide Number Placeholder 3"/>
          <p:cNvSpPr>
            <a:spLocks noGrp="1"/>
          </p:cNvSpPr>
          <p:nvPr>
            <p:ph type="sldNum" sz="quarter" idx="10"/>
          </p:nvPr>
        </p:nvSpPr>
        <p:spPr bwMode="auto"/>
        <p:txBody>
          <a:bodyPr/>
          <a:lstStyle/>
          <a:p>
            <a:pPr>
              <a:defRPr/>
            </a:pPr>
            <a:fld id="{214DA4A0-D436-6582-DACF-01463E431B97}"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3676641" name="Slide Image Placeholder 1"/>
          <p:cNvSpPr>
            <a:spLocks noChangeAspect="1" noGrp="1" noRot="1"/>
          </p:cNvSpPr>
          <p:nvPr>
            <p:ph type="sldImg"/>
          </p:nvPr>
        </p:nvSpPr>
        <p:spPr bwMode="auto"/>
      </p:sp>
      <p:sp>
        <p:nvSpPr>
          <p:cNvPr id="303780310" name="Notes Placeholder 2"/>
          <p:cNvSpPr>
            <a:spLocks noGrp="1"/>
          </p:cNvSpPr>
          <p:nvPr>
            <p:ph type="body" idx="1"/>
          </p:nvPr>
        </p:nvSpPr>
        <p:spPr bwMode="auto"/>
        <p:txBody>
          <a:bodyPr/>
          <a:lstStyle/>
          <a:p>
            <a:pPr>
              <a:defRPr/>
            </a:pPr>
            <a:endParaRPr/>
          </a:p>
        </p:txBody>
      </p:sp>
      <p:sp>
        <p:nvSpPr>
          <p:cNvPr id="350963947" name="Slide Number Placeholder 3"/>
          <p:cNvSpPr>
            <a:spLocks noGrp="1"/>
          </p:cNvSpPr>
          <p:nvPr>
            <p:ph type="sldNum" sz="quarter" idx="10"/>
          </p:nvPr>
        </p:nvSpPr>
        <p:spPr bwMode="auto"/>
        <p:txBody>
          <a:bodyPr/>
          <a:lstStyle/>
          <a:p>
            <a:pPr>
              <a:defRPr/>
            </a:pPr>
            <a:fld id="{AA9D4FA4-7EDD-4A18-CF5B-07984E09DAC3}"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0151579" name="Slide Image Placeholder 1"/>
          <p:cNvSpPr>
            <a:spLocks noChangeAspect="1" noGrp="1" noRot="1"/>
          </p:cNvSpPr>
          <p:nvPr>
            <p:ph type="sldImg"/>
          </p:nvPr>
        </p:nvSpPr>
        <p:spPr bwMode="auto"/>
      </p:sp>
      <p:sp>
        <p:nvSpPr>
          <p:cNvPr id="779445242" name="Notes Placeholder 2"/>
          <p:cNvSpPr>
            <a:spLocks noGrp="1"/>
          </p:cNvSpPr>
          <p:nvPr>
            <p:ph type="body" idx="1"/>
          </p:nvPr>
        </p:nvSpPr>
        <p:spPr bwMode="auto"/>
        <p:txBody>
          <a:bodyPr/>
          <a:lstStyle/>
          <a:p>
            <a:pPr>
              <a:defRPr/>
            </a:pPr>
            <a:endParaRPr/>
          </a:p>
        </p:txBody>
      </p:sp>
      <p:sp>
        <p:nvSpPr>
          <p:cNvPr id="998858780" name="Slide Number Placeholder 3"/>
          <p:cNvSpPr>
            <a:spLocks noGrp="1"/>
          </p:cNvSpPr>
          <p:nvPr>
            <p:ph type="sldNum" sz="quarter" idx="10"/>
          </p:nvPr>
        </p:nvSpPr>
        <p:spPr bwMode="auto"/>
        <p:txBody>
          <a:bodyPr/>
          <a:lstStyle/>
          <a:p>
            <a:pPr>
              <a:defRPr/>
            </a:pPr>
            <a:fld id="{D635CB79-473C-3595-1FE0-B97ED5A976B4}"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43724586" name="Slide Image Placeholder 1"/>
          <p:cNvSpPr>
            <a:spLocks noChangeAspect="1" noGrp="1" noRot="1"/>
          </p:cNvSpPr>
          <p:nvPr>
            <p:ph type="sldImg"/>
          </p:nvPr>
        </p:nvSpPr>
        <p:spPr bwMode="auto"/>
      </p:sp>
      <p:sp>
        <p:nvSpPr>
          <p:cNvPr id="2022035743" name="Notes Placeholder 2"/>
          <p:cNvSpPr>
            <a:spLocks noGrp="1"/>
          </p:cNvSpPr>
          <p:nvPr>
            <p:ph type="body" idx="1"/>
          </p:nvPr>
        </p:nvSpPr>
        <p:spPr bwMode="auto"/>
        <p:txBody>
          <a:bodyPr/>
          <a:lstStyle/>
          <a:p>
            <a:pPr>
              <a:defRPr/>
            </a:pPr>
            <a:endParaRPr/>
          </a:p>
        </p:txBody>
      </p:sp>
      <p:sp>
        <p:nvSpPr>
          <p:cNvPr id="2011419290" name="Slide Number Placeholder 3"/>
          <p:cNvSpPr>
            <a:spLocks noGrp="1"/>
          </p:cNvSpPr>
          <p:nvPr>
            <p:ph type="sldNum" sz="quarter" idx="10"/>
          </p:nvPr>
        </p:nvSpPr>
        <p:spPr bwMode="auto"/>
        <p:txBody>
          <a:bodyPr/>
          <a:lstStyle/>
          <a:p>
            <a:pPr>
              <a:defRPr/>
            </a:pPr>
            <a:fld id="{35059BDE-F601-5241-4CD1-AF8763C8423C}"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1571531" name="Slide Image Placeholder 1"/>
          <p:cNvSpPr>
            <a:spLocks noChangeAspect="1" noGrp="1" noRot="1"/>
          </p:cNvSpPr>
          <p:nvPr>
            <p:ph type="sldImg"/>
          </p:nvPr>
        </p:nvSpPr>
        <p:spPr bwMode="auto"/>
      </p:sp>
      <p:sp>
        <p:nvSpPr>
          <p:cNvPr id="1803902201" name="Notes Placeholder 2"/>
          <p:cNvSpPr>
            <a:spLocks noGrp="1"/>
          </p:cNvSpPr>
          <p:nvPr>
            <p:ph type="body" idx="1"/>
          </p:nvPr>
        </p:nvSpPr>
        <p:spPr bwMode="auto"/>
        <p:txBody>
          <a:bodyPr/>
          <a:lstStyle/>
          <a:p>
            <a:pPr>
              <a:defRPr/>
            </a:pPr>
            <a:endParaRPr/>
          </a:p>
        </p:txBody>
      </p:sp>
      <p:sp>
        <p:nvSpPr>
          <p:cNvPr id="921512759" name="Slide Number Placeholder 3"/>
          <p:cNvSpPr>
            <a:spLocks noGrp="1"/>
          </p:cNvSpPr>
          <p:nvPr>
            <p:ph type="sldNum" sz="quarter" idx="10"/>
          </p:nvPr>
        </p:nvSpPr>
        <p:spPr bwMode="auto"/>
        <p:txBody>
          <a:bodyPr/>
          <a:lstStyle/>
          <a:p>
            <a:pPr>
              <a:defRPr/>
            </a:pPr>
            <a:fld id="{F1056355-725D-D177-853F-34E4A55232E1}"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1152185" name="Slide Image Placeholder 1"/>
          <p:cNvSpPr>
            <a:spLocks noChangeAspect="1" noGrp="1" noRot="1"/>
          </p:cNvSpPr>
          <p:nvPr>
            <p:ph type="sldImg"/>
          </p:nvPr>
        </p:nvSpPr>
        <p:spPr bwMode="auto"/>
      </p:sp>
      <p:sp>
        <p:nvSpPr>
          <p:cNvPr id="1651223960" name="Notes Placeholder 2"/>
          <p:cNvSpPr>
            <a:spLocks noGrp="1"/>
          </p:cNvSpPr>
          <p:nvPr>
            <p:ph type="body" idx="1"/>
          </p:nvPr>
        </p:nvSpPr>
        <p:spPr bwMode="auto"/>
        <p:txBody>
          <a:bodyPr/>
          <a:lstStyle/>
          <a:p>
            <a:pPr>
              <a:defRPr/>
            </a:pPr>
            <a:endParaRPr/>
          </a:p>
        </p:txBody>
      </p:sp>
      <p:sp>
        <p:nvSpPr>
          <p:cNvPr id="1691802604" name="Slide Number Placeholder 3"/>
          <p:cNvSpPr>
            <a:spLocks noGrp="1"/>
          </p:cNvSpPr>
          <p:nvPr>
            <p:ph type="sldNum" sz="quarter" idx="10"/>
          </p:nvPr>
        </p:nvSpPr>
        <p:spPr bwMode="auto"/>
        <p:txBody>
          <a:bodyPr/>
          <a:lstStyle/>
          <a:p>
            <a:pPr>
              <a:defRPr/>
            </a:pPr>
            <a:fld id="{29C86C5B-24E4-060C-FB69-19D4E9069963}"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7792473" name="Slide Image Placeholder 1"/>
          <p:cNvSpPr>
            <a:spLocks noChangeAspect="1" noGrp="1" noRot="1"/>
          </p:cNvSpPr>
          <p:nvPr>
            <p:ph type="sldImg"/>
          </p:nvPr>
        </p:nvSpPr>
        <p:spPr bwMode="auto"/>
      </p:sp>
      <p:sp>
        <p:nvSpPr>
          <p:cNvPr id="1150698603" name="Notes Placeholder 2"/>
          <p:cNvSpPr>
            <a:spLocks noGrp="1"/>
          </p:cNvSpPr>
          <p:nvPr>
            <p:ph type="body" idx="1"/>
          </p:nvPr>
        </p:nvSpPr>
        <p:spPr bwMode="auto"/>
        <p:txBody>
          <a:bodyPr/>
          <a:lstStyle/>
          <a:p>
            <a:pPr>
              <a:defRPr/>
            </a:pPr>
            <a:endParaRPr/>
          </a:p>
        </p:txBody>
      </p:sp>
      <p:sp>
        <p:nvSpPr>
          <p:cNvPr id="1131582888" name="Slide Number Placeholder 3"/>
          <p:cNvSpPr>
            <a:spLocks noGrp="1"/>
          </p:cNvSpPr>
          <p:nvPr>
            <p:ph type="sldNum" sz="quarter" idx="10"/>
          </p:nvPr>
        </p:nvSpPr>
        <p:spPr bwMode="auto"/>
        <p:txBody>
          <a:bodyPr/>
          <a:lstStyle/>
          <a:p>
            <a:pPr>
              <a:defRPr/>
            </a:pPr>
            <a:fld id="{CEF6B485-6EDD-58C9-C499-35D0A673BE3E}"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3696318" name="Slide Image Placeholder 1"/>
          <p:cNvSpPr>
            <a:spLocks noChangeAspect="1" noGrp="1" noRot="1"/>
          </p:cNvSpPr>
          <p:nvPr>
            <p:ph type="sldImg"/>
          </p:nvPr>
        </p:nvSpPr>
        <p:spPr bwMode="auto"/>
      </p:sp>
      <p:sp>
        <p:nvSpPr>
          <p:cNvPr id="1148919356" name="Notes Placeholder 2"/>
          <p:cNvSpPr>
            <a:spLocks noGrp="1"/>
          </p:cNvSpPr>
          <p:nvPr>
            <p:ph type="body" idx="1"/>
          </p:nvPr>
        </p:nvSpPr>
        <p:spPr bwMode="auto"/>
        <p:txBody>
          <a:bodyPr/>
          <a:lstStyle/>
          <a:p>
            <a:pPr>
              <a:defRPr/>
            </a:pPr>
            <a:endParaRPr/>
          </a:p>
        </p:txBody>
      </p:sp>
      <p:sp>
        <p:nvSpPr>
          <p:cNvPr id="549394823" name="Slide Number Placeholder 3"/>
          <p:cNvSpPr>
            <a:spLocks noGrp="1"/>
          </p:cNvSpPr>
          <p:nvPr>
            <p:ph type="sldNum" sz="quarter" idx="10"/>
          </p:nvPr>
        </p:nvSpPr>
        <p:spPr bwMode="auto"/>
        <p:txBody>
          <a:bodyPr/>
          <a:lstStyle/>
          <a:p>
            <a:pPr>
              <a:defRPr/>
            </a:pPr>
            <a:fld id="{7220ABBC-C0AF-FA93-6986-C71C9756E075}"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4237429" name="Slide Image Placeholder 1"/>
          <p:cNvSpPr>
            <a:spLocks noChangeAspect="1" noGrp="1" noRot="1"/>
          </p:cNvSpPr>
          <p:nvPr>
            <p:ph type="sldImg"/>
          </p:nvPr>
        </p:nvSpPr>
        <p:spPr bwMode="auto"/>
      </p:sp>
      <p:sp>
        <p:nvSpPr>
          <p:cNvPr id="705087953" name="Notes Placeholder 2"/>
          <p:cNvSpPr>
            <a:spLocks noGrp="1"/>
          </p:cNvSpPr>
          <p:nvPr>
            <p:ph type="body" idx="1"/>
          </p:nvPr>
        </p:nvSpPr>
        <p:spPr bwMode="auto"/>
        <p:txBody>
          <a:bodyPr/>
          <a:lstStyle/>
          <a:p>
            <a:pPr>
              <a:defRPr/>
            </a:pPr>
            <a:endParaRPr/>
          </a:p>
        </p:txBody>
      </p:sp>
      <p:sp>
        <p:nvSpPr>
          <p:cNvPr id="1583199525" name="Slide Number Placeholder 3"/>
          <p:cNvSpPr>
            <a:spLocks noGrp="1"/>
          </p:cNvSpPr>
          <p:nvPr>
            <p:ph type="sldNum" sz="quarter" idx="10"/>
          </p:nvPr>
        </p:nvSpPr>
        <p:spPr bwMode="auto"/>
        <p:txBody>
          <a:bodyPr/>
          <a:lstStyle/>
          <a:p>
            <a:pPr>
              <a:defRPr/>
            </a:pPr>
            <a:fld id="{8761F602-5CC0-E94A-C66C-190EE651FE9A}"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4792613" name="Slide Image Placeholder 1"/>
          <p:cNvSpPr>
            <a:spLocks noChangeAspect="1" noGrp="1" noRot="1"/>
          </p:cNvSpPr>
          <p:nvPr>
            <p:ph type="sldImg"/>
          </p:nvPr>
        </p:nvSpPr>
        <p:spPr bwMode="auto"/>
      </p:sp>
      <p:sp>
        <p:nvSpPr>
          <p:cNvPr id="1064250732" name="Notes Placeholder 2"/>
          <p:cNvSpPr>
            <a:spLocks noGrp="1"/>
          </p:cNvSpPr>
          <p:nvPr>
            <p:ph type="body" idx="1"/>
          </p:nvPr>
        </p:nvSpPr>
        <p:spPr bwMode="auto"/>
        <p:txBody>
          <a:bodyPr/>
          <a:lstStyle/>
          <a:p>
            <a:pPr>
              <a:defRPr/>
            </a:pPr>
            <a:endParaRPr/>
          </a:p>
        </p:txBody>
      </p:sp>
      <p:sp>
        <p:nvSpPr>
          <p:cNvPr id="66040450" name="Slide Number Placeholder 3"/>
          <p:cNvSpPr>
            <a:spLocks noGrp="1"/>
          </p:cNvSpPr>
          <p:nvPr>
            <p:ph type="sldNum" sz="quarter" idx="10"/>
          </p:nvPr>
        </p:nvSpPr>
        <p:spPr bwMode="auto"/>
        <p:txBody>
          <a:bodyPr/>
          <a:lstStyle/>
          <a:p>
            <a:pPr>
              <a:defRPr/>
            </a:pPr>
            <a:fld id="{F56D5D9D-B319-D24F-B72F-4D87D0B2F2D3}"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6383693" name="Slide Image Placeholder 1"/>
          <p:cNvSpPr>
            <a:spLocks noChangeAspect="1" noGrp="1" noRot="1"/>
          </p:cNvSpPr>
          <p:nvPr>
            <p:ph type="sldImg"/>
          </p:nvPr>
        </p:nvSpPr>
        <p:spPr bwMode="auto"/>
      </p:sp>
      <p:sp>
        <p:nvSpPr>
          <p:cNvPr id="1300577546" name="Notes Placeholder 2"/>
          <p:cNvSpPr>
            <a:spLocks noGrp="1"/>
          </p:cNvSpPr>
          <p:nvPr>
            <p:ph type="body" idx="1"/>
          </p:nvPr>
        </p:nvSpPr>
        <p:spPr bwMode="auto"/>
        <p:txBody>
          <a:bodyPr/>
          <a:lstStyle/>
          <a:p>
            <a:pPr>
              <a:defRPr/>
            </a:pPr>
            <a:endParaRPr/>
          </a:p>
        </p:txBody>
      </p:sp>
      <p:sp>
        <p:nvSpPr>
          <p:cNvPr id="175570303" name="Slide Number Placeholder 3"/>
          <p:cNvSpPr>
            <a:spLocks noGrp="1"/>
          </p:cNvSpPr>
          <p:nvPr>
            <p:ph type="sldNum" sz="quarter" idx="10"/>
          </p:nvPr>
        </p:nvSpPr>
        <p:spPr bwMode="auto"/>
        <p:txBody>
          <a:bodyPr/>
          <a:lstStyle/>
          <a:p>
            <a:pPr>
              <a:defRPr/>
            </a:pPr>
            <a:fld id="{143CEAD0-4982-DB90-EEB1-5FB4DD538BA8}"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4947546" name="Slide Image Placeholder 1"/>
          <p:cNvSpPr>
            <a:spLocks noChangeAspect="1" noGrp="1" noRot="1"/>
          </p:cNvSpPr>
          <p:nvPr>
            <p:ph type="sldImg"/>
          </p:nvPr>
        </p:nvSpPr>
        <p:spPr bwMode="auto"/>
      </p:sp>
      <p:sp>
        <p:nvSpPr>
          <p:cNvPr id="519229262" name="Notes Placeholder 2"/>
          <p:cNvSpPr>
            <a:spLocks noGrp="1"/>
          </p:cNvSpPr>
          <p:nvPr>
            <p:ph type="body" idx="1"/>
          </p:nvPr>
        </p:nvSpPr>
        <p:spPr bwMode="auto"/>
        <p:txBody>
          <a:bodyPr/>
          <a:lstStyle/>
          <a:p>
            <a:pPr>
              <a:defRPr/>
            </a:pPr>
            <a:endParaRPr/>
          </a:p>
        </p:txBody>
      </p:sp>
      <p:sp>
        <p:nvSpPr>
          <p:cNvPr id="923897667" name="Slide Number Placeholder 3"/>
          <p:cNvSpPr>
            <a:spLocks noGrp="1"/>
          </p:cNvSpPr>
          <p:nvPr>
            <p:ph type="sldNum" sz="quarter" idx="10"/>
          </p:nvPr>
        </p:nvSpPr>
        <p:spPr bwMode="auto"/>
        <p:txBody>
          <a:bodyPr/>
          <a:lstStyle/>
          <a:p>
            <a:pPr>
              <a:defRPr/>
            </a:pPr>
            <a:fld id="{7DE9E7F3-92D3-8458-3C15-A4D82CACE678}"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802144" name="Slide Image Placeholder 1"/>
          <p:cNvSpPr>
            <a:spLocks noChangeAspect="1" noGrp="1" noRot="1"/>
          </p:cNvSpPr>
          <p:nvPr>
            <p:ph type="sldImg"/>
          </p:nvPr>
        </p:nvSpPr>
        <p:spPr bwMode="auto"/>
      </p:sp>
      <p:sp>
        <p:nvSpPr>
          <p:cNvPr id="1655391436" name="Notes Placeholder 2"/>
          <p:cNvSpPr>
            <a:spLocks noGrp="1"/>
          </p:cNvSpPr>
          <p:nvPr>
            <p:ph type="body" idx="1"/>
          </p:nvPr>
        </p:nvSpPr>
        <p:spPr bwMode="auto"/>
        <p:txBody>
          <a:bodyPr/>
          <a:lstStyle/>
          <a:p>
            <a:pPr>
              <a:defRPr/>
            </a:pPr>
            <a:endParaRPr/>
          </a:p>
        </p:txBody>
      </p:sp>
      <p:sp>
        <p:nvSpPr>
          <p:cNvPr id="1223864707" name="Slide Number Placeholder 3"/>
          <p:cNvSpPr>
            <a:spLocks noGrp="1"/>
          </p:cNvSpPr>
          <p:nvPr>
            <p:ph type="sldNum" sz="quarter" idx="10"/>
          </p:nvPr>
        </p:nvSpPr>
        <p:spPr bwMode="auto"/>
        <p:txBody>
          <a:bodyPr/>
          <a:lstStyle/>
          <a:p>
            <a:pPr>
              <a:defRPr/>
            </a:pPr>
            <a:fld id="{E91ED7FF-7A25-1349-A91C-2E0258DB44F0}"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0264806" name="Slide Image Placeholder 1"/>
          <p:cNvSpPr>
            <a:spLocks noChangeAspect="1" noGrp="1" noRot="1"/>
          </p:cNvSpPr>
          <p:nvPr>
            <p:ph type="sldImg"/>
          </p:nvPr>
        </p:nvSpPr>
        <p:spPr bwMode="auto"/>
      </p:sp>
      <p:sp>
        <p:nvSpPr>
          <p:cNvPr id="731215369" name="Notes Placeholder 2"/>
          <p:cNvSpPr>
            <a:spLocks noGrp="1"/>
          </p:cNvSpPr>
          <p:nvPr>
            <p:ph type="body" idx="1"/>
          </p:nvPr>
        </p:nvSpPr>
        <p:spPr bwMode="auto"/>
        <p:txBody>
          <a:bodyPr/>
          <a:lstStyle/>
          <a:p>
            <a:pPr>
              <a:defRPr/>
            </a:pPr>
            <a:endParaRPr/>
          </a:p>
        </p:txBody>
      </p:sp>
      <p:sp>
        <p:nvSpPr>
          <p:cNvPr id="1717738375" name="Slide Number Placeholder 3"/>
          <p:cNvSpPr>
            <a:spLocks noGrp="1"/>
          </p:cNvSpPr>
          <p:nvPr>
            <p:ph type="sldNum" sz="quarter" idx="10"/>
          </p:nvPr>
        </p:nvSpPr>
        <p:spPr bwMode="auto"/>
        <p:txBody>
          <a:bodyPr/>
          <a:lstStyle/>
          <a:p>
            <a:pPr>
              <a:defRPr/>
            </a:pPr>
            <a:fld id="{BE37205A-7123-6F08-19A7-502B6C338950}"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0605645" name="Slide Image Placeholder 1"/>
          <p:cNvSpPr>
            <a:spLocks noChangeAspect="1" noGrp="1" noRot="1"/>
          </p:cNvSpPr>
          <p:nvPr>
            <p:ph type="sldImg"/>
          </p:nvPr>
        </p:nvSpPr>
        <p:spPr bwMode="auto"/>
      </p:sp>
      <p:sp>
        <p:nvSpPr>
          <p:cNvPr id="875787471" name="Notes Placeholder 2"/>
          <p:cNvSpPr>
            <a:spLocks noGrp="1"/>
          </p:cNvSpPr>
          <p:nvPr>
            <p:ph type="body" idx="1"/>
          </p:nvPr>
        </p:nvSpPr>
        <p:spPr bwMode="auto"/>
        <p:txBody>
          <a:bodyPr/>
          <a:lstStyle/>
          <a:p>
            <a:pPr>
              <a:defRPr/>
            </a:pPr>
            <a:endParaRPr/>
          </a:p>
        </p:txBody>
      </p:sp>
      <p:sp>
        <p:nvSpPr>
          <p:cNvPr id="1196586364" name="Slide Number Placeholder 3"/>
          <p:cNvSpPr>
            <a:spLocks noGrp="1"/>
          </p:cNvSpPr>
          <p:nvPr>
            <p:ph type="sldNum" sz="quarter" idx="10"/>
          </p:nvPr>
        </p:nvSpPr>
        <p:spPr bwMode="auto"/>
        <p:txBody>
          <a:bodyPr/>
          <a:lstStyle/>
          <a:p>
            <a:pPr>
              <a:defRPr/>
            </a:pPr>
            <a:fld id="{A75A8306-5042-1924-4326-F4108071CF61}"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1007966" name="Slide Image Placeholder 1"/>
          <p:cNvSpPr>
            <a:spLocks noChangeAspect="1" noGrp="1" noRot="1"/>
          </p:cNvSpPr>
          <p:nvPr>
            <p:ph type="sldImg"/>
          </p:nvPr>
        </p:nvSpPr>
        <p:spPr bwMode="auto"/>
      </p:sp>
      <p:sp>
        <p:nvSpPr>
          <p:cNvPr id="525124980" name="Notes Placeholder 2"/>
          <p:cNvSpPr>
            <a:spLocks noGrp="1"/>
          </p:cNvSpPr>
          <p:nvPr>
            <p:ph type="body" idx="1"/>
          </p:nvPr>
        </p:nvSpPr>
        <p:spPr bwMode="auto"/>
        <p:txBody>
          <a:bodyPr/>
          <a:lstStyle/>
          <a:p>
            <a:pPr>
              <a:defRPr/>
            </a:pPr>
            <a:endParaRPr/>
          </a:p>
        </p:txBody>
      </p:sp>
      <p:sp>
        <p:nvSpPr>
          <p:cNvPr id="127567939" name="Slide Number Placeholder 3"/>
          <p:cNvSpPr>
            <a:spLocks noGrp="1"/>
          </p:cNvSpPr>
          <p:nvPr>
            <p:ph type="sldNum" sz="quarter" idx="10"/>
          </p:nvPr>
        </p:nvSpPr>
        <p:spPr bwMode="auto"/>
        <p:txBody>
          <a:bodyPr/>
          <a:lstStyle/>
          <a:p>
            <a:pPr>
              <a:defRPr/>
            </a:pPr>
            <a:fld id="{A269272F-96BA-5EA6-A0EF-1C7FA2A2F936}"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5738401" name="Slide Image Placeholder 1"/>
          <p:cNvSpPr>
            <a:spLocks noChangeAspect="1" noGrp="1" noRot="1"/>
          </p:cNvSpPr>
          <p:nvPr>
            <p:ph type="sldImg"/>
          </p:nvPr>
        </p:nvSpPr>
        <p:spPr bwMode="auto"/>
      </p:sp>
      <p:sp>
        <p:nvSpPr>
          <p:cNvPr id="439411947" name="Notes Placeholder 2"/>
          <p:cNvSpPr>
            <a:spLocks noGrp="1"/>
          </p:cNvSpPr>
          <p:nvPr>
            <p:ph type="body" idx="1"/>
          </p:nvPr>
        </p:nvSpPr>
        <p:spPr bwMode="auto"/>
        <p:txBody>
          <a:bodyPr/>
          <a:lstStyle/>
          <a:p>
            <a:pPr>
              <a:defRPr/>
            </a:pPr>
            <a:endParaRPr/>
          </a:p>
        </p:txBody>
      </p:sp>
      <p:sp>
        <p:nvSpPr>
          <p:cNvPr id="178144276" name="Slide Number Placeholder 3"/>
          <p:cNvSpPr>
            <a:spLocks noGrp="1"/>
          </p:cNvSpPr>
          <p:nvPr>
            <p:ph type="sldNum" sz="quarter" idx="10"/>
          </p:nvPr>
        </p:nvSpPr>
        <p:spPr bwMode="auto"/>
        <p:txBody>
          <a:bodyPr/>
          <a:lstStyle/>
          <a:p>
            <a:pPr>
              <a:defRPr/>
            </a:pPr>
            <a:fld id="{4A1B342A-9E8C-1AF7-764D-A27A07F5390E}"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7363558" name="Slide Image Placeholder 1"/>
          <p:cNvSpPr>
            <a:spLocks noChangeAspect="1" noGrp="1" noRot="1"/>
          </p:cNvSpPr>
          <p:nvPr>
            <p:ph type="sldImg"/>
          </p:nvPr>
        </p:nvSpPr>
        <p:spPr bwMode="auto"/>
      </p:sp>
      <p:sp>
        <p:nvSpPr>
          <p:cNvPr id="2138558795" name="Notes Placeholder 2"/>
          <p:cNvSpPr>
            <a:spLocks noGrp="1"/>
          </p:cNvSpPr>
          <p:nvPr>
            <p:ph type="body" idx="1"/>
          </p:nvPr>
        </p:nvSpPr>
        <p:spPr bwMode="auto"/>
        <p:txBody>
          <a:bodyPr/>
          <a:lstStyle/>
          <a:p>
            <a:pPr>
              <a:defRPr/>
            </a:pPr>
            <a:endParaRPr/>
          </a:p>
        </p:txBody>
      </p:sp>
      <p:sp>
        <p:nvSpPr>
          <p:cNvPr id="1483464563" name="Slide Number Placeholder 3"/>
          <p:cNvSpPr>
            <a:spLocks noGrp="1"/>
          </p:cNvSpPr>
          <p:nvPr>
            <p:ph type="sldNum" sz="quarter" idx="10"/>
          </p:nvPr>
        </p:nvSpPr>
        <p:spPr bwMode="auto"/>
        <p:txBody>
          <a:bodyPr/>
          <a:lstStyle/>
          <a:p>
            <a:pPr>
              <a:defRPr/>
            </a:pPr>
            <a:fld id="{C81E8D67-D426-AB1F-FB12-1DE1271ECD14}" type="slidenum">
              <a:rPr/>
              <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55886001" name="Slide Image Placeholder 1"/>
          <p:cNvSpPr>
            <a:spLocks noChangeAspect="1" noGrp="1" noRot="1"/>
          </p:cNvSpPr>
          <p:nvPr>
            <p:ph type="sldImg"/>
          </p:nvPr>
        </p:nvSpPr>
        <p:spPr bwMode="auto"/>
      </p:sp>
      <p:sp>
        <p:nvSpPr>
          <p:cNvPr id="1144471826" name="Notes Placeholder 2"/>
          <p:cNvSpPr>
            <a:spLocks noGrp="1"/>
          </p:cNvSpPr>
          <p:nvPr>
            <p:ph type="body" idx="1"/>
          </p:nvPr>
        </p:nvSpPr>
        <p:spPr bwMode="auto"/>
        <p:txBody>
          <a:bodyPr/>
          <a:lstStyle/>
          <a:p>
            <a:pPr>
              <a:defRPr/>
            </a:pPr>
            <a:endParaRPr/>
          </a:p>
        </p:txBody>
      </p:sp>
      <p:sp>
        <p:nvSpPr>
          <p:cNvPr id="1471010664" name="Slide Number Placeholder 3"/>
          <p:cNvSpPr>
            <a:spLocks noGrp="1"/>
          </p:cNvSpPr>
          <p:nvPr>
            <p:ph type="sldNum" sz="quarter" idx="10"/>
          </p:nvPr>
        </p:nvSpPr>
        <p:spPr bwMode="auto"/>
        <p:txBody>
          <a:bodyPr/>
          <a:lstStyle/>
          <a:p>
            <a:pPr>
              <a:defRPr/>
            </a:pPr>
            <a:fld id="{4C24B427-8023-A39F-D3BA-9CB04AF9C158}" type="slidenum">
              <a:rPr/>
              <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102850" name="Slide Image Placeholder 1"/>
          <p:cNvSpPr>
            <a:spLocks noChangeAspect="1" noGrp="1" noRot="1"/>
          </p:cNvSpPr>
          <p:nvPr>
            <p:ph type="sldImg"/>
          </p:nvPr>
        </p:nvSpPr>
        <p:spPr bwMode="auto"/>
      </p:sp>
      <p:sp>
        <p:nvSpPr>
          <p:cNvPr id="393889303" name="Notes Placeholder 2"/>
          <p:cNvSpPr>
            <a:spLocks noGrp="1"/>
          </p:cNvSpPr>
          <p:nvPr>
            <p:ph type="body" idx="1"/>
          </p:nvPr>
        </p:nvSpPr>
        <p:spPr bwMode="auto"/>
        <p:txBody>
          <a:bodyPr/>
          <a:lstStyle/>
          <a:p>
            <a:pPr>
              <a:defRPr/>
            </a:pPr>
            <a:endParaRPr/>
          </a:p>
        </p:txBody>
      </p:sp>
      <p:sp>
        <p:nvSpPr>
          <p:cNvPr id="294900485" name="Slide Number Placeholder 3"/>
          <p:cNvSpPr>
            <a:spLocks noGrp="1"/>
          </p:cNvSpPr>
          <p:nvPr>
            <p:ph type="sldNum" sz="quarter" idx="10"/>
          </p:nvPr>
        </p:nvSpPr>
        <p:spPr bwMode="auto"/>
        <p:txBody>
          <a:bodyPr/>
          <a:lstStyle/>
          <a:p>
            <a:pPr>
              <a:defRPr/>
            </a:pPr>
            <a:fld id="{7DE93429-8286-E1C2-C71B-26DF73E6A8F4}" type="slidenum">
              <a:rPr/>
              <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684792" name="Slide Image Placeholder 1"/>
          <p:cNvSpPr>
            <a:spLocks noChangeAspect="1" noGrp="1" noRot="1"/>
          </p:cNvSpPr>
          <p:nvPr>
            <p:ph type="sldImg"/>
          </p:nvPr>
        </p:nvSpPr>
        <p:spPr bwMode="auto"/>
      </p:sp>
      <p:sp>
        <p:nvSpPr>
          <p:cNvPr id="163734397"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A trade-off is a kind of compromise that involves giving up something in return for getting something else. When looking you for an after-school job, you might have to make a trade-off: a lower hourly wage for a more convenient location, for example.</a:t>
            </a:r>
            <a:endParaRPr/>
          </a:p>
        </p:txBody>
      </p:sp>
      <p:sp>
        <p:nvSpPr>
          <p:cNvPr id="1278472490" name="Slide Number Placeholder 3"/>
          <p:cNvSpPr>
            <a:spLocks noGrp="1"/>
          </p:cNvSpPr>
          <p:nvPr>
            <p:ph type="sldNum" sz="quarter" idx="10"/>
          </p:nvPr>
        </p:nvSpPr>
        <p:spPr bwMode="auto"/>
        <p:txBody>
          <a:bodyPr/>
          <a:lstStyle/>
          <a:p>
            <a:pPr>
              <a:defRPr/>
            </a:pPr>
            <a:fld id="{DD5E23E7-74BA-C0FF-80DD-3CEE79273DCB}" type="slidenum">
              <a:rPr/>
              <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2518691" name="Slide Image Placeholder 1"/>
          <p:cNvSpPr>
            <a:spLocks noChangeAspect="1" noGrp="1" noRot="1"/>
          </p:cNvSpPr>
          <p:nvPr>
            <p:ph type="sldImg"/>
          </p:nvPr>
        </p:nvSpPr>
        <p:spPr bwMode="auto"/>
      </p:sp>
      <p:sp>
        <p:nvSpPr>
          <p:cNvPr id="1478486478" name="Notes Placeholder 2"/>
          <p:cNvSpPr>
            <a:spLocks noGrp="1"/>
          </p:cNvSpPr>
          <p:nvPr>
            <p:ph type="body" idx="1"/>
          </p:nvPr>
        </p:nvSpPr>
        <p:spPr bwMode="auto"/>
        <p:txBody>
          <a:bodyPr/>
          <a:lstStyle/>
          <a:p>
            <a:pPr>
              <a:defRPr/>
            </a:pPr>
            <a:endParaRPr/>
          </a:p>
        </p:txBody>
      </p:sp>
      <p:sp>
        <p:nvSpPr>
          <p:cNvPr id="524275502" name="Slide Number Placeholder 3"/>
          <p:cNvSpPr>
            <a:spLocks noGrp="1"/>
          </p:cNvSpPr>
          <p:nvPr>
            <p:ph type="sldNum" sz="quarter" idx="10"/>
          </p:nvPr>
        </p:nvSpPr>
        <p:spPr bwMode="auto"/>
        <p:txBody>
          <a:bodyPr/>
          <a:lstStyle/>
          <a:p>
            <a:pPr>
              <a:defRPr/>
            </a:pPr>
            <a:fld id="{3ACBD62E-3361-C526-D17D-E9FD866BC859}" type="slidenum">
              <a:rPr/>
              <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0887495" name="Slide Image Placeholder 1"/>
          <p:cNvSpPr>
            <a:spLocks noChangeAspect="1" noGrp="1" noRot="1"/>
          </p:cNvSpPr>
          <p:nvPr>
            <p:ph type="sldImg"/>
          </p:nvPr>
        </p:nvSpPr>
        <p:spPr bwMode="auto"/>
      </p:sp>
      <p:sp>
        <p:nvSpPr>
          <p:cNvPr id="1100980323" name="Notes Placeholder 2"/>
          <p:cNvSpPr>
            <a:spLocks noGrp="1"/>
          </p:cNvSpPr>
          <p:nvPr>
            <p:ph type="body" idx="1"/>
          </p:nvPr>
        </p:nvSpPr>
        <p:spPr bwMode="auto"/>
        <p:txBody>
          <a:bodyPr/>
          <a:lstStyle/>
          <a:p>
            <a:pPr>
              <a:defRPr/>
            </a:pPr>
            <a:endParaRPr/>
          </a:p>
        </p:txBody>
      </p:sp>
      <p:sp>
        <p:nvSpPr>
          <p:cNvPr id="2020712036" name="Slide Number Placeholder 3"/>
          <p:cNvSpPr>
            <a:spLocks noGrp="1"/>
          </p:cNvSpPr>
          <p:nvPr>
            <p:ph type="sldNum" sz="quarter" idx="10"/>
          </p:nvPr>
        </p:nvSpPr>
        <p:spPr bwMode="auto"/>
        <p:txBody>
          <a:bodyPr/>
          <a:lstStyle/>
          <a:p>
            <a:pPr>
              <a:defRPr/>
            </a:pPr>
            <a:fld id="{D74AEDE6-97B9-1BB8-37FE-6F6583AF7019}"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461191411"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672996972"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345059675"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818120433" name="Footer Placeholder 4"/>
          <p:cNvSpPr>
            <a:spLocks noGrp="1"/>
          </p:cNvSpPr>
          <p:nvPr>
            <p:ph type="ftr" sz="quarter" idx="11"/>
          </p:nvPr>
        </p:nvSpPr>
        <p:spPr bwMode="auto"/>
        <p:txBody>
          <a:bodyPr/>
          <a:lstStyle/>
          <a:p>
            <a:pPr>
              <a:defRPr/>
            </a:pPr>
            <a:endParaRPr lang="en-US"/>
          </a:p>
        </p:txBody>
      </p:sp>
      <p:sp>
        <p:nvSpPr>
          <p:cNvPr id="135467827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848582255" name="Title 1"/>
          <p:cNvSpPr>
            <a:spLocks noGrp="1"/>
          </p:cNvSpPr>
          <p:nvPr>
            <p:ph type="title"/>
          </p:nvPr>
        </p:nvSpPr>
        <p:spPr bwMode="auto"/>
        <p:txBody>
          <a:bodyPr/>
          <a:lstStyle/>
          <a:p>
            <a:pPr>
              <a:defRPr/>
            </a:pPr>
            <a:r>
              <a:rPr lang="en-US"/>
              <a:t>Click to edit Master title style</a:t>
            </a:r>
            <a:endParaRPr lang="en-US"/>
          </a:p>
        </p:txBody>
      </p:sp>
      <p:sp>
        <p:nvSpPr>
          <p:cNvPr id="2039437204"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8485872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19155424" name="Footer Placeholder 4"/>
          <p:cNvSpPr>
            <a:spLocks noGrp="1"/>
          </p:cNvSpPr>
          <p:nvPr>
            <p:ph type="ftr" sz="quarter" idx="11"/>
          </p:nvPr>
        </p:nvSpPr>
        <p:spPr bwMode="auto"/>
        <p:txBody>
          <a:bodyPr/>
          <a:lstStyle/>
          <a:p>
            <a:pPr>
              <a:defRPr/>
            </a:pPr>
            <a:endParaRPr lang="en-US"/>
          </a:p>
        </p:txBody>
      </p:sp>
      <p:sp>
        <p:nvSpPr>
          <p:cNvPr id="367921171"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609152753"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492213688"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1732736982"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893908622" name="Footer Placeholder 4"/>
          <p:cNvSpPr>
            <a:spLocks noGrp="1"/>
          </p:cNvSpPr>
          <p:nvPr>
            <p:ph type="ftr" sz="quarter" idx="11"/>
          </p:nvPr>
        </p:nvSpPr>
        <p:spPr bwMode="auto"/>
        <p:txBody>
          <a:bodyPr/>
          <a:lstStyle/>
          <a:p>
            <a:pPr>
              <a:defRPr/>
            </a:pPr>
            <a:endParaRPr lang="en-US"/>
          </a:p>
        </p:txBody>
      </p:sp>
      <p:sp>
        <p:nvSpPr>
          <p:cNvPr id="753893290"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500357471" name="Title 1"/>
          <p:cNvSpPr>
            <a:spLocks noGrp="1"/>
          </p:cNvSpPr>
          <p:nvPr>
            <p:ph type="title"/>
          </p:nvPr>
        </p:nvSpPr>
        <p:spPr bwMode="auto"/>
        <p:txBody>
          <a:bodyPr/>
          <a:lstStyle/>
          <a:p>
            <a:pPr>
              <a:defRPr/>
            </a:pPr>
            <a:r>
              <a:rPr lang="en-US"/>
              <a:t>Click to edit Master title style</a:t>
            </a:r>
            <a:endParaRPr lang="en-US"/>
          </a:p>
        </p:txBody>
      </p:sp>
      <p:sp>
        <p:nvSpPr>
          <p:cNvPr id="705385108"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5780602"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80171585"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119278498" name="Footer Placeholder 5"/>
          <p:cNvSpPr>
            <a:spLocks noGrp="1"/>
          </p:cNvSpPr>
          <p:nvPr>
            <p:ph type="ftr" sz="quarter" idx="11"/>
          </p:nvPr>
        </p:nvSpPr>
        <p:spPr bwMode="auto"/>
        <p:txBody>
          <a:bodyPr/>
          <a:lstStyle/>
          <a:p>
            <a:pPr>
              <a:defRPr/>
            </a:pPr>
            <a:endParaRPr lang="en-US"/>
          </a:p>
        </p:txBody>
      </p:sp>
      <p:sp>
        <p:nvSpPr>
          <p:cNvPr id="430916705"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358059124"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99005847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90219061"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25756405"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44612575"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50568848"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054950906" name="Footer Placeholder 7"/>
          <p:cNvSpPr>
            <a:spLocks noGrp="1"/>
          </p:cNvSpPr>
          <p:nvPr>
            <p:ph type="ftr" sz="quarter" idx="11"/>
          </p:nvPr>
        </p:nvSpPr>
        <p:spPr bwMode="auto"/>
        <p:txBody>
          <a:bodyPr/>
          <a:lstStyle/>
          <a:p>
            <a:pPr>
              <a:defRPr/>
            </a:pPr>
            <a:endParaRPr lang="en-US"/>
          </a:p>
        </p:txBody>
      </p:sp>
      <p:sp>
        <p:nvSpPr>
          <p:cNvPr id="1799388476"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760425971" name="Title 1"/>
          <p:cNvSpPr>
            <a:spLocks noGrp="1"/>
          </p:cNvSpPr>
          <p:nvPr>
            <p:ph type="title"/>
          </p:nvPr>
        </p:nvSpPr>
        <p:spPr bwMode="auto"/>
        <p:txBody>
          <a:bodyPr/>
          <a:lstStyle/>
          <a:p>
            <a:pPr>
              <a:defRPr/>
            </a:pPr>
            <a:r>
              <a:rPr lang="en-US"/>
              <a:t>Click to edit Master title style</a:t>
            </a:r>
            <a:endParaRPr lang="en-US"/>
          </a:p>
        </p:txBody>
      </p:sp>
      <p:sp>
        <p:nvSpPr>
          <p:cNvPr id="1287862297"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400301565" name="Footer Placeholder 3"/>
          <p:cNvSpPr>
            <a:spLocks noGrp="1"/>
          </p:cNvSpPr>
          <p:nvPr>
            <p:ph type="ftr" sz="quarter" idx="11"/>
          </p:nvPr>
        </p:nvSpPr>
        <p:spPr bwMode="auto"/>
        <p:txBody>
          <a:bodyPr/>
          <a:lstStyle/>
          <a:p>
            <a:pPr>
              <a:defRPr/>
            </a:pPr>
            <a:endParaRPr lang="en-US"/>
          </a:p>
        </p:txBody>
      </p:sp>
      <p:sp>
        <p:nvSpPr>
          <p:cNvPr id="12104674"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366651766"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410524494" name="Footer Placeholder 2"/>
          <p:cNvSpPr>
            <a:spLocks noGrp="1"/>
          </p:cNvSpPr>
          <p:nvPr>
            <p:ph type="ftr" sz="quarter" idx="11"/>
          </p:nvPr>
        </p:nvSpPr>
        <p:spPr bwMode="auto"/>
        <p:txBody>
          <a:bodyPr/>
          <a:lstStyle/>
          <a:p>
            <a:pPr>
              <a:defRPr/>
            </a:pPr>
            <a:endParaRPr lang="en-US"/>
          </a:p>
        </p:txBody>
      </p:sp>
      <p:sp>
        <p:nvSpPr>
          <p:cNvPr id="1943272289"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43473127"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821569095"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7577877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138145512"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01296653" name="Footer Placeholder 5"/>
          <p:cNvSpPr>
            <a:spLocks noGrp="1"/>
          </p:cNvSpPr>
          <p:nvPr>
            <p:ph type="ftr" sz="quarter" idx="11"/>
          </p:nvPr>
        </p:nvSpPr>
        <p:spPr bwMode="auto"/>
        <p:txBody>
          <a:bodyPr/>
          <a:lstStyle/>
          <a:p>
            <a:pPr>
              <a:defRPr/>
            </a:pPr>
            <a:endParaRPr lang="en-US"/>
          </a:p>
        </p:txBody>
      </p:sp>
      <p:sp>
        <p:nvSpPr>
          <p:cNvPr id="120299231"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202640296"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287121093"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2086213782"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302296632"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851123574" name="Footer Placeholder 5"/>
          <p:cNvSpPr>
            <a:spLocks noGrp="1"/>
          </p:cNvSpPr>
          <p:nvPr>
            <p:ph type="ftr" sz="quarter" idx="11"/>
          </p:nvPr>
        </p:nvSpPr>
        <p:spPr bwMode="auto"/>
        <p:txBody>
          <a:bodyPr/>
          <a:lstStyle/>
          <a:p>
            <a:pPr>
              <a:defRPr/>
            </a:pPr>
            <a:endParaRPr lang="en-US"/>
          </a:p>
        </p:txBody>
      </p:sp>
      <p:sp>
        <p:nvSpPr>
          <p:cNvPr id="41373645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120739477" name="Title 1"/>
          <p:cNvSpPr>
            <a:spLocks noGrp="1"/>
          </p:cNvSpPr>
          <p:nvPr>
            <p:ph type="title"/>
          </p:nvPr>
        </p:nvSpPr>
        <p:spPr bwMode="auto"/>
        <p:txBody>
          <a:bodyPr/>
          <a:lstStyle/>
          <a:p>
            <a:pPr>
              <a:defRPr/>
            </a:pPr>
            <a:r>
              <a:rPr lang="en-US"/>
              <a:t>Click to edit Master title style</a:t>
            </a:r>
            <a:endParaRPr lang="en-US"/>
          </a:p>
        </p:txBody>
      </p:sp>
      <p:sp>
        <p:nvSpPr>
          <p:cNvPr id="1427542424"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546736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866585183" name="Footer Placeholder 4"/>
          <p:cNvSpPr>
            <a:spLocks noGrp="1"/>
          </p:cNvSpPr>
          <p:nvPr>
            <p:ph type="ftr" sz="quarter" idx="11"/>
          </p:nvPr>
        </p:nvSpPr>
        <p:spPr bwMode="auto"/>
        <p:txBody>
          <a:bodyPr/>
          <a:lstStyle/>
          <a:p>
            <a:pPr>
              <a:defRPr/>
            </a:pPr>
            <a:endParaRPr lang="en-US"/>
          </a:p>
        </p:txBody>
      </p:sp>
      <p:sp>
        <p:nvSpPr>
          <p:cNvPr id="150566377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980609107"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956960211"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97725780"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687967678" name="Footer Placeholder 4"/>
          <p:cNvSpPr>
            <a:spLocks noGrp="1"/>
          </p:cNvSpPr>
          <p:nvPr>
            <p:ph type="ftr" sz="quarter" idx="11"/>
          </p:nvPr>
        </p:nvSpPr>
        <p:spPr bwMode="auto"/>
        <p:txBody>
          <a:bodyPr/>
          <a:lstStyle/>
          <a:p>
            <a:pPr>
              <a:defRPr/>
            </a:pPr>
            <a:endParaRPr lang="en-US"/>
          </a:p>
        </p:txBody>
      </p:sp>
      <p:sp>
        <p:nvSpPr>
          <p:cNvPr id="1192258320"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651718887"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286095712"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2106406"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595331345"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812979167"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jp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jp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6.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7.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8.pn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02060"/>
        </a:solidFill>
      </p:bgPr>
    </p:bg>
    <p:spTree>
      <p:nvGrpSpPr>
        <p:cNvPr id="1" name=""/>
        <p:cNvGrpSpPr/>
        <p:nvPr/>
      </p:nvGrpSpPr>
      <p:grpSpPr bwMode="auto">
        <a:xfrm>
          <a:off x="0" y="0"/>
          <a:ext cx="0" cy="0"/>
          <a:chOff x="0" y="0"/>
          <a:chExt cx="0" cy="0"/>
        </a:xfrm>
      </p:grpSpPr>
      <p:sp>
        <p:nvSpPr>
          <p:cNvPr id="1283986059" name="Title 1"/>
          <p:cNvSpPr>
            <a:spLocks noGrp="1"/>
          </p:cNvSpPr>
          <p:nvPr>
            <p:ph type="ctrTitle"/>
          </p:nvPr>
        </p:nvSpPr>
        <p:spPr bwMode="auto"/>
        <p:txBody>
          <a:bodyPr vertOverflow="overflow" horzOverflow="overflow" vert="horz" wrap="square" lIns="91440" tIns="45720" rIns="91440" bIns="45720" numCol="1" spcCol="0" rtlCol="0" fromWordArt="0" anchor="b" anchorCtr="0" forceAA="0" upright="0" compatLnSpc="0">
            <a:normAutofit/>
          </a:bodyPr>
          <a:lstStyle/>
          <a:p>
            <a:pPr>
              <a:defRPr/>
            </a:pPr>
            <a:r>
              <a:rPr lang="en-US" sz="6000" b="1" i="0" u="none" strike="noStrike" cap="none" spc="0">
                <a:solidFill>
                  <a:schemeClr val="bg1"/>
                </a:solidFill>
                <a:latin typeface="Arial"/>
                <a:ea typeface="Arial"/>
                <a:cs typeface="Arial"/>
              </a:rPr>
              <a:t>Advanced Data Management – Week 2</a:t>
            </a:r>
            <a:endParaRPr sz="6000">
              <a:solidFill>
                <a:schemeClr val="bg1"/>
              </a:solidFill>
              <a:latin typeface="Arial"/>
              <a:cs typeface="Arial"/>
            </a:endParaRPr>
          </a:p>
        </p:txBody>
      </p:sp>
      <p:sp>
        <p:nvSpPr>
          <p:cNvPr id="946359967" name="Subtitle 2"/>
          <p:cNvSpPr>
            <a:spLocks noGrp="1"/>
          </p:cNvSpPr>
          <p:nvPr>
            <p:ph type="subTitle" idx="1"/>
          </p:nvPr>
        </p:nvSpPr>
        <p:spPr bwMode="auto"/>
        <p:txBody>
          <a:bodyPr/>
          <a:lstStyle/>
          <a:p>
            <a:pPr>
              <a:defRPr/>
            </a:pPr>
            <a:r>
              <a:rPr lang="en-US" sz="2400" b="1" i="0" u="none" strike="noStrike" cap="none" spc="0">
                <a:solidFill>
                  <a:schemeClr val="bg1"/>
                </a:solidFill>
                <a:latin typeface="Arial"/>
                <a:ea typeface="Arial"/>
                <a:cs typeface="Arial"/>
              </a:rPr>
              <a:t>Distributed Systems: Problems, Failures and Availability in Databases</a:t>
            </a:r>
            <a:endParaRPr sz="2400" b="1" i="0" u="none" strike="noStrike" cap="none" spc="0">
              <a:solidFill>
                <a:schemeClr val="bg1"/>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4066825"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The Problem Is the Model and the Architecture</a:t>
            </a:r>
            <a:endParaRPr b="1"/>
          </a:p>
        </p:txBody>
      </p:sp>
      <p:sp>
        <p:nvSpPr>
          <p:cNvPr id="1352041208"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n-US" sz="2800" b="0" i="0" u="none" strike="noStrike" cap="none" spc="0">
                <a:solidFill>
                  <a:srgbClr val="000000"/>
                </a:solidFill>
                <a:latin typeface="Arial"/>
                <a:ea typeface="Arial"/>
                <a:cs typeface="Arial"/>
              </a:rPr>
              <a:t>The limitations arise from:</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The relational model with strong dependence on joins</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The assumption of centralized control and strong consistency</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The scale-up architecture as the default</a:t>
            </a:r>
            <a:endParaRPr sz="2800" b="0" i="0" u="none" strike="noStrike" cap="none" spc="0">
              <a:solidFill>
                <a:srgbClr val="000000"/>
              </a:solidFill>
              <a:latin typeface="Arial"/>
              <a:cs typeface="Arial"/>
            </a:endParaRPr>
          </a:p>
          <a:p>
            <a:pPr>
              <a:defRPr/>
            </a:pPr>
            <a:endParaRPr sz="2800" b="0" i="0" u="none" strike="noStrike" cap="none" spc="0">
              <a:solidFill>
                <a:srgbClr val="000000"/>
              </a:solidFill>
              <a:latin typeface="Arial"/>
              <a:cs typeface="Arial"/>
            </a:endParaRPr>
          </a:p>
          <a:p>
            <a:pPr marL="0" indent="0">
              <a:buFont typeface="Arial"/>
              <a:buNone/>
              <a:defRPr/>
            </a:pPr>
            <a:r>
              <a:rPr lang="en-US" sz="2800" b="0" i="0" u="none" strike="noStrike" cap="none" spc="0">
                <a:solidFill>
                  <a:srgbClr val="000000"/>
                </a:solidFill>
                <a:latin typeface="Arial"/>
                <a:ea typeface="Arial"/>
                <a:cs typeface="Arial"/>
              </a:rPr>
              <a:t>When the model and architecture are transferred to large-scale distributed environments, performance, availability, and complexity issues emerge.</a:t>
            </a:r>
            <a:endParaRPr sz="26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5716167"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RDBMS Were Not Designed for Cloud-Native Environments</a:t>
            </a:r>
            <a:endParaRPr b="1"/>
          </a:p>
        </p:txBody>
      </p:sp>
      <p:sp>
        <p:nvSpPr>
          <p:cNvPr id="289190300" name="Content Placeholder 2"/>
          <p:cNvSpPr>
            <a:spLocks noGrp="1"/>
          </p:cNvSpPr>
          <p:nvPr>
            <p:ph idx="1"/>
          </p:nvPr>
        </p:nvSpPr>
        <p:spPr bwMode="auto">
          <a:xfrm flipH="0" flipV="0">
            <a:off x="838199" y="1825624"/>
            <a:ext cx="10515600" cy="4909910"/>
          </a:xfrm>
        </p:spPr>
        <p:txBody>
          <a:bodyPr vertOverflow="overflow" horzOverflow="overflow" vert="horz" wrap="square" lIns="91440" tIns="45720" rIns="91440" bIns="45720" numCol="1" spcCol="0" rtlCol="0" fromWordArt="0" anchor="t" anchorCtr="0" forceAA="0" upright="0" compatLnSpc="0">
            <a:normAutofit fontScale="80000" lnSpcReduction="4000"/>
          </a:bodyPr>
          <a:lstStyle/>
          <a:p>
            <a:pPr>
              <a:defRPr/>
            </a:pPr>
            <a:r>
              <a:rPr lang="en-US" sz="2600" b="0" i="0" u="none" strike="noStrike" cap="none" spc="0">
                <a:solidFill>
                  <a:srgbClr val="000000"/>
                </a:solidFill>
                <a:latin typeface="Arial"/>
                <a:ea typeface="Arial"/>
                <a:cs typeface="Arial"/>
              </a:rPr>
              <a:t>Traditional RDBMS:</a:t>
            </a:r>
            <a:endParaRPr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Were designed for on-premise infrastructures</a:t>
            </a:r>
            <a:endParaRPr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Assume reliable networks and stable hardware</a:t>
            </a:r>
            <a:endParaRPr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Rely on strong consistency and synchronization</a:t>
            </a:r>
            <a:endParaRPr sz="2600" b="0" i="0" u="none" strike="noStrike" cap="none" spc="0">
              <a:solidFill>
                <a:srgbClr val="000000"/>
              </a:solidFill>
              <a:latin typeface="Arial"/>
              <a:cs typeface="Arial"/>
            </a:endParaRPr>
          </a:p>
          <a:p>
            <a:pPr>
              <a:defRPr/>
            </a:pPr>
            <a:endParaRPr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In contrast, cloud-native environments require:</a:t>
            </a:r>
            <a:endParaRPr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Distributed operation from the outset</a:t>
            </a:r>
            <a:endParaRPr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Fault tolerance</a:t>
            </a:r>
            <a:endParaRPr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Elastic scalability</a:t>
            </a:r>
            <a:endParaRPr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Automation</a:t>
            </a:r>
            <a:endParaRPr sz="2600" b="0" i="0" u="none" strike="noStrike" cap="none" spc="0">
              <a:solidFill>
                <a:srgbClr val="000000"/>
              </a:solidFill>
              <a:latin typeface="Arial"/>
              <a:cs typeface="Arial"/>
            </a:endParaRPr>
          </a:p>
          <a:p>
            <a:pPr>
              <a:defRPr/>
            </a:pPr>
            <a:endParaRPr sz="2600" b="0" i="0" u="none" strike="noStrike" cap="none" spc="0">
              <a:solidFill>
                <a:srgbClr val="000000"/>
              </a:solidFill>
              <a:latin typeface="Arial"/>
              <a:cs typeface="Arial"/>
            </a:endParaRPr>
          </a:p>
          <a:p>
            <a:pPr marL="0" indent="0">
              <a:buFont typeface="Arial"/>
              <a:buNone/>
              <a:defRPr/>
            </a:pPr>
            <a:r>
              <a:rPr lang="en-US" sz="2600" b="0" i="0" u="none" strike="noStrike" cap="none" spc="0">
                <a:solidFill>
                  <a:srgbClr val="000000"/>
                </a:solidFill>
                <a:latin typeface="Arial"/>
                <a:ea typeface="Arial"/>
                <a:cs typeface="Arial"/>
              </a:rPr>
              <a:t>This incompatibility explains why new data models and architectures were developed.</a:t>
            </a:r>
            <a:endParaRPr sz="2600" b="0" i="0" u="none">
              <a:solidFill>
                <a:srgbClr val="000000"/>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7671611"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The Problem Is NOT SQL – Conclusion</a:t>
            </a:r>
            <a:endParaRPr sz="4400" b="1"/>
          </a:p>
        </p:txBody>
      </p:sp>
      <p:sp>
        <p:nvSpPr>
          <p:cNvPr id="1037041779" name="Content Placeholder 2"/>
          <p:cNvSpPr>
            <a:spLocks noGrp="1"/>
          </p:cNvSpPr>
          <p:nvPr>
            <p:ph idx="1"/>
          </p:nvPr>
        </p:nvSpPr>
        <p:spPr bwMode="auto">
          <a:xfrm flipH="0" flipV="0">
            <a:off x="838197" y="1969941"/>
            <a:ext cx="10515600" cy="4207017"/>
          </a:xfrm>
        </p:spPr>
        <p:txBody>
          <a:bodyPr/>
          <a:lstStyle/>
          <a:p>
            <a:pPr marL="0" indent="0" algn="just">
              <a:buFont typeface="Arial"/>
              <a:buNone/>
              <a:defRPr/>
            </a:pPr>
            <a:r>
              <a:rPr lang="en-US" sz="2400" b="0" i="0" u="none" strike="noStrike" cap="none" spc="0">
                <a:solidFill>
                  <a:srgbClr val="000000"/>
                </a:solidFill>
                <a:latin typeface="Arial"/>
                <a:ea typeface="Arial"/>
                <a:cs typeface="Arial"/>
              </a:rPr>
              <a:t>The transition to NoSQL and Big Data is not a rejection of SQL, but a recognition that the traditional relational model and monolithic RDBMS architecture are insufficient for cloud-native, large-scale distributed systems.</a:t>
            </a:r>
            <a:endParaRPr sz="24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5200601" name="Title 1"/>
          <p:cNvSpPr>
            <a:spLocks noGrp="1"/>
          </p:cNvSpPr>
          <p:nvPr>
            <p:ph type="title"/>
          </p:nvPr>
        </p:nvSpPr>
        <p:spPr bwMode="auto">
          <a:xfrm>
            <a:off x="831847" y="1709735"/>
            <a:ext cx="10515600" cy="2852734"/>
          </a:xfrm>
        </p:spPr>
        <p:txBody>
          <a:bodyPr/>
          <a:lstStyle>
            <a:lvl1pPr>
              <a:defRPr sz="6000"/>
            </a:lvl1pPr>
          </a:lstStyle>
          <a:p>
            <a:pPr>
              <a:defRPr/>
            </a:pPr>
            <a:r>
              <a:rPr lang="en-US" sz="4800" b="1" i="0" u="none" strike="noStrike" cap="none" spc="0">
                <a:solidFill>
                  <a:schemeClr val="tx1"/>
                </a:solidFill>
                <a:latin typeface="Arial"/>
                <a:ea typeface="Arial"/>
                <a:cs typeface="Arial"/>
              </a:rPr>
              <a:t>Fundamental Principles of Distributed Systems</a:t>
            </a:r>
            <a:endParaRPr sz="4800" b="1"/>
          </a:p>
        </p:txBody>
      </p:sp>
      <p:sp>
        <p:nvSpPr>
          <p:cNvPr id="2122252250" name="Text Placeholder 2"/>
          <p:cNvSpPr>
            <a:spLocks noGrp="1"/>
          </p:cNvSpPr>
          <p:nvPr>
            <p:ph type="body" idx="1"/>
          </p:nvPr>
        </p:nvSpPr>
        <p:spPr bwMode="auto">
          <a:xfrm>
            <a:off x="831847" y="4589460"/>
            <a:ext cx="10515600" cy="150018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91055159"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What Is a Distributed System</a:t>
            </a:r>
            <a:endParaRPr b="1"/>
          </a:p>
        </p:txBody>
      </p:sp>
      <p:sp>
        <p:nvSpPr>
          <p:cNvPr id="420544839"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0000" lnSpcReduction="2000"/>
          </a:bodyPr>
          <a:lstStyle/>
          <a:p>
            <a:pPr>
              <a:defRPr/>
            </a:pPr>
            <a:r>
              <a:rPr sz="2800" b="0" i="0" u="none">
                <a:solidFill>
                  <a:srgbClr val="000000"/>
                </a:solidFill>
                <a:latin typeface="Arial"/>
                <a:ea typeface="Arial"/>
                <a:cs typeface="Arial"/>
              </a:rPr>
              <a:t>A distributed system is a set of autonomous computational nodes that:</a:t>
            </a:r>
            <a:endParaRPr sz="2800">
              <a:latin typeface="Arial"/>
              <a:cs typeface="Arial"/>
            </a:endParaRPr>
          </a:p>
          <a:p>
            <a:pPr>
              <a:defRPr/>
            </a:pPr>
            <a:r>
              <a:rPr sz="2800" b="0" i="0" u="none">
                <a:solidFill>
                  <a:srgbClr val="000000"/>
                </a:solidFill>
                <a:latin typeface="Arial"/>
                <a:ea typeface="Arial"/>
                <a:cs typeface="Arial"/>
              </a:rPr>
              <a:t>Communicate over a network</a:t>
            </a:r>
            <a:endParaRPr sz="2800">
              <a:latin typeface="Arial"/>
              <a:cs typeface="Arial"/>
            </a:endParaRPr>
          </a:p>
          <a:p>
            <a:pPr>
              <a:defRPr/>
            </a:pPr>
            <a:r>
              <a:rPr sz="2800" b="0" i="0" u="none">
                <a:solidFill>
                  <a:srgbClr val="000000"/>
                </a:solidFill>
                <a:latin typeface="Arial"/>
                <a:ea typeface="Arial"/>
                <a:cs typeface="Arial"/>
              </a:rPr>
              <a:t>Cooperate to achieve a common goal</a:t>
            </a:r>
            <a:endParaRPr sz="2800">
              <a:latin typeface="Arial"/>
              <a:cs typeface="Arial"/>
            </a:endParaRPr>
          </a:p>
          <a:p>
            <a:pPr>
              <a:defRPr/>
            </a:pPr>
            <a:r>
              <a:rPr sz="2800" b="0" i="0" u="none">
                <a:solidFill>
                  <a:srgbClr val="000000"/>
                </a:solidFill>
                <a:latin typeface="Arial"/>
                <a:ea typeface="Arial"/>
                <a:cs typeface="Arial"/>
              </a:rPr>
              <a:t>Appear to the user as a single unified system</a:t>
            </a:r>
            <a:endParaRPr sz="2800">
              <a:latin typeface="Arial"/>
              <a:cs typeface="Arial"/>
            </a:endParaRPr>
          </a:p>
          <a:p>
            <a:pPr>
              <a:defRPr/>
            </a:pPr>
            <a:endParaRPr sz="2800">
              <a:latin typeface="Arial"/>
              <a:cs typeface="Arial"/>
            </a:endParaRPr>
          </a:p>
          <a:p>
            <a:pPr>
              <a:defRPr/>
            </a:pPr>
            <a:r>
              <a:rPr sz="2800" b="0" i="0" u="none">
                <a:solidFill>
                  <a:srgbClr val="000000"/>
                </a:solidFill>
                <a:latin typeface="Arial"/>
                <a:ea typeface="Arial"/>
                <a:cs typeface="Arial"/>
              </a:rPr>
              <a:t>Each node has:</a:t>
            </a:r>
            <a:endParaRPr sz="2800" b="0" i="0" u="none">
              <a:solidFill>
                <a:srgbClr val="000000"/>
              </a:solidFill>
              <a:latin typeface="Arial"/>
              <a:cs typeface="Arial"/>
            </a:endParaRPr>
          </a:p>
          <a:p>
            <a:pPr>
              <a:defRPr/>
            </a:pPr>
            <a:r>
              <a:rPr sz="2800" b="0" i="0" u="none">
                <a:solidFill>
                  <a:srgbClr val="000000"/>
                </a:solidFill>
                <a:latin typeface="Arial"/>
                <a:ea typeface="Arial"/>
                <a:cs typeface="Arial"/>
              </a:rPr>
              <a:t>Its own memory</a:t>
            </a:r>
            <a:endParaRPr sz="2800">
              <a:latin typeface="Arial"/>
              <a:cs typeface="Arial"/>
            </a:endParaRPr>
          </a:p>
          <a:p>
            <a:pPr>
              <a:defRPr/>
            </a:pPr>
            <a:r>
              <a:rPr sz="2800" b="0" i="0" u="none">
                <a:solidFill>
                  <a:srgbClr val="000000"/>
                </a:solidFill>
                <a:latin typeface="Arial"/>
                <a:ea typeface="Arial"/>
                <a:cs typeface="Arial"/>
              </a:rPr>
              <a:t>Its own processor</a:t>
            </a:r>
            <a:endParaRPr sz="2800">
              <a:latin typeface="Arial"/>
              <a:cs typeface="Arial"/>
            </a:endParaRPr>
          </a:p>
          <a:p>
            <a:pPr>
              <a:defRPr/>
            </a:pPr>
            <a:r>
              <a:rPr sz="2800" b="0" i="0" u="none">
                <a:solidFill>
                  <a:srgbClr val="000000"/>
                </a:solidFill>
                <a:latin typeface="Arial"/>
                <a:ea typeface="Arial"/>
                <a:cs typeface="Arial"/>
              </a:rPr>
              <a:t>Potentially its own storage</a:t>
            </a:r>
            <a:endParaRPr sz="28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9432976"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A Distributed System</a:t>
            </a:r>
            <a:endParaRPr sz="4400" b="1"/>
          </a:p>
        </p:txBody>
      </p:sp>
      <p:pic>
        <p:nvPicPr>
          <p:cNvPr id="1414671975" name=""/>
          <p:cNvPicPr>
            <a:picLocks noChangeAspect="1"/>
          </p:cNvPicPr>
          <p:nvPr>
            <p:ph idx="1"/>
          </p:nvPr>
        </p:nvPicPr>
        <p:blipFill rotWithShape="1">
          <a:blip r:embed="rId3"/>
          <a:stretch/>
        </p:blipFill>
        <p:spPr bwMode="auto">
          <a:xfrm rot="0">
            <a:off x="1965379" y="1825623"/>
            <a:ext cx="8261235" cy="43513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1019571"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Why Do We Need Distributed Systems</a:t>
            </a:r>
            <a:endParaRPr b="1"/>
          </a:p>
        </p:txBody>
      </p:sp>
      <p:sp>
        <p:nvSpPr>
          <p:cNvPr id="774802090" name="Content Placeholder 2"/>
          <p:cNvSpPr>
            <a:spLocks noGrp="1"/>
          </p:cNvSpPr>
          <p:nvPr>
            <p:ph idx="1"/>
          </p:nvPr>
        </p:nvSpPr>
        <p:spPr bwMode="auto"/>
        <p:txBody>
          <a:bodyPr/>
          <a:lstStyle/>
          <a:p>
            <a:pPr>
              <a:defRPr/>
            </a:pPr>
            <a:r>
              <a:rPr sz="2800" b="0" i="0" u="none">
                <a:solidFill>
                  <a:srgbClr val="000000"/>
                </a:solidFill>
                <a:latin typeface="Arial"/>
                <a:ea typeface="Arial"/>
                <a:cs typeface="Arial"/>
              </a:rPr>
              <a:t>The use of distributed systems is driven by:</a:t>
            </a:r>
            <a:endParaRPr sz="2800">
              <a:latin typeface="Arial"/>
              <a:cs typeface="Arial"/>
            </a:endParaRPr>
          </a:p>
          <a:p>
            <a:pPr lvl="1">
              <a:defRPr/>
            </a:pPr>
            <a:r>
              <a:rPr sz="2400" b="0" i="0" u="none">
                <a:solidFill>
                  <a:srgbClr val="000000"/>
                </a:solidFill>
                <a:latin typeface="Arial"/>
                <a:ea typeface="Arial"/>
                <a:cs typeface="Arial"/>
              </a:rPr>
              <a:t>The need for horizontal scalability</a:t>
            </a:r>
            <a:endParaRPr sz="2800">
              <a:latin typeface="Arial"/>
              <a:cs typeface="Arial"/>
            </a:endParaRPr>
          </a:p>
          <a:p>
            <a:pPr lvl="1">
              <a:defRPr/>
            </a:pPr>
            <a:r>
              <a:rPr sz="2400" b="0" i="0" u="none">
                <a:solidFill>
                  <a:srgbClr val="000000"/>
                </a:solidFill>
                <a:latin typeface="Arial"/>
                <a:ea typeface="Arial"/>
                <a:cs typeface="Arial"/>
              </a:rPr>
              <a:t>Management of large volumes of data</a:t>
            </a:r>
            <a:endParaRPr sz="2800">
              <a:latin typeface="Arial"/>
              <a:cs typeface="Arial"/>
            </a:endParaRPr>
          </a:p>
          <a:p>
            <a:pPr lvl="1">
              <a:defRPr/>
            </a:pPr>
            <a:r>
              <a:rPr sz="2400" b="0" i="0" u="none">
                <a:solidFill>
                  <a:srgbClr val="000000"/>
                </a:solidFill>
                <a:latin typeface="Arial"/>
                <a:ea typeface="Arial"/>
                <a:cs typeface="Arial"/>
              </a:rPr>
              <a:t>Requirement for high availability</a:t>
            </a:r>
            <a:endParaRPr sz="2800">
              <a:latin typeface="Arial"/>
              <a:cs typeface="Arial"/>
            </a:endParaRPr>
          </a:p>
          <a:p>
            <a:pPr lvl="1">
              <a:defRPr/>
            </a:pPr>
            <a:r>
              <a:rPr sz="2400" b="0" i="0" u="none">
                <a:solidFill>
                  <a:srgbClr val="000000"/>
                </a:solidFill>
                <a:latin typeface="Arial"/>
                <a:ea typeface="Arial"/>
                <a:cs typeface="Arial"/>
              </a:rPr>
              <a:t>Geographic distribution of users and services</a:t>
            </a:r>
            <a:endParaRPr sz="2800">
              <a:latin typeface="Arial"/>
              <a:cs typeface="Arial"/>
            </a:endParaRPr>
          </a:p>
          <a:p>
            <a:pPr lvl="1">
              <a:defRPr/>
            </a:pPr>
            <a:endParaRPr sz="2800">
              <a:latin typeface="Arial"/>
              <a:cs typeface="Arial"/>
            </a:endParaRPr>
          </a:p>
          <a:p>
            <a:pPr>
              <a:defRPr/>
            </a:pPr>
            <a:r>
              <a:rPr sz="2800" b="0" i="0" u="none">
                <a:solidFill>
                  <a:srgbClr val="000000"/>
                </a:solidFill>
                <a:latin typeface="Arial"/>
                <a:ea typeface="Arial"/>
                <a:cs typeface="Arial"/>
              </a:rPr>
              <a:t>Modern NoSQL systems cannot exist without distributed architecture.</a:t>
            </a:r>
            <a:endParaRPr sz="28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6861547"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Basic Assumptions</a:t>
            </a:r>
            <a:endParaRPr b="1"/>
          </a:p>
        </p:txBody>
      </p:sp>
      <p:sp>
        <p:nvSpPr>
          <p:cNvPr id="470336989"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n-US" sz="2400" b="0" i="0" u="none" strike="noStrike" cap="none" spc="0">
                <a:solidFill>
                  <a:srgbClr val="000000"/>
                </a:solidFill>
                <a:latin typeface="Arial"/>
                <a:ea typeface="Arial"/>
                <a:cs typeface="Arial"/>
              </a:rPr>
              <a:t>In a distributed system:</a:t>
            </a:r>
            <a:endParaRPr sz="2400" b="0" i="0" u="none" strike="noStrike" cap="none" spc="0">
              <a:solidFill>
                <a:srgbClr val="000000"/>
              </a:solidFill>
              <a:latin typeface="Arial"/>
              <a:cs typeface="Arial"/>
            </a:endParaRPr>
          </a:p>
          <a:p>
            <a:pPr lvl="1">
              <a:defRPr/>
            </a:pPr>
            <a:r>
              <a:rPr lang="en-US" sz="2400" b="0" i="0" u="none" strike="noStrike" cap="none" spc="0">
                <a:solidFill>
                  <a:srgbClr val="000000"/>
                </a:solidFill>
                <a:latin typeface="Arial"/>
                <a:ea typeface="Arial"/>
                <a:cs typeface="Arial"/>
              </a:rPr>
              <a:t>The network is not reliable</a:t>
            </a:r>
            <a:endParaRPr sz="2400" b="0" i="0" u="none" strike="noStrike" cap="none" spc="0">
              <a:solidFill>
                <a:srgbClr val="000000"/>
              </a:solidFill>
              <a:latin typeface="Arial"/>
              <a:cs typeface="Arial"/>
            </a:endParaRPr>
          </a:p>
          <a:p>
            <a:pPr lvl="1">
              <a:defRPr/>
            </a:pPr>
            <a:r>
              <a:rPr lang="en-US" sz="2400" b="0" i="0" u="none" strike="noStrike" cap="none" spc="0">
                <a:solidFill>
                  <a:srgbClr val="000000"/>
                </a:solidFill>
                <a:latin typeface="Arial"/>
                <a:ea typeface="Arial"/>
                <a:cs typeface="Arial"/>
              </a:rPr>
              <a:t>Nodes can fail</a:t>
            </a:r>
            <a:endParaRPr sz="2400" b="0" i="0" u="none" strike="noStrike" cap="none" spc="0">
              <a:solidFill>
                <a:srgbClr val="000000"/>
              </a:solidFill>
              <a:latin typeface="Arial"/>
              <a:cs typeface="Arial"/>
            </a:endParaRPr>
          </a:p>
          <a:p>
            <a:pPr lvl="1">
              <a:defRPr/>
            </a:pPr>
            <a:r>
              <a:rPr lang="en-US" sz="2400" b="0" i="0" u="none" strike="noStrike" cap="none" spc="0">
                <a:solidFill>
                  <a:srgbClr val="000000"/>
                </a:solidFill>
                <a:latin typeface="Arial"/>
                <a:ea typeface="Arial"/>
                <a:cs typeface="Arial"/>
              </a:rPr>
              <a:t>Latency is not zero</a:t>
            </a:r>
            <a:endParaRPr sz="2400" b="0" i="0" u="none" strike="noStrike" cap="none" spc="0">
              <a:solidFill>
                <a:srgbClr val="000000"/>
              </a:solidFill>
              <a:latin typeface="Arial"/>
              <a:cs typeface="Arial"/>
            </a:endParaRPr>
          </a:p>
          <a:p>
            <a:pPr lvl="1">
              <a:defRPr/>
            </a:pPr>
            <a:r>
              <a:rPr lang="en-US" sz="2400" b="0" i="0" u="none" strike="noStrike" cap="none" spc="0">
                <a:solidFill>
                  <a:srgbClr val="000000"/>
                </a:solidFill>
                <a:latin typeface="Arial"/>
                <a:ea typeface="Arial"/>
                <a:cs typeface="Arial"/>
              </a:rPr>
              <a:t>There is no global clock</a:t>
            </a:r>
            <a:endParaRPr sz="2400" b="0" i="0" u="none" strike="noStrike" cap="none" spc="0">
              <a:solidFill>
                <a:srgbClr val="000000"/>
              </a:solidFill>
              <a:latin typeface="Arial"/>
              <a:cs typeface="Arial"/>
            </a:endParaRPr>
          </a:p>
          <a:p>
            <a:pPr>
              <a:defRPr/>
            </a:pPr>
            <a:endParaRPr sz="2400" b="0" i="0" u="none" strike="noStrike" cap="none" spc="0">
              <a:solidFill>
                <a:srgbClr val="000000"/>
              </a:solidFill>
              <a:latin typeface="Arial"/>
              <a:cs typeface="Arial"/>
            </a:endParaRPr>
          </a:p>
          <a:p>
            <a:pPr marL="0" indent="0">
              <a:buFont typeface="Arial"/>
              <a:buNone/>
              <a:defRPr/>
            </a:pPr>
            <a:r>
              <a:rPr lang="en-US" sz="2400" b="0" i="0" u="none" strike="noStrike" cap="none" spc="0">
                <a:solidFill>
                  <a:srgbClr val="000000"/>
                </a:solidFill>
                <a:latin typeface="Arial"/>
                <a:ea typeface="Arial"/>
                <a:cs typeface="Arial"/>
              </a:rPr>
              <a:t>These assumptions are fundamental and determine every design decision.</a:t>
            </a:r>
            <a:endParaRPr sz="2400" b="0" i="0" u="none">
              <a:solidFill>
                <a:srgbClr val="000000"/>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3813028"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Distribution Transparency</a:t>
            </a:r>
            <a:endParaRPr b="1"/>
          </a:p>
        </p:txBody>
      </p:sp>
      <p:sp>
        <p:nvSpPr>
          <p:cNvPr id="904509443" name="Content Placeholder 2"/>
          <p:cNvSpPr>
            <a:spLocks noGrp="1"/>
          </p:cNvSpPr>
          <p:nvPr>
            <p:ph idx="1"/>
          </p:nvPr>
        </p:nvSpPr>
        <p:spPr bwMode="auto"/>
        <p:txBody>
          <a:bodyPr/>
          <a:lstStyle/>
          <a:p>
            <a:pPr>
              <a:defRPr/>
            </a:pPr>
            <a:r>
              <a:rPr lang="en-US" sz="2800" b="0" i="0" u="none" strike="noStrike" cap="none" spc="0">
                <a:solidFill>
                  <a:srgbClr val="000000"/>
                </a:solidFill>
                <a:latin typeface="Arial"/>
                <a:ea typeface="Arial"/>
                <a:cs typeface="Arial"/>
              </a:rPr>
              <a:t>The goal of distributed systems is to hide:</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The physical location of data</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The number of nodes</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Failures of individual nodes</a:t>
            </a:r>
            <a:endParaRPr sz="2800" b="0" i="0" u="none" strike="noStrike" cap="none" spc="0">
              <a:solidFill>
                <a:srgbClr val="000000"/>
              </a:solidFill>
              <a:latin typeface="Arial"/>
              <a:cs typeface="Arial"/>
            </a:endParaRPr>
          </a:p>
          <a:p>
            <a:pPr>
              <a:defRPr/>
            </a:pPr>
            <a:endParaRPr sz="2800" b="0" i="0" u="none" strike="noStrike" cap="none" spc="0">
              <a:solidFill>
                <a:srgbClr val="000000"/>
              </a:solidFill>
              <a:latin typeface="Arial"/>
              <a:cs typeface="Arial"/>
            </a:endParaRPr>
          </a:p>
          <a:p>
            <a:pPr marL="0" indent="0">
              <a:buFont typeface="Arial"/>
              <a:buNone/>
              <a:defRPr/>
            </a:pPr>
            <a:r>
              <a:rPr lang="en-US" sz="2800" b="0" i="0" u="none" strike="noStrike" cap="none" spc="0">
                <a:solidFill>
                  <a:srgbClr val="000000"/>
                </a:solidFill>
                <a:latin typeface="Arial"/>
                <a:ea typeface="Arial"/>
                <a:cs typeface="Arial"/>
              </a:rPr>
              <a:t>The user or application should not know where the data are stored.</a:t>
            </a:r>
            <a:endParaRPr sz="28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0150911"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Scalability</a:t>
            </a:r>
            <a:endParaRPr b="1"/>
          </a:p>
        </p:txBody>
      </p:sp>
      <p:sp>
        <p:nvSpPr>
          <p:cNvPr id="243478943" name="Content Placeholder 2"/>
          <p:cNvSpPr>
            <a:spLocks noGrp="1"/>
          </p:cNvSpPr>
          <p:nvPr>
            <p:ph idx="1"/>
          </p:nvPr>
        </p:nvSpPr>
        <p:spPr bwMode="auto"/>
        <p:txBody>
          <a:bodyPr/>
          <a:lstStyle/>
          <a:p>
            <a:pPr>
              <a:defRPr/>
            </a:pPr>
            <a:r>
              <a:rPr lang="en-US" sz="2600" b="0" i="0" u="none" strike="noStrike" cap="none" spc="0">
                <a:solidFill>
                  <a:srgbClr val="000000"/>
                </a:solidFill>
                <a:latin typeface="Arial"/>
                <a:ea typeface="Arial"/>
                <a:cs typeface="Arial"/>
              </a:rPr>
              <a:t>Scalability is a fundamental characteristic:</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Vertical (Scale-Up): stronger server</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Horizontal (Scale-Out): more nodes</a:t>
            </a:r>
            <a:endParaRPr lang="en-US" sz="2600" b="0" i="0" u="none" strike="noStrike" cap="none" spc="0">
              <a:solidFill>
                <a:srgbClr val="000000"/>
              </a:solidFill>
              <a:latin typeface="Arial"/>
              <a:cs typeface="Arial"/>
            </a:endParaRPr>
          </a:p>
          <a:p>
            <a:pPr>
              <a:defRPr/>
            </a:pPr>
            <a:endParaRPr lang="en-US" sz="2600" b="0" i="0" u="none" strike="noStrike" cap="none" spc="0">
              <a:solidFill>
                <a:srgbClr val="000000"/>
              </a:solidFill>
              <a:latin typeface="Arial"/>
              <a:cs typeface="Arial"/>
            </a:endParaRPr>
          </a:p>
          <a:p>
            <a:pPr marL="0" indent="0">
              <a:buFont typeface="Arial"/>
              <a:buNone/>
              <a:defRPr/>
            </a:pPr>
            <a:r>
              <a:rPr lang="en-US" sz="2600" b="0" i="0" u="none" strike="noStrike" cap="none" spc="0">
                <a:solidFill>
                  <a:srgbClr val="000000"/>
                </a:solidFill>
                <a:latin typeface="Arial"/>
                <a:ea typeface="Arial"/>
                <a:cs typeface="Arial"/>
              </a:rPr>
              <a:t>Distributed NoSQL systems are designed exclusively for scale-out.</a:t>
            </a:r>
            <a:endParaRPr sz="26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6081056"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Data Partitioning (Sharding)</a:t>
            </a:r>
            <a:endParaRPr b="1"/>
          </a:p>
        </p:txBody>
      </p:sp>
      <p:sp>
        <p:nvSpPr>
          <p:cNvPr id="244337331"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n-US" sz="2800" b="0" i="0" u="none" strike="noStrike" cap="none" spc="0">
                <a:solidFill>
                  <a:srgbClr val="000000"/>
                </a:solidFill>
                <a:latin typeface="Arial"/>
                <a:ea typeface="Arial"/>
                <a:cs typeface="Arial"/>
              </a:rPr>
              <a:t>Data are divided into segments (shards) and:</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Stored on different nodes</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Each shard serves part of the requests</a:t>
            </a:r>
            <a:endParaRPr sz="2800" b="0" i="0" u="none" strike="noStrike" cap="none" spc="0">
              <a:solidFill>
                <a:srgbClr val="000000"/>
              </a:solidFill>
              <a:latin typeface="Arial"/>
              <a:cs typeface="Arial"/>
            </a:endParaRPr>
          </a:p>
          <a:p>
            <a:pPr>
              <a:defRPr/>
            </a:pPr>
            <a:endParaRPr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Goal:</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Reduce load per node</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Enable parallel request handling</a:t>
            </a:r>
            <a:endParaRPr sz="28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1052266"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Data Replication</a:t>
            </a:r>
            <a:endParaRPr b="1"/>
          </a:p>
        </p:txBody>
      </p:sp>
      <p:sp>
        <p:nvSpPr>
          <p:cNvPr id="1299676078"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80000" lnSpcReduction="4000"/>
          </a:bodyPr>
          <a:lstStyle/>
          <a:p>
            <a:pPr>
              <a:defRPr/>
            </a:pPr>
            <a:r>
              <a:rPr lang="en-US" sz="2800" b="0" i="0" u="none" strike="noStrike" cap="none" spc="0">
                <a:solidFill>
                  <a:srgbClr val="000000"/>
                </a:solidFill>
                <a:latin typeface="Arial"/>
                <a:ea typeface="Arial"/>
                <a:cs typeface="Arial"/>
              </a:rPr>
              <a:t>Each piece of data:</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Is stored in multiple replicas</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Across different nodes</a:t>
            </a:r>
            <a:endParaRPr sz="2800" b="0" i="0" u="none" strike="noStrike" cap="none" spc="0">
              <a:solidFill>
                <a:srgbClr val="000000"/>
              </a:solidFill>
              <a:latin typeface="Arial"/>
              <a:cs typeface="Arial"/>
            </a:endParaRPr>
          </a:p>
          <a:p>
            <a:pPr>
              <a:defRPr/>
            </a:pPr>
            <a:endParaRPr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Benefits:</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Fault tolerance</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High availability</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Faster access</a:t>
            </a:r>
            <a:endParaRPr sz="2800" b="0" i="0" u="none" strike="noStrike" cap="none" spc="0">
              <a:solidFill>
                <a:srgbClr val="000000"/>
              </a:solidFill>
              <a:latin typeface="Arial"/>
              <a:cs typeface="Arial"/>
            </a:endParaRPr>
          </a:p>
          <a:p>
            <a:pPr lvl="1">
              <a:defRPr/>
            </a:pPr>
            <a:endParaRPr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Cost:</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Increased complexity in maintaining consistency</a:t>
            </a:r>
            <a:endParaRPr sz="28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957417"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Fault Tolerance</a:t>
            </a:r>
            <a:endParaRPr b="1"/>
          </a:p>
        </p:txBody>
      </p:sp>
      <p:sp>
        <p:nvSpPr>
          <p:cNvPr id="982235054"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n-US" sz="2800" b="0" i="0" u="none" strike="noStrike" cap="none" spc="0">
                <a:solidFill>
                  <a:srgbClr val="000000"/>
                </a:solidFill>
                <a:latin typeface="Arial"/>
                <a:ea typeface="Arial"/>
                <a:cs typeface="Arial"/>
              </a:rPr>
              <a:t>The system must continue operating:</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Even if one or more nodes fail</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Without loss of critical data</a:t>
            </a:r>
            <a:endParaRPr sz="2800" b="0" i="0" u="none" strike="noStrike" cap="none" spc="0">
              <a:solidFill>
                <a:srgbClr val="000000"/>
              </a:solidFill>
              <a:latin typeface="Arial"/>
              <a:cs typeface="Arial"/>
            </a:endParaRPr>
          </a:p>
          <a:p>
            <a:pPr lvl="1">
              <a:defRPr/>
            </a:pPr>
            <a:endParaRPr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Achieved through:</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Replication</a:t>
            </a:r>
            <a:endParaRPr sz="2800" b="0" i="0" u="none" strike="noStrike" cap="none" spc="0">
              <a:solidFill>
                <a:srgbClr val="000000"/>
              </a:solidFill>
              <a:latin typeface="Arial"/>
              <a:cs typeface="Arial"/>
            </a:endParaRPr>
          </a:p>
          <a:p>
            <a:pPr lvl="1">
              <a:defRPr/>
            </a:pPr>
            <a:r>
              <a:rPr lang="en-US" sz="2800" b="0" i="0" u="none" strike="noStrike" cap="none" spc="0">
                <a:solidFill>
                  <a:srgbClr val="000000"/>
                </a:solidFill>
                <a:latin typeface="Arial"/>
                <a:ea typeface="Arial"/>
                <a:cs typeface="Arial"/>
              </a:rPr>
              <a:t>Recovery mechanisms</a:t>
            </a:r>
            <a:endParaRPr sz="2800" b="0" i="0" u="none" strike="noStrike" cap="none" spc="0">
              <a:solidFill>
                <a:srgbClr val="000000"/>
              </a:solidFill>
              <a:latin typeface="Arial"/>
              <a:ea typeface="Arial"/>
              <a:cs typeface="Arial"/>
            </a:endParaRPr>
          </a:p>
          <a:p>
            <a:pPr lvl="1">
              <a:defRPr/>
            </a:pPr>
            <a:r>
              <a:rPr lang="en-US" sz="2800" b="0" i="0" u="none" strike="noStrike" cap="none" spc="0">
                <a:solidFill>
                  <a:srgbClr val="000000"/>
                </a:solidFill>
                <a:latin typeface="Arial"/>
                <a:ea typeface="Arial"/>
                <a:cs typeface="Arial"/>
              </a:rPr>
              <a:t>Automatic load redistribution</a:t>
            </a:r>
            <a:endParaRPr sz="2800" b="0" i="0" u="none" strike="noStrike" cap="none" spc="0">
              <a:solidFill>
                <a:srgbClr val="000000"/>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7560362"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State Consistency</a:t>
            </a:r>
            <a:endParaRPr b="1"/>
          </a:p>
        </p:txBody>
      </p:sp>
      <p:sp>
        <p:nvSpPr>
          <p:cNvPr id="1814871482" name="Content Placeholder 2"/>
          <p:cNvSpPr>
            <a:spLocks noGrp="1"/>
          </p:cNvSpPr>
          <p:nvPr>
            <p:ph idx="1"/>
          </p:nvPr>
        </p:nvSpPr>
        <p:spPr bwMode="auto"/>
        <p:txBody>
          <a:bodyPr/>
          <a:lstStyle/>
          <a:p>
            <a:pPr>
              <a:defRPr/>
            </a:pPr>
            <a:r>
              <a:rPr sz="2600" b="0" i="0" u="none">
                <a:solidFill>
                  <a:srgbClr val="000000"/>
                </a:solidFill>
                <a:latin typeface="Arial"/>
                <a:ea typeface="Arial"/>
                <a:cs typeface="Arial"/>
              </a:rPr>
              <a:t>When multiple replicas exist:</a:t>
            </a:r>
            <a:endParaRPr sz="2600">
              <a:latin typeface="Arial"/>
              <a:cs typeface="Arial"/>
            </a:endParaRPr>
          </a:p>
          <a:p>
            <a:pPr lvl="1">
              <a:defRPr/>
            </a:pPr>
            <a:r>
              <a:rPr sz="2600" b="0" i="0" u="none">
                <a:solidFill>
                  <a:srgbClr val="000000"/>
                </a:solidFill>
                <a:latin typeface="Arial"/>
                <a:ea typeface="Arial"/>
                <a:cs typeface="Arial"/>
              </a:rPr>
              <a:t>When and how are they synchronized?</a:t>
            </a:r>
            <a:endParaRPr sz="2600">
              <a:latin typeface="Arial"/>
              <a:cs typeface="Arial"/>
            </a:endParaRPr>
          </a:p>
          <a:p>
            <a:pPr lvl="1">
              <a:defRPr/>
            </a:pPr>
            <a:r>
              <a:rPr sz="2600" b="0" i="0" u="none">
                <a:solidFill>
                  <a:srgbClr val="000000"/>
                </a:solidFill>
                <a:latin typeface="Arial"/>
                <a:ea typeface="Arial"/>
                <a:cs typeface="Arial"/>
              </a:rPr>
              <a:t>What does the user observe?</a:t>
            </a:r>
            <a:endParaRPr sz="2600">
              <a:latin typeface="Arial"/>
              <a:ea typeface="Arial"/>
              <a:cs typeface="Arial"/>
            </a:endParaRPr>
          </a:p>
          <a:p>
            <a:pPr>
              <a:defRPr/>
            </a:pPr>
            <a:endParaRPr sz="2600">
              <a:latin typeface="Arial"/>
              <a:cs typeface="Arial"/>
            </a:endParaRPr>
          </a:p>
          <a:p>
            <a:pPr>
              <a:defRPr/>
            </a:pPr>
            <a:r>
              <a:rPr sz="2600" b="0" i="0" u="none">
                <a:solidFill>
                  <a:srgbClr val="000000"/>
                </a:solidFill>
                <a:latin typeface="Arial"/>
                <a:ea typeface="Arial"/>
                <a:cs typeface="Arial"/>
              </a:rPr>
              <a:t>Distributed systems cannot always guarantee immediate consistency. </a:t>
            </a:r>
            <a:r>
              <a:rPr sz="2600" b="0" i="0" u="none">
                <a:solidFill>
                  <a:srgbClr val="000000"/>
                </a:solidFill>
                <a:latin typeface="Arial"/>
                <a:ea typeface="Arial"/>
                <a:cs typeface="Arial"/>
              </a:rPr>
              <a:t>(This leads directly to the CAP Theorem.)</a:t>
            </a:r>
            <a:endParaRPr sz="2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1451000"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Communication Between Nodes</a:t>
            </a:r>
            <a:endParaRPr b="1"/>
          </a:p>
        </p:txBody>
      </p:sp>
      <p:sp>
        <p:nvSpPr>
          <p:cNvPr id="240822977"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defRPr/>
            </a:pPr>
            <a:r>
              <a:rPr lang="en-US" sz="2800" b="0" i="0" u="none" strike="noStrike" cap="none" spc="0">
                <a:solidFill>
                  <a:srgbClr val="000000"/>
                </a:solidFill>
                <a:latin typeface="Arial"/>
                <a:ea typeface="Arial"/>
                <a:cs typeface="Arial"/>
              </a:rPr>
              <a:t>Nodes communicate through:</a:t>
            </a:r>
            <a:endParaRPr lang="en-US"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Message passing</a:t>
            </a:r>
            <a:endParaRPr lang="en-US"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RPC / APIs</a:t>
            </a:r>
            <a:endParaRPr lang="en-US"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Asynchronous protocols</a:t>
            </a:r>
            <a:endParaRPr lang="en-US" sz="2800" b="0" i="0" u="none" strike="noStrike" cap="none" spc="0">
              <a:solidFill>
                <a:srgbClr val="000000"/>
              </a:solidFill>
              <a:latin typeface="Arial"/>
              <a:cs typeface="Arial"/>
            </a:endParaRPr>
          </a:p>
          <a:p>
            <a:pPr marL="0" indent="0">
              <a:buFont typeface="Arial"/>
              <a:buNone/>
              <a:defRPr/>
            </a:pPr>
            <a:endParaRPr lang="en-US"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Communication:</a:t>
            </a:r>
            <a:endParaRPr lang="en-US"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Has latency</a:t>
            </a:r>
            <a:endParaRPr lang="en-US"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May fail</a:t>
            </a:r>
            <a:endParaRPr lang="en-US" sz="2800" b="0" i="0" u="none" strike="noStrike" cap="none" spc="0">
              <a:solidFill>
                <a:srgbClr val="000000"/>
              </a:solidFill>
              <a:latin typeface="Arial"/>
              <a:ea typeface="Arial"/>
              <a:cs typeface="Arial"/>
            </a:endParaRPr>
          </a:p>
          <a:p>
            <a:pPr>
              <a:defRPr/>
            </a:pPr>
            <a:r>
              <a:rPr lang="en-US" sz="2800" b="0" i="0" u="none" strike="noStrike" cap="none" spc="0">
                <a:solidFill>
                  <a:srgbClr val="000000"/>
                </a:solidFill>
                <a:latin typeface="Arial"/>
                <a:ea typeface="Arial"/>
                <a:cs typeface="Arial"/>
              </a:rPr>
              <a:t>Is not always symmetric</a:t>
            </a:r>
            <a:endParaRPr lang="en-US" sz="2800" b="0" i="0" u="none" strike="noStrike" cap="none" spc="0">
              <a:solidFill>
                <a:srgbClr val="000000"/>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38816171"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Coordination &amp; Agreement</a:t>
            </a:r>
            <a:endParaRPr b="1"/>
          </a:p>
        </p:txBody>
      </p:sp>
      <p:sp>
        <p:nvSpPr>
          <p:cNvPr id="237050973" name="Content Placeholder 2"/>
          <p:cNvSpPr>
            <a:spLocks noGrp="1"/>
          </p:cNvSpPr>
          <p:nvPr>
            <p:ph idx="1"/>
          </p:nvPr>
        </p:nvSpPr>
        <p:spPr bwMode="auto"/>
        <p:txBody>
          <a:bodyPr/>
          <a:lstStyle/>
          <a:p>
            <a:pPr>
              <a:defRPr/>
            </a:pPr>
            <a:r>
              <a:rPr sz="2800" b="1" i="0" u="none">
                <a:solidFill>
                  <a:srgbClr val="000000"/>
                </a:solidFill>
                <a:latin typeface="Arial"/>
                <a:ea typeface="Arial"/>
                <a:cs typeface="Arial"/>
              </a:rPr>
              <a:t>In many scenarios, systems require:</a:t>
            </a:r>
            <a:endParaRPr sz="2800" b="1">
              <a:latin typeface="Arial"/>
              <a:cs typeface="Arial"/>
            </a:endParaRPr>
          </a:p>
          <a:p>
            <a:pPr>
              <a:defRPr/>
            </a:pPr>
            <a:r>
              <a:rPr sz="2800" b="0" i="0" u="none">
                <a:solidFill>
                  <a:srgbClr val="000000"/>
                </a:solidFill>
                <a:latin typeface="Arial"/>
                <a:ea typeface="Arial"/>
                <a:cs typeface="Arial"/>
              </a:rPr>
              <a:t>Agreement on system state</a:t>
            </a:r>
            <a:endParaRPr sz="2800">
              <a:latin typeface="Arial"/>
              <a:cs typeface="Arial"/>
            </a:endParaRPr>
          </a:p>
          <a:p>
            <a:pPr>
              <a:defRPr/>
            </a:pPr>
            <a:r>
              <a:rPr sz="2800" b="0" i="0" u="none">
                <a:solidFill>
                  <a:srgbClr val="000000"/>
                </a:solidFill>
                <a:latin typeface="Arial"/>
                <a:ea typeface="Arial"/>
                <a:cs typeface="Arial"/>
              </a:rPr>
              <a:t>Leader election</a:t>
            </a:r>
            <a:endParaRPr sz="2800">
              <a:latin typeface="Arial"/>
              <a:cs typeface="Arial"/>
            </a:endParaRPr>
          </a:p>
          <a:p>
            <a:pPr>
              <a:defRPr/>
            </a:pPr>
            <a:r>
              <a:rPr sz="2800" b="0" i="0" u="none">
                <a:solidFill>
                  <a:srgbClr val="000000"/>
                </a:solidFill>
                <a:latin typeface="Arial"/>
                <a:ea typeface="Arial"/>
                <a:cs typeface="Arial"/>
              </a:rPr>
              <a:t>Synchronization of actions</a:t>
            </a:r>
            <a:endParaRPr sz="2800">
              <a:latin typeface="Arial"/>
              <a:cs typeface="Arial"/>
            </a:endParaRPr>
          </a:p>
          <a:p>
            <a:pPr>
              <a:defRPr/>
            </a:pPr>
            <a:r>
              <a:rPr sz="2800" b="0" i="0" u="none">
                <a:solidFill>
                  <a:srgbClr val="000000"/>
                </a:solidFill>
                <a:latin typeface="Arial"/>
                <a:ea typeface="Arial"/>
                <a:cs typeface="Arial"/>
              </a:rPr>
              <a:t>This is one of the most difficult problems in distributed systems.</a:t>
            </a:r>
            <a:endParaRPr sz="28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1074004"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Why All This Matters for NoSQL</a:t>
            </a:r>
            <a:endParaRPr b="1"/>
          </a:p>
        </p:txBody>
      </p:sp>
      <p:sp>
        <p:nvSpPr>
          <p:cNvPr id="21357153"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n-US" sz="2800" b="0" i="0" u="none" strike="noStrike" cap="none" spc="0">
                <a:solidFill>
                  <a:srgbClr val="000000"/>
                </a:solidFill>
                <a:latin typeface="Arial"/>
                <a:ea typeface="Arial"/>
                <a:cs typeface="Arial"/>
              </a:rPr>
              <a:t>NoSQL databases:</a:t>
            </a:r>
            <a:endParaRPr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Are inherently distributed</a:t>
            </a:r>
            <a:endParaRPr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Rely on partitioning and replication</a:t>
            </a:r>
            <a:endParaRPr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Operate under network uncertainty</a:t>
            </a:r>
            <a:endParaRPr lang="en-US" sz="2800" b="0" i="0" u="none" strike="noStrike" cap="none" spc="0">
              <a:solidFill>
                <a:srgbClr val="000000"/>
              </a:solidFill>
              <a:latin typeface="Arial"/>
              <a:ea typeface="Arial"/>
              <a:cs typeface="Arial"/>
            </a:endParaRPr>
          </a:p>
          <a:p>
            <a:pPr>
              <a:defRPr/>
            </a:pPr>
            <a:endParaRPr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Without understanding distributed systems, proper NoSQL design is impossible.</a:t>
            </a:r>
            <a:endParaRPr lang="en-US" sz="2800" b="0" i="0" u="none" strike="noStrike" cap="none" spc="0">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54232392" name="Title 1"/>
          <p:cNvSpPr>
            <a:spLocks noGrp="1"/>
          </p:cNvSpPr>
          <p:nvPr>
            <p:ph type="title"/>
          </p:nvPr>
        </p:nvSpPr>
        <p:spPr bwMode="auto">
          <a:xfrm>
            <a:off x="831846" y="1709734"/>
            <a:ext cx="10515600" cy="2852733"/>
          </a:xfrm>
        </p:spPr>
        <p:txBody>
          <a:bodyPr/>
          <a:lstStyle>
            <a:lvl1pPr>
              <a:defRPr sz="6000"/>
            </a:lvl1pPr>
          </a:lstStyle>
          <a:p>
            <a:pPr>
              <a:defRPr/>
            </a:pPr>
            <a:r>
              <a:rPr lang="en-US" sz="6000" b="1" i="0" u="none" strike="noStrike" cap="none" spc="0">
                <a:solidFill>
                  <a:schemeClr val="tx1"/>
                </a:solidFill>
                <a:latin typeface="Arial"/>
                <a:ea typeface="Arial"/>
                <a:cs typeface="Arial"/>
              </a:rPr>
              <a:t>Birth &amp; Philosophy of NoSQL</a:t>
            </a:r>
            <a:endParaRPr b="1"/>
          </a:p>
        </p:txBody>
      </p:sp>
      <p:sp>
        <p:nvSpPr>
          <p:cNvPr id="866934916" name="Text Placeholder 2"/>
          <p:cNvSpPr>
            <a:spLocks noGrp="1"/>
          </p:cNvSpPr>
          <p:nvPr>
            <p:ph type="body" idx="1"/>
          </p:nvPr>
        </p:nvSpPr>
        <p:spPr bwMode="auto">
          <a:xfrm>
            <a:off x="831846" y="4589460"/>
            <a:ext cx="10515600" cy="1500183"/>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98366516"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The Birth of NoSQL</a:t>
            </a:r>
            <a:endParaRPr b="1"/>
          </a:p>
        </p:txBody>
      </p:sp>
      <p:sp>
        <p:nvSpPr>
          <p:cNvPr id="1496985965" name="Content Placeholder 2"/>
          <p:cNvSpPr>
            <a:spLocks noGrp="1"/>
          </p:cNvSpPr>
          <p:nvPr>
            <p:ph idx="1"/>
          </p:nvPr>
        </p:nvSpPr>
        <p:spPr bwMode="auto"/>
        <p:txBody>
          <a:bodyPr/>
          <a:lstStyle/>
          <a:p>
            <a:pPr>
              <a:defRPr/>
            </a:pPr>
            <a:r>
              <a:rPr lang="en-US" sz="2400" b="0" i="0" u="none" strike="noStrike" cap="none" spc="0">
                <a:solidFill>
                  <a:srgbClr val="000000"/>
                </a:solidFill>
                <a:latin typeface="Arial"/>
                <a:ea typeface="Arial"/>
                <a:cs typeface="Arial"/>
              </a:rPr>
              <a:t>The emergence of NoSQL systems did not originate from academic theory, but from real, pressing, large-scale demands.</a:t>
            </a:r>
            <a:endParaRPr lang="en-US" sz="2400" b="0" i="0" u="none" strike="noStrike" cap="none" spc="0">
              <a:solidFill>
                <a:srgbClr val="000000"/>
              </a:solidFill>
              <a:latin typeface="Arial"/>
              <a:cs typeface="Arial"/>
            </a:endParaRPr>
          </a:p>
          <a:p>
            <a:pPr>
              <a:defRPr/>
            </a:pPr>
            <a:endParaRPr lang="en-US" sz="2400" b="0" i="0" u="none" strike="noStrike" cap="none" spc="0">
              <a:solidFill>
                <a:srgbClr val="000000"/>
              </a:solidFill>
              <a:latin typeface="Arial"/>
              <a:cs typeface="Arial"/>
            </a:endParaRPr>
          </a:p>
          <a:p>
            <a:pPr algn="just">
              <a:defRPr/>
            </a:pPr>
            <a:r>
              <a:rPr lang="en-US" sz="2400" b="0" i="0" u="none" strike="noStrike" cap="none" spc="0">
                <a:solidFill>
                  <a:srgbClr val="000000"/>
                </a:solidFill>
                <a:latin typeface="Arial"/>
                <a:ea typeface="Arial"/>
                <a:cs typeface="Arial"/>
              </a:rPr>
              <a:t>In the mid-2000s, some of the world’s largest technology organizations faced problems that traditional RDBMS could not efficiently solve.</a:t>
            </a:r>
            <a:endParaRPr sz="2400">
              <a:latin typeface="Arial"/>
              <a:cs typeface="Arial"/>
            </a:endParaRPr>
          </a:p>
        </p:txBody>
      </p:sp>
      <p:pic>
        <p:nvPicPr>
          <p:cNvPr id="141012123" name=""/>
          <p:cNvPicPr>
            <a:picLocks noChangeAspect="1"/>
          </p:cNvPicPr>
          <p:nvPr/>
        </p:nvPicPr>
        <p:blipFill rotWithShape="1">
          <a:blip r:embed="rId3"/>
          <a:stretch/>
        </p:blipFill>
        <p:spPr bwMode="auto">
          <a:xfrm flipH="0" flipV="0">
            <a:off x="3487500" y="3863683"/>
            <a:ext cx="5363389" cy="265168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18392"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Google, Amazon, Facebook</a:t>
            </a:r>
            <a:endParaRPr sz="4400" b="1"/>
          </a:p>
        </p:txBody>
      </p:sp>
      <p:sp>
        <p:nvSpPr>
          <p:cNvPr id="1863736498"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n-US" sz="2600" b="0" i="0" u="none" strike="noStrike" cap="none" spc="0">
                <a:solidFill>
                  <a:srgbClr val="000000"/>
                </a:solidFill>
                <a:latin typeface="Arial"/>
                <a:ea typeface="Arial"/>
                <a:cs typeface="Arial"/>
              </a:rPr>
              <a:t>Companies such as Google, Amazon, and Facebook managed:</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Billions of users</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Massive data volumes</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Globally distributed infrastructures</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Extremely high read and write loads</a:t>
            </a:r>
            <a:endParaRPr lang="en-US" sz="2600" b="0" i="0" u="none" strike="noStrike" cap="none" spc="0">
              <a:solidFill>
                <a:srgbClr val="000000"/>
              </a:solidFill>
              <a:latin typeface="Arial"/>
              <a:cs typeface="Arial"/>
            </a:endParaRPr>
          </a:p>
          <a:p>
            <a:pPr>
              <a:defRPr/>
            </a:pPr>
            <a:endParaRPr lang="en-US" sz="2600" b="0" i="0" u="none" strike="noStrike" cap="none" spc="0">
              <a:solidFill>
                <a:srgbClr val="000000"/>
              </a:solidFill>
              <a:latin typeface="Arial"/>
              <a:cs typeface="Arial"/>
            </a:endParaRPr>
          </a:p>
          <a:p>
            <a:pPr marL="0" indent="0">
              <a:buFont typeface="Arial"/>
              <a:buNone/>
              <a:defRPr/>
            </a:pPr>
            <a:r>
              <a:rPr lang="en-US" sz="2600" b="0" i="0" u="none" strike="noStrike" cap="none" spc="0">
                <a:solidFill>
                  <a:srgbClr val="000000"/>
                </a:solidFill>
                <a:latin typeface="Arial"/>
                <a:ea typeface="Arial"/>
                <a:cs typeface="Arial"/>
              </a:rPr>
              <a:t>These requirements exceeded the limits of classical relational databases.</a:t>
            </a:r>
            <a:endParaRPr sz="2600" b="0" i="0" u="none">
              <a:solidFill>
                <a:srgbClr val="000000"/>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7560953"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Need for Massive Scalability</a:t>
            </a:r>
            <a:endParaRPr sz="4400" b="1"/>
          </a:p>
        </p:txBody>
      </p:sp>
      <p:sp>
        <p:nvSpPr>
          <p:cNvPr id="469700438"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n-US" sz="2600" b="0" i="0" u="none" strike="noStrike" cap="none" spc="0">
                <a:solidFill>
                  <a:srgbClr val="000000"/>
                </a:solidFill>
                <a:latin typeface="Arial"/>
                <a:ea typeface="Arial"/>
                <a:cs typeface="Arial"/>
              </a:rPr>
              <a:t>The core problem was massive scalability:</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Horizontal expansion to hundreds or thousands of nodes</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Continuous addition of resources without downtime</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Tolerance to node and network failures</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Predictable performance at global scale</a:t>
            </a:r>
            <a:endParaRPr lang="en-US" sz="2600" b="0" i="0" u="none" strike="noStrike" cap="none" spc="0">
              <a:solidFill>
                <a:srgbClr val="000000"/>
              </a:solidFill>
              <a:latin typeface="Arial"/>
              <a:cs typeface="Arial"/>
            </a:endParaRPr>
          </a:p>
          <a:p>
            <a:pPr>
              <a:defRPr/>
            </a:pPr>
            <a:endParaRPr lang="en-US" sz="2600" b="0" i="0" u="none" strike="noStrike" cap="none" spc="0">
              <a:solidFill>
                <a:srgbClr val="000000"/>
              </a:solidFill>
              <a:latin typeface="Arial"/>
              <a:cs typeface="Arial"/>
            </a:endParaRPr>
          </a:p>
          <a:p>
            <a:pPr marL="0" indent="0">
              <a:buFont typeface="Arial"/>
              <a:buNone/>
              <a:defRPr/>
            </a:pPr>
            <a:r>
              <a:rPr lang="en-US" sz="2600" b="0" i="0" u="none" strike="noStrike" cap="none" spc="0">
                <a:solidFill>
                  <a:srgbClr val="000000"/>
                </a:solidFill>
                <a:latin typeface="Arial"/>
                <a:ea typeface="Arial"/>
                <a:cs typeface="Arial"/>
              </a:rPr>
              <a:t>NoSQL systems were designed from the outset for scale-out.</a:t>
            </a:r>
            <a:endParaRPr sz="2600" b="0" i="0" u="none">
              <a:solidFill>
                <a:srgbClr val="000000"/>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1844192"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Commodity Hardware</a:t>
            </a:r>
            <a:endParaRPr sz="4400" b="1"/>
          </a:p>
        </p:txBody>
      </p:sp>
      <p:sp>
        <p:nvSpPr>
          <p:cNvPr id="1425757265" name="Content Placeholder 2"/>
          <p:cNvSpPr>
            <a:spLocks noGrp="1"/>
          </p:cNvSpPr>
          <p:nvPr>
            <p:ph idx="1"/>
          </p:nvPr>
        </p:nvSpPr>
        <p:spPr bwMode="auto"/>
        <p:txBody>
          <a:bodyPr/>
          <a:lstStyle/>
          <a:p>
            <a:pPr>
              <a:defRPr/>
            </a:pPr>
            <a:r>
              <a:rPr sz="2600" b="0" i="0" u="none">
                <a:solidFill>
                  <a:srgbClr val="000000"/>
                </a:solidFill>
                <a:latin typeface="Arial"/>
                <a:ea typeface="Arial"/>
                <a:cs typeface="Arial"/>
              </a:rPr>
              <a:t>Another crucial factor was the use of commodity hardware:</a:t>
            </a:r>
            <a:endParaRPr sz="2600">
              <a:latin typeface="Arial"/>
              <a:cs typeface="Arial"/>
            </a:endParaRPr>
          </a:p>
          <a:p>
            <a:pPr>
              <a:defRPr/>
            </a:pPr>
            <a:r>
              <a:rPr sz="2600" b="0" i="0" u="none">
                <a:solidFill>
                  <a:srgbClr val="000000"/>
                </a:solidFill>
                <a:latin typeface="Arial"/>
                <a:ea typeface="Arial"/>
                <a:cs typeface="Arial"/>
              </a:rPr>
              <a:t>Cheap, standard servers</a:t>
            </a:r>
            <a:endParaRPr sz="2600">
              <a:latin typeface="Arial"/>
              <a:cs typeface="Arial"/>
            </a:endParaRPr>
          </a:p>
          <a:p>
            <a:pPr>
              <a:defRPr/>
            </a:pPr>
            <a:r>
              <a:rPr sz="2600" b="0" i="0" u="none">
                <a:solidFill>
                  <a:srgbClr val="000000"/>
                </a:solidFill>
                <a:latin typeface="Arial"/>
                <a:ea typeface="Arial"/>
                <a:cs typeface="Arial"/>
              </a:rPr>
              <a:t>Accepting failure as normal</a:t>
            </a:r>
            <a:endParaRPr sz="2600">
              <a:latin typeface="Arial"/>
              <a:cs typeface="Arial"/>
            </a:endParaRPr>
          </a:p>
          <a:p>
            <a:pPr>
              <a:defRPr/>
            </a:pPr>
            <a:r>
              <a:rPr sz="2600" b="0" i="0" u="none">
                <a:solidFill>
                  <a:srgbClr val="000000"/>
                </a:solidFill>
                <a:latin typeface="Arial"/>
                <a:ea typeface="Arial"/>
                <a:cs typeface="Arial"/>
              </a:rPr>
              <a:t>Shifting complexity from hardware to software</a:t>
            </a:r>
            <a:endParaRPr sz="2600">
              <a:latin typeface="Arial"/>
              <a:cs typeface="Arial"/>
            </a:endParaRPr>
          </a:p>
          <a:p>
            <a:pPr>
              <a:defRPr/>
            </a:pPr>
            <a:endParaRPr sz="2600">
              <a:latin typeface="Arial"/>
              <a:cs typeface="Arial"/>
            </a:endParaRPr>
          </a:p>
          <a:p>
            <a:pPr>
              <a:defRPr/>
            </a:pPr>
            <a:r>
              <a:rPr sz="2600" b="0" i="0" u="none">
                <a:solidFill>
                  <a:srgbClr val="000000"/>
                </a:solidFill>
                <a:latin typeface="Arial"/>
                <a:ea typeface="Arial"/>
                <a:cs typeface="Arial"/>
              </a:rPr>
              <a:t>Instead of few powerful servers, NoSQL architectures rely on many simple nodes.</a:t>
            </a:r>
            <a:endParaRPr sz="26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6267694" name=""/>
          <p:cNvPicPr>
            <a:picLocks noChangeAspect="1"/>
          </p:cNvPicPr>
          <p:nvPr/>
        </p:nvPicPr>
        <p:blipFill rotWithShape="1">
          <a:blip r:embed="rId3"/>
          <a:stretch/>
        </p:blipFill>
        <p:spPr bwMode="auto">
          <a:xfrm flipH="0" flipV="0">
            <a:off x="6171818" y="1690686"/>
            <a:ext cx="5855657" cy="3905721"/>
          </a:xfrm>
          <a:prstGeom prst="rect">
            <a:avLst/>
          </a:prstGeom>
        </p:spPr>
      </p:pic>
      <p:sp>
        <p:nvSpPr>
          <p:cNvPr id="371633930"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Conclusion</a:t>
            </a:r>
            <a:endParaRPr sz="4400" b="1"/>
          </a:p>
        </p:txBody>
      </p:sp>
      <p:sp>
        <p:nvSpPr>
          <p:cNvPr id="1359231244" name="Content Placeholder 2"/>
          <p:cNvSpPr>
            <a:spLocks noGrp="1"/>
          </p:cNvSpPr>
          <p:nvPr>
            <p:ph idx="1"/>
          </p:nvPr>
        </p:nvSpPr>
        <p:spPr bwMode="auto">
          <a:xfrm flipH="0" flipV="0">
            <a:off x="838197" y="1825623"/>
            <a:ext cx="5257800" cy="4351338"/>
          </a:xfrm>
        </p:spPr>
        <p:txBody>
          <a:bodyPr/>
          <a:lstStyle/>
          <a:p>
            <a:pPr>
              <a:defRPr/>
            </a:pPr>
            <a:r>
              <a:rPr sz="2800" b="0" i="0" u="none">
                <a:solidFill>
                  <a:srgbClr val="000000"/>
                </a:solidFill>
                <a:latin typeface="Arial"/>
                <a:ea typeface="Arial"/>
                <a:cs typeface="Arial"/>
              </a:rPr>
              <a:t>NoSQL systems were born as a response to global-scale requirements.</a:t>
            </a:r>
            <a:endParaRPr sz="2800">
              <a:latin typeface="Arial"/>
              <a:ea typeface="Arial"/>
              <a:cs typeface="Arial"/>
            </a:endParaRPr>
          </a:p>
          <a:p>
            <a:pPr>
              <a:defRPr/>
            </a:pPr>
            <a:endParaRPr sz="2800">
              <a:latin typeface="Arial"/>
              <a:cs typeface="Arial"/>
            </a:endParaRPr>
          </a:p>
          <a:p>
            <a:pPr>
              <a:defRPr/>
            </a:pPr>
            <a:r>
              <a:rPr sz="2800" b="1" i="0" u="none">
                <a:solidFill>
                  <a:srgbClr val="000000"/>
                </a:solidFill>
                <a:latin typeface="Arial"/>
                <a:ea typeface="Arial"/>
                <a:cs typeface="Arial"/>
              </a:rPr>
              <a:t>They were not designed to replace RDBMS entirely</a:t>
            </a:r>
            <a:r>
              <a:rPr sz="2800" b="0" i="0" u="none">
                <a:solidFill>
                  <a:srgbClr val="000000"/>
                </a:solidFill>
                <a:latin typeface="Arial"/>
                <a:ea typeface="Arial"/>
                <a:cs typeface="Arial"/>
              </a:rPr>
              <a:t>, but to address massive scalability, distributed operation, and cost challenges.</a:t>
            </a:r>
            <a:endParaRPr sz="28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5519796"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What Does NoSQL Mean</a:t>
            </a:r>
            <a:endParaRPr b="1"/>
          </a:p>
        </p:txBody>
      </p:sp>
      <p:sp>
        <p:nvSpPr>
          <p:cNvPr id="699353715" name="Content Placeholder 2"/>
          <p:cNvSpPr>
            <a:spLocks noGrp="1"/>
          </p:cNvSpPr>
          <p:nvPr>
            <p:ph idx="1"/>
          </p:nvPr>
        </p:nvSpPr>
        <p:spPr bwMode="auto"/>
        <p:txBody>
          <a:bodyPr/>
          <a:lstStyle/>
          <a:p>
            <a:pPr>
              <a:defRPr/>
            </a:pPr>
            <a:r>
              <a:rPr lang="en-US" sz="2600" b="0" i="0" u="none" strike="noStrike" cap="none" spc="0">
                <a:solidFill>
                  <a:srgbClr val="000000"/>
                </a:solidFill>
                <a:latin typeface="Arial"/>
                <a:ea typeface="Arial"/>
                <a:cs typeface="Arial"/>
              </a:rPr>
              <a:t>The term NoSQL is often misunderstood as rejection of SQL.</a:t>
            </a:r>
            <a:endParaRPr lang="en-US" sz="2600" b="0" i="0" u="none" strike="noStrike" cap="none" spc="0">
              <a:solidFill>
                <a:srgbClr val="000000"/>
              </a:solidFill>
              <a:latin typeface="Arial"/>
              <a:cs typeface="Arial"/>
            </a:endParaRPr>
          </a:p>
          <a:p>
            <a:pPr>
              <a:defRPr/>
            </a:pP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In reality, it represents an architectural and philosophical shift driven by</a:t>
            </a:r>
            <a:r>
              <a:rPr lang="en-US" sz="2600" b="1" i="0" u="none" strike="noStrike" cap="none" spc="0">
                <a:solidFill>
                  <a:srgbClr val="000000"/>
                </a:solidFill>
                <a:latin typeface="Arial"/>
                <a:ea typeface="Arial"/>
                <a:cs typeface="Arial"/>
              </a:rPr>
              <a:t> large-scale distributed application </a:t>
            </a:r>
            <a:r>
              <a:rPr lang="en-US" sz="2600" b="0" i="0" u="none" strike="noStrike" cap="none" spc="0">
                <a:solidFill>
                  <a:srgbClr val="000000"/>
                </a:solidFill>
                <a:latin typeface="Arial"/>
                <a:ea typeface="Arial"/>
                <a:cs typeface="Arial"/>
              </a:rPr>
              <a:t>needs.</a:t>
            </a:r>
            <a:endParaRPr sz="2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8124546"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Not Only SQL</a:t>
            </a:r>
            <a:endParaRPr sz="4400" b="1"/>
          </a:p>
        </p:txBody>
      </p:sp>
      <p:sp>
        <p:nvSpPr>
          <p:cNvPr id="1386528970" name="Content Placeholder 2"/>
          <p:cNvSpPr>
            <a:spLocks noGrp="1"/>
          </p:cNvSpPr>
          <p:nvPr>
            <p:ph idx="1"/>
          </p:nvPr>
        </p:nvSpPr>
        <p:spPr bwMode="auto">
          <a:xfrm flipH="0" flipV="0">
            <a:off x="838197" y="1825623"/>
            <a:ext cx="5257800" cy="4351338"/>
          </a:xfrm>
        </p:spPr>
        <p:txBody>
          <a:bodyPr vertOverflow="overflow" horzOverflow="overflow" vert="horz" wrap="square" lIns="91440" tIns="45720" rIns="91440" bIns="45720" numCol="1" spcCol="0" rtlCol="0" fromWordArt="0" anchor="t" anchorCtr="0" forceAA="0" upright="0" compatLnSpc="0">
            <a:normAutofit/>
          </a:bodyPr>
          <a:lstStyle/>
          <a:p>
            <a:pPr>
              <a:defRPr/>
            </a:pPr>
            <a:r>
              <a:rPr sz="2600" b="0" i="0" u="none">
                <a:solidFill>
                  <a:srgbClr val="000000"/>
                </a:solidFill>
                <a:latin typeface="Arial"/>
                <a:ea typeface="Arial"/>
                <a:cs typeface="Arial"/>
              </a:rPr>
              <a:t>NoSQL primarily means “Not Only SQL”:</a:t>
            </a:r>
            <a:endParaRPr sz="2600">
              <a:latin typeface="Arial"/>
              <a:cs typeface="Arial"/>
            </a:endParaRPr>
          </a:p>
          <a:p>
            <a:pPr lvl="1">
              <a:defRPr/>
            </a:pPr>
            <a:r>
              <a:rPr sz="2600" b="0" i="0" u="none">
                <a:solidFill>
                  <a:srgbClr val="000000"/>
                </a:solidFill>
                <a:latin typeface="Arial"/>
                <a:ea typeface="Arial"/>
                <a:cs typeface="Arial"/>
              </a:rPr>
              <a:t>Not rejection of SQL</a:t>
            </a:r>
            <a:endParaRPr sz="2600">
              <a:latin typeface="Arial"/>
              <a:cs typeface="Arial"/>
            </a:endParaRPr>
          </a:p>
          <a:p>
            <a:pPr lvl="1">
              <a:defRPr/>
            </a:pPr>
            <a:r>
              <a:rPr sz="2600" b="0" i="0" u="none">
                <a:solidFill>
                  <a:srgbClr val="000000"/>
                </a:solidFill>
                <a:latin typeface="Arial"/>
                <a:ea typeface="Arial"/>
                <a:cs typeface="Arial"/>
              </a:rPr>
              <a:t>Not devaluation of relational databases</a:t>
            </a:r>
            <a:endParaRPr sz="2600">
              <a:latin typeface="Arial"/>
              <a:cs typeface="Arial"/>
            </a:endParaRPr>
          </a:p>
          <a:p>
            <a:pPr lvl="1">
              <a:defRPr/>
            </a:pPr>
            <a:r>
              <a:rPr sz="2600" b="0" i="0" u="none">
                <a:solidFill>
                  <a:srgbClr val="000000"/>
                </a:solidFill>
                <a:latin typeface="Arial"/>
                <a:ea typeface="Arial"/>
                <a:cs typeface="Arial"/>
              </a:rPr>
              <a:t>Expansion of available data models</a:t>
            </a:r>
            <a:endParaRPr sz="2600">
              <a:latin typeface="Arial"/>
              <a:ea typeface="Arial"/>
              <a:cs typeface="Arial"/>
            </a:endParaRPr>
          </a:p>
          <a:p>
            <a:pPr lvl="1">
              <a:defRPr/>
            </a:pPr>
            <a:endParaRPr sz="2600">
              <a:latin typeface="Arial"/>
              <a:cs typeface="Arial"/>
            </a:endParaRPr>
          </a:p>
          <a:p>
            <a:pPr>
              <a:defRPr/>
            </a:pPr>
            <a:r>
              <a:rPr sz="2600" b="0" i="0" u="none">
                <a:solidFill>
                  <a:srgbClr val="000000"/>
                </a:solidFill>
                <a:latin typeface="Arial"/>
                <a:ea typeface="Arial"/>
                <a:cs typeface="Arial"/>
              </a:rPr>
              <a:t>Different workloads require different structures and guarantees.</a:t>
            </a:r>
            <a:endParaRPr sz="2600">
              <a:latin typeface="Arial"/>
              <a:cs typeface="Arial"/>
            </a:endParaRPr>
          </a:p>
        </p:txBody>
      </p:sp>
      <p:pic>
        <p:nvPicPr>
          <p:cNvPr id="743997980" name=""/>
          <p:cNvPicPr>
            <a:picLocks noChangeAspect="1"/>
          </p:cNvPicPr>
          <p:nvPr/>
        </p:nvPicPr>
        <p:blipFill rotWithShape="1">
          <a:blip r:embed="rId3"/>
          <a:stretch/>
        </p:blipFill>
        <p:spPr bwMode="auto">
          <a:xfrm flipH="0" flipV="0">
            <a:off x="6241514" y="1690686"/>
            <a:ext cx="5942903" cy="391823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0740271"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Not Replacement of RDBMS</a:t>
            </a:r>
            <a:endParaRPr sz="4400" b="1"/>
          </a:p>
        </p:txBody>
      </p:sp>
      <p:sp>
        <p:nvSpPr>
          <p:cNvPr id="1287722974" name="Content Placeholder 2"/>
          <p:cNvSpPr>
            <a:spLocks noGrp="1"/>
          </p:cNvSpPr>
          <p:nvPr>
            <p:ph idx="1"/>
          </p:nvPr>
        </p:nvSpPr>
        <p:spPr bwMode="auto"/>
        <p:txBody>
          <a:bodyPr/>
          <a:lstStyle/>
          <a:p>
            <a:pPr>
              <a:defRPr/>
            </a:pPr>
            <a:r>
              <a:rPr sz="2600" b="0" i="0" u="none">
                <a:solidFill>
                  <a:srgbClr val="000000"/>
                </a:solidFill>
                <a:latin typeface="Arial"/>
                <a:ea typeface="Arial"/>
                <a:cs typeface="Arial"/>
              </a:rPr>
              <a:t>NoSQL systems:</a:t>
            </a:r>
            <a:endParaRPr sz="2600">
              <a:latin typeface="Arial"/>
              <a:cs typeface="Arial"/>
            </a:endParaRPr>
          </a:p>
          <a:p>
            <a:pPr lvl="1">
              <a:defRPr/>
            </a:pPr>
            <a:r>
              <a:rPr sz="2600" b="0" i="0" u="none">
                <a:solidFill>
                  <a:srgbClr val="000000"/>
                </a:solidFill>
                <a:latin typeface="Arial"/>
                <a:ea typeface="Arial"/>
                <a:cs typeface="Arial"/>
              </a:rPr>
              <a:t>Were not designed to replace RDBMS</a:t>
            </a:r>
            <a:endParaRPr sz="2600">
              <a:latin typeface="Arial"/>
              <a:cs typeface="Arial"/>
            </a:endParaRPr>
          </a:p>
          <a:p>
            <a:pPr lvl="1">
              <a:defRPr/>
            </a:pPr>
            <a:r>
              <a:rPr sz="2600" b="0" i="0" u="none">
                <a:solidFill>
                  <a:srgbClr val="000000"/>
                </a:solidFill>
                <a:latin typeface="Arial"/>
                <a:ea typeface="Arial"/>
                <a:cs typeface="Arial"/>
              </a:rPr>
              <a:t>Do not target all use cases</a:t>
            </a:r>
            <a:endParaRPr sz="2600">
              <a:latin typeface="Arial"/>
              <a:cs typeface="Arial"/>
            </a:endParaRPr>
          </a:p>
          <a:p>
            <a:pPr lvl="1">
              <a:defRPr/>
            </a:pPr>
            <a:r>
              <a:rPr sz="2600" b="0" i="0" u="none">
                <a:solidFill>
                  <a:srgbClr val="000000"/>
                </a:solidFill>
                <a:latin typeface="Arial"/>
                <a:ea typeface="Arial"/>
                <a:cs typeface="Arial"/>
              </a:rPr>
              <a:t>Do not guarantee full ACID in all scenarios</a:t>
            </a:r>
            <a:endParaRPr sz="2600">
              <a:latin typeface="Arial"/>
              <a:ea typeface="Arial"/>
              <a:cs typeface="Arial"/>
            </a:endParaRPr>
          </a:p>
          <a:p>
            <a:pPr lvl="1">
              <a:defRPr/>
            </a:pPr>
            <a:endParaRPr sz="2600">
              <a:latin typeface="Arial"/>
              <a:cs typeface="Arial"/>
            </a:endParaRPr>
          </a:p>
          <a:p>
            <a:pPr>
              <a:defRPr/>
            </a:pPr>
            <a:r>
              <a:rPr sz="2600" b="0" i="0" u="none">
                <a:solidFill>
                  <a:srgbClr val="000000"/>
                </a:solidFill>
                <a:latin typeface="Arial"/>
                <a:ea typeface="Arial"/>
                <a:cs typeface="Arial"/>
              </a:rPr>
              <a:t>RDBMS remain irreplaceable in:</a:t>
            </a:r>
            <a:endParaRPr sz="2600">
              <a:latin typeface="Arial"/>
              <a:cs typeface="Arial"/>
            </a:endParaRPr>
          </a:p>
          <a:p>
            <a:pPr lvl="1">
              <a:defRPr/>
            </a:pPr>
            <a:r>
              <a:rPr sz="2600" b="0" i="0" u="none">
                <a:solidFill>
                  <a:srgbClr val="000000"/>
                </a:solidFill>
                <a:latin typeface="Arial"/>
                <a:ea typeface="Arial"/>
                <a:cs typeface="Arial"/>
              </a:rPr>
              <a:t>Transactional systems</a:t>
            </a:r>
            <a:endParaRPr sz="2600">
              <a:latin typeface="Arial"/>
              <a:cs typeface="Arial"/>
            </a:endParaRPr>
          </a:p>
          <a:p>
            <a:pPr lvl="1">
              <a:defRPr/>
            </a:pPr>
            <a:r>
              <a:rPr sz="2600" b="0" i="0" u="none">
                <a:solidFill>
                  <a:srgbClr val="000000"/>
                </a:solidFill>
                <a:latin typeface="Arial"/>
                <a:ea typeface="Arial"/>
                <a:cs typeface="Arial"/>
              </a:rPr>
              <a:t>Financial applications</a:t>
            </a:r>
            <a:endParaRPr sz="2600">
              <a:latin typeface="Arial"/>
              <a:cs typeface="Arial"/>
            </a:endParaRPr>
          </a:p>
          <a:p>
            <a:pPr lvl="1">
              <a:defRPr/>
            </a:pPr>
            <a:r>
              <a:rPr sz="2600" b="0" i="0" u="none">
                <a:solidFill>
                  <a:srgbClr val="000000"/>
                </a:solidFill>
                <a:latin typeface="Arial"/>
                <a:ea typeface="Arial"/>
                <a:cs typeface="Arial"/>
              </a:rPr>
              <a:t>Environments requiring strong consistency</a:t>
            </a:r>
            <a:endParaRPr sz="2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7593028"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Complementary Technology</a:t>
            </a:r>
            <a:endParaRPr sz="4400" b="1"/>
          </a:p>
        </p:txBody>
      </p:sp>
      <p:sp>
        <p:nvSpPr>
          <p:cNvPr id="425039253" name="Content Placeholder 2"/>
          <p:cNvSpPr>
            <a:spLocks noGrp="1"/>
          </p:cNvSpPr>
          <p:nvPr>
            <p:ph idx="1"/>
          </p:nvPr>
        </p:nvSpPr>
        <p:spPr bwMode="auto">
          <a:xfrm flipH="0" flipV="0">
            <a:off x="838197" y="1926644"/>
            <a:ext cx="10515600" cy="4250313"/>
          </a:xfrm>
        </p:spPr>
        <p:txBody>
          <a:bodyPr/>
          <a:lstStyle/>
          <a:p>
            <a:pPr>
              <a:defRPr/>
            </a:pPr>
            <a:r>
              <a:rPr sz="2600" b="0" i="0" u="none">
                <a:solidFill>
                  <a:srgbClr val="000000"/>
                </a:solidFill>
                <a:latin typeface="Arial"/>
                <a:ea typeface="Arial"/>
                <a:cs typeface="Arial"/>
              </a:rPr>
              <a:t>The role of NoSQL is complementary:</a:t>
            </a:r>
            <a:endParaRPr sz="2600">
              <a:latin typeface="Arial"/>
              <a:cs typeface="Arial"/>
            </a:endParaRPr>
          </a:p>
          <a:p>
            <a:pPr lvl="1">
              <a:defRPr/>
            </a:pPr>
            <a:r>
              <a:rPr sz="2600" b="0" i="0" u="none">
                <a:solidFill>
                  <a:srgbClr val="000000"/>
                </a:solidFill>
                <a:latin typeface="Arial"/>
                <a:ea typeface="Arial"/>
                <a:cs typeface="Arial"/>
              </a:rPr>
              <a:t>Provide massive scalability</a:t>
            </a:r>
            <a:endParaRPr sz="2600">
              <a:latin typeface="Arial"/>
              <a:cs typeface="Arial"/>
            </a:endParaRPr>
          </a:p>
          <a:p>
            <a:pPr lvl="1">
              <a:defRPr/>
            </a:pPr>
            <a:r>
              <a:rPr sz="2600" b="0" i="0" u="none">
                <a:solidFill>
                  <a:srgbClr val="000000"/>
                </a:solidFill>
                <a:latin typeface="Arial"/>
                <a:ea typeface="Arial"/>
                <a:cs typeface="Arial"/>
              </a:rPr>
              <a:t>Support flexible or schema-less data</a:t>
            </a:r>
            <a:endParaRPr sz="2600">
              <a:latin typeface="Arial"/>
              <a:cs typeface="Arial"/>
            </a:endParaRPr>
          </a:p>
          <a:p>
            <a:pPr lvl="1">
              <a:defRPr/>
            </a:pPr>
            <a:r>
              <a:rPr sz="2600" b="0" i="0" u="none">
                <a:solidFill>
                  <a:srgbClr val="000000"/>
                </a:solidFill>
                <a:latin typeface="Arial"/>
                <a:ea typeface="Arial"/>
                <a:cs typeface="Arial"/>
              </a:rPr>
              <a:t>Operate efficiently in distributed cloud-native environments</a:t>
            </a:r>
            <a:endParaRPr sz="2600">
              <a:latin typeface="Arial"/>
              <a:cs typeface="Arial"/>
            </a:endParaRPr>
          </a:p>
          <a:p>
            <a:pPr lvl="1">
              <a:defRPr/>
            </a:pPr>
            <a:endParaRPr sz="2600">
              <a:latin typeface="Arial"/>
              <a:cs typeface="Arial"/>
            </a:endParaRPr>
          </a:p>
          <a:p>
            <a:pPr>
              <a:defRPr/>
            </a:pPr>
            <a:r>
              <a:rPr sz="2600" b="0" i="0" u="none">
                <a:solidFill>
                  <a:srgbClr val="000000"/>
                </a:solidFill>
                <a:latin typeface="Arial"/>
                <a:ea typeface="Arial"/>
                <a:cs typeface="Arial"/>
              </a:rPr>
              <a:t>Modern architecture follows polyglot persistence.</a:t>
            </a:r>
            <a:endParaRPr sz="26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90304108"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upright="0" compatLnSpc="0">
            <a:normAutofit/>
          </a:bodyPr>
          <a:lstStyle/>
          <a:p>
            <a:pPr>
              <a:defRPr/>
            </a:pPr>
            <a:r>
              <a:rPr lang="en-US" sz="4400" b="1" i="0" u="none" strike="noStrike" cap="none" spc="0">
                <a:solidFill>
                  <a:schemeClr val="tx1"/>
                </a:solidFill>
                <a:latin typeface="Arial"/>
                <a:ea typeface="Arial"/>
                <a:cs typeface="Arial"/>
              </a:rPr>
              <a:t>Conclusions</a:t>
            </a:r>
            <a:endParaRPr sz="4400" b="1"/>
          </a:p>
        </p:txBody>
      </p:sp>
      <p:sp>
        <p:nvSpPr>
          <p:cNvPr id="1498763284" name="Content Placeholder 2"/>
          <p:cNvSpPr>
            <a:spLocks noGrp="1"/>
          </p:cNvSpPr>
          <p:nvPr>
            <p:ph idx="1"/>
          </p:nvPr>
        </p:nvSpPr>
        <p:spPr bwMode="auto">
          <a:xfrm flipH="0" flipV="0">
            <a:off x="838197" y="1825623"/>
            <a:ext cx="5257800" cy="4351338"/>
          </a:xfrm>
        </p:spPr>
        <p:txBody>
          <a:bodyPr/>
          <a:lstStyle/>
          <a:p>
            <a:pPr>
              <a:defRPr/>
            </a:pPr>
            <a:r>
              <a:rPr lang="en-US" sz="2400" b="0" i="0" u="none" strike="noStrike" cap="none" spc="0">
                <a:solidFill>
                  <a:srgbClr val="000000"/>
                </a:solidFill>
                <a:latin typeface="Arial"/>
                <a:ea typeface="Arial"/>
                <a:cs typeface="Arial"/>
              </a:rPr>
              <a:t>NoSQL is not a revolution against RDBMS, but an evolution of the data ecosystem.</a:t>
            </a:r>
            <a:endParaRPr lang="en-US" sz="2400" b="0" i="0" u="none" strike="noStrike" cap="none" spc="0">
              <a:solidFill>
                <a:srgbClr val="000000"/>
              </a:solidFill>
              <a:latin typeface="Arial"/>
              <a:cs typeface="Arial"/>
            </a:endParaRPr>
          </a:p>
          <a:p>
            <a:pPr>
              <a:defRPr/>
            </a:pPr>
            <a:endParaRPr lang="en-US" sz="2400" b="0" i="0" u="none" strike="noStrike" cap="none" spc="0">
              <a:solidFill>
                <a:srgbClr val="000000"/>
              </a:solidFill>
              <a:latin typeface="Arial"/>
              <a:cs typeface="Arial"/>
            </a:endParaRPr>
          </a:p>
          <a:p>
            <a:pPr algn="just">
              <a:defRPr/>
            </a:pPr>
            <a:r>
              <a:rPr lang="en-US" sz="2400" b="0" i="0" u="none" strike="noStrike" cap="none" spc="0">
                <a:solidFill>
                  <a:srgbClr val="000000"/>
                </a:solidFill>
                <a:latin typeface="Arial"/>
                <a:ea typeface="Arial"/>
                <a:cs typeface="Arial"/>
              </a:rPr>
              <a:t>There is no single database model for all problems, but a set of specialized technologies working complementarily.</a:t>
            </a:r>
            <a:endParaRPr sz="2400">
              <a:latin typeface="Arial"/>
              <a:cs typeface="Arial"/>
            </a:endParaRPr>
          </a:p>
        </p:txBody>
      </p:sp>
      <p:pic>
        <p:nvPicPr>
          <p:cNvPr id="159920640" name=""/>
          <p:cNvPicPr>
            <a:picLocks noChangeAspect="1"/>
          </p:cNvPicPr>
          <p:nvPr/>
        </p:nvPicPr>
        <p:blipFill rotWithShape="1">
          <a:blip r:embed="rId3"/>
          <a:stretch/>
        </p:blipFill>
        <p:spPr bwMode="auto">
          <a:xfrm flipH="0" flipV="0">
            <a:off x="6173052" y="1525801"/>
            <a:ext cx="6030158" cy="452437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95422408" name="Title 1"/>
          <p:cNvSpPr>
            <a:spLocks noGrp="1"/>
          </p:cNvSpPr>
          <p:nvPr>
            <p:ph type="title"/>
          </p:nvPr>
        </p:nvSpPr>
        <p:spPr bwMode="auto"/>
        <p:txBody>
          <a:bodyPr/>
          <a:lstStyle/>
          <a:p>
            <a:pPr>
              <a:defRPr/>
            </a:pPr>
            <a:endParaRPr/>
          </a:p>
        </p:txBody>
      </p:sp>
      <p:pic>
        <p:nvPicPr>
          <p:cNvPr id="1365258165" name=""/>
          <p:cNvPicPr>
            <a:picLocks noChangeAspect="1"/>
          </p:cNvPicPr>
          <p:nvPr>
            <p:ph idx="1"/>
          </p:nvPr>
        </p:nvPicPr>
        <p:blipFill rotWithShape="1">
          <a:blip r:embed="rId3"/>
          <a:srcRect l="0" t="0" r="0" b="8498"/>
          <a:stretch/>
        </p:blipFill>
        <p:spPr bwMode="auto">
          <a:xfrm rot="0" flipH="0" flipV="0">
            <a:off x="1094079" y="-4906"/>
            <a:ext cx="10003840" cy="686781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385166"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Core Principles of NoSQL</a:t>
            </a:r>
            <a:endParaRPr b="1"/>
          </a:p>
        </p:txBody>
      </p:sp>
      <p:sp>
        <p:nvSpPr>
          <p:cNvPr id="1680965158" name="Content Placeholder 2"/>
          <p:cNvSpPr>
            <a:spLocks noGrp="1"/>
          </p:cNvSpPr>
          <p:nvPr>
            <p:ph idx="1"/>
          </p:nvPr>
        </p:nvSpPr>
        <p:spPr bwMode="auto"/>
        <p:txBody>
          <a:bodyPr/>
          <a:lstStyle/>
          <a:p>
            <a:pPr algn="just">
              <a:defRPr/>
            </a:pPr>
            <a:r>
              <a:rPr lang="en-US" sz="2600" b="0" i="0" u="none" strike="noStrike" cap="none" spc="0">
                <a:solidFill>
                  <a:srgbClr val="000000"/>
                </a:solidFill>
                <a:latin typeface="Arial"/>
                <a:ea typeface="Arial"/>
                <a:cs typeface="Arial"/>
              </a:rPr>
              <a:t>NoSQL systems are based on fundamentally different design principles, oriented from the outset toward distributed, large-scale, cloud-native environments.</a:t>
            </a:r>
            <a:endParaRPr sz="2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2930844"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Distributed by Design</a:t>
            </a:r>
            <a:endParaRPr sz="4400" b="1"/>
          </a:p>
        </p:txBody>
      </p:sp>
      <p:sp>
        <p:nvSpPr>
          <p:cNvPr id="1606541018" name="Content Placeholder 2"/>
          <p:cNvSpPr>
            <a:spLocks noGrp="1"/>
          </p:cNvSpPr>
          <p:nvPr>
            <p:ph idx="1"/>
          </p:nvPr>
        </p:nvSpPr>
        <p:spPr bwMode="auto"/>
        <p:txBody>
          <a:bodyPr/>
          <a:lstStyle/>
          <a:p>
            <a:pPr>
              <a:defRPr/>
            </a:pPr>
            <a:r>
              <a:rPr lang="en-US" sz="2600" b="0" i="0" u="none" strike="noStrike" cap="none" spc="0">
                <a:solidFill>
                  <a:srgbClr val="000000"/>
                </a:solidFill>
                <a:latin typeface="Arial"/>
                <a:ea typeface="Arial"/>
                <a:cs typeface="Arial"/>
              </a:rPr>
              <a:t>NoSQL systems are distributed by nature:</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No central node</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Operate on multiple equal servers</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Assume network and node failures</a:t>
            </a:r>
            <a:endParaRPr lang="en-US" sz="2600" b="0" i="0" u="none" strike="noStrike" cap="none" spc="0">
              <a:solidFill>
                <a:srgbClr val="000000"/>
              </a:solidFill>
              <a:latin typeface="Arial"/>
              <a:cs typeface="Arial"/>
            </a:endParaRPr>
          </a:p>
          <a:p>
            <a:pPr>
              <a:defRPr/>
            </a:pPr>
            <a:endParaRPr lang="en-US" sz="2600" b="0" i="0" u="none" strike="noStrike" cap="none" spc="0">
              <a:solidFill>
                <a:srgbClr val="000000"/>
              </a:solidFill>
              <a:latin typeface="Arial"/>
              <a:cs typeface="Arial"/>
            </a:endParaRPr>
          </a:p>
          <a:p>
            <a:pPr marL="0" indent="0">
              <a:buFont typeface="Arial"/>
              <a:buNone/>
              <a:defRPr/>
            </a:pPr>
            <a:r>
              <a:rPr lang="en-US" sz="2600" b="0" i="0" u="none" strike="noStrike" cap="none" spc="0">
                <a:solidFill>
                  <a:srgbClr val="000000"/>
                </a:solidFill>
                <a:latin typeface="Arial"/>
                <a:ea typeface="Arial"/>
                <a:cs typeface="Arial"/>
              </a:rPr>
              <a:t>Distribution is not an afterthought, but a structural characteristic.</a:t>
            </a:r>
            <a:endParaRPr sz="26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5667750"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Horizontal Scalability</a:t>
            </a:r>
            <a:endParaRPr b="1"/>
          </a:p>
        </p:txBody>
      </p:sp>
      <p:sp>
        <p:nvSpPr>
          <p:cNvPr id="1511440322" name="Content Placeholder 2"/>
          <p:cNvSpPr>
            <a:spLocks noGrp="1"/>
          </p:cNvSpPr>
          <p:nvPr>
            <p:ph idx="1"/>
          </p:nvPr>
        </p:nvSpPr>
        <p:spPr bwMode="auto"/>
        <p:txBody>
          <a:bodyPr/>
          <a:lstStyle/>
          <a:p>
            <a:pPr>
              <a:defRPr/>
            </a:pPr>
            <a:r>
              <a:rPr sz="2600" b="0" i="0" u="none">
                <a:solidFill>
                  <a:srgbClr val="000000"/>
                </a:solidFill>
                <a:latin typeface="Arial"/>
                <a:ea typeface="Arial"/>
                <a:cs typeface="Arial"/>
              </a:rPr>
              <a:t>Scaling through scale-out:</a:t>
            </a:r>
            <a:endParaRPr sz="2600">
              <a:latin typeface="Arial"/>
              <a:cs typeface="Arial"/>
            </a:endParaRPr>
          </a:p>
          <a:p>
            <a:pPr lvl="1">
              <a:defRPr/>
            </a:pPr>
            <a:r>
              <a:rPr sz="2600" b="0" i="0" u="none">
                <a:solidFill>
                  <a:srgbClr val="000000"/>
                </a:solidFill>
                <a:latin typeface="Arial"/>
                <a:ea typeface="Arial"/>
                <a:cs typeface="Arial"/>
              </a:rPr>
              <a:t>Adding nodes without downtime</a:t>
            </a:r>
            <a:endParaRPr sz="2600">
              <a:latin typeface="Arial"/>
              <a:cs typeface="Arial"/>
            </a:endParaRPr>
          </a:p>
          <a:p>
            <a:pPr lvl="1">
              <a:defRPr/>
            </a:pPr>
            <a:r>
              <a:rPr sz="2600" b="0" i="0" u="none">
                <a:solidFill>
                  <a:srgbClr val="000000"/>
                </a:solidFill>
                <a:latin typeface="Arial"/>
                <a:ea typeface="Arial"/>
                <a:cs typeface="Arial"/>
              </a:rPr>
              <a:t>Sharding</a:t>
            </a:r>
            <a:endParaRPr sz="2600">
              <a:latin typeface="Arial"/>
              <a:cs typeface="Arial"/>
            </a:endParaRPr>
          </a:p>
          <a:p>
            <a:pPr lvl="1">
              <a:defRPr/>
            </a:pPr>
            <a:r>
              <a:rPr sz="2600" b="0" i="0" u="none">
                <a:solidFill>
                  <a:srgbClr val="000000"/>
                </a:solidFill>
                <a:latin typeface="Arial"/>
                <a:ea typeface="Arial"/>
                <a:cs typeface="Arial"/>
              </a:rPr>
              <a:t>Linear growth in capacity and throughput</a:t>
            </a:r>
            <a:endParaRPr sz="2600">
              <a:latin typeface="Arial"/>
              <a:cs typeface="Arial"/>
            </a:endParaRPr>
          </a:p>
          <a:p>
            <a:pPr>
              <a:defRPr/>
            </a:pPr>
            <a:endParaRPr sz="2600">
              <a:latin typeface="Arial"/>
              <a:cs typeface="Arial"/>
            </a:endParaRPr>
          </a:p>
          <a:p>
            <a:pPr>
              <a:defRPr/>
            </a:pPr>
            <a:r>
              <a:rPr sz="2600" b="0" i="0" u="none">
                <a:solidFill>
                  <a:srgbClr val="000000"/>
                </a:solidFill>
                <a:latin typeface="Arial"/>
                <a:ea typeface="Arial"/>
                <a:cs typeface="Arial"/>
              </a:rPr>
              <a:t>Performance increases through parallelism.</a:t>
            </a:r>
            <a:endParaRPr sz="26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9198712"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upright="0" compatLnSpc="0">
            <a:normAutofit/>
          </a:bodyPr>
          <a:lstStyle/>
          <a:p>
            <a:pPr>
              <a:defRPr/>
            </a:pPr>
            <a:r>
              <a:rPr lang="en-US" sz="4400" b="1" i="0" u="none" strike="noStrike" cap="none" spc="0">
                <a:solidFill>
                  <a:schemeClr val="tx1"/>
                </a:solidFill>
                <a:latin typeface="Arial"/>
                <a:ea typeface="Arial"/>
                <a:cs typeface="Arial"/>
              </a:rPr>
              <a:t>High Availability</a:t>
            </a:r>
            <a:endParaRPr sz="4400" b="1"/>
          </a:p>
        </p:txBody>
      </p:sp>
      <p:sp>
        <p:nvSpPr>
          <p:cNvPr id="265301117"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sz="2800" b="0" i="0" u="none">
                <a:solidFill>
                  <a:srgbClr val="000000"/>
                </a:solidFill>
                <a:latin typeface="Arial"/>
                <a:ea typeface="Arial"/>
                <a:cs typeface="Arial"/>
              </a:rPr>
              <a:t>High availability is a primary objective:</a:t>
            </a:r>
            <a:endParaRPr sz="2800">
              <a:latin typeface="Arial"/>
              <a:cs typeface="Arial"/>
            </a:endParaRPr>
          </a:p>
          <a:p>
            <a:pPr>
              <a:defRPr/>
            </a:pPr>
            <a:r>
              <a:rPr sz="2800" b="0" i="0" u="none">
                <a:solidFill>
                  <a:srgbClr val="000000"/>
                </a:solidFill>
                <a:latin typeface="Arial"/>
                <a:ea typeface="Arial"/>
                <a:cs typeface="Arial"/>
              </a:rPr>
              <a:t>Data replication across nodes</a:t>
            </a:r>
            <a:endParaRPr sz="2800">
              <a:latin typeface="Arial"/>
              <a:cs typeface="Arial"/>
            </a:endParaRPr>
          </a:p>
          <a:p>
            <a:pPr>
              <a:defRPr/>
            </a:pPr>
            <a:r>
              <a:rPr sz="2800" b="0" i="0" u="none">
                <a:solidFill>
                  <a:srgbClr val="000000"/>
                </a:solidFill>
                <a:latin typeface="Arial"/>
                <a:ea typeface="Arial"/>
                <a:cs typeface="Arial"/>
              </a:rPr>
              <a:t>Requests served by healthy replicas</a:t>
            </a:r>
            <a:endParaRPr sz="2800" b="0" i="0" u="none">
              <a:solidFill>
                <a:srgbClr val="000000"/>
              </a:solidFill>
              <a:latin typeface="Arial"/>
              <a:ea typeface="Arial"/>
              <a:cs typeface="Arial"/>
            </a:endParaRPr>
          </a:p>
          <a:p>
            <a:pPr>
              <a:defRPr/>
            </a:pPr>
            <a:r>
              <a:rPr sz="2800" b="0" i="0" u="none">
                <a:solidFill>
                  <a:srgbClr val="000000"/>
                </a:solidFill>
                <a:latin typeface="Arial"/>
                <a:ea typeface="Arial"/>
                <a:cs typeface="Arial"/>
              </a:rPr>
              <a:t>Minimal or zero downtime</a:t>
            </a:r>
            <a:endParaRPr sz="2800">
              <a:latin typeface="Arial"/>
              <a:cs typeface="Arial"/>
            </a:endParaRPr>
          </a:p>
          <a:p>
            <a:pPr marL="0" indent="0">
              <a:buFont typeface="Arial"/>
              <a:buNone/>
              <a:defRPr/>
            </a:pPr>
            <a:endParaRPr sz="2800" b="0" i="0" u="none">
              <a:solidFill>
                <a:srgbClr val="000000"/>
              </a:solidFill>
              <a:latin typeface="Arial"/>
              <a:cs typeface="Arial"/>
            </a:endParaRPr>
          </a:p>
          <a:p>
            <a:pPr>
              <a:defRPr/>
            </a:pPr>
            <a:r>
              <a:rPr sz="2800" b="1" i="0" u="none">
                <a:solidFill>
                  <a:srgbClr val="000000"/>
                </a:solidFill>
                <a:latin typeface="Arial"/>
                <a:ea typeface="Arial"/>
                <a:cs typeface="Arial"/>
              </a:rPr>
              <a:t>NoSQL systems are designed to ensure the service remains available even under fault conditions.</a:t>
            </a:r>
            <a:endParaRPr sz="2800">
              <a:latin typeface="Arial"/>
              <a:cs typeface="Arial"/>
            </a:endParaRPr>
          </a:p>
          <a:p>
            <a:pPr marL="0" indent="0">
              <a:buFont typeface="Arial"/>
              <a:buNone/>
              <a:defRPr/>
            </a:pPr>
            <a:r>
              <a:rPr sz="2800" b="0" i="0" u="none">
                <a:solidFill>
                  <a:srgbClr val="000000"/>
                </a:solidFill>
                <a:latin typeface="Arial"/>
                <a:ea typeface="Arial"/>
                <a:cs typeface="Arial"/>
              </a:rPr>
              <a:t> </a:t>
            </a:r>
            <a:endParaRPr sz="2800" b="0" i="0" u="none">
              <a:solidFill>
                <a:srgbClr val="000000"/>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1648718"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Fault Tolerance</a:t>
            </a:r>
            <a:endParaRPr b="1"/>
          </a:p>
        </p:txBody>
      </p:sp>
      <p:sp>
        <p:nvSpPr>
          <p:cNvPr id="1382217702" name="Content Placeholder 2"/>
          <p:cNvSpPr>
            <a:spLocks noGrp="1"/>
          </p:cNvSpPr>
          <p:nvPr>
            <p:ph idx="1"/>
          </p:nvPr>
        </p:nvSpPr>
        <p:spPr bwMode="auto"/>
        <p:txBody>
          <a:bodyPr/>
          <a:lstStyle/>
          <a:p>
            <a:pPr>
              <a:defRPr/>
            </a:pPr>
            <a:r>
              <a:rPr lang="en-US" sz="2200" b="0" i="0" u="none" strike="noStrike" cap="none" spc="0">
                <a:solidFill>
                  <a:srgbClr val="000000"/>
                </a:solidFill>
                <a:latin typeface="Arial"/>
                <a:ea typeface="Arial"/>
                <a:cs typeface="Arial"/>
              </a:rPr>
              <a:t>Failure tolerance is built-in:</a:t>
            </a:r>
            <a:endParaRPr lang="en-US" sz="2200" b="0" i="0" u="none" strike="noStrike" cap="none" spc="0">
              <a:solidFill>
                <a:srgbClr val="000000"/>
              </a:solidFill>
              <a:latin typeface="Arial"/>
              <a:cs typeface="Arial"/>
            </a:endParaRPr>
          </a:p>
          <a:p>
            <a:pPr>
              <a:defRPr/>
            </a:pPr>
            <a:r>
              <a:rPr lang="en-US" sz="2200" b="0" i="0" u="none" strike="noStrike" cap="none" spc="0">
                <a:solidFill>
                  <a:srgbClr val="000000"/>
                </a:solidFill>
                <a:latin typeface="Arial"/>
                <a:ea typeface="Arial"/>
                <a:cs typeface="Arial"/>
              </a:rPr>
              <a:t>Node failure does not imply system failure</a:t>
            </a:r>
            <a:endParaRPr lang="en-US" sz="2200" b="0" i="0" u="none" strike="noStrike" cap="none" spc="0">
              <a:solidFill>
                <a:srgbClr val="000000"/>
              </a:solidFill>
              <a:latin typeface="Arial"/>
              <a:cs typeface="Arial"/>
            </a:endParaRPr>
          </a:p>
          <a:p>
            <a:pPr>
              <a:defRPr/>
            </a:pPr>
            <a:r>
              <a:rPr lang="en-US" sz="2200" b="0" i="0" u="none" strike="noStrike" cap="none" spc="0">
                <a:solidFill>
                  <a:srgbClr val="000000"/>
                </a:solidFill>
                <a:latin typeface="Arial"/>
                <a:ea typeface="Arial"/>
                <a:cs typeface="Arial"/>
              </a:rPr>
              <a:t>Automatic redistribution</a:t>
            </a:r>
            <a:endParaRPr lang="en-US" sz="2200" b="0" i="0" u="none" strike="noStrike" cap="none" spc="0">
              <a:solidFill>
                <a:srgbClr val="000000"/>
              </a:solidFill>
              <a:latin typeface="Arial"/>
              <a:ea typeface="Arial"/>
              <a:cs typeface="Arial"/>
            </a:endParaRPr>
          </a:p>
          <a:p>
            <a:pPr>
              <a:defRPr/>
            </a:pPr>
            <a:r>
              <a:rPr lang="en-US" sz="2200" b="0" i="0" u="none" strike="noStrike" cap="none" spc="0">
                <a:solidFill>
                  <a:srgbClr val="000000"/>
                </a:solidFill>
                <a:latin typeface="Arial"/>
                <a:ea typeface="Arial"/>
                <a:cs typeface="Arial"/>
              </a:rPr>
              <a:t>Self-healing mechanisms</a:t>
            </a:r>
            <a:endParaRPr lang="en-US" sz="2200" b="0" i="0" u="none" strike="noStrike" cap="none" spc="0">
              <a:solidFill>
                <a:srgbClr val="000000"/>
              </a:solidFill>
              <a:latin typeface="Arial"/>
              <a:cs typeface="Arial"/>
            </a:endParaRPr>
          </a:p>
          <a:p>
            <a:pPr marL="0" indent="0">
              <a:buFont typeface="Arial"/>
              <a:buNone/>
              <a:defRPr/>
            </a:pPr>
            <a:endParaRPr sz="2600">
              <a:latin typeface="Arial"/>
              <a:cs typeface="Arial"/>
            </a:endParaRPr>
          </a:p>
          <a:p>
            <a:pPr marL="0" indent="0">
              <a:buFont typeface="Arial"/>
              <a:buNone/>
              <a:defRPr/>
            </a:pPr>
            <a:r>
              <a:rPr lang="en-US" sz="2600" b="0" i="0" u="none" strike="noStrike" cap="none" spc="0">
                <a:solidFill>
                  <a:srgbClr val="000000"/>
                </a:solidFill>
                <a:latin typeface="Arial"/>
                <a:ea typeface="Arial"/>
                <a:cs typeface="Arial"/>
              </a:rPr>
              <a:t>"The system continues to operate, even with reduced performance, until full recovery."</a:t>
            </a:r>
            <a:endParaRPr sz="26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6877757"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upright="0" compatLnSpc="0">
            <a:normAutofit/>
          </a:bodyPr>
          <a:lstStyle/>
          <a:p>
            <a:pPr>
              <a:defRPr/>
            </a:pPr>
            <a:r>
              <a:rPr lang="en-US" sz="4400" b="1" i="0" u="none" strike="noStrike" cap="none" spc="0">
                <a:solidFill>
                  <a:schemeClr val="tx1"/>
                </a:solidFill>
                <a:latin typeface="Arial"/>
                <a:ea typeface="Arial"/>
                <a:cs typeface="Arial"/>
              </a:rPr>
              <a:t>NoSQL - Conclusion</a:t>
            </a:r>
            <a:endParaRPr sz="4400" b="1"/>
          </a:p>
        </p:txBody>
      </p:sp>
      <p:sp>
        <p:nvSpPr>
          <p:cNvPr id="384253427"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n-US" sz="2200" b="0" i="0" u="none" strike="noStrike" cap="none" spc="0">
                <a:solidFill>
                  <a:srgbClr val="000000"/>
                </a:solidFill>
                <a:latin typeface="Arial"/>
                <a:ea typeface="Arial"/>
                <a:cs typeface="Arial"/>
              </a:rPr>
              <a:t>NoSQL systems were designed for a world where:</a:t>
            </a:r>
            <a:endParaRPr lang="en-US" sz="2200" b="0" i="0" u="none" strike="noStrike" cap="none" spc="0">
              <a:solidFill>
                <a:srgbClr val="000000"/>
              </a:solidFill>
              <a:latin typeface="Arial"/>
              <a:cs typeface="Arial"/>
            </a:endParaRPr>
          </a:p>
          <a:p>
            <a:pPr>
              <a:defRPr/>
            </a:pPr>
            <a:r>
              <a:rPr lang="en-US" sz="2200" b="0" i="0" u="none" strike="noStrike" cap="none" spc="0">
                <a:solidFill>
                  <a:srgbClr val="000000"/>
                </a:solidFill>
                <a:latin typeface="Arial"/>
                <a:ea typeface="Arial"/>
                <a:cs typeface="Arial"/>
              </a:rPr>
              <a:t>Failures are expected</a:t>
            </a:r>
            <a:endParaRPr lang="en-US" sz="2200" b="0" i="0" u="none" strike="noStrike" cap="none" spc="0">
              <a:solidFill>
                <a:srgbClr val="000000"/>
              </a:solidFill>
              <a:latin typeface="Arial"/>
              <a:cs typeface="Arial"/>
            </a:endParaRPr>
          </a:p>
          <a:p>
            <a:pPr>
              <a:defRPr/>
            </a:pPr>
            <a:r>
              <a:rPr lang="en-US" sz="2200" b="0" i="0" u="none" strike="noStrike" cap="none" spc="0">
                <a:solidFill>
                  <a:srgbClr val="000000"/>
                </a:solidFill>
                <a:latin typeface="Arial"/>
                <a:ea typeface="Arial"/>
                <a:cs typeface="Arial"/>
              </a:rPr>
              <a:t>Scale is massive</a:t>
            </a:r>
            <a:endParaRPr lang="en-US" sz="2200" b="0" i="0" u="none" strike="noStrike" cap="none" spc="0">
              <a:solidFill>
                <a:srgbClr val="000000"/>
              </a:solidFill>
              <a:latin typeface="Arial"/>
              <a:ea typeface="Arial"/>
              <a:cs typeface="Arial"/>
            </a:endParaRPr>
          </a:p>
          <a:p>
            <a:pPr>
              <a:defRPr/>
            </a:pPr>
            <a:r>
              <a:rPr lang="en-US" sz="2200" b="0" i="0" u="none" strike="noStrike" cap="none" spc="0">
                <a:solidFill>
                  <a:srgbClr val="000000"/>
                </a:solidFill>
                <a:latin typeface="Arial"/>
                <a:ea typeface="Arial"/>
                <a:cs typeface="Arial"/>
              </a:rPr>
              <a:t>Availability is critical</a:t>
            </a:r>
            <a:endParaRPr lang="en-US" sz="2200" b="0" i="0" u="none" strike="noStrike" cap="none" spc="0">
              <a:solidFill>
                <a:srgbClr val="000000"/>
              </a:solidFill>
              <a:latin typeface="Arial"/>
              <a:cs typeface="Arial"/>
            </a:endParaRPr>
          </a:p>
          <a:p>
            <a:pPr marL="0" indent="0">
              <a:buFont typeface="Arial"/>
              <a:buNone/>
              <a:defRPr/>
            </a:pPr>
            <a:endParaRPr sz="2600">
              <a:latin typeface="Arial"/>
              <a:cs typeface="Arial"/>
            </a:endParaRPr>
          </a:p>
          <a:p>
            <a:pPr marL="0" indent="0">
              <a:buFont typeface="Arial"/>
              <a:buNone/>
              <a:defRPr/>
            </a:pPr>
            <a:r>
              <a:rPr lang="en-US" sz="2600" b="0" i="0" u="none" strike="noStrike" cap="none" spc="0">
                <a:solidFill>
                  <a:srgbClr val="000000"/>
                </a:solidFill>
                <a:latin typeface="Arial"/>
                <a:ea typeface="Arial"/>
                <a:cs typeface="Arial"/>
              </a:rPr>
              <a:t>The principles of distributed by design, horizontal scalability, high availability and fault tolerance constitute the foundation upon which the entire NoSQL ecosystem is built.</a:t>
            </a:r>
            <a:endParaRPr sz="26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0759895"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Schema Flexibility</a:t>
            </a:r>
            <a:endParaRPr b="1"/>
          </a:p>
        </p:txBody>
      </p:sp>
      <p:sp>
        <p:nvSpPr>
          <p:cNvPr id="1535934362" name="Content Placeholder 2"/>
          <p:cNvSpPr>
            <a:spLocks noGrp="1"/>
          </p:cNvSpPr>
          <p:nvPr>
            <p:ph idx="1"/>
          </p:nvPr>
        </p:nvSpPr>
        <p:spPr bwMode="auto"/>
        <p:txBody>
          <a:bodyPr/>
          <a:lstStyle/>
          <a:p>
            <a:pPr>
              <a:defRPr/>
            </a:pPr>
            <a:r>
              <a:rPr lang="en-US" sz="2600" b="0" i="0" u="none" strike="noStrike" cap="none" spc="0">
                <a:solidFill>
                  <a:srgbClr val="000000"/>
                </a:solidFill>
                <a:latin typeface="Arial"/>
                <a:ea typeface="Arial"/>
                <a:cs typeface="Arial"/>
              </a:rPr>
              <a:t>One of the defining features of NoSQL systems is schema flexibility.</a:t>
            </a:r>
            <a:endParaRPr lang="en-US" sz="2600" b="0" i="0" u="none" strike="noStrike" cap="none" spc="0">
              <a:solidFill>
                <a:srgbClr val="000000"/>
              </a:solidFill>
              <a:latin typeface="Arial"/>
              <a:cs typeface="Arial"/>
            </a:endParaRPr>
          </a:p>
          <a:p>
            <a:pPr>
              <a:defRPr/>
            </a:pPr>
            <a:endParaRPr lang="en-US" sz="2600" b="0" i="0" u="none" strike="noStrike" cap="none" spc="0">
              <a:solidFill>
                <a:srgbClr val="000000"/>
              </a:solidFill>
              <a:latin typeface="Arial"/>
              <a:cs typeface="Arial"/>
            </a:endParaRPr>
          </a:p>
          <a:p>
            <a:pPr algn="just">
              <a:defRPr/>
            </a:pPr>
            <a:r>
              <a:rPr lang="en-US" sz="2600" b="0" i="0" u="none" strike="noStrike" cap="none" spc="0">
                <a:solidFill>
                  <a:srgbClr val="000000"/>
                </a:solidFill>
                <a:latin typeface="Arial"/>
                <a:ea typeface="Arial"/>
                <a:cs typeface="Arial"/>
              </a:rPr>
              <a:t>Unlike traditional RDBMS, where schema is strictly predefined, NoSQL adopts dynamic approaches suited for rapidly changing data environments.</a:t>
            </a:r>
            <a:endParaRPr sz="2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6379478"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Schema-less</a:t>
            </a:r>
            <a:endParaRPr sz="4400" b="1"/>
          </a:p>
        </p:txBody>
      </p:sp>
      <p:sp>
        <p:nvSpPr>
          <p:cNvPr id="903468511" name="Content Placeholder 2"/>
          <p:cNvSpPr>
            <a:spLocks noGrp="1"/>
          </p:cNvSpPr>
          <p:nvPr>
            <p:ph idx="1"/>
          </p:nvPr>
        </p:nvSpPr>
        <p:spPr bwMode="auto"/>
        <p:txBody>
          <a:bodyPr/>
          <a:lstStyle/>
          <a:p>
            <a:pPr>
              <a:defRPr/>
            </a:pPr>
            <a:r>
              <a:rPr lang="en-US" sz="2600" b="0" i="0" u="none" strike="noStrike" cap="none" spc="0">
                <a:solidFill>
                  <a:srgbClr val="000000"/>
                </a:solidFill>
                <a:latin typeface="Arial"/>
                <a:ea typeface="Arial"/>
                <a:cs typeface="Arial"/>
              </a:rPr>
              <a:t>Schema-less does not mean absence of structure, but:</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No strictly enforced central schema</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Different structures per record</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Data stored without predefined format</a:t>
            </a:r>
            <a:endParaRPr lang="en-US" sz="2600" b="0" i="0" u="none" strike="noStrike" cap="none" spc="0">
              <a:solidFill>
                <a:srgbClr val="000000"/>
              </a:solidFill>
              <a:latin typeface="Arial"/>
              <a:cs typeface="Arial"/>
            </a:endParaRPr>
          </a:p>
          <a:p>
            <a:pPr>
              <a:defRPr/>
            </a:pPr>
            <a:endParaRPr lang="en-US" sz="2600" b="0" i="0" u="none" strike="noStrike" cap="none" spc="0">
              <a:solidFill>
                <a:srgbClr val="000000"/>
              </a:solidFill>
              <a:latin typeface="Arial"/>
              <a:cs typeface="Arial"/>
            </a:endParaRPr>
          </a:p>
          <a:p>
            <a:pPr marL="0" indent="0">
              <a:buFont typeface="Arial"/>
              <a:buNone/>
              <a:defRPr/>
            </a:pPr>
            <a:r>
              <a:rPr lang="en-US" sz="2600" b="0" i="0" u="none" strike="noStrike" cap="none" spc="0">
                <a:solidFill>
                  <a:srgbClr val="000000"/>
                </a:solidFill>
                <a:latin typeface="Arial"/>
                <a:ea typeface="Arial"/>
                <a:cs typeface="Arial"/>
              </a:rPr>
              <a:t>Structure interpretation often moves to the application.</a:t>
            </a:r>
            <a:endParaRPr sz="26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12643125"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Schema-</a:t>
            </a:r>
            <a:r>
              <a:rPr b="1"/>
              <a:t>on-read</a:t>
            </a:r>
            <a:endParaRPr sz="4400" b="1"/>
          </a:p>
        </p:txBody>
      </p:sp>
      <p:sp>
        <p:nvSpPr>
          <p:cNvPr id="703997851" name="Content Placeholder 2"/>
          <p:cNvSpPr>
            <a:spLocks noGrp="1"/>
          </p:cNvSpPr>
          <p:nvPr>
            <p:ph idx="1"/>
          </p:nvPr>
        </p:nvSpPr>
        <p:spPr bwMode="auto"/>
        <p:txBody>
          <a:bodyPr/>
          <a:lstStyle/>
          <a:p>
            <a:pPr>
              <a:defRPr/>
            </a:pPr>
            <a:r>
              <a:rPr lang="en-US" sz="2600" b="0" i="0" u="none" strike="noStrike" cap="none" spc="0">
                <a:solidFill>
                  <a:srgbClr val="000000"/>
                </a:solidFill>
                <a:latin typeface="Arial"/>
                <a:ea typeface="Arial"/>
                <a:cs typeface="Arial"/>
              </a:rPr>
              <a:t>In schema-on-read:</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Data are stored as generated</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Schema applied at read time</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Different applications interpret the same data differently</a:t>
            </a:r>
            <a:endParaRPr lang="en-US" sz="2600" b="0" i="0" u="none" strike="noStrike" cap="none" spc="0">
              <a:solidFill>
                <a:srgbClr val="000000"/>
              </a:solidFill>
              <a:latin typeface="Arial"/>
              <a:cs typeface="Arial"/>
            </a:endParaRPr>
          </a:p>
          <a:p>
            <a:pPr>
              <a:defRPr/>
            </a:pPr>
            <a:endParaRPr lang="en-US" sz="2600" b="0" i="0" u="none" strike="noStrike" cap="none" spc="0">
              <a:solidFill>
                <a:srgbClr val="000000"/>
              </a:solidFill>
              <a:latin typeface="Arial"/>
              <a:cs typeface="Arial"/>
            </a:endParaRPr>
          </a:p>
          <a:p>
            <a:pPr marL="0" indent="0">
              <a:buFont typeface="Arial"/>
              <a:buNone/>
              <a:defRPr/>
            </a:pPr>
            <a:r>
              <a:rPr lang="en-US" sz="2600" b="0" i="0" u="none" strike="noStrike" cap="none" spc="0">
                <a:solidFill>
                  <a:srgbClr val="000000"/>
                </a:solidFill>
                <a:latin typeface="Arial"/>
                <a:ea typeface="Arial"/>
                <a:cs typeface="Arial"/>
              </a:rPr>
              <a:t>Especially useful in analytics and Big Data pipelines.</a:t>
            </a:r>
            <a:endParaRPr sz="26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71210638"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Schema Flexibility</a:t>
            </a:r>
            <a:endParaRPr/>
          </a:p>
        </p:txBody>
      </p:sp>
      <p:pic>
        <p:nvPicPr>
          <p:cNvPr id="1076035014" name=""/>
          <p:cNvPicPr>
            <a:picLocks noChangeAspect="1"/>
          </p:cNvPicPr>
          <p:nvPr>
            <p:ph idx="1"/>
          </p:nvPr>
        </p:nvPicPr>
        <p:blipFill rotWithShape="1">
          <a:blip r:embed="rId3"/>
          <a:srcRect l="18038" t="6928" r="15819" b="8042"/>
          <a:stretch/>
        </p:blipFill>
        <p:spPr bwMode="auto">
          <a:xfrm rot="0" flipH="0" flipV="0">
            <a:off x="3574089" y="1580283"/>
            <a:ext cx="5173803" cy="498013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9417794"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Evolution of Data Models</a:t>
            </a:r>
            <a:endParaRPr sz="4400" b="1"/>
          </a:p>
        </p:txBody>
      </p:sp>
      <p:sp>
        <p:nvSpPr>
          <p:cNvPr id="1358166410" name="Content Placeholder 2"/>
          <p:cNvSpPr>
            <a:spLocks noGrp="1"/>
          </p:cNvSpPr>
          <p:nvPr>
            <p:ph idx="1"/>
          </p:nvPr>
        </p:nvSpPr>
        <p:spPr bwMode="auto"/>
        <p:txBody>
          <a:bodyPr/>
          <a:lstStyle/>
          <a:p>
            <a:pPr>
              <a:defRPr/>
            </a:pPr>
            <a:r>
              <a:rPr lang="en-US" sz="2600" b="0" i="0" u="none" strike="noStrike" cap="none" spc="0">
                <a:solidFill>
                  <a:srgbClr val="000000"/>
                </a:solidFill>
                <a:latin typeface="Arial"/>
                <a:ea typeface="Arial"/>
                <a:cs typeface="Arial"/>
              </a:rPr>
              <a:t>Schema flexibility allows:</a:t>
            </a:r>
            <a:endParaRPr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Gradual data evolution without downtime</a:t>
            </a:r>
            <a:endParaRPr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Easy addition of new fields</a:t>
            </a:r>
            <a:endParaRPr sz="2600" b="0" i="0" u="none" strike="noStrike" cap="none" spc="0">
              <a:solidFill>
                <a:srgbClr val="000000"/>
              </a:solidFill>
              <a:latin typeface="Arial"/>
              <a:ea typeface="Arial"/>
              <a:cs typeface="Arial"/>
            </a:endParaRPr>
          </a:p>
          <a:p>
            <a:pPr>
              <a:defRPr/>
            </a:pPr>
            <a:r>
              <a:rPr lang="en-US" sz="2600" b="0" i="0" u="none" strike="noStrike" cap="none" spc="0">
                <a:solidFill>
                  <a:srgbClr val="000000"/>
                </a:solidFill>
                <a:latin typeface="Arial"/>
                <a:ea typeface="Arial"/>
                <a:cs typeface="Arial"/>
              </a:rPr>
              <a:t>Coexistence of old and new versions</a:t>
            </a:r>
            <a:endParaRPr sz="2600" b="0" i="0" u="none" strike="noStrike" cap="none" spc="0">
              <a:solidFill>
                <a:srgbClr val="000000"/>
              </a:solidFill>
              <a:latin typeface="Arial"/>
              <a:cs typeface="Arial"/>
            </a:endParaRPr>
          </a:p>
          <a:p>
            <a:pPr marL="0" indent="0">
              <a:buFont typeface="Arial"/>
              <a:buNone/>
              <a:defRPr/>
            </a:pPr>
            <a:endParaRPr sz="2600">
              <a:latin typeface="Arial"/>
              <a:cs typeface="Arial"/>
            </a:endParaRPr>
          </a:p>
          <a:p>
            <a:pPr marL="0" indent="0">
              <a:buFont typeface="Arial"/>
              <a:buNone/>
              <a:defRPr/>
            </a:pPr>
            <a:r>
              <a:rPr lang="en-US" sz="2600" b="0" i="0" u="none" strike="noStrike" cap="none" spc="0">
                <a:solidFill>
                  <a:schemeClr val="tx1"/>
                </a:solidFill>
                <a:latin typeface="Arial"/>
                <a:ea typeface="Arial"/>
                <a:cs typeface="Arial"/>
              </a:rPr>
              <a:t>Data models evolve with the application, without heavy migrations or database redesign.</a:t>
            </a:r>
            <a:endParaRPr sz="2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64683033" name=""/>
          <p:cNvPicPr>
            <a:picLocks noChangeAspect="1"/>
          </p:cNvPicPr>
          <p:nvPr>
            <p:ph idx="1"/>
          </p:nvPr>
        </p:nvPicPr>
        <p:blipFill rotWithShape="1">
          <a:blip r:embed="rId3"/>
          <a:stretch/>
        </p:blipFill>
        <p:spPr bwMode="auto">
          <a:xfrm rot="0" flipH="0" flipV="0">
            <a:off x="3023317" y="17483"/>
            <a:ext cx="5820081" cy="685591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91017784"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upright="0" compatLnSpc="0">
            <a:normAutofit/>
          </a:bodyPr>
          <a:lstStyle/>
          <a:p>
            <a:pPr>
              <a:defRPr/>
            </a:pPr>
            <a:r>
              <a:rPr lang="en-US" sz="4400" b="1" i="0" u="none" strike="noStrike" cap="none" spc="0">
                <a:solidFill>
                  <a:schemeClr val="tx1"/>
                </a:solidFill>
                <a:latin typeface="Arial"/>
                <a:ea typeface="Arial"/>
                <a:cs typeface="Arial"/>
              </a:rPr>
              <a:t>Schema Flexibility</a:t>
            </a:r>
            <a:r>
              <a:rPr lang="el-GR" sz="4400" b="1" i="0" u="none" strike="noStrike" cap="none" spc="0">
                <a:solidFill>
                  <a:schemeClr val="tx1"/>
                </a:solidFill>
                <a:latin typeface="Arial"/>
                <a:ea typeface="Arial"/>
                <a:cs typeface="Arial"/>
              </a:rPr>
              <a:t> - </a:t>
            </a:r>
            <a:r>
              <a:rPr lang="el-GR" b="1"/>
              <a:t>Συμπεράσματα</a:t>
            </a:r>
            <a:endParaRPr sz="4400" b="1"/>
          </a:p>
        </p:txBody>
      </p:sp>
      <p:sp>
        <p:nvSpPr>
          <p:cNvPr id="803529117" name="Content Placeholder 2"/>
          <p:cNvSpPr>
            <a:spLocks noGrp="1"/>
          </p:cNvSpPr>
          <p:nvPr>
            <p:ph idx="1"/>
          </p:nvPr>
        </p:nvSpPr>
        <p:spPr bwMode="auto"/>
        <p:txBody>
          <a:bodyPr/>
          <a:lstStyle/>
          <a:p>
            <a:pPr marL="0" indent="0" algn="just">
              <a:buFont typeface="Arial"/>
              <a:buNone/>
              <a:defRPr/>
            </a:pPr>
            <a:r>
              <a:rPr lang="en-US" sz="2600" b="0" i="0" u="none" strike="noStrike" cap="none" spc="0">
                <a:solidFill>
                  <a:srgbClr val="000000"/>
                </a:solidFill>
                <a:latin typeface="Arial"/>
                <a:ea typeface="Arial"/>
                <a:cs typeface="Arial"/>
              </a:rPr>
              <a:t>Schema flexibility in NoSQL systems reflects the reality of modern applications: data changes rapidly and is not always fully known in advance. Schema-less and schema-on-read enable rapid development, experimentation, and adaptability in large-scale, distributed environments.</a:t>
            </a:r>
            <a:endParaRPr sz="2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870462"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Denormalization</a:t>
            </a:r>
            <a:endParaRPr b="1"/>
          </a:p>
        </p:txBody>
      </p:sp>
      <p:sp>
        <p:nvSpPr>
          <p:cNvPr id="389266487" name="Content Placeholder 2"/>
          <p:cNvSpPr>
            <a:spLocks noGrp="1"/>
          </p:cNvSpPr>
          <p:nvPr>
            <p:ph idx="1"/>
          </p:nvPr>
        </p:nvSpPr>
        <p:spPr bwMode="auto"/>
        <p:txBody>
          <a:bodyPr/>
          <a:lstStyle/>
          <a:p>
            <a:pPr algn="just">
              <a:defRPr/>
            </a:pPr>
            <a:r>
              <a:rPr lang="en-US" sz="2600" b="0" i="0" u="none" strike="noStrike" cap="none" spc="0">
                <a:solidFill>
                  <a:srgbClr val="000000"/>
                </a:solidFill>
                <a:latin typeface="Arial"/>
                <a:ea typeface="Arial"/>
                <a:cs typeface="Arial"/>
              </a:rPr>
              <a:t>Denormalization is a central design choice in NoSQL systems. Unlike the relational model, where normalization and joins are a key mechanism, NoSQL systems adopt a different philosophy, oriented towards performance and scalability.</a:t>
            </a:r>
            <a:endParaRPr sz="2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74347740" name="Title 1"/>
          <p:cNvSpPr>
            <a:spLocks noGrp="1"/>
          </p:cNvSpPr>
          <p:nvPr>
            <p:ph type="title"/>
          </p:nvPr>
        </p:nvSpPr>
        <p:spPr bwMode="auto"/>
        <p:txBody>
          <a:bodyPr/>
          <a:lstStyle/>
          <a:p>
            <a:pPr>
              <a:defRPr/>
            </a:pPr>
            <a:endParaRPr/>
          </a:p>
        </p:txBody>
      </p:sp>
      <p:pic>
        <p:nvPicPr>
          <p:cNvPr id="2061148722" name=""/>
          <p:cNvPicPr>
            <a:picLocks noChangeAspect="1"/>
          </p:cNvPicPr>
          <p:nvPr>
            <p:ph idx="1"/>
          </p:nvPr>
        </p:nvPicPr>
        <p:blipFill rotWithShape="1">
          <a:blip r:embed="rId3"/>
          <a:stretch/>
        </p:blipFill>
        <p:spPr bwMode="auto">
          <a:xfrm rot="0" flipH="0" flipV="0">
            <a:off x="1471153" y="93803"/>
            <a:ext cx="9249684" cy="649805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29123933"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Why Joins Are Avoided</a:t>
            </a:r>
            <a:endParaRPr sz="4400" b="1"/>
          </a:p>
        </p:txBody>
      </p:sp>
      <p:sp>
        <p:nvSpPr>
          <p:cNvPr id="822105910"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n-US" sz="2600" b="0" i="0" u="none" strike="noStrike" cap="none" spc="0">
                <a:solidFill>
                  <a:srgbClr val="000000"/>
                </a:solidFill>
                <a:latin typeface="Arial"/>
                <a:ea typeface="Arial"/>
                <a:cs typeface="Arial"/>
              </a:rPr>
              <a:t>In distributed environments:</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Joins require inter-node communication</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Cause heavy data transfer</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Increase latency</a:t>
            </a:r>
            <a:endParaRPr lang="en-US" sz="2600" b="0" i="0" u="none" strike="noStrike" cap="none" spc="0">
              <a:solidFill>
                <a:srgbClr val="000000"/>
              </a:solidFill>
              <a:latin typeface="Arial"/>
              <a:cs typeface="Arial"/>
            </a:endParaRPr>
          </a:p>
          <a:p>
            <a:pPr>
              <a:defRPr/>
            </a:pPr>
            <a:r>
              <a:rPr lang="en-US" sz="2600" b="0" i="0" u="none" strike="noStrike" cap="none" spc="0">
                <a:solidFill>
                  <a:srgbClr val="000000"/>
                </a:solidFill>
                <a:latin typeface="Arial"/>
                <a:ea typeface="Arial"/>
                <a:cs typeface="Arial"/>
              </a:rPr>
              <a:t>Hinder horizontal scalability</a:t>
            </a:r>
            <a:endParaRPr lang="en-US" sz="2600" b="0" i="0" u="none" strike="noStrike" cap="none" spc="0">
              <a:solidFill>
                <a:srgbClr val="000000"/>
              </a:solidFill>
              <a:latin typeface="Arial"/>
              <a:cs typeface="Arial"/>
            </a:endParaRPr>
          </a:p>
          <a:p>
            <a:pPr marL="400050" lvl="1" indent="0">
              <a:buFont typeface="Arial"/>
              <a:buNone/>
              <a:defRPr/>
            </a:pPr>
            <a:endParaRPr sz="2600">
              <a:latin typeface="Arial"/>
              <a:cs typeface="Arial"/>
            </a:endParaRPr>
          </a:p>
          <a:p>
            <a:pPr marL="0" indent="0">
              <a:buFont typeface="Arial"/>
              <a:buNone/>
              <a:defRPr/>
            </a:pPr>
            <a:r>
              <a:rPr lang="en-US" sz="2600" b="0" i="0" u="none" strike="noStrike" cap="none" spc="0">
                <a:solidFill>
                  <a:srgbClr val="000000"/>
                </a:solidFill>
                <a:latin typeface="Arial"/>
                <a:ea typeface="Arial"/>
                <a:cs typeface="Arial"/>
              </a:rPr>
              <a:t>For this reason, NoSQL systems are designed so that a query is served by a single node, without complex read associations.</a:t>
            </a:r>
            <a:endParaRPr sz="2600" b="0" i="0" u="none">
              <a:solidFill>
                <a:srgbClr val="000000"/>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5385550"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upright="0" compatLnSpc="0">
            <a:normAutofit/>
          </a:bodyPr>
          <a:lstStyle/>
          <a:p>
            <a:pPr>
              <a:defRPr/>
            </a:pPr>
            <a:r>
              <a:rPr lang="en-US" sz="4400" b="1" i="0" u="none" strike="noStrike" cap="none" spc="0">
                <a:solidFill>
                  <a:schemeClr val="tx1"/>
                </a:solidFill>
                <a:latin typeface="Arial"/>
                <a:ea typeface="Arial"/>
                <a:cs typeface="Arial"/>
              </a:rPr>
              <a:t>Denormalization</a:t>
            </a:r>
            <a:r>
              <a:rPr lang="el-GR" sz="4400" b="1" i="0" u="none" strike="noStrike" cap="none" spc="0">
                <a:solidFill>
                  <a:schemeClr val="tx1"/>
                </a:solidFill>
                <a:latin typeface="Arial"/>
                <a:ea typeface="Arial"/>
                <a:cs typeface="Arial"/>
              </a:rPr>
              <a:t> - </a:t>
            </a:r>
            <a:r>
              <a:rPr lang="en-US" sz="4400" b="1" i="0" u="none" strike="noStrike" cap="none" spc="0">
                <a:solidFill>
                  <a:schemeClr val="tx1"/>
                </a:solidFill>
                <a:latin typeface="Arial"/>
                <a:ea typeface="Arial"/>
                <a:cs typeface="Arial"/>
              </a:rPr>
              <a:t>Replication Δεδομένων</a:t>
            </a:r>
            <a:endParaRPr sz="4400" b="1"/>
          </a:p>
        </p:txBody>
      </p:sp>
      <p:sp>
        <p:nvSpPr>
          <p:cNvPr id="913909554" name="Content Placeholder 2"/>
          <p:cNvSpPr>
            <a:spLocks noGrp="1"/>
          </p:cNvSpPr>
          <p:nvPr>
            <p:ph idx="1"/>
          </p:nvPr>
        </p:nvSpPr>
        <p:spPr bwMode="auto"/>
        <p:txBody>
          <a:bodyPr/>
          <a:lstStyle/>
          <a:p>
            <a:pPr>
              <a:defRPr/>
            </a:pPr>
            <a:r>
              <a:rPr lang="en-US" sz="2800" b="0" i="0" u="none" strike="noStrike" cap="none" spc="0">
                <a:solidFill>
                  <a:srgbClr val="000000"/>
                </a:solidFill>
                <a:latin typeface="Arial"/>
                <a:ea typeface="Arial"/>
                <a:cs typeface="Arial"/>
              </a:rPr>
              <a:t>Avoiding joins leads to replication:</a:t>
            </a:r>
            <a:endParaRPr lang="en-US" sz="26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Related information stored together</a:t>
            </a:r>
            <a:endParaRPr lang="en-US" sz="26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Data repeated intentionally</a:t>
            </a:r>
            <a:endParaRPr lang="en-US" sz="26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Each record contains required read information</a:t>
            </a:r>
            <a:endParaRPr lang="en-US" sz="2600" b="0" i="0" u="none" strike="noStrike" cap="none" spc="0">
              <a:solidFill>
                <a:srgbClr val="000000"/>
              </a:solidFill>
              <a:latin typeface="Arial"/>
              <a:ea typeface="Arial"/>
              <a:cs typeface="Arial"/>
            </a:endParaRPr>
          </a:p>
          <a:p>
            <a:pPr>
              <a:defRPr/>
            </a:pPr>
            <a:r>
              <a:rPr lang="en-US" sz="2800" b="0" i="0" u="none" strike="noStrike" cap="none" spc="0">
                <a:solidFill>
                  <a:srgbClr val="000000"/>
                </a:solidFill>
                <a:latin typeface="Arial"/>
                <a:ea typeface="Arial"/>
                <a:cs typeface="Arial"/>
              </a:rPr>
              <a:t>Repetition is a deliberate design choice.</a:t>
            </a:r>
            <a:endParaRPr lang="en-US" sz="2600" b="0" i="0" u="none" strike="noStrike" cap="none" spc="0">
              <a:solidFill>
                <a:srgbClr val="000000"/>
              </a:solidFill>
              <a:latin typeface="Arial"/>
              <a:cs typeface="Arial"/>
            </a:endParaRPr>
          </a:p>
          <a:p>
            <a:pPr marL="400050" lvl="1" indent="0">
              <a:buFont typeface="Arial"/>
              <a:buNone/>
              <a:defRPr/>
            </a:pPr>
            <a:endParaRPr sz="2600">
              <a:latin typeface="Arial"/>
              <a:cs typeface="Arial"/>
            </a:endParaRPr>
          </a:p>
          <a:p>
            <a:pPr marL="0" indent="0">
              <a:buFont typeface="Arial"/>
              <a:buNone/>
              <a:defRPr/>
            </a:pPr>
            <a:r>
              <a:rPr lang="en-US" sz="2800" b="0" i="0" u="none" strike="noStrike" cap="none" spc="0">
                <a:solidFill>
                  <a:srgbClr val="000000"/>
                </a:solidFill>
                <a:latin typeface="Arial"/>
                <a:ea typeface="Arial"/>
                <a:cs typeface="Arial"/>
              </a:rPr>
              <a:t>Repetition is a deliberate design choice.</a:t>
            </a:r>
            <a:endParaRPr sz="2800" b="0" i="0" u="none">
              <a:solidFill>
                <a:srgbClr val="000000"/>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8579782"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upright="0" compatLnSpc="0">
            <a:normAutofit/>
          </a:bodyPr>
          <a:lstStyle/>
          <a:p>
            <a:pPr>
              <a:defRPr/>
            </a:pPr>
            <a:r>
              <a:rPr lang="en-US" sz="4400" b="1" i="0" u="none" strike="noStrike" cap="none" spc="0">
                <a:solidFill>
                  <a:schemeClr val="tx1"/>
                </a:solidFill>
                <a:latin typeface="Arial"/>
                <a:ea typeface="Arial"/>
                <a:cs typeface="Arial"/>
              </a:rPr>
              <a:t>Trade-off: Storage vs Performance</a:t>
            </a:r>
            <a:endParaRPr sz="4400" b="1"/>
          </a:p>
        </p:txBody>
      </p:sp>
      <p:sp>
        <p:nvSpPr>
          <p:cNvPr id="1141796751"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n-US" sz="2800" b="0" i="0" u="none" strike="noStrike" cap="none" spc="0">
                <a:solidFill>
                  <a:srgbClr val="000000"/>
                </a:solidFill>
                <a:latin typeface="Arial"/>
                <a:ea typeface="Arial"/>
                <a:cs typeface="Arial"/>
              </a:rPr>
              <a:t>Denormalization introduces:</a:t>
            </a:r>
            <a:endParaRPr lang="en-US"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Higher storage usage</a:t>
            </a:r>
            <a:endParaRPr lang="en-US"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More complex updates</a:t>
            </a:r>
            <a:endParaRPr lang="en-US"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Much faster reads</a:t>
            </a:r>
            <a:endParaRPr lang="en-US" sz="2800" b="0" i="0" u="none" strike="noStrike" cap="none" spc="0">
              <a:solidFill>
                <a:srgbClr val="000000"/>
              </a:solidFill>
              <a:latin typeface="Arial"/>
              <a:cs typeface="Arial"/>
            </a:endParaRPr>
          </a:p>
          <a:p>
            <a:pPr>
              <a:defRPr/>
            </a:pPr>
            <a:r>
              <a:rPr lang="en-US" sz="2800" b="0" i="0" u="none" strike="noStrike" cap="none" spc="0">
                <a:solidFill>
                  <a:srgbClr val="000000"/>
                </a:solidFill>
                <a:latin typeface="Arial"/>
                <a:ea typeface="Arial"/>
                <a:cs typeface="Arial"/>
              </a:rPr>
              <a:t>Predictable large-scale performance</a:t>
            </a:r>
            <a:endParaRPr lang="en-US" sz="2800" b="0" i="0" u="none" strike="noStrike" cap="none" spc="0">
              <a:solidFill>
                <a:srgbClr val="000000"/>
              </a:solidFill>
              <a:latin typeface="Arial"/>
              <a:cs typeface="Arial"/>
            </a:endParaRPr>
          </a:p>
          <a:p>
            <a:pPr>
              <a:defRPr/>
            </a:pPr>
            <a:endParaRPr lang="en-US" sz="2800" b="0" i="0" u="none" strike="noStrike" cap="none" spc="0">
              <a:solidFill>
                <a:srgbClr val="000000"/>
              </a:solidFill>
              <a:latin typeface="Arial"/>
              <a:cs typeface="Arial"/>
            </a:endParaRPr>
          </a:p>
          <a:p>
            <a:pPr marL="0" indent="0">
              <a:buFont typeface="Arial"/>
              <a:buNone/>
              <a:defRPr/>
            </a:pPr>
            <a:r>
              <a:rPr lang="en-US" sz="2800" b="0" i="0" u="none" strike="noStrike" cap="none" spc="0">
                <a:solidFill>
                  <a:srgbClr val="000000"/>
                </a:solidFill>
                <a:latin typeface="Arial"/>
                <a:ea typeface="Arial"/>
                <a:cs typeface="Arial"/>
              </a:rPr>
              <a:t>In Big Data, storage is cheaper than latency.</a:t>
            </a:r>
            <a:endParaRPr sz="2800" b="0" i="0" u="none">
              <a:solidFill>
                <a:srgbClr val="000000"/>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35160933"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upright="0" compatLnSpc="0">
            <a:normAutofit/>
          </a:bodyPr>
          <a:lstStyle/>
          <a:p>
            <a:pPr>
              <a:defRPr/>
            </a:pPr>
            <a:r>
              <a:rPr lang="en-US" sz="4400" b="1" i="0" u="none" strike="noStrike" cap="none" spc="0">
                <a:solidFill>
                  <a:schemeClr val="tx1"/>
                </a:solidFill>
                <a:latin typeface="Arial"/>
                <a:ea typeface="Arial"/>
                <a:cs typeface="Arial"/>
              </a:rPr>
              <a:t>Denormalization</a:t>
            </a:r>
            <a:r>
              <a:rPr lang="el-GR" sz="4400" b="1" i="0" u="none" strike="noStrike" cap="none" spc="0">
                <a:solidFill>
                  <a:schemeClr val="tx1"/>
                </a:solidFill>
                <a:latin typeface="Arial"/>
                <a:ea typeface="Arial"/>
                <a:cs typeface="Arial"/>
              </a:rPr>
              <a:t> - </a:t>
            </a:r>
            <a:r>
              <a:rPr lang="el-GR" sz="4400" b="1" i="0" u="none" strike="noStrike" cap="none" spc="0">
                <a:solidFill>
                  <a:schemeClr val="tx1"/>
                </a:solidFill>
                <a:latin typeface="Arial"/>
                <a:ea typeface="Arial"/>
                <a:cs typeface="Arial"/>
              </a:rPr>
              <a:t>Conclusion</a:t>
            </a:r>
            <a:endParaRPr sz="4400" b="1"/>
          </a:p>
        </p:txBody>
      </p:sp>
      <p:sp>
        <p:nvSpPr>
          <p:cNvPr id="235664126" name="Content Placeholder 2"/>
          <p:cNvSpPr>
            <a:spLocks noGrp="1"/>
          </p:cNvSpPr>
          <p:nvPr>
            <p:ph idx="1"/>
          </p:nvPr>
        </p:nvSpPr>
        <p:spPr bwMode="auto"/>
        <p:txBody>
          <a:bodyPr/>
          <a:lstStyle/>
          <a:p>
            <a:pPr marL="0" indent="0" algn="just">
              <a:buFont typeface="Arial"/>
              <a:buNone/>
              <a:defRPr/>
            </a:pPr>
            <a:r>
              <a:rPr lang="en-US" sz="2600" b="0" i="0" u="none" strike="noStrike" cap="none" spc="0">
                <a:solidFill>
                  <a:srgbClr val="000000"/>
                </a:solidFill>
                <a:latin typeface="Arial"/>
                <a:ea typeface="Arial"/>
                <a:cs typeface="Arial"/>
              </a:rPr>
              <a:t>Denormalization in NoSQL is not a bad practice, but a necessary strategy for distributed systems. Avoiding joins and controlled data replication allows for high performance, simple scaling, and reliable operation at a global scale.</a:t>
            </a:r>
            <a:endParaRPr sz="2600" b="0" i="0" u="none">
              <a:solidFill>
                <a:srgbClr val="000000"/>
              </a:solidFill>
              <a:latin typeface="Arial"/>
              <a:ea typeface="Arial"/>
              <a:cs typeface="Arial"/>
            </a:endParaRPr>
          </a:p>
          <a:p>
            <a:pPr marL="0" indent="0" algn="just">
              <a:buFont typeface="Arial"/>
              <a:buNone/>
              <a:defRPr/>
            </a:pPr>
            <a:endParaRPr sz="2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1659345"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Consistency vs Availability</a:t>
            </a:r>
            <a:endParaRPr b="1"/>
          </a:p>
        </p:txBody>
      </p:sp>
      <p:sp>
        <p:nvSpPr>
          <p:cNvPr id="1931187101" name="Content Placeholder 2"/>
          <p:cNvSpPr>
            <a:spLocks noGrp="1"/>
          </p:cNvSpPr>
          <p:nvPr>
            <p:ph idx="1"/>
          </p:nvPr>
        </p:nvSpPr>
        <p:spPr bwMode="auto"/>
        <p:txBody>
          <a:bodyPr/>
          <a:lstStyle/>
          <a:p>
            <a:pPr marL="0" indent="0" algn="just">
              <a:buFont typeface="Arial"/>
              <a:buNone/>
              <a:defRPr/>
            </a:pPr>
            <a:r>
              <a:rPr lang="en-US" sz="2600" b="0" i="0" u="none" strike="noStrike" cap="none" spc="0">
                <a:solidFill>
                  <a:srgbClr val="000000"/>
                </a:solidFill>
                <a:latin typeface="Arial"/>
                <a:ea typeface="Arial"/>
                <a:cs typeface="Arial"/>
              </a:rPr>
              <a:t>In distributed data systems, consistency and availability are two fundamental but often conflicting goals. NoSQL systems introduced different consistency models, accepting that it is not always possible to satisfy all properties simultaneously.</a:t>
            </a:r>
            <a:endParaRPr sz="2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1381827"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Strong Consistency</a:t>
            </a:r>
            <a:endParaRPr b="1"/>
          </a:p>
        </p:txBody>
      </p:sp>
      <p:sp>
        <p:nvSpPr>
          <p:cNvPr id="394637630"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n-US" sz="2200" b="0" i="0" u="none" strike="noStrike" cap="none" spc="0">
                <a:solidFill>
                  <a:srgbClr val="000000"/>
                </a:solidFill>
                <a:latin typeface="Arial"/>
                <a:ea typeface="Arial"/>
                <a:cs typeface="Arial"/>
              </a:rPr>
              <a:t>Guarantees:</a:t>
            </a:r>
            <a:endParaRPr lang="en-US" sz="2200" b="0" i="0" u="none" strike="noStrike" cap="none" spc="0">
              <a:solidFill>
                <a:srgbClr val="000000"/>
              </a:solidFill>
              <a:latin typeface="Arial"/>
              <a:cs typeface="Arial"/>
            </a:endParaRPr>
          </a:p>
          <a:p>
            <a:pPr>
              <a:defRPr/>
            </a:pPr>
            <a:r>
              <a:rPr lang="en-US" sz="2200" b="0" i="0" u="none" strike="noStrike" cap="none" spc="0">
                <a:solidFill>
                  <a:srgbClr val="000000"/>
                </a:solidFill>
                <a:latin typeface="Arial"/>
                <a:ea typeface="Arial"/>
                <a:cs typeface="Arial"/>
              </a:rPr>
              <a:t>Every read returns the latest write</a:t>
            </a:r>
            <a:endParaRPr lang="en-US" sz="2200" b="0" i="0" u="none" strike="noStrike" cap="none" spc="0">
              <a:solidFill>
                <a:srgbClr val="000000"/>
              </a:solidFill>
              <a:latin typeface="Arial"/>
              <a:cs typeface="Arial"/>
            </a:endParaRPr>
          </a:p>
          <a:p>
            <a:pPr>
              <a:defRPr/>
            </a:pPr>
            <a:r>
              <a:rPr lang="en-US" sz="2200" b="0" i="0" u="none" strike="noStrike" cap="none" spc="0">
                <a:solidFill>
                  <a:srgbClr val="000000"/>
                </a:solidFill>
                <a:latin typeface="Arial"/>
                <a:ea typeface="Arial"/>
                <a:cs typeface="Arial"/>
              </a:rPr>
              <a:t>All users see identical state</a:t>
            </a:r>
            <a:endParaRPr lang="en-US" sz="2200" b="0" i="0" u="none" strike="noStrike" cap="none" spc="0">
              <a:solidFill>
                <a:srgbClr val="000000"/>
              </a:solidFill>
              <a:latin typeface="Arial"/>
              <a:cs typeface="Arial"/>
            </a:endParaRPr>
          </a:p>
          <a:p>
            <a:pPr>
              <a:defRPr/>
            </a:pPr>
            <a:r>
              <a:rPr lang="en-US" sz="2200" b="0" i="0" u="none" strike="noStrike" cap="none" spc="0">
                <a:solidFill>
                  <a:srgbClr val="000000"/>
                </a:solidFill>
                <a:latin typeface="Arial"/>
                <a:ea typeface="Arial"/>
                <a:cs typeface="Arial"/>
              </a:rPr>
              <a:t>System behaves like a single centralized database</a:t>
            </a:r>
            <a:endParaRPr lang="en-US" sz="2200" b="0" i="0" u="none" strike="noStrike" cap="none" spc="0">
              <a:solidFill>
                <a:srgbClr val="000000"/>
              </a:solidFill>
              <a:latin typeface="Arial"/>
              <a:cs typeface="Arial"/>
            </a:endParaRPr>
          </a:p>
          <a:p>
            <a:pPr>
              <a:defRPr/>
            </a:pPr>
            <a:endParaRPr lang="en-US" sz="2200" b="0" i="0" u="none" strike="noStrike" cap="none" spc="0">
              <a:solidFill>
                <a:srgbClr val="000000"/>
              </a:solidFill>
              <a:latin typeface="Arial"/>
              <a:cs typeface="Arial"/>
            </a:endParaRPr>
          </a:p>
          <a:p>
            <a:pPr>
              <a:defRPr/>
            </a:pPr>
            <a:r>
              <a:rPr lang="en-US" sz="2200" b="0" i="0" u="none" strike="noStrike" cap="none" spc="0">
                <a:solidFill>
                  <a:srgbClr val="000000"/>
                </a:solidFill>
                <a:latin typeface="Arial"/>
                <a:ea typeface="Arial"/>
                <a:cs typeface="Arial"/>
              </a:rPr>
              <a:t>Trade-off:</a:t>
            </a:r>
            <a:endParaRPr lang="en-US" sz="2200" b="0" i="0" u="none" strike="noStrike" cap="none" spc="0">
              <a:solidFill>
                <a:srgbClr val="000000"/>
              </a:solidFill>
              <a:latin typeface="Arial"/>
              <a:cs typeface="Arial"/>
            </a:endParaRPr>
          </a:p>
          <a:p>
            <a:pPr>
              <a:defRPr/>
            </a:pPr>
            <a:r>
              <a:rPr lang="en-US" sz="2200" b="0" i="0" u="none" strike="noStrike" cap="none" spc="0">
                <a:solidFill>
                  <a:srgbClr val="000000"/>
                </a:solidFill>
                <a:latin typeface="Arial"/>
                <a:ea typeface="Arial"/>
                <a:cs typeface="Arial"/>
              </a:rPr>
              <a:t>Higher latency</a:t>
            </a:r>
            <a:endParaRPr lang="en-US" sz="2200" b="0" i="0" u="none" strike="noStrike" cap="none" spc="0">
              <a:solidFill>
                <a:srgbClr val="000000"/>
              </a:solidFill>
              <a:latin typeface="Arial"/>
              <a:ea typeface="Arial"/>
              <a:cs typeface="Arial"/>
            </a:endParaRPr>
          </a:p>
          <a:p>
            <a:pPr>
              <a:defRPr/>
            </a:pPr>
            <a:r>
              <a:rPr lang="en-US" sz="2200" b="0" i="0" u="none" strike="noStrike" cap="none" spc="0">
                <a:solidFill>
                  <a:srgbClr val="000000"/>
                </a:solidFill>
                <a:latin typeface="Arial"/>
                <a:ea typeface="Arial"/>
                <a:cs typeface="Arial"/>
              </a:rPr>
              <a:t>Reduced availability during network failures</a:t>
            </a:r>
            <a:endParaRPr lang="en-US" sz="2200" b="0" i="0" u="none" strike="noStrike" cap="none" spc="0">
              <a:solidFill>
                <a:srgbClr val="000000"/>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143295" name="Title 1"/>
          <p:cNvSpPr>
            <a:spLocks noGrp="1"/>
          </p:cNvSpPr>
          <p:nvPr>
            <p:ph type="title"/>
          </p:nvPr>
        </p:nvSpPr>
        <p:spPr bwMode="auto"/>
        <p:txBody>
          <a:bodyPr/>
          <a:lstStyle/>
          <a:p>
            <a:pPr>
              <a:defRPr/>
            </a:pPr>
            <a:r>
              <a:rPr lang="en-US" sz="4400" b="1" i="0" u="none" strike="noStrike" cap="none" spc="0">
                <a:solidFill>
                  <a:schemeClr val="tx1"/>
                </a:solidFill>
                <a:latin typeface="Arial"/>
                <a:ea typeface="Arial"/>
                <a:cs typeface="Arial"/>
              </a:rPr>
              <a:t>Eventual Consistency</a:t>
            </a:r>
            <a:endParaRPr b="1"/>
          </a:p>
        </p:txBody>
      </p:sp>
      <p:sp>
        <p:nvSpPr>
          <p:cNvPr id="205662756"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n-US" sz="2500" b="0" i="0" u="none" strike="noStrike" cap="none" spc="0">
                <a:solidFill>
                  <a:srgbClr val="000000"/>
                </a:solidFill>
                <a:latin typeface="Arial"/>
                <a:ea typeface="Arial"/>
                <a:cs typeface="Arial"/>
              </a:rPr>
              <a:t>Accepts that:</a:t>
            </a:r>
            <a:endParaRPr lang="en-US" sz="2500" b="0" i="0" u="none" strike="noStrike" cap="none" spc="0">
              <a:solidFill>
                <a:srgbClr val="000000"/>
              </a:solidFill>
              <a:latin typeface="Arial"/>
              <a:cs typeface="Arial"/>
            </a:endParaRPr>
          </a:p>
          <a:p>
            <a:pPr>
              <a:defRPr/>
            </a:pPr>
            <a:r>
              <a:rPr lang="en-US" sz="2500" b="0" i="0" u="none" strike="noStrike" cap="none" spc="0">
                <a:solidFill>
                  <a:srgbClr val="000000"/>
                </a:solidFill>
                <a:latin typeface="Arial"/>
                <a:ea typeface="Arial"/>
                <a:cs typeface="Arial"/>
              </a:rPr>
              <a:t>Updates are not immediately visible everywhere</a:t>
            </a:r>
            <a:endParaRPr lang="en-US" sz="2500" b="0" i="0" u="none" strike="noStrike" cap="none" spc="0">
              <a:solidFill>
                <a:srgbClr val="000000"/>
              </a:solidFill>
              <a:latin typeface="Arial"/>
              <a:cs typeface="Arial"/>
            </a:endParaRPr>
          </a:p>
          <a:p>
            <a:pPr>
              <a:defRPr/>
            </a:pPr>
            <a:r>
              <a:rPr lang="en-US" sz="2500" b="0" i="0" u="none" strike="noStrike" cap="none" spc="0">
                <a:solidFill>
                  <a:srgbClr val="000000"/>
                </a:solidFill>
                <a:latin typeface="Arial"/>
                <a:ea typeface="Arial"/>
                <a:cs typeface="Arial"/>
              </a:rPr>
              <a:t>Temporary stale reads may occur</a:t>
            </a:r>
            <a:endParaRPr lang="en-US" sz="2500" b="0" i="0" u="none" strike="noStrike" cap="none" spc="0">
              <a:solidFill>
                <a:srgbClr val="000000"/>
              </a:solidFill>
              <a:latin typeface="Arial"/>
              <a:cs typeface="Arial"/>
            </a:endParaRPr>
          </a:p>
          <a:p>
            <a:pPr>
              <a:defRPr/>
            </a:pPr>
            <a:r>
              <a:rPr lang="en-US" sz="2500" b="0" i="0" u="none" strike="noStrike" cap="none" spc="0">
                <a:solidFill>
                  <a:srgbClr val="000000"/>
                </a:solidFill>
                <a:latin typeface="Arial"/>
                <a:ea typeface="Arial"/>
                <a:cs typeface="Arial"/>
              </a:rPr>
              <a:t>Nodes eventually converge</a:t>
            </a:r>
            <a:endParaRPr lang="en-US" sz="2500" b="0" i="0" u="none" strike="noStrike" cap="none" spc="0">
              <a:solidFill>
                <a:srgbClr val="000000"/>
              </a:solidFill>
              <a:latin typeface="Arial"/>
              <a:cs typeface="Arial"/>
            </a:endParaRPr>
          </a:p>
          <a:p>
            <a:pPr>
              <a:defRPr/>
            </a:pPr>
            <a:endParaRPr lang="en-US" sz="2500" b="0" i="0" u="none" strike="noStrike" cap="none" spc="0">
              <a:solidFill>
                <a:srgbClr val="000000"/>
              </a:solidFill>
              <a:latin typeface="Arial"/>
              <a:cs typeface="Arial"/>
            </a:endParaRPr>
          </a:p>
          <a:p>
            <a:pPr>
              <a:defRPr/>
            </a:pPr>
            <a:r>
              <a:rPr lang="en-US" sz="2500" b="0" i="0" u="none" strike="noStrike" cap="none" spc="0">
                <a:solidFill>
                  <a:srgbClr val="000000"/>
                </a:solidFill>
                <a:latin typeface="Arial"/>
                <a:ea typeface="Arial"/>
                <a:cs typeface="Arial"/>
              </a:rPr>
              <a:t>Trade-off:</a:t>
            </a:r>
            <a:endParaRPr lang="en-US" sz="2500" b="0" i="0" u="none" strike="noStrike" cap="none" spc="0">
              <a:solidFill>
                <a:srgbClr val="000000"/>
              </a:solidFill>
              <a:latin typeface="Arial"/>
              <a:cs typeface="Arial"/>
            </a:endParaRPr>
          </a:p>
          <a:p>
            <a:pPr>
              <a:defRPr/>
            </a:pPr>
            <a:r>
              <a:rPr lang="en-US" sz="2500" b="0" i="0" u="none" strike="noStrike" cap="none" spc="0">
                <a:solidFill>
                  <a:srgbClr val="000000"/>
                </a:solidFill>
                <a:latin typeface="Arial"/>
                <a:ea typeface="Arial"/>
                <a:cs typeface="Arial"/>
              </a:rPr>
              <a:t>Higher availability</a:t>
            </a:r>
            <a:endParaRPr lang="en-US" sz="2500" b="0" i="0" u="none" strike="noStrike" cap="none" spc="0">
              <a:solidFill>
                <a:srgbClr val="000000"/>
              </a:solidFill>
              <a:latin typeface="Arial"/>
              <a:cs typeface="Arial"/>
            </a:endParaRPr>
          </a:p>
          <a:p>
            <a:pPr>
              <a:defRPr/>
            </a:pPr>
            <a:r>
              <a:rPr lang="en-US" sz="2500" b="0" i="0" u="none" strike="noStrike" cap="none" spc="0">
                <a:solidFill>
                  <a:srgbClr val="000000"/>
                </a:solidFill>
                <a:latin typeface="Arial"/>
                <a:ea typeface="Arial"/>
                <a:cs typeface="Arial"/>
              </a:rPr>
              <a:t>Lower latency</a:t>
            </a:r>
            <a:endParaRPr lang="en-US" sz="2500" b="0" i="0" u="none" strike="noStrike" cap="none" spc="0">
              <a:solidFill>
                <a:srgbClr val="000000"/>
              </a:solidFill>
              <a:latin typeface="Arial"/>
              <a:ea typeface="Arial"/>
              <a:cs typeface="Arial"/>
            </a:endParaRPr>
          </a:p>
          <a:p>
            <a:pPr>
              <a:defRPr/>
            </a:pPr>
            <a:r>
              <a:rPr lang="en-US" sz="2500" b="0" i="0" u="none" strike="noStrike" cap="none" spc="0">
                <a:solidFill>
                  <a:srgbClr val="000000"/>
                </a:solidFill>
                <a:latin typeface="Arial"/>
                <a:ea typeface="Arial"/>
                <a:cs typeface="Arial"/>
              </a:rPr>
              <a:t>Requires careful application design</a:t>
            </a:r>
            <a:endParaRPr lang="en-US" sz="2500" b="0" i="0" u="none" strike="noStrike" cap="none" spc="0">
              <a:solidFill>
                <a:srgbClr val="000000"/>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31627703" name="Title 1"/>
          <p:cNvSpPr>
            <a:spLocks noGrp="1"/>
          </p:cNvSpPr>
          <p:nvPr>
            <p:ph type="ctrTitle"/>
          </p:nvPr>
        </p:nvSpPr>
        <p:spPr bwMode="auto">
          <a:xfrm>
            <a:off x="1523997" y="1122363"/>
            <a:ext cx="9144000" cy="2387596"/>
          </a:xfrm>
        </p:spPr>
        <p:txBody>
          <a:bodyPr/>
          <a:lstStyle>
            <a:lvl1pPr algn="ctr">
              <a:defRPr sz="6000"/>
            </a:lvl1pPr>
          </a:lstStyle>
          <a:p>
            <a:pPr>
              <a:defRPr/>
            </a:pPr>
            <a:r>
              <a:rPr lang="el-GR" sz="6000" b="1" i="0" u="none" strike="noStrike" cap="none" spc="0">
                <a:solidFill>
                  <a:schemeClr val="tx1"/>
                </a:solidFill>
                <a:latin typeface="Arial"/>
                <a:ea typeface="Arial"/>
                <a:cs typeface="Arial"/>
              </a:rPr>
              <a:t>Thank You</a:t>
            </a:r>
            <a:endParaRPr b="1"/>
          </a:p>
        </p:txBody>
      </p:sp>
      <p:sp>
        <p:nvSpPr>
          <p:cNvPr id="479458120" name="Subtitle 2"/>
          <p:cNvSpPr>
            <a:spLocks noGrp="1"/>
          </p:cNvSpPr>
          <p:nvPr>
            <p:ph type="subTitle" idx="1"/>
          </p:nvPr>
        </p:nvSpPr>
        <p:spPr bwMode="auto">
          <a:xfrm>
            <a:off x="1523997" y="3602034"/>
            <a:ext cx="9144000" cy="1655758"/>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ONLYOFFICE/9.1.0.173</Application>
  <PresentationFormat>On-screen Show (4:3)</PresentationFormat>
  <Paragraphs>0</Paragraphs>
  <Slides>53</Slides>
  <Notes>53</Notes>
  <HiddenSlides>0</HiddenSlides>
  <MMClips>2</MMClips>
  <ScaleCrop>0</ScaleCrop>
  <HeadingPairs>
    <vt:vector size="4" baseType="variant">
      <vt:variant>
        <vt:lpstr>Theme</vt:lpstr>
      </vt:variant>
      <vt:variant>
        <vt:i4>1</vt:i4>
      </vt:variant>
      <vt:variant>
        <vt:lpstr>Slide Titles</vt:lpstr>
      </vt:variant>
      <vt:variant>
        <vt:i4>53</vt:i4>
      </vt:variant>
    </vt:vector>
  </HeadingPairs>
  <TitlesOfParts>
    <vt:vector size="5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9</cp:revision>
  <dcterms:modified xsi:type="dcterms:W3CDTF">2026-03-03T11:52:17Z</dcterms:modified>
</cp:coreProperties>
</file>