
<file path=[Content_Types].xml><?xml version="1.0" encoding="utf-8"?>
<Types xmlns="http://schemas.openxmlformats.org/package/2006/content-types">
  <Default Extension="xml" ContentType="application/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43.xml" ContentType="application/vnd.openxmlformats-officedocument.presentationml.notesSlide+xml"/>
  <Override PartName="/ppt/notesSlides/notesSlide41.xml" ContentType="application/vnd.openxmlformats-officedocument.presentationml.notesSlide+xml"/>
  <Override PartName="/ppt/notesSlides/notesSlide40.xml" ContentType="application/vnd.openxmlformats-officedocument.presentationml.notesSlide+xml"/>
  <Override PartName="/ppt/notesSlides/notesSlide39.xml" ContentType="application/vnd.openxmlformats-officedocument.presentationml.notesSlide+xml"/>
  <Override PartName="/ppt/notesSlides/notesSlide38.xml" ContentType="application/vnd.openxmlformats-officedocument.presentationml.notesSlide+xml"/>
  <Override PartName="/ppt/notesSlides/notesSlide36.xml" ContentType="application/vnd.openxmlformats-officedocument.presentationml.notesSlide+xml"/>
  <Override PartName="/ppt/notesSlides/notesSlide35.xml" ContentType="application/vnd.openxmlformats-officedocument.presentationml.notesSlide+xml"/>
  <Override PartName="/ppt/notesSlides/notesSlide34.xml" ContentType="application/vnd.openxmlformats-officedocument.presentationml.notesSlide+xml"/>
  <Override PartName="/ppt/notesSlides/notesSlide32.xml" ContentType="application/vnd.openxmlformats-officedocument.presentationml.notesSlide+xml"/>
  <Override PartName="/ppt/slides/slide23.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slide2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20.xml" ContentType="application/vnd.openxmlformats-officedocument.presentationml.slide+xml"/>
  <Override PartName="/ppt/slides/slide28.xml" ContentType="application/vnd.openxmlformats-officedocument.presentationml.slide+xml"/>
  <Override PartName="/ppt/notesSlides/notesSlide13.xml" ContentType="application/vnd.openxmlformats-officedocument.presentationml.notesSlide+xml"/>
  <Override PartName="/ppt/slides/slide43.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notesSlides/notesSlide6.xml" ContentType="application/vnd.openxmlformats-officedocument.presentationml.notesSlide+xml"/>
  <Override PartName="/ppt/slides/slide2.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slides/slide6.xml" ContentType="application/vnd.openxmlformats-officedocument.presentationml.slide+xml"/>
  <Override PartName="/ppt/slides/slide10.xml" ContentType="application/vnd.openxmlformats-officedocument.presentationml.slide+xml"/>
  <Override PartName="/ppt/notesSlides/notesSlide11.xml" ContentType="application/vnd.openxmlformats-officedocument.presentationml.notesSlide+xml"/>
  <Override PartName="/ppt/slideLayouts/slideLayout7.xml" ContentType="application/vnd.openxmlformats-officedocument.presentationml.slideLayout+xml"/>
  <Override PartName="/ppt/notesSlides/notesSlide28.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ppt/slideLayouts/slideLayout8.xml" ContentType="application/vnd.openxmlformats-officedocument.presentationml.slideLayout+xml"/>
  <Override PartName="/ppt/slideLayouts/slideLayout6.xml" ContentType="application/vnd.openxmlformats-officedocument.presentationml.slideLayout+xml"/>
  <Override PartName="/ppt/slideLayouts/slideLayout2.xml" ContentType="application/vnd.openxmlformats-officedocument.presentationml.slideLayout+xml"/>
  <Override PartName="/ppt/slides/slide32.xml" ContentType="application/vnd.openxmlformats-officedocument.presentationml.slide+xml"/>
  <Override PartName="/ppt/slides/slide8.xml" ContentType="application/vnd.openxmlformats-officedocument.presentationml.slide+xml"/>
  <Override PartName="/ppt/notesSlides/notesSlide37.xml" ContentType="application/vnd.openxmlformats-officedocument.presentationml.notesSlide+xml"/>
  <Override PartName="/ppt/notesSlides/notesSlide7.xml" ContentType="application/vnd.openxmlformats-officedocument.presentationml.notesSlide+xml"/>
  <Override PartName="/ppt/viewProps.xml" ContentType="application/vnd.openxmlformats-officedocument.presentationml.viewProps+xml"/>
  <Override PartName="/ppt/slides/slide17.xml" ContentType="application/vnd.openxmlformats-officedocument.presentationml.slide+xml"/>
  <Override PartName="/docProps/app.xml" ContentType="application/vnd.openxmlformats-officedocument.extended-properties+xml"/>
  <Override PartName="/ppt/tableStyles.xml" ContentType="application/vnd.openxmlformats-officedocument.presentationml.tableStyles+xml"/>
  <Override PartName="/ppt/notesSlides/notesSlide4.xml" ContentType="application/vnd.openxmlformats-officedocument.presentationml.notesSlide+xml"/>
  <Override PartName="/ppt/slides/slide7.xml" ContentType="application/vnd.openxmlformats-officedocument.presentationml.slide+xml"/>
  <Override PartName="/ppt/slides/slide41.xml" ContentType="application/vnd.openxmlformats-officedocument.presentationml.slide+xml"/>
  <Override PartName="/ppt/slideLayouts/slideLayout5.xml" ContentType="application/vnd.openxmlformats-officedocument.presentationml.slideLayout+xml"/>
  <Override PartName="/ppt/slides/slide12.xml" ContentType="application/vnd.openxmlformats-officedocument.presentationml.slide+xml"/>
  <Override PartName="/ppt/slideLayouts/slideLayout1.xml" ContentType="application/vnd.openxmlformats-officedocument.presentationml.slideLayout+xml"/>
  <Override PartName="/ppt/notesSlides/notesSlide10.xml" ContentType="application/vnd.openxmlformats-officedocument.presentationml.notesSlide+xml"/>
  <Override PartName="/ppt/notesSlides/notesSlide20.xml" ContentType="application/vnd.openxmlformats-officedocument.presentationml.notesSlide+xml"/>
  <Override PartName="/ppt/slideLayouts/slideLayout4.xml" ContentType="application/vnd.openxmlformats-officedocument.presentationml.slideLayout+xml"/>
  <Override PartName="/ppt/notesSlides/notesSlide22.xml" ContentType="application/vnd.openxmlformats-officedocument.presentationml.notesSlide+xml"/>
  <Override PartName="/ppt/slides/slide3.xml" ContentType="application/vnd.openxmlformats-officedocument.presentationml.slide+xml"/>
  <Override PartName="/ppt/theme/theme1.xml" ContentType="application/vnd.openxmlformats-officedocument.theme+xml"/>
  <Override PartName="/ppt/notesSlides/notesSlide15.xml" ContentType="application/vnd.openxmlformats-officedocument.presentationml.notesSlide+xml"/>
  <Override PartName="/ppt/slides/slide13.xml" ContentType="application/vnd.openxmlformats-officedocument.presentationml.slide+xml"/>
  <Override PartName="/ppt/slideLayouts/slideLayout9.xml" ContentType="application/vnd.openxmlformats-officedocument.presentationml.slideLayout+xml"/>
  <Override PartName="/ppt/slides/slide1.xml" ContentType="application/vnd.openxmlformats-officedocument.presentationml.slide+xml"/>
  <Override PartName="/ppt/slides/slide25.xml" ContentType="application/vnd.openxmlformats-officedocument.presentationml.slide+xml"/>
  <Override PartName="/ppt/notesSlides/notesSlide42.xml" ContentType="application/vnd.openxmlformats-officedocument.presentationml.notesSlide+xml"/>
  <Override PartName="/ppt/notesSlides/notesSlide14.xml" ContentType="application/vnd.openxmlformats-officedocument.presentationml.notesSlide+xml"/>
  <Override PartName="/ppt/notesSlides/notesSlide21.xml" ContentType="application/vnd.openxmlformats-officedocument.presentationml.notesSlide+xml"/>
  <Override PartName="/ppt/slideLayouts/slideLayout3.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s/slide22.xml" ContentType="application/vnd.openxmlformats-officedocument.presentationml.slide+xml"/>
  <Override PartName="/ppt/notesSlides/notesSlide30.xml" ContentType="application/vnd.openxmlformats-officedocument.presentationml.notesSlide+xml"/>
  <Override PartName="/ppt/slides/slide26.xml" ContentType="application/vnd.openxmlformats-officedocument.presentationml.slide+xml"/>
  <Override PartName="/ppt/theme/theme2.xml" ContentType="application/vnd.openxmlformats-officedocument.theme+xml"/>
  <Override PartName="/ppt/slides/slide30.xml" ContentType="application/vnd.openxmlformats-officedocument.presentationml.slide+xml"/>
  <Override PartName="/ppt/slides/slide31.xml" ContentType="application/vnd.openxmlformats-officedocument.presentationml.slide+xml"/>
  <Override PartName="/ppt/slides/slide33.xml" ContentType="application/vnd.openxmlformats-officedocument.presentationml.slide+xml"/>
  <Override PartName="/ppt/slides/slide24.xml" ContentType="application/vnd.openxmlformats-officedocument.presentationml.slide+xml"/>
  <Override PartName="/ppt/slides/slide40.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Slides/notesSlide33.xml" ContentType="application/vnd.openxmlformats-officedocument.presentationml.notesSlide+xml"/>
  <Override PartName="/ppt/notesSlides/notesSlide8.xml" ContentType="application/vnd.openxmlformats-officedocument.presentationml.notesSlide+xml"/>
  <Override PartName="/ppt/slides/slide36.xml" ContentType="application/vnd.openxmlformats-officedocument.presentationml.slide+xml"/>
  <Override PartName="/ppt/slides/slide37.xml" ContentType="application/vnd.openxmlformats-officedocument.presentationml.slide+xml"/>
  <Override PartName="/ppt/slides/slide39.xml" ContentType="application/vnd.openxmlformats-officedocument.presentationml.slide+xml"/>
  <Override PartName="/ppt/presentation.xml" ContentType="application/vnd.openxmlformats-officedocument.presentationml.presentation.main+xml"/>
  <Override PartName="/ppt/slides/slide42.xml" ContentType="application/vnd.openxmlformats-officedocument.presentationml.slide+xml"/>
  <Override PartName="/ppt/slides/slide44.xml" ContentType="application/vnd.openxmlformats-officedocument.presentationml.slide+xml"/>
  <Override PartName="/ppt/notesSlides/notesSlide1.xml" ContentType="application/vnd.openxmlformats-officedocument.presentationml.notesSlide+xml"/>
  <Override PartName="/ppt/slides/slide5.xml" ContentType="application/vnd.openxmlformats-officedocument.presentationml.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44.xml" ContentType="application/vnd.openxmlformats-officedocument.presentationml.notesSlide+xml"/>
  <Override PartName="/ppt/slides/slide9.xml" ContentType="application/vnd.openxmlformats-officedocument.presentationml.slide+xml"/>
  <Override PartName="/ppt/notesSlides/notesSlide2.xml" ContentType="application/vnd.openxmlformats-officedocument.presentationml.notesSlide+xml"/>
  <Override PartName="/ppt/notesSlides/notesSlide9.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presProps.xml" ContentType="application/vnd.openxmlformats-officedocument.presentationml.presProps+xml"/>
  <Override PartName="/ppt/slides/slide21.xml" ContentType="application/vnd.openxmlformats-officedocument.presentationml.slide+xml"/>
  <Override PartName="/ppt/notesSlides/notesSlide27.xml" ContentType="application/vnd.openxmlformats-officedocument.presentationml.notesSlide+xml"/>
  <Override PartName="/ppt/notesSlides/notesSlide29.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strictFirstAndLastChars="0">
  <p:sldMasterIdLst>
    <p:sldMasterId id="2147483648" r:id="rId1"/>
  </p:sldMasterIdLst>
  <p:notesMasterIdLst>
    <p:notesMasterId r:id="rId48"/>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Lst>
  <p:sldSz cx="9144000" cy="51435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notesMaster" Target="notesMasters/notesMaster1.xml"/><Relationship Id="rId49" Type="http://schemas.openxmlformats.org/officeDocument/2006/relationships/presProps" Target="presProps.xml" /><Relationship Id="rId50" Type="http://schemas.openxmlformats.org/officeDocument/2006/relationships/tableStyles" Target="tableStyles.xml" /><Relationship Id="rId51"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spTree>
      <p:nvGrpSpPr>
        <p:cNvPr id="1" name=""/>
        <p:cNvGrpSpPr/>
        <p:nvPr/>
      </p:nvGrpSpPr>
      <p:grpSpPr bwMode="auto">
        <a:xfrm>
          <a:off x="0" y="0"/>
          <a:ext cx="0" cy="0"/>
          <a:chOff x="0" y="0"/>
          <a:chExt cx="0" cy="0"/>
        </a:xfrm>
      </p:grpSpPr>
      <p:sp>
        <p:nvSpPr>
          <p:cNvPr id="464128411" name="Google Shape;3;n"/>
          <p:cNvSpPr/>
          <p:nvPr>
            <p:ph type="sldImg" idx="2"/>
          </p:nvPr>
        </p:nvSpPr>
        <p:spPr bwMode="auto">
          <a:xfrm>
            <a:off x="381300" y="685800"/>
            <a:ext cx="609607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1649822" name="Google Shape;4;n"/>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pPr>
              <a:defRPr/>
            </a:pPr>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04206880" name="Google Shape;51;SLIDES_API647489343_0: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298428926" name="Google Shape;52;SLIDES_API647489343_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158749" indent="0">
              <a:buSzPts val="1100"/>
              <a:buFont typeface="Arial"/>
              <a:buNone/>
              <a:defRPr/>
            </a:pPr>
            <a:r>
              <a:rPr lang="en-US" sz="1100" b="0" i="0" u="none" strike="noStrike" cap="none" spc="0">
                <a:solidFill>
                  <a:srgbClr val="000000"/>
                </a:solidFill>
                <a:latin typeface="Arial"/>
                <a:ea typeface="Arial"/>
                <a:cs typeface="Arial"/>
              </a:rPr>
              <a:t>Modern software systems are increasingly complex and must support millions of users, distributed infrastructure, and rapidly changing data structures. In the past, applications were often deployed as single monolithic programs running on individual servers. However, modern applications require scalability, flexibility, and rapid deployment cycles. In order to achieve these goals, engineers rely on modern infrastructure technologies such as containerization, in-memory databases, and flexible data models. This lecture introduces three technologies that are widely used in modern backend systems: Docker for containerized deployment, Redis for extremely fast in-memory data storage and caching, and PostgreSQL JSON capabilities for handling semi-structured data in relational databases. Understanding how these technologies work together allows engineers to build scalable architectures that power modern web services, cloud platforms, and enterprise applications.</a:t>
            </a:r>
            <a:endParaRPr lang="en-US" sz="1100" b="0" i="0" u="none" strike="noStrike" cap="none" spc="0">
              <a:solidFill>
                <a:srgbClr val="000000"/>
              </a:solidFill>
              <a:latin typeface="Arial"/>
              <a:cs typeface="Arial"/>
            </a:endParaRPr>
          </a:p>
          <a:p>
            <a:pPr marL="158749" indent="0">
              <a:buSzPts val="1100"/>
              <a:buFont typeface="Arial"/>
              <a:buNone/>
              <a:defRPr/>
            </a:pPr>
            <a:endParaRPr lang="en-US" sz="1100" b="0" i="0" u="none" strike="noStrike" cap="none" spc="0">
              <a:solidFill>
                <a:srgbClr val="000000"/>
              </a:solidFill>
              <a:latin typeface="Arial"/>
              <a:cs typeface="Arial"/>
            </a:endParaRPr>
          </a:p>
          <a:p>
            <a:pPr marL="158749" indent="0">
              <a:buSzPts val="1100"/>
              <a:buFont typeface="Arial"/>
              <a:buNone/>
              <a:defRPr/>
            </a:pPr>
            <a:r>
              <a:rPr lang="en-US" sz="1100" b="0" i="0" u="none" strike="noStrike" cap="none" spc="0">
                <a:solidFill>
                  <a:srgbClr val="000000"/>
                </a:solidFill>
                <a:latin typeface="Arial"/>
                <a:ea typeface="Arial"/>
                <a:cs typeface="Arial"/>
              </a:rPr>
              <a:t>Business Interview Question:</a:t>
            </a:r>
            <a:endParaRPr lang="en-US" sz="1100" b="0" i="0" u="none" strike="noStrike" cap="none" spc="0">
              <a:solidFill>
                <a:srgbClr val="000000"/>
              </a:solidFill>
              <a:latin typeface="Arial"/>
              <a:cs typeface="Arial"/>
            </a:endParaRPr>
          </a:p>
          <a:p>
            <a:pPr marL="158749" indent="0">
              <a:buSzPts val="1100"/>
              <a:buFont typeface="Arial"/>
              <a:buNone/>
              <a:defRPr/>
            </a:pPr>
            <a:r>
              <a:rPr lang="en-US" sz="1100" b="0" i="0" u="none" strike="noStrike" cap="none" spc="0">
                <a:solidFill>
                  <a:srgbClr val="000000"/>
                </a:solidFill>
                <a:latin typeface="Arial"/>
                <a:ea typeface="Arial"/>
                <a:cs typeface="Arial"/>
              </a:rPr>
              <a:t>Why do modern applications require new infrastructure technologies such as Docker and Redis?</a:t>
            </a:r>
            <a:endParaRPr lang="en-US" sz="1100" b="0" i="0" u="none" strike="noStrike" cap="none" spc="0">
              <a:solidFill>
                <a:srgbClr val="000000"/>
              </a:solidFill>
              <a:latin typeface="Arial"/>
              <a:cs typeface="Arial"/>
            </a:endParaRPr>
          </a:p>
          <a:p>
            <a:pPr marL="158749" indent="0">
              <a:buSzPts val="1100"/>
              <a:buFont typeface="Arial"/>
              <a:buNone/>
              <a:defRPr/>
            </a:pPr>
            <a:endParaRPr lang="en-US" sz="1100" b="0" i="0" u="none" strike="noStrike" cap="none" spc="0">
              <a:solidFill>
                <a:srgbClr val="000000"/>
              </a:solidFill>
              <a:latin typeface="Arial"/>
              <a:cs typeface="Arial"/>
            </a:endParaRPr>
          </a:p>
          <a:p>
            <a:pPr marL="158749" indent="0">
              <a:buSzPts val="1100"/>
              <a:buFont typeface="Arial"/>
              <a:buNone/>
              <a:defRPr/>
            </a:pPr>
            <a:r>
              <a:rPr lang="en-US" sz="1100" b="0" i="0" u="none" strike="noStrike" cap="none" spc="0">
                <a:solidFill>
                  <a:srgbClr val="000000"/>
                </a:solidFill>
                <a:latin typeface="Arial"/>
                <a:ea typeface="Arial"/>
                <a:cs typeface="Arial"/>
              </a:rPr>
              <a:t>Answer:</a:t>
            </a:r>
            <a:endParaRPr lang="en-US" sz="1100" b="0" i="0" u="none" strike="noStrike" cap="none" spc="0">
              <a:solidFill>
                <a:srgbClr val="000000"/>
              </a:solidFill>
              <a:latin typeface="Arial"/>
              <a:cs typeface="Arial"/>
            </a:endParaRPr>
          </a:p>
          <a:p>
            <a:pPr marL="158749" indent="0">
              <a:buSzPts val="1100"/>
              <a:buFont typeface="Arial"/>
              <a:buNone/>
              <a:defRPr/>
            </a:pPr>
            <a:r>
              <a:rPr lang="en-US" sz="1100" b="0" i="0" u="none" strike="noStrike" cap="none" spc="0">
                <a:solidFill>
                  <a:srgbClr val="000000"/>
                </a:solidFill>
                <a:latin typeface="Arial"/>
                <a:ea typeface="Arial"/>
                <a:cs typeface="Arial"/>
              </a:rPr>
              <a:t>Modern applications operate at massive scale and must support frequent deployments, distributed services, and highly variable data workloads. Traditional architectures were not designed for such requirements. Technologies like Docker provide portable deployment environments, Redis enables extremely fast data access, and PostgreSQL JSON allows flexible data storage within relational systems.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940451023" name="Google Shape;57;SLIDES_API647489343_5: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831606223" name="Google Shape;58;SLIDES_API647489343_5: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158749" indent="0">
              <a:buSzPts val="1100"/>
              <a:buFont typeface="Arial"/>
              <a:buNone/>
              <a:defRPr/>
            </a:pPr>
            <a:r>
              <a:rPr lang="en" sz="1100" b="0" i="0" u="none" strike="noStrike" cap="none" spc="0">
                <a:solidFill>
                  <a:srgbClr val="000000"/>
                </a:solidFill>
                <a:latin typeface="Arial"/>
                <a:ea typeface="Arial"/>
                <a:cs typeface="Arial"/>
              </a:rPr>
              <a:t>This lecture is designed as a four-hour technical exploration of modern application infrastructure. During the first hour, students study containerization concepts and learn how Docker and Docker Compose enable developers to deploy consistent software environments. In the second hour, the lecture explores in-memory key-value databases, focusing on Redis and its role in modern system architectures. The third hour introduces JSON data structures and demonstrates how PostgreSQL integrates semi-structured data into relational systems through JSONB storage. The final hour focuses on practical laboratory exercises in which students deploy a small multi-service architecture consisting of PostgreSQL and Redis containers using Docker Compose.</a:t>
            </a:r>
            <a:endParaRPr lang="en" sz="1100" b="0" i="0" u="none" strike="noStrike" cap="none" spc="0">
              <a:solidFill>
                <a:srgbClr val="000000"/>
              </a:solidFill>
              <a:latin typeface="Arial"/>
              <a:cs typeface="Arial"/>
            </a:endParaRPr>
          </a:p>
          <a:p>
            <a:pPr marL="158749" indent="0">
              <a:buSzPts val="1100"/>
              <a:buFont typeface="Arial"/>
              <a:buNone/>
              <a:defRPr/>
            </a:pPr>
            <a:endParaRPr lang="en" sz="1100" b="0" i="0" u="none" strike="noStrike" cap="none" spc="0">
              <a:solidFill>
                <a:srgbClr val="000000"/>
              </a:solidFill>
              <a:latin typeface="Arial"/>
              <a:cs typeface="Arial"/>
            </a:endParaRPr>
          </a:p>
          <a:p>
            <a:pPr marL="158749" indent="0">
              <a:buSzPts val="1100"/>
              <a:buFont typeface="Arial"/>
              <a:buNone/>
              <a:defRPr/>
            </a:pPr>
            <a:r>
              <a:rPr lang="en" sz="1100" b="0" i="0" u="none" strike="noStrike" cap="none" spc="0">
                <a:solidFill>
                  <a:srgbClr val="000000"/>
                </a:solidFill>
                <a:latin typeface="Arial"/>
                <a:ea typeface="Arial"/>
                <a:cs typeface="Arial"/>
              </a:rPr>
              <a:t>The objective of the lecture is not only to understand each technology individually, but also to understand how they work together as part of a modern backend architecture.</a:t>
            </a:r>
            <a:endParaRPr lang="en" sz="1100" b="0" i="0" u="none" strike="noStrike" cap="none" spc="0">
              <a:solidFill>
                <a:srgbClr val="000000"/>
              </a:solidFill>
              <a:latin typeface="Arial"/>
              <a:cs typeface="Arial"/>
            </a:endParaRPr>
          </a:p>
          <a:p>
            <a:pPr marL="158749" indent="0">
              <a:buSzPts val="1100"/>
              <a:buFont typeface="Arial"/>
              <a:buNone/>
              <a:defRPr/>
            </a:pPr>
            <a:endParaRPr lang="en" sz="1100" b="0" i="0" u="none" strike="noStrike" cap="none" spc="0">
              <a:solidFill>
                <a:srgbClr val="000000"/>
              </a:solidFill>
              <a:latin typeface="Arial"/>
              <a:cs typeface="Arial"/>
            </a:endParaRPr>
          </a:p>
          <a:p>
            <a:pPr marL="158749" indent="0">
              <a:buSzPts val="1100"/>
              <a:buFont typeface="Arial"/>
              <a:buNone/>
              <a:defRPr/>
            </a:pPr>
            <a:r>
              <a:rPr lang="en" sz="1100" b="0" i="0" u="none" strike="noStrike" cap="none" spc="0">
                <a:solidFill>
                  <a:srgbClr val="000000"/>
                </a:solidFill>
                <a:latin typeface="Arial"/>
                <a:ea typeface="Arial"/>
                <a:cs typeface="Arial"/>
              </a:rPr>
              <a:t>Business Interview Question:</a:t>
            </a:r>
            <a:endParaRPr lang="en" sz="1100" b="0" i="0" u="none" strike="noStrike" cap="none" spc="0">
              <a:solidFill>
                <a:srgbClr val="000000"/>
              </a:solidFill>
              <a:latin typeface="Arial"/>
              <a:cs typeface="Arial"/>
            </a:endParaRPr>
          </a:p>
          <a:p>
            <a:pPr marL="158749" indent="0">
              <a:buSzPts val="1100"/>
              <a:buFont typeface="Arial"/>
              <a:buNone/>
              <a:defRPr/>
            </a:pPr>
            <a:r>
              <a:rPr lang="en" sz="1100" b="0" i="0" u="none" strike="noStrike" cap="none" spc="0">
                <a:solidFill>
                  <a:srgbClr val="000000"/>
                </a:solidFill>
                <a:latin typeface="Arial"/>
                <a:ea typeface="Arial"/>
                <a:cs typeface="Arial"/>
              </a:rPr>
              <a:t>Why is it important for engineers to understand both infrastructure tools and databases?</a:t>
            </a:r>
            <a:endParaRPr lang="en" sz="1100" b="0" i="0" u="none" strike="noStrike" cap="none" spc="0">
              <a:solidFill>
                <a:srgbClr val="000000"/>
              </a:solidFill>
              <a:latin typeface="Arial"/>
              <a:cs typeface="Arial"/>
            </a:endParaRPr>
          </a:p>
          <a:p>
            <a:pPr marL="158749" indent="0">
              <a:buSzPts val="1100"/>
              <a:buFont typeface="Arial"/>
              <a:buNone/>
              <a:defRPr/>
            </a:pPr>
            <a:endParaRPr lang="en" sz="1100" b="0" i="0" u="none" strike="noStrike" cap="none" spc="0">
              <a:solidFill>
                <a:srgbClr val="000000"/>
              </a:solidFill>
              <a:latin typeface="Arial"/>
              <a:cs typeface="Arial"/>
            </a:endParaRPr>
          </a:p>
          <a:p>
            <a:pPr marL="158749" indent="0">
              <a:buSzPts val="1100"/>
              <a:buFont typeface="Arial"/>
              <a:buNone/>
              <a:defRPr/>
            </a:pPr>
            <a:r>
              <a:rPr lang="en" sz="1100" b="0" i="0" u="none" strike="noStrike" cap="none" spc="0">
                <a:solidFill>
                  <a:srgbClr val="000000"/>
                </a:solidFill>
                <a:latin typeface="Arial"/>
                <a:ea typeface="Arial"/>
                <a:cs typeface="Arial"/>
              </a:rPr>
              <a:t>Answer:</a:t>
            </a:r>
            <a:endParaRPr lang="en" sz="1100" b="0" i="0" u="none" strike="noStrike" cap="none" spc="0">
              <a:solidFill>
                <a:srgbClr val="000000"/>
              </a:solidFill>
              <a:latin typeface="Arial"/>
              <a:cs typeface="Arial"/>
            </a:endParaRPr>
          </a:p>
          <a:p>
            <a:pPr marL="158749" lvl="0" indent="0" algn="l" rtl="0">
              <a:spcBef>
                <a:spcPts val="0"/>
              </a:spcBef>
              <a:spcAft>
                <a:spcPts val="0"/>
              </a:spcAft>
              <a:buSzPts val="1100"/>
              <a:buFont typeface="Arial"/>
              <a:buNone/>
              <a:defRPr/>
            </a:pPr>
            <a:r>
              <a:rPr lang="en" sz="1100" b="0" i="0" u="none" strike="noStrike" cap="none" spc="0">
                <a:solidFill>
                  <a:srgbClr val="000000"/>
                </a:solidFill>
                <a:latin typeface="Arial"/>
                <a:ea typeface="Arial"/>
                <a:cs typeface="Arial"/>
              </a:rPr>
              <a:t>Modern systems are not built using a single technology. Engineers must understand how application deployment, databases, caching systems, and data models interact. Understanding these interactions allows engineers to design scalable, reliable systems.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693683211" name="Google Shape;63;SLIDES_API647489343_10: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498744439" name="Google Shape;64;SLIDES_API647489343_1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158749" indent="0">
              <a:buSzPts val="1100"/>
              <a:buFont typeface="Arial"/>
              <a:buNone/>
              <a:defRPr/>
            </a:pPr>
            <a:r>
              <a:rPr/>
              <a:t>B</a:t>
            </a:r>
            <a:r>
              <a:rPr sz="1200" b="0" i="0" u="none">
                <a:solidFill>
                  <a:srgbClr val="000000"/>
                </a:solidFill>
                <a:latin typeface="Times New Roman"/>
                <a:ea typeface="Times New Roman"/>
                <a:cs typeface="Times New Roman"/>
              </a:rPr>
              <a:t>efore studying specific tools such as Docker or Redis, it is important to understand how application architecture evolved over time. Early software systems were built using monolithic architectures. In a monolithic system, all components of an application are developed, deployed, and executed as a single unit. For example, an online store might contain user authentication, payment processing, product catalog management, and order processing within the same codebase and runtime environment.</a:t>
            </a:r>
            <a:endParaRPr/>
          </a:p>
          <a:p>
            <a:pPr marL="158749" indent="0">
              <a:buSzPts val="1100"/>
              <a:buFont typeface="Arial"/>
              <a:buNone/>
              <a:defRPr/>
            </a:pPr>
            <a:r>
              <a:rPr sz="1200" b="0" i="0" u="none">
                <a:solidFill>
                  <a:srgbClr val="000000"/>
                </a:solidFill>
                <a:latin typeface="Times New Roman"/>
                <a:ea typeface="Times New Roman"/>
                <a:cs typeface="Times New Roman"/>
              </a:rPr>
              <a:t>While monolithic architectures are simple to develop initially, they become increasingly difficult to maintain as systems grow. One major limitation of monolithic systems is scaling. If only one component of the system experiences high demand, the entire application must be replicated, which wastes computational resources and increases operational complexity.</a:t>
            </a:r>
            <a:endParaRPr/>
          </a:p>
          <a:p>
            <a:pPr marL="158749" indent="0">
              <a:buSzPts val="1100"/>
              <a:buFont typeface="Arial"/>
              <a:buNone/>
              <a:defRPr/>
            </a:pPr>
            <a:r>
              <a:rPr sz="1200" b="0" i="0" u="none">
                <a:solidFill>
                  <a:srgbClr val="000000"/>
                </a:solidFill>
                <a:latin typeface="Times New Roman"/>
                <a:ea typeface="Times New Roman"/>
                <a:cs typeface="Times New Roman"/>
              </a:rPr>
              <a:t>To solve these problems, modern systems increasingly adopt microservices architectures. In a microservices architecture, an application is divided into multiple smaller services, each responsible for a specific function. For example, a system may contain separate services for authentication, payments, inventory management, and analytics. These services communicate through APIs and can be scaled independently depending on demand.</a:t>
            </a:r>
            <a:endParaRPr/>
          </a:p>
          <a:p>
            <a:pPr marL="158749" indent="0">
              <a:buSzPts val="1100"/>
              <a:buFont typeface="Arial"/>
              <a:buNone/>
              <a:defRPr/>
            </a:pPr>
            <a:r>
              <a:rPr sz="1200" b="0" i="0" u="none">
                <a:solidFill>
                  <a:srgbClr val="000000"/>
                </a:solidFill>
                <a:latin typeface="Times New Roman"/>
                <a:ea typeface="Times New Roman"/>
                <a:cs typeface="Times New Roman"/>
              </a:rPr>
              <a:t>The adoption of microservices introduced a new requirement: each service must run in an isolated and reproducible environment. This requirement led to the widespread adoption of containerization technologies such as Docker</a:t>
            </a:r>
            <a:endParaRPr sz="1200" b="0" i="0" u="none">
              <a:solidFill>
                <a:srgbClr val="000000"/>
              </a:solidFill>
              <a:latin typeface="Times New Roman"/>
              <a:ea typeface="Times New Roman"/>
              <a:cs typeface="Times New Roman"/>
            </a:endParaRPr>
          </a:p>
          <a:p>
            <a:pPr marL="158749" indent="0">
              <a:buSzPts val="1100"/>
              <a:buFont typeface="Arial"/>
              <a:buNone/>
              <a:defRPr/>
            </a:pPr>
            <a:r>
              <a:rPr sz="1200" b="0" i="0" u="none">
                <a:solidFill>
                  <a:srgbClr val="000000"/>
                </a:solidFill>
                <a:latin typeface="Times New Roman"/>
                <a:ea typeface="Times New Roman"/>
                <a:cs typeface="Times New Roman"/>
              </a:rPr>
              <a:t>.</a:t>
            </a:r>
            <a:endParaRPr/>
          </a:p>
          <a:p>
            <a:pPr marL="158749" indent="0">
              <a:buSzPts val="1100"/>
              <a:buFont typeface="Arial"/>
              <a:buNone/>
              <a:defRPr/>
            </a:pPr>
            <a:r>
              <a:rPr sz="1200" b="1" i="0" u="none">
                <a:solidFill>
                  <a:srgbClr val="000000"/>
                </a:solidFill>
                <a:latin typeface="Times New Roman"/>
                <a:ea typeface="Times New Roman"/>
                <a:cs typeface="Times New Roman"/>
              </a:rPr>
              <a:t>Business Interview Question:</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Why did companies move from monolithic architectures to microservices?</a:t>
            </a:r>
            <a:endParaRPr/>
          </a:p>
          <a:p>
            <a:pPr marL="158749" indent="0">
              <a:buSzPts val="1100"/>
              <a:buFont typeface="Arial"/>
              <a:buNone/>
              <a:defRPr/>
            </a:pPr>
            <a:endParaRPr/>
          </a:p>
          <a:p>
            <a:pPr marL="158749" indent="0">
              <a:buSzPts val="1100"/>
              <a:buFont typeface="Arial"/>
              <a:buNone/>
              <a:defRPr/>
            </a:pPr>
            <a:r>
              <a:rPr sz="1200" b="1" i="0" u="none">
                <a:solidFill>
                  <a:srgbClr val="000000"/>
                </a:solidFill>
                <a:latin typeface="Times New Roman"/>
                <a:ea typeface="Times New Roman"/>
                <a:cs typeface="Times New Roman"/>
              </a:rPr>
              <a:t>Answer:</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Microservices allow systems to scale more efficiently, enable teams to develop services independently, and reduce the risk associated with large deployments. They also allow different services to use different technologies when appropriate.</a:t>
            </a:r>
            <a:endParaRPr sz="1200" b="0" i="0" u="none">
              <a:solidFill>
                <a:srgbClr val="000000"/>
              </a:solidFill>
              <a:latin typeface="Times New Roman"/>
              <a:ea typeface="Times New Roman"/>
              <a:cs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442229347" name="Google Shape;70;SLIDES_API647489343_16: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55133607" name="Google Shape;71;SLIDES_API647489343_16: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158749" indent="0">
              <a:buSzPts val="1100"/>
              <a:buNone/>
              <a:defRPr/>
            </a:pPr>
            <a:r>
              <a:rPr sz="1200" b="0" i="0" u="none">
                <a:solidFill>
                  <a:srgbClr val="000000"/>
                </a:solidFill>
                <a:latin typeface="Times New Roman"/>
                <a:ea typeface="Times New Roman"/>
                <a:cs typeface="Times New Roman"/>
              </a:rPr>
              <a:t>Containerization is a technology that packages applications together with their dependencies so they can run consistently across different environments. Before containerization became common, software engineers frequently experienced compatibility issues between development environments and production servers. These inconsistencies often caused applications to behave differently depending on where they were executed.</a:t>
            </a:r>
            <a:endParaRPr/>
          </a:p>
          <a:p>
            <a:pPr marL="158749" indent="0">
              <a:buSzPts val="1100"/>
              <a:buNone/>
              <a:defRPr/>
            </a:pPr>
            <a:r>
              <a:rPr sz="1200" b="0" i="0" u="none">
                <a:solidFill>
                  <a:srgbClr val="000000"/>
                </a:solidFill>
                <a:latin typeface="Times New Roman"/>
                <a:ea typeface="Times New Roman"/>
                <a:cs typeface="Times New Roman"/>
              </a:rPr>
              <a:t>Docker provides a solution by allowing developers to create containers that include the application code, runtime environment, system libraries, and configuration settings required for execution. Because the container contains everything necessary to run the application, it behaves the same regardless of the underlying host system.</a:t>
            </a:r>
            <a:endParaRPr/>
          </a:p>
          <a:p>
            <a:pPr marL="158749" indent="0">
              <a:buSzPts val="1100"/>
              <a:buNone/>
              <a:defRPr/>
            </a:pPr>
            <a:r>
              <a:rPr sz="1200" b="0" i="0" u="none">
                <a:solidFill>
                  <a:srgbClr val="000000"/>
                </a:solidFill>
                <a:latin typeface="Times New Roman"/>
                <a:ea typeface="Times New Roman"/>
                <a:cs typeface="Times New Roman"/>
              </a:rPr>
              <a:t>Containerization is particularly important in microservices architectures, where many independent services must run simultaneously in isolated environments. Containers allow these services to run on the same host system without interfering with each other.</a:t>
            </a:r>
            <a:endParaRPr/>
          </a:p>
          <a:p>
            <a:pPr marL="158749" indent="0">
              <a:buSzPts val="1100"/>
              <a:buNone/>
              <a:defRPr/>
            </a:pPr>
            <a:r>
              <a:rPr sz="1200" b="1" i="0" u="none">
                <a:solidFill>
                  <a:srgbClr val="000000"/>
                </a:solidFill>
                <a:latin typeface="Times New Roman"/>
                <a:ea typeface="Times New Roman"/>
                <a:cs typeface="Times New Roman"/>
              </a:rPr>
              <a:t>Business Interview Question:</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What is containerization and why is it important in microservices?</a:t>
            </a:r>
            <a:endParaRPr/>
          </a:p>
          <a:p>
            <a:pPr marL="158749" indent="0">
              <a:buSzPts val="1100"/>
              <a:buNone/>
              <a:defRPr/>
            </a:pPr>
            <a:r>
              <a:rPr sz="1200" b="1" i="0" u="none">
                <a:solidFill>
                  <a:srgbClr val="000000"/>
                </a:solidFill>
                <a:latin typeface="Times New Roman"/>
                <a:ea typeface="Times New Roman"/>
                <a:cs typeface="Times New Roman"/>
              </a:rPr>
              <a:t>Answer:</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Containerization packages an application and its dependencies into a portable environment. In microservices architectures, this ensures that each service runs consistently and independently from other services.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19550655" name="Google Shape;76;SLIDES_API647489343_2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304638914" name="Google Shape;77;SLIDES_API647489343_21: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Before Docker became widely adopted, application isolation was typically achieved using virtual machines. A virtual machine emulates an entire computer system, including its own operating system and hardware environment. Virtual machines run on top of a hypervisor, which manages the allocation of physical resources such as CPU and memory.</a:t>
            </a:r>
            <a:endParaRPr/>
          </a:p>
          <a:p>
            <a:pPr>
              <a:defRPr/>
            </a:pPr>
            <a:r>
              <a:rPr sz="1200" b="0" i="0" u="none">
                <a:solidFill>
                  <a:srgbClr val="000000"/>
                </a:solidFill>
                <a:latin typeface="Times New Roman"/>
                <a:ea typeface="Times New Roman"/>
                <a:cs typeface="Times New Roman"/>
              </a:rPr>
              <a:t>Although virtual machines provide strong isolation between applications, they have several disadvantages. Each virtual machine requires a complete operating system installation, which consumes significant memory and storage resources. Additionally, virtual machines typically require several minutes to start, making them unsuitable for highly dynamic environments where applications must scale rapidly.</a:t>
            </a:r>
            <a:endParaRPr/>
          </a:p>
          <a:p>
            <a:pPr>
              <a:defRPr/>
            </a:pPr>
            <a:r>
              <a:rPr sz="1200" b="0" i="0" u="none">
                <a:solidFill>
                  <a:srgbClr val="000000"/>
                </a:solidFill>
                <a:latin typeface="Times New Roman"/>
                <a:ea typeface="Times New Roman"/>
                <a:cs typeface="Times New Roman"/>
              </a:rPr>
              <a:t>Because of these limitations, organizations began searching for lighter alternatives that could provide isolation without the overhead of full operating systems.</a:t>
            </a:r>
            <a:endParaRPr/>
          </a:p>
          <a:p>
            <a:pPr>
              <a:defRPr/>
            </a:pPr>
            <a:r>
              <a:rPr sz="1200" b="1" i="0" u="none">
                <a:solidFill>
                  <a:srgbClr val="000000"/>
                </a:solidFill>
                <a:latin typeface="Times New Roman"/>
                <a:ea typeface="Times New Roman"/>
                <a:cs typeface="Times New Roman"/>
              </a:rPr>
              <a:t>Business Interview Question:</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Why are virtual machines less efficient than containers?</a:t>
            </a:r>
            <a:endParaRPr/>
          </a:p>
          <a:p>
            <a:pPr>
              <a:defRPr/>
            </a:pPr>
            <a:r>
              <a:rPr sz="1200" b="1" i="0" u="none">
                <a:solidFill>
                  <a:srgbClr val="000000"/>
                </a:solidFill>
                <a:latin typeface="Times New Roman"/>
                <a:ea typeface="Times New Roman"/>
                <a:cs typeface="Times New Roman"/>
              </a:rPr>
              <a:t>Answer:</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Virtual machines require a full guest operating system for each instance, which increases memory usage and startup time. Containers share the host operating system kernel, making them significantly lighter and faster.</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47562159" name="Google Shape;83;SLIDES_API647489343_27: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774734950" name="Google Shape;84;SLIDES_API647489343_27: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The architecture of virtual machines and containers differs fundamentally in how resources are managed. In a virtual machine architecture, each application runs on top of a guest operating system that communicates with the hypervisor. This layered structure increases overhead and reduces efficiency.</a:t>
            </a:r>
            <a:endParaRPr/>
          </a:p>
          <a:p>
            <a:pPr>
              <a:defRPr/>
            </a:pPr>
            <a:r>
              <a:rPr sz="1200" b="0" i="0" u="none">
                <a:solidFill>
                  <a:srgbClr val="000000"/>
                </a:solidFill>
                <a:latin typeface="Times New Roman"/>
                <a:ea typeface="Times New Roman"/>
                <a:cs typeface="Times New Roman"/>
              </a:rPr>
              <a:t>In contrast, containers run directly on top of a container runtime such as Docker, which interacts with the host operating system kernel. Because containers share the host kernel, they require fewer resources and can start almost instantly.</a:t>
            </a:r>
            <a:endParaRPr/>
          </a:p>
          <a:p>
            <a:pPr>
              <a:defRPr/>
            </a:pPr>
            <a:r>
              <a:rPr sz="1200" b="0" i="0" u="none">
                <a:solidFill>
                  <a:srgbClr val="000000"/>
                </a:solidFill>
                <a:latin typeface="Times New Roman"/>
                <a:ea typeface="Times New Roman"/>
                <a:cs typeface="Times New Roman"/>
              </a:rPr>
              <a:t>This architectural difference is one of the main reasons why containers have become the preferred solution for modern application deployment.</a:t>
            </a:r>
            <a:endParaRPr/>
          </a:p>
          <a:p>
            <a:pPr>
              <a:defRPr/>
            </a:pPr>
            <a:r>
              <a:rPr sz="1200" b="1" i="0" u="none">
                <a:solidFill>
                  <a:srgbClr val="000000"/>
                </a:solidFill>
                <a:latin typeface="Times New Roman"/>
                <a:ea typeface="Times New Roman"/>
                <a:cs typeface="Times New Roman"/>
              </a:rPr>
              <a:t>Business Interview Question:</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What architectural advantage allows containers to start faster than virtual machines?</a:t>
            </a:r>
            <a:endParaRPr/>
          </a:p>
          <a:p>
            <a:pPr>
              <a:defRPr/>
            </a:pPr>
            <a:r>
              <a:rPr sz="1200" b="1" i="0" u="none">
                <a:solidFill>
                  <a:srgbClr val="000000"/>
                </a:solidFill>
                <a:latin typeface="Times New Roman"/>
                <a:ea typeface="Times New Roman"/>
                <a:cs typeface="Times New Roman"/>
              </a:rPr>
              <a:t>Answer:</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Containers share the host operating system kernel rather than running a full guest operating system, which reduces initialization time and resource consumption.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43878567" name="Google Shape;90;SLIDES_API647489343_33: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332807301" name="Google Shape;91;SLIDES_API647489343_33: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Docker introduces several key concepts that form the foundation of containerized environments. A Dockerfile is a text document that contains instructions for building a container image. These instructions specify the base environment, dependencies, application code, and startup commands required to run the application.</a:t>
            </a:r>
            <a:endParaRPr/>
          </a:p>
          <a:p>
            <a:pPr>
              <a:defRPr/>
            </a:pPr>
            <a:r>
              <a:rPr sz="1200" b="0" i="0" u="none">
                <a:solidFill>
                  <a:srgbClr val="000000"/>
                </a:solidFill>
                <a:latin typeface="Times New Roman"/>
                <a:ea typeface="Times New Roman"/>
                <a:cs typeface="Times New Roman"/>
              </a:rPr>
              <a:t>A Docker image is the result of executing a Dockerfile. It represents a read-only template that includes all components required to run the application. Images are immutable, meaning they cannot be modified after creation.</a:t>
            </a:r>
            <a:endParaRPr/>
          </a:p>
          <a:p>
            <a:pPr>
              <a:defRPr/>
            </a:pPr>
            <a:r>
              <a:rPr sz="1200" b="0" i="0" u="none">
                <a:solidFill>
                  <a:srgbClr val="000000"/>
                </a:solidFill>
                <a:latin typeface="Times New Roman"/>
                <a:ea typeface="Times New Roman"/>
                <a:cs typeface="Times New Roman"/>
              </a:rPr>
              <a:t>A Docker container is a running instance of a Docker image. Containers can be started, stopped, and deleted without affecting the underlying image.</a:t>
            </a:r>
            <a:endParaRPr/>
          </a:p>
          <a:p>
            <a:pPr>
              <a:defRPr/>
            </a:pPr>
            <a:r>
              <a:rPr sz="1200" b="0" i="0" u="none">
                <a:solidFill>
                  <a:srgbClr val="000000"/>
                </a:solidFill>
                <a:latin typeface="Times New Roman"/>
                <a:ea typeface="Times New Roman"/>
                <a:cs typeface="Times New Roman"/>
              </a:rPr>
              <a:t>Understanding the relationship between Dockerfiles, images, and containers is essential for designing containerized applications.</a:t>
            </a:r>
            <a:endParaRPr/>
          </a:p>
          <a:p>
            <a:pPr>
              <a:defRPr/>
            </a:pPr>
            <a:r>
              <a:rPr sz="1200" b="1" i="0" u="none">
                <a:solidFill>
                  <a:srgbClr val="000000"/>
                </a:solidFill>
                <a:latin typeface="Times New Roman"/>
                <a:ea typeface="Times New Roman"/>
                <a:cs typeface="Times New Roman"/>
              </a:rPr>
              <a:t>Business Interview Question:</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What is the difference between a Docker image and a Docker container?</a:t>
            </a:r>
            <a:endParaRPr/>
          </a:p>
          <a:p>
            <a:pPr>
              <a:defRPr/>
            </a:pPr>
            <a:r>
              <a:rPr sz="1200" b="1" i="0" u="none">
                <a:solidFill>
                  <a:srgbClr val="000000"/>
                </a:solidFill>
                <a:latin typeface="Times New Roman"/>
                <a:ea typeface="Times New Roman"/>
                <a:cs typeface="Times New Roman"/>
              </a:rPr>
              <a:t>Answer:</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A Docker image is a static template containing the application and its dependencies. A Docker container is a running instance created from that image.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22145724" name="Google Shape;96;SLIDES_API647489343_38: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81143439" name="Google Shape;97;SLIDES_API647489343_38: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One of the most common problems in software development historically was the inconsistency between development and production environments. Developers often encountered situations where an application functioned perfectly on their local machine but failed when deployed to production servers.</a:t>
            </a:r>
            <a:endParaRPr/>
          </a:p>
          <a:p>
            <a:pPr>
              <a:defRPr/>
            </a:pPr>
            <a:r>
              <a:rPr sz="1200" b="0" i="0" u="none">
                <a:solidFill>
                  <a:srgbClr val="000000"/>
                </a:solidFill>
                <a:latin typeface="Times New Roman"/>
                <a:ea typeface="Times New Roman"/>
                <a:cs typeface="Times New Roman"/>
              </a:rPr>
              <a:t>This problem was typically caused by differences in operating systems, library versions, runtime environments, or system configurations. Docker eliminates this problem by packaging the application together with its dependencies into a container. Because the container includes all necessary components, the application behaves consistently across environments.</a:t>
            </a:r>
            <a:endParaRPr/>
          </a:p>
          <a:p>
            <a:pPr>
              <a:defRPr/>
            </a:pPr>
            <a:r>
              <a:rPr sz="1200" b="0" i="0" u="none">
                <a:solidFill>
                  <a:srgbClr val="000000"/>
                </a:solidFill>
                <a:latin typeface="Times New Roman"/>
                <a:ea typeface="Times New Roman"/>
                <a:cs typeface="Times New Roman"/>
              </a:rPr>
              <a:t>This property makes Docker extremely valuable in continuous integration and continuous deployment pipelines.</a:t>
            </a:r>
            <a:endParaRPr/>
          </a:p>
          <a:p>
            <a:pPr>
              <a:defRPr/>
            </a:pPr>
            <a:r>
              <a:rPr sz="1200" b="1" i="0" u="none">
                <a:solidFill>
                  <a:srgbClr val="000000"/>
                </a:solidFill>
                <a:latin typeface="Times New Roman"/>
                <a:ea typeface="Times New Roman"/>
                <a:cs typeface="Times New Roman"/>
              </a:rPr>
              <a:t>Business Interview Question:</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What problem does Docker solve in software development workflows?</a:t>
            </a:r>
            <a:endParaRPr/>
          </a:p>
          <a:p>
            <a:pPr>
              <a:defRPr/>
            </a:pPr>
            <a:r>
              <a:rPr sz="1200" b="1" i="0" u="none">
                <a:solidFill>
                  <a:srgbClr val="000000"/>
                </a:solidFill>
                <a:latin typeface="Times New Roman"/>
                <a:ea typeface="Times New Roman"/>
                <a:cs typeface="Times New Roman"/>
              </a:rPr>
              <a:t>Answer:</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Docker eliminates environment inconsistency by ensuring that applications run in identical environments during development, testing, and production.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40291900" name="Google Shape;102;SLIDES_API647489343_43: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4027490" name="Google Shape;103;SLIDES_API647489343_43: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Docker provides several advantages for modern software systems. Containers start almost instantly, allowing systems to scale rapidly when demand increases. Containers also allow many services to run on a single host system without excessive resource consumption. Additionally, Docker enables portable deployments, allowing applications to run on local machines, cloud platforms, and production servers with minimal changes.</a:t>
            </a:r>
            <a:endParaRPr/>
          </a:p>
          <a:p>
            <a:pPr>
              <a:defRPr/>
            </a:pPr>
            <a:r>
              <a:rPr sz="1200" b="0" i="0" u="none">
                <a:solidFill>
                  <a:srgbClr val="000000"/>
                </a:solidFill>
                <a:latin typeface="Times New Roman"/>
                <a:ea typeface="Times New Roman"/>
                <a:cs typeface="Times New Roman"/>
              </a:rPr>
              <a:t>However, Docker also introduces certain challenges. Engineers must learn container orchestration tools and container networking concepts. Security considerations must also be addressed because containers share the host operating system kernel.</a:t>
            </a:r>
            <a:endParaRPr/>
          </a:p>
          <a:p>
            <a:pPr>
              <a:defRPr/>
            </a:pPr>
            <a:r>
              <a:rPr sz="1200" b="0" i="0" u="none">
                <a:solidFill>
                  <a:srgbClr val="000000"/>
                </a:solidFill>
                <a:latin typeface="Times New Roman"/>
                <a:ea typeface="Times New Roman"/>
                <a:cs typeface="Times New Roman"/>
              </a:rPr>
              <a:t>Despite these challenges, Docker has become a foundational technology in modern cloud infrastructure.</a:t>
            </a:r>
            <a:endParaRPr/>
          </a:p>
          <a:p>
            <a:pPr>
              <a:defRPr/>
            </a:pPr>
            <a:r>
              <a:rPr sz="1200" b="1" i="0" u="none">
                <a:solidFill>
                  <a:srgbClr val="000000"/>
                </a:solidFill>
                <a:latin typeface="Times New Roman"/>
                <a:ea typeface="Times New Roman"/>
                <a:cs typeface="Times New Roman"/>
              </a:rPr>
              <a:t>Business Interview Question:</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Why do companies integrate Docker into CI/CD pipelines?</a:t>
            </a:r>
            <a:endParaRPr/>
          </a:p>
          <a:p>
            <a:pPr>
              <a:defRPr/>
            </a:pPr>
            <a:r>
              <a:rPr sz="1200" b="1" i="0" u="none">
                <a:solidFill>
                  <a:srgbClr val="000000"/>
                </a:solidFill>
                <a:latin typeface="Times New Roman"/>
                <a:ea typeface="Times New Roman"/>
                <a:cs typeface="Times New Roman"/>
              </a:rPr>
              <a:t>Answer:</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Docker allows applications to be built once and deployed consistently across environments, which simplifies automated testing and deployment processes.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88319522" name="Google Shape;109;SLIDES_API647489343_49: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81912765" name="Google Shape;110;SLIDES_API647489343_49: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One of the most important characteristics of containers is that they are ephemeral. This means that containers are temporary runtime environments and their internal filesystem is not designed for long-term storage. If a container is stopped or deleted, any data written inside the container is also deleted. While this behavior is acceptable for stateless applications, it becomes extremely problematic when running databases or applications that must preserve information.</a:t>
            </a:r>
            <a:endParaRPr/>
          </a:p>
          <a:p>
            <a:pPr>
              <a:defRPr/>
            </a:pPr>
            <a:r>
              <a:rPr sz="1200" b="0" i="0" u="none">
                <a:solidFill>
                  <a:srgbClr val="000000"/>
                </a:solidFill>
                <a:latin typeface="Times New Roman"/>
                <a:ea typeface="Times New Roman"/>
                <a:cs typeface="Times New Roman"/>
              </a:rPr>
              <a:t>Consider a scenario in which a PostgreSQL database is deployed inside a Docker container. If the container is removed during an update or a system restart, the entire database would disappear if the data is stored only within the container’s internal filesystem. For this reason, Docker introduces mechanisms that allow persistent storage outside the container lifecycle.</a:t>
            </a:r>
            <a:endParaRPr/>
          </a:p>
          <a:p>
            <a:pPr>
              <a:defRPr/>
            </a:pPr>
            <a:r>
              <a:rPr sz="1200" b="0" i="0" u="none">
                <a:solidFill>
                  <a:srgbClr val="000000"/>
                </a:solidFill>
                <a:latin typeface="Times New Roman"/>
                <a:ea typeface="Times New Roman"/>
                <a:cs typeface="Times New Roman"/>
              </a:rPr>
              <a:t>Docker volumes are the primary solution for persistent storage. A Docker volume is a managed storage location on the host system that is mounted inside the container. The container can read and write data to the volume, but the data remains on the host machine even if the container is destroyed. This design allows containers to be replaced or updated while preserving the application’s data.</a:t>
            </a:r>
            <a:endParaRPr/>
          </a:p>
          <a:p>
            <a:pPr>
              <a:defRPr/>
            </a:pPr>
            <a:r>
              <a:rPr sz="1200" b="0" i="0" u="none">
                <a:solidFill>
                  <a:srgbClr val="000000"/>
                </a:solidFill>
                <a:latin typeface="Times New Roman"/>
                <a:ea typeface="Times New Roman"/>
                <a:cs typeface="Times New Roman"/>
              </a:rPr>
              <a:t>Another approach to persistent storage is the use of bind mounts. A bind mount directly connects a directory from the host machine to a directory inside the container. This technique is often used in development environments because it allows developers to modify files on the host system while the container is running.</a:t>
            </a:r>
            <a:endParaRPr/>
          </a:p>
          <a:p>
            <a:pPr>
              <a:defRPr/>
            </a:pPr>
            <a:r>
              <a:rPr sz="1200" b="0" i="0" u="none">
                <a:solidFill>
                  <a:srgbClr val="000000"/>
                </a:solidFill>
                <a:latin typeface="Times New Roman"/>
                <a:ea typeface="Times New Roman"/>
                <a:cs typeface="Times New Roman"/>
              </a:rPr>
              <a:t>Understanding persistent storage mechanisms is essential when deploying databases or other stateful services in containerized environments.</a:t>
            </a:r>
            <a:endParaRPr/>
          </a:p>
          <a:p>
            <a:pPr>
              <a:defRPr/>
            </a:pPr>
            <a:r>
              <a:rPr sz="1200" b="1" i="0" u="none">
                <a:solidFill>
                  <a:srgbClr val="000000"/>
                </a:solidFill>
                <a:latin typeface="Times New Roman"/>
                <a:ea typeface="Times New Roman"/>
                <a:cs typeface="Times New Roman"/>
              </a:rPr>
              <a:t>Business Interview Question:</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Why are Docker volumes necessary when running databases in containers?</a:t>
            </a:r>
            <a:endParaRPr/>
          </a:p>
          <a:p>
            <a:pPr>
              <a:defRPr/>
            </a:pPr>
            <a:r>
              <a:rPr sz="1200" b="1" i="0" u="none">
                <a:solidFill>
                  <a:srgbClr val="000000"/>
                </a:solidFill>
                <a:latin typeface="Times New Roman"/>
                <a:ea typeface="Times New Roman"/>
                <a:cs typeface="Times New Roman"/>
              </a:rPr>
              <a:t>Answer:</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Containers are ephemeral environments and their internal storage is deleted when the container is removed. Docker volumes allow data to persist outside the container lifecycle, ensuring that database information is not lost.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98537128" name="Google Shape;115;SLIDES_API647489343_54: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125324184" name="Google Shape;116;SLIDES_API647489343_54: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158749" indent="0">
              <a:buSzPts val="1100"/>
              <a:buNone/>
              <a:defRPr/>
            </a:pPr>
            <a:r>
              <a:rPr sz="1200" b="0" i="0" u="none">
                <a:solidFill>
                  <a:srgbClr val="000000"/>
                </a:solidFill>
                <a:latin typeface="Times New Roman"/>
                <a:ea typeface="Times New Roman"/>
                <a:cs typeface="Times New Roman"/>
              </a:rPr>
              <a:t>In this slide the green code example shows a typical Dockerfile used to build a container image for a Node.js application.</a:t>
            </a:r>
            <a:endParaRPr/>
          </a:p>
          <a:p>
            <a:pPr marL="158749" indent="0">
              <a:buSzPts val="1100"/>
              <a:buNone/>
              <a:defRPr/>
            </a:pPr>
            <a:r>
              <a:rPr sz="1000" b="0" i="0" u="none">
                <a:solidFill>
                  <a:srgbClr val="000000"/>
                </a:solidFill>
                <a:latin typeface="Courier New"/>
                <a:ea typeface="Courier New"/>
                <a:cs typeface="Courier New"/>
              </a:rPr>
              <a:t>FROM node:18-alpine</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WORKDIR /app</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COPY package.json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RUN npm install</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COPY .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CMD ["npm", "start"]</a:t>
            </a:r>
            <a:endParaRPr/>
          </a:p>
          <a:p>
            <a:pPr marL="158749" indent="0">
              <a:buSzPts val="1100"/>
              <a:buNone/>
              <a:defRPr/>
            </a:pPr>
            <a:endParaRPr/>
          </a:p>
          <a:p>
            <a:pPr marL="158749" indent="0">
              <a:buSzPts val="1100"/>
              <a:buNone/>
              <a:defRPr/>
            </a:pPr>
            <a:r>
              <a:rPr sz="1200" b="0" i="0" u="none">
                <a:solidFill>
                  <a:srgbClr val="000000"/>
                </a:solidFill>
                <a:latin typeface="Times New Roman"/>
                <a:ea typeface="Times New Roman"/>
                <a:cs typeface="Times New Roman"/>
              </a:rPr>
              <a:t>To understand the logic of a Dockerfile, u must imagine the process as a </a:t>
            </a:r>
            <a:r>
              <a:rPr sz="1200" b="1" i="0" u="none">
                <a:solidFill>
                  <a:srgbClr val="000000"/>
                </a:solidFill>
                <a:latin typeface="Times New Roman"/>
                <a:ea typeface="Times New Roman"/>
                <a:cs typeface="Times New Roman"/>
              </a:rPr>
              <a:t>step-by-step environment construction procedure</a:t>
            </a:r>
            <a:r>
              <a:rPr sz="1200" b="0" i="0" u="none">
                <a:solidFill>
                  <a:srgbClr val="000000"/>
                </a:solidFill>
                <a:latin typeface="Times New Roman"/>
                <a:ea typeface="Times New Roman"/>
                <a:cs typeface="Times New Roman"/>
              </a:rPr>
              <a:t>. Docker reads the file from top to bottom and executes each instruction sequentially.</a:t>
            </a:r>
            <a:endParaRPr sz="1200" b="0" i="0" u="none">
              <a:solidFill>
                <a:srgbClr val="000000"/>
              </a:solidFill>
              <a:latin typeface="Times New Roman"/>
              <a:ea typeface="Times New Roman"/>
              <a:cs typeface="Times New Roman"/>
            </a:endParaRPr>
          </a:p>
          <a:p>
            <a:pPr marL="158749" indent="0">
              <a:buSzPts val="1100"/>
              <a:buNone/>
              <a:defRPr/>
            </a:pPr>
            <a:endParaRPr/>
          </a:p>
          <a:p>
            <a:pPr marL="158749" indent="0">
              <a:buSzPts val="1100"/>
              <a:buNone/>
              <a:defRPr/>
            </a:pPr>
            <a:r>
              <a:rPr sz="1200" b="0" i="0" u="none">
                <a:solidFill>
                  <a:srgbClr val="000000"/>
                </a:solidFill>
                <a:latin typeface="Times New Roman"/>
                <a:ea typeface="Times New Roman"/>
                <a:cs typeface="Times New Roman"/>
              </a:rPr>
              <a:t>The first instruction in the example is:</a:t>
            </a:r>
            <a:endParaRPr sz="1200" b="0" i="0" u="none">
              <a:solidFill>
                <a:srgbClr val="000000"/>
              </a:solidFill>
              <a:latin typeface="Times New Roman"/>
              <a:ea typeface="Times New Roman"/>
              <a:cs typeface="Times New Roman"/>
            </a:endParaRPr>
          </a:p>
          <a:p>
            <a:pPr marL="158749" indent="0">
              <a:buSzPts val="1100"/>
              <a:buNone/>
              <a:defRPr/>
            </a:pPr>
            <a:r>
              <a:rPr sz="1000" b="0" i="0" u="none">
                <a:solidFill>
                  <a:srgbClr val="000000"/>
                </a:solidFill>
                <a:latin typeface="Courier New"/>
                <a:ea typeface="Courier New"/>
                <a:cs typeface="Courier New"/>
              </a:rPr>
              <a:t>FROM node:18-alpine</a:t>
            </a:r>
            <a:endParaRPr/>
          </a:p>
          <a:p>
            <a:pPr marL="158749" indent="0">
              <a:buSzPts val="1100"/>
              <a:buNone/>
              <a:defRPr/>
            </a:pPr>
            <a:endParaRPr/>
          </a:p>
          <a:p>
            <a:pPr marL="158749" indent="0">
              <a:buSzPts val="1100"/>
              <a:buNone/>
              <a:defRPr/>
            </a:pPr>
            <a:r>
              <a:rPr sz="1200" b="0" i="0" u="none">
                <a:solidFill>
                  <a:srgbClr val="000000"/>
                </a:solidFill>
                <a:latin typeface="Times New Roman"/>
                <a:ea typeface="Times New Roman"/>
                <a:cs typeface="Times New Roman"/>
              </a:rPr>
              <a:t>This line defines the </a:t>
            </a:r>
            <a:r>
              <a:rPr sz="1200" b="1" i="0" u="none">
                <a:solidFill>
                  <a:srgbClr val="000000"/>
                </a:solidFill>
                <a:latin typeface="Times New Roman"/>
                <a:ea typeface="Times New Roman"/>
                <a:cs typeface="Times New Roman"/>
              </a:rPr>
              <a:t>base image</a:t>
            </a:r>
            <a:r>
              <a:rPr sz="1200" b="0" i="0" u="none">
                <a:solidFill>
                  <a:srgbClr val="000000"/>
                </a:solidFill>
                <a:latin typeface="Times New Roman"/>
                <a:ea typeface="Times New Roman"/>
                <a:cs typeface="Times New Roman"/>
              </a:rPr>
              <a:t> that will be used as the foundation of the container. In this case the container environment starts from a lightweight Linux distribution that already includes Node.js version 18. The “alpine” variant is widely used because it is extremely small and optimized for containers.</a:t>
            </a:r>
            <a:endParaRPr sz="1200" b="0" i="0" u="none">
              <a:solidFill>
                <a:srgbClr val="000000"/>
              </a:solidFill>
              <a:latin typeface="Times New Roman"/>
              <a:ea typeface="Times New Roman"/>
              <a:cs typeface="Times New Roman"/>
            </a:endParaRPr>
          </a:p>
          <a:p>
            <a:pPr marL="158749" indent="0">
              <a:buSzPts val="1100"/>
              <a:buNone/>
              <a:defRPr/>
            </a:pPr>
            <a:endParaRPr/>
          </a:p>
          <a:p>
            <a:pPr marL="158749" indent="0">
              <a:buSzPts val="1100"/>
              <a:buNone/>
              <a:defRPr/>
            </a:pPr>
            <a:r>
              <a:rPr sz="1200" b="0" i="0" u="none">
                <a:solidFill>
                  <a:srgbClr val="000000"/>
                </a:solidFill>
                <a:latin typeface="Times New Roman"/>
                <a:ea typeface="Times New Roman"/>
                <a:cs typeface="Times New Roman"/>
              </a:rPr>
              <a:t>The second instruction is:</a:t>
            </a:r>
            <a:endParaRPr sz="1200" b="0" i="0" u="none">
              <a:solidFill>
                <a:srgbClr val="000000"/>
              </a:solidFill>
              <a:latin typeface="Times New Roman"/>
              <a:ea typeface="Times New Roman"/>
              <a:cs typeface="Times New Roman"/>
            </a:endParaRPr>
          </a:p>
          <a:p>
            <a:pPr marL="158749" indent="0">
              <a:buSzPts val="1100"/>
              <a:buNone/>
              <a:defRPr/>
            </a:pPr>
            <a:r>
              <a:rPr sz="1000" b="0" i="0" u="none">
                <a:solidFill>
                  <a:srgbClr val="000000"/>
                </a:solidFill>
                <a:latin typeface="Courier New"/>
                <a:ea typeface="Courier New"/>
                <a:cs typeface="Courier New"/>
              </a:rPr>
              <a:t>WORKDIR /app</a:t>
            </a:r>
            <a:endParaRPr/>
          </a:p>
          <a:p>
            <a:pPr marL="158749" indent="0">
              <a:buSzPts val="1100"/>
              <a:buNone/>
              <a:defRPr/>
            </a:pPr>
            <a:r>
              <a:rPr sz="1200" b="0" i="0" u="none">
                <a:solidFill>
                  <a:srgbClr val="000000"/>
                </a:solidFill>
                <a:latin typeface="Times New Roman"/>
                <a:ea typeface="Times New Roman"/>
                <a:cs typeface="Times New Roman"/>
              </a:rPr>
              <a:t>This command defines the working directory inside the container. All subsequent commands will be executed inside this directory. In practical terms, it creates a folder called </a:t>
            </a:r>
            <a:r>
              <a:rPr sz="1000" b="0" i="0" u="none">
                <a:solidFill>
                  <a:srgbClr val="000000"/>
                </a:solidFill>
                <a:latin typeface="Courier New"/>
                <a:ea typeface="Courier New"/>
                <a:cs typeface="Courier New"/>
              </a:rPr>
              <a:t>/app</a:t>
            </a:r>
            <a:r>
              <a:rPr sz="1200" b="0" i="0" u="none">
                <a:solidFill>
                  <a:srgbClr val="000000"/>
                </a:solidFill>
                <a:latin typeface="Times New Roman"/>
                <a:ea typeface="Times New Roman"/>
                <a:cs typeface="Times New Roman"/>
              </a:rPr>
              <a:t> inside the container filesystem and moves the execution context there.</a:t>
            </a:r>
            <a:endParaRPr/>
          </a:p>
          <a:p>
            <a:pPr marL="158749" indent="0">
              <a:buSzPts val="1100"/>
              <a:buNone/>
              <a:defRPr/>
            </a:pPr>
            <a:endParaRPr/>
          </a:p>
          <a:p>
            <a:pPr marL="158749" indent="0">
              <a:buSzPts val="1100"/>
              <a:buNone/>
              <a:defRPr/>
            </a:pPr>
            <a:r>
              <a:rPr sz="1200" b="0" i="0" u="none">
                <a:solidFill>
                  <a:srgbClr val="000000"/>
                </a:solidFill>
                <a:latin typeface="Times New Roman"/>
                <a:ea typeface="Times New Roman"/>
                <a:cs typeface="Times New Roman"/>
              </a:rPr>
              <a:t>The next instruction is:</a:t>
            </a:r>
            <a:endParaRPr sz="1200" b="0" i="0" u="none">
              <a:solidFill>
                <a:srgbClr val="000000"/>
              </a:solidFill>
              <a:latin typeface="Times New Roman"/>
              <a:ea typeface="Times New Roman"/>
              <a:cs typeface="Times New Roman"/>
            </a:endParaRPr>
          </a:p>
          <a:p>
            <a:pPr marL="158749" indent="0">
              <a:buSzPts val="1100"/>
              <a:buNone/>
              <a:defRPr/>
            </a:pPr>
            <a:r>
              <a:rPr sz="1000" b="0" i="0" u="none">
                <a:solidFill>
                  <a:srgbClr val="000000"/>
                </a:solidFill>
                <a:latin typeface="Courier New"/>
                <a:ea typeface="Courier New"/>
                <a:cs typeface="Courier New"/>
              </a:rPr>
              <a:t>COPY package.json ./</a:t>
            </a:r>
            <a:endParaRPr/>
          </a:p>
          <a:p>
            <a:pPr marL="158749" indent="0">
              <a:buSzPts val="1100"/>
              <a:buNone/>
              <a:defRPr/>
            </a:pPr>
            <a:r>
              <a:rPr sz="1200" b="0" i="0" u="none">
                <a:solidFill>
                  <a:srgbClr val="000000"/>
                </a:solidFill>
                <a:latin typeface="Times New Roman"/>
                <a:ea typeface="Times New Roman"/>
                <a:cs typeface="Times New Roman"/>
              </a:rPr>
              <a:t>This line copies the </a:t>
            </a:r>
            <a:r>
              <a:rPr sz="1000" b="0" i="0" u="none">
                <a:solidFill>
                  <a:srgbClr val="000000"/>
                </a:solidFill>
                <a:latin typeface="Courier New"/>
                <a:ea typeface="Courier New"/>
                <a:cs typeface="Courier New"/>
              </a:rPr>
              <a:t>package.json</a:t>
            </a:r>
            <a:r>
              <a:rPr sz="1200" b="0" i="0" u="none">
                <a:solidFill>
                  <a:srgbClr val="000000"/>
                </a:solidFill>
                <a:latin typeface="Times New Roman"/>
                <a:ea typeface="Times New Roman"/>
                <a:cs typeface="Times New Roman"/>
              </a:rPr>
              <a:t> file from the host machine into the container. The </a:t>
            </a:r>
            <a:r>
              <a:rPr sz="1000" b="0" i="0" u="none">
                <a:solidFill>
                  <a:srgbClr val="000000"/>
                </a:solidFill>
                <a:latin typeface="Courier New"/>
                <a:ea typeface="Courier New"/>
                <a:cs typeface="Courier New"/>
              </a:rPr>
              <a:t>package.json</a:t>
            </a:r>
            <a:r>
              <a:rPr sz="1200" b="0" i="0" u="none">
                <a:solidFill>
                  <a:srgbClr val="000000"/>
                </a:solidFill>
                <a:latin typeface="Times New Roman"/>
                <a:ea typeface="Times New Roman"/>
                <a:cs typeface="Times New Roman"/>
              </a:rPr>
              <a:t> file contains the dependency definitions of the Node.js application.</a:t>
            </a:r>
            <a:endParaRPr/>
          </a:p>
          <a:p>
            <a:pPr marL="158749" indent="0">
              <a:buSzPts val="1100"/>
              <a:buNone/>
              <a:defRPr/>
            </a:pPr>
            <a:endParaRPr/>
          </a:p>
          <a:p>
            <a:pPr marL="158749" indent="0">
              <a:buSzPts val="1100"/>
              <a:buNone/>
              <a:defRPr/>
            </a:pPr>
            <a:r>
              <a:rPr sz="1200" b="0" i="0" u="none">
                <a:solidFill>
                  <a:srgbClr val="000000"/>
                </a:solidFill>
                <a:latin typeface="Times New Roman"/>
                <a:ea typeface="Times New Roman"/>
                <a:cs typeface="Times New Roman"/>
              </a:rPr>
              <a:t>The following command is:</a:t>
            </a:r>
            <a:endParaRPr sz="1200" b="0" i="0" u="none">
              <a:solidFill>
                <a:srgbClr val="000000"/>
              </a:solidFill>
              <a:latin typeface="Times New Roman"/>
              <a:ea typeface="Times New Roman"/>
              <a:cs typeface="Times New Roman"/>
            </a:endParaRPr>
          </a:p>
          <a:p>
            <a:pPr marL="158749" indent="0">
              <a:buSzPts val="1100"/>
              <a:buNone/>
              <a:defRPr/>
            </a:pPr>
            <a:r>
              <a:rPr sz="1000" b="0" i="0" u="none">
                <a:solidFill>
                  <a:srgbClr val="000000"/>
                </a:solidFill>
                <a:latin typeface="Courier New"/>
                <a:ea typeface="Courier New"/>
                <a:cs typeface="Courier New"/>
              </a:rPr>
              <a:t>RUN npm install</a:t>
            </a:r>
            <a:endParaRPr/>
          </a:p>
          <a:p>
            <a:pPr marL="158749" indent="0">
              <a:buSzPts val="1100"/>
              <a:buNone/>
              <a:defRPr/>
            </a:pPr>
            <a:r>
              <a:rPr sz="1200" b="0" i="0" u="none">
                <a:solidFill>
                  <a:srgbClr val="000000"/>
                </a:solidFill>
                <a:latin typeface="Times New Roman"/>
                <a:ea typeface="Times New Roman"/>
                <a:cs typeface="Times New Roman"/>
              </a:rPr>
              <a:t>This instruction installs the dependencies defined in </a:t>
            </a:r>
            <a:r>
              <a:rPr sz="1000" b="0" i="0" u="none">
                <a:solidFill>
                  <a:srgbClr val="000000"/>
                </a:solidFill>
                <a:latin typeface="Courier New"/>
                <a:ea typeface="Courier New"/>
                <a:cs typeface="Courier New"/>
              </a:rPr>
              <a:t>package.json</a:t>
            </a:r>
            <a:r>
              <a:rPr sz="1200" b="0" i="0" u="none">
                <a:solidFill>
                  <a:srgbClr val="000000"/>
                </a:solidFill>
                <a:latin typeface="Times New Roman"/>
                <a:ea typeface="Times New Roman"/>
                <a:cs typeface="Times New Roman"/>
              </a:rPr>
              <a:t>. When Docker executes this command, it downloads and installs all required libraries into the container.</a:t>
            </a:r>
            <a:endParaRPr/>
          </a:p>
          <a:p>
            <a:pPr marL="158749" indent="0">
              <a:buSzPts val="1100"/>
              <a:buNone/>
              <a:defRPr/>
            </a:pPr>
            <a:endParaRPr/>
          </a:p>
          <a:p>
            <a:pPr marL="158749" indent="0">
              <a:buSzPts val="1100"/>
              <a:buNone/>
              <a:defRPr/>
            </a:pPr>
            <a:r>
              <a:rPr sz="1200" b="0" i="0" u="none">
                <a:solidFill>
                  <a:srgbClr val="000000"/>
                </a:solidFill>
                <a:latin typeface="Times New Roman"/>
                <a:ea typeface="Times New Roman"/>
                <a:cs typeface="Times New Roman"/>
              </a:rPr>
              <a:t>The next instruction is:</a:t>
            </a:r>
            <a:endParaRPr sz="1200" b="0" i="0" u="none">
              <a:solidFill>
                <a:srgbClr val="000000"/>
              </a:solidFill>
              <a:latin typeface="Times New Roman"/>
              <a:ea typeface="Times New Roman"/>
              <a:cs typeface="Times New Roman"/>
            </a:endParaRPr>
          </a:p>
          <a:p>
            <a:pPr marL="158749" indent="0">
              <a:buSzPts val="1100"/>
              <a:buNone/>
              <a:defRPr/>
            </a:pPr>
            <a:r>
              <a:rPr sz="1000" b="0" i="0" u="none">
                <a:solidFill>
                  <a:srgbClr val="000000"/>
                </a:solidFill>
                <a:latin typeface="Courier New"/>
                <a:ea typeface="Courier New"/>
                <a:cs typeface="Courier New"/>
              </a:rPr>
              <a:t>COPY . .</a:t>
            </a:r>
            <a:endParaRPr/>
          </a:p>
          <a:p>
            <a:pPr marL="158749" indent="0">
              <a:buSzPts val="1100"/>
              <a:buNone/>
              <a:defRPr/>
            </a:pPr>
            <a:r>
              <a:rPr sz="1200" b="0" i="0" u="none">
                <a:solidFill>
                  <a:srgbClr val="000000"/>
                </a:solidFill>
                <a:latin typeface="Times New Roman"/>
                <a:ea typeface="Times New Roman"/>
                <a:cs typeface="Times New Roman"/>
              </a:rPr>
              <a:t>This command copies the entire application source code into the container. It is placed after the dependency installation step intentionally. If developers modify only the source code but not the dependency definitions, Docker can reuse the cached dependency layer and avoid reinstalling packages.</a:t>
            </a:r>
            <a:endParaRPr/>
          </a:p>
          <a:p>
            <a:pPr marL="158749" indent="0">
              <a:buSzPts val="1100"/>
              <a:buNone/>
              <a:defRPr/>
            </a:pPr>
            <a:endParaRPr/>
          </a:p>
          <a:p>
            <a:pPr marL="158749" indent="0">
              <a:buSzPts val="1100"/>
              <a:buNone/>
              <a:defRPr/>
            </a:pPr>
            <a:r>
              <a:rPr sz="1200" b="0" i="0" u="none">
                <a:solidFill>
                  <a:srgbClr val="000000"/>
                </a:solidFill>
                <a:latin typeface="Times New Roman"/>
                <a:ea typeface="Times New Roman"/>
                <a:cs typeface="Times New Roman"/>
              </a:rPr>
              <a:t>The final command is:</a:t>
            </a:r>
            <a:endParaRPr sz="1200" b="0" i="0" u="none">
              <a:solidFill>
                <a:srgbClr val="000000"/>
              </a:solidFill>
              <a:latin typeface="Times New Roman"/>
              <a:ea typeface="Times New Roman"/>
              <a:cs typeface="Times New Roman"/>
            </a:endParaRPr>
          </a:p>
          <a:p>
            <a:pPr marL="158749" indent="0">
              <a:buSzPts val="1100"/>
              <a:buNone/>
              <a:defRPr/>
            </a:pPr>
            <a:r>
              <a:rPr sz="1000" b="0" i="0" u="none">
                <a:solidFill>
                  <a:srgbClr val="000000"/>
                </a:solidFill>
                <a:latin typeface="Courier New"/>
                <a:ea typeface="Courier New"/>
                <a:cs typeface="Courier New"/>
              </a:rPr>
              <a:t>CMD ["npm", "start"]</a:t>
            </a:r>
            <a:endParaRPr/>
          </a:p>
          <a:p>
            <a:pPr marL="158749" indent="0">
              <a:buSzPts val="1100"/>
              <a:buNone/>
              <a:defRPr/>
            </a:pPr>
            <a:r>
              <a:rPr sz="1200" b="0" i="0" u="none">
                <a:solidFill>
                  <a:srgbClr val="000000"/>
                </a:solidFill>
                <a:latin typeface="Times New Roman"/>
                <a:ea typeface="Times New Roman"/>
                <a:cs typeface="Times New Roman"/>
              </a:rPr>
              <a:t>This instruction specifies the command that will run when the container starts. In this example the container launches the Node.js application using the </a:t>
            </a:r>
            <a:r>
              <a:rPr sz="1000" b="0" i="0" u="none">
                <a:solidFill>
                  <a:srgbClr val="000000"/>
                </a:solidFill>
                <a:latin typeface="Courier New"/>
                <a:ea typeface="Courier New"/>
                <a:cs typeface="Courier New"/>
              </a:rPr>
              <a:t>npm start</a:t>
            </a:r>
            <a:r>
              <a:rPr sz="1200" b="0" i="0" u="none">
                <a:solidFill>
                  <a:srgbClr val="000000"/>
                </a:solidFill>
                <a:latin typeface="Times New Roman"/>
                <a:ea typeface="Times New Roman"/>
                <a:cs typeface="Times New Roman"/>
              </a:rPr>
              <a:t> command.</a:t>
            </a:r>
            <a:endParaRPr/>
          </a:p>
          <a:p>
            <a:pPr marL="158749" indent="0">
              <a:buSzPts val="1100"/>
              <a:buNone/>
              <a:defRPr/>
            </a:pPr>
            <a:endParaRPr/>
          </a:p>
          <a:p>
            <a:pPr marL="158749" indent="0">
              <a:buSzPts val="1100"/>
              <a:buNone/>
              <a:defRPr/>
            </a:pPr>
            <a:r>
              <a:rPr sz="1200" b="0" i="0" u="none">
                <a:solidFill>
                  <a:srgbClr val="000000"/>
                </a:solidFill>
                <a:latin typeface="Times New Roman"/>
                <a:ea typeface="Times New Roman"/>
                <a:cs typeface="Times New Roman"/>
              </a:rPr>
              <a:t>Understanding this example allows students to see how Dockerfiles transform application code into portable runtime environments.</a:t>
            </a:r>
            <a:endParaRPr sz="1200" b="0" i="0" u="none">
              <a:solidFill>
                <a:srgbClr val="000000"/>
              </a:solidFill>
              <a:latin typeface="Times New Roman"/>
              <a:ea typeface="Times New Roman"/>
              <a:cs typeface="Times New Roman"/>
            </a:endParaRPr>
          </a:p>
          <a:p>
            <a:pPr marL="158749" indent="0">
              <a:buSzPts val="1100"/>
              <a:buNone/>
              <a:defRPr/>
            </a:pPr>
            <a:endParaRPr/>
          </a:p>
          <a:p>
            <a:pPr marL="158749" indent="0">
              <a:buSzPts val="1100"/>
              <a:buNone/>
              <a:defRPr/>
            </a:pPr>
            <a:r>
              <a:rPr sz="1200" b="1" i="0" u="none">
                <a:solidFill>
                  <a:srgbClr val="000000"/>
                </a:solidFill>
                <a:latin typeface="Times New Roman"/>
                <a:ea typeface="Times New Roman"/>
                <a:cs typeface="Times New Roman"/>
              </a:rPr>
              <a:t>Interview Question:</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Why do many Dockerfiles copy </a:t>
            </a:r>
            <a:r>
              <a:rPr sz="1000" b="0" i="0" u="none">
                <a:solidFill>
                  <a:srgbClr val="000000"/>
                </a:solidFill>
                <a:latin typeface="Courier New"/>
                <a:ea typeface="Courier New"/>
                <a:cs typeface="Courier New"/>
              </a:rPr>
              <a:t>package.json</a:t>
            </a:r>
            <a:r>
              <a:rPr sz="1200" b="0" i="0" u="none">
                <a:solidFill>
                  <a:srgbClr val="000000"/>
                </a:solidFill>
                <a:latin typeface="Times New Roman"/>
                <a:ea typeface="Times New Roman"/>
                <a:cs typeface="Times New Roman"/>
              </a:rPr>
              <a:t> before copying the full source code?</a:t>
            </a:r>
            <a:endParaRPr sz="1200" b="0" i="0" u="none">
              <a:solidFill>
                <a:srgbClr val="000000"/>
              </a:solidFill>
              <a:latin typeface="Times New Roman"/>
              <a:ea typeface="Times New Roman"/>
              <a:cs typeface="Times New Roman"/>
            </a:endParaRPr>
          </a:p>
          <a:p>
            <a:pPr marL="158749" indent="0">
              <a:buSzPts val="1100"/>
              <a:buNone/>
              <a:defRPr/>
            </a:pPr>
            <a:r>
              <a:rPr sz="1200" b="1" i="0" u="none">
                <a:solidFill>
                  <a:srgbClr val="000000"/>
                </a:solidFill>
                <a:latin typeface="Times New Roman"/>
                <a:ea typeface="Times New Roman"/>
                <a:cs typeface="Times New Roman"/>
              </a:rPr>
              <a:t>Answer:</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This approach enables Docker to cache the dependency installation layer. If the application code changes but dependencies remain the same, Docker avoids reinstalling packages, making builds much faster.</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608622257" name="Google Shape;123;SLIDES_API647489343_6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037942929" name="Google Shape;124;SLIDES_API647489343_61: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Most real applications need </a:t>
            </a:r>
            <a:r>
              <a:rPr sz="1200" b="1" i="0" u="none">
                <a:solidFill>
                  <a:srgbClr val="000000"/>
                </a:solidFill>
                <a:latin typeface="Times New Roman"/>
                <a:ea typeface="Times New Roman"/>
                <a:cs typeface="Times New Roman"/>
              </a:rPr>
              <a:t>multiple services</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For example:</a:t>
            </a:r>
            <a:endParaRPr/>
          </a:p>
          <a:p>
            <a:pPr>
              <a:defRPr/>
            </a:pPr>
            <a:r>
              <a:rPr sz="1200" b="0" i="0" u="none">
                <a:solidFill>
                  <a:srgbClr val="000000"/>
                </a:solidFill>
                <a:latin typeface="Times New Roman"/>
                <a:ea typeface="Times New Roman"/>
                <a:cs typeface="Times New Roman"/>
              </a:rPr>
              <a:t>an API server</a:t>
            </a:r>
            <a:br>
              <a:rPr sz="1200" b="0"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a database</a:t>
            </a:r>
            <a:br>
              <a:rPr sz="1200" b="0"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a caching system</a:t>
            </a:r>
            <a:endParaRPr/>
          </a:p>
          <a:p>
            <a:pPr>
              <a:defRPr/>
            </a:pPr>
            <a:r>
              <a:rPr sz="1200" b="0" i="0" u="none">
                <a:solidFill>
                  <a:srgbClr val="000000"/>
                </a:solidFill>
                <a:latin typeface="Times New Roman"/>
                <a:ea typeface="Times New Roman"/>
                <a:cs typeface="Times New Roman"/>
              </a:rPr>
              <a:t>Running these containers one by one is difficult. Docker Compose solves this problem.</a:t>
            </a:r>
            <a:endParaRPr/>
          </a:p>
          <a:p>
            <a:pPr>
              <a:defRPr/>
            </a:pPr>
            <a:r>
              <a:rPr sz="1200" b="0" i="0" u="none">
                <a:solidFill>
                  <a:srgbClr val="000000"/>
                </a:solidFill>
                <a:latin typeface="Times New Roman"/>
                <a:ea typeface="Times New Roman"/>
                <a:cs typeface="Times New Roman"/>
              </a:rPr>
              <a:t>In the green example you see that instead of running many commands, we define the services in a </a:t>
            </a:r>
            <a:r>
              <a:rPr sz="1200" b="1" i="0" u="none">
                <a:solidFill>
                  <a:srgbClr val="000000"/>
                </a:solidFill>
                <a:latin typeface="Times New Roman"/>
                <a:ea typeface="Times New Roman"/>
                <a:cs typeface="Times New Roman"/>
              </a:rPr>
              <a:t>configuration file</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Each service represents a container.</a:t>
            </a:r>
            <a:endParaRPr/>
          </a:p>
          <a:p>
            <a:pPr>
              <a:defRPr/>
            </a:pPr>
            <a:r>
              <a:rPr sz="1200" b="0" i="0" u="none">
                <a:solidFill>
                  <a:srgbClr val="000000"/>
                </a:solidFill>
                <a:latin typeface="Times New Roman"/>
                <a:ea typeface="Times New Roman"/>
                <a:cs typeface="Times New Roman"/>
              </a:rPr>
              <a:t>For example, one service runs PostgreSQL and another runs Redis.</a:t>
            </a:r>
            <a:endParaRPr/>
          </a:p>
          <a:p>
            <a:pPr>
              <a:defRPr/>
            </a:pPr>
            <a:r>
              <a:rPr sz="1200" b="0" i="0" u="none">
                <a:solidFill>
                  <a:srgbClr val="000000"/>
                </a:solidFill>
                <a:latin typeface="Times New Roman"/>
                <a:ea typeface="Times New Roman"/>
                <a:cs typeface="Times New Roman"/>
              </a:rPr>
              <a:t>When you run the command shown in the slide, Docker reads the configuration file and starts all containers automatically.</a:t>
            </a:r>
            <a:endParaRPr/>
          </a:p>
          <a:p>
            <a:pPr>
              <a:defRPr/>
            </a:pPr>
            <a:r>
              <a:rPr sz="1200" b="0" i="0" u="none">
                <a:solidFill>
                  <a:srgbClr val="000000"/>
                </a:solidFill>
                <a:latin typeface="Times New Roman"/>
                <a:ea typeface="Times New Roman"/>
                <a:cs typeface="Times New Roman"/>
              </a:rPr>
              <a:t>So in practice, you write the configuration once and start the entire system with one command.</a:t>
            </a:r>
            <a:endParaRPr/>
          </a:p>
          <a:p>
            <a:pPr>
              <a:defRPr/>
            </a:pPr>
            <a:r>
              <a:rPr sz="12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Why do we use Docker Compose?</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Because it allows us to start and manage multiple containers together using one configuration file.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85257289" name="Google Shape;129;SLIDES_API647489343_66: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85396713" name="Google Shape;130;SLIDES_API647489343_66: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n the green line of the slide you see the command used to start the system.</a:t>
            </a:r>
            <a:endParaRPr/>
          </a:p>
          <a:p>
            <a:pPr>
              <a:defRPr/>
            </a:pPr>
            <a:r>
              <a:rPr sz="1200" b="0" i="0" u="none">
                <a:solidFill>
                  <a:srgbClr val="000000"/>
                </a:solidFill>
                <a:latin typeface="Times New Roman"/>
                <a:ea typeface="Times New Roman"/>
                <a:cs typeface="Times New Roman"/>
              </a:rPr>
              <a:t>When you run this command, Docker does three things.</a:t>
            </a:r>
            <a:endParaRPr/>
          </a:p>
          <a:p>
            <a:pPr>
              <a:defRPr/>
            </a:pPr>
            <a:r>
              <a:rPr sz="1200" b="0" i="0" u="none">
                <a:solidFill>
                  <a:srgbClr val="000000"/>
                </a:solidFill>
                <a:latin typeface="Times New Roman"/>
                <a:ea typeface="Times New Roman"/>
                <a:cs typeface="Times New Roman"/>
              </a:rPr>
              <a:t>First, it reads the Compose configuration file.</a:t>
            </a:r>
            <a:endParaRPr/>
          </a:p>
          <a:p>
            <a:pPr>
              <a:defRPr/>
            </a:pPr>
            <a:r>
              <a:rPr sz="1200" b="0" i="0" u="none">
                <a:solidFill>
                  <a:srgbClr val="000000"/>
                </a:solidFill>
                <a:latin typeface="Times New Roman"/>
                <a:ea typeface="Times New Roman"/>
                <a:cs typeface="Times New Roman"/>
              </a:rPr>
              <a:t>Second, it downloads the container images if they are not already installed on your machine.</a:t>
            </a:r>
            <a:endParaRPr/>
          </a:p>
          <a:p>
            <a:pPr>
              <a:defRPr/>
            </a:pPr>
            <a:r>
              <a:rPr sz="1200" b="0" i="0" u="none">
                <a:solidFill>
                  <a:srgbClr val="000000"/>
                </a:solidFill>
                <a:latin typeface="Times New Roman"/>
                <a:ea typeface="Times New Roman"/>
                <a:cs typeface="Times New Roman"/>
              </a:rPr>
              <a:t>Third, it creates and starts all containers.</a:t>
            </a:r>
            <a:endParaRPr/>
          </a:p>
          <a:p>
            <a:pPr>
              <a:defRPr/>
            </a:pPr>
            <a:r>
              <a:rPr sz="1200" b="0" i="0" u="none">
                <a:solidFill>
                  <a:srgbClr val="000000"/>
                </a:solidFill>
                <a:latin typeface="Times New Roman"/>
                <a:ea typeface="Times New Roman"/>
                <a:cs typeface="Times New Roman"/>
              </a:rPr>
              <a:t>So one command can start an entire development environment including the database and other services.</a:t>
            </a:r>
            <a:endParaRPr/>
          </a:p>
          <a:p>
            <a:pPr>
              <a:defRPr/>
            </a:pPr>
            <a:r>
              <a:rPr sz="1200" b="0" i="0" u="none">
                <a:solidFill>
                  <a:srgbClr val="000000"/>
                </a:solidFill>
                <a:latin typeface="Times New Roman"/>
                <a:ea typeface="Times New Roman"/>
                <a:cs typeface="Times New Roman"/>
              </a:rPr>
              <a:t>This is why Docker Compose is widely used in development teams.</a:t>
            </a:r>
            <a:endParaRPr/>
          </a:p>
          <a:p>
            <a:pPr>
              <a:defRPr/>
            </a:pPr>
            <a:r>
              <a:rPr sz="12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What happens if an image is not already installed when you start Docker Compose?</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Docker automatically downloads it from the container registry.</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94562932" name="Google Shape;137;SLIDES_API647489343_73: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798013555" name="Google Shape;138;SLIDES_API647489343_73: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Here you see the </a:t>
            </a:r>
            <a:r>
              <a:rPr sz="1200" b="1" i="0" u="none">
                <a:solidFill>
                  <a:srgbClr val="000000"/>
                </a:solidFill>
                <a:latin typeface="Times New Roman"/>
                <a:ea typeface="Times New Roman"/>
                <a:cs typeface="Times New Roman"/>
              </a:rPr>
              <a:t>Dockerfile</a:t>
            </a:r>
            <a:r>
              <a:rPr sz="1200" b="0" i="0" u="none">
                <a:solidFill>
                  <a:srgbClr val="000000"/>
                </a:solidFill>
                <a:latin typeface="Times New Roman"/>
                <a:ea typeface="Times New Roman"/>
                <a:cs typeface="Times New Roman"/>
              </a:rPr>
              <a:t>, which is the file used to build a container environment.</a:t>
            </a:r>
            <a:endParaRPr/>
          </a:p>
          <a:p>
            <a:pPr>
              <a:defRPr/>
            </a:pPr>
            <a:r>
              <a:rPr sz="1200" b="0" i="0" u="none">
                <a:solidFill>
                  <a:srgbClr val="000000"/>
                </a:solidFill>
                <a:latin typeface="Times New Roman"/>
                <a:ea typeface="Times New Roman"/>
                <a:cs typeface="Times New Roman"/>
              </a:rPr>
              <a:t>Think of it as a </a:t>
            </a:r>
            <a:r>
              <a:rPr sz="1200" b="1" i="0" u="none">
                <a:solidFill>
                  <a:srgbClr val="000000"/>
                </a:solidFill>
                <a:latin typeface="Times New Roman"/>
                <a:ea typeface="Times New Roman"/>
                <a:cs typeface="Times New Roman"/>
              </a:rPr>
              <a:t>recipe for the application environment</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In the green code lines on the slide you see the steps Docker follows when building the container.</a:t>
            </a:r>
            <a:endParaRPr/>
          </a:p>
          <a:p>
            <a:pPr>
              <a:defRPr/>
            </a:pPr>
            <a:r>
              <a:rPr sz="1200" b="0" i="0" u="none">
                <a:solidFill>
                  <a:srgbClr val="000000"/>
                </a:solidFill>
                <a:latin typeface="Times New Roman"/>
                <a:ea typeface="Times New Roman"/>
                <a:cs typeface="Times New Roman"/>
              </a:rPr>
              <a:t>First, Docker starts from a </a:t>
            </a:r>
            <a:r>
              <a:rPr sz="1200" b="1" i="0" u="none">
                <a:solidFill>
                  <a:srgbClr val="000000"/>
                </a:solidFill>
                <a:latin typeface="Times New Roman"/>
                <a:ea typeface="Times New Roman"/>
                <a:cs typeface="Times New Roman"/>
              </a:rPr>
              <a:t>base image</a:t>
            </a:r>
            <a:r>
              <a:rPr sz="1200" b="0" i="0" u="none">
                <a:solidFill>
                  <a:srgbClr val="000000"/>
                </a:solidFill>
                <a:latin typeface="Times New Roman"/>
                <a:ea typeface="Times New Roman"/>
                <a:cs typeface="Times New Roman"/>
              </a:rPr>
              <a:t>. This image already contains the operating system and runtime needed by the application. For example, a Node.js image already includes Node installed.</a:t>
            </a:r>
            <a:endParaRPr/>
          </a:p>
          <a:p>
            <a:pPr>
              <a:defRPr/>
            </a:pPr>
            <a:r>
              <a:rPr sz="1200" b="0" i="0" u="none">
                <a:solidFill>
                  <a:srgbClr val="000000"/>
                </a:solidFill>
                <a:latin typeface="Times New Roman"/>
                <a:ea typeface="Times New Roman"/>
                <a:cs typeface="Times New Roman"/>
              </a:rPr>
              <a:t>Next, the Dockerfile sets a </a:t>
            </a:r>
            <a:r>
              <a:rPr sz="1200" b="1" i="0" u="none">
                <a:solidFill>
                  <a:srgbClr val="000000"/>
                </a:solidFill>
                <a:latin typeface="Times New Roman"/>
                <a:ea typeface="Times New Roman"/>
                <a:cs typeface="Times New Roman"/>
              </a:rPr>
              <a:t>working directory</a:t>
            </a:r>
            <a:r>
              <a:rPr sz="1200" b="0" i="0" u="none">
                <a:solidFill>
                  <a:srgbClr val="000000"/>
                </a:solidFill>
                <a:latin typeface="Times New Roman"/>
                <a:ea typeface="Times New Roman"/>
                <a:cs typeface="Times New Roman"/>
              </a:rPr>
              <a:t> inside the container. This is simply the folder where the application will run.</a:t>
            </a:r>
            <a:endParaRPr/>
          </a:p>
          <a:p>
            <a:pPr>
              <a:defRPr/>
            </a:pPr>
            <a:r>
              <a:rPr sz="1200" b="0" i="0" u="none">
                <a:solidFill>
                  <a:srgbClr val="000000"/>
                </a:solidFill>
                <a:latin typeface="Times New Roman"/>
                <a:ea typeface="Times New Roman"/>
                <a:cs typeface="Times New Roman"/>
              </a:rPr>
              <a:t>Then the Dockerfile copies the </a:t>
            </a:r>
            <a:r>
              <a:rPr sz="1200" b="1" i="0" u="none">
                <a:solidFill>
                  <a:srgbClr val="000000"/>
                </a:solidFill>
                <a:latin typeface="Times New Roman"/>
                <a:ea typeface="Times New Roman"/>
                <a:cs typeface="Times New Roman"/>
              </a:rPr>
              <a:t>dependency file</a:t>
            </a:r>
            <a:r>
              <a:rPr sz="1200" b="0" i="0" u="none">
                <a:solidFill>
                  <a:srgbClr val="000000"/>
                </a:solidFill>
                <a:latin typeface="Times New Roman"/>
                <a:ea typeface="Times New Roman"/>
                <a:cs typeface="Times New Roman"/>
              </a:rPr>
              <a:t> of the application. This file contains the list of libraries that must be installed.</a:t>
            </a:r>
            <a:endParaRPr/>
          </a:p>
          <a:p>
            <a:pPr>
              <a:defRPr/>
            </a:pPr>
            <a:r>
              <a:rPr sz="1200" b="0" i="0" u="none">
                <a:solidFill>
                  <a:srgbClr val="000000"/>
                </a:solidFill>
                <a:latin typeface="Times New Roman"/>
                <a:ea typeface="Times New Roman"/>
                <a:cs typeface="Times New Roman"/>
              </a:rPr>
              <a:t>After copying the dependency file, Docker installs the required packages. This step prepares the runtime environment.</a:t>
            </a:r>
            <a:endParaRPr/>
          </a:p>
          <a:p>
            <a:pPr>
              <a:defRPr/>
            </a:pPr>
            <a:r>
              <a:rPr sz="1200" b="0" i="0" u="none">
                <a:solidFill>
                  <a:srgbClr val="000000"/>
                </a:solidFill>
                <a:latin typeface="Times New Roman"/>
                <a:ea typeface="Times New Roman"/>
                <a:cs typeface="Times New Roman"/>
              </a:rPr>
              <a:t>Then the Dockerfile copies the </a:t>
            </a:r>
            <a:r>
              <a:rPr sz="1200" b="1" i="0" u="none">
                <a:solidFill>
                  <a:srgbClr val="000000"/>
                </a:solidFill>
                <a:latin typeface="Times New Roman"/>
                <a:ea typeface="Times New Roman"/>
                <a:cs typeface="Times New Roman"/>
              </a:rPr>
              <a:t>rest of the application code</a:t>
            </a:r>
            <a:r>
              <a:rPr sz="1200" b="0" i="0" u="none">
                <a:solidFill>
                  <a:srgbClr val="000000"/>
                </a:solidFill>
                <a:latin typeface="Times New Roman"/>
                <a:ea typeface="Times New Roman"/>
                <a:cs typeface="Times New Roman"/>
              </a:rPr>
              <a:t> into the container.</a:t>
            </a:r>
            <a:endParaRPr/>
          </a:p>
          <a:p>
            <a:pPr>
              <a:defRPr/>
            </a:pPr>
            <a:r>
              <a:rPr sz="1200" b="0" i="0" u="none">
                <a:solidFill>
                  <a:srgbClr val="000000"/>
                </a:solidFill>
                <a:latin typeface="Times New Roman"/>
                <a:ea typeface="Times New Roman"/>
                <a:cs typeface="Times New Roman"/>
              </a:rPr>
              <a:t>Finally, the Dockerfile defines the </a:t>
            </a:r>
            <a:r>
              <a:rPr sz="1200" b="1" i="0" u="none">
                <a:solidFill>
                  <a:srgbClr val="000000"/>
                </a:solidFill>
                <a:latin typeface="Times New Roman"/>
                <a:ea typeface="Times New Roman"/>
                <a:cs typeface="Times New Roman"/>
              </a:rPr>
              <a:t>command that runs when the container starts</a:t>
            </a:r>
            <a:r>
              <a:rPr sz="1200" b="0" i="0" u="none">
                <a:solidFill>
                  <a:srgbClr val="000000"/>
                </a:solidFill>
                <a:latin typeface="Times New Roman"/>
                <a:ea typeface="Times New Roman"/>
                <a:cs typeface="Times New Roman"/>
              </a:rPr>
              <a:t>, which launches the application.</a:t>
            </a:r>
            <a:endParaRPr/>
          </a:p>
          <a:p>
            <a:pPr>
              <a:defRPr/>
            </a:pPr>
            <a:r>
              <a:rPr sz="1200" b="0" i="0" u="none">
                <a:solidFill>
                  <a:srgbClr val="000000"/>
                </a:solidFill>
                <a:latin typeface="Times New Roman"/>
                <a:ea typeface="Times New Roman"/>
                <a:cs typeface="Times New Roman"/>
              </a:rPr>
              <a:t>When you look at the green code, read it as a sequence:</a:t>
            </a:r>
            <a:endParaRPr/>
          </a:p>
          <a:p>
            <a:pPr>
              <a:defRPr/>
            </a:pPr>
            <a:r>
              <a:rPr sz="1200" b="0" i="0" u="none">
                <a:solidFill>
                  <a:srgbClr val="000000"/>
                </a:solidFill>
                <a:latin typeface="Times New Roman"/>
                <a:ea typeface="Times New Roman"/>
                <a:cs typeface="Times New Roman"/>
              </a:rPr>
              <a:t>environment → dependencies → application → run.</a:t>
            </a:r>
            <a:endParaRPr/>
          </a:p>
          <a:p>
            <a:pPr>
              <a:defRPr/>
            </a:pPr>
            <a:r>
              <a:rPr sz="1200" b="0" i="0" u="none">
                <a:solidFill>
                  <a:srgbClr val="000000"/>
                </a:solidFill>
                <a:latin typeface="Times New Roman"/>
                <a:ea typeface="Times New Roman"/>
                <a:cs typeface="Times New Roman"/>
              </a:rPr>
              <a:t>This is the typical structure used in most Docker applications.</a:t>
            </a:r>
            <a:endParaRPr/>
          </a:p>
          <a:p>
            <a:pPr>
              <a:defRPr/>
            </a:pPr>
            <a:r>
              <a:rPr sz="12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Why is the dependency file copied before the application code?</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Because Docker can reuse cached layers if dependencies do not change, making container builds faster.</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86525473" name="Google Shape;145;SLIDES_API647489343_80: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968379717" name="Google Shape;146;SLIDES_API647489343_8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Applications often require configuration values such as database users or passwords.</a:t>
            </a:r>
            <a:endParaRPr/>
          </a:p>
          <a:p>
            <a:pPr>
              <a:defRPr/>
            </a:pPr>
            <a:r>
              <a:rPr sz="1200" b="0" i="0" u="none">
                <a:solidFill>
                  <a:srgbClr val="000000"/>
                </a:solidFill>
                <a:latin typeface="Times New Roman"/>
                <a:ea typeface="Times New Roman"/>
                <a:cs typeface="Times New Roman"/>
              </a:rPr>
              <a:t>These values are passed to containers as </a:t>
            </a:r>
            <a:r>
              <a:rPr sz="1200" b="1" i="0" u="none">
                <a:solidFill>
                  <a:srgbClr val="000000"/>
                </a:solidFill>
                <a:latin typeface="Times New Roman"/>
                <a:ea typeface="Times New Roman"/>
                <a:cs typeface="Times New Roman"/>
              </a:rPr>
              <a:t>environment variables</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In the slide you see two approaches.</a:t>
            </a:r>
            <a:endParaRPr/>
          </a:p>
          <a:p>
            <a:pPr>
              <a:defRPr/>
            </a:pPr>
            <a:r>
              <a:rPr sz="1200" b="0" i="0" u="none">
                <a:solidFill>
                  <a:srgbClr val="000000"/>
                </a:solidFill>
                <a:latin typeface="Times New Roman"/>
                <a:ea typeface="Times New Roman"/>
                <a:cs typeface="Times New Roman"/>
              </a:rPr>
              <a:t>The first approach writes the variables directly inside the Compose file. This is fine for testing but not ideal for production.</a:t>
            </a:r>
            <a:endParaRPr/>
          </a:p>
          <a:p>
            <a:pPr>
              <a:defRPr/>
            </a:pPr>
            <a:r>
              <a:rPr sz="1200" b="0" i="0" u="none">
                <a:solidFill>
                  <a:srgbClr val="000000"/>
                </a:solidFill>
                <a:latin typeface="Times New Roman"/>
                <a:ea typeface="Times New Roman"/>
                <a:cs typeface="Times New Roman"/>
              </a:rPr>
              <a:t>The second approach loads the variables from a separate file. This is safer because sensitive information such as passwords is not stored directly in the configuration file.</a:t>
            </a:r>
            <a:endParaRPr/>
          </a:p>
          <a:p>
            <a:pPr>
              <a:defRPr/>
            </a:pPr>
            <a:r>
              <a:rPr sz="1200" b="0" i="0" u="none">
                <a:solidFill>
                  <a:srgbClr val="000000"/>
                </a:solidFill>
                <a:latin typeface="Times New Roman"/>
                <a:ea typeface="Times New Roman"/>
                <a:cs typeface="Times New Roman"/>
              </a:rPr>
              <a:t>In real projects, environment variables are often stored in secure configuration systems.</a:t>
            </a:r>
            <a:endParaRPr/>
          </a:p>
          <a:p>
            <a:pPr>
              <a:defRPr/>
            </a:pPr>
            <a:r>
              <a:rPr sz="12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Why should passwords not be stored directly in configuration files?</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Because configuration files may be shared or stored in repositories, which could expose sensitive information.</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61835068" name="Google Shape;152;SLIDES_API647489343_86: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488563652" name="Google Shape;153;SLIDES_API647489343_86: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Docker Compose automatically creates a virtual network that allows containers to communicate with each other. Within this network, containers can refer to one another using service names rather than IP addresses.</a:t>
            </a:r>
            <a:endParaRPr/>
          </a:p>
          <a:p>
            <a:pPr>
              <a:defRPr/>
            </a:pPr>
            <a:r>
              <a:rPr sz="1200" b="0" i="0" u="none">
                <a:solidFill>
                  <a:srgbClr val="000000"/>
                </a:solidFill>
                <a:latin typeface="Times New Roman"/>
                <a:ea typeface="Times New Roman"/>
                <a:cs typeface="Times New Roman"/>
              </a:rPr>
              <a:t>For example, an application container can connect to a database container using the service name defined in the Compose file. Docker automatically resolves the hostname and establishes the connection.</a:t>
            </a:r>
            <a:endParaRPr/>
          </a:p>
          <a:p>
            <a:pPr>
              <a:defRPr/>
            </a:pPr>
            <a:r>
              <a:rPr sz="1200" b="0" i="0" u="none">
                <a:solidFill>
                  <a:srgbClr val="000000"/>
                </a:solidFill>
                <a:latin typeface="Times New Roman"/>
                <a:ea typeface="Times New Roman"/>
                <a:cs typeface="Times New Roman"/>
              </a:rPr>
              <a:t>This internal networking system greatly simplifies distributed application deployment because engineers do not need to manage network configuration manually.</a:t>
            </a:r>
            <a:endParaRPr/>
          </a:p>
          <a:p>
            <a:pPr>
              <a:defRPr/>
            </a:pPr>
            <a:r>
              <a:rPr sz="1200" b="1" i="0" u="none">
                <a:solidFill>
                  <a:srgbClr val="000000"/>
                </a:solidFill>
                <a:latin typeface="Times New Roman"/>
                <a:ea typeface="Times New Roman"/>
                <a:cs typeface="Times New Roman"/>
              </a:rPr>
              <a:t>Business Interview Question:</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Why is service name resolution useful in container networking?</a:t>
            </a:r>
            <a:endParaRPr/>
          </a:p>
          <a:p>
            <a:pPr marL="0" lvl="0" indent="0" algn="l" rtl="0">
              <a:spcBef>
                <a:spcPts val="0"/>
              </a:spcBef>
              <a:spcAft>
                <a:spcPts val="0"/>
              </a:spcAft>
              <a:buNone/>
              <a:defRPr/>
            </a:pPr>
            <a:r>
              <a:rPr sz="1200" b="1" i="0" u="none">
                <a:solidFill>
                  <a:srgbClr val="000000"/>
                </a:solidFill>
                <a:latin typeface="Times New Roman"/>
                <a:ea typeface="Times New Roman"/>
                <a:cs typeface="Times New Roman"/>
              </a:rPr>
              <a:t>Answer:</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Service name resolution allows containers to communicate without relying on fixed IP addresses, which may change dynamically when containers are recreated.</a:t>
            </a:r>
            <a:endParaRPr/>
          </a:p>
          <a:p>
            <a:pPr marL="0" lvl="0" indent="0" algn="l" rtl="0">
              <a:spcBef>
                <a:spcPts val="0"/>
              </a:spcBef>
              <a:spcAft>
                <a:spcPts val="0"/>
              </a:spcAft>
              <a:buNone/>
              <a:defRPr/>
            </a:pPr>
            <a:endParaRPr lang="en"/>
          </a:p>
          <a:p>
            <a:pPr marL="0" lvl="0" indent="0" algn="l" rtl="0">
              <a:spcBef>
                <a:spcPts val="0"/>
              </a:spcBef>
              <a:spcAft>
                <a:spcPts val="0"/>
              </a:spcAft>
              <a:buNone/>
              <a:defRPr/>
            </a:pPr>
            <a:r>
              <a:rPr lang="en"/>
              <a:t>[0:54 - 0:58] Explain DNS resolution. If the api container wants to talk to postgres, it literally connects to http://postgres:5432. Docker handles the IP translation.</a:t>
            </a:r>
            <a:endParaRPr lang="e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87614844" name="Google Shape;160;SLIDES_API647489343_93: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835617223" name="Google Shape;161;SLIDES_API647489343_93: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During development you may create many containers and images.</a:t>
            </a:r>
            <a:endParaRPr/>
          </a:p>
          <a:p>
            <a:pPr>
              <a:defRPr/>
            </a:pPr>
            <a:r>
              <a:rPr sz="1200" b="0" i="0" u="none">
                <a:solidFill>
                  <a:srgbClr val="000000"/>
                </a:solidFill>
                <a:latin typeface="Times New Roman"/>
                <a:ea typeface="Times New Roman"/>
                <a:cs typeface="Times New Roman"/>
              </a:rPr>
              <a:t>Over time this can consume disk space and system resources.</a:t>
            </a:r>
            <a:endParaRPr/>
          </a:p>
          <a:p>
            <a:pPr>
              <a:defRPr/>
            </a:pPr>
            <a:r>
              <a:rPr sz="1200" b="0" i="0" u="none">
                <a:solidFill>
                  <a:srgbClr val="000000"/>
                </a:solidFill>
                <a:latin typeface="Times New Roman"/>
                <a:ea typeface="Times New Roman"/>
                <a:cs typeface="Times New Roman"/>
              </a:rPr>
              <a:t>Docker provides cleanup commands to remove unused containers, networks, and images.</a:t>
            </a:r>
            <a:endParaRPr/>
          </a:p>
          <a:p>
            <a:pPr>
              <a:defRPr/>
            </a:pPr>
            <a:r>
              <a:rPr sz="1200" b="0" i="0" u="none">
                <a:solidFill>
                  <a:srgbClr val="000000"/>
                </a:solidFill>
                <a:latin typeface="Times New Roman"/>
                <a:ea typeface="Times New Roman"/>
                <a:cs typeface="Times New Roman"/>
              </a:rPr>
              <a:t>Some commands stop and remove containers created by Docker Compose. Others remove unused networks.</a:t>
            </a:r>
            <a:endParaRPr/>
          </a:p>
          <a:p>
            <a:pPr>
              <a:defRPr/>
            </a:pPr>
            <a:r>
              <a:rPr sz="1200" b="0" i="0" u="none">
                <a:solidFill>
                  <a:srgbClr val="000000"/>
                </a:solidFill>
                <a:latin typeface="Times New Roman"/>
                <a:ea typeface="Times New Roman"/>
                <a:cs typeface="Times New Roman"/>
              </a:rPr>
              <a:t>There is also a command that removes almost everything unused from the system.</a:t>
            </a:r>
            <a:endParaRPr/>
          </a:p>
          <a:p>
            <a:pPr>
              <a:defRPr/>
            </a:pPr>
            <a:r>
              <a:rPr sz="1200" b="0" i="0" u="none">
                <a:solidFill>
                  <a:srgbClr val="000000"/>
                </a:solidFill>
                <a:latin typeface="Times New Roman"/>
                <a:ea typeface="Times New Roman"/>
                <a:cs typeface="Times New Roman"/>
              </a:rPr>
              <a:t>You should use these commands carefully because they can also remove important data.</a:t>
            </a:r>
            <a:endParaRPr/>
          </a:p>
          <a:p>
            <a:pPr>
              <a:defRPr/>
            </a:pPr>
            <a:r>
              <a:rPr sz="12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Why do developers sometimes clean the Docker environment?</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To free disk space and remove unused containers and images.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57276165" name="Google Shape;168;SLIDES_API647489343_100: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654346610" name="Google Shape;169;SLIDES_API647489343_10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Now we move from containers to </a:t>
            </a:r>
            <a:r>
              <a:rPr sz="1200" b="1" i="0" u="none">
                <a:solidFill>
                  <a:srgbClr val="000000"/>
                </a:solidFill>
                <a:latin typeface="Times New Roman"/>
                <a:ea typeface="Times New Roman"/>
                <a:cs typeface="Times New Roman"/>
              </a:rPr>
              <a:t>data systems used in modern applications</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So far you learned how to start services using Docker. In the next part you will start working with </a:t>
            </a:r>
            <a:r>
              <a:rPr sz="1200" b="1" i="0" u="none">
                <a:solidFill>
                  <a:srgbClr val="000000"/>
                </a:solidFill>
                <a:latin typeface="Times New Roman"/>
                <a:ea typeface="Times New Roman"/>
                <a:cs typeface="Times New Roman"/>
              </a:rPr>
              <a:t>Redis</a:t>
            </a:r>
            <a:r>
              <a:rPr sz="1200" b="0" i="0" u="none">
                <a:solidFill>
                  <a:srgbClr val="000000"/>
                </a:solidFill>
                <a:latin typeface="Times New Roman"/>
                <a:ea typeface="Times New Roman"/>
                <a:cs typeface="Times New Roman"/>
              </a:rPr>
              <a:t>, which is a very popular NoSQL database.</a:t>
            </a:r>
            <a:endParaRPr/>
          </a:p>
          <a:p>
            <a:pPr>
              <a:defRPr/>
            </a:pPr>
            <a:r>
              <a:rPr sz="1200" b="0" i="0" u="none">
                <a:solidFill>
                  <a:srgbClr val="000000"/>
                </a:solidFill>
                <a:latin typeface="Times New Roman"/>
                <a:ea typeface="Times New Roman"/>
                <a:cs typeface="Times New Roman"/>
              </a:rPr>
              <a:t>Traditional databases like PostgreSQL store data on disk and are designed for structured data and complex queries. However, some applications need extremely fast data access. For example, when thousands or millions of users are accessing a system simultaneously, the database can become a bottleneck.</a:t>
            </a:r>
            <a:endParaRPr/>
          </a:p>
          <a:p>
            <a:pPr>
              <a:defRPr/>
            </a:pPr>
            <a:r>
              <a:rPr sz="1200" b="0" i="0" u="none">
                <a:solidFill>
                  <a:srgbClr val="000000"/>
                </a:solidFill>
                <a:latin typeface="Times New Roman"/>
                <a:ea typeface="Times New Roman"/>
                <a:cs typeface="Times New Roman"/>
              </a:rPr>
              <a:t>This is where Redis becomes useful.</a:t>
            </a:r>
            <a:endParaRPr/>
          </a:p>
          <a:p>
            <a:pPr>
              <a:defRPr/>
            </a:pPr>
            <a:r>
              <a:rPr sz="1200" b="0" i="0" u="none">
                <a:solidFill>
                  <a:srgbClr val="000000"/>
                </a:solidFill>
                <a:latin typeface="Times New Roman"/>
                <a:ea typeface="Times New Roman"/>
                <a:cs typeface="Times New Roman"/>
              </a:rPr>
              <a:t>Redis is an </a:t>
            </a:r>
            <a:r>
              <a:rPr sz="1200" b="1" i="0" u="none">
                <a:solidFill>
                  <a:srgbClr val="000000"/>
                </a:solidFill>
                <a:latin typeface="Times New Roman"/>
                <a:ea typeface="Times New Roman"/>
                <a:cs typeface="Times New Roman"/>
              </a:rPr>
              <a:t>in-memory database</a:t>
            </a:r>
            <a:r>
              <a:rPr sz="1200" b="0" i="0" u="none">
                <a:solidFill>
                  <a:srgbClr val="000000"/>
                </a:solidFill>
                <a:latin typeface="Times New Roman"/>
                <a:ea typeface="Times New Roman"/>
                <a:cs typeface="Times New Roman"/>
              </a:rPr>
              <a:t>, which means it stores data in RAM instead of on disk. Because memory access is much faster than disk access, Redis can process operations extremely quickly.</a:t>
            </a:r>
            <a:endParaRPr/>
          </a:p>
          <a:p>
            <a:pPr>
              <a:defRPr/>
            </a:pPr>
            <a:r>
              <a:rPr sz="1200" b="0" i="0" u="none">
                <a:solidFill>
                  <a:srgbClr val="000000"/>
                </a:solidFill>
                <a:latin typeface="Times New Roman"/>
                <a:ea typeface="Times New Roman"/>
                <a:cs typeface="Times New Roman"/>
              </a:rPr>
              <a:t>In modern architectures Redis is often used together with a relational database. The relational database stores permanent data, while Redis stores temporary or frequently accessed data.</a:t>
            </a:r>
            <a:endParaRPr/>
          </a:p>
          <a:p>
            <a:pPr>
              <a:defRPr/>
            </a:pPr>
            <a:r>
              <a:rPr sz="1200" b="0" i="0" u="none">
                <a:solidFill>
                  <a:srgbClr val="000000"/>
                </a:solidFill>
                <a:latin typeface="Times New Roman"/>
                <a:ea typeface="Times New Roman"/>
                <a:cs typeface="Times New Roman"/>
              </a:rPr>
              <a:t>During the lab part of the lecture you will start a Redis container using Docker and connect to it using the Redis command-line interface shown in the green code.</a:t>
            </a:r>
            <a:endParaRPr/>
          </a:p>
          <a:p>
            <a:pPr>
              <a:defRPr/>
            </a:pPr>
            <a:r>
              <a:rPr sz="12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Why do modern applications use Redis in addition to relational databases?</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Because Redis provides extremely fast data access and can handle high request loads, reducing pressure on the main database.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96184018" name="Google Shape;174;SLIDES_API647489343_105: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700497591" name="Google Shape;175;SLIDES_API647489343_105: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At this point you should understand that not all databases work the same way.</a:t>
            </a:r>
            <a:endParaRPr/>
          </a:p>
          <a:p>
            <a:pPr>
              <a:defRPr/>
            </a:pPr>
            <a:r>
              <a:rPr sz="1200" b="0" i="0" u="none">
                <a:solidFill>
                  <a:srgbClr val="000000"/>
                </a:solidFill>
                <a:latin typeface="Times New Roman"/>
                <a:ea typeface="Times New Roman"/>
                <a:cs typeface="Times New Roman"/>
              </a:rPr>
              <a:t>Relational databases use </a:t>
            </a:r>
            <a:r>
              <a:rPr sz="1200" b="1" i="0" u="none">
                <a:solidFill>
                  <a:srgbClr val="000000"/>
                </a:solidFill>
                <a:latin typeface="Times New Roman"/>
                <a:ea typeface="Times New Roman"/>
                <a:cs typeface="Times New Roman"/>
              </a:rPr>
              <a:t>tables, rows, and columns</a:t>
            </a:r>
            <a:r>
              <a:rPr sz="1200" b="0" i="0" u="none">
                <a:solidFill>
                  <a:srgbClr val="000000"/>
                </a:solidFill>
                <a:latin typeface="Times New Roman"/>
                <a:ea typeface="Times New Roman"/>
                <a:cs typeface="Times New Roman"/>
              </a:rPr>
              <a:t>, and they require a predefined schema.</a:t>
            </a:r>
            <a:endParaRPr/>
          </a:p>
          <a:p>
            <a:pPr>
              <a:defRPr/>
            </a:pPr>
            <a:r>
              <a:rPr sz="1200" b="0" i="0" u="none">
                <a:solidFill>
                  <a:srgbClr val="000000"/>
                </a:solidFill>
                <a:latin typeface="Times New Roman"/>
                <a:ea typeface="Times New Roman"/>
                <a:cs typeface="Times New Roman"/>
              </a:rPr>
              <a:t>NoSQL databases are more flexible. They allow different types of data structures and can scale across many servers.</a:t>
            </a:r>
            <a:endParaRPr/>
          </a:p>
          <a:p>
            <a:pPr>
              <a:defRPr/>
            </a:pPr>
            <a:r>
              <a:rPr sz="1200" b="0" i="0" u="none">
                <a:solidFill>
                  <a:srgbClr val="000000"/>
                </a:solidFill>
                <a:latin typeface="Times New Roman"/>
                <a:ea typeface="Times New Roman"/>
                <a:cs typeface="Times New Roman"/>
              </a:rPr>
              <a:t>There are several types of NoSQL databases used in industry. Some store documents, some store graphs, and others store simple key-value pairs.</a:t>
            </a:r>
            <a:endParaRPr/>
          </a:p>
          <a:p>
            <a:pPr>
              <a:defRPr/>
            </a:pPr>
            <a:r>
              <a:rPr sz="1200" b="0" i="0" u="none">
                <a:solidFill>
                  <a:srgbClr val="000000"/>
                </a:solidFill>
                <a:latin typeface="Times New Roman"/>
                <a:ea typeface="Times New Roman"/>
                <a:cs typeface="Times New Roman"/>
              </a:rPr>
              <a:t>Redis belongs to the </a:t>
            </a:r>
            <a:r>
              <a:rPr sz="1200" b="1" i="0" u="none">
                <a:solidFill>
                  <a:srgbClr val="000000"/>
                </a:solidFill>
                <a:latin typeface="Times New Roman"/>
                <a:ea typeface="Times New Roman"/>
                <a:cs typeface="Times New Roman"/>
              </a:rPr>
              <a:t>key-value database family</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In the slides you will see commands that interact with Redis by storing values associated with specific keys. When you run those commands, you are directly working with the key-value model.</a:t>
            </a:r>
            <a:endParaRPr/>
          </a:p>
          <a:p>
            <a:pPr>
              <a:defRPr/>
            </a:pPr>
            <a:r>
              <a:rPr sz="1200" b="0" i="0" u="none">
                <a:solidFill>
                  <a:srgbClr val="000000"/>
                </a:solidFill>
                <a:latin typeface="Times New Roman"/>
                <a:ea typeface="Times New Roman"/>
                <a:cs typeface="Times New Roman"/>
              </a:rPr>
              <a:t>This model is extremely simple and efficient.</a:t>
            </a:r>
            <a:endParaRPr/>
          </a:p>
          <a:p>
            <a:pPr>
              <a:defRPr/>
            </a:pPr>
            <a:r>
              <a:rPr sz="12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What is the main difference between SQL and NoSQL databases?</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SQL databases use structured schemas and relational tables, while NoSQL databases use more flexible data models designed for scalability and performance.</a:t>
            </a:r>
            <a:endParaRPr/>
          </a:p>
          <a:p>
            <a:pPr>
              <a:defRPr/>
            </a:pPr>
            <a:endParaRPr/>
          </a:p>
          <a:p>
            <a:pPr>
              <a:defRPr/>
            </a:pPr>
            <a:endParaRPr/>
          </a:p>
          <a:p>
            <a:pPr>
              <a:defRPr/>
            </a:pPr>
            <a:r>
              <a:rPr sz="2400" b="1" i="0" u="none">
                <a:solidFill>
                  <a:srgbClr val="000000"/>
                </a:solidFill>
                <a:latin typeface="Times New Roman"/>
                <a:ea typeface="Times New Roman"/>
                <a:cs typeface="Times New Roman"/>
              </a:rPr>
              <a:t>Families of NoSQL</a:t>
            </a:r>
            <a:endParaRPr/>
          </a:p>
          <a:p>
            <a:pPr>
              <a:defRPr/>
            </a:pPr>
            <a:r>
              <a:rPr sz="1200" b="0" i="0" u="none">
                <a:solidFill>
                  <a:srgbClr val="000000"/>
                </a:solidFill>
                <a:latin typeface="Times New Roman"/>
                <a:ea typeface="Times New Roman"/>
                <a:cs typeface="Times New Roman"/>
              </a:rPr>
              <a:t>NoSQL databases are not a single technology but a category of different database types.</a:t>
            </a:r>
            <a:endParaRPr/>
          </a:p>
          <a:p>
            <a:pPr>
              <a:defRPr/>
            </a:pPr>
            <a:r>
              <a:rPr sz="1200" b="0" i="0" u="none">
                <a:solidFill>
                  <a:srgbClr val="000000"/>
                </a:solidFill>
                <a:latin typeface="Times New Roman"/>
                <a:ea typeface="Times New Roman"/>
                <a:cs typeface="Times New Roman"/>
              </a:rPr>
              <a:t>Some databases store documents, which are usually JSON structures. Others store data in columns, which is useful for large distributed systems. Graph databases focus on relationships between entities.</a:t>
            </a:r>
            <a:endParaRPr/>
          </a:p>
          <a:p>
            <a:pPr>
              <a:defRPr/>
            </a:pPr>
            <a:r>
              <a:rPr sz="1200" b="0" i="0" u="none">
                <a:solidFill>
                  <a:srgbClr val="000000"/>
                </a:solidFill>
                <a:latin typeface="Times New Roman"/>
                <a:ea typeface="Times New Roman"/>
                <a:cs typeface="Times New Roman"/>
              </a:rPr>
              <a:t>Redis belongs to the </a:t>
            </a:r>
            <a:r>
              <a:rPr sz="1200" b="1" i="0" u="none">
                <a:solidFill>
                  <a:srgbClr val="000000"/>
                </a:solidFill>
                <a:latin typeface="Times New Roman"/>
                <a:ea typeface="Times New Roman"/>
                <a:cs typeface="Times New Roman"/>
              </a:rPr>
              <a:t>key-value category</a:t>
            </a:r>
            <a:r>
              <a:rPr sz="1200" b="0" i="0" u="none">
                <a:solidFill>
                  <a:srgbClr val="000000"/>
                </a:solidFill>
                <a:latin typeface="Times New Roman"/>
                <a:ea typeface="Times New Roman"/>
                <a:cs typeface="Times New Roman"/>
              </a:rPr>
              <a:t>, where data is stored as a pair consisting of a key and a value.</a:t>
            </a:r>
            <a:endParaRPr/>
          </a:p>
          <a:p>
            <a:pPr>
              <a:defRPr/>
            </a:pPr>
            <a:r>
              <a:rPr sz="1200" b="0" i="0" u="none">
                <a:solidFill>
                  <a:srgbClr val="000000"/>
                </a:solidFill>
                <a:latin typeface="Times New Roman"/>
                <a:ea typeface="Times New Roman"/>
                <a:cs typeface="Times New Roman"/>
              </a:rPr>
              <a:t>When you run the commands shown in the green code examples later in the slides, you will store a value under a key and retrieve it using that key.</a:t>
            </a:r>
            <a:endParaRPr/>
          </a:p>
          <a:p>
            <a:pPr>
              <a:defRPr/>
            </a:pPr>
            <a:r>
              <a:rPr sz="1200" b="0" i="0" u="none">
                <a:solidFill>
                  <a:srgbClr val="000000"/>
                </a:solidFill>
                <a:latin typeface="Times New Roman"/>
                <a:ea typeface="Times New Roman"/>
                <a:cs typeface="Times New Roman"/>
              </a:rPr>
              <a:t>This type of operation is extremely fast because the system can directly access the value without scanning large tables.</a:t>
            </a:r>
            <a:endParaRPr/>
          </a:p>
          <a:p>
            <a:pPr>
              <a:defRPr/>
            </a:pPr>
            <a:r>
              <a:rPr sz="12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Why are key-value databases very fast?</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Because data is retrieved directly using a key, which avoids complex query processing.</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82881" name="Google Shape;181;SLIDES_API647489343_11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481674527" name="Google Shape;182;SLIDES_API647489343_111: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To understand Redis, think of a </a:t>
            </a:r>
            <a:r>
              <a:rPr sz="1200" b="1" i="0" u="none">
                <a:solidFill>
                  <a:srgbClr val="000000"/>
                </a:solidFill>
                <a:latin typeface="Times New Roman"/>
                <a:ea typeface="Times New Roman"/>
                <a:cs typeface="Times New Roman"/>
              </a:rPr>
              <a:t>dictionary in programming</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A dictionary stores data as pairs where a key points to a value.</a:t>
            </a:r>
            <a:endParaRPr/>
          </a:p>
          <a:p>
            <a:pPr>
              <a:defRPr/>
            </a:pPr>
            <a:r>
              <a:rPr sz="1200" b="0" i="0" u="none">
                <a:solidFill>
                  <a:srgbClr val="000000"/>
                </a:solidFill>
                <a:latin typeface="Times New Roman"/>
                <a:ea typeface="Times New Roman"/>
                <a:cs typeface="Times New Roman"/>
              </a:rPr>
              <a:t>For example, the key might represent a user ID, and the value might contain information about that user.</a:t>
            </a:r>
            <a:endParaRPr/>
          </a:p>
          <a:p>
            <a:pPr>
              <a:defRPr/>
            </a:pPr>
            <a:r>
              <a:rPr sz="1200" b="0" i="0" u="none">
                <a:solidFill>
                  <a:srgbClr val="000000"/>
                </a:solidFill>
                <a:latin typeface="Times New Roman"/>
                <a:ea typeface="Times New Roman"/>
                <a:cs typeface="Times New Roman"/>
              </a:rPr>
              <a:t>When the application needs the data, it simply asks the database for the value associated with that key.</a:t>
            </a:r>
            <a:endParaRPr/>
          </a:p>
          <a:p>
            <a:pPr>
              <a:defRPr/>
            </a:pPr>
            <a:r>
              <a:rPr sz="1200" b="0" i="0" u="none">
                <a:solidFill>
                  <a:srgbClr val="000000"/>
                </a:solidFill>
                <a:latin typeface="Times New Roman"/>
                <a:ea typeface="Times New Roman"/>
                <a:cs typeface="Times New Roman"/>
              </a:rPr>
              <a:t>In the Redis examples shown in the slides, you will execute commands that store values with keys and retrieve them again. These commands demonstrate how Redis performs extremely fast lookups.</a:t>
            </a:r>
            <a:endParaRPr/>
          </a:p>
          <a:p>
            <a:pPr>
              <a:defRPr/>
            </a:pPr>
            <a:r>
              <a:rPr sz="1200" b="0" i="0" u="none">
                <a:solidFill>
                  <a:srgbClr val="000000"/>
                </a:solidFill>
                <a:latin typeface="Times New Roman"/>
                <a:ea typeface="Times New Roman"/>
                <a:cs typeface="Times New Roman"/>
              </a:rPr>
              <a:t>The important idea here is that Redis is optimized for </a:t>
            </a:r>
            <a:r>
              <a:rPr sz="1200" b="1" i="0" u="none">
                <a:solidFill>
                  <a:srgbClr val="000000"/>
                </a:solidFill>
                <a:latin typeface="Times New Roman"/>
                <a:ea typeface="Times New Roman"/>
                <a:cs typeface="Times New Roman"/>
              </a:rPr>
              <a:t>fast key lookups rather than complex relational queries</a:t>
            </a:r>
            <a:r>
              <a:rPr sz="1200" b="0" i="0" u="none">
                <a:solidFill>
                  <a:srgbClr val="000000"/>
                </a:solidFill>
                <a:latin typeface="Times New Roman"/>
                <a:ea typeface="Times New Roman"/>
                <a:cs typeface="Times New Roman"/>
              </a:rPr>
              <a:t>.</a:t>
            </a:r>
            <a:endParaRPr/>
          </a:p>
          <a:p>
            <a:pPr>
              <a:defRPr/>
            </a:pPr>
            <a:r>
              <a:rPr sz="12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What operation is optimized in key-value databases?</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Fast retrieval of values using a unique key.</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45115752" name="Google Shape;187;SLIDES_API647489343_116: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95750744" name="Google Shape;188;SLIDES_API647489343_116: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Redis stands for </a:t>
            </a:r>
            <a:r>
              <a:rPr sz="1200" b="1" i="0" u="none">
                <a:solidFill>
                  <a:srgbClr val="000000"/>
                </a:solidFill>
                <a:latin typeface="Times New Roman"/>
                <a:ea typeface="Times New Roman"/>
                <a:cs typeface="Times New Roman"/>
              </a:rPr>
              <a:t>Remote Dictionary Server</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It is one of the most widely used in-memory databases in the world.</a:t>
            </a:r>
            <a:endParaRPr/>
          </a:p>
          <a:p>
            <a:pPr>
              <a:defRPr/>
            </a:pPr>
            <a:r>
              <a:rPr sz="1200" b="0" i="0" u="none">
                <a:solidFill>
                  <a:srgbClr val="000000"/>
                </a:solidFill>
                <a:latin typeface="Times New Roman"/>
                <a:ea typeface="Times New Roman"/>
                <a:cs typeface="Times New Roman"/>
              </a:rPr>
              <a:t>Because Redis stores data in memory, it can process millions of operations per second with extremely low latency.</a:t>
            </a:r>
            <a:endParaRPr/>
          </a:p>
          <a:p>
            <a:pPr>
              <a:defRPr/>
            </a:pPr>
            <a:r>
              <a:rPr sz="1200" b="0" i="0" u="none">
                <a:solidFill>
                  <a:srgbClr val="000000"/>
                </a:solidFill>
                <a:latin typeface="Times New Roman"/>
                <a:ea typeface="Times New Roman"/>
                <a:cs typeface="Times New Roman"/>
              </a:rPr>
              <a:t>However, Redis is usually not used as the main database for long-term storage. Instead, it is used for tasks that require extremely fast access, such as caching.</a:t>
            </a:r>
            <a:endParaRPr/>
          </a:p>
          <a:p>
            <a:pPr>
              <a:defRPr/>
            </a:pPr>
            <a:r>
              <a:rPr sz="1200" b="0" i="0" u="none">
                <a:solidFill>
                  <a:srgbClr val="000000"/>
                </a:solidFill>
                <a:latin typeface="Times New Roman"/>
                <a:ea typeface="Times New Roman"/>
                <a:cs typeface="Times New Roman"/>
              </a:rPr>
              <a:t>Later in the slides you will start a Redis container and open the Redis command interface using the command shown in the green code. Once you connect to Redis, you will execute simple commands that store and retrieve values.</a:t>
            </a:r>
            <a:endParaRPr/>
          </a:p>
          <a:p>
            <a:pPr>
              <a:defRPr/>
            </a:pPr>
            <a:r>
              <a:rPr sz="1200" b="0" i="0" u="none">
                <a:solidFill>
                  <a:srgbClr val="000000"/>
                </a:solidFill>
                <a:latin typeface="Times New Roman"/>
                <a:ea typeface="Times New Roman"/>
                <a:cs typeface="Times New Roman"/>
              </a:rPr>
              <a:t>These commands demonstrate how Redis works internally.</a:t>
            </a:r>
            <a:endParaRPr/>
          </a:p>
          <a:p>
            <a:pPr>
              <a:defRPr/>
            </a:pPr>
            <a:r>
              <a:rPr sz="12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Why is Redis much faster than traditional databases?</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Because Redis stores data in memory rather than on disk.</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24395190" name="Google Shape;194;SLIDES_API647489343_122: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926405885" name="Google Shape;195;SLIDES_API647489343_122: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Although Redis is a key-value database, it supports several advanced data structures.</a:t>
            </a:r>
            <a:endParaRPr/>
          </a:p>
          <a:p>
            <a:pPr>
              <a:defRPr/>
            </a:pPr>
            <a:r>
              <a:rPr sz="1200" b="0" i="0" u="none">
                <a:solidFill>
                  <a:srgbClr val="000000"/>
                </a:solidFill>
                <a:latin typeface="Times New Roman"/>
                <a:ea typeface="Times New Roman"/>
                <a:cs typeface="Times New Roman"/>
              </a:rPr>
              <a:t>These structures allow Redis to store more complex information than simple text values.</a:t>
            </a:r>
            <a:endParaRPr/>
          </a:p>
          <a:p>
            <a:pPr>
              <a:defRPr/>
            </a:pPr>
            <a:r>
              <a:rPr sz="1200" b="0" i="0" u="none">
                <a:solidFill>
                  <a:srgbClr val="000000"/>
                </a:solidFill>
                <a:latin typeface="Times New Roman"/>
                <a:ea typeface="Times New Roman"/>
                <a:cs typeface="Times New Roman"/>
              </a:rPr>
              <a:t>For example, Redis can store lists, collections of fields and values, and ordered data structures used for rankings.</a:t>
            </a:r>
            <a:endParaRPr/>
          </a:p>
          <a:p>
            <a:pPr>
              <a:defRPr/>
            </a:pPr>
            <a:r>
              <a:rPr sz="1200" b="0" i="0" u="none">
                <a:solidFill>
                  <a:srgbClr val="000000"/>
                </a:solidFill>
                <a:latin typeface="Times New Roman"/>
                <a:ea typeface="Times New Roman"/>
                <a:cs typeface="Times New Roman"/>
              </a:rPr>
              <a:t>This is why Redis is used for applications such as real-time leaderboards, queues, and session storage.</a:t>
            </a:r>
            <a:endParaRPr/>
          </a:p>
          <a:p>
            <a:pPr>
              <a:defRPr/>
            </a:pPr>
            <a:r>
              <a:rPr sz="1200" b="0" i="0" u="none">
                <a:solidFill>
                  <a:srgbClr val="000000"/>
                </a:solidFill>
                <a:latin typeface="Times New Roman"/>
                <a:ea typeface="Times New Roman"/>
                <a:cs typeface="Times New Roman"/>
              </a:rPr>
              <a:t>When you run the Redis commands shown in the slides, you will see how keys can store different types of values.</a:t>
            </a:r>
            <a:endParaRPr/>
          </a:p>
          <a:p>
            <a:pPr>
              <a:defRPr/>
            </a:pPr>
            <a:r>
              <a:rPr sz="1200" b="0" i="0" u="none">
                <a:solidFill>
                  <a:srgbClr val="000000"/>
                </a:solidFill>
                <a:latin typeface="Times New Roman"/>
                <a:ea typeface="Times New Roman"/>
                <a:cs typeface="Times New Roman"/>
              </a:rPr>
              <a:t>The main idea you should remember is that Redis is not just a simple key-value store; it also supports structured data operations.</a:t>
            </a:r>
            <a:endParaRPr/>
          </a:p>
          <a:p>
            <a:pPr>
              <a:defRPr/>
            </a:pPr>
            <a:r>
              <a:rPr sz="12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Why are advanced data structures useful in Redis?</a:t>
            </a:r>
            <a:endParaRPr/>
          </a:p>
          <a:p>
            <a:pPr>
              <a:defRPr/>
            </a:pPr>
            <a:r>
              <a:rPr sz="1200" b="1" i="0" u="none">
                <a:solidFill>
                  <a:srgbClr val="000000"/>
                </a:solidFill>
                <a:latin typeface="Times New Roman"/>
                <a:ea typeface="Times New Roman"/>
                <a:cs typeface="Times New Roman"/>
              </a:rPr>
              <a:t>Answer</a:t>
            </a:r>
            <a:endParaRPr/>
          </a:p>
          <a:p>
            <a:pPr marL="0" lvl="0" indent="0" algn="l" rtl="0">
              <a:spcBef>
                <a:spcPts val="0"/>
              </a:spcBef>
              <a:spcAft>
                <a:spcPts val="0"/>
              </a:spcAft>
              <a:buNone/>
              <a:defRPr/>
            </a:pPr>
            <a:r>
              <a:rPr sz="1200" b="0" i="0" u="none">
                <a:solidFill>
                  <a:srgbClr val="000000"/>
                </a:solidFill>
                <a:latin typeface="Times New Roman"/>
                <a:ea typeface="Times New Roman"/>
                <a:cs typeface="Times New Roman"/>
              </a:rPr>
              <a:t>Because they allow Redis to support applications such as queues, ranking systems, and session storage.</a:t>
            </a:r>
            <a:endParaRPr/>
          </a:p>
          <a:p>
            <a:pPr marL="0" lvl="0" indent="0" algn="l" rtl="0">
              <a:spcBef>
                <a:spcPts val="0"/>
              </a:spcBef>
              <a:spcAft>
                <a:spcPts val="0"/>
              </a:spcAft>
              <a:buNone/>
              <a:defRPr/>
            </a:pPr>
            <a:endParaRPr lang="en"/>
          </a:p>
          <a:p>
            <a:pPr marL="0" lvl="0" indent="0" algn="l" rtl="0">
              <a:spcBef>
                <a:spcPts val="0"/>
              </a:spcBef>
              <a:spcAft>
                <a:spcPts val="0"/>
              </a:spcAft>
              <a:buNone/>
              <a:defRPr/>
            </a:pPr>
            <a:r>
              <a:rPr lang="en"/>
              <a:t>[1:20 - 1:25] Explain that you can push/pop from a Redis List exactly like a Queue or Stack in C++.</a:t>
            </a:r>
            <a:endParaRPr lang="e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42672477" name="Google Shape;200;SLIDES_API647489343_127: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597185502" name="Google Shape;201;SLIDES_API647489343_127: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In real systems Redis rarely works alone.</a:t>
            </a:r>
            <a:endParaRPr/>
          </a:p>
          <a:p>
            <a:pPr>
              <a:defRPr/>
            </a:pPr>
            <a:r>
              <a:rPr sz="1200" b="0" i="0" u="none">
                <a:solidFill>
                  <a:srgbClr val="000000"/>
                </a:solidFill>
                <a:latin typeface="Times New Roman"/>
                <a:ea typeface="Times New Roman"/>
                <a:cs typeface="Times New Roman"/>
              </a:rPr>
              <a:t>Most applications combine Redis with a relational database such as PostgreSQL.</a:t>
            </a:r>
            <a:endParaRPr/>
          </a:p>
          <a:p>
            <a:pPr>
              <a:defRPr/>
            </a:pPr>
            <a:r>
              <a:rPr sz="1200" b="0" i="0" u="none">
                <a:solidFill>
                  <a:srgbClr val="000000"/>
                </a:solidFill>
                <a:latin typeface="Times New Roman"/>
                <a:ea typeface="Times New Roman"/>
                <a:cs typeface="Times New Roman"/>
              </a:rPr>
              <a:t>The relational database stores the permanent data of the system. Redis acts as a caching layer that stores frequently accessed data.</a:t>
            </a:r>
            <a:endParaRPr/>
          </a:p>
          <a:p>
            <a:pPr>
              <a:defRPr/>
            </a:pPr>
            <a:r>
              <a:rPr sz="1200" b="0" i="0" u="none">
                <a:solidFill>
                  <a:srgbClr val="000000"/>
                </a:solidFill>
                <a:latin typeface="Times New Roman"/>
                <a:ea typeface="Times New Roman"/>
                <a:cs typeface="Times New Roman"/>
              </a:rPr>
              <a:t>When an application receives a request, it first checks Redis to see whether the required data is already available.</a:t>
            </a:r>
            <a:endParaRPr/>
          </a:p>
          <a:p>
            <a:pPr>
              <a:defRPr/>
            </a:pPr>
            <a:r>
              <a:rPr sz="1200" b="0" i="0" u="none">
                <a:solidFill>
                  <a:srgbClr val="000000"/>
                </a:solidFill>
                <a:latin typeface="Times New Roman"/>
                <a:ea typeface="Times New Roman"/>
                <a:cs typeface="Times New Roman"/>
              </a:rPr>
              <a:t>If Redis contains the data, the system returns it immediately. If not, the application queries the database and then stores the result in Redis for future requests.</a:t>
            </a:r>
            <a:endParaRPr/>
          </a:p>
          <a:p>
            <a:pPr>
              <a:defRPr/>
            </a:pPr>
            <a:r>
              <a:rPr sz="1200" b="0" i="0" u="none">
                <a:solidFill>
                  <a:srgbClr val="000000"/>
                </a:solidFill>
                <a:latin typeface="Times New Roman"/>
                <a:ea typeface="Times New Roman"/>
                <a:cs typeface="Times New Roman"/>
              </a:rPr>
              <a:t>This process significantly reduces the load on the main database and improves system performance.</a:t>
            </a:r>
            <a:endParaRPr/>
          </a:p>
          <a:p>
            <a:pPr>
              <a:defRPr/>
            </a:pPr>
            <a:r>
              <a:rPr sz="1200" b="0" i="0" u="none">
                <a:solidFill>
                  <a:srgbClr val="000000"/>
                </a:solidFill>
                <a:latin typeface="Times New Roman"/>
                <a:ea typeface="Times New Roman"/>
                <a:cs typeface="Times New Roman"/>
              </a:rPr>
              <a:t>Later in the slides you will run Redis commands that demonstrate how values can expire automatically after a certain time, which is useful for caching.</a:t>
            </a:r>
            <a:endParaRPr/>
          </a:p>
          <a:p>
            <a:pPr>
              <a:defRPr/>
            </a:pPr>
            <a:r>
              <a:rPr sz="12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Why is Redis commonly used as a cache?</a:t>
            </a:r>
            <a:endParaRPr/>
          </a:p>
          <a:p>
            <a:pPr>
              <a:defRPr/>
            </a:pPr>
            <a:r>
              <a:rPr sz="1200" b="1" i="0" u="none">
                <a:solidFill>
                  <a:srgbClr val="000000"/>
                </a:solidFill>
                <a:latin typeface="Times New Roman"/>
                <a:ea typeface="Times New Roman"/>
                <a:cs typeface="Times New Roman"/>
              </a:rPr>
              <a:t>Answer</a:t>
            </a:r>
            <a:endParaRPr/>
          </a:p>
          <a:p>
            <a:pPr marL="0" lvl="0" indent="0" algn="l" rtl="0">
              <a:spcBef>
                <a:spcPts val="0"/>
              </a:spcBef>
              <a:spcAft>
                <a:spcPts val="0"/>
              </a:spcAft>
              <a:buNone/>
              <a:defRPr/>
            </a:pPr>
            <a:r>
              <a:rPr sz="1200" b="0" i="0" u="none">
                <a:solidFill>
                  <a:srgbClr val="000000"/>
                </a:solidFill>
                <a:latin typeface="Times New Roman"/>
                <a:ea typeface="Times New Roman"/>
                <a:cs typeface="Times New Roman"/>
              </a:rPr>
              <a:t>Because it allows applications to store frequently accessed data in memory, reducing the number of database queries.</a:t>
            </a:r>
            <a:endParaRPr/>
          </a:p>
          <a:p>
            <a:pPr marL="0" lvl="0" indent="0" algn="l" rtl="0">
              <a:spcBef>
                <a:spcPts val="0"/>
              </a:spcBef>
              <a:spcAft>
                <a:spcPts val="0"/>
              </a:spcAft>
              <a:buNone/>
              <a:defRPr/>
            </a:pPr>
            <a:endParaRPr lang="en"/>
          </a:p>
          <a:p>
            <a:pPr marL="0" lvl="0" indent="0" algn="l" rtl="0">
              <a:spcBef>
                <a:spcPts val="0"/>
              </a:spcBef>
              <a:spcAft>
                <a:spcPts val="0"/>
              </a:spcAft>
              <a:buNone/>
              <a:defRPr/>
            </a:pPr>
            <a:endParaRPr lang="en"/>
          </a:p>
          <a:p>
            <a:pPr marL="0" lvl="0" indent="0" algn="l" rtl="0">
              <a:spcBef>
                <a:spcPts val="0"/>
              </a:spcBef>
              <a:spcAft>
                <a:spcPts val="0"/>
              </a:spcAft>
              <a:buNone/>
              <a:defRPr/>
            </a:pPr>
            <a:r>
              <a:rPr lang="en"/>
              <a:t>[1:25 - 1:35] Answer the inevitable question: 'If Redis is so fast, why use PostgreSQL at all?' 1. RAM is very expensive per GB. 2. RAM is volatile. Postgres is our permanent anchor.</a:t>
            </a:r>
            <a:endParaRPr lang="e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432813386" name="Google Shape;207;SLIDES_API647489343_133: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888974386" name="Google Shape;208;SLIDES_API647489343_133: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The caching flow shown in the slide explains how Redis works together with the database during a typical request.</a:t>
            </a:r>
            <a:endParaRPr/>
          </a:p>
          <a:p>
            <a:pPr>
              <a:defRPr/>
            </a:pPr>
            <a:r>
              <a:rPr sz="1200" b="0" i="0" u="none">
                <a:solidFill>
                  <a:srgbClr val="000000"/>
                </a:solidFill>
                <a:latin typeface="Times New Roman"/>
                <a:ea typeface="Times New Roman"/>
                <a:cs typeface="Times New Roman"/>
              </a:rPr>
              <a:t>When a user requests information, the application first checks Redis. If Redis contains the data, the request is completed immediately. This situation is called a </a:t>
            </a:r>
            <a:r>
              <a:rPr sz="1200" b="1" i="0" u="none">
                <a:solidFill>
                  <a:srgbClr val="000000"/>
                </a:solidFill>
                <a:latin typeface="Times New Roman"/>
                <a:ea typeface="Times New Roman"/>
                <a:cs typeface="Times New Roman"/>
              </a:rPr>
              <a:t>cache hit</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If Redis does not contain the data, the application queries the main database. After retrieving the data, the application stores it in Redis so that future requests can access it quickly.</a:t>
            </a:r>
            <a:endParaRPr/>
          </a:p>
          <a:p>
            <a:pPr>
              <a:defRPr/>
            </a:pPr>
            <a:r>
              <a:rPr sz="1200" b="0" i="0" u="none">
                <a:solidFill>
                  <a:srgbClr val="000000"/>
                </a:solidFill>
                <a:latin typeface="Times New Roman"/>
                <a:ea typeface="Times New Roman"/>
                <a:cs typeface="Times New Roman"/>
              </a:rPr>
              <a:t>This strategy improves system performance because repeated requests can be served directly from Redis.</a:t>
            </a:r>
            <a:endParaRPr/>
          </a:p>
          <a:p>
            <a:pPr>
              <a:defRPr/>
            </a:pPr>
            <a:r>
              <a:rPr sz="1200" b="0" i="0" u="none">
                <a:solidFill>
                  <a:srgbClr val="000000"/>
                </a:solidFill>
                <a:latin typeface="Times New Roman"/>
                <a:ea typeface="Times New Roman"/>
                <a:cs typeface="Times New Roman"/>
              </a:rPr>
              <a:t>When you run the Redis commands in the slides, you will see how values can be stored with expiration times. After the expiration time passes, Redis automatically removes the value.</a:t>
            </a:r>
            <a:endParaRPr/>
          </a:p>
          <a:p>
            <a:pPr>
              <a:defRPr/>
            </a:pPr>
            <a:r>
              <a:rPr sz="1200" b="0" i="0" u="none">
                <a:solidFill>
                  <a:srgbClr val="000000"/>
                </a:solidFill>
                <a:latin typeface="Times New Roman"/>
                <a:ea typeface="Times New Roman"/>
                <a:cs typeface="Times New Roman"/>
              </a:rPr>
              <a:t>This behavior is very useful for caching.</a:t>
            </a:r>
            <a:endParaRPr/>
          </a:p>
          <a:p>
            <a:pPr>
              <a:defRPr/>
            </a:pPr>
            <a:r>
              <a:rPr sz="12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What is a cache hit?</a:t>
            </a:r>
            <a:endParaRPr/>
          </a:p>
          <a:p>
            <a:pPr>
              <a:defRPr/>
            </a:pPr>
            <a:r>
              <a:rPr sz="1200" b="1" i="0" u="none">
                <a:solidFill>
                  <a:srgbClr val="000000"/>
                </a:solidFill>
                <a:latin typeface="Times New Roman"/>
                <a:ea typeface="Times New Roman"/>
                <a:cs typeface="Times New Roman"/>
              </a:rPr>
              <a:t>Answer</a:t>
            </a:r>
            <a:endParaRPr/>
          </a:p>
          <a:p>
            <a:pPr marL="0" lvl="0" indent="0" algn="l" rtl="0">
              <a:spcBef>
                <a:spcPts val="0"/>
              </a:spcBef>
              <a:spcAft>
                <a:spcPts val="0"/>
              </a:spcAft>
              <a:buNone/>
              <a:defRPr/>
            </a:pPr>
            <a:r>
              <a:rPr sz="1200" b="0" i="0" u="none">
                <a:solidFill>
                  <a:srgbClr val="000000"/>
                </a:solidFill>
                <a:latin typeface="Times New Roman"/>
                <a:ea typeface="Times New Roman"/>
                <a:cs typeface="Times New Roman"/>
              </a:rPr>
              <a:t>A cache hit occurs when the requested data is already stored in the cache and can be returned immediately.</a:t>
            </a:r>
            <a:endParaRPr lang="en"/>
          </a:p>
          <a:p>
            <a:pPr marL="0" lvl="0" indent="0" algn="l" rtl="0">
              <a:spcBef>
                <a:spcPts val="0"/>
              </a:spcBef>
              <a:spcAft>
                <a:spcPts val="0"/>
              </a:spcAft>
              <a:buNone/>
              <a:defRPr/>
            </a:pPr>
            <a:endParaRPr/>
          </a:p>
          <a:p>
            <a:pPr marL="0" lvl="0" indent="0" algn="l" rtl="0">
              <a:spcBef>
                <a:spcPts val="0"/>
              </a:spcBef>
              <a:spcAft>
                <a:spcPts val="0"/>
              </a:spcAft>
              <a:buNone/>
              <a:defRPr/>
            </a:pPr>
            <a:r>
              <a:rPr sz="1200" b="0" i="0" u="none">
                <a:solidFill>
                  <a:srgbClr val="000000"/>
                </a:solidFill>
                <a:latin typeface="Times New Roman"/>
                <a:ea typeface="Times New Roman"/>
                <a:cs typeface="Times New Roman"/>
              </a:rPr>
              <a:t>           (Cache Hit)</a:t>
            </a:r>
            <a:br>
              <a:rPr sz="1200" b="0"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&lt;-----------------</a:t>
            </a:r>
            <a:br>
              <a:rPr sz="1200" b="0"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                  |</a:t>
            </a:r>
            <a:br>
              <a:rPr sz="1200" b="0"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[User] → [Application] → [Redis]</a:t>
            </a:r>
            <a:br>
              <a:rPr sz="1200" b="0"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a:t>
            </a:r>
            <a:br>
              <a:rPr sz="1200" b="0"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 (Cache Miss)</a:t>
            </a:r>
            <a:br>
              <a:rPr sz="1200" b="0"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v</a:t>
            </a:r>
            <a:br>
              <a:rPr sz="1200" b="0"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[Database]</a:t>
            </a:r>
            <a:br>
              <a:rPr sz="1200" b="0"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a:t>
            </a:r>
            <a:br>
              <a:rPr sz="1200" b="0"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v</a:t>
            </a:r>
            <a:br>
              <a:rPr sz="1200" b="0"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Store in Redis</a:t>
            </a:r>
            <a:endParaRPr/>
          </a:p>
          <a:p>
            <a:pPr marL="0" lvl="0" indent="0" algn="l" rtl="0">
              <a:spcBef>
                <a:spcPts val="0"/>
              </a:spcBef>
              <a:spcAft>
                <a:spcPts val="0"/>
              </a:spcAft>
              <a:buNone/>
              <a:defRPr/>
            </a:pPr>
            <a:endParaRPr/>
          </a:p>
          <a:p>
            <a:pPr marL="0" lvl="0" indent="0" algn="l" rtl="0">
              <a:spcBef>
                <a:spcPts val="0"/>
              </a:spcBef>
              <a:spcAft>
                <a:spcPts val="0"/>
              </a:spcAft>
              <a:buNone/>
              <a:defRPr/>
            </a:pPr>
            <a:r>
              <a:rPr sz="1200" b="0" i="0" u="none">
                <a:solidFill>
                  <a:srgbClr val="000000"/>
                </a:solidFill>
                <a:latin typeface="Times New Roman"/>
                <a:ea typeface="Times New Roman"/>
                <a:cs typeface="Times New Roman"/>
              </a:rPr>
              <a:t>"Every request first checks Redis.</a:t>
            </a:r>
            <a:br>
              <a:rPr sz="1200" b="0"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If the data exists, Redis returns it immediately (cache hit).</a:t>
            </a:r>
            <a:br>
              <a:rPr sz="1200" b="0"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If not, the application queries the database and then stores the result in Redis for future requests."</a:t>
            </a:r>
            <a:endParaRPr lang="en"/>
          </a:p>
          <a:p>
            <a:pPr marL="0" lvl="0" indent="0" algn="l" rtl="0">
              <a:spcBef>
                <a:spcPts val="0"/>
              </a:spcBef>
              <a:spcAft>
                <a:spcPts val="0"/>
              </a:spcAft>
              <a:buNone/>
              <a:defRPr/>
            </a:pPr>
            <a:endParaRPr lang="en"/>
          </a:p>
          <a:p>
            <a:pPr marL="0" lvl="0" indent="0" algn="l" rtl="0">
              <a:spcBef>
                <a:spcPts val="0"/>
              </a:spcBef>
              <a:spcAft>
                <a:spcPts val="0"/>
              </a:spcAft>
              <a:buNone/>
              <a:defRPr/>
            </a:pPr>
            <a:r>
              <a:rPr sz="1200" b="0" i="0" u="none">
                <a:solidFill>
                  <a:srgbClr val="000000"/>
                </a:solidFill>
                <a:latin typeface="Times New Roman"/>
                <a:ea typeface="Times New Roman"/>
                <a:cs typeface="Times New Roman"/>
              </a:rPr>
              <a:t>“Think of Redis as a </a:t>
            </a:r>
            <a:r>
              <a:rPr sz="1200" b="1" i="0" u="none">
                <a:solidFill>
                  <a:srgbClr val="000000"/>
                </a:solidFill>
                <a:latin typeface="Times New Roman"/>
                <a:ea typeface="Times New Roman"/>
                <a:cs typeface="Times New Roman"/>
              </a:rPr>
              <a:t>very fast memory shortcut</a:t>
            </a:r>
            <a:r>
              <a:rPr sz="1200" b="0" i="0" u="none">
                <a:solidFill>
                  <a:srgbClr val="000000"/>
                </a:solidFill>
                <a:latin typeface="Times New Roman"/>
                <a:ea typeface="Times New Roman"/>
                <a:cs typeface="Times New Roman"/>
              </a:rPr>
              <a:t> in front of the database.”</a:t>
            </a:r>
            <a:endParaRPr lang="en"/>
          </a:p>
          <a:p>
            <a:pPr marL="0" lvl="0" indent="0" algn="l" rtl="0">
              <a:spcBef>
                <a:spcPts val="0"/>
              </a:spcBef>
              <a:spcAft>
                <a:spcPts val="0"/>
              </a:spcAft>
              <a:buNone/>
              <a:defRPr/>
            </a:pPr>
            <a:r>
              <a:rPr lang="en"/>
              <a:t>[1:35 - 1:40] Draw this flow on the whiteboard. Emphasize that the database does not talk to Redis. *The Application code (Node/Python/Java)* orchestrates the flow logic.</a:t>
            </a:r>
            <a:endParaRPr lang="e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76723584" name="Google Shape;213;SLIDES_API647489343_138: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209944800" name="Google Shape;214;SLIDES_API647489343_138: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r>
              <a:rPr lang="en"/>
              <a:t>[1:40 - 1:55] Explain Time-To-Live (TTL). When you set a key in Redis, you can attach a self-destruct timer. This is how Redis naturally manages memory limits and evicts old data.</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140407256" name="Google Shape;219;SLIDES_API647489343_143: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885319977" name="Google Shape;220;SLIDES_API647489343_143: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Until now you have seen two different worlds.</a:t>
            </a:r>
            <a:endParaRPr/>
          </a:p>
          <a:p>
            <a:pPr>
              <a:defRPr/>
            </a:pPr>
            <a:r>
              <a:rPr sz="1200" b="0" i="0" u="none">
                <a:solidFill>
                  <a:srgbClr val="000000"/>
                </a:solidFill>
                <a:latin typeface="Times New Roman"/>
                <a:ea typeface="Times New Roman"/>
                <a:cs typeface="Times New Roman"/>
              </a:rPr>
              <a:t>First, </a:t>
            </a:r>
            <a:r>
              <a:rPr sz="1200" b="1" i="0" u="none">
                <a:solidFill>
                  <a:srgbClr val="000000"/>
                </a:solidFill>
                <a:latin typeface="Times New Roman"/>
                <a:ea typeface="Times New Roman"/>
                <a:cs typeface="Times New Roman"/>
              </a:rPr>
              <a:t>relational databases</a:t>
            </a:r>
            <a:r>
              <a:rPr sz="1200" b="0" i="0" u="none">
                <a:solidFill>
                  <a:srgbClr val="000000"/>
                </a:solidFill>
                <a:latin typeface="Times New Roman"/>
                <a:ea typeface="Times New Roman"/>
                <a:cs typeface="Times New Roman"/>
              </a:rPr>
              <a:t> like PostgreSQL, which use structured tables with predefined schemas.</a:t>
            </a:r>
            <a:endParaRPr/>
          </a:p>
          <a:p>
            <a:pPr>
              <a:defRPr/>
            </a:pPr>
            <a:r>
              <a:rPr sz="1200" b="0" i="0" u="none">
                <a:solidFill>
                  <a:srgbClr val="000000"/>
                </a:solidFill>
                <a:latin typeface="Times New Roman"/>
                <a:ea typeface="Times New Roman"/>
                <a:cs typeface="Times New Roman"/>
              </a:rPr>
              <a:t>Second, </a:t>
            </a:r>
            <a:r>
              <a:rPr sz="1200" b="1" i="0" u="none">
                <a:solidFill>
                  <a:srgbClr val="000000"/>
                </a:solidFill>
                <a:latin typeface="Times New Roman"/>
                <a:ea typeface="Times New Roman"/>
                <a:cs typeface="Times New Roman"/>
              </a:rPr>
              <a:t>NoSQL systems</a:t>
            </a:r>
            <a:r>
              <a:rPr sz="1200" b="0" i="0" u="none">
                <a:solidFill>
                  <a:srgbClr val="000000"/>
                </a:solidFill>
                <a:latin typeface="Times New Roman"/>
                <a:ea typeface="Times New Roman"/>
                <a:cs typeface="Times New Roman"/>
              </a:rPr>
              <a:t> like Redis, which store flexible key-value data.</a:t>
            </a:r>
            <a:endParaRPr/>
          </a:p>
          <a:p>
            <a:pPr>
              <a:defRPr/>
            </a:pPr>
            <a:r>
              <a:rPr sz="1200" b="0" i="0" u="none">
                <a:solidFill>
                  <a:srgbClr val="000000"/>
                </a:solidFill>
                <a:latin typeface="Times New Roman"/>
                <a:ea typeface="Times New Roman"/>
                <a:cs typeface="Times New Roman"/>
              </a:rPr>
              <a:t>In modern applications we often need both:</a:t>
            </a:r>
            <a:br>
              <a:rPr sz="1200" b="0"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structure and flexibility.</a:t>
            </a:r>
            <a:endParaRPr/>
          </a:p>
          <a:p>
            <a:pPr>
              <a:defRPr/>
            </a:pPr>
            <a:r>
              <a:rPr sz="1200" b="0" i="0" u="none">
                <a:solidFill>
                  <a:srgbClr val="000000"/>
                </a:solidFill>
                <a:latin typeface="Times New Roman"/>
                <a:ea typeface="Times New Roman"/>
                <a:cs typeface="Times New Roman"/>
              </a:rPr>
              <a:t>For example, imagine an online store.</a:t>
            </a:r>
            <a:endParaRPr/>
          </a:p>
          <a:p>
            <a:pPr>
              <a:defRPr/>
            </a:pPr>
            <a:r>
              <a:rPr sz="1200" b="0" i="0" u="none">
                <a:solidFill>
                  <a:srgbClr val="000000"/>
                </a:solidFill>
                <a:latin typeface="Times New Roman"/>
                <a:ea typeface="Times New Roman"/>
                <a:cs typeface="Times New Roman"/>
              </a:rPr>
              <a:t>A laptop product may have fields like:</a:t>
            </a:r>
            <a:endParaRPr/>
          </a:p>
          <a:p>
            <a:pPr>
              <a:defRPr/>
            </a:pPr>
            <a:r>
              <a:rPr sz="1200" b="0" i="0" u="none">
                <a:solidFill>
                  <a:srgbClr val="000000"/>
                </a:solidFill>
                <a:latin typeface="Times New Roman"/>
                <a:ea typeface="Times New Roman"/>
                <a:cs typeface="Times New Roman"/>
              </a:rPr>
              <a:t>RAM</a:t>
            </a:r>
            <a:br>
              <a:rPr sz="1200" b="0"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CPU</a:t>
            </a:r>
            <a:br>
              <a:rPr sz="1200" b="0"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GPU</a:t>
            </a:r>
            <a:endParaRPr/>
          </a:p>
          <a:p>
            <a:pPr>
              <a:defRPr/>
            </a:pPr>
            <a:r>
              <a:rPr sz="1200" b="0" i="0" u="none">
                <a:solidFill>
                  <a:srgbClr val="000000"/>
                </a:solidFill>
                <a:latin typeface="Times New Roman"/>
                <a:ea typeface="Times New Roman"/>
                <a:cs typeface="Times New Roman"/>
              </a:rPr>
              <a:t>A T-shirt product may have fields like:</a:t>
            </a:r>
            <a:endParaRPr/>
          </a:p>
          <a:p>
            <a:pPr>
              <a:defRPr/>
            </a:pPr>
            <a:r>
              <a:rPr sz="1200" b="0" i="0" u="none">
                <a:solidFill>
                  <a:srgbClr val="000000"/>
                </a:solidFill>
                <a:latin typeface="Times New Roman"/>
                <a:ea typeface="Times New Roman"/>
                <a:cs typeface="Times New Roman"/>
              </a:rPr>
              <a:t>size</a:t>
            </a:r>
            <a:br>
              <a:rPr sz="1200" b="0"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color</a:t>
            </a:r>
            <a:br>
              <a:rPr sz="1200" b="0"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fabric</a:t>
            </a:r>
            <a:endParaRPr/>
          </a:p>
          <a:p>
            <a:pPr>
              <a:defRPr/>
            </a:pPr>
            <a:r>
              <a:rPr sz="1200" b="0" i="0" u="none">
                <a:solidFill>
                  <a:srgbClr val="000000"/>
                </a:solidFill>
                <a:latin typeface="Times New Roman"/>
                <a:ea typeface="Times New Roman"/>
                <a:cs typeface="Times New Roman"/>
              </a:rPr>
              <a:t>If we tried to store both products in a traditional relational table, we would end up with many empty columns.</a:t>
            </a:r>
            <a:endParaRPr/>
          </a:p>
          <a:p>
            <a:pPr>
              <a:defRPr/>
            </a:pPr>
            <a:r>
              <a:rPr sz="1200" b="0" i="0" u="none">
                <a:solidFill>
                  <a:srgbClr val="000000"/>
                </a:solidFill>
                <a:latin typeface="Times New Roman"/>
                <a:ea typeface="Times New Roman"/>
                <a:cs typeface="Times New Roman"/>
              </a:rPr>
              <a:t>PostgreSQL solves this problem by allowing us to store </a:t>
            </a:r>
            <a:r>
              <a:rPr sz="1200" b="1" i="0" u="none">
                <a:solidFill>
                  <a:srgbClr val="000000"/>
                </a:solidFill>
                <a:latin typeface="Times New Roman"/>
                <a:ea typeface="Times New Roman"/>
                <a:cs typeface="Times New Roman"/>
              </a:rPr>
              <a:t>JSON data inside relational tables</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This means we can keep the benefits of relational databases while also storing flexible data structures.</a:t>
            </a:r>
            <a:endParaRPr/>
          </a:p>
          <a:p>
            <a:pPr>
              <a:defRPr/>
            </a:pPr>
            <a:r>
              <a:rPr sz="1200" b="0" i="0" u="none">
                <a:solidFill>
                  <a:srgbClr val="000000"/>
                </a:solidFill>
                <a:latin typeface="Times New Roman"/>
                <a:ea typeface="Times New Roman"/>
                <a:cs typeface="Times New Roman"/>
              </a:rPr>
              <a:t>In the following slides you will see examples of JSON data and SQL queries that interact with JSON fields.</a:t>
            </a:r>
            <a:endParaRPr/>
          </a:p>
          <a:p>
            <a:pPr>
              <a:defRPr/>
            </a:pPr>
            <a:r>
              <a:rPr sz="12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Why do modern databases support JSON data?</a:t>
            </a:r>
            <a:endParaRPr/>
          </a:p>
          <a:p>
            <a:pPr>
              <a:defRPr/>
            </a:pPr>
            <a:r>
              <a:rPr sz="1200" b="1" i="0" u="none">
                <a:solidFill>
                  <a:srgbClr val="000000"/>
                </a:solidFill>
                <a:latin typeface="Times New Roman"/>
                <a:ea typeface="Times New Roman"/>
                <a:cs typeface="Times New Roman"/>
              </a:rPr>
              <a:t>Answer</a:t>
            </a:r>
            <a:endParaRPr/>
          </a:p>
          <a:p>
            <a:pPr marL="0" lvl="0" indent="0" algn="l" rtl="0">
              <a:spcBef>
                <a:spcPts val="0"/>
              </a:spcBef>
              <a:spcAft>
                <a:spcPts val="0"/>
              </a:spcAft>
              <a:buNone/>
              <a:defRPr/>
            </a:pPr>
            <a:r>
              <a:rPr sz="1200" b="0" i="0" u="none">
                <a:solidFill>
                  <a:srgbClr val="000000"/>
                </a:solidFill>
                <a:latin typeface="Times New Roman"/>
                <a:ea typeface="Times New Roman"/>
                <a:cs typeface="Times New Roman"/>
              </a:rPr>
              <a:t>Because applications often need flexible data structures that do not fit well into rigid relational schemas.</a:t>
            </a:r>
            <a:endParaRPr/>
          </a:p>
          <a:p>
            <a:pPr marL="0" lvl="0" indent="0" algn="l" rtl="0">
              <a:spcBef>
                <a:spcPts val="0"/>
              </a:spcBef>
              <a:spcAft>
                <a:spcPts val="0"/>
              </a:spcAft>
              <a:buNone/>
              <a:defRPr/>
            </a:pPr>
            <a:endParaRPr lang="en"/>
          </a:p>
          <a:p>
            <a:pPr marL="0" lvl="0" indent="0" algn="l" rtl="0">
              <a:spcBef>
                <a:spcPts val="0"/>
              </a:spcBef>
              <a:spcAft>
                <a:spcPts val="0"/>
              </a:spcAft>
              <a:buNone/>
              <a:defRPr/>
            </a:pPr>
            <a:r>
              <a:rPr lang="en"/>
              <a:t>[2:00 - 2:05] Hour 3 start. Before diving into advanced database concepts, we will do a rapid crash course on JSON data structures to ensure everyone is on the exact same page.</a:t>
            </a:r>
            <a:endParaRPr lang="e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89763979" name="Google Shape;225;SLIDES_API647489343_148: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855294581" name="Google Shape;226;SLIDES_API647489343_148: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1" i="0" u="none">
                <a:solidFill>
                  <a:srgbClr val="000000"/>
                </a:solidFill>
                <a:latin typeface="Times New Roman"/>
                <a:ea typeface="Times New Roman"/>
                <a:cs typeface="Times New Roman"/>
              </a:rPr>
              <a:t>JSON (JavaScript Object Notation)</a:t>
            </a:r>
            <a:r>
              <a:rPr sz="1200" b="0" i="0" u="none">
                <a:solidFill>
                  <a:srgbClr val="000000"/>
                </a:solidFill>
                <a:latin typeface="Times New Roman"/>
                <a:ea typeface="Times New Roman"/>
                <a:cs typeface="Times New Roman"/>
              </a:rPr>
              <a:t> is a lightweight data-interchange format used for storing and transmitting structured data between systems. In modern software systems JSON is one of the most important formats because it allows applications written in different programming languages to communicate with each other. Even though JSON originated from JavaScript syntax, today it is language-independent and is used by Python, Java, Go, C#, databases, and almost every modern backend framework.</a:t>
            </a:r>
            <a:endParaRPr/>
          </a:p>
          <a:p>
            <a:pPr>
              <a:defRPr/>
            </a:pPr>
            <a:r>
              <a:rPr sz="1200" b="0" i="0" u="none">
                <a:solidFill>
                  <a:srgbClr val="000000"/>
                </a:solidFill>
                <a:latin typeface="Times New Roman"/>
                <a:ea typeface="Times New Roman"/>
                <a:cs typeface="Times New Roman"/>
              </a:rPr>
              <a:t>JSON is built on two fundamental structures. The first structure is a </a:t>
            </a:r>
            <a:r>
              <a:rPr sz="1200" b="1" i="0" u="none">
                <a:solidFill>
                  <a:srgbClr val="000000"/>
                </a:solidFill>
                <a:latin typeface="Times New Roman"/>
                <a:ea typeface="Times New Roman"/>
                <a:cs typeface="Times New Roman"/>
              </a:rPr>
              <a:t>collection of name–value pairs</a:t>
            </a:r>
            <a:r>
              <a:rPr sz="1200" b="0" i="0" u="none">
                <a:solidFill>
                  <a:srgbClr val="000000"/>
                </a:solidFill>
                <a:latin typeface="Times New Roman"/>
                <a:ea typeface="Times New Roman"/>
                <a:cs typeface="Times New Roman"/>
              </a:rPr>
              <a:t>, also called an </a:t>
            </a:r>
            <a:r>
              <a:rPr sz="1200" b="1" i="0" u="none">
                <a:solidFill>
                  <a:srgbClr val="000000"/>
                </a:solidFill>
                <a:latin typeface="Times New Roman"/>
                <a:ea typeface="Times New Roman"/>
                <a:cs typeface="Times New Roman"/>
              </a:rPr>
              <a:t>object</a:t>
            </a:r>
            <a:r>
              <a:rPr sz="1200" b="0" i="0" u="none">
                <a:solidFill>
                  <a:srgbClr val="000000"/>
                </a:solidFill>
                <a:latin typeface="Times New Roman"/>
                <a:ea typeface="Times New Roman"/>
                <a:cs typeface="Times New Roman"/>
              </a:rPr>
              <a:t>. The second structure is an </a:t>
            </a:r>
            <a:r>
              <a:rPr sz="1200" b="1" i="0" u="none">
                <a:solidFill>
                  <a:srgbClr val="000000"/>
                </a:solidFill>
                <a:latin typeface="Times New Roman"/>
                <a:ea typeface="Times New Roman"/>
                <a:cs typeface="Times New Roman"/>
              </a:rPr>
              <a:t>ordered list of values</a:t>
            </a:r>
            <a:r>
              <a:rPr sz="1200" b="0" i="0" u="none">
                <a:solidFill>
                  <a:srgbClr val="000000"/>
                </a:solidFill>
                <a:latin typeface="Times New Roman"/>
                <a:ea typeface="Times New Roman"/>
                <a:cs typeface="Times New Roman"/>
              </a:rPr>
              <a:t>, called an </a:t>
            </a:r>
            <a:r>
              <a:rPr sz="1200" b="1" i="0" u="none">
                <a:solidFill>
                  <a:srgbClr val="000000"/>
                </a:solidFill>
                <a:latin typeface="Times New Roman"/>
                <a:ea typeface="Times New Roman"/>
                <a:cs typeface="Times New Roman"/>
              </a:rPr>
              <a:t>array</a:t>
            </a:r>
            <a:r>
              <a:rPr sz="1200" b="0" i="0" u="none">
                <a:solidFill>
                  <a:srgbClr val="000000"/>
                </a:solidFill>
                <a:latin typeface="Times New Roman"/>
                <a:ea typeface="Times New Roman"/>
                <a:cs typeface="Times New Roman"/>
              </a:rPr>
              <a:t>. These two structures allow JSON to represent both simple and complex hierarchical data.</a:t>
            </a:r>
            <a:endParaRPr/>
          </a:p>
          <a:p>
            <a:pPr>
              <a:defRPr/>
            </a:pPr>
            <a:r>
              <a:rPr sz="1200" b="0" i="0" u="none">
                <a:solidFill>
                  <a:srgbClr val="000000"/>
                </a:solidFill>
                <a:latin typeface="Times New Roman"/>
                <a:ea typeface="Times New Roman"/>
                <a:cs typeface="Times New Roman"/>
              </a:rPr>
              <a:t>In the example JSON object shown in the slide, the structure uses curly braces </a:t>
            </a:r>
            <a:r>
              <a:rPr sz="1000" b="0" i="0" u="none">
                <a:solidFill>
                  <a:srgbClr val="000000"/>
                </a:solidFill>
                <a:latin typeface="Courier New"/>
                <a:ea typeface="Courier New"/>
                <a:cs typeface="Courier New"/>
              </a:rPr>
              <a:t>{}</a:t>
            </a:r>
            <a:r>
              <a:rPr sz="1200" b="0" i="0" u="none">
                <a:solidFill>
                  <a:srgbClr val="000000"/>
                </a:solidFill>
                <a:latin typeface="Times New Roman"/>
                <a:ea typeface="Times New Roman"/>
                <a:cs typeface="Times New Roman"/>
              </a:rPr>
              <a:t> to define an object. Inside the object we see keys and values separated by a colon. The key </a:t>
            </a:r>
            <a:r>
              <a:rPr sz="1000" b="0" i="0" u="none">
                <a:solidFill>
                  <a:srgbClr val="000000"/>
                </a:solidFill>
                <a:latin typeface="Courier New"/>
                <a:ea typeface="Courier New"/>
                <a:cs typeface="Courier New"/>
              </a:rPr>
              <a:t>"key"</a:t>
            </a:r>
            <a:r>
              <a:rPr sz="1200" b="0" i="0" u="none">
                <a:solidFill>
                  <a:srgbClr val="000000"/>
                </a:solidFill>
                <a:latin typeface="Times New Roman"/>
                <a:ea typeface="Times New Roman"/>
                <a:cs typeface="Times New Roman"/>
              </a:rPr>
              <a:t> maps to the value </a:t>
            </a:r>
            <a:r>
              <a:rPr sz="1000" b="0" i="0" u="none">
                <a:solidFill>
                  <a:srgbClr val="000000"/>
                </a:solidFill>
                <a:latin typeface="Courier New"/>
                <a:ea typeface="Courier New"/>
                <a:cs typeface="Courier New"/>
              </a:rPr>
              <a:t>"value"</a:t>
            </a:r>
            <a:r>
              <a:rPr sz="1200" b="0" i="0" u="none">
                <a:solidFill>
                  <a:srgbClr val="000000"/>
                </a:solidFill>
                <a:latin typeface="Times New Roman"/>
                <a:ea typeface="Times New Roman"/>
                <a:cs typeface="Times New Roman"/>
              </a:rPr>
              <a:t> and the key </a:t>
            </a:r>
            <a:r>
              <a:rPr sz="1000" b="0" i="0" u="none">
                <a:solidFill>
                  <a:srgbClr val="000000"/>
                </a:solidFill>
                <a:latin typeface="Courier New"/>
                <a:ea typeface="Courier New"/>
                <a:cs typeface="Courier New"/>
              </a:rPr>
              <a:t>"language"</a:t>
            </a:r>
            <a:r>
              <a:rPr sz="1200" b="0" i="0" u="none">
                <a:solidFill>
                  <a:srgbClr val="000000"/>
                </a:solidFill>
                <a:latin typeface="Times New Roman"/>
                <a:ea typeface="Times New Roman"/>
                <a:cs typeface="Times New Roman"/>
              </a:rPr>
              <a:t> maps to </a:t>
            </a:r>
            <a:r>
              <a:rPr sz="1000" b="0" i="0" u="none">
                <a:solidFill>
                  <a:srgbClr val="000000"/>
                </a:solidFill>
                <a:latin typeface="Courier New"/>
                <a:ea typeface="Courier New"/>
                <a:cs typeface="Courier New"/>
              </a:rPr>
              <a:t>"Agnostic"</a:t>
            </a:r>
            <a:r>
              <a:rPr sz="1200" b="0" i="0" u="none">
                <a:solidFill>
                  <a:srgbClr val="000000"/>
                </a:solidFill>
                <a:latin typeface="Times New Roman"/>
                <a:ea typeface="Times New Roman"/>
                <a:cs typeface="Times New Roman"/>
              </a:rPr>
              <a:t>. One important rule is that JSON keys must always be enclosed in </a:t>
            </a:r>
            <a:r>
              <a:rPr sz="1200" b="1" i="0" u="none">
                <a:solidFill>
                  <a:srgbClr val="000000"/>
                </a:solidFill>
                <a:latin typeface="Times New Roman"/>
                <a:ea typeface="Times New Roman"/>
                <a:cs typeface="Times New Roman"/>
              </a:rPr>
              <a:t>double quotes</a:t>
            </a:r>
            <a:r>
              <a:rPr sz="1200" b="0" i="0" u="none">
                <a:solidFill>
                  <a:srgbClr val="000000"/>
                </a:solidFill>
                <a:latin typeface="Times New Roman"/>
                <a:ea typeface="Times New Roman"/>
                <a:cs typeface="Times New Roman"/>
              </a:rPr>
              <a:t>. This strict syntax rule ensures consistent parsing across programming languages.</a:t>
            </a:r>
            <a:endParaRPr/>
          </a:p>
          <a:p>
            <a:pPr>
              <a:defRPr/>
            </a:pPr>
            <a:r>
              <a:rPr sz="1200" b="0" i="0" u="none">
                <a:solidFill>
                  <a:srgbClr val="000000"/>
                </a:solidFill>
                <a:latin typeface="Times New Roman"/>
                <a:ea typeface="Times New Roman"/>
                <a:cs typeface="Times New Roman"/>
              </a:rPr>
              <a:t>JSON became the dominant data format on the web because it is simple, human-readable, compact, and easily parsed by machines. For example, when a web browser sends a request to a backend server, the response is very often returned as JSON. Similarly, modern APIs such as those used by mobile applications or microservices almost always exchange data in JSON format.</a:t>
            </a:r>
            <a:endParaRPr/>
          </a:p>
          <a:p>
            <a:pPr>
              <a:defRPr/>
            </a:pPr>
            <a:r>
              <a:rPr sz="1200" b="1" i="0" u="none">
                <a:solidFill>
                  <a:srgbClr val="000000"/>
                </a:solidFill>
                <a:latin typeface="Times New Roman"/>
                <a:ea typeface="Times New Roman"/>
                <a:cs typeface="Times New Roman"/>
              </a:rPr>
              <a:t>Interview Question:</a:t>
            </a:r>
            <a:r>
              <a:rPr sz="1200" b="0" i="0" u="none">
                <a:solidFill>
                  <a:srgbClr val="000000"/>
                </a:solidFill>
                <a:latin typeface="Times New Roman"/>
                <a:ea typeface="Times New Roman"/>
                <a:cs typeface="Times New Roman"/>
              </a:rPr>
              <a:t> What is JSON and why is it widely used in web systems?</a:t>
            </a:r>
            <a:br>
              <a:rPr sz="1200" b="0"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Answer:</a:t>
            </a:r>
            <a:r>
              <a:rPr sz="1200" b="0" i="0" u="none">
                <a:solidFill>
                  <a:srgbClr val="000000"/>
                </a:solidFill>
                <a:latin typeface="Times New Roman"/>
                <a:ea typeface="Times New Roman"/>
                <a:cs typeface="Times New Roman"/>
              </a:rPr>
              <a:t> JSON is a lightweight data-interchange format used to transmit structured data between systems. It is widely used because it is easy to read, easy to parse, language-independent, and well suited for web APIs and distributed systems.</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77863425" name="Google Shape;233;SLIDES_API647489343_155: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65951331" name="Google Shape;234;SLIDES_API647489343_155: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A JSON object maps </a:t>
            </a:r>
            <a:r>
              <a:rPr sz="1200" b="1" i="0" u="none">
                <a:solidFill>
                  <a:srgbClr val="000000"/>
                </a:solidFill>
                <a:latin typeface="Times New Roman"/>
                <a:ea typeface="Times New Roman"/>
                <a:cs typeface="Times New Roman"/>
              </a:rPr>
              <a:t>string keys to values</a:t>
            </a:r>
            <a:r>
              <a:rPr sz="1200" b="0" i="0" u="none">
                <a:solidFill>
                  <a:srgbClr val="000000"/>
                </a:solidFill>
                <a:latin typeface="Times New Roman"/>
                <a:ea typeface="Times New Roman"/>
                <a:cs typeface="Times New Roman"/>
              </a:rPr>
              <a:t>, and these values can be of several primitive types. JSON supports four basic primitive data types: strings, numbers, booleans, and null.</a:t>
            </a:r>
            <a:endParaRPr/>
          </a:p>
          <a:p>
            <a:pPr>
              <a:defRPr/>
            </a:pPr>
            <a:r>
              <a:rPr sz="1200" b="0" i="0" u="none">
                <a:solidFill>
                  <a:srgbClr val="000000"/>
                </a:solidFill>
                <a:latin typeface="Times New Roman"/>
                <a:ea typeface="Times New Roman"/>
                <a:cs typeface="Times New Roman"/>
              </a:rPr>
              <a:t>In the example JSON structure the object begins with a curly brace and contains four key–value pairs. The first pair is </a:t>
            </a:r>
            <a:r>
              <a:rPr sz="1000" b="0" i="0" u="none">
                <a:solidFill>
                  <a:srgbClr val="000000"/>
                </a:solidFill>
                <a:latin typeface="Courier New"/>
                <a:ea typeface="Courier New"/>
                <a:cs typeface="Courier New"/>
              </a:rPr>
              <a:t>"username": "jdoe99"</a:t>
            </a:r>
            <a:r>
              <a:rPr sz="1200" b="0" i="0" u="none">
                <a:solidFill>
                  <a:srgbClr val="000000"/>
                </a:solidFill>
                <a:latin typeface="Times New Roman"/>
                <a:ea typeface="Times New Roman"/>
                <a:cs typeface="Times New Roman"/>
              </a:rPr>
              <a:t>. Here </a:t>
            </a:r>
            <a:r>
              <a:rPr sz="1000" b="0" i="0" u="none">
                <a:solidFill>
                  <a:srgbClr val="000000"/>
                </a:solidFill>
                <a:latin typeface="Courier New"/>
                <a:ea typeface="Courier New"/>
                <a:cs typeface="Courier New"/>
              </a:rPr>
              <a:t>"username"</a:t>
            </a:r>
            <a:r>
              <a:rPr sz="1200" b="0" i="0" u="none">
                <a:solidFill>
                  <a:srgbClr val="000000"/>
                </a:solidFill>
                <a:latin typeface="Times New Roman"/>
                <a:ea typeface="Times New Roman"/>
                <a:cs typeface="Times New Roman"/>
              </a:rPr>
              <a:t> is the key and </a:t>
            </a:r>
            <a:r>
              <a:rPr sz="1000" b="0" i="0" u="none">
                <a:solidFill>
                  <a:srgbClr val="000000"/>
                </a:solidFill>
                <a:latin typeface="Courier New"/>
                <a:ea typeface="Courier New"/>
                <a:cs typeface="Courier New"/>
              </a:rPr>
              <a:t>"jdoe99"</a:t>
            </a:r>
            <a:r>
              <a:rPr sz="1200" b="0" i="0" u="none">
                <a:solidFill>
                  <a:srgbClr val="000000"/>
                </a:solidFill>
                <a:latin typeface="Times New Roman"/>
                <a:ea typeface="Times New Roman"/>
                <a:cs typeface="Times New Roman"/>
              </a:rPr>
              <a:t> is a string value. JSON strings must always be enclosed in double quotes.</a:t>
            </a:r>
            <a:endParaRPr/>
          </a:p>
          <a:p>
            <a:pPr>
              <a:defRPr/>
            </a:pPr>
            <a:r>
              <a:rPr sz="1200" b="0" i="0" u="none">
                <a:solidFill>
                  <a:srgbClr val="000000"/>
                </a:solidFill>
                <a:latin typeface="Times New Roman"/>
                <a:ea typeface="Times New Roman"/>
                <a:cs typeface="Times New Roman"/>
              </a:rPr>
              <a:t>The next pair is </a:t>
            </a:r>
            <a:r>
              <a:rPr sz="1000" b="0" i="0" u="none">
                <a:solidFill>
                  <a:srgbClr val="000000"/>
                </a:solidFill>
                <a:latin typeface="Courier New"/>
                <a:ea typeface="Courier New"/>
                <a:cs typeface="Courier New"/>
              </a:rPr>
              <a:t>"age": 25</a:t>
            </a:r>
            <a:r>
              <a:rPr sz="1200" b="0" i="0" u="none">
                <a:solidFill>
                  <a:srgbClr val="000000"/>
                </a:solidFill>
                <a:latin typeface="Times New Roman"/>
                <a:ea typeface="Times New Roman"/>
                <a:cs typeface="Times New Roman"/>
              </a:rPr>
              <a:t>. In this case the value is a number. JSON numbers can represent both integers and floating-point values. Unlike strings, numbers must not be enclosed in quotes.</a:t>
            </a:r>
            <a:endParaRPr/>
          </a:p>
          <a:p>
            <a:pPr>
              <a:defRPr/>
            </a:pPr>
            <a:r>
              <a:rPr sz="1200" b="0" i="0" u="none">
                <a:solidFill>
                  <a:srgbClr val="000000"/>
                </a:solidFill>
                <a:latin typeface="Times New Roman"/>
                <a:ea typeface="Times New Roman"/>
                <a:cs typeface="Times New Roman"/>
              </a:rPr>
              <a:t>The next field is </a:t>
            </a:r>
            <a:r>
              <a:rPr sz="1000" b="0" i="0" u="none">
                <a:solidFill>
                  <a:srgbClr val="000000"/>
                </a:solidFill>
                <a:latin typeface="Courier New"/>
                <a:ea typeface="Courier New"/>
                <a:cs typeface="Courier New"/>
              </a:rPr>
              <a:t>"is_student": true</a:t>
            </a:r>
            <a:r>
              <a:rPr sz="1200" b="0" i="0" u="none">
                <a:solidFill>
                  <a:srgbClr val="000000"/>
                </a:solidFill>
                <a:latin typeface="Times New Roman"/>
                <a:ea typeface="Times New Roman"/>
                <a:cs typeface="Times New Roman"/>
              </a:rPr>
              <a:t>. This value is a boolean. JSON supports only two boolean values, which are </a:t>
            </a:r>
            <a:r>
              <a:rPr sz="1000" b="0" i="0" u="none">
                <a:solidFill>
                  <a:srgbClr val="000000"/>
                </a:solidFill>
                <a:latin typeface="Courier New"/>
                <a:ea typeface="Courier New"/>
                <a:cs typeface="Courier New"/>
              </a:rPr>
              <a:t>true</a:t>
            </a:r>
            <a:r>
              <a:rPr sz="1200" b="0" i="0" u="none">
                <a:solidFill>
                  <a:srgbClr val="000000"/>
                </a:solidFill>
                <a:latin typeface="Times New Roman"/>
                <a:ea typeface="Times New Roman"/>
                <a:cs typeface="Times New Roman"/>
              </a:rPr>
              <a:t> and </a:t>
            </a:r>
            <a:r>
              <a:rPr sz="1000" b="0" i="0" u="none">
                <a:solidFill>
                  <a:srgbClr val="000000"/>
                </a:solidFill>
                <a:latin typeface="Courier New"/>
                <a:ea typeface="Courier New"/>
                <a:cs typeface="Courier New"/>
              </a:rPr>
              <a:t>false</a:t>
            </a:r>
            <a:r>
              <a:rPr sz="1200" b="0" i="0" u="none">
                <a:solidFill>
                  <a:srgbClr val="000000"/>
                </a:solidFill>
                <a:latin typeface="Times New Roman"/>
                <a:ea typeface="Times New Roman"/>
                <a:cs typeface="Times New Roman"/>
              </a:rPr>
              <a:t>, and they must be written in lowercase.</a:t>
            </a:r>
            <a:endParaRPr/>
          </a:p>
          <a:p>
            <a:pPr>
              <a:defRPr/>
            </a:pPr>
            <a:r>
              <a:rPr sz="1200" b="0" i="0" u="none">
                <a:solidFill>
                  <a:srgbClr val="000000"/>
                </a:solidFill>
                <a:latin typeface="Times New Roman"/>
                <a:ea typeface="Times New Roman"/>
                <a:cs typeface="Times New Roman"/>
              </a:rPr>
              <a:t>The final field is </a:t>
            </a:r>
            <a:r>
              <a:rPr sz="1000" b="0" i="0" u="none">
                <a:solidFill>
                  <a:srgbClr val="000000"/>
                </a:solidFill>
                <a:latin typeface="Courier New"/>
                <a:ea typeface="Courier New"/>
                <a:cs typeface="Courier New"/>
              </a:rPr>
              <a:t>"graduation_date": null</a:t>
            </a:r>
            <a:r>
              <a:rPr sz="1200" b="0" i="0" u="none">
                <a:solidFill>
                  <a:srgbClr val="000000"/>
                </a:solidFill>
                <a:latin typeface="Times New Roman"/>
                <a:ea typeface="Times New Roman"/>
                <a:cs typeface="Times New Roman"/>
              </a:rPr>
              <a:t>. The value </a:t>
            </a:r>
            <a:r>
              <a:rPr sz="1000" b="0" i="0" u="none">
                <a:solidFill>
                  <a:srgbClr val="000000"/>
                </a:solidFill>
                <a:latin typeface="Courier New"/>
                <a:ea typeface="Courier New"/>
                <a:cs typeface="Courier New"/>
              </a:rPr>
              <a:t>null</a:t>
            </a:r>
            <a:r>
              <a:rPr sz="1200" b="0" i="0" u="none">
                <a:solidFill>
                  <a:srgbClr val="000000"/>
                </a:solidFill>
                <a:latin typeface="Times New Roman"/>
                <a:ea typeface="Times New Roman"/>
                <a:cs typeface="Times New Roman"/>
              </a:rPr>
              <a:t> represents the absence of data. It is often used when information is unknown or intentionally left empty.</a:t>
            </a:r>
            <a:endParaRPr/>
          </a:p>
          <a:p>
            <a:pPr>
              <a:defRPr/>
            </a:pPr>
            <a:r>
              <a:rPr sz="1200" b="0" i="0" u="none">
                <a:solidFill>
                  <a:srgbClr val="000000"/>
                </a:solidFill>
                <a:latin typeface="Times New Roman"/>
                <a:ea typeface="Times New Roman"/>
                <a:cs typeface="Times New Roman"/>
              </a:rPr>
              <a:t>Understanding these primitive types is important because JSON is often used to represent structured objects such as users, products, or configuration settings. Each field of the object stores a specific piece of information.</a:t>
            </a:r>
            <a:endParaRPr/>
          </a:p>
          <a:p>
            <a:pPr>
              <a:defRPr/>
            </a:pPr>
            <a:r>
              <a:rPr sz="1200" b="1" i="0" u="none">
                <a:solidFill>
                  <a:srgbClr val="000000"/>
                </a:solidFill>
                <a:latin typeface="Times New Roman"/>
                <a:ea typeface="Times New Roman"/>
                <a:cs typeface="Times New Roman"/>
              </a:rPr>
              <a:t>Interview Question:</a:t>
            </a:r>
            <a:r>
              <a:rPr sz="1200" b="0" i="0" u="none">
                <a:solidFill>
                  <a:srgbClr val="000000"/>
                </a:solidFill>
                <a:latin typeface="Times New Roman"/>
                <a:ea typeface="Times New Roman"/>
                <a:cs typeface="Times New Roman"/>
              </a:rPr>
              <a:t> What primitive data types exist in JSON?</a:t>
            </a:r>
            <a:br>
              <a:rPr sz="1200" b="0"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Answer:</a:t>
            </a:r>
            <a:r>
              <a:rPr sz="1200" b="0" i="0" u="none">
                <a:solidFill>
                  <a:srgbClr val="000000"/>
                </a:solidFill>
                <a:latin typeface="Times New Roman"/>
                <a:ea typeface="Times New Roman"/>
                <a:cs typeface="Times New Roman"/>
              </a:rPr>
              <a:t> JSON supports strings, numbers, booleans, and null values.</a:t>
            </a:r>
            <a:endParaRPr/>
          </a:p>
          <a:p>
            <a:pPr>
              <a:defRPr/>
            </a:pPr>
            <a:r>
              <a:rPr sz="1200" b="1" i="0" u="none">
                <a:solidFill>
                  <a:srgbClr val="000000"/>
                </a:solidFill>
                <a:latin typeface="Times New Roman"/>
                <a:ea typeface="Times New Roman"/>
                <a:cs typeface="Times New Roman"/>
              </a:rPr>
              <a:t>Interview Question:</a:t>
            </a:r>
            <a:r>
              <a:rPr sz="1200" b="0" i="0" u="none">
                <a:solidFill>
                  <a:srgbClr val="000000"/>
                </a:solidFill>
                <a:latin typeface="Times New Roman"/>
                <a:ea typeface="Times New Roman"/>
                <a:cs typeface="Times New Roman"/>
              </a:rPr>
              <a:t> What is the difference between </a:t>
            </a:r>
            <a:r>
              <a:rPr sz="1000" b="0" i="0" u="none">
                <a:solidFill>
                  <a:srgbClr val="000000"/>
                </a:solidFill>
                <a:latin typeface="Courier New"/>
                <a:ea typeface="Courier New"/>
                <a:cs typeface="Courier New"/>
              </a:rPr>
              <a:t>"25"</a:t>
            </a:r>
            <a:r>
              <a:rPr sz="1200" b="0" i="0" u="none">
                <a:solidFill>
                  <a:srgbClr val="000000"/>
                </a:solidFill>
                <a:latin typeface="Times New Roman"/>
                <a:ea typeface="Times New Roman"/>
                <a:cs typeface="Times New Roman"/>
              </a:rPr>
              <a:t> and </a:t>
            </a:r>
            <a:r>
              <a:rPr sz="1000" b="0" i="0" u="none">
                <a:solidFill>
                  <a:srgbClr val="000000"/>
                </a:solidFill>
                <a:latin typeface="Courier New"/>
                <a:ea typeface="Courier New"/>
                <a:cs typeface="Courier New"/>
              </a:rPr>
              <a:t>25</a:t>
            </a:r>
            <a:r>
              <a:rPr sz="1200" b="0" i="0" u="none">
                <a:solidFill>
                  <a:srgbClr val="000000"/>
                </a:solidFill>
                <a:latin typeface="Times New Roman"/>
                <a:ea typeface="Times New Roman"/>
                <a:cs typeface="Times New Roman"/>
              </a:rPr>
              <a:t> in JSON?</a:t>
            </a:r>
            <a:br>
              <a:rPr sz="1200" b="0"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Answer:</a:t>
            </a:r>
            <a:r>
              <a:rPr sz="1200" b="0" i="0" u="none">
                <a:solidFill>
                  <a:srgbClr val="000000"/>
                </a:solidFill>
                <a:latin typeface="Times New Roman"/>
                <a:ea typeface="Times New Roman"/>
                <a:cs typeface="Times New Roman"/>
              </a:rPr>
              <a:t> </a:t>
            </a:r>
            <a:r>
              <a:rPr sz="1000" b="0" i="0" u="none">
                <a:solidFill>
                  <a:srgbClr val="000000"/>
                </a:solidFill>
                <a:latin typeface="Courier New"/>
                <a:ea typeface="Courier New"/>
                <a:cs typeface="Courier New"/>
              </a:rPr>
              <a:t>"25"</a:t>
            </a:r>
            <a:r>
              <a:rPr sz="1200" b="0" i="0" u="none">
                <a:solidFill>
                  <a:srgbClr val="000000"/>
                </a:solidFill>
                <a:latin typeface="Times New Roman"/>
                <a:ea typeface="Times New Roman"/>
                <a:cs typeface="Times New Roman"/>
              </a:rPr>
              <a:t> is a string while </a:t>
            </a:r>
            <a:r>
              <a:rPr sz="1000" b="0" i="0" u="none">
                <a:solidFill>
                  <a:srgbClr val="000000"/>
                </a:solidFill>
                <a:latin typeface="Courier New"/>
                <a:ea typeface="Courier New"/>
                <a:cs typeface="Courier New"/>
              </a:rPr>
              <a:t>25</a:t>
            </a:r>
            <a:r>
              <a:rPr sz="1200" b="0" i="0" u="none">
                <a:solidFill>
                  <a:srgbClr val="000000"/>
                </a:solidFill>
                <a:latin typeface="Times New Roman"/>
                <a:ea typeface="Times New Roman"/>
                <a:cs typeface="Times New Roman"/>
              </a:rPr>
              <a:t> is a numeric value. The difference is important because programming languages treat them differently during processing.</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5361460" name="Google Shape;241;SLIDES_API647489343_162: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381702049" name="Google Shape;242;SLIDES_API647489343_162: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JSON allows objects to contain other objects as values. This capability enables JSON to represent hierarchical and complex data structures.</a:t>
            </a:r>
            <a:endParaRPr/>
          </a:p>
          <a:p>
            <a:pPr>
              <a:defRPr/>
            </a:pPr>
            <a:r>
              <a:rPr sz="1200" b="0" i="0" u="none">
                <a:solidFill>
                  <a:srgbClr val="000000"/>
                </a:solidFill>
                <a:latin typeface="Times New Roman"/>
                <a:ea typeface="Times New Roman"/>
                <a:cs typeface="Times New Roman"/>
              </a:rPr>
              <a:t>In the example shown in the slide, the object represents a product. The first attribute </a:t>
            </a:r>
            <a:r>
              <a:rPr sz="1000" b="0" i="0" u="none">
                <a:solidFill>
                  <a:srgbClr val="000000"/>
                </a:solidFill>
                <a:latin typeface="Courier New"/>
                <a:ea typeface="Courier New"/>
                <a:cs typeface="Courier New"/>
              </a:rPr>
              <a:t>"product_name": "Gaming Laptop"</a:t>
            </a:r>
            <a:r>
              <a:rPr sz="1200" b="0" i="0" u="none">
                <a:solidFill>
                  <a:srgbClr val="000000"/>
                </a:solidFill>
                <a:latin typeface="Times New Roman"/>
                <a:ea typeface="Times New Roman"/>
                <a:cs typeface="Times New Roman"/>
              </a:rPr>
              <a:t> stores the name of the product. The second attribute </a:t>
            </a:r>
            <a:r>
              <a:rPr sz="1000" b="0" i="0" u="none">
                <a:solidFill>
                  <a:srgbClr val="000000"/>
                </a:solidFill>
                <a:latin typeface="Courier New"/>
                <a:ea typeface="Courier New"/>
                <a:cs typeface="Courier New"/>
              </a:rPr>
              <a:t>"specifications"</a:t>
            </a:r>
            <a:r>
              <a:rPr sz="1200" b="0" i="0" u="none">
                <a:solidFill>
                  <a:srgbClr val="000000"/>
                </a:solidFill>
                <a:latin typeface="Times New Roman"/>
                <a:ea typeface="Times New Roman"/>
                <a:cs typeface="Times New Roman"/>
              </a:rPr>
              <a:t> contains another object. Instead of storing a simple value, the </a:t>
            </a:r>
            <a:r>
              <a:rPr sz="1000" b="0" i="0" u="none">
                <a:solidFill>
                  <a:srgbClr val="000000"/>
                </a:solidFill>
                <a:latin typeface="Courier New"/>
                <a:ea typeface="Courier New"/>
                <a:cs typeface="Courier New"/>
              </a:rPr>
              <a:t>"specifications"</a:t>
            </a:r>
            <a:r>
              <a:rPr sz="1200" b="0" i="0" u="none">
                <a:solidFill>
                  <a:srgbClr val="000000"/>
                </a:solidFill>
                <a:latin typeface="Times New Roman"/>
                <a:ea typeface="Times New Roman"/>
                <a:cs typeface="Times New Roman"/>
              </a:rPr>
              <a:t> key stores an entire nested structure.</a:t>
            </a:r>
            <a:endParaRPr/>
          </a:p>
          <a:p>
            <a:pPr>
              <a:defRPr/>
            </a:pPr>
            <a:r>
              <a:rPr sz="1200" b="0" i="0" u="none">
                <a:solidFill>
                  <a:srgbClr val="000000"/>
                </a:solidFill>
                <a:latin typeface="Times New Roman"/>
                <a:ea typeface="Times New Roman"/>
                <a:cs typeface="Times New Roman"/>
              </a:rPr>
              <a:t>Inside the specifications object we see fields such as </a:t>
            </a:r>
            <a:r>
              <a:rPr sz="1000" b="0" i="0" u="none">
                <a:solidFill>
                  <a:srgbClr val="000000"/>
                </a:solidFill>
                <a:latin typeface="Courier New"/>
                <a:ea typeface="Courier New"/>
                <a:cs typeface="Courier New"/>
              </a:rPr>
              <a:t>"cpu": "Intel Core i9"</a:t>
            </a:r>
            <a:r>
              <a:rPr sz="1200" b="0" i="0" u="none">
                <a:solidFill>
                  <a:srgbClr val="000000"/>
                </a:solidFill>
                <a:latin typeface="Times New Roman"/>
                <a:ea typeface="Times New Roman"/>
                <a:cs typeface="Times New Roman"/>
              </a:rPr>
              <a:t> and </a:t>
            </a:r>
            <a:r>
              <a:rPr sz="1000" b="0" i="0" u="none">
                <a:solidFill>
                  <a:srgbClr val="000000"/>
                </a:solidFill>
                <a:latin typeface="Courier New"/>
                <a:ea typeface="Courier New"/>
                <a:cs typeface="Courier New"/>
              </a:rPr>
              <a:t>"ram": "32GB"</a:t>
            </a:r>
            <a:r>
              <a:rPr sz="1200" b="0" i="0" u="none">
                <a:solidFill>
                  <a:srgbClr val="000000"/>
                </a:solidFill>
                <a:latin typeface="Times New Roman"/>
                <a:ea typeface="Times New Roman"/>
                <a:cs typeface="Times New Roman"/>
              </a:rPr>
              <a:t>. These fields describe technical attributes of the product. Another field called </a:t>
            </a:r>
            <a:r>
              <a:rPr sz="1000" b="0" i="0" u="none">
                <a:solidFill>
                  <a:srgbClr val="000000"/>
                </a:solidFill>
                <a:latin typeface="Courier New"/>
                <a:ea typeface="Courier New"/>
                <a:cs typeface="Courier New"/>
              </a:rPr>
              <a:t>"dimensions"</a:t>
            </a:r>
            <a:r>
              <a:rPr sz="1200" b="0" i="0" u="none">
                <a:solidFill>
                  <a:srgbClr val="000000"/>
                </a:solidFill>
                <a:latin typeface="Times New Roman"/>
                <a:ea typeface="Times New Roman"/>
                <a:cs typeface="Times New Roman"/>
              </a:rPr>
              <a:t> contains yet another nested object. Inside the dimensions object there is a field </a:t>
            </a:r>
            <a:r>
              <a:rPr sz="1000" b="0" i="0" u="none">
                <a:solidFill>
                  <a:srgbClr val="000000"/>
                </a:solidFill>
                <a:latin typeface="Courier New"/>
                <a:ea typeface="Courier New"/>
                <a:cs typeface="Courier New"/>
              </a:rPr>
              <a:t>"width_cm": 35.9</a:t>
            </a:r>
            <a:r>
              <a:rPr sz="1200" b="0" i="0" u="none">
                <a:solidFill>
                  <a:srgbClr val="000000"/>
                </a:solidFill>
                <a:latin typeface="Times New Roman"/>
                <a:ea typeface="Times New Roman"/>
                <a:cs typeface="Times New Roman"/>
              </a:rPr>
              <a:t> representing the width of the laptop.</a:t>
            </a:r>
            <a:endParaRPr/>
          </a:p>
          <a:p>
            <a:pPr>
              <a:defRPr/>
            </a:pPr>
            <a:r>
              <a:rPr sz="1200" b="0" i="0" u="none">
                <a:solidFill>
                  <a:srgbClr val="000000"/>
                </a:solidFill>
                <a:latin typeface="Times New Roman"/>
                <a:ea typeface="Times New Roman"/>
                <a:cs typeface="Times New Roman"/>
              </a:rPr>
              <a:t>This example demonstrates how JSON can represent deeply structured data. Instead of flattening all attributes into a single list, nested objects allow related data to be grouped logically. This makes JSON particularly suitable for representing objects in programming languages.</a:t>
            </a:r>
            <a:endParaRPr/>
          </a:p>
          <a:p>
            <a:pPr>
              <a:defRPr/>
            </a:pPr>
            <a:r>
              <a:rPr sz="1200" b="0" i="0" u="none">
                <a:solidFill>
                  <a:srgbClr val="000000"/>
                </a:solidFill>
                <a:latin typeface="Times New Roman"/>
                <a:ea typeface="Times New Roman"/>
                <a:cs typeface="Times New Roman"/>
              </a:rPr>
              <a:t>Nested structures are extremely common in modern APIs. For example, an e-commerce API might return a product object containing nested objects for specifications, reviews, shipping information, and manufacturer details.</a:t>
            </a:r>
            <a:endParaRPr/>
          </a:p>
          <a:p>
            <a:pPr>
              <a:defRPr/>
            </a:pPr>
            <a:r>
              <a:rPr sz="1200" b="1" i="0" u="none">
                <a:solidFill>
                  <a:srgbClr val="000000"/>
                </a:solidFill>
                <a:latin typeface="Times New Roman"/>
                <a:ea typeface="Times New Roman"/>
                <a:cs typeface="Times New Roman"/>
              </a:rPr>
              <a:t>Interview Question:</a:t>
            </a:r>
            <a:r>
              <a:rPr sz="1200" b="0" i="0" u="none">
                <a:solidFill>
                  <a:srgbClr val="000000"/>
                </a:solidFill>
                <a:latin typeface="Times New Roman"/>
                <a:ea typeface="Times New Roman"/>
                <a:cs typeface="Times New Roman"/>
              </a:rPr>
              <a:t> What is a nested JSON object?</a:t>
            </a:r>
            <a:br>
              <a:rPr sz="1200" b="0"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Answer:</a:t>
            </a:r>
            <a:r>
              <a:rPr sz="1200" b="0" i="0" u="none">
                <a:solidFill>
                  <a:srgbClr val="000000"/>
                </a:solidFill>
                <a:latin typeface="Times New Roman"/>
                <a:ea typeface="Times New Roman"/>
                <a:cs typeface="Times New Roman"/>
              </a:rPr>
              <a:t> A nested JSON object is an object that appears as the value of another object field, allowing hierarchical data representation.</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680585214" name="Google Shape;249;SLIDES_API647489343_169: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448928823" name="Google Shape;250;SLIDES_API647489343_169: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Another fundamental JSON structure is the </a:t>
            </a:r>
            <a:r>
              <a:rPr sz="1200" b="1" i="0" u="none">
                <a:solidFill>
                  <a:srgbClr val="000000"/>
                </a:solidFill>
                <a:latin typeface="Times New Roman"/>
                <a:ea typeface="Times New Roman"/>
                <a:cs typeface="Times New Roman"/>
              </a:rPr>
              <a:t>array</a:t>
            </a:r>
            <a:r>
              <a:rPr sz="1200" b="0" i="0" u="none">
                <a:solidFill>
                  <a:srgbClr val="000000"/>
                </a:solidFill>
                <a:latin typeface="Times New Roman"/>
                <a:ea typeface="Times New Roman"/>
                <a:cs typeface="Times New Roman"/>
              </a:rPr>
              <a:t>, which represents an ordered list of values. Arrays are enclosed in square brackets </a:t>
            </a:r>
            <a:r>
              <a:rPr sz="1000" b="0" i="0" u="none">
                <a:solidFill>
                  <a:srgbClr val="000000"/>
                </a:solidFill>
                <a:latin typeface="Courier New"/>
                <a:ea typeface="Courier New"/>
                <a:cs typeface="Courier New"/>
              </a:rPr>
              <a:t>[ ]</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In the example JSON object we see </a:t>
            </a:r>
            <a:r>
              <a:rPr sz="1000" b="0" i="0" u="none">
                <a:solidFill>
                  <a:srgbClr val="000000"/>
                </a:solidFill>
                <a:latin typeface="Courier New"/>
                <a:ea typeface="Courier New"/>
                <a:cs typeface="Courier New"/>
              </a:rPr>
              <a:t>"user_id": 105</a:t>
            </a:r>
            <a:r>
              <a:rPr sz="1200" b="0" i="0" u="none">
                <a:solidFill>
                  <a:srgbClr val="000000"/>
                </a:solidFill>
                <a:latin typeface="Times New Roman"/>
                <a:ea typeface="Times New Roman"/>
                <a:cs typeface="Times New Roman"/>
              </a:rPr>
              <a:t>, which identifies the user. The field </a:t>
            </a:r>
            <a:r>
              <a:rPr sz="1000" b="0" i="0" u="none">
                <a:solidFill>
                  <a:srgbClr val="000000"/>
                </a:solidFill>
                <a:latin typeface="Courier New"/>
                <a:ea typeface="Courier New"/>
                <a:cs typeface="Courier New"/>
              </a:rPr>
              <a:t>"tags"</a:t>
            </a:r>
            <a:r>
              <a:rPr sz="1200" b="0" i="0" u="none">
                <a:solidFill>
                  <a:srgbClr val="000000"/>
                </a:solidFill>
                <a:latin typeface="Times New Roman"/>
                <a:ea typeface="Times New Roman"/>
                <a:cs typeface="Times New Roman"/>
              </a:rPr>
              <a:t> contains an array of strings such as </a:t>
            </a:r>
            <a:r>
              <a:rPr sz="1000" b="0" i="0" u="none">
                <a:solidFill>
                  <a:srgbClr val="000000"/>
                </a:solidFill>
                <a:latin typeface="Courier New"/>
                <a:ea typeface="Courier New"/>
                <a:cs typeface="Courier New"/>
              </a:rPr>
              <a:t>"premium"</a:t>
            </a:r>
            <a:r>
              <a:rPr sz="1200" b="0" i="0" u="none">
                <a:solidFill>
                  <a:srgbClr val="000000"/>
                </a:solidFill>
                <a:latin typeface="Times New Roman"/>
                <a:ea typeface="Times New Roman"/>
                <a:cs typeface="Times New Roman"/>
              </a:rPr>
              <a:t>, </a:t>
            </a:r>
            <a:r>
              <a:rPr sz="1000" b="0" i="0" u="none">
                <a:solidFill>
                  <a:srgbClr val="000000"/>
                </a:solidFill>
                <a:latin typeface="Courier New"/>
                <a:ea typeface="Courier New"/>
                <a:cs typeface="Courier New"/>
              </a:rPr>
              <a:t>"subscriber"</a:t>
            </a:r>
            <a:r>
              <a:rPr sz="1200" b="0" i="0" u="none">
                <a:solidFill>
                  <a:srgbClr val="000000"/>
                </a:solidFill>
                <a:latin typeface="Times New Roman"/>
                <a:ea typeface="Times New Roman"/>
                <a:cs typeface="Times New Roman"/>
              </a:rPr>
              <a:t>, and </a:t>
            </a:r>
            <a:r>
              <a:rPr sz="1000" b="0" i="0" u="none">
                <a:solidFill>
                  <a:srgbClr val="000000"/>
                </a:solidFill>
                <a:latin typeface="Courier New"/>
                <a:ea typeface="Courier New"/>
                <a:cs typeface="Courier New"/>
              </a:rPr>
              <a:t>"beta-tester"</a:t>
            </a:r>
            <a:r>
              <a:rPr sz="1200" b="0" i="0" u="none">
                <a:solidFill>
                  <a:srgbClr val="000000"/>
                </a:solidFill>
                <a:latin typeface="Times New Roman"/>
                <a:ea typeface="Times New Roman"/>
                <a:cs typeface="Times New Roman"/>
              </a:rPr>
              <a:t>. This array stores labels associated with the user.</a:t>
            </a:r>
            <a:endParaRPr/>
          </a:p>
          <a:p>
            <a:pPr>
              <a:defRPr/>
            </a:pPr>
            <a:r>
              <a:rPr sz="1200" b="0" i="0" u="none">
                <a:solidFill>
                  <a:srgbClr val="000000"/>
                </a:solidFill>
                <a:latin typeface="Times New Roman"/>
                <a:ea typeface="Times New Roman"/>
                <a:cs typeface="Times New Roman"/>
              </a:rPr>
              <a:t>The next field </a:t>
            </a:r>
            <a:r>
              <a:rPr sz="1000" b="0" i="0" u="none">
                <a:solidFill>
                  <a:srgbClr val="000000"/>
                </a:solidFill>
                <a:latin typeface="Courier New"/>
                <a:ea typeface="Courier New"/>
                <a:cs typeface="Courier New"/>
              </a:rPr>
              <a:t>"recent_scores"</a:t>
            </a:r>
            <a:r>
              <a:rPr sz="1200" b="0" i="0" u="none">
                <a:solidFill>
                  <a:srgbClr val="000000"/>
                </a:solidFill>
                <a:latin typeface="Times New Roman"/>
                <a:ea typeface="Times New Roman"/>
                <a:cs typeface="Times New Roman"/>
              </a:rPr>
              <a:t> contains an array of numeric values representing the user's recent scores. Arrays are useful for storing multiple related values under a single attribute.</a:t>
            </a:r>
            <a:endParaRPr/>
          </a:p>
          <a:p>
            <a:pPr>
              <a:defRPr/>
            </a:pPr>
            <a:r>
              <a:rPr sz="1200" b="0" i="0" u="none">
                <a:solidFill>
                  <a:srgbClr val="000000"/>
                </a:solidFill>
                <a:latin typeface="Times New Roman"/>
                <a:ea typeface="Times New Roman"/>
                <a:cs typeface="Times New Roman"/>
              </a:rPr>
              <a:t>The final example </a:t>
            </a:r>
            <a:r>
              <a:rPr sz="1000" b="0" i="0" u="none">
                <a:solidFill>
                  <a:srgbClr val="000000"/>
                </a:solidFill>
                <a:latin typeface="Courier New"/>
                <a:ea typeface="Courier New"/>
                <a:cs typeface="Courier New"/>
              </a:rPr>
              <a:t>"mixed_bad_practice": [1, "apple", true]</a:t>
            </a:r>
            <a:r>
              <a:rPr sz="1200" b="0" i="0" u="none">
                <a:solidFill>
                  <a:srgbClr val="000000"/>
                </a:solidFill>
                <a:latin typeface="Times New Roman"/>
                <a:ea typeface="Times New Roman"/>
                <a:cs typeface="Times New Roman"/>
              </a:rPr>
              <a:t> demonstrates that JSON arrays can technically store values of different types. However, in practice this is considered poor design because it complicates processing and reduces schema clarity.</a:t>
            </a:r>
            <a:endParaRPr/>
          </a:p>
          <a:p>
            <a:pPr>
              <a:defRPr/>
            </a:pPr>
            <a:r>
              <a:rPr sz="1200" b="0" i="0" u="none">
                <a:solidFill>
                  <a:srgbClr val="000000"/>
                </a:solidFill>
                <a:latin typeface="Times New Roman"/>
                <a:ea typeface="Times New Roman"/>
                <a:cs typeface="Times New Roman"/>
              </a:rPr>
              <a:t>Arrays are widely used in APIs and data storage because they represent collections of items such as lists of users, product categories, or transaction histories.</a:t>
            </a:r>
            <a:endParaRPr/>
          </a:p>
          <a:p>
            <a:pPr>
              <a:defRPr/>
            </a:pPr>
            <a:r>
              <a:rPr sz="1200" b="1" i="0" u="none">
                <a:solidFill>
                  <a:srgbClr val="000000"/>
                </a:solidFill>
                <a:latin typeface="Times New Roman"/>
                <a:ea typeface="Times New Roman"/>
                <a:cs typeface="Times New Roman"/>
              </a:rPr>
              <a:t>Interview Question:</a:t>
            </a:r>
            <a:r>
              <a:rPr sz="1200" b="0" i="0" u="none">
                <a:solidFill>
                  <a:srgbClr val="000000"/>
                </a:solidFill>
                <a:latin typeface="Times New Roman"/>
                <a:ea typeface="Times New Roman"/>
                <a:cs typeface="Times New Roman"/>
              </a:rPr>
              <a:t> What is a JSON array?</a:t>
            </a:r>
            <a:br>
              <a:rPr sz="1200" b="0"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Answer:</a:t>
            </a:r>
            <a:r>
              <a:rPr sz="1200" b="0" i="0" u="none">
                <a:solidFill>
                  <a:srgbClr val="000000"/>
                </a:solidFill>
                <a:latin typeface="Times New Roman"/>
                <a:ea typeface="Times New Roman"/>
                <a:cs typeface="Times New Roman"/>
              </a:rPr>
              <a:t> A JSON array is an ordered collection of values enclosed in square brackets. It is used to represent lists of items.</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14300365" name="Google Shape;257;SLIDES_API647489343_176: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714865574" name="Google Shape;258;SLIDES_API647489343_176: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One of the most common structures used in APIs is an </a:t>
            </a:r>
            <a:r>
              <a:rPr sz="1200" b="1" i="0" u="none">
                <a:solidFill>
                  <a:srgbClr val="000000"/>
                </a:solidFill>
                <a:latin typeface="Times New Roman"/>
                <a:ea typeface="Times New Roman"/>
                <a:cs typeface="Times New Roman"/>
              </a:rPr>
              <a:t>array of objects</a:t>
            </a:r>
            <a:r>
              <a:rPr sz="1200" b="0" i="0" u="none">
                <a:solidFill>
                  <a:srgbClr val="000000"/>
                </a:solidFill>
                <a:latin typeface="Times New Roman"/>
                <a:ea typeface="Times New Roman"/>
                <a:cs typeface="Times New Roman"/>
              </a:rPr>
              <a:t>. Instead of storing simple values, the array contains multiple objects, each representing a record.</a:t>
            </a:r>
            <a:endParaRPr/>
          </a:p>
          <a:p>
            <a:pPr>
              <a:defRPr/>
            </a:pPr>
            <a:r>
              <a:rPr sz="1200" b="0" i="0" u="none">
                <a:solidFill>
                  <a:srgbClr val="000000"/>
                </a:solidFill>
                <a:latin typeface="Times New Roman"/>
                <a:ea typeface="Times New Roman"/>
                <a:cs typeface="Times New Roman"/>
              </a:rPr>
              <a:t>In the example shown in the slide, the array contains two objects. The first object represents a user with id 1, name Alice, and role Admin. The second object represents another user with id 2, name Bob, and role User.</a:t>
            </a:r>
            <a:endParaRPr/>
          </a:p>
          <a:p>
            <a:pPr>
              <a:defRPr/>
            </a:pPr>
            <a:r>
              <a:rPr sz="1200" b="0" i="0" u="none">
                <a:solidFill>
                  <a:srgbClr val="000000"/>
                </a:solidFill>
                <a:latin typeface="Times New Roman"/>
                <a:ea typeface="Times New Roman"/>
                <a:cs typeface="Times New Roman"/>
              </a:rPr>
              <a:t>This structure is extremely common in REST APIs. When a client requests a list of resources such as users, products, or posts, the server typically returns a JSON array where each element is an object representing a record.</a:t>
            </a:r>
            <a:endParaRPr/>
          </a:p>
          <a:p>
            <a:pPr>
              <a:defRPr/>
            </a:pPr>
            <a:r>
              <a:rPr sz="1200" b="0" i="0" u="none">
                <a:solidFill>
                  <a:srgbClr val="000000"/>
                </a:solidFill>
                <a:latin typeface="Times New Roman"/>
                <a:ea typeface="Times New Roman"/>
                <a:cs typeface="Times New Roman"/>
              </a:rPr>
              <a:t>Arrays of objects combine the flexibility of arrays with the structure of objects, making them ideal for representing datasets.</a:t>
            </a:r>
            <a:endParaRPr/>
          </a:p>
          <a:p>
            <a:pPr>
              <a:defRPr/>
            </a:pPr>
            <a:r>
              <a:rPr sz="1200" b="1" i="0" u="none">
                <a:solidFill>
                  <a:srgbClr val="000000"/>
                </a:solidFill>
                <a:latin typeface="Times New Roman"/>
                <a:ea typeface="Times New Roman"/>
                <a:cs typeface="Times New Roman"/>
              </a:rPr>
              <a:t>Interview Question:</a:t>
            </a:r>
            <a:r>
              <a:rPr sz="1200" b="0" i="0" u="none">
                <a:solidFill>
                  <a:srgbClr val="000000"/>
                </a:solidFill>
                <a:latin typeface="Times New Roman"/>
                <a:ea typeface="Times New Roman"/>
                <a:cs typeface="Times New Roman"/>
              </a:rPr>
              <a:t> Why are arrays of objects common in APIs?</a:t>
            </a:r>
            <a:br>
              <a:rPr sz="1200" b="0"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Answer:</a:t>
            </a:r>
            <a:r>
              <a:rPr sz="1200" b="0" i="0" u="none">
                <a:solidFill>
                  <a:srgbClr val="000000"/>
                </a:solidFill>
                <a:latin typeface="Times New Roman"/>
                <a:ea typeface="Times New Roman"/>
                <a:cs typeface="Times New Roman"/>
              </a:rPr>
              <a:t> Because they allow APIs to return lists of structured records, where each object represents one entity.</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21456159" name="Google Shape;265;SLIDES_API647489343_183: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110433067" name="Google Shape;266;SLIDES_API647489343_183: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Traditional relational databases require strict schemas. Every table must define its columns before data is stored. This structure works well when data is uniform, but it becomes problematic when different records contain different attributes.</a:t>
            </a:r>
            <a:endParaRPr/>
          </a:p>
          <a:p>
            <a:pPr>
              <a:defRPr/>
            </a:pPr>
            <a:r>
              <a:rPr sz="1200" b="0" i="0" u="none">
                <a:solidFill>
                  <a:srgbClr val="000000"/>
                </a:solidFill>
                <a:latin typeface="Times New Roman"/>
                <a:ea typeface="Times New Roman"/>
                <a:cs typeface="Times New Roman"/>
              </a:rPr>
              <a:t>Consider an e-commerce platform where products belong to different categories. A T-shirt might have attributes such as size and color, while a laptop might have attributes such as RAM, CPU, and screen size. In a traditional SQL schema, this requires either many unused columns or complex data models such as entity–attribute–value tables.</a:t>
            </a:r>
            <a:endParaRPr/>
          </a:p>
          <a:p>
            <a:pPr>
              <a:defRPr/>
            </a:pPr>
            <a:r>
              <a:rPr sz="1200" b="0" i="0" u="none">
                <a:solidFill>
                  <a:srgbClr val="000000"/>
                </a:solidFill>
                <a:latin typeface="Times New Roman"/>
                <a:ea typeface="Times New Roman"/>
                <a:cs typeface="Times New Roman"/>
              </a:rPr>
              <a:t>These approaches introduce complexity and reduce performance. The problem becomes even worse when attributes change frequently or vary between products.</a:t>
            </a:r>
            <a:endParaRPr/>
          </a:p>
          <a:p>
            <a:pPr>
              <a:defRPr/>
            </a:pPr>
            <a:r>
              <a:rPr sz="1200" b="0" i="0" u="none">
                <a:solidFill>
                  <a:srgbClr val="000000"/>
                </a:solidFill>
                <a:latin typeface="Times New Roman"/>
                <a:ea typeface="Times New Roman"/>
                <a:cs typeface="Times New Roman"/>
              </a:rPr>
              <a:t>This limitation of relational databases motivated the rise of NoSQL systems that support flexible schemas.</a:t>
            </a:r>
            <a:endParaRPr/>
          </a:p>
          <a:p>
            <a:pPr>
              <a:defRPr/>
            </a:pPr>
            <a:r>
              <a:rPr sz="1200" b="1" i="0" u="none">
                <a:solidFill>
                  <a:srgbClr val="000000"/>
                </a:solidFill>
                <a:latin typeface="Times New Roman"/>
                <a:ea typeface="Times New Roman"/>
                <a:cs typeface="Times New Roman"/>
              </a:rPr>
              <a:t>Interview Question:</a:t>
            </a:r>
            <a:r>
              <a:rPr sz="1200" b="0" i="0" u="none">
                <a:solidFill>
                  <a:srgbClr val="000000"/>
                </a:solidFill>
                <a:latin typeface="Times New Roman"/>
                <a:ea typeface="Times New Roman"/>
                <a:cs typeface="Times New Roman"/>
              </a:rPr>
              <a:t> Why do relational databases struggle with unstructured data?</a:t>
            </a:r>
            <a:br>
              <a:rPr sz="1200" b="0"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Answer:</a:t>
            </a:r>
            <a:r>
              <a:rPr sz="1200" b="0" i="0" u="none">
                <a:solidFill>
                  <a:srgbClr val="000000"/>
                </a:solidFill>
                <a:latin typeface="Times New Roman"/>
                <a:ea typeface="Times New Roman"/>
                <a:cs typeface="Times New Roman"/>
              </a:rPr>
              <a:t> Because relational databases require predefined schemas, making it difficult to store records with varying attributes.</a:t>
            </a:r>
            <a:endParaRPr/>
          </a:p>
          <a:p>
            <a:pPr>
              <a:defRPr/>
            </a:pPr>
            <a:endParaRPr/>
          </a:p>
          <a:p>
            <a:pPr>
              <a:defRPr/>
            </a:pPr>
            <a:endParaRPr/>
          </a:p>
          <a:p>
            <a:pPr>
              <a:defRPr/>
            </a:pPr>
            <a:r>
              <a:rPr sz="1200" b="0" i="0" u="none">
                <a:solidFill>
                  <a:srgbClr val="000000"/>
                </a:solidFill>
                <a:latin typeface="Times New Roman"/>
                <a:ea typeface="Times New Roman"/>
                <a:cs typeface="Times New Roman"/>
              </a:rPr>
              <a:t>Instead of abandoning relational databases completely, PostgreSQL introduced native support for JSON data. This allows developers to store structured relational data alongside flexible JSON attributes in the same table.</a:t>
            </a:r>
            <a:endParaRPr/>
          </a:p>
          <a:p>
            <a:pPr>
              <a:defRPr/>
            </a:pPr>
            <a:r>
              <a:rPr sz="1200" b="0" i="0" u="none">
                <a:solidFill>
                  <a:srgbClr val="000000"/>
                </a:solidFill>
                <a:latin typeface="Times New Roman"/>
                <a:ea typeface="Times New Roman"/>
                <a:cs typeface="Times New Roman"/>
              </a:rPr>
              <a:t>For example, critical fields such as user IDs, product names, or payment information can remain in relational columns, while flexible attributes such as product specifications can be stored in JSON.</a:t>
            </a:r>
            <a:endParaRPr/>
          </a:p>
          <a:p>
            <a:pPr>
              <a:defRPr/>
            </a:pPr>
            <a:r>
              <a:rPr sz="1200" b="0" i="0" u="none">
                <a:solidFill>
                  <a:srgbClr val="000000"/>
                </a:solidFill>
                <a:latin typeface="Times New Roman"/>
                <a:ea typeface="Times New Roman"/>
                <a:cs typeface="Times New Roman"/>
              </a:rPr>
              <a:t>This hybrid approach combines the strengths of relational databases with the flexibility of NoSQL systems. Developers can maintain relational integrity while still handling dynamic attributes.</a:t>
            </a:r>
            <a:endParaRPr/>
          </a:p>
          <a:p>
            <a:pPr>
              <a:defRPr/>
            </a:pPr>
            <a:r>
              <a:rPr sz="1200" b="1" i="0" u="none">
                <a:solidFill>
                  <a:srgbClr val="000000"/>
                </a:solidFill>
                <a:latin typeface="Times New Roman"/>
                <a:ea typeface="Times New Roman"/>
                <a:cs typeface="Times New Roman"/>
              </a:rPr>
              <a:t>Interview Question:</a:t>
            </a:r>
            <a:r>
              <a:rPr sz="1200" b="0" i="0" u="none">
                <a:solidFill>
                  <a:srgbClr val="000000"/>
                </a:solidFill>
                <a:latin typeface="Times New Roman"/>
                <a:ea typeface="Times New Roman"/>
                <a:cs typeface="Times New Roman"/>
              </a:rPr>
              <a:t> Why did PostgreSQL introduce JSON support?</a:t>
            </a:r>
            <a:br>
              <a:rPr sz="1200" b="0"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Answer:</a:t>
            </a:r>
            <a:r>
              <a:rPr sz="1200" b="0" i="0" u="none">
                <a:solidFill>
                  <a:srgbClr val="000000"/>
                </a:solidFill>
                <a:latin typeface="Times New Roman"/>
                <a:ea typeface="Times New Roman"/>
                <a:cs typeface="Times New Roman"/>
              </a:rPr>
              <a:t> To allow relational databases to store flexible, schema-less data without switching to a NoSQL database.</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156567623" name="Google Shape;272;SLIDES_API647489343_189: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419532363" name="Google Shape;273;SLIDES_API647489343_189: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PostgreSQL provides two JSON storage formats: JSON and JSONB.</a:t>
            </a:r>
            <a:endParaRPr/>
          </a:p>
          <a:p>
            <a:pPr>
              <a:defRPr/>
            </a:pPr>
            <a:r>
              <a:rPr sz="1200" b="0" i="0" u="none">
                <a:solidFill>
                  <a:srgbClr val="000000"/>
                </a:solidFill>
                <a:latin typeface="Times New Roman"/>
                <a:ea typeface="Times New Roman"/>
                <a:cs typeface="Times New Roman"/>
              </a:rPr>
              <a:t>The JSON type stores data exactly as text. It preserves whitespace and formatting. However, because it is stored as text, PostgreSQL must parse the JSON string every time a query is executed. This makes it slower for searching and indexing.</a:t>
            </a:r>
            <a:endParaRPr/>
          </a:p>
          <a:p>
            <a:pPr>
              <a:defRPr/>
            </a:pPr>
            <a:r>
              <a:rPr sz="1200" b="0" i="0" u="none">
                <a:solidFill>
                  <a:srgbClr val="000000"/>
                </a:solidFill>
                <a:latin typeface="Times New Roman"/>
                <a:ea typeface="Times New Roman"/>
                <a:cs typeface="Times New Roman"/>
              </a:rPr>
              <a:t>The JSONB type stores data in a decomposed binary format. During insertion PostgreSQL parses the JSON and stores it internally in an optimized structure. Whitespace is removed and duplicate keys are eliminated.</a:t>
            </a:r>
            <a:endParaRPr/>
          </a:p>
          <a:p>
            <a:pPr>
              <a:defRPr/>
            </a:pPr>
            <a:r>
              <a:rPr sz="1200" b="0" i="0" u="none">
                <a:solidFill>
                  <a:srgbClr val="000000"/>
                </a:solidFill>
                <a:latin typeface="Times New Roman"/>
                <a:ea typeface="Times New Roman"/>
                <a:cs typeface="Times New Roman"/>
              </a:rPr>
              <a:t>Because of this preprocessing step, JSONB queries are much faster and support advanced indexing techniques.</a:t>
            </a:r>
            <a:endParaRPr/>
          </a:p>
          <a:p>
            <a:pPr>
              <a:defRPr/>
            </a:pPr>
            <a:r>
              <a:rPr sz="1200" b="0" i="0" u="none">
                <a:solidFill>
                  <a:srgbClr val="000000"/>
                </a:solidFill>
                <a:latin typeface="Times New Roman"/>
                <a:ea typeface="Times New Roman"/>
                <a:cs typeface="Times New Roman"/>
              </a:rPr>
              <a:t>For this reason JSONB has become the industry standard for storing JSON data in PostgreSQL.</a:t>
            </a:r>
            <a:endParaRPr/>
          </a:p>
          <a:p>
            <a:pPr>
              <a:defRPr/>
            </a:pPr>
            <a:r>
              <a:rPr sz="1200" b="1" i="0" u="none">
                <a:solidFill>
                  <a:srgbClr val="000000"/>
                </a:solidFill>
                <a:latin typeface="Times New Roman"/>
                <a:ea typeface="Times New Roman"/>
                <a:cs typeface="Times New Roman"/>
              </a:rPr>
              <a:t>Interview Question:</a:t>
            </a:r>
            <a:r>
              <a:rPr sz="1200" b="0" i="0" u="none">
                <a:solidFill>
                  <a:srgbClr val="000000"/>
                </a:solidFill>
                <a:latin typeface="Times New Roman"/>
                <a:ea typeface="Times New Roman"/>
                <a:cs typeface="Times New Roman"/>
              </a:rPr>
              <a:t> What is the difference between JSON and JSONB in PostgreSQL?</a:t>
            </a:r>
            <a:br>
              <a:rPr sz="1200" b="0"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Answer:</a:t>
            </a:r>
            <a:r>
              <a:rPr sz="1200" b="0" i="0" u="none">
                <a:solidFill>
                  <a:srgbClr val="000000"/>
                </a:solidFill>
                <a:latin typeface="Times New Roman"/>
                <a:ea typeface="Times New Roman"/>
                <a:cs typeface="Times New Roman"/>
              </a:rPr>
              <a:t> JSON stores raw text and must be parsed during queries, while JSONB stores a binary representation that allows faster queries and indexing.</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60575940" name="Google Shape;279;SLIDES_API647489343_195: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837752412" name="Google Shape;280;SLIDES_API647489343_195: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Searching inside JSON structures can be complex because values may appear at different nested levels. Traditional B-Tree indexes work well for simple column values but are inefficient for searching inside JSON objects.</a:t>
            </a:r>
            <a:endParaRPr/>
          </a:p>
          <a:p>
            <a:pPr>
              <a:defRPr/>
            </a:pPr>
            <a:r>
              <a:rPr sz="1200" b="0" i="0" u="none">
                <a:solidFill>
                  <a:srgbClr val="000000"/>
                </a:solidFill>
                <a:latin typeface="Times New Roman"/>
                <a:ea typeface="Times New Roman"/>
                <a:cs typeface="Times New Roman"/>
              </a:rPr>
              <a:t>PostgreSQL solves this problem using the </a:t>
            </a:r>
            <a:r>
              <a:rPr sz="1200" b="1" i="0" u="none">
                <a:solidFill>
                  <a:srgbClr val="000000"/>
                </a:solidFill>
                <a:latin typeface="Times New Roman"/>
                <a:ea typeface="Times New Roman"/>
                <a:cs typeface="Times New Roman"/>
              </a:rPr>
              <a:t>Generalized Inverted Index (GIN)</a:t>
            </a:r>
            <a:r>
              <a:rPr sz="1200" b="0" i="0" u="none">
                <a:solidFill>
                  <a:srgbClr val="000000"/>
                </a:solidFill>
                <a:latin typeface="Times New Roman"/>
                <a:ea typeface="Times New Roman"/>
                <a:cs typeface="Times New Roman"/>
              </a:rPr>
              <a:t>. A GIN index breaks down the JSON structure into individual keys and values and creates index entries for them. This allows PostgreSQL to efficiently search for records containing specific attributes.</a:t>
            </a:r>
            <a:endParaRPr/>
          </a:p>
          <a:p>
            <a:pPr>
              <a:defRPr/>
            </a:pPr>
            <a:r>
              <a:rPr sz="1200" b="0" i="0" u="none">
                <a:solidFill>
                  <a:srgbClr val="000000"/>
                </a:solidFill>
                <a:latin typeface="Times New Roman"/>
                <a:ea typeface="Times New Roman"/>
                <a:cs typeface="Times New Roman"/>
              </a:rPr>
              <a:t>For example, if many products contain an attribute </a:t>
            </a:r>
            <a:r>
              <a:rPr sz="1000" b="0" i="0" u="none">
                <a:solidFill>
                  <a:srgbClr val="000000"/>
                </a:solidFill>
                <a:latin typeface="Courier New"/>
                <a:ea typeface="Courier New"/>
                <a:cs typeface="Courier New"/>
              </a:rPr>
              <a:t>"ram": "16GB"</a:t>
            </a:r>
            <a:r>
              <a:rPr sz="1200" b="0" i="0" u="none">
                <a:solidFill>
                  <a:srgbClr val="000000"/>
                </a:solidFill>
                <a:latin typeface="Times New Roman"/>
                <a:ea typeface="Times New Roman"/>
                <a:cs typeface="Times New Roman"/>
              </a:rPr>
              <a:t>, the GIN index allows PostgreSQL to instantly locate all records with that attribute without scanning the entire table.</a:t>
            </a:r>
            <a:endParaRPr/>
          </a:p>
          <a:p>
            <a:pPr>
              <a:defRPr/>
            </a:pPr>
            <a:r>
              <a:rPr sz="1200" b="0" i="0" u="none">
                <a:solidFill>
                  <a:srgbClr val="000000"/>
                </a:solidFill>
                <a:latin typeface="Times New Roman"/>
                <a:ea typeface="Times New Roman"/>
                <a:cs typeface="Times New Roman"/>
              </a:rPr>
              <a:t>GIN indexing is one of the main reasons why JSONB queries can scale to large datasets.</a:t>
            </a:r>
            <a:endParaRPr/>
          </a:p>
          <a:p>
            <a:pPr>
              <a:defRPr/>
            </a:pPr>
            <a:r>
              <a:rPr sz="1200" b="1" i="0" u="none">
                <a:solidFill>
                  <a:srgbClr val="000000"/>
                </a:solidFill>
                <a:latin typeface="Times New Roman"/>
                <a:ea typeface="Times New Roman"/>
                <a:cs typeface="Times New Roman"/>
              </a:rPr>
              <a:t>Interview Question:</a:t>
            </a:r>
            <a:r>
              <a:rPr sz="1200" b="0" i="0" u="none">
                <a:solidFill>
                  <a:srgbClr val="000000"/>
                </a:solidFill>
                <a:latin typeface="Times New Roman"/>
                <a:ea typeface="Times New Roman"/>
                <a:cs typeface="Times New Roman"/>
              </a:rPr>
              <a:t> What is a GIN index used for?</a:t>
            </a:r>
            <a:br>
              <a:rPr sz="1200" b="0"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Answer:</a:t>
            </a:r>
            <a:r>
              <a:rPr sz="1200" b="0" i="0" u="none">
                <a:solidFill>
                  <a:srgbClr val="000000"/>
                </a:solidFill>
                <a:latin typeface="Times New Roman"/>
                <a:ea typeface="Times New Roman"/>
                <a:cs typeface="Times New Roman"/>
              </a:rPr>
              <a:t> A GIN index is used to efficiently search within complex structures such as JSONB documents by indexing individual keys and values.</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789894050" name="Google Shape;286;SLIDES_API647489343_20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76053046" name="Google Shape;287;SLIDES_API647489343_201: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The slide shows SQL code used to create a table containing a JSONB column.</a:t>
            </a:r>
            <a:endParaRPr/>
          </a:p>
          <a:p>
            <a:pPr>
              <a:defRPr/>
            </a:pPr>
            <a:r>
              <a:rPr sz="1200" b="0" i="0" u="none">
                <a:solidFill>
                  <a:srgbClr val="000000"/>
                </a:solidFill>
                <a:latin typeface="Times New Roman"/>
                <a:ea typeface="Times New Roman"/>
                <a:cs typeface="Times New Roman"/>
              </a:rPr>
              <a:t>The SQL statement begins with </a:t>
            </a:r>
            <a:r>
              <a:rPr sz="1000" b="0" i="0" u="none">
                <a:solidFill>
                  <a:srgbClr val="000000"/>
                </a:solidFill>
                <a:latin typeface="Courier New"/>
                <a:ea typeface="Courier New"/>
                <a:cs typeface="Courier New"/>
              </a:rPr>
              <a:t>CREATE TABLE products</a:t>
            </a:r>
            <a:r>
              <a:rPr sz="1200" b="0" i="0" u="none">
                <a:solidFill>
                  <a:srgbClr val="000000"/>
                </a:solidFill>
                <a:latin typeface="Times New Roman"/>
                <a:ea typeface="Times New Roman"/>
                <a:cs typeface="Times New Roman"/>
              </a:rPr>
              <a:t>. This creates a new table named products.</a:t>
            </a:r>
            <a:endParaRPr/>
          </a:p>
          <a:p>
            <a:pPr>
              <a:defRPr/>
            </a:pPr>
            <a:r>
              <a:rPr sz="1200" b="0" i="0" u="none">
                <a:solidFill>
                  <a:srgbClr val="000000"/>
                </a:solidFill>
                <a:latin typeface="Times New Roman"/>
                <a:ea typeface="Times New Roman"/>
                <a:cs typeface="Times New Roman"/>
              </a:rPr>
              <a:t>The field </a:t>
            </a:r>
            <a:r>
              <a:rPr sz="1000" b="0" i="0" u="none">
                <a:solidFill>
                  <a:srgbClr val="000000"/>
                </a:solidFill>
                <a:latin typeface="Courier New"/>
                <a:ea typeface="Courier New"/>
                <a:cs typeface="Courier New"/>
              </a:rPr>
              <a:t>id SERIAL PRIMARY KEY</a:t>
            </a:r>
            <a:r>
              <a:rPr sz="1200" b="0" i="0" u="none">
                <a:solidFill>
                  <a:srgbClr val="000000"/>
                </a:solidFill>
                <a:latin typeface="Times New Roman"/>
                <a:ea typeface="Times New Roman"/>
                <a:cs typeface="Times New Roman"/>
              </a:rPr>
              <a:t> defines an auto-incrementing integer column used as the primary key. Each new record will automatically receive a unique identifier.</a:t>
            </a:r>
            <a:endParaRPr/>
          </a:p>
          <a:p>
            <a:pPr>
              <a:defRPr/>
            </a:pPr>
            <a:r>
              <a:rPr sz="1200" b="0" i="0" u="none">
                <a:solidFill>
                  <a:srgbClr val="000000"/>
                </a:solidFill>
                <a:latin typeface="Times New Roman"/>
                <a:ea typeface="Times New Roman"/>
                <a:cs typeface="Times New Roman"/>
              </a:rPr>
              <a:t>The column </a:t>
            </a:r>
            <a:r>
              <a:rPr sz="1000" b="0" i="0" u="none">
                <a:solidFill>
                  <a:srgbClr val="000000"/>
                </a:solidFill>
                <a:latin typeface="Courier New"/>
                <a:ea typeface="Courier New"/>
                <a:cs typeface="Courier New"/>
              </a:rPr>
              <a:t>name VARCHAR(100)</a:t>
            </a:r>
            <a:r>
              <a:rPr sz="1200" b="0" i="0" u="none">
                <a:solidFill>
                  <a:srgbClr val="000000"/>
                </a:solidFill>
                <a:latin typeface="Times New Roman"/>
                <a:ea typeface="Times New Roman"/>
                <a:cs typeface="Times New Roman"/>
              </a:rPr>
              <a:t> stores the product name as a text string with a maximum length of one hundred characters.</a:t>
            </a:r>
            <a:endParaRPr/>
          </a:p>
          <a:p>
            <a:pPr>
              <a:defRPr/>
            </a:pPr>
            <a:r>
              <a:rPr sz="1200" b="0" i="0" u="none">
                <a:solidFill>
                  <a:srgbClr val="000000"/>
                </a:solidFill>
                <a:latin typeface="Times New Roman"/>
                <a:ea typeface="Times New Roman"/>
                <a:cs typeface="Times New Roman"/>
              </a:rPr>
              <a:t>The column </a:t>
            </a:r>
            <a:r>
              <a:rPr sz="1000" b="0" i="0" u="none">
                <a:solidFill>
                  <a:srgbClr val="000000"/>
                </a:solidFill>
                <a:latin typeface="Courier New"/>
                <a:ea typeface="Courier New"/>
                <a:cs typeface="Courier New"/>
              </a:rPr>
              <a:t>attributes JSONB</a:t>
            </a:r>
            <a:r>
              <a:rPr sz="1200" b="0" i="0" u="none">
                <a:solidFill>
                  <a:srgbClr val="000000"/>
                </a:solidFill>
                <a:latin typeface="Times New Roman"/>
                <a:ea typeface="Times New Roman"/>
                <a:cs typeface="Times New Roman"/>
              </a:rPr>
              <a:t> defines a JSONB column where flexible attributes can be stored. Instead of creating many columns for every possible product attribute, all dynamic properties can be stored inside this JSON structure.</a:t>
            </a:r>
            <a:endParaRPr/>
          </a:p>
          <a:p>
            <a:pPr>
              <a:defRPr/>
            </a:pPr>
            <a:r>
              <a:rPr sz="1200" b="0" i="0" u="none">
                <a:solidFill>
                  <a:srgbClr val="000000"/>
                </a:solidFill>
                <a:latin typeface="Times New Roman"/>
                <a:ea typeface="Times New Roman"/>
                <a:cs typeface="Times New Roman"/>
              </a:rPr>
              <a:t>This design allows the database to maintain a stable schema while still supporting dynamic product properties.</a:t>
            </a:r>
            <a:endParaRPr/>
          </a:p>
          <a:p>
            <a:pPr>
              <a:defRPr/>
            </a:pPr>
            <a:r>
              <a:rPr sz="1200" b="1" i="0" u="none">
                <a:solidFill>
                  <a:srgbClr val="000000"/>
                </a:solidFill>
                <a:latin typeface="Times New Roman"/>
                <a:ea typeface="Times New Roman"/>
                <a:cs typeface="Times New Roman"/>
              </a:rPr>
              <a:t>Interview Question:</a:t>
            </a:r>
            <a:r>
              <a:rPr sz="1200" b="0" i="0" u="none">
                <a:solidFill>
                  <a:srgbClr val="000000"/>
                </a:solidFill>
                <a:latin typeface="Times New Roman"/>
                <a:ea typeface="Times New Roman"/>
                <a:cs typeface="Times New Roman"/>
              </a:rPr>
              <a:t> Why would a database table include a JSONB column?</a:t>
            </a:r>
            <a:br>
              <a:rPr sz="1200" b="0"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Answer:</a:t>
            </a:r>
            <a:r>
              <a:rPr sz="1200" b="0" i="0" u="none">
                <a:solidFill>
                  <a:srgbClr val="000000"/>
                </a:solidFill>
                <a:latin typeface="Times New Roman"/>
                <a:ea typeface="Times New Roman"/>
                <a:cs typeface="Times New Roman"/>
              </a:rPr>
              <a:t> To store flexible attributes that may vary between records without modifying the table schema.</a:t>
            </a:r>
            <a:endParaRPr/>
          </a:p>
          <a:p>
            <a:pPr>
              <a:defRPr/>
            </a:pPr>
            <a:endParaRPr/>
          </a:p>
          <a:p>
            <a:pPr>
              <a:defRPr/>
            </a:pPr>
            <a:endParaRPr/>
          </a:p>
          <a:p>
            <a:pPr>
              <a:defRPr/>
            </a:pPr>
            <a:r>
              <a:rPr sz="1200" b="0" i="0" u="none">
                <a:solidFill>
                  <a:srgbClr val="000000"/>
                </a:solidFill>
                <a:latin typeface="Times New Roman"/>
                <a:ea typeface="Times New Roman"/>
                <a:cs typeface="Times New Roman"/>
              </a:rPr>
              <a:t>The slide also shows how JSON data can be inserted into the table.</a:t>
            </a:r>
            <a:endParaRPr/>
          </a:p>
          <a:p>
            <a:pPr>
              <a:defRPr/>
            </a:pPr>
            <a:r>
              <a:rPr sz="1200" b="0" i="0" u="none">
                <a:solidFill>
                  <a:srgbClr val="000000"/>
                </a:solidFill>
                <a:latin typeface="Times New Roman"/>
                <a:ea typeface="Times New Roman"/>
                <a:cs typeface="Times New Roman"/>
              </a:rPr>
              <a:t>The SQL command begins with </a:t>
            </a:r>
            <a:r>
              <a:rPr sz="1000" b="0" i="0" u="none">
                <a:solidFill>
                  <a:srgbClr val="000000"/>
                </a:solidFill>
                <a:latin typeface="Courier New"/>
                <a:ea typeface="Courier New"/>
                <a:cs typeface="Courier New"/>
              </a:rPr>
              <a:t>INSERT INTO products (name, attributes)</a:t>
            </a:r>
            <a:r>
              <a:rPr sz="1200" b="0" i="0" u="none">
                <a:solidFill>
                  <a:srgbClr val="000000"/>
                </a:solidFill>
                <a:latin typeface="Times New Roman"/>
                <a:ea typeface="Times New Roman"/>
                <a:cs typeface="Times New Roman"/>
              </a:rPr>
              <a:t>. This specifies that values will be inserted into the name and attributes columns.</a:t>
            </a:r>
            <a:endParaRPr/>
          </a:p>
          <a:p>
            <a:pPr>
              <a:defRPr/>
            </a:pPr>
            <a:r>
              <a:rPr sz="1200" b="0" i="0" u="none">
                <a:solidFill>
                  <a:srgbClr val="000000"/>
                </a:solidFill>
                <a:latin typeface="Times New Roman"/>
                <a:ea typeface="Times New Roman"/>
                <a:cs typeface="Times New Roman"/>
              </a:rPr>
              <a:t>The values clause contains </a:t>
            </a:r>
            <a:r>
              <a:rPr sz="1000" b="0" i="0" u="none">
                <a:solidFill>
                  <a:srgbClr val="000000"/>
                </a:solidFill>
                <a:latin typeface="Courier New"/>
                <a:ea typeface="Courier New"/>
                <a:cs typeface="Courier New"/>
              </a:rPr>
              <a:t>'Laptop'</a:t>
            </a:r>
            <a:r>
              <a:rPr sz="1200" b="0" i="0" u="none">
                <a:solidFill>
                  <a:srgbClr val="000000"/>
                </a:solidFill>
                <a:latin typeface="Times New Roman"/>
                <a:ea typeface="Times New Roman"/>
                <a:cs typeface="Times New Roman"/>
              </a:rPr>
              <a:t> as the product name. The second value is a JSON object represented as a string </a:t>
            </a:r>
            <a:r>
              <a:rPr sz="1000" b="0" i="0" u="none">
                <a:solidFill>
                  <a:srgbClr val="000000"/>
                </a:solidFill>
                <a:latin typeface="Courier New"/>
                <a:ea typeface="Courier New"/>
                <a:cs typeface="Courier New"/>
              </a:rPr>
              <a:t>'{"ram": "16GB"}'</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When PostgreSQL receives this string, it validates that the content is valid JSON. If the syntax is incorrect, the database rejects the insertion.</a:t>
            </a:r>
            <a:endParaRPr/>
          </a:p>
          <a:p>
            <a:pPr>
              <a:defRPr/>
            </a:pPr>
            <a:r>
              <a:rPr sz="1200" b="0" i="0" u="none">
                <a:solidFill>
                  <a:srgbClr val="000000"/>
                </a:solidFill>
                <a:latin typeface="Times New Roman"/>
                <a:ea typeface="Times New Roman"/>
                <a:cs typeface="Times New Roman"/>
              </a:rPr>
              <a:t>Once validated, PostgreSQL converts the JSON text into the internal JSONB binary format.</a:t>
            </a:r>
            <a:endParaRPr/>
          </a:p>
          <a:p>
            <a:pPr>
              <a:defRPr/>
            </a:pPr>
            <a:r>
              <a:rPr sz="1200" b="0" i="0" u="none">
                <a:solidFill>
                  <a:srgbClr val="000000"/>
                </a:solidFill>
                <a:latin typeface="Times New Roman"/>
                <a:ea typeface="Times New Roman"/>
                <a:cs typeface="Times New Roman"/>
              </a:rPr>
              <a:t>This mechanism ensures that JSON stored in the database is always syntactically correct.</a:t>
            </a:r>
            <a:endParaRPr/>
          </a:p>
          <a:p>
            <a:pPr>
              <a:defRPr/>
            </a:pPr>
            <a:r>
              <a:rPr sz="1200" b="1" i="0" u="none">
                <a:solidFill>
                  <a:srgbClr val="000000"/>
                </a:solidFill>
                <a:latin typeface="Times New Roman"/>
                <a:ea typeface="Times New Roman"/>
                <a:cs typeface="Times New Roman"/>
              </a:rPr>
              <a:t>Interview Question:</a:t>
            </a:r>
            <a:r>
              <a:rPr sz="1200" b="0" i="0" u="none">
                <a:solidFill>
                  <a:srgbClr val="000000"/>
                </a:solidFill>
                <a:latin typeface="Times New Roman"/>
                <a:ea typeface="Times New Roman"/>
                <a:cs typeface="Times New Roman"/>
              </a:rPr>
              <a:t> What happens if invalid JSON is inserted into a JSONB column?</a:t>
            </a:r>
            <a:br>
              <a:rPr sz="1200" b="0"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Answer:</a:t>
            </a:r>
            <a:r>
              <a:rPr sz="1200" b="0" i="0" u="none">
                <a:solidFill>
                  <a:srgbClr val="000000"/>
                </a:solidFill>
                <a:latin typeface="Times New Roman"/>
                <a:ea typeface="Times New Roman"/>
                <a:cs typeface="Times New Roman"/>
              </a:rPr>
              <a:t> PostgreSQL rejects the insertion because it validates JSON syntax before storing the data.</a:t>
            </a:r>
            <a:endParaRPr/>
          </a:p>
          <a:p>
            <a:pPr>
              <a:defRPr/>
            </a:pPr>
            <a:endParaRPr/>
          </a:p>
          <a:p>
            <a:pPr>
              <a:defRPr/>
            </a:pPr>
            <a:r>
              <a:rPr sz="1200" b="1" i="0" u="none">
                <a:solidFill>
                  <a:srgbClr val="000000"/>
                </a:solidFill>
                <a:latin typeface="Times New Roman"/>
                <a:ea typeface="Times New Roman"/>
                <a:cs typeface="Times New Roman"/>
              </a:rPr>
              <a:t>Data Definition Language</a:t>
            </a:r>
            <a:r>
              <a:rPr sz="1200" b="0" i="0" u="none">
                <a:solidFill>
                  <a:srgbClr val="000000"/>
                </a:solidFill>
                <a:latin typeface="Times New Roman"/>
                <a:ea typeface="Times New Roman"/>
                <a:cs typeface="Times New Roman"/>
              </a:rPr>
              <a:t> is the part of SQL used to </a:t>
            </a:r>
            <a:r>
              <a:rPr sz="1200" b="1" i="0" u="none">
                <a:solidFill>
                  <a:srgbClr val="000000"/>
                </a:solidFill>
                <a:latin typeface="Times New Roman"/>
                <a:ea typeface="Times New Roman"/>
                <a:cs typeface="Times New Roman"/>
              </a:rPr>
              <a:t>define and modify the structure of a database</a:t>
            </a:r>
            <a:r>
              <a:rPr sz="1200" b="0" i="0" u="none">
                <a:solidFill>
                  <a:srgbClr val="000000"/>
                </a:solidFill>
                <a:latin typeface="Times New Roman"/>
                <a:ea typeface="Times New Roman"/>
                <a:cs typeface="Times New Roman"/>
              </a:rPr>
              <a:t>. In other words, DDL commands are used to create, change, or delete database objects such as tables, schemas, indexes, and constraints.</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70337318" name="Google Shape;294;SLIDES_API647489343_208: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597349697" name="Google Shape;295;SLIDES_API647489343_208: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PostgreSQL provides special operators to access JSON values.</a:t>
            </a:r>
            <a:endParaRPr/>
          </a:p>
          <a:p>
            <a:pPr>
              <a:defRPr/>
            </a:pPr>
            <a:r>
              <a:rPr sz="1200" b="0" i="0" u="none">
                <a:solidFill>
                  <a:srgbClr val="000000"/>
                </a:solidFill>
                <a:latin typeface="Times New Roman"/>
                <a:ea typeface="Times New Roman"/>
                <a:cs typeface="Times New Roman"/>
              </a:rPr>
              <a:t>The arrow operator </a:t>
            </a:r>
            <a:r>
              <a:rPr sz="1000" b="0" i="0" u="none">
                <a:solidFill>
                  <a:srgbClr val="000000"/>
                </a:solidFill>
                <a:latin typeface="Courier New"/>
                <a:ea typeface="Courier New"/>
                <a:cs typeface="Courier New"/>
              </a:rPr>
              <a:t>-&gt;</a:t>
            </a:r>
            <a:r>
              <a:rPr sz="1200" b="0" i="0" u="none">
                <a:solidFill>
                  <a:srgbClr val="000000"/>
                </a:solidFill>
                <a:latin typeface="Times New Roman"/>
                <a:ea typeface="Times New Roman"/>
                <a:cs typeface="Times New Roman"/>
              </a:rPr>
              <a:t> extracts a JSON object. The double arrow operator </a:t>
            </a:r>
            <a:r>
              <a:rPr sz="1200" b="0" i="0" u="none">
                <a:solidFill>
                  <a:srgbClr val="000000"/>
                </a:solidFill>
                <a:latin typeface="Times New Roman"/>
                <a:ea typeface="Times New Roman"/>
                <a:cs typeface="Times New Roman"/>
              </a:rPr>
              <a:t> or </a:t>
            </a:r>
            <a:r>
              <a:rPr sz="1200" b="1" i="0" u="none">
                <a:solidFill>
                  <a:srgbClr val="000000"/>
                </a:solidFill>
                <a:latin typeface="Times New Roman"/>
                <a:ea typeface="Times New Roman"/>
                <a:cs typeface="Times New Roman"/>
              </a:rPr>
              <a:t>“JSON text extraction operator”</a:t>
            </a:r>
            <a:r>
              <a:rPr/>
              <a:t> </a:t>
            </a:r>
            <a:r>
              <a:rPr sz="1000" b="0" i="0" u="none">
                <a:solidFill>
                  <a:srgbClr val="000000"/>
                </a:solidFill>
                <a:latin typeface="Courier New"/>
                <a:ea typeface="Courier New"/>
                <a:cs typeface="Courier New"/>
              </a:rPr>
              <a:t>-&gt;&gt;</a:t>
            </a:r>
            <a:r>
              <a:rPr sz="1200" b="0" i="0" u="none">
                <a:solidFill>
                  <a:srgbClr val="000000"/>
                </a:solidFill>
                <a:latin typeface="Times New Roman"/>
                <a:ea typeface="Times New Roman"/>
                <a:cs typeface="Times New Roman"/>
              </a:rPr>
              <a:t> extracts a JSON value as text.</a:t>
            </a:r>
            <a:endParaRPr/>
          </a:p>
          <a:p>
            <a:pPr>
              <a:defRPr/>
            </a:pPr>
            <a:r>
              <a:rPr sz="1200" b="0" i="0" u="none">
                <a:solidFill>
                  <a:srgbClr val="000000"/>
                </a:solidFill>
                <a:latin typeface="Times New Roman"/>
                <a:ea typeface="Times New Roman"/>
                <a:cs typeface="Times New Roman"/>
              </a:rPr>
              <a:t>In the query shown in the slide, </a:t>
            </a:r>
            <a:r>
              <a:rPr sz="1000" b="0" i="0" u="none">
                <a:solidFill>
                  <a:srgbClr val="000000"/>
                </a:solidFill>
                <a:latin typeface="Courier New"/>
                <a:ea typeface="Courier New"/>
                <a:cs typeface="Courier New"/>
              </a:rPr>
              <a:t>SELECT attributes-&gt;&gt;'ram' FROM products;</a:t>
            </a:r>
            <a:r>
              <a:rPr sz="1200" b="0" i="0" u="none">
                <a:solidFill>
                  <a:srgbClr val="000000"/>
                </a:solidFill>
                <a:latin typeface="Times New Roman"/>
                <a:ea typeface="Times New Roman"/>
                <a:cs typeface="Times New Roman"/>
              </a:rPr>
              <a:t> retrieves the value of the </a:t>
            </a:r>
            <a:r>
              <a:rPr sz="1000" b="0" i="0" u="none">
                <a:solidFill>
                  <a:srgbClr val="000000"/>
                </a:solidFill>
                <a:latin typeface="Courier New"/>
                <a:ea typeface="Courier New"/>
                <a:cs typeface="Courier New"/>
              </a:rPr>
              <a:t>"ram"</a:t>
            </a:r>
            <a:r>
              <a:rPr sz="1200" b="0" i="0" u="none">
                <a:solidFill>
                  <a:srgbClr val="000000"/>
                </a:solidFill>
                <a:latin typeface="Times New Roman"/>
                <a:ea typeface="Times New Roman"/>
                <a:cs typeface="Times New Roman"/>
              </a:rPr>
              <a:t> attribute from the JSONB column.</a:t>
            </a:r>
            <a:endParaRPr/>
          </a:p>
          <a:p>
            <a:pPr>
              <a:defRPr/>
            </a:pPr>
            <a:r>
              <a:rPr sz="1200" b="0" i="0" u="none">
                <a:solidFill>
                  <a:srgbClr val="000000"/>
                </a:solidFill>
                <a:latin typeface="Times New Roman"/>
                <a:ea typeface="Times New Roman"/>
                <a:cs typeface="Times New Roman"/>
              </a:rPr>
              <a:t>The </a:t>
            </a:r>
            <a:r>
              <a:rPr sz="1000" b="0" i="0" u="none">
                <a:solidFill>
                  <a:srgbClr val="000000"/>
                </a:solidFill>
                <a:latin typeface="Courier New"/>
                <a:ea typeface="Courier New"/>
                <a:cs typeface="Courier New"/>
              </a:rPr>
              <a:t>-&gt;&gt;</a:t>
            </a:r>
            <a:r>
              <a:rPr sz="1200" b="0" i="0" u="none">
                <a:solidFill>
                  <a:srgbClr val="000000"/>
                </a:solidFill>
                <a:latin typeface="Times New Roman"/>
                <a:ea typeface="Times New Roman"/>
                <a:cs typeface="Times New Roman"/>
              </a:rPr>
              <a:t> operator converts the value to text so that it can be used in normal SQL operations such as filtering or comparisons.</a:t>
            </a:r>
            <a:endParaRPr/>
          </a:p>
          <a:p>
            <a:pPr>
              <a:defRPr/>
            </a:pPr>
            <a:r>
              <a:rPr sz="1200" b="0" i="0" u="none">
                <a:solidFill>
                  <a:srgbClr val="000000"/>
                </a:solidFill>
                <a:latin typeface="Times New Roman"/>
                <a:ea typeface="Times New Roman"/>
                <a:cs typeface="Times New Roman"/>
              </a:rPr>
              <a:t>Understanding these operators is essential when working with JSON data stored inside relational databases.</a:t>
            </a:r>
            <a:endParaRPr/>
          </a:p>
          <a:p>
            <a:pPr>
              <a:defRPr/>
            </a:pPr>
            <a:r>
              <a:rPr sz="1200" b="1" i="0" u="none">
                <a:solidFill>
                  <a:srgbClr val="000000"/>
                </a:solidFill>
                <a:latin typeface="Times New Roman"/>
                <a:ea typeface="Times New Roman"/>
                <a:cs typeface="Times New Roman"/>
              </a:rPr>
              <a:t>Interview Question:</a:t>
            </a:r>
            <a:r>
              <a:rPr sz="1200" b="0" i="0" u="none">
                <a:solidFill>
                  <a:srgbClr val="000000"/>
                </a:solidFill>
                <a:latin typeface="Times New Roman"/>
                <a:ea typeface="Times New Roman"/>
                <a:cs typeface="Times New Roman"/>
              </a:rPr>
              <a:t> What is the difference between </a:t>
            </a:r>
            <a:r>
              <a:rPr sz="1000" b="0" i="0" u="none">
                <a:solidFill>
                  <a:srgbClr val="000000"/>
                </a:solidFill>
                <a:latin typeface="Courier New"/>
                <a:ea typeface="Courier New"/>
                <a:cs typeface="Courier New"/>
              </a:rPr>
              <a:t>-&gt;</a:t>
            </a:r>
            <a:r>
              <a:rPr sz="1200" b="0" i="0" u="none">
                <a:solidFill>
                  <a:srgbClr val="000000"/>
                </a:solidFill>
                <a:latin typeface="Times New Roman"/>
                <a:ea typeface="Times New Roman"/>
                <a:cs typeface="Times New Roman"/>
              </a:rPr>
              <a:t> and </a:t>
            </a:r>
            <a:r>
              <a:rPr sz="1000" b="0" i="0" u="none">
                <a:solidFill>
                  <a:srgbClr val="000000"/>
                </a:solidFill>
                <a:latin typeface="Courier New"/>
                <a:ea typeface="Courier New"/>
                <a:cs typeface="Courier New"/>
              </a:rPr>
              <a:t>-&gt;&gt;</a:t>
            </a:r>
            <a:r>
              <a:rPr sz="1200" b="0" i="0" u="none">
                <a:solidFill>
                  <a:srgbClr val="000000"/>
                </a:solidFill>
                <a:latin typeface="Times New Roman"/>
                <a:ea typeface="Times New Roman"/>
                <a:cs typeface="Times New Roman"/>
              </a:rPr>
              <a:t> in PostgreSQL JSON queries?</a:t>
            </a:r>
            <a:br>
              <a:rPr sz="1200" b="0"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Answer:</a:t>
            </a:r>
            <a:r>
              <a:rPr sz="1200" b="0" i="0" u="none">
                <a:solidFill>
                  <a:srgbClr val="000000"/>
                </a:solidFill>
                <a:latin typeface="Times New Roman"/>
                <a:ea typeface="Times New Roman"/>
                <a:cs typeface="Times New Roman"/>
              </a:rPr>
              <a:t> </a:t>
            </a:r>
            <a:r>
              <a:rPr sz="1000" b="0" i="0" u="none">
                <a:solidFill>
                  <a:srgbClr val="000000"/>
                </a:solidFill>
                <a:latin typeface="Courier New"/>
                <a:ea typeface="Courier New"/>
                <a:cs typeface="Courier New"/>
              </a:rPr>
              <a:t>-&gt;</a:t>
            </a:r>
            <a:r>
              <a:rPr sz="1200" b="0" i="0" u="none">
                <a:solidFill>
                  <a:srgbClr val="000000"/>
                </a:solidFill>
                <a:latin typeface="Times New Roman"/>
                <a:ea typeface="Times New Roman"/>
                <a:cs typeface="Times New Roman"/>
              </a:rPr>
              <a:t> returns a JSON object, while </a:t>
            </a:r>
            <a:r>
              <a:rPr sz="1000" b="0" i="0" u="none">
                <a:solidFill>
                  <a:srgbClr val="000000"/>
                </a:solidFill>
                <a:latin typeface="Courier New"/>
                <a:ea typeface="Courier New"/>
                <a:cs typeface="Courier New"/>
              </a:rPr>
              <a:t>-&gt;&gt;</a:t>
            </a:r>
            <a:r>
              <a:rPr sz="1200" b="0" i="0" u="none">
                <a:solidFill>
                  <a:srgbClr val="000000"/>
                </a:solidFill>
                <a:latin typeface="Times New Roman"/>
                <a:ea typeface="Times New Roman"/>
                <a:cs typeface="Times New Roman"/>
              </a:rPr>
              <a:t> returns the value as text.</a:t>
            </a:r>
            <a:endParaRPr/>
          </a:p>
          <a:p>
            <a:pPr>
              <a:defRPr/>
            </a:pPr>
            <a:endParaRPr/>
          </a:p>
          <a:p>
            <a:pPr>
              <a:defRPr/>
            </a:pPr>
            <a:r>
              <a:rPr sz="1200" b="0" i="0" u="none">
                <a:solidFill>
                  <a:srgbClr val="000000"/>
                </a:solidFill>
                <a:latin typeface="Times New Roman"/>
                <a:ea typeface="Times New Roman"/>
                <a:cs typeface="Times New Roman"/>
              </a:rPr>
              <a:t>The slide introduces the containment operator </a:t>
            </a:r>
            <a:r>
              <a:rPr sz="1000" b="0" i="0" u="none">
                <a:solidFill>
                  <a:srgbClr val="000000"/>
                </a:solidFill>
                <a:latin typeface="Courier New"/>
                <a:ea typeface="Courier New"/>
                <a:cs typeface="Courier New"/>
              </a:rPr>
              <a:t>@&gt;</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The query </a:t>
            </a:r>
            <a:r>
              <a:rPr sz="1000" b="0" i="0" u="none">
                <a:solidFill>
                  <a:srgbClr val="000000"/>
                </a:solidFill>
                <a:latin typeface="Courier New"/>
                <a:ea typeface="Courier New"/>
                <a:cs typeface="Courier New"/>
              </a:rPr>
              <a:t>SELECT name FROM products WHERE attributes @&gt; '{"ram": "16GB"}';</a:t>
            </a:r>
            <a:r>
              <a:rPr sz="1200" b="0" i="0" u="none">
                <a:solidFill>
                  <a:srgbClr val="000000"/>
                </a:solidFill>
                <a:latin typeface="Times New Roman"/>
                <a:ea typeface="Times New Roman"/>
                <a:cs typeface="Times New Roman"/>
              </a:rPr>
              <a:t> searches for products whose attributes JSON contains the key–value pair </a:t>
            </a:r>
            <a:r>
              <a:rPr sz="1000" b="0" i="0" u="none">
                <a:solidFill>
                  <a:srgbClr val="000000"/>
                </a:solidFill>
                <a:latin typeface="Courier New"/>
                <a:ea typeface="Courier New"/>
                <a:cs typeface="Courier New"/>
              </a:rPr>
              <a:t>"ram": "16GB"</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This operator checks whether one JSON structure contains another JSON structure.</a:t>
            </a:r>
            <a:endParaRPr/>
          </a:p>
          <a:p>
            <a:pPr>
              <a:defRPr/>
            </a:pPr>
            <a:r>
              <a:rPr sz="1200" b="0" i="0" u="none">
                <a:solidFill>
                  <a:srgbClr val="000000"/>
                </a:solidFill>
                <a:latin typeface="Times New Roman"/>
                <a:ea typeface="Times New Roman"/>
                <a:cs typeface="Times New Roman"/>
              </a:rPr>
              <a:t>Because JSONB supports GIN indexes, this containment search can be extremely fast even on very large tables.</a:t>
            </a:r>
            <a:endParaRPr/>
          </a:p>
          <a:p>
            <a:pPr>
              <a:defRPr/>
            </a:pPr>
            <a:r>
              <a:rPr sz="1200" b="0" i="0" u="none">
                <a:solidFill>
                  <a:srgbClr val="000000"/>
                </a:solidFill>
                <a:latin typeface="Times New Roman"/>
                <a:ea typeface="Times New Roman"/>
                <a:cs typeface="Times New Roman"/>
              </a:rPr>
              <a:t>This capability allows relational databases to perform complex searches inside semi-structured data.</a:t>
            </a:r>
            <a:endParaRPr/>
          </a:p>
          <a:p>
            <a:pPr>
              <a:defRPr/>
            </a:pPr>
            <a:r>
              <a:rPr sz="1200" b="1" i="0" u="none">
                <a:solidFill>
                  <a:srgbClr val="000000"/>
                </a:solidFill>
                <a:latin typeface="Times New Roman"/>
                <a:ea typeface="Times New Roman"/>
                <a:cs typeface="Times New Roman"/>
              </a:rPr>
              <a:t>Interview Question:</a:t>
            </a:r>
            <a:r>
              <a:rPr sz="1200" b="0" i="0" u="none">
                <a:solidFill>
                  <a:srgbClr val="000000"/>
                </a:solidFill>
                <a:latin typeface="Times New Roman"/>
                <a:ea typeface="Times New Roman"/>
                <a:cs typeface="Times New Roman"/>
              </a:rPr>
              <a:t> What does the </a:t>
            </a:r>
            <a:r>
              <a:rPr sz="1000" b="0" i="0" u="none">
                <a:solidFill>
                  <a:srgbClr val="000000"/>
                </a:solidFill>
                <a:latin typeface="Courier New"/>
                <a:ea typeface="Courier New"/>
                <a:cs typeface="Courier New"/>
              </a:rPr>
              <a:t>@&gt;</a:t>
            </a:r>
            <a:r>
              <a:rPr sz="1200" b="0" i="0" u="none">
                <a:solidFill>
                  <a:srgbClr val="000000"/>
                </a:solidFill>
                <a:latin typeface="Times New Roman"/>
                <a:ea typeface="Times New Roman"/>
                <a:cs typeface="Times New Roman"/>
              </a:rPr>
              <a:t> operator do in PostgreSQL JSON queries?</a:t>
            </a:r>
            <a:br>
              <a:rPr sz="1200" b="0"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Answer:</a:t>
            </a:r>
            <a:r>
              <a:rPr sz="1200" b="0" i="0" u="none">
                <a:solidFill>
                  <a:srgbClr val="000000"/>
                </a:solidFill>
                <a:latin typeface="Times New Roman"/>
                <a:ea typeface="Times New Roman"/>
                <a:cs typeface="Times New Roman"/>
              </a:rPr>
              <a:t> It checks whether a JSON object contains another JSON object as a subset.</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69741044" name="Google Shape;302;SLIDES_API647489343_215: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431091800" name="Google Shape;303;SLIDES_API647489343_215: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In the final part of the lecture you will build a small development environment using Docker.</a:t>
            </a:r>
            <a:endParaRPr/>
          </a:p>
          <a:p>
            <a:pPr>
              <a:defRPr/>
            </a:pPr>
            <a:r>
              <a:rPr sz="1200" b="0" i="0" u="none">
                <a:solidFill>
                  <a:srgbClr val="000000"/>
                </a:solidFill>
                <a:latin typeface="Times New Roman"/>
                <a:ea typeface="Times New Roman"/>
                <a:cs typeface="Times New Roman"/>
              </a:rPr>
              <a:t>The goal is to run PostgreSQL and Redis inside containers so that you can experiment with the technologies introduced earlier.</a:t>
            </a:r>
            <a:endParaRPr/>
          </a:p>
          <a:p>
            <a:pPr>
              <a:defRPr/>
            </a:pPr>
            <a:r>
              <a:rPr sz="1200" b="0" i="0" u="none">
                <a:solidFill>
                  <a:srgbClr val="000000"/>
                </a:solidFill>
                <a:latin typeface="Times New Roman"/>
                <a:ea typeface="Times New Roman"/>
                <a:cs typeface="Times New Roman"/>
              </a:rPr>
              <a:t>The green commands in the slides show the installation steps.</a:t>
            </a:r>
            <a:endParaRPr/>
          </a:p>
          <a:p>
            <a:pPr>
              <a:defRPr/>
            </a:pPr>
            <a:r>
              <a:rPr sz="1200" b="0" i="0" u="none">
                <a:solidFill>
                  <a:srgbClr val="000000"/>
                </a:solidFill>
                <a:latin typeface="Times New Roman"/>
                <a:ea typeface="Times New Roman"/>
                <a:cs typeface="Times New Roman"/>
              </a:rPr>
              <a:t>First, you install Docker and Docker Compose on your system. After installation you add your user to the Docker group so you can run Docker commands without administrator privileges.</a:t>
            </a:r>
            <a:endParaRPr/>
          </a:p>
          <a:p>
            <a:pPr>
              <a:defRPr/>
            </a:pPr>
            <a:r>
              <a:rPr sz="1200" b="0" i="0" u="none">
                <a:solidFill>
                  <a:srgbClr val="000000"/>
                </a:solidFill>
                <a:latin typeface="Times New Roman"/>
                <a:ea typeface="Times New Roman"/>
                <a:cs typeface="Times New Roman"/>
              </a:rPr>
              <a:t>Next, the lab instructions show how to start PostgreSQL and Redis containers using Docker Compose.</a:t>
            </a:r>
            <a:endParaRPr/>
          </a:p>
          <a:p>
            <a:pPr>
              <a:defRPr/>
            </a:pPr>
            <a:r>
              <a:rPr sz="1200" b="0" i="0" u="none">
                <a:solidFill>
                  <a:srgbClr val="000000"/>
                </a:solidFill>
                <a:latin typeface="Times New Roman"/>
                <a:ea typeface="Times New Roman"/>
                <a:cs typeface="Times New Roman"/>
              </a:rPr>
              <a:t>When you run the command shown in the slide, Docker creates the containers and starts both services.</a:t>
            </a:r>
            <a:endParaRPr/>
          </a:p>
          <a:p>
            <a:pPr>
              <a:defRPr/>
            </a:pPr>
            <a:r>
              <a:rPr sz="1200" b="0" i="0" u="none">
                <a:solidFill>
                  <a:srgbClr val="000000"/>
                </a:solidFill>
                <a:latin typeface="Times New Roman"/>
                <a:ea typeface="Times New Roman"/>
                <a:cs typeface="Times New Roman"/>
              </a:rPr>
              <a:t>You can then connect to PostgreSQL using the command-line interface and create a table.</a:t>
            </a:r>
            <a:endParaRPr/>
          </a:p>
          <a:p>
            <a:pPr>
              <a:defRPr/>
            </a:pPr>
            <a:r>
              <a:rPr sz="1200" b="0" i="0" u="none">
                <a:solidFill>
                  <a:srgbClr val="000000"/>
                </a:solidFill>
                <a:latin typeface="Times New Roman"/>
                <a:ea typeface="Times New Roman"/>
                <a:cs typeface="Times New Roman"/>
              </a:rPr>
              <a:t>After that, you connect to Redis using the Redis command interface and run simple commands to store values.</a:t>
            </a:r>
            <a:endParaRPr/>
          </a:p>
          <a:p>
            <a:pPr>
              <a:defRPr/>
            </a:pPr>
            <a:r>
              <a:rPr sz="1200" b="0" i="0" u="none">
                <a:solidFill>
                  <a:srgbClr val="000000"/>
                </a:solidFill>
                <a:latin typeface="Times New Roman"/>
                <a:ea typeface="Times New Roman"/>
                <a:cs typeface="Times New Roman"/>
              </a:rPr>
              <a:t>One of the Redis commands stores a value with an expiration time. After the time passes, Redis automatically deletes the value.</a:t>
            </a:r>
            <a:endParaRPr/>
          </a:p>
          <a:p>
            <a:pPr>
              <a:defRPr/>
            </a:pPr>
            <a:r>
              <a:rPr sz="1200" b="0" i="0" u="none">
                <a:solidFill>
                  <a:srgbClr val="000000"/>
                </a:solidFill>
                <a:latin typeface="Times New Roman"/>
                <a:ea typeface="Times New Roman"/>
                <a:cs typeface="Times New Roman"/>
              </a:rPr>
              <a:t>This demonstrates how Redis can be used for caching.</a:t>
            </a:r>
            <a:endParaRPr/>
          </a:p>
          <a:p>
            <a:pPr>
              <a:defRPr/>
            </a:pPr>
            <a:r>
              <a:rPr sz="1200" b="0" i="0" u="none">
                <a:solidFill>
                  <a:srgbClr val="000000"/>
                </a:solidFill>
                <a:latin typeface="Times New Roman"/>
                <a:ea typeface="Times New Roman"/>
                <a:cs typeface="Times New Roman"/>
              </a:rPr>
              <a:t>The purpose of this lab is to show how Docker, PostgreSQL, and Redis work together in a simple development environment.</a:t>
            </a:r>
            <a:endParaRPr/>
          </a:p>
          <a:p>
            <a:pPr>
              <a:defRPr/>
            </a:pPr>
            <a:r>
              <a:rPr sz="12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Why do we use containers for databases during development?</a:t>
            </a:r>
            <a:endParaRPr/>
          </a:p>
          <a:p>
            <a:pPr>
              <a:defRPr/>
            </a:pPr>
            <a:r>
              <a:rPr sz="1200" b="1" i="0" u="none">
                <a:solidFill>
                  <a:srgbClr val="000000"/>
                </a:solidFill>
                <a:latin typeface="Times New Roman"/>
                <a:ea typeface="Times New Roman"/>
                <a:cs typeface="Times New Roman"/>
              </a:rPr>
              <a:t>Answer</a:t>
            </a:r>
            <a:endParaRPr/>
          </a:p>
          <a:p>
            <a:pPr marL="0" lvl="0" indent="0" algn="l" rtl="0">
              <a:spcBef>
                <a:spcPts val="0"/>
              </a:spcBef>
              <a:spcAft>
                <a:spcPts val="0"/>
              </a:spcAft>
              <a:buNone/>
              <a:defRPr/>
            </a:pPr>
            <a:r>
              <a:rPr sz="1200" b="0" i="0" u="none">
                <a:solidFill>
                  <a:srgbClr val="000000"/>
                </a:solidFill>
                <a:latin typeface="Times New Roman"/>
                <a:ea typeface="Times New Roman"/>
                <a:cs typeface="Times New Roman"/>
              </a:rPr>
              <a:t>Because containers allow developers to start databases quickly and reproduce the same environment on any machine.</a:t>
            </a:r>
            <a:endParaRPr/>
          </a:p>
          <a:p>
            <a:pPr marL="0" lvl="0" indent="0" algn="l" rtl="0">
              <a:spcBef>
                <a:spcPts val="0"/>
              </a:spcBef>
              <a:spcAft>
                <a:spcPts val="0"/>
              </a:spcAft>
              <a:buNone/>
              <a:defRPr/>
            </a:pPr>
            <a:endParaRPr lang="en"/>
          </a:p>
          <a:p>
            <a:pPr marL="0" lvl="0" indent="0" algn="l" rtl="0">
              <a:spcBef>
                <a:spcPts val="0"/>
              </a:spcBef>
              <a:spcAft>
                <a:spcPts val="0"/>
              </a:spcAft>
              <a:buNone/>
              <a:defRPr/>
            </a:pPr>
            <a:r>
              <a:rPr lang="en"/>
              <a:t>[3:00 - 3:10] Hour 4 start. Transition from theory to practice. Instruct students to boot up their Linux environments or open their terminals.</a:t>
            </a:r>
            <a:endParaRPr lang="e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38869932" name="Google Shape;308;SLIDES_API647489343_220: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813827249" name="Google Shape;309;SLIDES_API647489343_22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The command </a:t>
            </a:r>
            <a:r>
              <a:rPr sz="1000" b="1" i="0" u="none">
                <a:solidFill>
                  <a:srgbClr val="000000"/>
                </a:solidFill>
                <a:latin typeface="Courier New"/>
                <a:ea typeface="Courier New"/>
                <a:cs typeface="Courier New"/>
              </a:rPr>
              <a:t>sudo apt update</a:t>
            </a:r>
            <a:r>
              <a:rPr sz="1200" b="0" i="0" u="none">
                <a:solidFill>
                  <a:srgbClr val="000000"/>
                </a:solidFill>
                <a:latin typeface="Times New Roman"/>
                <a:ea typeface="Times New Roman"/>
                <a:cs typeface="Times New Roman"/>
              </a:rPr>
              <a:t> updates the local package index of the operating system. In Linux distributions based on Debian or Ubuntu, the </a:t>
            </a:r>
            <a:r>
              <a:rPr sz="1200" b="1" i="0" u="none">
                <a:solidFill>
                  <a:srgbClr val="000000"/>
                </a:solidFill>
                <a:latin typeface="Times New Roman"/>
                <a:ea typeface="Times New Roman"/>
                <a:cs typeface="Times New Roman"/>
              </a:rPr>
              <a:t>APT package manager</a:t>
            </a:r>
            <a:r>
              <a:rPr sz="1200" b="0" i="0" u="none">
                <a:solidFill>
                  <a:srgbClr val="000000"/>
                </a:solidFill>
                <a:latin typeface="Times New Roman"/>
                <a:ea typeface="Times New Roman"/>
                <a:cs typeface="Times New Roman"/>
              </a:rPr>
              <a:t> maintains a list of available software packages and their versions. When we run </a:t>
            </a:r>
            <a:r>
              <a:rPr sz="1000" b="0" i="0" u="none">
                <a:solidFill>
                  <a:srgbClr val="000000"/>
                </a:solidFill>
                <a:latin typeface="Courier New"/>
                <a:ea typeface="Courier New"/>
                <a:cs typeface="Courier New"/>
              </a:rPr>
              <a:t>apt update</a:t>
            </a:r>
            <a:r>
              <a:rPr sz="1200" b="0" i="0" u="none">
                <a:solidFill>
                  <a:srgbClr val="000000"/>
                </a:solidFill>
                <a:latin typeface="Times New Roman"/>
                <a:ea typeface="Times New Roman"/>
                <a:cs typeface="Times New Roman"/>
              </a:rPr>
              <a:t>, the system contacts the configured software repositories on the internet and downloads the latest package lists. This does not install or upgrade any software; it simply refreshes the local metadata so that the system knows which packages and versions are available. This step is important because without updating the package list, the system might attempt to install outdated software or fail to find newly available packages.</a:t>
            </a:r>
            <a:endParaRPr/>
          </a:p>
          <a:p>
            <a:pPr>
              <a:defRPr/>
            </a:pPr>
            <a:r>
              <a:rPr sz="1200" b="0" i="0" u="none">
                <a:solidFill>
                  <a:srgbClr val="000000"/>
                </a:solidFill>
                <a:latin typeface="Times New Roman"/>
                <a:ea typeface="Times New Roman"/>
                <a:cs typeface="Times New Roman"/>
              </a:rPr>
              <a:t>The command </a:t>
            </a:r>
            <a:r>
              <a:rPr sz="1000" b="1" i="0" u="none">
                <a:solidFill>
                  <a:srgbClr val="000000"/>
                </a:solidFill>
                <a:latin typeface="Courier New"/>
                <a:ea typeface="Courier New"/>
                <a:cs typeface="Courier New"/>
              </a:rPr>
              <a:t>sudo apt install -y docker.io docker-compose-v2</a:t>
            </a:r>
            <a:r>
              <a:rPr sz="1200" b="0" i="0" u="none">
                <a:solidFill>
                  <a:srgbClr val="000000"/>
                </a:solidFill>
                <a:latin typeface="Times New Roman"/>
                <a:ea typeface="Times New Roman"/>
                <a:cs typeface="Times New Roman"/>
              </a:rPr>
              <a:t> installs two software packages: </a:t>
            </a:r>
            <a:r>
              <a:rPr sz="1200" b="1" i="0" u="none">
                <a:solidFill>
                  <a:srgbClr val="000000"/>
                </a:solidFill>
                <a:latin typeface="Times New Roman"/>
                <a:ea typeface="Times New Roman"/>
                <a:cs typeface="Times New Roman"/>
              </a:rPr>
              <a:t>Docker</a:t>
            </a:r>
            <a:r>
              <a:rPr sz="1200" b="0" i="0" u="none">
                <a:solidFill>
                  <a:srgbClr val="000000"/>
                </a:solidFill>
                <a:latin typeface="Times New Roman"/>
                <a:ea typeface="Times New Roman"/>
                <a:cs typeface="Times New Roman"/>
              </a:rPr>
              <a:t> and </a:t>
            </a:r>
            <a:r>
              <a:rPr sz="1200" b="1" i="0" u="none">
                <a:solidFill>
                  <a:srgbClr val="000000"/>
                </a:solidFill>
                <a:latin typeface="Times New Roman"/>
                <a:ea typeface="Times New Roman"/>
                <a:cs typeface="Times New Roman"/>
              </a:rPr>
              <a:t>Docker Compose v2</a:t>
            </a:r>
            <a:r>
              <a:rPr sz="1200" b="0" i="0" u="none">
                <a:solidFill>
                  <a:srgbClr val="000000"/>
                </a:solidFill>
                <a:latin typeface="Times New Roman"/>
                <a:ea typeface="Times New Roman"/>
                <a:cs typeface="Times New Roman"/>
              </a:rPr>
              <a:t>. The keyword </a:t>
            </a:r>
            <a:r>
              <a:rPr sz="1000" b="0" i="0" u="none">
                <a:solidFill>
                  <a:srgbClr val="000000"/>
                </a:solidFill>
                <a:latin typeface="Courier New"/>
                <a:ea typeface="Courier New"/>
                <a:cs typeface="Courier New"/>
              </a:rPr>
              <a:t>install</a:t>
            </a:r>
            <a:r>
              <a:rPr sz="1200" b="0" i="0" u="none">
                <a:solidFill>
                  <a:srgbClr val="000000"/>
                </a:solidFill>
                <a:latin typeface="Times New Roman"/>
                <a:ea typeface="Times New Roman"/>
                <a:cs typeface="Times New Roman"/>
              </a:rPr>
              <a:t> tells the package manager to download and install the specified packages. The package </a:t>
            </a:r>
            <a:r>
              <a:rPr sz="1200" b="1" i="0" u="none">
                <a:solidFill>
                  <a:srgbClr val="000000"/>
                </a:solidFill>
                <a:latin typeface="Times New Roman"/>
                <a:ea typeface="Times New Roman"/>
                <a:cs typeface="Times New Roman"/>
              </a:rPr>
              <a:t>docker.io</a:t>
            </a:r>
            <a:r>
              <a:rPr sz="1200" b="0" i="0" u="none">
                <a:solidFill>
                  <a:srgbClr val="000000"/>
                </a:solidFill>
                <a:latin typeface="Times New Roman"/>
                <a:ea typeface="Times New Roman"/>
                <a:cs typeface="Times New Roman"/>
              </a:rPr>
              <a:t> installs the Docker Engine, which is the core runtime responsible for creating and running containers. Containers allow applications to run in isolated environments with their dependencies packaged together. The second package, </a:t>
            </a:r>
            <a:r>
              <a:rPr sz="1200" b="1" i="0" u="none">
                <a:solidFill>
                  <a:srgbClr val="000000"/>
                </a:solidFill>
                <a:latin typeface="Times New Roman"/>
                <a:ea typeface="Times New Roman"/>
                <a:cs typeface="Times New Roman"/>
              </a:rPr>
              <a:t>docker-compose-v2</a:t>
            </a:r>
            <a:r>
              <a:rPr sz="1200" b="0" i="0" u="none">
                <a:solidFill>
                  <a:srgbClr val="000000"/>
                </a:solidFill>
                <a:latin typeface="Times New Roman"/>
                <a:ea typeface="Times New Roman"/>
                <a:cs typeface="Times New Roman"/>
              </a:rPr>
              <a:t>, installs Docker Compose, which is a tool used to define and manage multi-container applications using a single configuration file called </a:t>
            </a:r>
            <a:r>
              <a:rPr sz="1000" b="0" i="0" u="none">
                <a:solidFill>
                  <a:srgbClr val="000000"/>
                </a:solidFill>
                <a:latin typeface="Courier New"/>
                <a:ea typeface="Courier New"/>
                <a:cs typeface="Courier New"/>
              </a:rPr>
              <a:t>docker-compose.yml</a:t>
            </a:r>
            <a:r>
              <a:rPr sz="1200" b="0" i="0" u="none">
                <a:solidFill>
                  <a:srgbClr val="000000"/>
                </a:solidFill>
                <a:latin typeface="Times New Roman"/>
                <a:ea typeface="Times New Roman"/>
                <a:cs typeface="Times New Roman"/>
              </a:rPr>
              <a:t>. The flag </a:t>
            </a:r>
            <a:r>
              <a:rPr sz="1000" b="1" i="0" u="none">
                <a:solidFill>
                  <a:srgbClr val="000000"/>
                </a:solidFill>
                <a:latin typeface="Courier New"/>
                <a:ea typeface="Courier New"/>
                <a:cs typeface="Courier New"/>
              </a:rPr>
              <a:t>-y</a:t>
            </a:r>
            <a:r>
              <a:rPr sz="1200" b="0" i="0" u="none">
                <a:solidFill>
                  <a:srgbClr val="000000"/>
                </a:solidFill>
                <a:latin typeface="Times New Roman"/>
                <a:ea typeface="Times New Roman"/>
                <a:cs typeface="Times New Roman"/>
              </a:rPr>
              <a:t> automatically answers “yes” to any installation prompts, allowing the installation to proceed without requiring manual confirmation from the user.</a:t>
            </a:r>
            <a:endParaRPr/>
          </a:p>
          <a:p>
            <a:pPr>
              <a:defRPr/>
            </a:pPr>
            <a:r>
              <a:rPr sz="1200" b="0" i="0" u="none">
                <a:solidFill>
                  <a:srgbClr val="000000"/>
                </a:solidFill>
                <a:latin typeface="Times New Roman"/>
                <a:ea typeface="Times New Roman"/>
                <a:cs typeface="Times New Roman"/>
              </a:rPr>
              <a:t>The command </a:t>
            </a:r>
            <a:r>
              <a:rPr sz="1000" b="1" i="0" u="none">
                <a:solidFill>
                  <a:srgbClr val="000000"/>
                </a:solidFill>
                <a:latin typeface="Courier New"/>
                <a:ea typeface="Courier New"/>
                <a:cs typeface="Courier New"/>
              </a:rPr>
              <a:t>sudo usermod -aG docker $USER</a:t>
            </a:r>
            <a:r>
              <a:rPr sz="1200" b="0" i="0" u="none">
                <a:solidFill>
                  <a:srgbClr val="000000"/>
                </a:solidFill>
                <a:latin typeface="Times New Roman"/>
                <a:ea typeface="Times New Roman"/>
                <a:cs typeface="Times New Roman"/>
              </a:rPr>
              <a:t> modifies the permissions of the current user so that Docker commands can be executed without using </a:t>
            </a:r>
            <a:r>
              <a:rPr sz="1000" b="0" i="0" u="none">
                <a:solidFill>
                  <a:srgbClr val="000000"/>
                </a:solidFill>
                <a:latin typeface="Courier New"/>
                <a:ea typeface="Courier New"/>
                <a:cs typeface="Courier New"/>
              </a:rPr>
              <a:t>sudo</a:t>
            </a:r>
            <a:r>
              <a:rPr sz="1200" b="0" i="0" u="none">
                <a:solidFill>
                  <a:srgbClr val="000000"/>
                </a:solidFill>
                <a:latin typeface="Times New Roman"/>
                <a:ea typeface="Times New Roman"/>
                <a:cs typeface="Times New Roman"/>
              </a:rPr>
              <a:t>. The program </a:t>
            </a:r>
            <a:r>
              <a:rPr sz="1000" b="0" i="0" u="none">
                <a:solidFill>
                  <a:srgbClr val="000000"/>
                </a:solidFill>
                <a:latin typeface="Courier New"/>
                <a:ea typeface="Courier New"/>
                <a:cs typeface="Courier New"/>
              </a:rPr>
              <a:t>usermod</a:t>
            </a:r>
            <a:r>
              <a:rPr sz="1200" b="0" i="0" u="none">
                <a:solidFill>
                  <a:srgbClr val="000000"/>
                </a:solidFill>
                <a:latin typeface="Times New Roman"/>
                <a:ea typeface="Times New Roman"/>
                <a:cs typeface="Times New Roman"/>
              </a:rPr>
              <a:t> is used to modify user accounts in Linux. The option </a:t>
            </a:r>
            <a:r>
              <a:rPr sz="1000" b="1" i="0" u="none">
                <a:solidFill>
                  <a:srgbClr val="000000"/>
                </a:solidFill>
                <a:latin typeface="Courier New"/>
                <a:ea typeface="Courier New"/>
                <a:cs typeface="Courier New"/>
              </a:rPr>
              <a:t>-aG docker</a:t>
            </a:r>
            <a:r>
              <a:rPr sz="1200" b="0" i="0" u="none">
                <a:solidFill>
                  <a:srgbClr val="000000"/>
                </a:solidFill>
                <a:latin typeface="Times New Roman"/>
                <a:ea typeface="Times New Roman"/>
                <a:cs typeface="Times New Roman"/>
              </a:rPr>
              <a:t> means “append the user to the docker group.” In Linux, groups are used to control permissions. The Docker service requires special privileges because it interacts with system-level resources such as networking and process isolation. By adding the user to the </a:t>
            </a:r>
            <a:r>
              <a:rPr sz="1200" b="1" i="0" u="none">
                <a:solidFill>
                  <a:srgbClr val="000000"/>
                </a:solidFill>
                <a:latin typeface="Times New Roman"/>
                <a:ea typeface="Times New Roman"/>
                <a:cs typeface="Times New Roman"/>
              </a:rPr>
              <a:t>docker group</a:t>
            </a:r>
            <a:r>
              <a:rPr sz="1200" b="0" i="0" u="none">
                <a:solidFill>
                  <a:srgbClr val="000000"/>
                </a:solidFill>
                <a:latin typeface="Times New Roman"/>
                <a:ea typeface="Times New Roman"/>
                <a:cs typeface="Times New Roman"/>
              </a:rPr>
              <a:t>, the user is granted permission to run Docker commands directly. The variable </a:t>
            </a:r>
            <a:r>
              <a:rPr sz="1000" b="1" i="0" u="none">
                <a:solidFill>
                  <a:srgbClr val="000000"/>
                </a:solidFill>
                <a:latin typeface="Courier New"/>
                <a:ea typeface="Courier New"/>
                <a:cs typeface="Courier New"/>
              </a:rPr>
              <a:t>$USER</a:t>
            </a:r>
            <a:r>
              <a:rPr sz="1200" b="0" i="0" u="none">
                <a:solidFill>
                  <a:srgbClr val="000000"/>
                </a:solidFill>
                <a:latin typeface="Times New Roman"/>
                <a:ea typeface="Times New Roman"/>
                <a:cs typeface="Times New Roman"/>
              </a:rPr>
              <a:t> represents the current logged-in username. After running this command, the user typically needs to log out and log back in for the new group permissions to take effect.</a:t>
            </a:r>
            <a:endParaRPr/>
          </a:p>
          <a:p>
            <a:pPr>
              <a:defRPr/>
            </a:pPr>
            <a:r>
              <a:rPr sz="1200" b="0" i="0" u="none">
                <a:solidFill>
                  <a:srgbClr val="000000"/>
                </a:solidFill>
                <a:latin typeface="Times New Roman"/>
                <a:ea typeface="Times New Roman"/>
                <a:cs typeface="Times New Roman"/>
              </a:rPr>
              <a:t>The command </a:t>
            </a:r>
            <a:r>
              <a:rPr sz="1000" b="1" i="0" u="none">
                <a:solidFill>
                  <a:srgbClr val="000000"/>
                </a:solidFill>
                <a:latin typeface="Courier New"/>
                <a:ea typeface="Courier New"/>
                <a:cs typeface="Courier New"/>
              </a:rPr>
              <a:t>sudo apt install -y redis-server postgresql</a:t>
            </a:r>
            <a:r>
              <a:rPr sz="1200" b="0" i="0" u="none">
                <a:solidFill>
                  <a:srgbClr val="000000"/>
                </a:solidFill>
                <a:latin typeface="Times New Roman"/>
                <a:ea typeface="Times New Roman"/>
                <a:cs typeface="Times New Roman"/>
              </a:rPr>
              <a:t> installs two database systems directly on the host machine. The package </a:t>
            </a:r>
            <a:r>
              <a:rPr sz="1200" b="1" i="0" u="none">
                <a:solidFill>
                  <a:srgbClr val="000000"/>
                </a:solidFill>
                <a:latin typeface="Times New Roman"/>
                <a:ea typeface="Times New Roman"/>
                <a:cs typeface="Times New Roman"/>
              </a:rPr>
              <a:t>redis-server</a:t>
            </a:r>
            <a:r>
              <a:rPr sz="1200" b="0" i="0" u="none">
                <a:solidFill>
                  <a:srgbClr val="000000"/>
                </a:solidFill>
                <a:latin typeface="Times New Roman"/>
                <a:ea typeface="Times New Roman"/>
                <a:cs typeface="Times New Roman"/>
              </a:rPr>
              <a:t> installs Redis, which is an in-memory key–value database commonly used for caching, session storage, and real-time analytics. Redis stores its data primarily in RAM, which allows it to perform extremely fast read and write operations. The package </a:t>
            </a:r>
            <a:r>
              <a:rPr sz="1200" b="1" i="0" u="none">
                <a:solidFill>
                  <a:srgbClr val="000000"/>
                </a:solidFill>
                <a:latin typeface="Times New Roman"/>
                <a:ea typeface="Times New Roman"/>
                <a:cs typeface="Times New Roman"/>
              </a:rPr>
              <a:t>postgresql</a:t>
            </a:r>
            <a:r>
              <a:rPr sz="1200" b="0" i="0" u="none">
                <a:solidFill>
                  <a:srgbClr val="000000"/>
                </a:solidFill>
                <a:latin typeface="Times New Roman"/>
                <a:ea typeface="Times New Roman"/>
                <a:cs typeface="Times New Roman"/>
              </a:rPr>
              <a:t> installs the PostgreSQL relational database management system. PostgreSQL is a powerful open-source SQL database used for storing structured data and executing complex queries. It supports advanced features such as transactions, indexing, and JSONB data types. The flag </a:t>
            </a:r>
            <a:r>
              <a:rPr sz="1000" b="1" i="0" u="none">
                <a:solidFill>
                  <a:srgbClr val="000000"/>
                </a:solidFill>
                <a:latin typeface="Courier New"/>
                <a:ea typeface="Courier New"/>
                <a:cs typeface="Courier New"/>
              </a:rPr>
              <a:t>-y</a:t>
            </a:r>
            <a:r>
              <a:rPr sz="1200" b="0" i="0" u="none">
                <a:solidFill>
                  <a:srgbClr val="000000"/>
                </a:solidFill>
                <a:latin typeface="Times New Roman"/>
                <a:ea typeface="Times New Roman"/>
                <a:cs typeface="Times New Roman"/>
              </a:rPr>
              <a:t> again automatically confirms the installation prompts so that the installation can proceed without manual interaction.</a:t>
            </a:r>
            <a:endParaRPr/>
          </a:p>
          <a:p>
            <a:pPr>
              <a:defRPr/>
            </a:pPr>
            <a:r>
              <a:rPr sz="1200" b="0" i="0" u="none">
                <a:solidFill>
                  <a:srgbClr val="000000"/>
                </a:solidFill>
                <a:latin typeface="Times New Roman"/>
                <a:ea typeface="Times New Roman"/>
                <a:cs typeface="Times New Roman"/>
              </a:rPr>
              <a:t>In the context of this lab environment, installing Redis and PostgreSQL allows students to experiment with both </a:t>
            </a:r>
            <a:r>
              <a:rPr sz="1200" b="1" i="0" u="none">
                <a:solidFill>
                  <a:srgbClr val="000000"/>
                </a:solidFill>
                <a:latin typeface="Times New Roman"/>
                <a:ea typeface="Times New Roman"/>
                <a:cs typeface="Times New Roman"/>
              </a:rPr>
              <a:t>in-memory NoSQL caching systems and relational SQL databases</a:t>
            </a:r>
            <a:r>
              <a:rPr sz="1200" b="0" i="0" u="none">
                <a:solidFill>
                  <a:srgbClr val="000000"/>
                </a:solidFill>
                <a:latin typeface="Times New Roman"/>
                <a:ea typeface="Times New Roman"/>
                <a:cs typeface="Times New Roman"/>
              </a:rPr>
              <a:t>. However, the lecture notes mention that installing databases natively is optional because modern development environments typically run databases inside Docker containers rather than directly on the host system.</a:t>
            </a:r>
            <a:endParaRPr/>
          </a:p>
          <a:p>
            <a:pPr>
              <a:defRPr/>
            </a:pPr>
            <a:r>
              <a:rPr sz="1200" b="1" i="0" u="none">
                <a:solidFill>
                  <a:srgbClr val="000000"/>
                </a:solidFill>
                <a:latin typeface="Times New Roman"/>
                <a:ea typeface="Times New Roman"/>
                <a:cs typeface="Times New Roman"/>
              </a:rPr>
              <a:t>Interview Question:</a:t>
            </a:r>
            <a:r>
              <a:rPr sz="1200" b="0" i="0" u="none">
                <a:solidFill>
                  <a:srgbClr val="000000"/>
                </a:solidFill>
                <a:latin typeface="Times New Roman"/>
                <a:ea typeface="Times New Roman"/>
                <a:cs typeface="Times New Roman"/>
              </a:rPr>
              <a:t> Why do we run </a:t>
            </a:r>
            <a:r>
              <a:rPr sz="1000" b="0" i="0" u="none">
                <a:solidFill>
                  <a:srgbClr val="000000"/>
                </a:solidFill>
                <a:latin typeface="Courier New"/>
                <a:ea typeface="Courier New"/>
                <a:cs typeface="Courier New"/>
              </a:rPr>
              <a:t>apt update</a:t>
            </a:r>
            <a:r>
              <a:rPr sz="1200" b="0" i="0" u="none">
                <a:solidFill>
                  <a:srgbClr val="000000"/>
                </a:solidFill>
                <a:latin typeface="Times New Roman"/>
                <a:ea typeface="Times New Roman"/>
                <a:cs typeface="Times New Roman"/>
              </a:rPr>
              <a:t> before installing packages?</a:t>
            </a:r>
            <a:br>
              <a:rPr sz="1200" b="0"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Answer:</a:t>
            </a:r>
            <a:r>
              <a:rPr sz="1200" b="0" i="0" u="none">
                <a:solidFill>
                  <a:srgbClr val="000000"/>
                </a:solidFill>
                <a:latin typeface="Times New Roman"/>
                <a:ea typeface="Times New Roman"/>
                <a:cs typeface="Times New Roman"/>
              </a:rPr>
              <a:t> Because </a:t>
            </a:r>
            <a:r>
              <a:rPr sz="1000" b="0" i="0" u="none">
                <a:solidFill>
                  <a:srgbClr val="000000"/>
                </a:solidFill>
                <a:latin typeface="Courier New"/>
                <a:ea typeface="Courier New"/>
                <a:cs typeface="Courier New"/>
              </a:rPr>
              <a:t>apt update</a:t>
            </a:r>
            <a:r>
              <a:rPr sz="1200" b="0" i="0" u="none">
                <a:solidFill>
                  <a:srgbClr val="000000"/>
                </a:solidFill>
                <a:latin typeface="Times New Roman"/>
                <a:ea typeface="Times New Roman"/>
                <a:cs typeface="Times New Roman"/>
              </a:rPr>
              <a:t> refreshes the package index so the system knows the latest available software versions in the repositories.</a:t>
            </a:r>
            <a:endParaRPr/>
          </a:p>
          <a:p>
            <a:pPr>
              <a:defRPr/>
            </a:pPr>
            <a:r>
              <a:rPr sz="1200" b="1" i="0" u="none">
                <a:solidFill>
                  <a:srgbClr val="000000"/>
                </a:solidFill>
                <a:latin typeface="Times New Roman"/>
                <a:ea typeface="Times New Roman"/>
                <a:cs typeface="Times New Roman"/>
              </a:rPr>
              <a:t>Interview Question:</a:t>
            </a:r>
            <a:r>
              <a:rPr sz="1200" b="0" i="0" u="none">
                <a:solidFill>
                  <a:srgbClr val="000000"/>
                </a:solidFill>
                <a:latin typeface="Times New Roman"/>
                <a:ea typeface="Times New Roman"/>
                <a:cs typeface="Times New Roman"/>
              </a:rPr>
              <a:t> Why do we add the user to the Docker group?</a:t>
            </a:r>
            <a:br>
              <a:rPr sz="1200" b="0"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Answer:</a:t>
            </a:r>
            <a:r>
              <a:rPr sz="1200" b="0" i="0" u="none">
                <a:solidFill>
                  <a:srgbClr val="000000"/>
                </a:solidFill>
                <a:latin typeface="Times New Roman"/>
                <a:ea typeface="Times New Roman"/>
                <a:cs typeface="Times New Roman"/>
              </a:rPr>
              <a:t> Because Docker requires elevated permissions, and adding the user to the Docker group allows running Docker commands without </a:t>
            </a:r>
            <a:r>
              <a:rPr sz="1000" b="0" i="0" u="none">
                <a:solidFill>
                  <a:srgbClr val="000000"/>
                </a:solidFill>
                <a:latin typeface="Courier New"/>
                <a:ea typeface="Courier New"/>
                <a:cs typeface="Courier New"/>
              </a:rPr>
              <a:t>sudo</a:t>
            </a:r>
            <a:r>
              <a:rPr sz="1200" b="0" i="0" u="none">
                <a:solidFill>
                  <a:srgbClr val="000000"/>
                </a:solidFill>
                <a:latin typeface="Times New Roman"/>
                <a:ea typeface="Times New Roman"/>
                <a:cs typeface="Times New Roman"/>
              </a:rPr>
              <a:t>.</a:t>
            </a:r>
            <a:endParaRPr/>
          </a:p>
          <a:p>
            <a:pPr>
              <a:defRPr/>
            </a:pPr>
            <a:r>
              <a:rPr sz="1200" b="1" i="0" u="none">
                <a:solidFill>
                  <a:srgbClr val="000000"/>
                </a:solidFill>
                <a:latin typeface="Times New Roman"/>
                <a:ea typeface="Times New Roman"/>
                <a:cs typeface="Times New Roman"/>
              </a:rPr>
              <a:t>Interview Question:</a:t>
            </a:r>
            <a:r>
              <a:rPr sz="1200" b="0" i="0" u="none">
                <a:solidFill>
                  <a:srgbClr val="000000"/>
                </a:solidFill>
                <a:latin typeface="Times New Roman"/>
                <a:ea typeface="Times New Roman"/>
                <a:cs typeface="Times New Roman"/>
              </a:rPr>
              <a:t> What is the difference between Redis and PostgreSQL?</a:t>
            </a:r>
            <a:br>
              <a:rPr sz="1200" b="0"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Answer:</a:t>
            </a:r>
            <a:r>
              <a:rPr sz="1200" b="0" i="0" u="none">
                <a:solidFill>
                  <a:srgbClr val="000000"/>
                </a:solidFill>
                <a:latin typeface="Times New Roman"/>
                <a:ea typeface="Times New Roman"/>
                <a:cs typeface="Times New Roman"/>
              </a:rPr>
              <a:t> Redis is an in-memory key–value database optimized for extremely fast operations and caching, while PostgreSQL is a relational database designed for persistent storage and complex SQL queries.</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09255692" name="Google Shape;316;SLIDES_API647489343_227: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304995655" name="Google Shape;317;SLIDES_API647489343_227: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To create a directory and save this </a:t>
            </a:r>
            <a:r>
              <a:rPr sz="1200" b="1" i="0" u="none">
                <a:solidFill>
                  <a:srgbClr val="000000"/>
                </a:solidFill>
                <a:latin typeface="Times New Roman"/>
                <a:ea typeface="Times New Roman"/>
                <a:cs typeface="Times New Roman"/>
              </a:rPr>
              <a:t>Docker Compose configuration</a:t>
            </a:r>
            <a:r>
              <a:rPr sz="1200" b="0" i="0" u="none">
                <a:solidFill>
                  <a:srgbClr val="000000"/>
                </a:solidFill>
                <a:latin typeface="Times New Roman"/>
                <a:ea typeface="Times New Roman"/>
                <a:cs typeface="Times New Roman"/>
              </a:rPr>
              <a:t>, students should follow a simple sequence of Linux commands. The idea is to create a project folder and store the YAML configuration file inside it so Docker Compose can read it.</a:t>
            </a:r>
            <a:endParaRPr/>
          </a:p>
          <a:p>
            <a:pPr>
              <a:defRPr/>
            </a:pPr>
            <a:r>
              <a:rPr sz="1200" b="0" i="0" u="none">
                <a:solidFill>
                  <a:srgbClr val="000000"/>
                </a:solidFill>
                <a:latin typeface="Times New Roman"/>
                <a:ea typeface="Times New Roman"/>
                <a:cs typeface="Times New Roman"/>
              </a:rPr>
              <a:t>First, we create a directory for the project. This directory will contain the configuration file that describes the containers.</a:t>
            </a:r>
            <a:endParaRPr sz="1200" b="0" i="0" u="none">
              <a:solidFill>
                <a:srgbClr val="000000"/>
              </a:solidFill>
              <a:latin typeface="Times New Roman"/>
              <a:ea typeface="Times New Roman"/>
              <a:cs typeface="Times New Roman"/>
            </a:endParaRPr>
          </a:p>
          <a:p>
            <a:pPr>
              <a:defRPr/>
            </a:pPr>
            <a:r>
              <a:rPr lang="en-US" sz="1100" b="0" i="0" u="none" strike="noStrike" cap="none" spc="0">
                <a:solidFill>
                  <a:srgbClr val="000000"/>
                </a:solidFill>
                <a:latin typeface="Arial"/>
                <a:ea typeface="Arial"/>
                <a:cs typeface="Arial"/>
              </a:rPr>
              <a:t>mkdir docker-lab</a:t>
            </a:r>
            <a:endParaRPr/>
          </a:p>
          <a:p>
            <a:pPr>
              <a:defRPr/>
            </a:pPr>
            <a:endParaRPr/>
          </a:p>
          <a:p>
            <a:pPr>
              <a:defRPr/>
            </a:pPr>
            <a:r>
              <a:rPr sz="1200" b="0" i="0" u="none">
                <a:solidFill>
                  <a:srgbClr val="000000"/>
                </a:solidFill>
                <a:latin typeface="Times New Roman"/>
                <a:ea typeface="Times New Roman"/>
                <a:cs typeface="Times New Roman"/>
              </a:rPr>
              <a:t>Next, we move into the directory we just created.</a:t>
            </a:r>
            <a:endParaRPr/>
          </a:p>
          <a:p>
            <a:pPr>
              <a:defRPr/>
            </a:pPr>
            <a:r>
              <a:rPr/>
              <a:t>cd docker-lab</a:t>
            </a:r>
            <a:endParaRPr/>
          </a:p>
          <a:p>
            <a:pPr>
              <a:defRPr/>
            </a:pPr>
            <a:r>
              <a:rPr sz="1200" b="0" i="0" u="none">
                <a:solidFill>
                  <a:srgbClr val="000000"/>
                </a:solidFill>
                <a:latin typeface="Times New Roman"/>
                <a:ea typeface="Times New Roman"/>
                <a:cs typeface="Times New Roman"/>
              </a:rPr>
              <a:t>The command </a:t>
            </a:r>
            <a:r>
              <a:rPr sz="1000" b="1" i="0" u="none">
                <a:solidFill>
                  <a:srgbClr val="000000"/>
                </a:solidFill>
                <a:latin typeface="Courier New"/>
                <a:ea typeface="Courier New"/>
                <a:cs typeface="Courier New"/>
              </a:rPr>
              <a:t>cd</a:t>
            </a:r>
            <a:r>
              <a:rPr sz="1200" b="0" i="0" u="none">
                <a:solidFill>
                  <a:srgbClr val="000000"/>
                </a:solidFill>
                <a:latin typeface="Times New Roman"/>
                <a:ea typeface="Times New Roman"/>
                <a:cs typeface="Times New Roman"/>
              </a:rPr>
              <a:t> means </a:t>
            </a:r>
            <a:r>
              <a:rPr sz="1200" b="1" i="0" u="none">
                <a:solidFill>
                  <a:srgbClr val="000000"/>
                </a:solidFill>
                <a:latin typeface="Times New Roman"/>
                <a:ea typeface="Times New Roman"/>
                <a:cs typeface="Times New Roman"/>
              </a:rPr>
              <a:t>change directory</a:t>
            </a:r>
            <a:r>
              <a:rPr sz="1200" b="0" i="0" u="none">
                <a:solidFill>
                  <a:srgbClr val="000000"/>
                </a:solidFill>
                <a:latin typeface="Times New Roman"/>
                <a:ea typeface="Times New Roman"/>
                <a:cs typeface="Times New Roman"/>
              </a:rPr>
              <a:t>. It moves the terminal session into the folder named </a:t>
            </a:r>
            <a:r>
              <a:rPr sz="1200" b="1" i="0" u="none">
                <a:solidFill>
                  <a:srgbClr val="000000"/>
                </a:solidFill>
                <a:latin typeface="Times New Roman"/>
                <a:ea typeface="Times New Roman"/>
                <a:cs typeface="Times New Roman"/>
              </a:rPr>
              <a:t>docker-lab</a:t>
            </a:r>
            <a:r>
              <a:rPr sz="1200" b="0" i="0" u="none">
                <a:solidFill>
                  <a:srgbClr val="000000"/>
                </a:solidFill>
                <a:latin typeface="Times New Roman"/>
                <a:ea typeface="Times New Roman"/>
                <a:cs typeface="Times New Roman"/>
              </a:rPr>
              <a:t> so that any files we create will be stored there.</a:t>
            </a:r>
            <a:endParaRPr/>
          </a:p>
          <a:p>
            <a:pPr>
              <a:defRPr/>
            </a:pPr>
            <a:endParaRPr/>
          </a:p>
          <a:p>
            <a:pPr>
              <a:defRPr/>
            </a:pPr>
            <a:r>
              <a:rPr sz="1200" b="0" i="0" u="none">
                <a:solidFill>
                  <a:srgbClr val="000000"/>
                </a:solidFill>
                <a:latin typeface="Times New Roman"/>
                <a:ea typeface="Times New Roman"/>
                <a:cs typeface="Times New Roman"/>
              </a:rPr>
              <a:t>Now we create the configuration file where the Docker Compose structure will be saved.</a:t>
            </a:r>
            <a:endParaRPr/>
          </a:p>
          <a:p>
            <a:pPr>
              <a:defRPr/>
            </a:pPr>
            <a:r>
              <a:rPr lang="en-US" sz="1100" b="0" i="0" u="none" strike="noStrike" cap="none" spc="0">
                <a:solidFill>
                  <a:srgbClr val="000000"/>
                </a:solidFill>
                <a:latin typeface="Arial"/>
                <a:ea typeface="Arial"/>
                <a:cs typeface="Arial"/>
              </a:rPr>
              <a:t>nano docker-compose.yml</a:t>
            </a:r>
            <a:endParaRPr/>
          </a:p>
          <a:p>
            <a:pPr>
              <a:defRPr/>
            </a:pPr>
            <a:r>
              <a:rPr sz="1200" b="0" i="0" u="none">
                <a:solidFill>
                  <a:srgbClr val="000000"/>
                </a:solidFill>
                <a:latin typeface="Times New Roman"/>
                <a:ea typeface="Times New Roman"/>
                <a:cs typeface="Times New Roman"/>
              </a:rPr>
              <a:t>The command </a:t>
            </a:r>
            <a:r>
              <a:rPr sz="1000" b="1" i="0" u="none">
                <a:solidFill>
                  <a:srgbClr val="000000"/>
                </a:solidFill>
                <a:latin typeface="Courier New"/>
                <a:ea typeface="Courier New"/>
                <a:cs typeface="Courier New"/>
              </a:rPr>
              <a:t>nano</a:t>
            </a:r>
            <a:r>
              <a:rPr sz="1200" b="0" i="0" u="none">
                <a:solidFill>
                  <a:srgbClr val="000000"/>
                </a:solidFill>
                <a:latin typeface="Times New Roman"/>
                <a:ea typeface="Times New Roman"/>
                <a:cs typeface="Times New Roman"/>
              </a:rPr>
              <a:t> opens a simple text editor in the terminal. The filename </a:t>
            </a:r>
            <a:r>
              <a:rPr sz="1000" b="1" i="0" u="none">
                <a:solidFill>
                  <a:srgbClr val="000000"/>
                </a:solidFill>
                <a:latin typeface="Courier New"/>
                <a:ea typeface="Courier New"/>
                <a:cs typeface="Courier New"/>
              </a:rPr>
              <a:t>docker-compose.yml</a:t>
            </a:r>
            <a:r>
              <a:rPr sz="1200" b="0" i="0" u="none">
                <a:solidFill>
                  <a:srgbClr val="000000"/>
                </a:solidFill>
                <a:latin typeface="Times New Roman"/>
                <a:ea typeface="Times New Roman"/>
                <a:cs typeface="Times New Roman"/>
              </a:rPr>
              <a:t> is important because Docker Compose automatically looks for a file with this name when running commands such as </a:t>
            </a:r>
            <a:r>
              <a:rPr sz="1000" b="0" i="0" u="none">
                <a:solidFill>
                  <a:srgbClr val="000000"/>
                </a:solidFill>
                <a:latin typeface="Courier New"/>
                <a:ea typeface="Courier New"/>
                <a:cs typeface="Courier New"/>
              </a:rPr>
              <a:t>docker compose up</a:t>
            </a:r>
            <a:r>
              <a:rPr sz="1200" b="0" i="0" u="none">
                <a:solidFill>
                  <a:srgbClr val="000000"/>
                </a:solidFill>
                <a:latin typeface="Times New Roman"/>
                <a:ea typeface="Times New Roman"/>
                <a:cs typeface="Times New Roman"/>
              </a:rPr>
              <a:t>.</a:t>
            </a:r>
            <a:endParaRPr/>
          </a:p>
          <a:p>
            <a:pPr>
              <a:defRPr/>
            </a:pPr>
            <a:endParaRPr/>
          </a:p>
          <a:p>
            <a:pPr>
              <a:defRPr/>
            </a:pPr>
            <a:r>
              <a:rPr sz="1200" b="0" i="0" u="none">
                <a:solidFill>
                  <a:srgbClr val="000000"/>
                </a:solidFill>
                <a:latin typeface="Times New Roman"/>
                <a:ea typeface="Times New Roman"/>
                <a:cs typeface="Times New Roman"/>
              </a:rPr>
              <a:t>Inside the editor, students should paste the following configuration:</a:t>
            </a:r>
            <a:endParaRPr/>
          </a:p>
          <a:p>
            <a:pPr>
              <a:defRPr/>
            </a:pPr>
            <a:r>
              <a:rPr lang="en-US" sz="1100" b="0" i="0" u="none" strike="noStrike" cap="none" spc="0">
                <a:solidFill>
                  <a:srgbClr val="000000"/>
                </a:solidFill>
                <a:latin typeface="Arial"/>
                <a:ea typeface="Arial"/>
                <a:cs typeface="Arial"/>
              </a:rPr>
              <a:t>services:</a:t>
            </a:r>
            <a:endParaRPr lang="en-US" sz="1100" b="0" i="0" u="none" strike="noStrike" cap="none" spc="0">
              <a:solidFill>
                <a:srgbClr val="000000"/>
              </a:solidFill>
              <a:latin typeface="Arial"/>
              <a:cs typeface="Arial"/>
            </a:endParaRPr>
          </a:p>
          <a:p>
            <a:pPr>
              <a:defRPr/>
            </a:pPr>
            <a:r>
              <a:rPr lang="en-US" sz="1100" b="0" i="0" u="none" strike="noStrike" cap="none" spc="0">
                <a:solidFill>
                  <a:srgbClr val="000000"/>
                </a:solidFill>
                <a:latin typeface="Arial"/>
                <a:ea typeface="Arial"/>
                <a:cs typeface="Arial"/>
              </a:rPr>
              <a:t>  postgres:</a:t>
            </a:r>
            <a:endParaRPr lang="en-US" sz="1100" b="0" i="0" u="none" strike="noStrike" cap="none" spc="0">
              <a:solidFill>
                <a:srgbClr val="000000"/>
              </a:solidFill>
              <a:latin typeface="Arial"/>
              <a:cs typeface="Arial"/>
            </a:endParaRPr>
          </a:p>
          <a:p>
            <a:pPr>
              <a:defRPr/>
            </a:pPr>
            <a:r>
              <a:rPr lang="en-US" sz="1100" b="0" i="0" u="none" strike="noStrike" cap="none" spc="0">
                <a:solidFill>
                  <a:srgbClr val="000000"/>
                </a:solidFill>
                <a:latin typeface="Arial"/>
                <a:ea typeface="Arial"/>
                <a:cs typeface="Arial"/>
              </a:rPr>
              <a:t>    image: postgres:15</a:t>
            </a:r>
            <a:endParaRPr lang="en-US" sz="1100" b="0" i="0" u="none" strike="noStrike" cap="none" spc="0">
              <a:solidFill>
                <a:srgbClr val="000000"/>
              </a:solidFill>
              <a:latin typeface="Arial"/>
              <a:cs typeface="Arial"/>
            </a:endParaRPr>
          </a:p>
          <a:p>
            <a:pPr>
              <a:defRPr/>
            </a:pPr>
            <a:r>
              <a:rPr lang="en-US" sz="1100" b="0" i="0" u="none" strike="noStrike" cap="none" spc="0">
                <a:solidFill>
                  <a:srgbClr val="000000"/>
                </a:solidFill>
                <a:latin typeface="Arial"/>
                <a:ea typeface="Arial"/>
                <a:cs typeface="Arial"/>
              </a:rPr>
              <a:t>    container_name: lab_postgres</a:t>
            </a:r>
            <a:endParaRPr lang="en-US" sz="1100" b="0" i="0" u="none" strike="noStrike" cap="none" spc="0">
              <a:solidFill>
                <a:srgbClr val="000000"/>
              </a:solidFill>
              <a:latin typeface="Arial"/>
              <a:cs typeface="Arial"/>
            </a:endParaRPr>
          </a:p>
          <a:p>
            <a:pPr>
              <a:defRPr/>
            </a:pPr>
            <a:r>
              <a:rPr lang="en-US" sz="1100" b="0" i="0" u="none" strike="noStrike" cap="none" spc="0">
                <a:solidFill>
                  <a:srgbClr val="000000"/>
                </a:solidFill>
                <a:latin typeface="Arial"/>
                <a:ea typeface="Arial"/>
                <a:cs typeface="Arial"/>
              </a:rPr>
              <a:t>    environment:</a:t>
            </a:r>
            <a:endParaRPr lang="en-US" sz="1100" b="0" i="0" u="none" strike="noStrike" cap="none" spc="0">
              <a:solidFill>
                <a:srgbClr val="000000"/>
              </a:solidFill>
              <a:latin typeface="Arial"/>
              <a:cs typeface="Arial"/>
            </a:endParaRPr>
          </a:p>
          <a:p>
            <a:pPr>
              <a:defRPr/>
            </a:pPr>
            <a:r>
              <a:rPr lang="en-US" sz="1100" b="0" i="0" u="none" strike="noStrike" cap="none" spc="0">
                <a:solidFill>
                  <a:srgbClr val="000000"/>
                </a:solidFill>
                <a:latin typeface="Arial"/>
                <a:ea typeface="Arial"/>
                <a:cs typeface="Arial"/>
              </a:rPr>
              <a:t>      POSTGRES_USER: admin</a:t>
            </a:r>
            <a:endParaRPr lang="en-US" sz="1100" b="0" i="0" u="none" strike="noStrike" cap="none" spc="0">
              <a:solidFill>
                <a:srgbClr val="000000"/>
              </a:solidFill>
              <a:latin typeface="Arial"/>
              <a:cs typeface="Arial"/>
            </a:endParaRPr>
          </a:p>
          <a:p>
            <a:pPr>
              <a:defRPr/>
            </a:pPr>
            <a:r>
              <a:rPr lang="en-US" sz="1100" b="0" i="0" u="none" strike="noStrike" cap="none" spc="0">
                <a:solidFill>
                  <a:srgbClr val="000000"/>
                </a:solidFill>
                <a:latin typeface="Arial"/>
                <a:ea typeface="Arial"/>
                <a:cs typeface="Arial"/>
              </a:rPr>
              <a:t>      POSTGRES_PASSWORD: secretpassword</a:t>
            </a:r>
            <a:endParaRPr lang="en-US" sz="1100" b="0" i="0" u="none" strike="noStrike" cap="none" spc="0">
              <a:solidFill>
                <a:srgbClr val="000000"/>
              </a:solidFill>
              <a:latin typeface="Arial"/>
              <a:cs typeface="Arial"/>
            </a:endParaRPr>
          </a:p>
          <a:p>
            <a:pPr>
              <a:defRPr/>
            </a:pPr>
            <a:r>
              <a:rPr lang="en-US" sz="1100" b="0" i="0" u="none" strike="noStrike" cap="none" spc="0">
                <a:solidFill>
                  <a:srgbClr val="000000"/>
                </a:solidFill>
                <a:latin typeface="Arial"/>
                <a:ea typeface="Arial"/>
                <a:cs typeface="Arial"/>
              </a:rPr>
              <a:t>      POSTGRES_DB: app_db</a:t>
            </a:r>
            <a:endParaRPr lang="en-US" sz="1100" b="0" i="0" u="none" strike="noStrike" cap="none" spc="0">
              <a:solidFill>
                <a:srgbClr val="000000"/>
              </a:solidFill>
              <a:latin typeface="Arial"/>
              <a:cs typeface="Arial"/>
            </a:endParaRPr>
          </a:p>
          <a:p>
            <a:pPr>
              <a:defRPr/>
            </a:pPr>
            <a:r>
              <a:rPr lang="en-US" sz="1100" b="0" i="0" u="none" strike="noStrike" cap="none" spc="0">
                <a:solidFill>
                  <a:srgbClr val="000000"/>
                </a:solidFill>
                <a:latin typeface="Arial"/>
                <a:ea typeface="Arial"/>
                <a:cs typeface="Arial"/>
              </a:rPr>
              <a:t>    ports:</a:t>
            </a:r>
            <a:endParaRPr lang="en-US" sz="1100" b="0" i="0" u="none" strike="noStrike" cap="none" spc="0">
              <a:solidFill>
                <a:srgbClr val="000000"/>
              </a:solidFill>
              <a:latin typeface="Arial"/>
              <a:cs typeface="Arial"/>
            </a:endParaRPr>
          </a:p>
          <a:p>
            <a:pPr>
              <a:defRPr/>
            </a:pPr>
            <a:r>
              <a:rPr lang="en-US" sz="1100" b="0" i="0" u="none" strike="noStrike" cap="none" spc="0">
                <a:solidFill>
                  <a:srgbClr val="000000"/>
                </a:solidFill>
                <a:latin typeface="Arial"/>
                <a:ea typeface="Arial"/>
                <a:cs typeface="Arial"/>
              </a:rPr>
              <a:t>      - "5432:5432"</a:t>
            </a:r>
            <a:endParaRPr lang="en-US" sz="1100" b="0" i="0" u="none" strike="noStrike" cap="none" spc="0">
              <a:solidFill>
                <a:srgbClr val="000000"/>
              </a:solidFill>
              <a:latin typeface="Arial"/>
              <a:cs typeface="Arial"/>
            </a:endParaRPr>
          </a:p>
          <a:p>
            <a:pPr>
              <a:defRPr/>
            </a:pPr>
            <a:endParaRPr lang="en-US" sz="1100" b="0" i="0" u="none" strike="noStrike" cap="none" spc="0">
              <a:solidFill>
                <a:srgbClr val="000000"/>
              </a:solidFill>
              <a:latin typeface="Arial"/>
              <a:cs typeface="Arial"/>
            </a:endParaRPr>
          </a:p>
          <a:p>
            <a:pPr>
              <a:defRPr/>
            </a:pPr>
            <a:r>
              <a:rPr lang="en-US" sz="1100" b="0" i="0" u="none" strike="noStrike" cap="none" spc="0">
                <a:solidFill>
                  <a:srgbClr val="000000"/>
                </a:solidFill>
                <a:latin typeface="Arial"/>
                <a:ea typeface="Arial"/>
                <a:cs typeface="Arial"/>
              </a:rPr>
              <a:t>  redis:</a:t>
            </a:r>
            <a:endParaRPr lang="en-US" sz="1100" b="0" i="0" u="none" strike="noStrike" cap="none" spc="0">
              <a:solidFill>
                <a:srgbClr val="000000"/>
              </a:solidFill>
              <a:latin typeface="Arial"/>
              <a:cs typeface="Arial"/>
            </a:endParaRPr>
          </a:p>
          <a:p>
            <a:pPr>
              <a:defRPr/>
            </a:pPr>
            <a:r>
              <a:rPr lang="en-US" sz="1100" b="0" i="0" u="none" strike="noStrike" cap="none" spc="0">
                <a:solidFill>
                  <a:srgbClr val="000000"/>
                </a:solidFill>
                <a:latin typeface="Arial"/>
                <a:ea typeface="Arial"/>
                <a:cs typeface="Arial"/>
              </a:rPr>
              <a:t>    image: redis:7</a:t>
            </a:r>
            <a:endParaRPr lang="en-US" sz="1100" b="0" i="0" u="none" strike="noStrike" cap="none" spc="0">
              <a:solidFill>
                <a:srgbClr val="000000"/>
              </a:solidFill>
              <a:latin typeface="Arial"/>
              <a:cs typeface="Arial"/>
            </a:endParaRPr>
          </a:p>
          <a:p>
            <a:pPr>
              <a:defRPr/>
            </a:pPr>
            <a:r>
              <a:rPr lang="en-US" sz="1100" b="0" i="0" u="none" strike="noStrike" cap="none" spc="0">
                <a:solidFill>
                  <a:srgbClr val="000000"/>
                </a:solidFill>
                <a:latin typeface="Arial"/>
                <a:ea typeface="Arial"/>
                <a:cs typeface="Arial"/>
              </a:rPr>
              <a:t>    container_name: lab_redis</a:t>
            </a:r>
            <a:endParaRPr lang="en-US" sz="1100" b="0" i="0" u="none" strike="noStrike" cap="none" spc="0">
              <a:solidFill>
                <a:srgbClr val="000000"/>
              </a:solidFill>
              <a:latin typeface="Arial"/>
              <a:cs typeface="Arial"/>
            </a:endParaRPr>
          </a:p>
          <a:p>
            <a:pPr>
              <a:defRPr/>
            </a:pPr>
            <a:r>
              <a:rPr lang="en-US" sz="1100" b="0" i="0" u="none" strike="noStrike" cap="none" spc="0">
                <a:solidFill>
                  <a:srgbClr val="000000"/>
                </a:solidFill>
                <a:latin typeface="Arial"/>
                <a:ea typeface="Arial"/>
                <a:cs typeface="Arial"/>
              </a:rPr>
              <a:t>    ports:</a:t>
            </a:r>
            <a:endParaRPr lang="en-US" sz="1100" b="0" i="0" u="none" strike="noStrike" cap="none" spc="0">
              <a:solidFill>
                <a:srgbClr val="000000"/>
              </a:solidFill>
              <a:latin typeface="Arial"/>
              <a:cs typeface="Arial"/>
            </a:endParaRPr>
          </a:p>
          <a:p>
            <a:pPr marL="158749" indent="0">
              <a:buSzPts val="1100"/>
              <a:buNone/>
              <a:defRPr/>
            </a:pPr>
            <a:r>
              <a:rPr lang="en-US" sz="1100" b="0" i="0" u="none" strike="noStrike" cap="none" spc="0">
                <a:solidFill>
                  <a:srgbClr val="000000"/>
                </a:solidFill>
                <a:latin typeface="Arial"/>
                <a:ea typeface="Arial"/>
                <a:cs typeface="Arial"/>
              </a:rPr>
              <a:t>      - "6379:6379"</a:t>
            </a:r>
            <a:endParaRPr/>
          </a:p>
          <a:p>
            <a:pPr>
              <a:defRPr/>
            </a:pPr>
            <a:endParaRPr/>
          </a:p>
          <a:p>
            <a:pPr>
              <a:defRPr/>
            </a:pPr>
            <a:endParaRPr sz="1200" b="0" i="0" u="none">
              <a:solidFill>
                <a:srgbClr val="000000"/>
              </a:solidFill>
              <a:latin typeface="Times New Roman"/>
              <a:ea typeface="Times New Roman"/>
              <a:cs typeface="Times New Roman"/>
            </a:endParaRPr>
          </a:p>
          <a:p>
            <a:pPr>
              <a:defRPr/>
            </a:pPr>
            <a:r>
              <a:rPr sz="1200" b="0" i="0" u="none">
                <a:solidFill>
                  <a:srgbClr val="000000"/>
                </a:solidFill>
                <a:latin typeface="Times New Roman"/>
                <a:ea typeface="Times New Roman"/>
                <a:cs typeface="Times New Roman"/>
              </a:rPr>
              <a:t>After pasting the configuration, the file must be saved. In the </a:t>
            </a:r>
            <a:r>
              <a:rPr sz="1200" b="1" i="0" u="none">
                <a:solidFill>
                  <a:srgbClr val="000000"/>
                </a:solidFill>
                <a:latin typeface="Times New Roman"/>
                <a:ea typeface="Times New Roman"/>
                <a:cs typeface="Times New Roman"/>
              </a:rPr>
              <a:t>nano</a:t>
            </a:r>
            <a:r>
              <a:rPr sz="1200" b="0" i="0" u="none">
                <a:solidFill>
                  <a:srgbClr val="000000"/>
                </a:solidFill>
                <a:latin typeface="Times New Roman"/>
                <a:ea typeface="Times New Roman"/>
                <a:cs typeface="Times New Roman"/>
              </a:rPr>
              <a:t> editor this is done by pressing </a:t>
            </a:r>
            <a:r>
              <a:rPr sz="1200" b="1" i="0" u="none">
                <a:solidFill>
                  <a:srgbClr val="000000"/>
                </a:solidFill>
                <a:latin typeface="Times New Roman"/>
                <a:ea typeface="Times New Roman"/>
                <a:cs typeface="Times New Roman"/>
              </a:rPr>
              <a:t>CTRL + O</a:t>
            </a:r>
            <a:r>
              <a:rPr sz="1200" b="0" i="0" u="none">
                <a:solidFill>
                  <a:srgbClr val="000000"/>
                </a:solidFill>
                <a:latin typeface="Times New Roman"/>
                <a:ea typeface="Times New Roman"/>
                <a:cs typeface="Times New Roman"/>
              </a:rPr>
              <a:t> to write the file, pressing </a:t>
            </a:r>
            <a:r>
              <a:rPr sz="1200" b="1" i="0" u="none">
                <a:solidFill>
                  <a:srgbClr val="000000"/>
                </a:solidFill>
                <a:latin typeface="Times New Roman"/>
                <a:ea typeface="Times New Roman"/>
                <a:cs typeface="Times New Roman"/>
              </a:rPr>
              <a:t>Enter</a:t>
            </a:r>
            <a:r>
              <a:rPr sz="1200" b="0" i="0" u="none">
                <a:solidFill>
                  <a:srgbClr val="000000"/>
                </a:solidFill>
                <a:latin typeface="Times New Roman"/>
                <a:ea typeface="Times New Roman"/>
                <a:cs typeface="Times New Roman"/>
              </a:rPr>
              <a:t> to confirm the filename, and then pressing </a:t>
            </a:r>
            <a:r>
              <a:rPr sz="1200" b="1" i="0" u="none">
                <a:solidFill>
                  <a:srgbClr val="000000"/>
                </a:solidFill>
                <a:latin typeface="Times New Roman"/>
                <a:ea typeface="Times New Roman"/>
                <a:cs typeface="Times New Roman"/>
              </a:rPr>
              <a:t>CTRL + X</a:t>
            </a:r>
            <a:r>
              <a:rPr sz="1200" b="0" i="0" u="none">
                <a:solidFill>
                  <a:srgbClr val="000000"/>
                </a:solidFill>
                <a:latin typeface="Times New Roman"/>
                <a:ea typeface="Times New Roman"/>
                <a:cs typeface="Times New Roman"/>
              </a:rPr>
              <a:t> to exit the editor.</a:t>
            </a:r>
            <a:endParaRPr sz="1200" b="0" i="0" u="none">
              <a:solidFill>
                <a:srgbClr val="000000"/>
              </a:solidFill>
              <a:latin typeface="Times New Roman"/>
              <a:ea typeface="Times New Roman"/>
              <a:cs typeface="Times New Roman"/>
            </a:endParaRPr>
          </a:p>
          <a:p>
            <a:pPr>
              <a:defRPr/>
            </a:pPr>
            <a:endParaRPr sz="1200" b="0" i="0" u="none">
              <a:solidFill>
                <a:srgbClr val="000000"/>
              </a:solidFill>
              <a:latin typeface="Times New Roman"/>
              <a:ea typeface="Times New Roman"/>
              <a:cs typeface="Times New Roman"/>
            </a:endParaRPr>
          </a:p>
          <a:p>
            <a:pPr>
              <a:defRPr/>
            </a:pPr>
            <a:endParaRPr sz="1200" b="0" i="0" u="none">
              <a:solidFill>
                <a:srgbClr val="000000"/>
              </a:solidFill>
              <a:latin typeface="Times New Roman"/>
              <a:ea typeface="Times New Roman"/>
              <a:cs typeface="Times New Roman"/>
            </a:endParaRPr>
          </a:p>
          <a:p>
            <a:pPr>
              <a:defRPr/>
            </a:pPr>
            <a:endParaRPr sz="1200" b="0" i="0" u="none">
              <a:solidFill>
                <a:srgbClr val="000000"/>
              </a:solidFill>
              <a:latin typeface="Times New Roman"/>
              <a:ea typeface="Times New Roman"/>
              <a:cs typeface="Times New Roman"/>
            </a:endParaRPr>
          </a:p>
          <a:p>
            <a:pPr>
              <a:defRPr/>
            </a:pPr>
            <a:endParaRPr sz="1200" b="0" i="0" u="none">
              <a:solidFill>
                <a:srgbClr val="000000"/>
              </a:solidFill>
              <a:latin typeface="Times New Roman"/>
              <a:ea typeface="Times New Roman"/>
              <a:cs typeface="Times New Roman"/>
            </a:endParaRPr>
          </a:p>
          <a:p>
            <a:pPr>
              <a:defRPr/>
            </a:pPr>
            <a:r>
              <a:rPr sz="1200" b="0" i="0" u="none">
                <a:solidFill>
                  <a:srgbClr val="000000"/>
                </a:solidFill>
                <a:latin typeface="Times New Roman"/>
                <a:ea typeface="Times New Roman"/>
                <a:cs typeface="Times New Roman"/>
              </a:rPr>
              <a:t>The code shown in the slide is a </a:t>
            </a:r>
            <a:r>
              <a:rPr sz="1200" b="1" i="0" u="none">
                <a:solidFill>
                  <a:srgbClr val="000000"/>
                </a:solidFill>
                <a:latin typeface="Times New Roman"/>
                <a:ea typeface="Times New Roman"/>
                <a:cs typeface="Times New Roman"/>
              </a:rPr>
              <a:t>Docker Compose configuration file</a:t>
            </a:r>
            <a:r>
              <a:rPr sz="1200" b="0" i="0" u="none">
                <a:solidFill>
                  <a:srgbClr val="000000"/>
                </a:solidFill>
                <a:latin typeface="Times New Roman"/>
                <a:ea typeface="Times New Roman"/>
                <a:cs typeface="Times New Roman"/>
              </a:rPr>
              <a:t> written in YAML format. This file describes how multiple containers should be created and run together as a single application environment. Docker Compose allows developers to define services, networks, and configurations in a declarative way so that the entire environment can be started with one command.</a:t>
            </a:r>
            <a:endParaRPr sz="1200" b="0" i="0" u="none">
              <a:solidFill>
                <a:srgbClr val="000000"/>
              </a:solidFill>
              <a:latin typeface="Times New Roman"/>
              <a:ea typeface="Times New Roman"/>
              <a:cs typeface="Times New Roman"/>
            </a:endParaRPr>
          </a:p>
          <a:p>
            <a:pPr>
              <a:defRPr/>
            </a:pPr>
            <a:r>
              <a:rPr sz="1200" b="0" i="0" u="none">
                <a:solidFill>
                  <a:srgbClr val="000000"/>
                </a:solidFill>
                <a:latin typeface="Times New Roman"/>
                <a:ea typeface="Times New Roman"/>
                <a:cs typeface="Times New Roman"/>
              </a:rPr>
              <a:t>The first line </a:t>
            </a:r>
            <a:r>
              <a:rPr sz="1000" b="1" i="0" u="none">
                <a:solidFill>
                  <a:srgbClr val="000000"/>
                </a:solidFill>
                <a:latin typeface="Courier New"/>
                <a:ea typeface="Courier New"/>
                <a:cs typeface="Courier New"/>
              </a:rPr>
              <a:t>services:</a:t>
            </a:r>
            <a:r>
              <a:rPr sz="1200" b="0" i="0" u="none">
                <a:solidFill>
                  <a:srgbClr val="000000"/>
                </a:solidFill>
                <a:latin typeface="Times New Roman"/>
                <a:ea typeface="Times New Roman"/>
                <a:cs typeface="Times New Roman"/>
              </a:rPr>
              <a:t> defines the section where all containers of the application are declared. In Docker Compose terminology, a </a:t>
            </a:r>
            <a:r>
              <a:rPr sz="1200" b="1" i="0" u="none">
                <a:solidFill>
                  <a:srgbClr val="000000"/>
                </a:solidFill>
                <a:latin typeface="Times New Roman"/>
                <a:ea typeface="Times New Roman"/>
                <a:cs typeface="Times New Roman"/>
              </a:rPr>
              <a:t>service</a:t>
            </a:r>
            <a:r>
              <a:rPr sz="1200" b="0" i="0" u="none">
                <a:solidFill>
                  <a:srgbClr val="000000"/>
                </a:solidFill>
                <a:latin typeface="Times New Roman"/>
                <a:ea typeface="Times New Roman"/>
                <a:cs typeface="Times New Roman"/>
              </a:rPr>
              <a:t> represents a containerized application component. Each service corresponds to a container that will be created and managed by Docker.</a:t>
            </a:r>
            <a:endParaRPr/>
          </a:p>
          <a:p>
            <a:pPr>
              <a:defRPr/>
            </a:pPr>
            <a:r>
              <a:rPr sz="1200" b="0" i="0" u="none">
                <a:solidFill>
                  <a:srgbClr val="000000"/>
                </a:solidFill>
                <a:latin typeface="Times New Roman"/>
                <a:ea typeface="Times New Roman"/>
                <a:cs typeface="Times New Roman"/>
              </a:rPr>
              <a:t>The next section </a:t>
            </a:r>
            <a:r>
              <a:rPr sz="1000" b="1" i="0" u="none">
                <a:solidFill>
                  <a:srgbClr val="000000"/>
                </a:solidFill>
                <a:latin typeface="Courier New"/>
                <a:ea typeface="Courier New"/>
                <a:cs typeface="Courier New"/>
              </a:rPr>
              <a:t>postgres:</a:t>
            </a:r>
            <a:r>
              <a:rPr sz="1200" b="0" i="0" u="none">
                <a:solidFill>
                  <a:srgbClr val="000000"/>
                </a:solidFill>
                <a:latin typeface="Times New Roman"/>
                <a:ea typeface="Times New Roman"/>
                <a:cs typeface="Times New Roman"/>
              </a:rPr>
              <a:t> defines a service named </a:t>
            </a:r>
            <a:r>
              <a:rPr sz="1200" b="0" i="1" u="none">
                <a:solidFill>
                  <a:srgbClr val="000000"/>
                </a:solidFill>
                <a:latin typeface="Times New Roman"/>
                <a:ea typeface="Times New Roman"/>
                <a:cs typeface="Times New Roman"/>
              </a:rPr>
              <a:t>postgres</a:t>
            </a:r>
            <a:r>
              <a:rPr sz="1200" b="0" i="0" u="none">
                <a:solidFill>
                  <a:srgbClr val="000000"/>
                </a:solidFill>
                <a:latin typeface="Times New Roman"/>
                <a:ea typeface="Times New Roman"/>
                <a:cs typeface="Times New Roman"/>
              </a:rPr>
              <a:t>. This is simply the logical name of the service inside the Compose environment. Other services inside the same Docker Compose network could connect to this database using the hostname </a:t>
            </a:r>
            <a:r>
              <a:rPr sz="1200" b="1" i="0" u="none">
                <a:solidFill>
                  <a:srgbClr val="000000"/>
                </a:solidFill>
                <a:latin typeface="Times New Roman"/>
                <a:ea typeface="Times New Roman"/>
                <a:cs typeface="Times New Roman"/>
              </a:rPr>
              <a:t>postgres</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The line </a:t>
            </a:r>
            <a:r>
              <a:rPr sz="1000" b="1" i="0" u="none">
                <a:solidFill>
                  <a:srgbClr val="000000"/>
                </a:solidFill>
                <a:latin typeface="Courier New"/>
                <a:ea typeface="Courier New"/>
                <a:cs typeface="Courier New"/>
              </a:rPr>
              <a:t>image: postgres:15</a:t>
            </a:r>
            <a:r>
              <a:rPr sz="1200" b="0" i="0" u="none">
                <a:solidFill>
                  <a:srgbClr val="000000"/>
                </a:solidFill>
                <a:latin typeface="Times New Roman"/>
                <a:ea typeface="Times New Roman"/>
                <a:cs typeface="Times New Roman"/>
              </a:rPr>
              <a:t> specifies which container image should be used to create the container. Docker will pull the official PostgreSQL version 15 image from Docker Hub if it does not already exist locally. A Docker image is essentially a template that contains the operating system, software, and configuration required to run the application.</a:t>
            </a:r>
            <a:endParaRPr/>
          </a:p>
          <a:p>
            <a:pPr>
              <a:defRPr/>
            </a:pPr>
            <a:r>
              <a:rPr sz="1200" b="0" i="0" u="none">
                <a:solidFill>
                  <a:srgbClr val="000000"/>
                </a:solidFill>
                <a:latin typeface="Times New Roman"/>
                <a:ea typeface="Times New Roman"/>
                <a:cs typeface="Times New Roman"/>
              </a:rPr>
              <a:t>The line </a:t>
            </a:r>
            <a:r>
              <a:rPr sz="1000" b="1" i="0" u="none">
                <a:solidFill>
                  <a:srgbClr val="000000"/>
                </a:solidFill>
                <a:latin typeface="Courier New"/>
                <a:ea typeface="Courier New"/>
                <a:cs typeface="Courier New"/>
              </a:rPr>
              <a:t>container_name: lab_postgres</a:t>
            </a:r>
            <a:r>
              <a:rPr sz="1200" b="0" i="0" u="none">
                <a:solidFill>
                  <a:srgbClr val="000000"/>
                </a:solidFill>
                <a:latin typeface="Times New Roman"/>
                <a:ea typeface="Times New Roman"/>
                <a:cs typeface="Times New Roman"/>
              </a:rPr>
              <a:t> assigns a fixed name to the container. Normally Docker generates container names automatically, but specifying a name makes it easier for developers to reference the container when running commands such as </a:t>
            </a:r>
            <a:r>
              <a:rPr sz="1000" b="0" i="0" u="none">
                <a:solidFill>
                  <a:srgbClr val="000000"/>
                </a:solidFill>
                <a:latin typeface="Courier New"/>
                <a:ea typeface="Courier New"/>
                <a:cs typeface="Courier New"/>
              </a:rPr>
              <a:t>docker exec</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The block </a:t>
            </a:r>
            <a:r>
              <a:rPr sz="1000" b="1" i="0" u="none">
                <a:solidFill>
                  <a:srgbClr val="000000"/>
                </a:solidFill>
                <a:latin typeface="Courier New"/>
                <a:ea typeface="Courier New"/>
                <a:cs typeface="Courier New"/>
              </a:rPr>
              <a:t>environment:</a:t>
            </a:r>
            <a:r>
              <a:rPr sz="1200" b="0" i="0" u="none">
                <a:solidFill>
                  <a:srgbClr val="000000"/>
                </a:solidFill>
                <a:latin typeface="Times New Roman"/>
                <a:ea typeface="Times New Roman"/>
                <a:cs typeface="Times New Roman"/>
              </a:rPr>
              <a:t> defines environment variables that will be passed to the PostgreSQL container during startup. Environment variables are commonly used to configure containerized applications without modifying their internal code. The variable </a:t>
            </a:r>
            <a:r>
              <a:rPr sz="1000" b="1" i="0" u="none">
                <a:solidFill>
                  <a:srgbClr val="000000"/>
                </a:solidFill>
                <a:latin typeface="Courier New"/>
                <a:ea typeface="Courier New"/>
                <a:cs typeface="Courier New"/>
              </a:rPr>
              <a:t>POSTGRES_USER: admin</a:t>
            </a:r>
            <a:r>
              <a:rPr sz="1200" b="0" i="0" u="none">
                <a:solidFill>
                  <a:srgbClr val="000000"/>
                </a:solidFill>
                <a:latin typeface="Times New Roman"/>
                <a:ea typeface="Times New Roman"/>
                <a:cs typeface="Times New Roman"/>
              </a:rPr>
              <a:t> instructs PostgreSQL to create a database user named </a:t>
            </a:r>
            <a:r>
              <a:rPr sz="1200" b="0" i="1" u="none">
                <a:solidFill>
                  <a:srgbClr val="000000"/>
                </a:solidFill>
                <a:latin typeface="Times New Roman"/>
                <a:ea typeface="Times New Roman"/>
                <a:cs typeface="Times New Roman"/>
              </a:rPr>
              <a:t>admin</a:t>
            </a:r>
            <a:r>
              <a:rPr sz="1200" b="0" i="0" u="none">
                <a:solidFill>
                  <a:srgbClr val="000000"/>
                </a:solidFill>
                <a:latin typeface="Times New Roman"/>
                <a:ea typeface="Times New Roman"/>
                <a:cs typeface="Times New Roman"/>
              </a:rPr>
              <a:t>. The variable </a:t>
            </a:r>
            <a:r>
              <a:rPr sz="1000" b="1" i="0" u="none">
                <a:solidFill>
                  <a:srgbClr val="000000"/>
                </a:solidFill>
                <a:latin typeface="Courier New"/>
                <a:ea typeface="Courier New"/>
                <a:cs typeface="Courier New"/>
              </a:rPr>
              <a:t>POSTGRES_PASSWORD: secretpassword</a:t>
            </a:r>
            <a:r>
              <a:rPr sz="1200" b="0" i="0" u="none">
                <a:solidFill>
                  <a:srgbClr val="000000"/>
                </a:solidFill>
                <a:latin typeface="Times New Roman"/>
                <a:ea typeface="Times New Roman"/>
                <a:cs typeface="Times New Roman"/>
              </a:rPr>
              <a:t> defines the password for that user. The variable </a:t>
            </a:r>
            <a:r>
              <a:rPr sz="1000" b="1" i="0" u="none">
                <a:solidFill>
                  <a:srgbClr val="000000"/>
                </a:solidFill>
                <a:latin typeface="Courier New"/>
                <a:ea typeface="Courier New"/>
                <a:cs typeface="Courier New"/>
              </a:rPr>
              <a:t>POSTGRES_DB: app_db</a:t>
            </a:r>
            <a:r>
              <a:rPr sz="1200" b="0" i="0" u="none">
                <a:solidFill>
                  <a:srgbClr val="000000"/>
                </a:solidFill>
                <a:latin typeface="Times New Roman"/>
                <a:ea typeface="Times New Roman"/>
                <a:cs typeface="Times New Roman"/>
              </a:rPr>
              <a:t> tells PostgreSQL to automatically create a database named </a:t>
            </a:r>
            <a:r>
              <a:rPr sz="1200" b="0" i="1" u="none">
                <a:solidFill>
                  <a:srgbClr val="000000"/>
                </a:solidFill>
                <a:latin typeface="Times New Roman"/>
                <a:ea typeface="Times New Roman"/>
                <a:cs typeface="Times New Roman"/>
              </a:rPr>
              <a:t>app_db</a:t>
            </a:r>
            <a:r>
              <a:rPr sz="1200" b="0" i="0" u="none">
                <a:solidFill>
                  <a:srgbClr val="000000"/>
                </a:solidFill>
                <a:latin typeface="Times New Roman"/>
                <a:ea typeface="Times New Roman"/>
                <a:cs typeface="Times New Roman"/>
              </a:rPr>
              <a:t> when the container starts for the first time.</a:t>
            </a:r>
            <a:endParaRPr/>
          </a:p>
          <a:p>
            <a:pPr>
              <a:defRPr/>
            </a:pPr>
            <a:r>
              <a:rPr sz="1200" b="0" i="0" u="none">
                <a:solidFill>
                  <a:srgbClr val="000000"/>
                </a:solidFill>
                <a:latin typeface="Times New Roman"/>
                <a:ea typeface="Times New Roman"/>
                <a:cs typeface="Times New Roman"/>
              </a:rPr>
              <a:t>The next configuration </a:t>
            </a:r>
            <a:r>
              <a:rPr sz="1000" b="1" i="0" u="none">
                <a:solidFill>
                  <a:srgbClr val="000000"/>
                </a:solidFill>
                <a:latin typeface="Courier New"/>
                <a:ea typeface="Courier New"/>
                <a:cs typeface="Courier New"/>
              </a:rPr>
              <a:t>ports:</a:t>
            </a:r>
            <a:r>
              <a:rPr sz="1200" b="0" i="0" u="none">
                <a:solidFill>
                  <a:srgbClr val="000000"/>
                </a:solidFill>
                <a:latin typeface="Times New Roman"/>
                <a:ea typeface="Times New Roman"/>
                <a:cs typeface="Times New Roman"/>
              </a:rPr>
              <a:t> defines port mapping between the host machine and the container. The mapping </a:t>
            </a:r>
            <a:r>
              <a:rPr sz="1000" b="1" i="0" u="none">
                <a:solidFill>
                  <a:srgbClr val="000000"/>
                </a:solidFill>
                <a:latin typeface="Courier New"/>
                <a:ea typeface="Courier New"/>
                <a:cs typeface="Courier New"/>
              </a:rPr>
              <a:t>"5432:5432"</a:t>
            </a:r>
            <a:r>
              <a:rPr sz="1200" b="0" i="0" u="none">
                <a:solidFill>
                  <a:srgbClr val="000000"/>
                </a:solidFill>
                <a:latin typeface="Times New Roman"/>
                <a:ea typeface="Times New Roman"/>
                <a:cs typeface="Times New Roman"/>
              </a:rPr>
              <a:t> means that port 5432 on the host computer is connected to port 5432 inside the container. Port 5432 is the default port used by PostgreSQL. This mapping allows applications running on the host system to connect to the PostgreSQL database inside the container using </a:t>
            </a:r>
            <a:r>
              <a:rPr sz="1000" b="0" i="0" u="none">
                <a:solidFill>
                  <a:srgbClr val="000000"/>
                </a:solidFill>
                <a:latin typeface="Courier New"/>
                <a:ea typeface="Courier New"/>
                <a:cs typeface="Courier New"/>
              </a:rPr>
              <a:t>localhost:5432</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The second service defined in the file is </a:t>
            </a:r>
            <a:r>
              <a:rPr sz="1000" b="1" i="0" u="none">
                <a:solidFill>
                  <a:srgbClr val="000000"/>
                </a:solidFill>
                <a:latin typeface="Courier New"/>
                <a:ea typeface="Courier New"/>
                <a:cs typeface="Courier New"/>
              </a:rPr>
              <a:t>redis:</a:t>
            </a:r>
            <a:r>
              <a:rPr sz="1200" b="0" i="0" u="none">
                <a:solidFill>
                  <a:srgbClr val="000000"/>
                </a:solidFill>
                <a:latin typeface="Times New Roman"/>
                <a:ea typeface="Times New Roman"/>
                <a:cs typeface="Times New Roman"/>
              </a:rPr>
              <a:t>, which describes the Redis caching server. Similar to the PostgreSQL service, this section instructs Docker Compose to create a container running Redis.</a:t>
            </a:r>
            <a:endParaRPr/>
          </a:p>
          <a:p>
            <a:pPr>
              <a:defRPr/>
            </a:pPr>
            <a:r>
              <a:rPr sz="1200" b="0" i="0" u="none">
                <a:solidFill>
                  <a:srgbClr val="000000"/>
                </a:solidFill>
                <a:latin typeface="Times New Roman"/>
                <a:ea typeface="Times New Roman"/>
                <a:cs typeface="Times New Roman"/>
              </a:rPr>
              <a:t>The line </a:t>
            </a:r>
            <a:r>
              <a:rPr sz="1000" b="1" i="0" u="none">
                <a:solidFill>
                  <a:srgbClr val="000000"/>
                </a:solidFill>
                <a:latin typeface="Courier New"/>
                <a:ea typeface="Courier New"/>
                <a:cs typeface="Courier New"/>
              </a:rPr>
              <a:t>image: redis:7</a:t>
            </a:r>
            <a:r>
              <a:rPr sz="1200" b="0" i="0" u="none">
                <a:solidFill>
                  <a:srgbClr val="000000"/>
                </a:solidFill>
                <a:latin typeface="Times New Roman"/>
                <a:ea typeface="Times New Roman"/>
                <a:cs typeface="Times New Roman"/>
              </a:rPr>
              <a:t> specifies that Docker should use the official Redis version 7 image from Docker Hub. When the container starts, Redis will run automatically inside the container.</a:t>
            </a:r>
            <a:endParaRPr/>
          </a:p>
          <a:p>
            <a:pPr>
              <a:defRPr/>
            </a:pPr>
            <a:r>
              <a:rPr sz="1200" b="0" i="0" u="none">
                <a:solidFill>
                  <a:srgbClr val="000000"/>
                </a:solidFill>
                <a:latin typeface="Times New Roman"/>
                <a:ea typeface="Times New Roman"/>
                <a:cs typeface="Times New Roman"/>
              </a:rPr>
              <a:t>The line </a:t>
            </a:r>
            <a:r>
              <a:rPr sz="1000" b="1" i="0" u="none">
                <a:solidFill>
                  <a:srgbClr val="000000"/>
                </a:solidFill>
                <a:latin typeface="Courier New"/>
                <a:ea typeface="Courier New"/>
                <a:cs typeface="Courier New"/>
              </a:rPr>
              <a:t>container_name: lab_redis</a:t>
            </a:r>
            <a:r>
              <a:rPr sz="1200" b="0" i="0" u="none">
                <a:solidFill>
                  <a:srgbClr val="000000"/>
                </a:solidFill>
                <a:latin typeface="Times New Roman"/>
                <a:ea typeface="Times New Roman"/>
                <a:cs typeface="Times New Roman"/>
              </a:rPr>
              <a:t> assigns a fixed name to the Redis container. This name makes it easier to interact with the container using Docker commands.</a:t>
            </a:r>
            <a:endParaRPr/>
          </a:p>
          <a:p>
            <a:pPr>
              <a:defRPr/>
            </a:pPr>
            <a:r>
              <a:rPr sz="1200" b="0" i="0" u="none">
                <a:solidFill>
                  <a:srgbClr val="000000"/>
                </a:solidFill>
                <a:latin typeface="Times New Roman"/>
                <a:ea typeface="Times New Roman"/>
                <a:cs typeface="Times New Roman"/>
              </a:rPr>
              <a:t>The final configuration </a:t>
            </a:r>
            <a:r>
              <a:rPr sz="1000" b="1" i="0" u="none">
                <a:solidFill>
                  <a:srgbClr val="000000"/>
                </a:solidFill>
                <a:latin typeface="Courier New"/>
                <a:ea typeface="Courier New"/>
                <a:cs typeface="Courier New"/>
              </a:rPr>
              <a:t>ports:</a:t>
            </a:r>
            <a:r>
              <a:rPr sz="1200" b="0" i="0" u="none">
                <a:solidFill>
                  <a:srgbClr val="000000"/>
                </a:solidFill>
                <a:latin typeface="Times New Roman"/>
                <a:ea typeface="Times New Roman"/>
                <a:cs typeface="Times New Roman"/>
              </a:rPr>
              <a:t> contains the mapping </a:t>
            </a:r>
            <a:r>
              <a:rPr sz="1000" b="1" i="0" u="none">
                <a:solidFill>
                  <a:srgbClr val="000000"/>
                </a:solidFill>
                <a:latin typeface="Courier New"/>
                <a:ea typeface="Courier New"/>
                <a:cs typeface="Courier New"/>
              </a:rPr>
              <a:t>"6379:6379"</a:t>
            </a:r>
            <a:r>
              <a:rPr sz="1200" b="0" i="0" u="none">
                <a:solidFill>
                  <a:srgbClr val="000000"/>
                </a:solidFill>
                <a:latin typeface="Times New Roman"/>
                <a:ea typeface="Times New Roman"/>
                <a:cs typeface="Times New Roman"/>
              </a:rPr>
              <a:t>. Port 6379 is the default port used by Redis. This mapping allows applications running on the host system to communicate with the Redis container through port 6379.</a:t>
            </a:r>
            <a:endParaRPr/>
          </a:p>
          <a:p>
            <a:pPr>
              <a:defRPr/>
            </a:pPr>
            <a:r>
              <a:rPr sz="1200" b="0" i="0" u="none">
                <a:solidFill>
                  <a:srgbClr val="000000"/>
                </a:solidFill>
                <a:latin typeface="Times New Roman"/>
                <a:ea typeface="Times New Roman"/>
                <a:cs typeface="Times New Roman"/>
              </a:rPr>
              <a:t>When this Docker Compose file is executed using the command </a:t>
            </a:r>
            <a:r>
              <a:rPr sz="1000" b="1" i="0" u="none">
                <a:solidFill>
                  <a:srgbClr val="000000"/>
                </a:solidFill>
                <a:latin typeface="Courier New"/>
                <a:ea typeface="Courier New"/>
                <a:cs typeface="Courier New"/>
              </a:rPr>
              <a:t>docker compose up -d</a:t>
            </a:r>
            <a:r>
              <a:rPr sz="1200" b="0" i="0" u="none">
                <a:solidFill>
                  <a:srgbClr val="000000"/>
                </a:solidFill>
                <a:latin typeface="Times New Roman"/>
                <a:ea typeface="Times New Roman"/>
                <a:cs typeface="Times New Roman"/>
              </a:rPr>
              <a:t>, Docker automatically pulls the required images if they are not available locally, creates both containers, and starts them. As a result, the system will have a running PostgreSQL database for persistent storage and a Redis server for high-speed in-memory caching. This architecture is commonly used in modern backend systems where PostgreSQL serves as the primary database and Redis acts as a caching layer to improve performance.</a:t>
            </a:r>
            <a:endParaRPr/>
          </a:p>
          <a:p>
            <a:pPr>
              <a:defRPr/>
            </a:pPr>
            <a:r>
              <a:rPr sz="1200" b="1" i="0" u="none">
                <a:solidFill>
                  <a:srgbClr val="000000"/>
                </a:solidFill>
                <a:latin typeface="Times New Roman"/>
                <a:ea typeface="Times New Roman"/>
                <a:cs typeface="Times New Roman"/>
              </a:rPr>
              <a:t>Interview Question:</a:t>
            </a:r>
            <a:r>
              <a:rPr sz="1200" b="0" i="0" u="none">
                <a:solidFill>
                  <a:srgbClr val="000000"/>
                </a:solidFill>
                <a:latin typeface="Times New Roman"/>
                <a:ea typeface="Times New Roman"/>
                <a:cs typeface="Times New Roman"/>
              </a:rPr>
              <a:t> What is Docker Compose used for?</a:t>
            </a:r>
            <a:br>
              <a:rPr sz="1200" b="0"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Answer:</a:t>
            </a:r>
            <a:r>
              <a:rPr sz="1200" b="0" i="0" u="none">
                <a:solidFill>
                  <a:srgbClr val="000000"/>
                </a:solidFill>
                <a:latin typeface="Times New Roman"/>
                <a:ea typeface="Times New Roman"/>
                <a:cs typeface="Times New Roman"/>
              </a:rPr>
              <a:t> Docker Compose is used to define and manage multi-container applications using a single configuration file.</a:t>
            </a:r>
            <a:endParaRPr/>
          </a:p>
          <a:p>
            <a:pPr>
              <a:defRPr/>
            </a:pPr>
            <a:r>
              <a:rPr sz="1200" b="1" i="0" u="none">
                <a:solidFill>
                  <a:srgbClr val="000000"/>
                </a:solidFill>
                <a:latin typeface="Times New Roman"/>
                <a:ea typeface="Times New Roman"/>
                <a:cs typeface="Times New Roman"/>
              </a:rPr>
              <a:t>Interview Question:</a:t>
            </a:r>
            <a:r>
              <a:rPr sz="1200" b="0" i="0" u="none">
                <a:solidFill>
                  <a:srgbClr val="000000"/>
                </a:solidFill>
                <a:latin typeface="Times New Roman"/>
                <a:ea typeface="Times New Roman"/>
                <a:cs typeface="Times New Roman"/>
              </a:rPr>
              <a:t> What does the port mapping </a:t>
            </a:r>
            <a:r>
              <a:rPr sz="1000" b="0" i="0" u="none">
                <a:solidFill>
                  <a:srgbClr val="000000"/>
                </a:solidFill>
                <a:latin typeface="Courier New"/>
                <a:ea typeface="Courier New"/>
                <a:cs typeface="Courier New"/>
              </a:rPr>
              <a:t>"5432:5432"</a:t>
            </a:r>
            <a:r>
              <a:rPr sz="1200" b="0" i="0" u="none">
                <a:solidFill>
                  <a:srgbClr val="000000"/>
                </a:solidFill>
                <a:latin typeface="Times New Roman"/>
                <a:ea typeface="Times New Roman"/>
                <a:cs typeface="Times New Roman"/>
              </a:rPr>
              <a:t> mean?</a:t>
            </a:r>
            <a:br>
              <a:rPr sz="1200" b="0"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Answer:</a:t>
            </a:r>
            <a:r>
              <a:rPr sz="1200" b="0" i="0" u="none">
                <a:solidFill>
                  <a:srgbClr val="000000"/>
                </a:solidFill>
                <a:latin typeface="Times New Roman"/>
                <a:ea typeface="Times New Roman"/>
                <a:cs typeface="Times New Roman"/>
              </a:rPr>
              <a:t> It means that port 5432 on the host machine is connected to port 5432 inside the container, allowing external applications to access the PostgreSQL service.</a:t>
            </a:r>
            <a:endParaRPr/>
          </a:p>
          <a:p>
            <a:pPr>
              <a:defRPr/>
            </a:pPr>
            <a:r>
              <a:rPr sz="1200" b="1" i="0" u="none">
                <a:solidFill>
                  <a:srgbClr val="000000"/>
                </a:solidFill>
                <a:latin typeface="Times New Roman"/>
                <a:ea typeface="Times New Roman"/>
                <a:cs typeface="Times New Roman"/>
              </a:rPr>
              <a:t>Interview Question:</a:t>
            </a:r>
            <a:r>
              <a:rPr sz="1200" b="0" i="0" u="none">
                <a:solidFill>
                  <a:srgbClr val="000000"/>
                </a:solidFill>
                <a:latin typeface="Times New Roman"/>
                <a:ea typeface="Times New Roman"/>
                <a:cs typeface="Times New Roman"/>
              </a:rPr>
              <a:t> Why do we use environment variables in containers?</a:t>
            </a:r>
            <a:br>
              <a:rPr sz="1200" b="0"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Answer:</a:t>
            </a:r>
            <a:r>
              <a:rPr sz="1200" b="0" i="0" u="none">
                <a:solidFill>
                  <a:srgbClr val="000000"/>
                </a:solidFill>
                <a:latin typeface="Times New Roman"/>
                <a:ea typeface="Times New Roman"/>
                <a:cs typeface="Times New Roman"/>
              </a:rPr>
              <a:t> Environment variables allow configuration of applications, such as database credentials, without modifying the container image.</a:t>
            </a:r>
            <a:br>
              <a:rPr/>
            </a:br>
            <a:br>
              <a:rPr/>
            </a:br>
            <a:r>
              <a:rPr sz="1200" b="0" i="0" u="none">
                <a:solidFill>
                  <a:srgbClr val="000000"/>
                </a:solidFill>
                <a:latin typeface="Times New Roman"/>
                <a:ea typeface="Times New Roman"/>
                <a:cs typeface="Times New Roman"/>
              </a:rPr>
              <a:t>The acronym </a:t>
            </a:r>
            <a:r>
              <a:rPr sz="1200" b="1" i="0" u="none">
                <a:solidFill>
                  <a:srgbClr val="000000"/>
                </a:solidFill>
                <a:latin typeface="Times New Roman"/>
                <a:ea typeface="Times New Roman"/>
                <a:cs typeface="Times New Roman"/>
              </a:rPr>
              <a:t>YAML</a:t>
            </a:r>
            <a:r>
              <a:rPr sz="1200" b="0" i="0" u="none">
                <a:solidFill>
                  <a:srgbClr val="000000"/>
                </a:solidFill>
                <a:latin typeface="Times New Roman"/>
                <a:ea typeface="Times New Roman"/>
                <a:cs typeface="Times New Roman"/>
              </a:rPr>
              <a:t> stands for </a:t>
            </a:r>
            <a:r>
              <a:rPr sz="1200" b="1" i="0" u="none">
                <a:solidFill>
                  <a:srgbClr val="000000"/>
                </a:solidFill>
                <a:latin typeface="Times New Roman"/>
                <a:ea typeface="Times New Roman"/>
                <a:cs typeface="Times New Roman"/>
              </a:rPr>
              <a:t>“YAML Ain’t Markup Language.”</a:t>
            </a:r>
            <a:endParaRPr/>
          </a:p>
          <a:p>
            <a:pPr>
              <a:defRPr/>
            </a:pPr>
            <a:r>
              <a:rPr sz="1200" b="0" i="0" u="none">
                <a:solidFill>
                  <a:srgbClr val="000000"/>
                </a:solidFill>
                <a:latin typeface="Times New Roman"/>
                <a:ea typeface="Times New Roman"/>
                <a:cs typeface="Times New Roman"/>
              </a:rPr>
              <a:t>This is a </a:t>
            </a:r>
            <a:r>
              <a:rPr sz="1200" b="1" i="0" u="none">
                <a:solidFill>
                  <a:srgbClr val="000000"/>
                </a:solidFill>
                <a:latin typeface="Times New Roman"/>
                <a:ea typeface="Times New Roman"/>
                <a:cs typeface="Times New Roman"/>
              </a:rPr>
              <a:t>recursive acronym</a:t>
            </a:r>
            <a:r>
              <a:rPr sz="1200" b="0" i="0" u="none">
                <a:solidFill>
                  <a:srgbClr val="000000"/>
                </a:solidFill>
                <a:latin typeface="Times New Roman"/>
                <a:ea typeface="Times New Roman"/>
                <a:cs typeface="Times New Roman"/>
              </a:rPr>
              <a:t>, meaning the acronym refers to itself in its definition. Originally YAML meant </a:t>
            </a:r>
            <a:r>
              <a:rPr sz="1200" b="1" i="0" u="none">
                <a:solidFill>
                  <a:srgbClr val="000000"/>
                </a:solidFill>
                <a:latin typeface="Times New Roman"/>
                <a:ea typeface="Times New Roman"/>
                <a:cs typeface="Times New Roman"/>
              </a:rPr>
              <a:t>“Yet Another Markup Language,”</a:t>
            </a:r>
            <a:r>
              <a:rPr sz="1200" b="0" i="0" u="none">
                <a:solidFill>
                  <a:srgbClr val="000000"/>
                </a:solidFill>
                <a:latin typeface="Times New Roman"/>
                <a:ea typeface="Times New Roman"/>
                <a:cs typeface="Times New Roman"/>
              </a:rPr>
              <a:t> but the creators later changed the meaning to </a:t>
            </a:r>
            <a:r>
              <a:rPr sz="1200" b="1" i="0" u="none">
                <a:solidFill>
                  <a:srgbClr val="000000"/>
                </a:solidFill>
                <a:latin typeface="Times New Roman"/>
                <a:ea typeface="Times New Roman"/>
                <a:cs typeface="Times New Roman"/>
              </a:rPr>
              <a:t>“YAML Ain’t Markup Language”</a:t>
            </a:r>
            <a:r>
              <a:rPr sz="1200" b="0" i="0" u="none">
                <a:solidFill>
                  <a:srgbClr val="000000"/>
                </a:solidFill>
                <a:latin typeface="Times New Roman"/>
                <a:ea typeface="Times New Roman"/>
                <a:cs typeface="Times New Roman"/>
              </a:rPr>
              <a:t> to emphasize that YAML is </a:t>
            </a:r>
            <a:r>
              <a:rPr sz="1200" b="1" i="0" u="none">
                <a:solidFill>
                  <a:srgbClr val="000000"/>
                </a:solidFill>
                <a:latin typeface="Times New Roman"/>
                <a:ea typeface="Times New Roman"/>
                <a:cs typeface="Times New Roman"/>
              </a:rPr>
              <a:t>not a markup language like HTML or XML</a:t>
            </a:r>
            <a:r>
              <a:rPr sz="1200" b="0" i="0" u="none">
                <a:solidFill>
                  <a:srgbClr val="000000"/>
                </a:solidFill>
                <a:latin typeface="Times New Roman"/>
                <a:ea typeface="Times New Roman"/>
                <a:cs typeface="Times New Roman"/>
              </a:rPr>
              <a:t>, but rather a </a:t>
            </a:r>
            <a:r>
              <a:rPr sz="1200" b="1" i="0" u="none">
                <a:solidFill>
                  <a:srgbClr val="000000"/>
                </a:solidFill>
                <a:latin typeface="Times New Roman"/>
                <a:ea typeface="Times New Roman"/>
                <a:cs typeface="Times New Roman"/>
              </a:rPr>
              <a:t>data serialization format</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YAML is designed to be </a:t>
            </a:r>
            <a:r>
              <a:rPr sz="1200" b="1" i="0" u="none">
                <a:solidFill>
                  <a:srgbClr val="000000"/>
                </a:solidFill>
                <a:latin typeface="Times New Roman"/>
                <a:ea typeface="Times New Roman"/>
                <a:cs typeface="Times New Roman"/>
              </a:rPr>
              <a:t>human-readable and easy to write</a:t>
            </a:r>
            <a:r>
              <a:rPr sz="1200" b="0" i="0" u="none">
                <a:solidFill>
                  <a:srgbClr val="000000"/>
                </a:solidFill>
                <a:latin typeface="Times New Roman"/>
                <a:ea typeface="Times New Roman"/>
                <a:cs typeface="Times New Roman"/>
              </a:rPr>
              <a:t>, which is why it is widely used for configuration files in modern software systems. Instead of using complex symbols such as angle brackets or braces, YAML relies on </a:t>
            </a:r>
            <a:r>
              <a:rPr sz="1200" b="1" i="0" u="none">
                <a:solidFill>
                  <a:srgbClr val="000000"/>
                </a:solidFill>
                <a:latin typeface="Times New Roman"/>
                <a:ea typeface="Times New Roman"/>
                <a:cs typeface="Times New Roman"/>
              </a:rPr>
              <a:t>indentation and simple key–value structures</a:t>
            </a:r>
            <a:r>
              <a:rPr sz="1200" b="0" i="0" u="none">
                <a:solidFill>
                  <a:srgbClr val="000000"/>
                </a:solidFill>
                <a:latin typeface="Times New Roman"/>
                <a:ea typeface="Times New Roman"/>
                <a:cs typeface="Times New Roman"/>
              </a:rPr>
              <a:t> to represent data.</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931312886" name="Google Shape;324;SLIDES_API647489343_234: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004725592" name="Google Shape;325;SLIDES_API647489343_234: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The command </a:t>
            </a:r>
            <a:r>
              <a:rPr sz="1000" b="1" i="0" u="none">
                <a:solidFill>
                  <a:srgbClr val="000000"/>
                </a:solidFill>
                <a:latin typeface="Courier New"/>
                <a:ea typeface="Courier New"/>
                <a:cs typeface="Courier New"/>
              </a:rPr>
              <a:t>docker compose up -d</a:t>
            </a:r>
            <a:r>
              <a:rPr sz="1200" b="0" i="0" u="none">
                <a:solidFill>
                  <a:srgbClr val="000000"/>
                </a:solidFill>
                <a:latin typeface="Times New Roman"/>
                <a:ea typeface="Times New Roman"/>
                <a:cs typeface="Times New Roman"/>
              </a:rPr>
              <a:t> is used to start the containerized environment defined in the </a:t>
            </a:r>
            <a:r>
              <a:rPr sz="1200" b="1" i="0" u="none">
                <a:solidFill>
                  <a:srgbClr val="000000"/>
                </a:solidFill>
                <a:latin typeface="Times New Roman"/>
                <a:ea typeface="Times New Roman"/>
                <a:cs typeface="Times New Roman"/>
              </a:rPr>
              <a:t>docker-compose.yml</a:t>
            </a:r>
            <a:r>
              <a:rPr sz="1200" b="0" i="0" u="none">
                <a:solidFill>
                  <a:srgbClr val="000000"/>
                </a:solidFill>
                <a:latin typeface="Times New Roman"/>
                <a:ea typeface="Times New Roman"/>
                <a:cs typeface="Times New Roman"/>
              </a:rPr>
              <a:t> configuration file. When this command runs, Docker Compose reads the configuration file and creates all the services defined in it, such as PostgreSQL and Redis. If the required container images are not already available on the system, Docker automatically downloads them from Docker Hub. The option </a:t>
            </a:r>
            <a:r>
              <a:rPr sz="1000" b="1" i="0" u="none">
                <a:solidFill>
                  <a:srgbClr val="000000"/>
                </a:solidFill>
                <a:latin typeface="Courier New"/>
                <a:ea typeface="Courier New"/>
                <a:cs typeface="Courier New"/>
              </a:rPr>
              <a:t>-d</a:t>
            </a:r>
            <a:r>
              <a:rPr sz="1200" b="0" i="0" u="none">
                <a:solidFill>
                  <a:srgbClr val="000000"/>
                </a:solidFill>
                <a:latin typeface="Times New Roman"/>
                <a:ea typeface="Times New Roman"/>
                <a:cs typeface="Times New Roman"/>
              </a:rPr>
              <a:t> stands for </a:t>
            </a:r>
            <a:r>
              <a:rPr sz="1200" b="1" i="0" u="none">
                <a:solidFill>
                  <a:srgbClr val="000000"/>
                </a:solidFill>
                <a:latin typeface="Times New Roman"/>
                <a:ea typeface="Times New Roman"/>
                <a:cs typeface="Times New Roman"/>
              </a:rPr>
              <a:t>detached mode</a:t>
            </a:r>
            <a:r>
              <a:rPr sz="1200" b="0" i="0" u="none">
                <a:solidFill>
                  <a:srgbClr val="000000"/>
                </a:solidFill>
                <a:latin typeface="Times New Roman"/>
                <a:ea typeface="Times New Roman"/>
                <a:cs typeface="Times New Roman"/>
              </a:rPr>
              <a:t>, which means the containers run in the background and the terminal is immediately returned to the user. Without this option, the containers would run in the foreground and the terminal would remain attached to their output.</a:t>
            </a:r>
            <a:endParaRPr/>
          </a:p>
          <a:p>
            <a:pPr>
              <a:defRPr/>
            </a:pPr>
            <a:r>
              <a:rPr sz="1200" b="0" i="0" u="none">
                <a:solidFill>
                  <a:srgbClr val="000000"/>
                </a:solidFill>
                <a:latin typeface="Times New Roman"/>
                <a:ea typeface="Times New Roman"/>
                <a:cs typeface="Times New Roman"/>
              </a:rPr>
              <a:t>The command </a:t>
            </a:r>
            <a:r>
              <a:rPr sz="1000" b="1" i="0" u="none">
                <a:solidFill>
                  <a:srgbClr val="000000"/>
                </a:solidFill>
                <a:latin typeface="Courier New"/>
                <a:ea typeface="Courier New"/>
                <a:cs typeface="Courier New"/>
              </a:rPr>
              <a:t>docker ps</a:t>
            </a:r>
            <a:r>
              <a:rPr sz="1200" b="0" i="0" u="none">
                <a:solidFill>
                  <a:srgbClr val="000000"/>
                </a:solidFill>
                <a:latin typeface="Times New Roman"/>
                <a:ea typeface="Times New Roman"/>
                <a:cs typeface="Times New Roman"/>
              </a:rPr>
              <a:t> displays a list of all currently running Docker containers. This command is commonly used to verify that the containers started successfully. The output typically shows several pieces of information, including the container ID, the image used to create the container, the container name, the ports that are exposed, and the status of the container. In the context of this lab, students should see containers such as </a:t>
            </a:r>
            <a:r>
              <a:rPr sz="1200" b="1" i="0" u="none">
                <a:solidFill>
                  <a:srgbClr val="000000"/>
                </a:solidFill>
                <a:latin typeface="Times New Roman"/>
                <a:ea typeface="Times New Roman"/>
                <a:cs typeface="Times New Roman"/>
              </a:rPr>
              <a:t>lab_postgres</a:t>
            </a:r>
            <a:r>
              <a:rPr sz="1200" b="0" i="0" u="none">
                <a:solidFill>
                  <a:srgbClr val="000000"/>
                </a:solidFill>
                <a:latin typeface="Times New Roman"/>
                <a:ea typeface="Times New Roman"/>
                <a:cs typeface="Times New Roman"/>
              </a:rPr>
              <a:t> and </a:t>
            </a:r>
            <a:r>
              <a:rPr sz="1200" b="1" i="0" u="none">
                <a:solidFill>
                  <a:srgbClr val="000000"/>
                </a:solidFill>
                <a:latin typeface="Times New Roman"/>
                <a:ea typeface="Times New Roman"/>
                <a:cs typeface="Times New Roman"/>
              </a:rPr>
              <a:t>lab_redis</a:t>
            </a:r>
            <a:r>
              <a:rPr sz="1200" b="0" i="0" u="none">
                <a:solidFill>
                  <a:srgbClr val="000000"/>
                </a:solidFill>
                <a:latin typeface="Times New Roman"/>
                <a:ea typeface="Times New Roman"/>
                <a:cs typeface="Times New Roman"/>
              </a:rPr>
              <a:t> running. This step is important because it confirms that the services defined in the Docker Compose file have started correctly.</a:t>
            </a:r>
            <a:endParaRPr/>
          </a:p>
          <a:p>
            <a:pPr>
              <a:defRPr/>
            </a:pPr>
            <a:r>
              <a:rPr sz="1200" b="0" i="0" u="none">
                <a:solidFill>
                  <a:srgbClr val="000000"/>
                </a:solidFill>
                <a:latin typeface="Times New Roman"/>
                <a:ea typeface="Times New Roman"/>
                <a:cs typeface="Times New Roman"/>
              </a:rPr>
              <a:t>The command </a:t>
            </a:r>
            <a:r>
              <a:rPr sz="1000" b="1" i="0" u="none">
                <a:solidFill>
                  <a:srgbClr val="000000"/>
                </a:solidFill>
                <a:latin typeface="Courier New"/>
                <a:ea typeface="Courier New"/>
                <a:cs typeface="Courier New"/>
              </a:rPr>
              <a:t>docker exec -it lab_postgres psql -U admin -d app_db</a:t>
            </a:r>
            <a:r>
              <a:rPr sz="1200" b="0" i="0" u="none">
                <a:solidFill>
                  <a:srgbClr val="000000"/>
                </a:solidFill>
                <a:latin typeface="Times New Roman"/>
                <a:ea typeface="Times New Roman"/>
                <a:cs typeface="Times New Roman"/>
              </a:rPr>
              <a:t> is used to open an interactive PostgreSQL session inside the running PostgreSQL container. The command begins with </a:t>
            </a:r>
            <a:r>
              <a:rPr sz="1000" b="1" i="0" u="none">
                <a:solidFill>
                  <a:srgbClr val="000000"/>
                </a:solidFill>
                <a:latin typeface="Courier New"/>
                <a:ea typeface="Courier New"/>
                <a:cs typeface="Courier New"/>
              </a:rPr>
              <a:t>docker exec</a:t>
            </a:r>
            <a:r>
              <a:rPr sz="1200" b="0" i="0" u="none">
                <a:solidFill>
                  <a:srgbClr val="000000"/>
                </a:solidFill>
                <a:latin typeface="Times New Roman"/>
                <a:ea typeface="Times New Roman"/>
                <a:cs typeface="Times New Roman"/>
              </a:rPr>
              <a:t>, which allows us to run a command inside a running container. The option </a:t>
            </a:r>
            <a:r>
              <a:rPr sz="1000" b="1" i="0" u="none">
                <a:solidFill>
                  <a:srgbClr val="000000"/>
                </a:solidFill>
                <a:latin typeface="Courier New"/>
                <a:ea typeface="Courier New"/>
                <a:cs typeface="Courier New"/>
              </a:rPr>
              <a:t>-it</a:t>
            </a:r>
            <a:r>
              <a:rPr sz="1200" b="0" i="0" u="none">
                <a:solidFill>
                  <a:srgbClr val="000000"/>
                </a:solidFill>
                <a:latin typeface="Times New Roman"/>
                <a:ea typeface="Times New Roman"/>
                <a:cs typeface="Times New Roman"/>
              </a:rPr>
              <a:t> combines two flags: </a:t>
            </a:r>
            <a:r>
              <a:rPr sz="1000" b="1" i="0" u="none">
                <a:solidFill>
                  <a:srgbClr val="000000"/>
                </a:solidFill>
                <a:latin typeface="Courier New"/>
                <a:ea typeface="Courier New"/>
                <a:cs typeface="Courier New"/>
              </a:rPr>
              <a:t>-i</a:t>
            </a:r>
            <a:r>
              <a:rPr sz="1200" b="0" i="0" u="none">
                <a:solidFill>
                  <a:srgbClr val="000000"/>
                </a:solidFill>
                <a:latin typeface="Times New Roman"/>
                <a:ea typeface="Times New Roman"/>
                <a:cs typeface="Times New Roman"/>
              </a:rPr>
              <a:t>, which keeps the standard input open, and </a:t>
            </a:r>
            <a:r>
              <a:rPr sz="1000" b="1" i="0" u="none">
                <a:solidFill>
                  <a:srgbClr val="000000"/>
                </a:solidFill>
                <a:latin typeface="Courier New"/>
                <a:ea typeface="Courier New"/>
                <a:cs typeface="Courier New"/>
              </a:rPr>
              <a:t>-t</a:t>
            </a:r>
            <a:r>
              <a:rPr sz="1200" b="0" i="0" u="none">
                <a:solidFill>
                  <a:srgbClr val="000000"/>
                </a:solidFill>
                <a:latin typeface="Times New Roman"/>
                <a:ea typeface="Times New Roman"/>
                <a:cs typeface="Times New Roman"/>
              </a:rPr>
              <a:t>, which allocates a terminal interface. These options allow the user to interact with the container as if they were logged into it. The name </a:t>
            </a:r>
            <a:r>
              <a:rPr sz="1000" b="1" i="0" u="none">
                <a:solidFill>
                  <a:srgbClr val="000000"/>
                </a:solidFill>
                <a:latin typeface="Courier New"/>
                <a:ea typeface="Courier New"/>
                <a:cs typeface="Courier New"/>
              </a:rPr>
              <a:t>lab_postgres</a:t>
            </a:r>
            <a:r>
              <a:rPr sz="1200" b="0" i="0" u="none">
                <a:solidFill>
                  <a:srgbClr val="000000"/>
                </a:solidFill>
                <a:latin typeface="Times New Roman"/>
                <a:ea typeface="Times New Roman"/>
                <a:cs typeface="Times New Roman"/>
              </a:rPr>
              <a:t> specifies the container where the command should run. The command </a:t>
            </a:r>
            <a:r>
              <a:rPr sz="1000" b="1" i="0" u="none">
                <a:solidFill>
                  <a:srgbClr val="000000"/>
                </a:solidFill>
                <a:latin typeface="Courier New"/>
                <a:ea typeface="Courier New"/>
                <a:cs typeface="Courier New"/>
              </a:rPr>
              <a:t>psql</a:t>
            </a:r>
            <a:r>
              <a:rPr sz="1200" b="0" i="0" u="none">
                <a:solidFill>
                  <a:srgbClr val="000000"/>
                </a:solidFill>
                <a:latin typeface="Times New Roman"/>
                <a:ea typeface="Times New Roman"/>
                <a:cs typeface="Times New Roman"/>
              </a:rPr>
              <a:t> is the PostgreSQL command-line interface used to interact with the database. The option </a:t>
            </a:r>
            <a:r>
              <a:rPr sz="1000" b="1" i="0" u="none">
                <a:solidFill>
                  <a:srgbClr val="000000"/>
                </a:solidFill>
                <a:latin typeface="Courier New"/>
                <a:ea typeface="Courier New"/>
                <a:cs typeface="Courier New"/>
              </a:rPr>
              <a:t>-U admin</a:t>
            </a:r>
            <a:r>
              <a:rPr sz="1200" b="0" i="0" u="none">
                <a:solidFill>
                  <a:srgbClr val="000000"/>
                </a:solidFill>
                <a:latin typeface="Times New Roman"/>
                <a:ea typeface="Times New Roman"/>
                <a:cs typeface="Times New Roman"/>
              </a:rPr>
              <a:t> specifies the database user that will connect to the database, and </a:t>
            </a:r>
            <a:r>
              <a:rPr sz="1000" b="1" i="0" u="none">
                <a:solidFill>
                  <a:srgbClr val="000000"/>
                </a:solidFill>
                <a:latin typeface="Courier New"/>
                <a:ea typeface="Courier New"/>
                <a:cs typeface="Courier New"/>
              </a:rPr>
              <a:t>-d app_db</a:t>
            </a:r>
            <a:r>
              <a:rPr sz="1200" b="0" i="0" u="none">
                <a:solidFill>
                  <a:srgbClr val="000000"/>
                </a:solidFill>
                <a:latin typeface="Times New Roman"/>
                <a:ea typeface="Times New Roman"/>
                <a:cs typeface="Times New Roman"/>
              </a:rPr>
              <a:t> specifies the database that the user will access. When the command runs successfully, the user enters the PostgreSQL interactive shell where SQL commands can be executed.</a:t>
            </a:r>
            <a:endParaRPr/>
          </a:p>
          <a:p>
            <a:pPr>
              <a:defRPr/>
            </a:pPr>
            <a:r>
              <a:rPr sz="1200" b="0" i="0" u="none">
                <a:solidFill>
                  <a:srgbClr val="000000"/>
                </a:solidFill>
                <a:latin typeface="Times New Roman"/>
                <a:ea typeface="Times New Roman"/>
                <a:cs typeface="Times New Roman"/>
              </a:rPr>
              <a:t>Inside the PostgreSQL shell, the command </a:t>
            </a:r>
            <a:r>
              <a:rPr sz="1000" b="1" i="0" u="none">
                <a:solidFill>
                  <a:srgbClr val="000000"/>
                </a:solidFill>
                <a:latin typeface="Courier New"/>
                <a:ea typeface="Courier New"/>
                <a:cs typeface="Courier New"/>
              </a:rPr>
              <a:t>CREATE TABLE products (id SERIAL, attributes JSONB);</a:t>
            </a:r>
            <a:r>
              <a:rPr sz="1200" b="0" i="0" u="none">
                <a:solidFill>
                  <a:srgbClr val="000000"/>
                </a:solidFill>
                <a:latin typeface="Times New Roman"/>
                <a:ea typeface="Times New Roman"/>
                <a:cs typeface="Times New Roman"/>
              </a:rPr>
              <a:t> is an SQL Data Definition Language (DDL) statement used to create a new table. The table is named </a:t>
            </a:r>
            <a:r>
              <a:rPr sz="1200" b="1" i="0" u="none">
                <a:solidFill>
                  <a:srgbClr val="000000"/>
                </a:solidFill>
                <a:latin typeface="Times New Roman"/>
                <a:ea typeface="Times New Roman"/>
                <a:cs typeface="Times New Roman"/>
              </a:rPr>
              <a:t>products</a:t>
            </a:r>
            <a:r>
              <a:rPr sz="1200" b="0" i="0" u="none">
                <a:solidFill>
                  <a:srgbClr val="000000"/>
                </a:solidFill>
                <a:latin typeface="Times New Roman"/>
                <a:ea typeface="Times New Roman"/>
                <a:cs typeface="Times New Roman"/>
              </a:rPr>
              <a:t>. The column </a:t>
            </a:r>
            <a:r>
              <a:rPr sz="1000" b="1" i="0" u="none">
                <a:solidFill>
                  <a:srgbClr val="000000"/>
                </a:solidFill>
                <a:latin typeface="Courier New"/>
                <a:ea typeface="Courier New"/>
                <a:cs typeface="Courier New"/>
              </a:rPr>
              <a:t>id SERIAL</a:t>
            </a:r>
            <a:r>
              <a:rPr sz="1200" b="0" i="0" u="none">
                <a:solidFill>
                  <a:srgbClr val="000000"/>
                </a:solidFill>
                <a:latin typeface="Times New Roman"/>
                <a:ea typeface="Times New Roman"/>
                <a:cs typeface="Times New Roman"/>
              </a:rPr>
              <a:t> creates an auto-incrementing integer column that automatically generates a unique value for each new row. This column is typically used as a primary identifier for records. The column </a:t>
            </a:r>
            <a:r>
              <a:rPr sz="1000" b="1" i="0" u="none">
                <a:solidFill>
                  <a:srgbClr val="000000"/>
                </a:solidFill>
                <a:latin typeface="Courier New"/>
                <a:ea typeface="Courier New"/>
                <a:cs typeface="Courier New"/>
              </a:rPr>
              <a:t>attributes JSONB</a:t>
            </a:r>
            <a:r>
              <a:rPr sz="1200" b="0" i="0" u="none">
                <a:solidFill>
                  <a:srgbClr val="000000"/>
                </a:solidFill>
                <a:latin typeface="Times New Roman"/>
                <a:ea typeface="Times New Roman"/>
                <a:cs typeface="Times New Roman"/>
              </a:rPr>
              <a:t> defines a column that stores data using the JSONB data type. JSONB allows flexible storage of structured data inside the database, meaning each product can store different attributes without changing the table schema.</a:t>
            </a:r>
            <a:endParaRPr/>
          </a:p>
          <a:p>
            <a:pPr>
              <a:defRPr/>
            </a:pPr>
            <a:r>
              <a:rPr sz="1200" b="0" i="0" u="none">
                <a:solidFill>
                  <a:srgbClr val="000000"/>
                </a:solidFill>
                <a:latin typeface="Times New Roman"/>
                <a:ea typeface="Times New Roman"/>
                <a:cs typeface="Times New Roman"/>
              </a:rPr>
              <a:t>The command </a:t>
            </a:r>
            <a:r>
              <a:rPr sz="1000" b="1" i="0" u="none">
                <a:solidFill>
                  <a:srgbClr val="000000"/>
                </a:solidFill>
                <a:latin typeface="Courier New"/>
                <a:ea typeface="Courier New"/>
                <a:cs typeface="Courier New"/>
              </a:rPr>
              <a:t>\q</a:t>
            </a:r>
            <a:r>
              <a:rPr sz="1200" b="0" i="0" u="none">
                <a:solidFill>
                  <a:srgbClr val="000000"/>
                </a:solidFill>
                <a:latin typeface="Times New Roman"/>
                <a:ea typeface="Times New Roman"/>
                <a:cs typeface="Times New Roman"/>
              </a:rPr>
              <a:t> is used to exit the PostgreSQL interactive shell. The backslash commands in PostgreSQL are called </a:t>
            </a:r>
            <a:r>
              <a:rPr sz="1200" b="1" i="0" u="none">
                <a:solidFill>
                  <a:srgbClr val="000000"/>
                </a:solidFill>
                <a:latin typeface="Times New Roman"/>
                <a:ea typeface="Times New Roman"/>
                <a:cs typeface="Times New Roman"/>
              </a:rPr>
              <a:t>meta-commands</a:t>
            </a:r>
            <a:r>
              <a:rPr sz="1200" b="0" i="0" u="none">
                <a:solidFill>
                  <a:srgbClr val="000000"/>
                </a:solidFill>
                <a:latin typeface="Times New Roman"/>
                <a:ea typeface="Times New Roman"/>
                <a:cs typeface="Times New Roman"/>
              </a:rPr>
              <a:t>, which are instructions interpreted by the </a:t>
            </a:r>
            <a:r>
              <a:rPr sz="1000" b="0" i="0" u="none">
                <a:solidFill>
                  <a:srgbClr val="000000"/>
                </a:solidFill>
                <a:latin typeface="Courier New"/>
                <a:ea typeface="Courier New"/>
                <a:cs typeface="Courier New"/>
              </a:rPr>
              <a:t>psql</a:t>
            </a:r>
            <a:r>
              <a:rPr sz="1200" b="0" i="0" u="none">
                <a:solidFill>
                  <a:srgbClr val="000000"/>
                </a:solidFill>
                <a:latin typeface="Times New Roman"/>
                <a:ea typeface="Times New Roman"/>
                <a:cs typeface="Times New Roman"/>
              </a:rPr>
              <a:t> client rather than by the SQL engine itself. When </a:t>
            </a:r>
            <a:r>
              <a:rPr sz="1000" b="0" i="0" u="none">
                <a:solidFill>
                  <a:srgbClr val="000000"/>
                </a:solidFill>
                <a:latin typeface="Courier New"/>
                <a:ea typeface="Courier New"/>
                <a:cs typeface="Courier New"/>
              </a:rPr>
              <a:t>\q</a:t>
            </a:r>
            <a:r>
              <a:rPr sz="1200" b="0" i="0" u="none">
                <a:solidFill>
                  <a:srgbClr val="000000"/>
                </a:solidFill>
                <a:latin typeface="Times New Roman"/>
                <a:ea typeface="Times New Roman"/>
                <a:cs typeface="Times New Roman"/>
              </a:rPr>
              <a:t> is executed, the user leaves the database session and returns to the normal system terminal.</a:t>
            </a:r>
            <a:endParaRPr/>
          </a:p>
          <a:p>
            <a:pPr>
              <a:defRPr/>
            </a:pPr>
            <a:r>
              <a:rPr sz="1200" b="0" i="0" u="none">
                <a:solidFill>
                  <a:srgbClr val="000000"/>
                </a:solidFill>
                <a:latin typeface="Times New Roman"/>
                <a:ea typeface="Times New Roman"/>
                <a:cs typeface="Times New Roman"/>
              </a:rPr>
              <a:t>In summary, these commands demonstrate the workflow of starting containerized services, verifying that they are running, connecting to a database inside a container, creating a table that uses JSON storage, and then exiting the database interface. This sequence illustrates how modern development environments combine container orchestration with database interaction during application development.</a:t>
            </a:r>
            <a:endParaRPr/>
          </a:p>
          <a:p>
            <a:pPr>
              <a:defRPr/>
            </a:pPr>
            <a:r>
              <a:rPr sz="1200" b="1" i="0" u="none">
                <a:solidFill>
                  <a:srgbClr val="000000"/>
                </a:solidFill>
                <a:latin typeface="Times New Roman"/>
                <a:ea typeface="Times New Roman"/>
                <a:cs typeface="Times New Roman"/>
              </a:rPr>
              <a:t>Interview Question:</a:t>
            </a:r>
            <a:r>
              <a:rPr sz="1200" b="0" i="0" u="none">
                <a:solidFill>
                  <a:srgbClr val="000000"/>
                </a:solidFill>
                <a:latin typeface="Times New Roman"/>
                <a:ea typeface="Times New Roman"/>
                <a:cs typeface="Times New Roman"/>
              </a:rPr>
              <a:t> What does the command </a:t>
            </a:r>
            <a:r>
              <a:rPr sz="1000" b="0" i="0" u="none">
                <a:solidFill>
                  <a:srgbClr val="000000"/>
                </a:solidFill>
                <a:latin typeface="Courier New"/>
                <a:ea typeface="Courier New"/>
                <a:cs typeface="Courier New"/>
              </a:rPr>
              <a:t>docker compose up -d</a:t>
            </a:r>
            <a:r>
              <a:rPr sz="1200" b="0" i="0" u="none">
                <a:solidFill>
                  <a:srgbClr val="000000"/>
                </a:solidFill>
                <a:latin typeface="Times New Roman"/>
                <a:ea typeface="Times New Roman"/>
                <a:cs typeface="Times New Roman"/>
              </a:rPr>
              <a:t> do?</a:t>
            </a:r>
            <a:br>
              <a:rPr sz="1200" b="0"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Answer:</a:t>
            </a:r>
            <a:r>
              <a:rPr sz="1200" b="0" i="0" u="none">
                <a:solidFill>
                  <a:srgbClr val="000000"/>
                </a:solidFill>
                <a:latin typeface="Times New Roman"/>
                <a:ea typeface="Times New Roman"/>
                <a:cs typeface="Times New Roman"/>
              </a:rPr>
              <a:t> It starts all containers defined in the docker-compose configuration file and runs them in the background.</a:t>
            </a:r>
            <a:endParaRPr/>
          </a:p>
          <a:p>
            <a:pPr>
              <a:defRPr/>
            </a:pPr>
            <a:r>
              <a:rPr sz="1200" b="1" i="0" u="none">
                <a:solidFill>
                  <a:srgbClr val="000000"/>
                </a:solidFill>
                <a:latin typeface="Times New Roman"/>
                <a:ea typeface="Times New Roman"/>
                <a:cs typeface="Times New Roman"/>
              </a:rPr>
              <a:t>Interview Question:</a:t>
            </a:r>
            <a:r>
              <a:rPr sz="1200" b="0" i="0" u="none">
                <a:solidFill>
                  <a:srgbClr val="000000"/>
                </a:solidFill>
                <a:latin typeface="Times New Roman"/>
                <a:ea typeface="Times New Roman"/>
                <a:cs typeface="Times New Roman"/>
              </a:rPr>
              <a:t> What is the purpose of </a:t>
            </a:r>
            <a:r>
              <a:rPr sz="1000" b="0" i="0" u="none">
                <a:solidFill>
                  <a:srgbClr val="000000"/>
                </a:solidFill>
                <a:latin typeface="Courier New"/>
                <a:ea typeface="Courier New"/>
                <a:cs typeface="Courier New"/>
              </a:rPr>
              <a:t>docker exec -it</a:t>
            </a:r>
            <a:r>
              <a:rPr sz="1200" b="0" i="0" u="none">
                <a:solidFill>
                  <a:srgbClr val="000000"/>
                </a:solidFill>
                <a:latin typeface="Times New Roman"/>
                <a:ea typeface="Times New Roman"/>
                <a:cs typeface="Times New Roman"/>
              </a:rPr>
              <a:t>?</a:t>
            </a:r>
            <a:br>
              <a:rPr sz="1200" b="0"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Answer:</a:t>
            </a:r>
            <a:r>
              <a:rPr sz="1200" b="0" i="0" u="none">
                <a:solidFill>
                  <a:srgbClr val="000000"/>
                </a:solidFill>
                <a:latin typeface="Times New Roman"/>
                <a:ea typeface="Times New Roman"/>
                <a:cs typeface="Times New Roman"/>
              </a:rPr>
              <a:t> It allows a user to execute commands interactively inside a running Docker container.</a:t>
            </a:r>
            <a:endParaRPr/>
          </a:p>
          <a:p>
            <a:pPr>
              <a:defRPr/>
            </a:pPr>
            <a:r>
              <a:rPr sz="1200" b="1" i="0" u="none">
                <a:solidFill>
                  <a:srgbClr val="000000"/>
                </a:solidFill>
                <a:latin typeface="Times New Roman"/>
                <a:ea typeface="Times New Roman"/>
                <a:cs typeface="Times New Roman"/>
              </a:rPr>
              <a:t>Interview Question:</a:t>
            </a:r>
            <a:r>
              <a:rPr sz="1200" b="0" i="0" u="none">
                <a:solidFill>
                  <a:srgbClr val="000000"/>
                </a:solidFill>
                <a:latin typeface="Times New Roman"/>
                <a:ea typeface="Times New Roman"/>
                <a:cs typeface="Times New Roman"/>
              </a:rPr>
              <a:t> What does the </a:t>
            </a:r>
            <a:r>
              <a:rPr sz="1000" b="0" i="0" u="none">
                <a:solidFill>
                  <a:srgbClr val="000000"/>
                </a:solidFill>
                <a:latin typeface="Courier New"/>
                <a:ea typeface="Courier New"/>
                <a:cs typeface="Courier New"/>
              </a:rPr>
              <a:t>SERIAL</a:t>
            </a:r>
            <a:r>
              <a:rPr sz="1200" b="0" i="0" u="none">
                <a:solidFill>
                  <a:srgbClr val="000000"/>
                </a:solidFill>
                <a:latin typeface="Times New Roman"/>
                <a:ea typeface="Times New Roman"/>
                <a:cs typeface="Times New Roman"/>
              </a:rPr>
              <a:t> type do in PostgreSQL?</a:t>
            </a:r>
            <a:br>
              <a:rPr sz="1200" b="0"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Answer:</a:t>
            </a:r>
            <a:r>
              <a:rPr sz="1200" b="0" i="0" u="none">
                <a:solidFill>
                  <a:srgbClr val="000000"/>
                </a:solidFill>
                <a:latin typeface="Times New Roman"/>
                <a:ea typeface="Times New Roman"/>
                <a:cs typeface="Times New Roman"/>
              </a:rPr>
              <a:t> It creates an auto-incrementing integer column that automatically generates unique values for new rows.</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19589025" name="Google Shape;332;SLIDES_API647489343_24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031333884" name="Google Shape;333;SLIDES_API647489343_241: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The command </a:t>
            </a:r>
            <a:r>
              <a:rPr sz="1000" b="1" i="0" u="none">
                <a:solidFill>
                  <a:srgbClr val="000000"/>
                </a:solidFill>
                <a:latin typeface="Courier New"/>
                <a:ea typeface="Courier New"/>
                <a:cs typeface="Courier New"/>
              </a:rPr>
              <a:t>docker exec -it lab_redis redis-cli</a:t>
            </a:r>
            <a:r>
              <a:rPr sz="1200" b="0" i="0" u="none">
                <a:solidFill>
                  <a:srgbClr val="000000"/>
                </a:solidFill>
                <a:latin typeface="Times New Roman"/>
                <a:ea typeface="Times New Roman"/>
                <a:cs typeface="Times New Roman"/>
              </a:rPr>
              <a:t> is used to open an interactive Redis command-line interface inside the running Redis container. The command begins with </a:t>
            </a:r>
            <a:r>
              <a:rPr sz="1000" b="1" i="0" u="none">
                <a:solidFill>
                  <a:srgbClr val="000000"/>
                </a:solidFill>
                <a:latin typeface="Courier New"/>
                <a:ea typeface="Courier New"/>
                <a:cs typeface="Courier New"/>
              </a:rPr>
              <a:t>docker exec</a:t>
            </a:r>
            <a:r>
              <a:rPr sz="1200" b="0" i="0" u="none">
                <a:solidFill>
                  <a:srgbClr val="000000"/>
                </a:solidFill>
                <a:latin typeface="Times New Roman"/>
                <a:ea typeface="Times New Roman"/>
                <a:cs typeface="Times New Roman"/>
              </a:rPr>
              <a:t>, which allows us to execute a command inside a container that is already running. The option </a:t>
            </a:r>
            <a:r>
              <a:rPr sz="1000" b="1" i="0" u="none">
                <a:solidFill>
                  <a:srgbClr val="000000"/>
                </a:solidFill>
                <a:latin typeface="Courier New"/>
                <a:ea typeface="Courier New"/>
                <a:cs typeface="Courier New"/>
              </a:rPr>
              <a:t>-it</a:t>
            </a:r>
            <a:r>
              <a:rPr sz="1200" b="0" i="0" u="none">
                <a:solidFill>
                  <a:srgbClr val="000000"/>
                </a:solidFill>
                <a:latin typeface="Times New Roman"/>
                <a:ea typeface="Times New Roman"/>
                <a:cs typeface="Times New Roman"/>
              </a:rPr>
              <a:t> combines two flags. The flag </a:t>
            </a:r>
            <a:r>
              <a:rPr sz="1000" b="1" i="0" u="none">
                <a:solidFill>
                  <a:srgbClr val="000000"/>
                </a:solidFill>
                <a:latin typeface="Courier New"/>
                <a:ea typeface="Courier New"/>
                <a:cs typeface="Courier New"/>
              </a:rPr>
              <a:t>-i</a:t>
            </a:r>
            <a:r>
              <a:rPr sz="1200" b="0" i="0" u="none">
                <a:solidFill>
                  <a:srgbClr val="000000"/>
                </a:solidFill>
                <a:latin typeface="Times New Roman"/>
                <a:ea typeface="Times New Roman"/>
                <a:cs typeface="Times New Roman"/>
              </a:rPr>
              <a:t> keeps the input stream open so the user can type commands interactively, and the flag </a:t>
            </a:r>
            <a:r>
              <a:rPr sz="1000" b="1" i="0" u="none">
                <a:solidFill>
                  <a:srgbClr val="000000"/>
                </a:solidFill>
                <a:latin typeface="Courier New"/>
                <a:ea typeface="Courier New"/>
                <a:cs typeface="Courier New"/>
              </a:rPr>
              <a:t>-t</a:t>
            </a:r>
            <a:r>
              <a:rPr sz="1200" b="0" i="0" u="none">
                <a:solidFill>
                  <a:srgbClr val="000000"/>
                </a:solidFill>
                <a:latin typeface="Times New Roman"/>
                <a:ea typeface="Times New Roman"/>
                <a:cs typeface="Times New Roman"/>
              </a:rPr>
              <a:t> allocates a terminal interface so the interaction behaves like a normal shell session. The name </a:t>
            </a:r>
            <a:r>
              <a:rPr sz="1000" b="1" i="0" u="none">
                <a:solidFill>
                  <a:srgbClr val="000000"/>
                </a:solidFill>
                <a:latin typeface="Courier New"/>
                <a:ea typeface="Courier New"/>
                <a:cs typeface="Courier New"/>
              </a:rPr>
              <a:t>lab_redis</a:t>
            </a:r>
            <a:r>
              <a:rPr sz="1200" b="0" i="0" u="none">
                <a:solidFill>
                  <a:srgbClr val="000000"/>
                </a:solidFill>
                <a:latin typeface="Times New Roman"/>
                <a:ea typeface="Times New Roman"/>
                <a:cs typeface="Times New Roman"/>
              </a:rPr>
              <a:t> specifies the container where the command should run. The command </a:t>
            </a:r>
            <a:r>
              <a:rPr sz="1000" b="1" i="0" u="none">
                <a:solidFill>
                  <a:srgbClr val="000000"/>
                </a:solidFill>
                <a:latin typeface="Courier New"/>
                <a:ea typeface="Courier New"/>
                <a:cs typeface="Courier New"/>
              </a:rPr>
              <a:t>redis-cli</a:t>
            </a:r>
            <a:r>
              <a:rPr sz="1200" b="0" i="0" u="none">
                <a:solidFill>
                  <a:srgbClr val="000000"/>
                </a:solidFill>
                <a:latin typeface="Times New Roman"/>
                <a:ea typeface="Times New Roman"/>
                <a:cs typeface="Times New Roman"/>
              </a:rPr>
              <a:t> launches the Redis command-line client, which allows us to communicate directly with the Redis server. Once this command is executed successfully, the user enters the Redis interactive shell and can begin issuing Redis commands.</a:t>
            </a:r>
            <a:endParaRPr/>
          </a:p>
          <a:p>
            <a:pPr>
              <a:defRPr/>
            </a:pPr>
            <a:r>
              <a:rPr sz="1200" b="0" i="0" u="none">
                <a:solidFill>
                  <a:srgbClr val="000000"/>
                </a:solidFill>
                <a:latin typeface="Times New Roman"/>
                <a:ea typeface="Times New Roman"/>
                <a:cs typeface="Times New Roman"/>
              </a:rPr>
              <a:t>The command </a:t>
            </a:r>
            <a:r>
              <a:rPr sz="1000" b="1" i="0" u="none">
                <a:solidFill>
                  <a:srgbClr val="000000"/>
                </a:solidFill>
                <a:latin typeface="Courier New"/>
                <a:ea typeface="Courier New"/>
                <a:cs typeface="Courier New"/>
              </a:rPr>
              <a:t>SETEX laptop:ram 10 "16GB"</a:t>
            </a:r>
            <a:r>
              <a:rPr sz="1200" b="0" i="0" u="none">
                <a:solidFill>
                  <a:srgbClr val="000000"/>
                </a:solidFill>
                <a:latin typeface="Times New Roman"/>
                <a:ea typeface="Times New Roman"/>
                <a:cs typeface="Times New Roman"/>
              </a:rPr>
              <a:t> stores a key–value pair in Redis with an expiration time. Redis is a key–value database, which means data is stored as pairs where each unique key maps to a value. In this command, the key is </a:t>
            </a:r>
            <a:r>
              <a:rPr sz="1000" b="1" i="0" u="none">
                <a:solidFill>
                  <a:srgbClr val="000000"/>
                </a:solidFill>
                <a:latin typeface="Courier New"/>
                <a:ea typeface="Courier New"/>
                <a:cs typeface="Courier New"/>
              </a:rPr>
              <a:t>laptop:ram</a:t>
            </a:r>
            <a:r>
              <a:rPr sz="1200" b="0" i="0" u="none">
                <a:solidFill>
                  <a:srgbClr val="000000"/>
                </a:solidFill>
                <a:latin typeface="Times New Roman"/>
                <a:ea typeface="Times New Roman"/>
                <a:cs typeface="Times New Roman"/>
              </a:rPr>
              <a:t>, which follows a common naming convention in Redis where a colon is used to organize related keys. The number </a:t>
            </a:r>
            <a:r>
              <a:rPr sz="1000" b="1" i="0" u="none">
                <a:solidFill>
                  <a:srgbClr val="000000"/>
                </a:solidFill>
                <a:latin typeface="Courier New"/>
                <a:ea typeface="Courier New"/>
                <a:cs typeface="Courier New"/>
              </a:rPr>
              <a:t>10</a:t>
            </a:r>
            <a:r>
              <a:rPr sz="1200" b="0" i="0" u="none">
                <a:solidFill>
                  <a:srgbClr val="000000"/>
                </a:solidFill>
                <a:latin typeface="Times New Roman"/>
                <a:ea typeface="Times New Roman"/>
                <a:cs typeface="Times New Roman"/>
              </a:rPr>
              <a:t> represents the time-to-live (TTL) in seconds, meaning the key will automatically expire after ten seconds. The value </a:t>
            </a:r>
            <a:r>
              <a:rPr sz="1000" b="1" i="0" u="none">
                <a:solidFill>
                  <a:srgbClr val="000000"/>
                </a:solidFill>
                <a:latin typeface="Courier New"/>
                <a:ea typeface="Courier New"/>
                <a:cs typeface="Courier New"/>
              </a:rPr>
              <a:t>"16GB"</a:t>
            </a:r>
            <a:r>
              <a:rPr sz="1200" b="0" i="0" u="none">
                <a:solidFill>
                  <a:srgbClr val="000000"/>
                </a:solidFill>
                <a:latin typeface="Times New Roman"/>
                <a:ea typeface="Times New Roman"/>
                <a:cs typeface="Times New Roman"/>
              </a:rPr>
              <a:t> is the data stored for that key. The command name </a:t>
            </a:r>
            <a:r>
              <a:rPr sz="1200" b="1" i="0" u="none">
                <a:solidFill>
                  <a:srgbClr val="000000"/>
                </a:solidFill>
                <a:latin typeface="Times New Roman"/>
                <a:ea typeface="Times New Roman"/>
                <a:cs typeface="Times New Roman"/>
              </a:rPr>
              <a:t>SETEX</a:t>
            </a:r>
            <a:r>
              <a:rPr sz="1200" b="0" i="0" u="none">
                <a:solidFill>
                  <a:srgbClr val="000000"/>
                </a:solidFill>
                <a:latin typeface="Times New Roman"/>
                <a:ea typeface="Times New Roman"/>
                <a:cs typeface="Times New Roman"/>
              </a:rPr>
              <a:t> stands for </a:t>
            </a:r>
            <a:r>
              <a:rPr sz="1200" b="1" i="0" u="none">
                <a:solidFill>
                  <a:srgbClr val="000000"/>
                </a:solidFill>
                <a:latin typeface="Times New Roman"/>
                <a:ea typeface="Times New Roman"/>
                <a:cs typeface="Times New Roman"/>
              </a:rPr>
              <a:t>SET with EXpiration</a:t>
            </a:r>
            <a:r>
              <a:rPr sz="1200" b="0" i="0" u="none">
                <a:solidFill>
                  <a:srgbClr val="000000"/>
                </a:solidFill>
                <a:latin typeface="Times New Roman"/>
                <a:ea typeface="Times New Roman"/>
                <a:cs typeface="Times New Roman"/>
              </a:rPr>
              <a:t>, meaning the value is stored together with an automatic expiration timer. This feature is extremely useful for caching scenarios where data should exist only temporarily.</a:t>
            </a:r>
            <a:endParaRPr/>
          </a:p>
          <a:p>
            <a:pPr>
              <a:defRPr/>
            </a:pPr>
            <a:r>
              <a:rPr sz="1200" b="0" i="0" u="none">
                <a:solidFill>
                  <a:srgbClr val="000000"/>
                </a:solidFill>
                <a:latin typeface="Times New Roman"/>
                <a:ea typeface="Times New Roman"/>
                <a:cs typeface="Times New Roman"/>
              </a:rPr>
              <a:t>The command </a:t>
            </a:r>
            <a:r>
              <a:rPr sz="1000" b="1" i="0" u="none">
                <a:solidFill>
                  <a:srgbClr val="000000"/>
                </a:solidFill>
                <a:latin typeface="Courier New"/>
                <a:ea typeface="Courier New"/>
                <a:cs typeface="Courier New"/>
              </a:rPr>
              <a:t>GET laptop:ram</a:t>
            </a:r>
            <a:r>
              <a:rPr sz="1200" b="0" i="0" u="none">
                <a:solidFill>
                  <a:srgbClr val="000000"/>
                </a:solidFill>
                <a:latin typeface="Times New Roman"/>
                <a:ea typeface="Times New Roman"/>
                <a:cs typeface="Times New Roman"/>
              </a:rPr>
              <a:t> retrieves the value stored for the key </a:t>
            </a:r>
            <a:r>
              <a:rPr sz="1000" b="1" i="0" u="none">
                <a:solidFill>
                  <a:srgbClr val="000000"/>
                </a:solidFill>
                <a:latin typeface="Courier New"/>
                <a:ea typeface="Courier New"/>
                <a:cs typeface="Courier New"/>
              </a:rPr>
              <a:t>laptop:ram</a:t>
            </a:r>
            <a:r>
              <a:rPr sz="1200" b="0" i="0" u="none">
                <a:solidFill>
                  <a:srgbClr val="000000"/>
                </a:solidFill>
                <a:latin typeface="Times New Roman"/>
                <a:ea typeface="Times New Roman"/>
                <a:cs typeface="Times New Roman"/>
              </a:rPr>
              <a:t>. When this command is executed immediately after the SETEX command, Redis returns the stored value </a:t>
            </a:r>
            <a:r>
              <a:rPr sz="1000" b="1" i="0" u="none">
                <a:solidFill>
                  <a:srgbClr val="000000"/>
                </a:solidFill>
                <a:latin typeface="Courier New"/>
                <a:ea typeface="Courier New"/>
                <a:cs typeface="Courier New"/>
              </a:rPr>
              <a:t>16GB</a:t>
            </a:r>
            <a:r>
              <a:rPr sz="1200" b="0" i="0" u="none">
                <a:solidFill>
                  <a:srgbClr val="000000"/>
                </a:solidFill>
                <a:latin typeface="Times New Roman"/>
                <a:ea typeface="Times New Roman"/>
                <a:cs typeface="Times New Roman"/>
              </a:rPr>
              <a:t>. Because Redis stores data in memory and performs direct key lookups, this operation happens extremely quickly, typically in less than a millisecond.</a:t>
            </a:r>
            <a:endParaRPr/>
          </a:p>
          <a:p>
            <a:pPr>
              <a:defRPr/>
            </a:pPr>
            <a:r>
              <a:rPr sz="1200" b="0" i="0" u="none">
                <a:solidFill>
                  <a:srgbClr val="000000"/>
                </a:solidFill>
                <a:latin typeface="Times New Roman"/>
                <a:ea typeface="Times New Roman"/>
                <a:cs typeface="Times New Roman"/>
              </a:rPr>
              <a:t>After waiting ten seconds, the command </a:t>
            </a:r>
            <a:r>
              <a:rPr sz="1000" b="1" i="0" u="none">
                <a:solidFill>
                  <a:srgbClr val="000000"/>
                </a:solidFill>
                <a:latin typeface="Courier New"/>
                <a:ea typeface="Courier New"/>
                <a:cs typeface="Courier New"/>
              </a:rPr>
              <a:t>GET laptop:ram</a:t>
            </a:r>
            <a:r>
              <a:rPr sz="1200" b="0" i="0" u="none">
                <a:solidFill>
                  <a:srgbClr val="000000"/>
                </a:solidFill>
                <a:latin typeface="Times New Roman"/>
                <a:ea typeface="Times New Roman"/>
                <a:cs typeface="Times New Roman"/>
              </a:rPr>
              <a:t> is executed again. At this point Redis returns </a:t>
            </a:r>
            <a:r>
              <a:rPr sz="1000" b="1" i="0" u="none">
                <a:solidFill>
                  <a:srgbClr val="000000"/>
                </a:solidFill>
                <a:latin typeface="Courier New"/>
                <a:ea typeface="Courier New"/>
                <a:cs typeface="Courier New"/>
              </a:rPr>
              <a:t>(nil)</a:t>
            </a:r>
            <a:r>
              <a:rPr sz="1200" b="0" i="0" u="none">
                <a:solidFill>
                  <a:srgbClr val="000000"/>
                </a:solidFill>
                <a:latin typeface="Times New Roman"/>
                <a:ea typeface="Times New Roman"/>
                <a:cs typeface="Times New Roman"/>
              </a:rPr>
              <a:t>, which means the key no longer exists in the database. This happens because the expiration timer has reached zero and Redis automatically removed the key from memory. This mechanism demonstrates how Redis manages temporary data efficiently without requiring manual deletion by the application.</a:t>
            </a:r>
            <a:endParaRPr/>
          </a:p>
          <a:p>
            <a:pPr>
              <a:defRPr/>
            </a:pPr>
            <a:r>
              <a:rPr sz="1200" b="0" i="0" u="none">
                <a:solidFill>
                  <a:srgbClr val="000000"/>
                </a:solidFill>
                <a:latin typeface="Times New Roman"/>
                <a:ea typeface="Times New Roman"/>
                <a:cs typeface="Times New Roman"/>
              </a:rPr>
              <a:t>The command </a:t>
            </a:r>
            <a:r>
              <a:rPr sz="1000" b="1" i="0" u="none">
                <a:solidFill>
                  <a:srgbClr val="000000"/>
                </a:solidFill>
                <a:latin typeface="Courier New"/>
                <a:ea typeface="Courier New"/>
                <a:cs typeface="Courier New"/>
              </a:rPr>
              <a:t>exit</a:t>
            </a:r>
            <a:r>
              <a:rPr sz="1200" b="0" i="0" u="none">
                <a:solidFill>
                  <a:srgbClr val="000000"/>
                </a:solidFill>
                <a:latin typeface="Times New Roman"/>
                <a:ea typeface="Times New Roman"/>
                <a:cs typeface="Times New Roman"/>
              </a:rPr>
              <a:t> closes the Redis command-line interface and returns the user to the normal system terminal. This simply ends the interactive session with the Redis server.</a:t>
            </a:r>
            <a:endParaRPr/>
          </a:p>
          <a:p>
            <a:pPr>
              <a:defRPr/>
            </a:pPr>
            <a:r>
              <a:rPr sz="1200" b="0" i="0" u="none">
                <a:solidFill>
                  <a:srgbClr val="000000"/>
                </a:solidFill>
                <a:latin typeface="Times New Roman"/>
                <a:ea typeface="Times New Roman"/>
                <a:cs typeface="Times New Roman"/>
              </a:rPr>
              <a:t>This short sequence demonstrates one of the most important features of Redis: the ability to store data with an automatic expiration time. In real-world systems this mechanism is widely used for caching API responses, storing temporary authentication tokens, maintaining session data, or implementing rate-limiting mechanisms.</a:t>
            </a:r>
            <a:endParaRPr/>
          </a:p>
          <a:p>
            <a:pPr>
              <a:defRPr/>
            </a:pPr>
            <a:r>
              <a:rPr sz="1200" b="1" i="0" u="none">
                <a:solidFill>
                  <a:srgbClr val="000000"/>
                </a:solidFill>
                <a:latin typeface="Times New Roman"/>
                <a:ea typeface="Times New Roman"/>
                <a:cs typeface="Times New Roman"/>
              </a:rPr>
              <a:t>Interview Question:</a:t>
            </a:r>
            <a:r>
              <a:rPr sz="1200" b="0" i="0" u="none">
                <a:solidFill>
                  <a:srgbClr val="000000"/>
                </a:solidFill>
                <a:latin typeface="Times New Roman"/>
                <a:ea typeface="Times New Roman"/>
                <a:cs typeface="Times New Roman"/>
              </a:rPr>
              <a:t> What does the Redis command </a:t>
            </a:r>
            <a:r>
              <a:rPr sz="1000" b="0" i="0" u="none">
                <a:solidFill>
                  <a:srgbClr val="000000"/>
                </a:solidFill>
                <a:latin typeface="Courier New"/>
                <a:ea typeface="Courier New"/>
                <a:cs typeface="Courier New"/>
              </a:rPr>
              <a:t>SETEX</a:t>
            </a:r>
            <a:r>
              <a:rPr sz="1200" b="0" i="0" u="none">
                <a:solidFill>
                  <a:srgbClr val="000000"/>
                </a:solidFill>
                <a:latin typeface="Times New Roman"/>
                <a:ea typeface="Times New Roman"/>
                <a:cs typeface="Times New Roman"/>
              </a:rPr>
              <a:t> do?</a:t>
            </a:r>
            <a:br>
              <a:rPr sz="1200" b="0"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Answer:</a:t>
            </a:r>
            <a:r>
              <a:rPr sz="1200" b="0" i="0" u="none">
                <a:solidFill>
                  <a:srgbClr val="000000"/>
                </a:solidFill>
                <a:latin typeface="Times New Roman"/>
                <a:ea typeface="Times New Roman"/>
                <a:cs typeface="Times New Roman"/>
              </a:rPr>
              <a:t> The command </a:t>
            </a:r>
            <a:r>
              <a:rPr sz="1000" b="0" i="0" u="none">
                <a:solidFill>
                  <a:srgbClr val="000000"/>
                </a:solidFill>
                <a:latin typeface="Courier New"/>
                <a:ea typeface="Courier New"/>
                <a:cs typeface="Courier New"/>
              </a:rPr>
              <a:t>SETEX</a:t>
            </a:r>
            <a:r>
              <a:rPr sz="1200" b="0" i="0" u="none">
                <a:solidFill>
                  <a:srgbClr val="000000"/>
                </a:solidFill>
                <a:latin typeface="Times New Roman"/>
                <a:ea typeface="Times New Roman"/>
                <a:cs typeface="Times New Roman"/>
              </a:rPr>
              <a:t> stores a key–value pair and assigns a time-to-live so that the key automatically expires after a specified number of seconds.</a:t>
            </a:r>
            <a:endParaRPr/>
          </a:p>
          <a:p>
            <a:pPr>
              <a:defRPr/>
            </a:pPr>
            <a:r>
              <a:rPr sz="1200" b="1" i="0" u="none">
                <a:solidFill>
                  <a:srgbClr val="000000"/>
                </a:solidFill>
                <a:latin typeface="Times New Roman"/>
                <a:ea typeface="Times New Roman"/>
                <a:cs typeface="Times New Roman"/>
              </a:rPr>
              <a:t>Interview Question:</a:t>
            </a:r>
            <a:r>
              <a:rPr sz="1200" b="0" i="0" u="none">
                <a:solidFill>
                  <a:srgbClr val="000000"/>
                </a:solidFill>
                <a:latin typeface="Times New Roman"/>
                <a:ea typeface="Times New Roman"/>
                <a:cs typeface="Times New Roman"/>
              </a:rPr>
              <a:t> What does </a:t>
            </a:r>
            <a:r>
              <a:rPr sz="1000" b="0" i="0" u="none">
                <a:solidFill>
                  <a:srgbClr val="000000"/>
                </a:solidFill>
                <a:latin typeface="Courier New"/>
                <a:ea typeface="Courier New"/>
                <a:cs typeface="Courier New"/>
              </a:rPr>
              <a:t>(nil)</a:t>
            </a:r>
            <a:r>
              <a:rPr sz="1200" b="0" i="0" u="none">
                <a:solidFill>
                  <a:srgbClr val="000000"/>
                </a:solidFill>
                <a:latin typeface="Times New Roman"/>
                <a:ea typeface="Times New Roman"/>
                <a:cs typeface="Times New Roman"/>
              </a:rPr>
              <a:t> mean when returned by Redis?</a:t>
            </a:r>
            <a:br>
              <a:rPr sz="1200" b="0"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Answer:</a:t>
            </a:r>
            <a:r>
              <a:rPr sz="1200" b="0" i="0" u="none">
                <a:solidFill>
                  <a:srgbClr val="000000"/>
                </a:solidFill>
                <a:latin typeface="Times New Roman"/>
                <a:ea typeface="Times New Roman"/>
                <a:cs typeface="Times New Roman"/>
              </a:rPr>
              <a:t> It means the requested key does not exist in the Redis database, either because it was never created or because it expired and was automatically removed.</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17063824" name="Google Shape;340;SLIDES_API647489343_248: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89219903" name="Google Shape;341;SLIDES_API647489343_248: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The command </a:t>
            </a:r>
            <a:r>
              <a:rPr sz="1000" b="1" i="0" u="none">
                <a:solidFill>
                  <a:srgbClr val="000000"/>
                </a:solidFill>
                <a:latin typeface="Courier New"/>
                <a:ea typeface="Courier New"/>
                <a:cs typeface="Courier New"/>
              </a:rPr>
              <a:t>docker compose stop</a:t>
            </a:r>
            <a:r>
              <a:rPr sz="1200" b="0" i="0" u="none">
                <a:solidFill>
                  <a:srgbClr val="000000"/>
                </a:solidFill>
                <a:latin typeface="Times New Roman"/>
                <a:ea typeface="Times New Roman"/>
                <a:cs typeface="Times New Roman"/>
              </a:rPr>
              <a:t> is used to stop the containers that were started by Docker Compose without deleting them. When this command is executed, Docker sends a signal to the running containers instructing them to stop their processes. The containers remain stored on the system, but they are no longer running and therefore they do not consume CPU resources. Importantly, all container data and configuration remain intact. This means that if the developer later runs </a:t>
            </a:r>
            <a:r>
              <a:rPr sz="1000" b="1" i="0" u="none">
                <a:solidFill>
                  <a:srgbClr val="000000"/>
                </a:solidFill>
                <a:latin typeface="Courier New"/>
                <a:ea typeface="Courier New"/>
                <a:cs typeface="Courier New"/>
              </a:rPr>
              <a:t>docker compose start</a:t>
            </a:r>
            <a:r>
              <a:rPr sz="1200" b="0" i="0" u="none">
                <a:solidFill>
                  <a:srgbClr val="000000"/>
                </a:solidFill>
                <a:latin typeface="Times New Roman"/>
                <a:ea typeface="Times New Roman"/>
                <a:cs typeface="Times New Roman"/>
              </a:rPr>
              <a:t> or </a:t>
            </a:r>
            <a:r>
              <a:rPr sz="1000" b="1" i="0" u="none">
                <a:solidFill>
                  <a:srgbClr val="000000"/>
                </a:solidFill>
                <a:latin typeface="Courier New"/>
                <a:ea typeface="Courier New"/>
                <a:cs typeface="Courier New"/>
              </a:rPr>
              <a:t>docker compose up</a:t>
            </a:r>
            <a:r>
              <a:rPr sz="1200" b="0" i="0" u="none">
                <a:solidFill>
                  <a:srgbClr val="000000"/>
                </a:solidFill>
                <a:latin typeface="Times New Roman"/>
                <a:ea typeface="Times New Roman"/>
                <a:cs typeface="Times New Roman"/>
              </a:rPr>
              <a:t>, the containers will start again using the same state they had before being stopped. In practice, this command behaves similarly to putting a computer into sleep mode. The system pauses the running services but preserves everything in memory and storage so they can be resumed later.</a:t>
            </a:r>
            <a:endParaRPr/>
          </a:p>
          <a:p>
            <a:pPr>
              <a:defRPr/>
            </a:pPr>
            <a:r>
              <a:rPr sz="1200" b="0" i="0" u="none">
                <a:solidFill>
                  <a:srgbClr val="000000"/>
                </a:solidFill>
                <a:latin typeface="Times New Roman"/>
                <a:ea typeface="Times New Roman"/>
                <a:cs typeface="Times New Roman"/>
              </a:rPr>
              <a:t>The command </a:t>
            </a:r>
            <a:r>
              <a:rPr sz="1000" b="1" i="0" u="none">
                <a:solidFill>
                  <a:srgbClr val="000000"/>
                </a:solidFill>
                <a:latin typeface="Courier New"/>
                <a:ea typeface="Courier New"/>
                <a:cs typeface="Courier New"/>
              </a:rPr>
              <a:t>docker compose down</a:t>
            </a:r>
            <a:r>
              <a:rPr sz="1200" b="0" i="0" u="none">
                <a:solidFill>
                  <a:srgbClr val="000000"/>
                </a:solidFill>
                <a:latin typeface="Times New Roman"/>
                <a:ea typeface="Times New Roman"/>
                <a:cs typeface="Times New Roman"/>
              </a:rPr>
              <a:t> performs a more complete shutdown of the environment. Instead of simply stopping the containers, this command stops them and then removes them entirely from the system. Docker Compose also removes the networks that were automatically created for communication between the containers. However, by default Docker does </a:t>
            </a:r>
            <a:r>
              <a:rPr sz="1200" b="1" i="0" u="none">
                <a:solidFill>
                  <a:srgbClr val="000000"/>
                </a:solidFill>
                <a:latin typeface="Times New Roman"/>
                <a:ea typeface="Times New Roman"/>
                <a:cs typeface="Times New Roman"/>
              </a:rPr>
              <a:t>not delete persistent volumes</a:t>
            </a:r>
            <a:r>
              <a:rPr sz="1200" b="0" i="0" u="none">
                <a:solidFill>
                  <a:srgbClr val="000000"/>
                </a:solidFill>
                <a:latin typeface="Times New Roman"/>
                <a:ea typeface="Times New Roman"/>
                <a:cs typeface="Times New Roman"/>
              </a:rPr>
              <a:t>, which means that any database data stored in volumes remains available. If the developer runs </a:t>
            </a:r>
            <a:r>
              <a:rPr sz="1000" b="1" i="0" u="none">
                <a:solidFill>
                  <a:srgbClr val="000000"/>
                </a:solidFill>
                <a:latin typeface="Courier New"/>
                <a:ea typeface="Courier New"/>
                <a:cs typeface="Courier New"/>
              </a:rPr>
              <a:t>docker compose up</a:t>
            </a:r>
            <a:r>
              <a:rPr sz="1200" b="0" i="0" u="none">
                <a:solidFill>
                  <a:srgbClr val="000000"/>
                </a:solidFill>
                <a:latin typeface="Times New Roman"/>
                <a:ea typeface="Times New Roman"/>
                <a:cs typeface="Times New Roman"/>
              </a:rPr>
              <a:t> again after executing this command, Docker will recreate the containers and reconnect them to the existing volumes, so previously stored data such as database records will still be present.</a:t>
            </a:r>
            <a:endParaRPr/>
          </a:p>
          <a:p>
            <a:pPr>
              <a:defRPr/>
            </a:pPr>
            <a:r>
              <a:rPr sz="1200" b="0" i="0" u="none">
                <a:solidFill>
                  <a:srgbClr val="000000"/>
                </a:solidFill>
                <a:latin typeface="Times New Roman"/>
                <a:ea typeface="Times New Roman"/>
                <a:cs typeface="Times New Roman"/>
              </a:rPr>
              <a:t>The command </a:t>
            </a:r>
            <a:r>
              <a:rPr sz="1000" b="1" i="0" u="none">
                <a:solidFill>
                  <a:srgbClr val="000000"/>
                </a:solidFill>
                <a:latin typeface="Courier New"/>
                <a:ea typeface="Courier New"/>
                <a:cs typeface="Courier New"/>
              </a:rPr>
              <a:t>docker compose down -v</a:t>
            </a:r>
            <a:r>
              <a:rPr sz="1200" b="0" i="0" u="none">
                <a:solidFill>
                  <a:srgbClr val="000000"/>
                </a:solidFill>
                <a:latin typeface="Times New Roman"/>
                <a:ea typeface="Times New Roman"/>
                <a:cs typeface="Times New Roman"/>
              </a:rPr>
              <a:t> performs a complete cleanup of the Docker Compose environment including the deletion of persistent storage volumes. The </a:t>
            </a:r>
            <a:r>
              <a:rPr sz="1000" b="1" i="0" u="none">
                <a:solidFill>
                  <a:srgbClr val="000000"/>
                </a:solidFill>
                <a:latin typeface="Courier New"/>
                <a:ea typeface="Courier New"/>
                <a:cs typeface="Courier New"/>
              </a:rPr>
              <a:t>-v</a:t>
            </a:r>
            <a:r>
              <a:rPr sz="1200" b="0" i="0" u="none">
                <a:solidFill>
                  <a:srgbClr val="000000"/>
                </a:solidFill>
                <a:latin typeface="Times New Roman"/>
                <a:ea typeface="Times New Roman"/>
                <a:cs typeface="Times New Roman"/>
              </a:rPr>
              <a:t> option instructs Docker to remove all volumes associated with the services defined in the compose file. Volumes are commonly used to store persistent data such as PostgreSQL database files. When this command is executed, the containers, networks, and volumes are all deleted. As a result, any stored data is permanently removed. If the environment is started again later using </a:t>
            </a:r>
            <a:r>
              <a:rPr sz="1000" b="1" i="0" u="none">
                <a:solidFill>
                  <a:srgbClr val="000000"/>
                </a:solidFill>
                <a:latin typeface="Courier New"/>
                <a:ea typeface="Courier New"/>
                <a:cs typeface="Courier New"/>
              </a:rPr>
              <a:t>docker compose up</a:t>
            </a:r>
            <a:r>
              <a:rPr sz="1200" b="0" i="0" u="none">
                <a:solidFill>
                  <a:srgbClr val="000000"/>
                </a:solidFill>
                <a:latin typeface="Times New Roman"/>
                <a:ea typeface="Times New Roman"/>
                <a:cs typeface="Times New Roman"/>
              </a:rPr>
              <a:t>, the containers will start with completely fresh storage, as if the system were being deployed for the first time.</a:t>
            </a:r>
            <a:endParaRPr/>
          </a:p>
          <a:p>
            <a:pPr>
              <a:defRPr/>
            </a:pPr>
            <a:r>
              <a:rPr sz="1200" b="0" i="0" u="none">
                <a:solidFill>
                  <a:srgbClr val="000000"/>
                </a:solidFill>
                <a:latin typeface="Times New Roman"/>
                <a:ea typeface="Times New Roman"/>
                <a:cs typeface="Times New Roman"/>
              </a:rPr>
              <a:t>This sequence of commands illustrates different levels of shutdown in containerized environments. The </a:t>
            </a:r>
            <a:r>
              <a:rPr sz="1200" b="1" i="0" u="none">
                <a:solidFill>
                  <a:srgbClr val="000000"/>
                </a:solidFill>
                <a:latin typeface="Times New Roman"/>
                <a:ea typeface="Times New Roman"/>
                <a:cs typeface="Times New Roman"/>
              </a:rPr>
              <a:t>stop command</a:t>
            </a:r>
            <a:r>
              <a:rPr sz="1200" b="0" i="0" u="none">
                <a:solidFill>
                  <a:srgbClr val="000000"/>
                </a:solidFill>
                <a:latin typeface="Times New Roman"/>
                <a:ea typeface="Times New Roman"/>
                <a:cs typeface="Times New Roman"/>
              </a:rPr>
              <a:t> pauses containers while preserving their state, the </a:t>
            </a:r>
            <a:r>
              <a:rPr sz="1200" b="1" i="0" u="none">
                <a:solidFill>
                  <a:srgbClr val="000000"/>
                </a:solidFill>
                <a:latin typeface="Times New Roman"/>
                <a:ea typeface="Times New Roman"/>
                <a:cs typeface="Times New Roman"/>
              </a:rPr>
              <a:t>down command</a:t>
            </a:r>
            <a:r>
              <a:rPr sz="1200" b="0" i="0" u="none">
                <a:solidFill>
                  <a:srgbClr val="000000"/>
                </a:solidFill>
                <a:latin typeface="Times New Roman"/>
                <a:ea typeface="Times New Roman"/>
                <a:cs typeface="Times New Roman"/>
              </a:rPr>
              <a:t> removes the containers and network infrastructure but keeps persistent data, and the </a:t>
            </a:r>
            <a:r>
              <a:rPr sz="1200" b="1" i="0" u="none">
                <a:solidFill>
                  <a:srgbClr val="000000"/>
                </a:solidFill>
                <a:latin typeface="Times New Roman"/>
                <a:ea typeface="Times New Roman"/>
                <a:cs typeface="Times New Roman"/>
              </a:rPr>
              <a:t>down with the volume flag</a:t>
            </a:r>
            <a:r>
              <a:rPr sz="1200" b="0" i="0" u="none">
                <a:solidFill>
                  <a:srgbClr val="000000"/>
                </a:solidFill>
                <a:latin typeface="Times New Roman"/>
                <a:ea typeface="Times New Roman"/>
                <a:cs typeface="Times New Roman"/>
              </a:rPr>
              <a:t> completely resets the environment by deleting everything including stored data.</a:t>
            </a:r>
            <a:endParaRPr/>
          </a:p>
          <a:p>
            <a:pPr>
              <a:defRPr/>
            </a:pPr>
            <a:r>
              <a:rPr sz="1200" b="1" i="0" u="none">
                <a:solidFill>
                  <a:srgbClr val="000000"/>
                </a:solidFill>
                <a:latin typeface="Times New Roman"/>
                <a:ea typeface="Times New Roman"/>
                <a:cs typeface="Times New Roman"/>
              </a:rPr>
              <a:t>Interview Question:</a:t>
            </a:r>
            <a:r>
              <a:rPr sz="1200" b="0" i="0" u="none">
                <a:solidFill>
                  <a:srgbClr val="000000"/>
                </a:solidFill>
                <a:latin typeface="Times New Roman"/>
                <a:ea typeface="Times New Roman"/>
                <a:cs typeface="Times New Roman"/>
              </a:rPr>
              <a:t> What is the difference between </a:t>
            </a:r>
            <a:r>
              <a:rPr sz="1000" b="0" i="0" u="none">
                <a:solidFill>
                  <a:srgbClr val="000000"/>
                </a:solidFill>
                <a:latin typeface="Courier New"/>
                <a:ea typeface="Courier New"/>
                <a:cs typeface="Courier New"/>
              </a:rPr>
              <a:t>docker compose stop</a:t>
            </a:r>
            <a:r>
              <a:rPr sz="1200" b="0" i="0" u="none">
                <a:solidFill>
                  <a:srgbClr val="000000"/>
                </a:solidFill>
                <a:latin typeface="Times New Roman"/>
                <a:ea typeface="Times New Roman"/>
                <a:cs typeface="Times New Roman"/>
              </a:rPr>
              <a:t> and </a:t>
            </a:r>
            <a:r>
              <a:rPr sz="1000" b="0" i="0" u="none">
                <a:solidFill>
                  <a:srgbClr val="000000"/>
                </a:solidFill>
                <a:latin typeface="Courier New"/>
                <a:ea typeface="Courier New"/>
                <a:cs typeface="Courier New"/>
              </a:rPr>
              <a:t>docker compose down</a:t>
            </a:r>
            <a:r>
              <a:rPr sz="1200" b="0" i="0" u="none">
                <a:solidFill>
                  <a:srgbClr val="000000"/>
                </a:solidFill>
                <a:latin typeface="Times New Roman"/>
                <a:ea typeface="Times New Roman"/>
                <a:cs typeface="Times New Roman"/>
              </a:rPr>
              <a:t>?</a:t>
            </a:r>
            <a:br>
              <a:rPr sz="1200" b="0"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Answer:</a:t>
            </a:r>
            <a:r>
              <a:rPr sz="1200" b="0" i="0" u="none">
                <a:solidFill>
                  <a:srgbClr val="000000"/>
                </a:solidFill>
                <a:latin typeface="Times New Roman"/>
                <a:ea typeface="Times New Roman"/>
                <a:cs typeface="Times New Roman"/>
              </a:rPr>
              <a:t> </a:t>
            </a:r>
            <a:r>
              <a:rPr sz="1000" b="0" i="0" u="none">
                <a:solidFill>
                  <a:srgbClr val="000000"/>
                </a:solidFill>
                <a:latin typeface="Courier New"/>
                <a:ea typeface="Courier New"/>
                <a:cs typeface="Courier New"/>
              </a:rPr>
              <a:t>docker compose stop</a:t>
            </a:r>
            <a:r>
              <a:rPr sz="1200" b="0" i="0" u="none">
                <a:solidFill>
                  <a:srgbClr val="000000"/>
                </a:solidFill>
                <a:latin typeface="Times New Roman"/>
                <a:ea typeface="Times New Roman"/>
                <a:cs typeface="Times New Roman"/>
              </a:rPr>
              <a:t> stops running containers but keeps them available for restart, while </a:t>
            </a:r>
            <a:r>
              <a:rPr sz="1000" b="0" i="0" u="none">
                <a:solidFill>
                  <a:srgbClr val="000000"/>
                </a:solidFill>
                <a:latin typeface="Courier New"/>
                <a:ea typeface="Courier New"/>
                <a:cs typeface="Courier New"/>
              </a:rPr>
              <a:t>docker compose down</a:t>
            </a:r>
            <a:r>
              <a:rPr sz="1200" b="0" i="0" u="none">
                <a:solidFill>
                  <a:srgbClr val="000000"/>
                </a:solidFill>
                <a:latin typeface="Times New Roman"/>
                <a:ea typeface="Times New Roman"/>
                <a:cs typeface="Times New Roman"/>
              </a:rPr>
              <a:t> stops and removes the containers and networks.</a:t>
            </a:r>
            <a:endParaRPr/>
          </a:p>
          <a:p>
            <a:pPr>
              <a:defRPr/>
            </a:pPr>
            <a:r>
              <a:rPr sz="1200" b="1" i="0" u="none">
                <a:solidFill>
                  <a:srgbClr val="000000"/>
                </a:solidFill>
                <a:latin typeface="Times New Roman"/>
                <a:ea typeface="Times New Roman"/>
                <a:cs typeface="Times New Roman"/>
              </a:rPr>
              <a:t>Interview Question:</a:t>
            </a:r>
            <a:r>
              <a:rPr sz="1200" b="0" i="0" u="none">
                <a:solidFill>
                  <a:srgbClr val="000000"/>
                </a:solidFill>
                <a:latin typeface="Times New Roman"/>
                <a:ea typeface="Times New Roman"/>
                <a:cs typeface="Times New Roman"/>
              </a:rPr>
              <a:t> What does the </a:t>
            </a:r>
            <a:r>
              <a:rPr sz="1000" b="0" i="0" u="none">
                <a:solidFill>
                  <a:srgbClr val="000000"/>
                </a:solidFill>
                <a:latin typeface="Courier New"/>
                <a:ea typeface="Courier New"/>
                <a:cs typeface="Courier New"/>
              </a:rPr>
              <a:t>-v</a:t>
            </a:r>
            <a:r>
              <a:rPr sz="1200" b="0" i="0" u="none">
                <a:solidFill>
                  <a:srgbClr val="000000"/>
                </a:solidFill>
                <a:latin typeface="Times New Roman"/>
                <a:ea typeface="Times New Roman"/>
                <a:cs typeface="Times New Roman"/>
              </a:rPr>
              <a:t> option do in </a:t>
            </a:r>
            <a:r>
              <a:rPr sz="1000" b="0" i="0" u="none">
                <a:solidFill>
                  <a:srgbClr val="000000"/>
                </a:solidFill>
                <a:latin typeface="Courier New"/>
                <a:ea typeface="Courier New"/>
                <a:cs typeface="Courier New"/>
              </a:rPr>
              <a:t>docker compose down -v</a:t>
            </a:r>
            <a:r>
              <a:rPr sz="1200" b="0" i="0" u="none">
                <a:solidFill>
                  <a:srgbClr val="000000"/>
                </a:solidFill>
                <a:latin typeface="Times New Roman"/>
                <a:ea typeface="Times New Roman"/>
                <a:cs typeface="Times New Roman"/>
              </a:rPr>
              <a:t>?</a:t>
            </a:r>
            <a:br>
              <a:rPr sz="1200" b="0"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Answer:</a:t>
            </a:r>
            <a:r>
              <a:rPr sz="1200" b="0" i="0" u="none">
                <a:solidFill>
                  <a:srgbClr val="000000"/>
                </a:solidFill>
                <a:latin typeface="Times New Roman"/>
                <a:ea typeface="Times New Roman"/>
                <a:cs typeface="Times New Roman"/>
              </a:rPr>
              <a:t> The </a:t>
            </a:r>
            <a:r>
              <a:rPr sz="1000" b="0" i="0" u="none">
                <a:solidFill>
                  <a:srgbClr val="000000"/>
                </a:solidFill>
                <a:latin typeface="Courier New"/>
                <a:ea typeface="Courier New"/>
                <a:cs typeface="Courier New"/>
              </a:rPr>
              <a:t>-v</a:t>
            </a:r>
            <a:r>
              <a:rPr sz="1200" b="0" i="0" u="none">
                <a:solidFill>
                  <a:srgbClr val="000000"/>
                </a:solidFill>
                <a:latin typeface="Times New Roman"/>
                <a:ea typeface="Times New Roman"/>
                <a:cs typeface="Times New Roman"/>
              </a:rPr>
              <a:t> option deletes the persistent volumes associated with the containers, which removes all stored data such as database files.</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48481725" name="Google Shape;348;SLIDES_API647489343_255: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436211414" name="Google Shape;349;SLIDES_API647489343_255: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a:defRPr/>
            </a:pPr>
            <a:r>
              <a:rPr sz="1200" b="0" i="0" u="none">
                <a:solidFill>
                  <a:srgbClr val="000000"/>
                </a:solidFill>
                <a:latin typeface="Times New Roman"/>
                <a:ea typeface="Times New Roman"/>
                <a:cs typeface="Times New Roman"/>
              </a:rPr>
              <a:t>Modern backend systems often combine multiple technologies, each serving a different role in the architecture. In this system we use </a:t>
            </a:r>
            <a:r>
              <a:rPr sz="1200" b="1" i="0" u="none">
                <a:solidFill>
                  <a:srgbClr val="000000"/>
                </a:solidFill>
                <a:latin typeface="Times New Roman"/>
                <a:ea typeface="Times New Roman"/>
                <a:cs typeface="Times New Roman"/>
              </a:rPr>
              <a:t>Docker</a:t>
            </a:r>
            <a:r>
              <a:rPr sz="1200" b="0" i="0" u="none">
                <a:solidFill>
                  <a:srgbClr val="000000"/>
                </a:solidFill>
                <a:latin typeface="Times New Roman"/>
                <a:ea typeface="Times New Roman"/>
                <a:cs typeface="Times New Roman"/>
              </a:rPr>
              <a:t>, </a:t>
            </a:r>
            <a:r>
              <a:rPr sz="1200" b="1" i="0" u="none">
                <a:solidFill>
                  <a:srgbClr val="000000"/>
                </a:solidFill>
                <a:latin typeface="Times New Roman"/>
                <a:ea typeface="Times New Roman"/>
                <a:cs typeface="Times New Roman"/>
              </a:rPr>
              <a:t>PostgreSQL</a:t>
            </a:r>
            <a:r>
              <a:rPr sz="1200" b="0" i="0" u="none">
                <a:solidFill>
                  <a:srgbClr val="000000"/>
                </a:solidFill>
                <a:latin typeface="Times New Roman"/>
                <a:ea typeface="Times New Roman"/>
                <a:cs typeface="Times New Roman"/>
              </a:rPr>
              <a:t>, and </a:t>
            </a:r>
            <a:r>
              <a:rPr sz="1200" b="1" i="0" u="none">
                <a:solidFill>
                  <a:srgbClr val="000000"/>
                </a:solidFill>
                <a:latin typeface="Times New Roman"/>
                <a:ea typeface="Times New Roman"/>
                <a:cs typeface="Times New Roman"/>
              </a:rPr>
              <a:t>Redis</a:t>
            </a:r>
            <a:r>
              <a:rPr sz="1200" b="0" i="0" u="none">
                <a:solidFill>
                  <a:srgbClr val="000000"/>
                </a:solidFill>
                <a:latin typeface="Times New Roman"/>
                <a:ea typeface="Times New Roman"/>
                <a:cs typeface="Times New Roman"/>
              </a:rPr>
              <a:t>, and each component solves a different problem in the application infrastructure.</a:t>
            </a:r>
            <a:endParaRPr/>
          </a:p>
          <a:p>
            <a:pPr>
              <a:defRPr/>
            </a:pPr>
            <a:r>
              <a:rPr sz="1200" b="1" i="0" u="none">
                <a:solidFill>
                  <a:srgbClr val="000000"/>
                </a:solidFill>
                <a:latin typeface="Times New Roman"/>
                <a:ea typeface="Times New Roman"/>
                <a:cs typeface="Times New Roman"/>
              </a:rPr>
              <a:t>Docker</a:t>
            </a:r>
            <a:r>
              <a:rPr sz="1200" b="0" i="0" u="none">
                <a:solidFill>
                  <a:srgbClr val="000000"/>
                </a:solidFill>
                <a:latin typeface="Times New Roman"/>
                <a:ea typeface="Times New Roman"/>
                <a:cs typeface="Times New Roman"/>
              </a:rPr>
              <a:t> is used to guarantee consistent application delivery and environment reproducibility. In traditional development environments, applications often behave differently on different machines because each computer may have different software versions, libraries, or operating system configurations. Docker solves this problem by packaging the application together with its dependencies inside a container. A container is a lightweight, isolated environment that runs the same way on any machine that has Docker installed. This ensures that an application behaves identically in development, testing, and production environments. As a result, teams avoid the classic problem often described by developers as </a:t>
            </a:r>
            <a:r>
              <a:rPr sz="1200" b="1" i="0" u="none">
                <a:solidFill>
                  <a:srgbClr val="000000"/>
                </a:solidFill>
                <a:latin typeface="Times New Roman"/>
                <a:ea typeface="Times New Roman"/>
                <a:cs typeface="Times New Roman"/>
              </a:rPr>
              <a:t>“It works on my machine.”</a:t>
            </a:r>
            <a:endParaRPr/>
          </a:p>
          <a:p>
            <a:pPr>
              <a:defRPr/>
            </a:pPr>
            <a:r>
              <a:rPr sz="1200" b="1" i="0" u="none">
                <a:solidFill>
                  <a:srgbClr val="000000"/>
                </a:solidFill>
                <a:latin typeface="Times New Roman"/>
                <a:ea typeface="Times New Roman"/>
                <a:cs typeface="Times New Roman"/>
              </a:rPr>
              <a:t>PostgreSQL</a:t>
            </a:r>
            <a:r>
              <a:rPr sz="1200" b="0" i="0" u="none">
                <a:solidFill>
                  <a:srgbClr val="000000"/>
                </a:solidFill>
                <a:latin typeface="Times New Roman"/>
                <a:ea typeface="Times New Roman"/>
                <a:cs typeface="Times New Roman"/>
              </a:rPr>
              <a:t> is used as the system’s primary database for </a:t>
            </a:r>
            <a:r>
              <a:rPr sz="1200" b="1" i="0" u="none">
                <a:solidFill>
                  <a:srgbClr val="000000"/>
                </a:solidFill>
                <a:latin typeface="Times New Roman"/>
                <a:ea typeface="Times New Roman"/>
                <a:cs typeface="Times New Roman"/>
              </a:rPr>
              <a:t>permanent data storage</a:t>
            </a:r>
            <a:r>
              <a:rPr sz="1200" b="0" i="0" u="none">
                <a:solidFill>
                  <a:srgbClr val="000000"/>
                </a:solidFill>
                <a:latin typeface="Times New Roman"/>
                <a:ea typeface="Times New Roman"/>
                <a:cs typeface="Times New Roman"/>
              </a:rPr>
              <a:t>. PostgreSQL is a relational database management system designed to store structured data reliably over long periods of time. It supports advanced features such as transactions, indexing, constraints, and complex SQL queries. In addition to traditional relational storage, PostgreSQL also supports the </a:t>
            </a:r>
            <a:r>
              <a:rPr sz="1200" b="1" i="0" u="none">
                <a:solidFill>
                  <a:srgbClr val="000000"/>
                </a:solidFill>
                <a:latin typeface="Times New Roman"/>
                <a:ea typeface="Times New Roman"/>
                <a:cs typeface="Times New Roman"/>
              </a:rPr>
              <a:t>JSONB data type</a:t>
            </a:r>
            <a:r>
              <a:rPr sz="1200" b="0" i="0" u="none">
                <a:solidFill>
                  <a:srgbClr val="000000"/>
                </a:solidFill>
                <a:latin typeface="Times New Roman"/>
                <a:ea typeface="Times New Roman"/>
                <a:cs typeface="Times New Roman"/>
              </a:rPr>
              <a:t>, which allows the database to store semi-structured data in JSON format. This makes PostgreSQL extremely flexible because it can store both strictly structured relational data and more dynamic JSON-based attributes in the same system. In this architecture PostgreSQL acts as the </a:t>
            </a:r>
            <a:r>
              <a:rPr sz="1200" b="1" i="0" u="none">
                <a:solidFill>
                  <a:srgbClr val="000000"/>
                </a:solidFill>
                <a:latin typeface="Times New Roman"/>
                <a:ea typeface="Times New Roman"/>
                <a:cs typeface="Times New Roman"/>
              </a:rPr>
              <a:t>system of record</a:t>
            </a:r>
            <a:r>
              <a:rPr sz="1200" b="0" i="0" u="none">
                <a:solidFill>
                  <a:srgbClr val="000000"/>
                </a:solidFill>
                <a:latin typeface="Times New Roman"/>
                <a:ea typeface="Times New Roman"/>
                <a:cs typeface="Times New Roman"/>
              </a:rPr>
              <a:t>, meaning it stores the authoritative version of the application’s data.</a:t>
            </a:r>
            <a:endParaRPr/>
          </a:p>
          <a:p>
            <a:pPr>
              <a:defRPr/>
            </a:pPr>
            <a:r>
              <a:rPr sz="1200" b="1" i="0" u="none">
                <a:solidFill>
                  <a:srgbClr val="000000"/>
                </a:solidFill>
                <a:latin typeface="Times New Roman"/>
                <a:ea typeface="Times New Roman"/>
                <a:cs typeface="Times New Roman"/>
              </a:rPr>
              <a:t>Redis</a:t>
            </a:r>
            <a:r>
              <a:rPr sz="1200" b="0" i="0" u="none">
                <a:solidFill>
                  <a:srgbClr val="000000"/>
                </a:solidFill>
                <a:latin typeface="Times New Roman"/>
                <a:ea typeface="Times New Roman"/>
                <a:cs typeface="Times New Roman"/>
              </a:rPr>
              <a:t> is used as a </a:t>
            </a:r>
            <a:r>
              <a:rPr sz="1200" b="1" i="0" u="none">
                <a:solidFill>
                  <a:srgbClr val="000000"/>
                </a:solidFill>
                <a:latin typeface="Times New Roman"/>
                <a:ea typeface="Times New Roman"/>
                <a:cs typeface="Times New Roman"/>
              </a:rPr>
              <a:t>high-speed caching layer</a:t>
            </a:r>
            <a:r>
              <a:rPr sz="1200" b="0" i="0" u="none">
                <a:solidFill>
                  <a:srgbClr val="000000"/>
                </a:solidFill>
                <a:latin typeface="Times New Roman"/>
                <a:ea typeface="Times New Roman"/>
                <a:cs typeface="Times New Roman"/>
              </a:rPr>
              <a:t>. Unlike PostgreSQL, Redis stores its data primarily in </a:t>
            </a:r>
            <a:r>
              <a:rPr sz="1200" b="1" i="0" u="none">
                <a:solidFill>
                  <a:srgbClr val="000000"/>
                </a:solidFill>
                <a:latin typeface="Times New Roman"/>
                <a:ea typeface="Times New Roman"/>
                <a:cs typeface="Times New Roman"/>
              </a:rPr>
              <a:t>RAM (Random Access Memory)</a:t>
            </a:r>
            <a:r>
              <a:rPr sz="1200" b="0" i="0" u="none">
                <a:solidFill>
                  <a:srgbClr val="000000"/>
                </a:solidFill>
                <a:latin typeface="Times New Roman"/>
                <a:ea typeface="Times New Roman"/>
                <a:cs typeface="Times New Roman"/>
              </a:rPr>
              <a:t> rather than on disk. Because memory access is much faster than disk access, Redis can respond to requests in microseconds. This makes it ideal for storing temporary or frequently accessed data such as session tokens, authentication information, API responses, and rate-limiting counters. Redis is considered </a:t>
            </a:r>
            <a:r>
              <a:rPr sz="1200" b="1" i="0" u="none">
                <a:solidFill>
                  <a:srgbClr val="000000"/>
                </a:solidFill>
                <a:latin typeface="Times New Roman"/>
                <a:ea typeface="Times New Roman"/>
                <a:cs typeface="Times New Roman"/>
              </a:rPr>
              <a:t>volatile storage</a:t>
            </a:r>
            <a:r>
              <a:rPr sz="1200" b="0" i="0" u="none">
                <a:solidFill>
                  <a:srgbClr val="000000"/>
                </a:solidFill>
                <a:latin typeface="Times New Roman"/>
                <a:ea typeface="Times New Roman"/>
                <a:cs typeface="Times New Roman"/>
              </a:rPr>
              <a:t>, meaning the data is temporary and may expire automatically using mechanisms such as TTL (time-to-live). By placing Redis in front of the database, applications can handle large numbers of repeated requests without repeatedly querying PostgreSQL.</a:t>
            </a:r>
            <a:endParaRPr/>
          </a:p>
          <a:p>
            <a:pPr>
              <a:defRPr/>
            </a:pPr>
            <a:r>
              <a:rPr sz="1200" b="0" i="0" u="none">
                <a:solidFill>
                  <a:srgbClr val="000000"/>
                </a:solidFill>
                <a:latin typeface="Times New Roman"/>
                <a:ea typeface="Times New Roman"/>
                <a:cs typeface="Times New Roman"/>
              </a:rPr>
              <a:t>When these three technologies work together, the system achieves both </a:t>
            </a:r>
            <a:r>
              <a:rPr sz="1200" b="1" i="0" u="none">
                <a:solidFill>
                  <a:srgbClr val="000000"/>
                </a:solidFill>
                <a:latin typeface="Times New Roman"/>
                <a:ea typeface="Times New Roman"/>
                <a:cs typeface="Times New Roman"/>
              </a:rPr>
              <a:t>reliability and performance</a:t>
            </a:r>
            <a:r>
              <a:rPr sz="1200" b="0" i="0" u="none">
                <a:solidFill>
                  <a:srgbClr val="000000"/>
                </a:solidFill>
                <a:latin typeface="Times New Roman"/>
                <a:ea typeface="Times New Roman"/>
                <a:cs typeface="Times New Roman"/>
              </a:rPr>
              <a:t>. Docker ensures that the infrastructure runs consistently across environments, PostgreSQL provides durable long-term storage and strong data integrity, and Redis accelerates read operations by caching frequently requested information in memory. This combination is commonly used in modern scalable web architectures such as those used by high-traffic platforms and microservice-based systems.</a:t>
            </a:r>
            <a:endParaRPr/>
          </a:p>
          <a:p>
            <a:pPr>
              <a:defRPr/>
            </a:pPr>
            <a:r>
              <a:rPr sz="1200" b="1" i="0" u="none">
                <a:solidFill>
                  <a:srgbClr val="000000"/>
                </a:solidFill>
                <a:latin typeface="Times New Roman"/>
                <a:ea typeface="Times New Roman"/>
                <a:cs typeface="Times New Roman"/>
              </a:rPr>
              <a:t>Interview Question:</a:t>
            </a:r>
            <a:r>
              <a:rPr sz="1200" b="0" i="0" u="none">
                <a:solidFill>
                  <a:srgbClr val="000000"/>
                </a:solidFill>
                <a:latin typeface="Times New Roman"/>
                <a:ea typeface="Times New Roman"/>
                <a:cs typeface="Times New Roman"/>
              </a:rPr>
              <a:t> Why do modern architectures combine Redis and PostgreSQL?</a:t>
            </a:r>
            <a:br>
              <a:rPr sz="1200" b="0"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Answer:</a:t>
            </a:r>
            <a:r>
              <a:rPr sz="1200" b="0" i="0" u="none">
                <a:solidFill>
                  <a:srgbClr val="000000"/>
                </a:solidFill>
                <a:latin typeface="Times New Roman"/>
                <a:ea typeface="Times New Roman"/>
                <a:cs typeface="Times New Roman"/>
              </a:rPr>
              <a:t> PostgreSQL provides reliable long-term data storage, while Redis acts as a fast in-memory cache that reduces database load and speeds up frequently repeated queries.</a:t>
            </a:r>
            <a:endParaRPr/>
          </a:p>
          <a:p>
            <a:pPr>
              <a:defRPr/>
            </a:pPr>
            <a:r>
              <a:rPr sz="1200" b="1" i="0" u="none">
                <a:solidFill>
                  <a:srgbClr val="000000"/>
                </a:solidFill>
                <a:latin typeface="Times New Roman"/>
                <a:ea typeface="Times New Roman"/>
                <a:cs typeface="Times New Roman"/>
              </a:rPr>
              <a:t>Interview Question:</a:t>
            </a:r>
            <a:r>
              <a:rPr sz="1200" b="0" i="0" u="none">
                <a:solidFill>
                  <a:srgbClr val="000000"/>
                </a:solidFill>
                <a:latin typeface="Times New Roman"/>
                <a:ea typeface="Times New Roman"/>
                <a:cs typeface="Times New Roman"/>
              </a:rPr>
              <a:t> What problem does Docker solve in software development?</a:t>
            </a:r>
            <a:br>
              <a:rPr sz="1200" b="0"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Answer:</a:t>
            </a:r>
            <a:r>
              <a:rPr sz="1200" b="0" i="0" u="none">
                <a:solidFill>
                  <a:srgbClr val="000000"/>
                </a:solidFill>
                <a:latin typeface="Times New Roman"/>
                <a:ea typeface="Times New Roman"/>
                <a:cs typeface="Times New Roman"/>
              </a:rPr>
              <a:t> Docker solves environment inconsistency by packaging applications and their dependencies inside containers, ensuring they run the same way on every machine</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46699176" name="Google Shape;354;SLIDES_API647489343_260: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8872139" name="Google Shape;355;SLIDES_API647489343_26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slide" preserve="0" showMasterPhAnim="0" showMasterSp="1" type="title" userDrawn="1">
  <p:cSld name="TITLE">
    <p:spTree>
      <p:nvGrpSpPr>
        <p:cNvPr id="1" name=""/>
        <p:cNvGrpSpPr/>
        <p:nvPr/>
      </p:nvGrpSpPr>
      <p:grpSpPr bwMode="auto">
        <a:xfrm>
          <a:off x="0" y="0"/>
          <a:ext cx="0" cy="0"/>
          <a:chOff x="0" y="0"/>
          <a:chExt cx="0" cy="0"/>
        </a:xfrm>
      </p:grpSpPr>
      <p:sp>
        <p:nvSpPr>
          <p:cNvPr id="887877202" name="Google Shape;10;p2"/>
          <p:cNvSpPr txBox="1"/>
          <p:nvPr>
            <p:ph type="ctrTitle"/>
          </p:nvPr>
        </p:nvSpPr>
        <p:spPr bwMode="auto">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pPr>
              <a:defRPr/>
            </a:pPr>
            <a:endParaRPr/>
          </a:p>
        </p:txBody>
      </p:sp>
      <p:sp>
        <p:nvSpPr>
          <p:cNvPr id="857122551" name="Google Shape;11;p2"/>
          <p:cNvSpPr txBox="1"/>
          <p:nvPr>
            <p:ph type="subTitle" idx="1"/>
          </p:nvPr>
        </p:nvSpPr>
        <p:spPr bwMode="auto">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pPr>
              <a:defRPr/>
            </a:pPr>
            <a:endParaRPr/>
          </a:p>
        </p:txBody>
      </p:sp>
      <p:sp>
        <p:nvSpPr>
          <p:cNvPr id="121259306" name="Google Shape;12;p2"/>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header" preserve="0" showMasterPhAnim="0" showMasterSp="1" type="secHead" userDrawn="1">
  <p:cSld name="SECTION_HEADER">
    <p:spTree>
      <p:nvGrpSpPr>
        <p:cNvPr id="1" name=""/>
        <p:cNvGrpSpPr/>
        <p:nvPr/>
      </p:nvGrpSpPr>
      <p:grpSpPr bwMode="auto">
        <a:xfrm>
          <a:off x="0" y="0"/>
          <a:ext cx="0" cy="0"/>
          <a:chOff x="0" y="0"/>
          <a:chExt cx="0" cy="0"/>
        </a:xfrm>
      </p:grpSpPr>
      <p:sp>
        <p:nvSpPr>
          <p:cNvPr id="180531876" name="Google Shape;14;p3"/>
          <p:cNvSpPr txBox="1"/>
          <p:nvPr>
            <p:ph type="title"/>
          </p:nvPr>
        </p:nvSpPr>
        <p:spPr bwMode="auto">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pPr>
              <a:defRPr/>
            </a:pPr>
            <a:endParaRPr/>
          </a:p>
        </p:txBody>
      </p:sp>
      <p:sp>
        <p:nvSpPr>
          <p:cNvPr id="49477035" name="Google Shape;15;p3"/>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body" preserve="0" showMasterPhAnim="0" showMasterSp="1" type="tx" userDrawn="1">
  <p:cSld name="TITLE_AND_BODY">
    <p:spTree>
      <p:nvGrpSpPr>
        <p:cNvPr id="1" name=""/>
        <p:cNvGrpSpPr/>
        <p:nvPr/>
      </p:nvGrpSpPr>
      <p:grpSpPr bwMode="auto">
        <a:xfrm>
          <a:off x="0" y="0"/>
          <a:ext cx="0" cy="0"/>
          <a:chOff x="0" y="0"/>
          <a:chExt cx="0" cy="0"/>
        </a:xfrm>
      </p:grpSpPr>
      <p:sp>
        <p:nvSpPr>
          <p:cNvPr id="1917269160" name="Google Shape;17;p4"/>
          <p:cNvSpPr txBox="1"/>
          <p:nvPr>
            <p:ph type="title"/>
          </p:nvPr>
        </p:nvSpPr>
        <p:spPr bwMode="auto">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defRPr/>
            </a:pPr>
            <a:endParaRPr/>
          </a:p>
        </p:txBody>
      </p:sp>
      <p:sp>
        <p:nvSpPr>
          <p:cNvPr id="322189745" name="Google Shape;18;p4"/>
          <p:cNvSpPr txBox="1"/>
          <p:nvPr>
            <p:ph type="body" idx="1"/>
          </p:nvPr>
        </p:nvSpPr>
        <p:spPr bwMode="auto">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a:defRPr/>
            </a:pPr>
            <a:endParaRPr/>
          </a:p>
        </p:txBody>
      </p:sp>
      <p:sp>
        <p:nvSpPr>
          <p:cNvPr id="802529778" name="Google Shape;19;p4"/>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two columns" preserve="0" showMasterPhAnim="0" showMasterSp="1" type="twoColTx" userDrawn="1">
  <p:cSld name="TITLE_AND_TWO_COLUMNS">
    <p:spTree>
      <p:nvGrpSpPr>
        <p:cNvPr id="1" name=""/>
        <p:cNvGrpSpPr/>
        <p:nvPr/>
      </p:nvGrpSpPr>
      <p:grpSpPr bwMode="auto">
        <a:xfrm>
          <a:off x="0" y="0"/>
          <a:ext cx="0" cy="0"/>
          <a:chOff x="0" y="0"/>
          <a:chExt cx="0" cy="0"/>
        </a:xfrm>
      </p:grpSpPr>
      <p:sp>
        <p:nvSpPr>
          <p:cNvPr id="1843360811" name="Google Shape;21;p5"/>
          <p:cNvSpPr txBox="1"/>
          <p:nvPr>
            <p:ph type="title"/>
          </p:nvPr>
        </p:nvSpPr>
        <p:spPr bwMode="auto">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defRPr/>
            </a:pPr>
            <a:endParaRPr/>
          </a:p>
        </p:txBody>
      </p:sp>
      <p:sp>
        <p:nvSpPr>
          <p:cNvPr id="1477054441" name="Google Shape;22;p5"/>
          <p:cNvSpPr txBox="1"/>
          <p:nvPr>
            <p:ph type="body" idx="1"/>
          </p:nvPr>
        </p:nvSpPr>
        <p:spPr bwMode="auto">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a:defRPr/>
            </a:pPr>
            <a:endParaRPr/>
          </a:p>
        </p:txBody>
      </p:sp>
      <p:sp>
        <p:nvSpPr>
          <p:cNvPr id="1671650051" name="Google Shape;23;p5"/>
          <p:cNvSpPr txBox="1"/>
          <p:nvPr>
            <p:ph type="body" idx="2"/>
          </p:nvPr>
        </p:nvSpPr>
        <p:spPr bwMode="auto">
          <a:xfrm>
            <a:off x="4832399"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a:defRPr/>
            </a:pPr>
            <a:endParaRPr/>
          </a:p>
        </p:txBody>
      </p:sp>
      <p:sp>
        <p:nvSpPr>
          <p:cNvPr id="192165611" name="Google Shape;24;p5"/>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only" preserve="0" showMasterPhAnim="0" showMasterSp="1" type="titleOnly" userDrawn="1">
  <p:cSld name="TITLE_ONLY">
    <p:spTree>
      <p:nvGrpSpPr>
        <p:cNvPr id="1" name=""/>
        <p:cNvGrpSpPr/>
        <p:nvPr/>
      </p:nvGrpSpPr>
      <p:grpSpPr bwMode="auto">
        <a:xfrm>
          <a:off x="0" y="0"/>
          <a:ext cx="0" cy="0"/>
          <a:chOff x="0" y="0"/>
          <a:chExt cx="0" cy="0"/>
        </a:xfrm>
      </p:grpSpPr>
      <p:sp>
        <p:nvSpPr>
          <p:cNvPr id="118791551" name="Google Shape;26;p6"/>
          <p:cNvSpPr txBox="1"/>
          <p:nvPr>
            <p:ph type="title"/>
          </p:nvPr>
        </p:nvSpPr>
        <p:spPr bwMode="auto">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defRPr/>
            </a:pPr>
            <a:endParaRPr/>
          </a:p>
        </p:txBody>
      </p:sp>
      <p:sp>
        <p:nvSpPr>
          <p:cNvPr id="1032380695" name="Google Shape;27;p6"/>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One column text" preserve="0" showMasterPhAnim="0" showMasterSp="1" userDrawn="1">
  <p:cSld name="ONE_COLUMN_TEXT">
    <p:spTree>
      <p:nvGrpSpPr>
        <p:cNvPr id="1" name=""/>
        <p:cNvGrpSpPr/>
        <p:nvPr/>
      </p:nvGrpSpPr>
      <p:grpSpPr bwMode="auto">
        <a:xfrm>
          <a:off x="0" y="0"/>
          <a:ext cx="0" cy="0"/>
          <a:chOff x="0" y="0"/>
          <a:chExt cx="0" cy="0"/>
        </a:xfrm>
      </p:grpSpPr>
      <p:sp>
        <p:nvSpPr>
          <p:cNvPr id="1344644482" name="Google Shape;29;p7"/>
          <p:cNvSpPr txBox="1"/>
          <p:nvPr>
            <p:ph type="title"/>
          </p:nvPr>
        </p:nvSpPr>
        <p:spPr bwMode="auto">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pPr>
              <a:defRPr/>
            </a:pPr>
            <a:endParaRPr/>
          </a:p>
        </p:txBody>
      </p:sp>
      <p:sp>
        <p:nvSpPr>
          <p:cNvPr id="1509541860" name="Google Shape;30;p7"/>
          <p:cNvSpPr txBox="1"/>
          <p:nvPr>
            <p:ph type="body" idx="1"/>
          </p:nvPr>
        </p:nvSpPr>
        <p:spPr bwMode="auto">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a:defRPr/>
            </a:pPr>
            <a:endParaRPr/>
          </a:p>
        </p:txBody>
      </p:sp>
      <p:sp>
        <p:nvSpPr>
          <p:cNvPr id="239257725" name="Google Shape;31;p7"/>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Main point" preserve="0" showMasterPhAnim="0" showMasterSp="1" userDrawn="1">
  <p:cSld name="MAIN_POINT">
    <p:spTree>
      <p:nvGrpSpPr>
        <p:cNvPr id="1" name=""/>
        <p:cNvGrpSpPr/>
        <p:nvPr/>
      </p:nvGrpSpPr>
      <p:grpSpPr bwMode="auto">
        <a:xfrm>
          <a:off x="0" y="0"/>
          <a:ext cx="0" cy="0"/>
          <a:chOff x="0" y="0"/>
          <a:chExt cx="0" cy="0"/>
        </a:xfrm>
      </p:grpSpPr>
      <p:sp>
        <p:nvSpPr>
          <p:cNvPr id="752090206" name="Google Shape;33;p8"/>
          <p:cNvSpPr txBox="1"/>
          <p:nvPr>
            <p:ph type="title"/>
          </p:nvPr>
        </p:nvSpPr>
        <p:spPr bwMode="auto">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pPr>
              <a:defRPr/>
            </a:pPr>
            <a:endParaRPr/>
          </a:p>
        </p:txBody>
      </p:sp>
      <p:sp>
        <p:nvSpPr>
          <p:cNvPr id="816158020" name="Google Shape;34;p8"/>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title and description" preserve="0" showMasterPhAnim="0" showMasterSp="1" userDrawn="1">
  <p:cSld name="SECTION_TITLE_AND_DESCRIPTION">
    <p:spTree>
      <p:nvGrpSpPr>
        <p:cNvPr id="1" name=""/>
        <p:cNvGrpSpPr/>
        <p:nvPr/>
      </p:nvGrpSpPr>
      <p:grpSpPr bwMode="auto">
        <a:xfrm>
          <a:off x="0" y="0"/>
          <a:ext cx="0" cy="0"/>
          <a:chOff x="0" y="0"/>
          <a:chExt cx="0" cy="0"/>
        </a:xfrm>
      </p:grpSpPr>
      <p:sp>
        <p:nvSpPr>
          <p:cNvPr id="611354966" name="Google Shape;36;p9"/>
          <p:cNvSpPr/>
          <p:nvPr/>
        </p:nvSpPr>
        <p:spPr bwMode="auto">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01360098" name="Google Shape;37;p9"/>
          <p:cNvSpPr txBox="1"/>
          <p:nvPr>
            <p:ph type="title"/>
          </p:nvPr>
        </p:nvSpPr>
        <p:spPr bwMode="auto">
          <a:xfrm>
            <a:off x="265500" y="1233175"/>
            <a:ext cx="4045199"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pPr>
              <a:defRPr/>
            </a:pPr>
            <a:endParaRPr/>
          </a:p>
        </p:txBody>
      </p:sp>
      <p:sp>
        <p:nvSpPr>
          <p:cNvPr id="114605404" name="Google Shape;38;p9"/>
          <p:cNvSpPr txBox="1"/>
          <p:nvPr>
            <p:ph type="subTitle" idx="1"/>
          </p:nvPr>
        </p:nvSpPr>
        <p:spPr bwMode="auto">
          <a:xfrm>
            <a:off x="265500" y="2803075"/>
            <a:ext cx="4045199" cy="1235099"/>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pPr>
              <a:defRPr/>
            </a:pPr>
            <a:endParaRPr/>
          </a:p>
        </p:txBody>
      </p:sp>
      <p:sp>
        <p:nvSpPr>
          <p:cNvPr id="1364544542" name="Google Shape;39;p9"/>
          <p:cNvSpPr txBox="1"/>
          <p:nvPr>
            <p:ph type="body" idx="2"/>
          </p:nvPr>
        </p:nvSpPr>
        <p:spPr bwMode="auto">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a:defRPr/>
            </a:pPr>
            <a:endParaRPr/>
          </a:p>
        </p:txBody>
      </p:sp>
      <p:sp>
        <p:nvSpPr>
          <p:cNvPr id="490630751" name="Google Shape;40;p9"/>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aption" preserve="0" showMasterPhAnim="0" showMasterSp="1" userDrawn="1">
  <p:cSld name="CAPTION_ONLY">
    <p:spTree>
      <p:nvGrpSpPr>
        <p:cNvPr id="1" name=""/>
        <p:cNvGrpSpPr/>
        <p:nvPr/>
      </p:nvGrpSpPr>
      <p:grpSpPr bwMode="auto">
        <a:xfrm>
          <a:off x="0" y="0"/>
          <a:ext cx="0" cy="0"/>
          <a:chOff x="0" y="0"/>
          <a:chExt cx="0" cy="0"/>
        </a:xfrm>
      </p:grpSpPr>
      <p:sp>
        <p:nvSpPr>
          <p:cNvPr id="196542244" name="Google Shape;42;p10"/>
          <p:cNvSpPr txBox="1"/>
          <p:nvPr>
            <p:ph type="body" idx="1"/>
          </p:nvPr>
        </p:nvSpPr>
        <p:spPr bwMode="auto">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pPr>
              <a:defRPr/>
            </a:pPr>
            <a:endParaRPr/>
          </a:p>
        </p:txBody>
      </p:sp>
      <p:sp>
        <p:nvSpPr>
          <p:cNvPr id="182536639" name="Google Shape;43;p10"/>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ig number" preserve="0" showMasterPhAnim="0" showMasterSp="1" userDrawn="1">
  <p:cSld name="BIG_NUMBER">
    <p:spTree>
      <p:nvGrpSpPr>
        <p:cNvPr id="1" name=""/>
        <p:cNvGrpSpPr/>
        <p:nvPr/>
      </p:nvGrpSpPr>
      <p:grpSpPr bwMode="auto">
        <a:xfrm>
          <a:off x="0" y="0"/>
          <a:ext cx="0" cy="0"/>
          <a:chOff x="0" y="0"/>
          <a:chExt cx="0" cy="0"/>
        </a:xfrm>
      </p:grpSpPr>
      <p:sp>
        <p:nvSpPr>
          <p:cNvPr id="842047606" name="Google Shape;45;p11"/>
          <p:cNvSpPr txBox="1"/>
          <p:nvPr>
            <p:ph type="title" hasCustomPrompt="1"/>
          </p:nvPr>
        </p:nvSpPr>
        <p:spPr bwMode="auto">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pPr>
              <a:defRPr/>
            </a:pPr>
            <a:r>
              <a:rPr/>
              <a:t>xx%</a:t>
            </a:r>
            <a:endParaRPr/>
          </a:p>
        </p:txBody>
      </p:sp>
      <p:sp>
        <p:nvSpPr>
          <p:cNvPr id="823108972" name="Google Shape;46;p11"/>
          <p:cNvSpPr txBox="1"/>
          <p:nvPr>
            <p:ph type="body" idx="1"/>
          </p:nvPr>
        </p:nvSpPr>
        <p:spPr bwMode="auto">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pPr>
              <a:defRPr/>
            </a:pPr>
            <a:endParaRPr/>
          </a:p>
        </p:txBody>
      </p:sp>
      <p:sp>
        <p:nvSpPr>
          <p:cNvPr id="1426739180" name="Google Shape;47;p11"/>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lank" preserve="0" showMasterPhAnim="0" showMasterSp="1" type="blank" userDrawn="1">
  <p:cSld name="BLANK">
    <p:spTree>
      <p:nvGrpSpPr>
        <p:cNvPr id="1" name=""/>
        <p:cNvGrpSpPr/>
        <p:nvPr/>
      </p:nvGrpSpPr>
      <p:grpSpPr bwMode="auto">
        <a:xfrm>
          <a:off x="0" y="0"/>
          <a:ext cx="0" cy="0"/>
          <a:chOff x="0" y="0"/>
          <a:chExt cx="0" cy="0"/>
        </a:xfrm>
      </p:grpSpPr>
      <p:sp>
        <p:nvSpPr>
          <p:cNvPr id="1417754401" name="Google Shape;49;p12"/>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simple-light-2">
    <p:bg>
      <p:bgPr shadeToTitle="0">
        <a:solidFill>
          <a:schemeClr val="lt1"/>
        </a:solidFill>
      </p:bgPr>
    </p:bg>
    <p:spTree>
      <p:nvGrpSpPr>
        <p:cNvPr id="1" name=""/>
        <p:cNvGrpSpPr/>
        <p:nvPr/>
      </p:nvGrpSpPr>
      <p:grpSpPr bwMode="auto">
        <a:xfrm>
          <a:off x="0" y="0"/>
          <a:ext cx="0" cy="0"/>
          <a:chOff x="0" y="0"/>
          <a:chExt cx="0" cy="0"/>
        </a:xfrm>
      </p:grpSpPr>
      <p:sp>
        <p:nvSpPr>
          <p:cNvPr id="1786511287" name="Google Shape;6;p1"/>
          <p:cNvSpPr txBox="1"/>
          <p:nvPr>
            <p:ph type="title"/>
          </p:nvPr>
        </p:nvSpPr>
        <p:spPr bwMode="auto">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pPr>
              <a:defRPr/>
            </a:pPr>
            <a:endParaRPr/>
          </a:p>
        </p:txBody>
      </p:sp>
      <p:sp>
        <p:nvSpPr>
          <p:cNvPr id="429819774" name="Google Shape;7;p1"/>
          <p:cNvSpPr txBox="1"/>
          <p:nvPr>
            <p:ph type="body" idx="1"/>
          </p:nvPr>
        </p:nvSpPr>
        <p:spPr bwMode="auto">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4999"/>
              </a:lnSpc>
              <a:spcBef>
                <a:spcPts val="0"/>
              </a:spcBef>
              <a:spcAft>
                <a:spcPts val="0"/>
              </a:spcAft>
              <a:buClr>
                <a:schemeClr val="dk2"/>
              </a:buClr>
              <a:buSzPts val="1800"/>
              <a:buChar char="●"/>
              <a:defRPr sz="1800">
                <a:solidFill>
                  <a:schemeClr val="dk2"/>
                </a:solidFill>
              </a:defRPr>
            </a:lvl1pPr>
            <a:lvl2pPr marL="914400" lvl="1" indent="-317500">
              <a:lnSpc>
                <a:spcPct val="114999"/>
              </a:lnSpc>
              <a:spcBef>
                <a:spcPts val="0"/>
              </a:spcBef>
              <a:spcAft>
                <a:spcPts val="0"/>
              </a:spcAft>
              <a:buClr>
                <a:schemeClr val="dk2"/>
              </a:buClr>
              <a:buSzPts val="1400"/>
              <a:buChar char="○"/>
              <a:defRPr>
                <a:solidFill>
                  <a:schemeClr val="dk2"/>
                </a:solidFill>
              </a:defRPr>
            </a:lvl2pPr>
            <a:lvl3pPr marL="1371600" lvl="2" indent="-317500">
              <a:lnSpc>
                <a:spcPct val="114999"/>
              </a:lnSpc>
              <a:spcBef>
                <a:spcPts val="0"/>
              </a:spcBef>
              <a:spcAft>
                <a:spcPts val="0"/>
              </a:spcAft>
              <a:buClr>
                <a:schemeClr val="dk2"/>
              </a:buClr>
              <a:buSzPts val="1400"/>
              <a:buChar char="■"/>
              <a:defRPr>
                <a:solidFill>
                  <a:schemeClr val="dk2"/>
                </a:solidFill>
              </a:defRPr>
            </a:lvl3pPr>
            <a:lvl4pPr marL="1828800" lvl="3" indent="-317500">
              <a:lnSpc>
                <a:spcPct val="114999"/>
              </a:lnSpc>
              <a:spcBef>
                <a:spcPts val="0"/>
              </a:spcBef>
              <a:spcAft>
                <a:spcPts val="0"/>
              </a:spcAft>
              <a:buClr>
                <a:schemeClr val="dk2"/>
              </a:buClr>
              <a:buSzPts val="1400"/>
              <a:buChar char="●"/>
              <a:defRPr>
                <a:solidFill>
                  <a:schemeClr val="dk2"/>
                </a:solidFill>
              </a:defRPr>
            </a:lvl4pPr>
            <a:lvl5pPr marL="2286000" lvl="4" indent="-317500">
              <a:lnSpc>
                <a:spcPct val="114999"/>
              </a:lnSpc>
              <a:spcBef>
                <a:spcPts val="0"/>
              </a:spcBef>
              <a:spcAft>
                <a:spcPts val="0"/>
              </a:spcAft>
              <a:buClr>
                <a:schemeClr val="dk2"/>
              </a:buClr>
              <a:buSzPts val="1400"/>
              <a:buChar char="○"/>
              <a:defRPr>
                <a:solidFill>
                  <a:schemeClr val="dk2"/>
                </a:solidFill>
              </a:defRPr>
            </a:lvl5pPr>
            <a:lvl6pPr marL="2743200" lvl="5" indent="-317500">
              <a:lnSpc>
                <a:spcPct val="114999"/>
              </a:lnSpc>
              <a:spcBef>
                <a:spcPts val="0"/>
              </a:spcBef>
              <a:spcAft>
                <a:spcPts val="0"/>
              </a:spcAft>
              <a:buClr>
                <a:schemeClr val="dk2"/>
              </a:buClr>
              <a:buSzPts val="1400"/>
              <a:buChar char="■"/>
              <a:defRPr>
                <a:solidFill>
                  <a:schemeClr val="dk2"/>
                </a:solidFill>
              </a:defRPr>
            </a:lvl6pPr>
            <a:lvl7pPr marL="3200400" lvl="6" indent="-317500">
              <a:lnSpc>
                <a:spcPct val="114999"/>
              </a:lnSpc>
              <a:spcBef>
                <a:spcPts val="0"/>
              </a:spcBef>
              <a:spcAft>
                <a:spcPts val="0"/>
              </a:spcAft>
              <a:buClr>
                <a:schemeClr val="dk2"/>
              </a:buClr>
              <a:buSzPts val="1400"/>
              <a:buChar char="●"/>
              <a:defRPr>
                <a:solidFill>
                  <a:schemeClr val="dk2"/>
                </a:solidFill>
              </a:defRPr>
            </a:lvl7pPr>
            <a:lvl8pPr marL="3657600" lvl="7" indent="-317500">
              <a:lnSpc>
                <a:spcPct val="114999"/>
              </a:lnSpc>
              <a:spcBef>
                <a:spcPts val="0"/>
              </a:spcBef>
              <a:spcAft>
                <a:spcPts val="0"/>
              </a:spcAft>
              <a:buClr>
                <a:schemeClr val="dk2"/>
              </a:buClr>
              <a:buSzPts val="1400"/>
              <a:buChar char="○"/>
              <a:defRPr>
                <a:solidFill>
                  <a:schemeClr val="dk2"/>
                </a:solidFill>
              </a:defRPr>
            </a:lvl8pPr>
            <a:lvl9pPr marL="4114800" lvl="8" indent="-317500">
              <a:lnSpc>
                <a:spcPct val="114999"/>
              </a:lnSpc>
              <a:spcBef>
                <a:spcPts val="0"/>
              </a:spcBef>
              <a:spcAft>
                <a:spcPts val="0"/>
              </a:spcAft>
              <a:buClr>
                <a:schemeClr val="dk2"/>
              </a:buClr>
              <a:buSzPts val="1400"/>
              <a:buChar char="■"/>
              <a:defRPr>
                <a:solidFill>
                  <a:schemeClr val="dk2"/>
                </a:solidFill>
              </a:defRPr>
            </a:lvl9pPr>
          </a:lstStyle>
          <a:p>
            <a:pPr>
              <a:defRPr/>
            </a:pPr>
            <a:endParaRPr/>
          </a:p>
        </p:txBody>
      </p:sp>
      <p:sp>
        <p:nvSpPr>
          <p:cNvPr id="2108664681" name="Google Shape;8;p1"/>
          <p:cNvSpPr txBox="1"/>
          <p:nvPr>
            <p:ph type="sldNum" idx="12"/>
          </p:nvPr>
        </p:nvSpPr>
        <p:spPr bwMode="auto">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defRPr/>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3.jp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 Id="rId3" Type="http://schemas.openxmlformats.org/officeDocument/2006/relationships/image" Target="../media/image4.jpg"/></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0.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2.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3.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1394405613" name="Google Shape;54;p13"/>
          <p:cNvSpPr txBox="1"/>
          <p:nvPr/>
        </p:nvSpPr>
        <p:spPr bwMode="auto">
          <a:xfrm>
            <a:off x="508000" y="1524000"/>
            <a:ext cx="8127900" cy="126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defRPr/>
            </a:pPr>
            <a:r>
              <a:rPr lang="en" sz="4800" b="1">
                <a:solidFill>
                  <a:srgbClr val="38BDF8"/>
                </a:solidFill>
              </a:rPr>
              <a:t>Modern App Architecture</a:t>
            </a:r>
            <a:endParaRPr sz="4800" b="1">
              <a:solidFill>
                <a:srgbClr val="38BDF8"/>
              </a:solidFill>
            </a:endParaRPr>
          </a:p>
        </p:txBody>
      </p:sp>
      <p:sp>
        <p:nvSpPr>
          <p:cNvPr id="407819630" name="Google Shape;55;p13"/>
          <p:cNvSpPr txBox="1"/>
          <p:nvPr/>
        </p:nvSpPr>
        <p:spPr bwMode="auto">
          <a:xfrm>
            <a:off x="508000" y="2921000"/>
            <a:ext cx="8127900" cy="126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defRPr/>
            </a:pPr>
            <a:r>
              <a:rPr lang="en" sz="2000">
                <a:solidFill>
                  <a:srgbClr val="CBD5E1"/>
                </a:solidFill>
              </a:rPr>
              <a:t>Docker, Redis, and PostgreSQL JSON</a:t>
            </a:r>
            <a:endParaRPr sz="2000">
              <a:solidFill>
                <a:srgbClr val="CBD5E1"/>
              </a:solidFill>
            </a:endParaRPr>
          </a:p>
          <a:p>
            <a:pPr marL="0" lvl="0" indent="0" algn="ctr" rtl="0">
              <a:spcBef>
                <a:spcPts val="0"/>
              </a:spcBef>
              <a:spcAft>
                <a:spcPts val="0"/>
              </a:spcAft>
              <a:buNone/>
              <a:defRPr/>
            </a:pPr>
            <a:endParaRPr sz="2000">
              <a:solidFill>
                <a:srgbClr val="CBD5E1"/>
              </a:solidFill>
            </a:endParaRPr>
          </a:p>
          <a:p>
            <a:pPr marL="0" lvl="0" indent="0" algn="ctr" rtl="0">
              <a:spcBef>
                <a:spcPts val="0"/>
              </a:spcBef>
              <a:spcAft>
                <a:spcPts val="0"/>
              </a:spcAft>
              <a:buNone/>
              <a:defRPr/>
            </a:pPr>
            <a:r>
              <a:rPr lang="en" sz="2000">
                <a:solidFill>
                  <a:srgbClr val="CBD5E1"/>
                </a:solidFill>
              </a:rPr>
              <a:t>4-Hour Bachelor Level Deep-Dive</a:t>
            </a:r>
            <a:endParaRPr sz="2000">
              <a:solidFill>
                <a:srgbClr val="CBD5E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1369396121" name="Google Shape;60;p14"/>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Lecture Agenda</a:t>
            </a:r>
            <a:endParaRPr sz="3600" b="1">
              <a:solidFill>
                <a:srgbClr val="38BDF8"/>
              </a:solidFill>
            </a:endParaRPr>
          </a:p>
        </p:txBody>
      </p:sp>
      <p:sp>
        <p:nvSpPr>
          <p:cNvPr id="1884955257" name="Google Shape;61;p14"/>
          <p:cNvSpPr txBox="1"/>
          <p:nvPr/>
        </p:nvSpPr>
        <p:spPr bwMode="auto">
          <a:xfrm>
            <a:off x="508000" y="1397000"/>
            <a:ext cx="8127900" cy="3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800">
                <a:solidFill>
                  <a:srgbClr val="CBD5E1"/>
                </a:solidFill>
              </a:rPr>
              <a:t>A comprehensive 4-hour technical journey</a:t>
            </a:r>
            <a:endParaRPr sz="1800">
              <a:solidFill>
                <a:srgbClr val="CBD5E1"/>
              </a:solidFill>
            </a:endParaRPr>
          </a:p>
          <a:p>
            <a:pPr marL="0" lvl="0" indent="0" algn="l" rtl="0">
              <a:spcBef>
                <a:spcPts val="0"/>
              </a:spcBef>
              <a:spcAft>
                <a:spcPts val="0"/>
              </a:spcAft>
              <a:buNone/>
              <a:defRPr/>
            </a:pPr>
            <a:endParaRPr sz="1800">
              <a:solidFill>
                <a:srgbClr val="CBD5E1"/>
              </a:solidFill>
            </a:endParaRPr>
          </a:p>
          <a:p>
            <a:pPr marL="0" lvl="0" indent="0" algn="l" rtl="0">
              <a:spcBef>
                <a:spcPts val="0"/>
              </a:spcBef>
              <a:spcAft>
                <a:spcPts val="0"/>
              </a:spcAft>
              <a:buNone/>
              <a:defRPr/>
            </a:pPr>
            <a:r>
              <a:rPr lang="en" sz="1800">
                <a:solidFill>
                  <a:srgbClr val="CBD5E1"/>
                </a:solidFill>
              </a:rPr>
              <a:t>• Hour 1: Containerization with Docker &amp; Compose</a:t>
            </a:r>
            <a:endParaRPr sz="1800">
              <a:solidFill>
                <a:srgbClr val="CBD5E1"/>
              </a:solidFill>
            </a:endParaRPr>
          </a:p>
          <a:p>
            <a:pPr marL="0" lvl="0" indent="0" algn="l" rtl="0">
              <a:spcBef>
                <a:spcPts val="0"/>
              </a:spcBef>
              <a:spcAft>
                <a:spcPts val="0"/>
              </a:spcAft>
              <a:buNone/>
              <a:defRPr/>
            </a:pPr>
            <a:r>
              <a:rPr lang="en" sz="1800">
                <a:solidFill>
                  <a:srgbClr val="CBD5E1"/>
                </a:solidFill>
              </a:rPr>
              <a:t>• Hour 2: In-Memory Key-Value Stores (Redis)</a:t>
            </a:r>
            <a:endParaRPr sz="1800">
              <a:solidFill>
                <a:srgbClr val="CBD5E1"/>
              </a:solidFill>
            </a:endParaRPr>
          </a:p>
          <a:p>
            <a:pPr marL="0" lvl="0" indent="0" algn="l" rtl="0">
              <a:spcBef>
                <a:spcPts val="0"/>
              </a:spcBef>
              <a:spcAft>
                <a:spcPts val="0"/>
              </a:spcAft>
              <a:buNone/>
              <a:defRPr/>
            </a:pPr>
            <a:r>
              <a:rPr lang="en" sz="1800">
                <a:solidFill>
                  <a:srgbClr val="CBD5E1"/>
                </a:solidFill>
              </a:rPr>
              <a:t>• Hour 3: Unstructured Data in SQL (JSON &amp; PostgreSQL)</a:t>
            </a:r>
            <a:endParaRPr sz="1800">
              <a:solidFill>
                <a:srgbClr val="CBD5E1"/>
              </a:solidFill>
            </a:endParaRPr>
          </a:p>
          <a:p>
            <a:pPr marL="0" lvl="0" indent="0" algn="l" rtl="0">
              <a:spcBef>
                <a:spcPts val="0"/>
              </a:spcBef>
              <a:spcAft>
                <a:spcPts val="0"/>
              </a:spcAft>
              <a:buNone/>
              <a:defRPr/>
            </a:pPr>
            <a:r>
              <a:rPr lang="en" sz="1800">
                <a:solidFill>
                  <a:srgbClr val="CBD5E1"/>
                </a:solidFill>
              </a:rPr>
              <a:t>• Hour 4: Practical Lab &amp; Environment Assembly</a:t>
            </a:r>
            <a:endParaRPr sz="1800">
              <a:solidFill>
                <a:srgbClr val="CBD5E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1687672927" name="Google Shape;66;p15"/>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The Architecture Evolution</a:t>
            </a:r>
            <a:endParaRPr sz="3600" b="1">
              <a:solidFill>
                <a:srgbClr val="38BDF8"/>
              </a:solidFill>
            </a:endParaRPr>
          </a:p>
        </p:txBody>
      </p:sp>
      <p:sp>
        <p:nvSpPr>
          <p:cNvPr id="459426701" name="Google Shape;67;p15"/>
          <p:cNvSpPr txBox="1"/>
          <p:nvPr/>
        </p:nvSpPr>
        <p:spPr bwMode="auto">
          <a:xfrm>
            <a:off x="508000" y="1397000"/>
            <a:ext cx="3936900" cy="3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solidFill>
                  <a:srgbClr val="CBD5E1"/>
                </a:solidFill>
              </a:rPr>
              <a:t>Before diving into specific tools, we must understand why they exist.</a:t>
            </a:r>
            <a:endParaRPr sz="1600">
              <a:solidFill>
                <a:srgbClr val="CBD5E1"/>
              </a:solidFill>
            </a:endParaRPr>
          </a:p>
          <a:p>
            <a:pPr marL="0" lvl="0" indent="0" algn="l" rtl="0">
              <a:spcBef>
                <a:spcPts val="0"/>
              </a:spcBef>
              <a:spcAft>
                <a:spcPts val="0"/>
              </a:spcAft>
              <a:buNone/>
              <a:defRPr/>
            </a:pPr>
            <a:endParaRPr sz="1600">
              <a:solidFill>
                <a:srgbClr val="CBD5E1"/>
              </a:solidFill>
            </a:endParaRPr>
          </a:p>
          <a:p>
            <a:pPr marL="0" lvl="0" indent="0" algn="l" rtl="0">
              <a:spcBef>
                <a:spcPts val="0"/>
              </a:spcBef>
              <a:spcAft>
                <a:spcPts val="0"/>
              </a:spcAft>
              <a:buNone/>
              <a:defRPr/>
            </a:pPr>
            <a:r>
              <a:rPr lang="en" sz="1600">
                <a:solidFill>
                  <a:srgbClr val="CBD5E1"/>
                </a:solidFill>
              </a:rPr>
              <a:t>• The Monolith: Historically, entire apps were deployed as a single codebase.</a:t>
            </a:r>
            <a:endParaRPr sz="1600">
              <a:solidFill>
                <a:srgbClr val="CBD5E1"/>
              </a:solidFill>
            </a:endParaRPr>
          </a:p>
          <a:p>
            <a:pPr marL="0" lvl="0" indent="0" algn="l" rtl="0">
              <a:spcBef>
                <a:spcPts val="0"/>
              </a:spcBef>
              <a:spcAft>
                <a:spcPts val="0"/>
              </a:spcAft>
              <a:buNone/>
              <a:defRPr/>
            </a:pPr>
            <a:r>
              <a:rPr lang="en" sz="1600">
                <a:solidFill>
                  <a:srgbClr val="CBD5E1"/>
                </a:solidFill>
              </a:rPr>
              <a:t>• Scaling Issues: Monoliths are difficult to scale. Heavy database traffic requires cloning the whole app.</a:t>
            </a:r>
            <a:endParaRPr sz="1600">
              <a:solidFill>
                <a:srgbClr val="CBD5E1"/>
              </a:solidFill>
            </a:endParaRPr>
          </a:p>
          <a:p>
            <a:pPr marL="0" lvl="0" indent="0" algn="l" rtl="0">
              <a:spcBef>
                <a:spcPts val="0"/>
              </a:spcBef>
              <a:spcAft>
                <a:spcPts val="0"/>
              </a:spcAft>
              <a:buNone/>
              <a:defRPr/>
            </a:pPr>
            <a:r>
              <a:rPr lang="en" sz="1600">
                <a:solidFill>
                  <a:srgbClr val="CBD5E1"/>
                </a:solidFill>
              </a:rPr>
              <a:t>• Microservices: Modern architecture splits the app into small, independent services.</a:t>
            </a:r>
            <a:endParaRPr sz="1600">
              <a:solidFill>
                <a:srgbClr val="CBD5E1"/>
              </a:solidFill>
            </a:endParaRPr>
          </a:p>
          <a:p>
            <a:pPr marL="0" lvl="0" indent="0" algn="l" rtl="0">
              <a:spcBef>
                <a:spcPts val="0"/>
              </a:spcBef>
              <a:spcAft>
                <a:spcPts val="0"/>
              </a:spcAft>
              <a:buNone/>
              <a:defRPr/>
            </a:pPr>
            <a:r>
              <a:rPr lang="en" sz="1600">
                <a:solidFill>
                  <a:srgbClr val="CBD5E1"/>
                </a:solidFill>
              </a:rPr>
              <a:t>• The Requirement: Microservices require isolated, lightweight environments.</a:t>
            </a:r>
            <a:endParaRPr sz="1600">
              <a:solidFill>
                <a:srgbClr val="CBD5E1"/>
              </a:solidFill>
            </a:endParaRPr>
          </a:p>
        </p:txBody>
      </p:sp>
      <p:pic>
        <p:nvPicPr>
          <p:cNvPr id="750764089" name="Google Shape;68;p15"/>
          <p:cNvPicPr/>
          <p:nvPr/>
        </p:nvPicPr>
        <p:blipFill rotWithShape="1">
          <a:blip r:embed="rId3">
            <a:alphaModFix/>
          </a:blip>
          <a:stretch/>
        </p:blipFill>
        <p:spPr bwMode="auto">
          <a:xfrm>
            <a:off x="4699000" y="1703917"/>
            <a:ext cx="3937001" cy="2624667"/>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1003495319" name="Google Shape;73;p16"/>
          <p:cNvSpPr txBox="1"/>
          <p:nvPr/>
        </p:nvSpPr>
        <p:spPr bwMode="auto">
          <a:xfrm>
            <a:off x="508000" y="1524000"/>
            <a:ext cx="8127900" cy="126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defRPr/>
            </a:pPr>
            <a:r>
              <a:rPr lang="en" sz="4800" b="1">
                <a:solidFill>
                  <a:srgbClr val="38BDF8"/>
                </a:solidFill>
              </a:rPr>
              <a:t>Hour 1: Containerization</a:t>
            </a:r>
            <a:endParaRPr sz="4800" b="1">
              <a:solidFill>
                <a:srgbClr val="38BDF8"/>
              </a:solidFill>
            </a:endParaRPr>
          </a:p>
        </p:txBody>
      </p:sp>
      <p:sp>
        <p:nvSpPr>
          <p:cNvPr id="560363834" name="Google Shape;74;p16"/>
          <p:cNvSpPr txBox="1"/>
          <p:nvPr/>
        </p:nvSpPr>
        <p:spPr bwMode="auto">
          <a:xfrm>
            <a:off x="508000" y="2921000"/>
            <a:ext cx="8127900" cy="126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defRPr/>
            </a:pPr>
            <a:r>
              <a:rPr lang="en" sz="2000">
                <a:solidFill>
                  <a:srgbClr val="CBD5E1"/>
                </a:solidFill>
              </a:rPr>
              <a:t>Mastering Docker &amp; Microservice Environments</a:t>
            </a:r>
            <a:endParaRPr sz="2000">
              <a:solidFill>
                <a:srgbClr val="CBD5E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56253710" name="Google Shape;79;p17"/>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The Pre-Docker World: VMs</a:t>
            </a:r>
            <a:endParaRPr sz="3600" b="1">
              <a:solidFill>
                <a:srgbClr val="38BDF8"/>
              </a:solidFill>
            </a:endParaRPr>
          </a:p>
        </p:txBody>
      </p:sp>
      <p:sp>
        <p:nvSpPr>
          <p:cNvPr id="959591870" name="Google Shape;80;p17"/>
          <p:cNvSpPr txBox="1"/>
          <p:nvPr/>
        </p:nvSpPr>
        <p:spPr bwMode="auto">
          <a:xfrm>
            <a:off x="508000" y="1397000"/>
            <a:ext cx="3936900" cy="3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solidFill>
                  <a:srgbClr val="CBD5E1"/>
                </a:solidFill>
              </a:rPr>
              <a:t>Before containers, we used Virtual Machines to isolate applications on bare-metal servers.</a:t>
            </a:r>
            <a:endParaRPr sz="1600">
              <a:solidFill>
                <a:srgbClr val="CBD5E1"/>
              </a:solidFill>
            </a:endParaRPr>
          </a:p>
          <a:p>
            <a:pPr marL="0" lvl="0" indent="0" algn="l" rtl="0">
              <a:spcBef>
                <a:spcPts val="0"/>
              </a:spcBef>
              <a:spcAft>
                <a:spcPts val="0"/>
              </a:spcAft>
              <a:buNone/>
              <a:defRPr/>
            </a:pPr>
            <a:endParaRPr sz="1600">
              <a:solidFill>
                <a:srgbClr val="CBD5E1"/>
              </a:solidFill>
            </a:endParaRPr>
          </a:p>
          <a:p>
            <a:pPr marL="0" lvl="0" indent="0" algn="l" rtl="0">
              <a:spcBef>
                <a:spcPts val="0"/>
              </a:spcBef>
              <a:spcAft>
                <a:spcPts val="0"/>
              </a:spcAft>
              <a:buNone/>
              <a:defRPr/>
            </a:pPr>
            <a:r>
              <a:rPr lang="en" sz="1600">
                <a:solidFill>
                  <a:srgbClr val="CBD5E1"/>
                </a:solidFill>
              </a:rPr>
              <a:t>• Hardware Virtualization: VMs simulate physical hardware using a Hypervisor.</a:t>
            </a:r>
            <a:endParaRPr sz="1600">
              <a:solidFill>
                <a:srgbClr val="CBD5E1"/>
              </a:solidFill>
            </a:endParaRPr>
          </a:p>
          <a:p>
            <a:pPr marL="0" lvl="0" indent="0" algn="l" rtl="0">
              <a:spcBef>
                <a:spcPts val="0"/>
              </a:spcBef>
              <a:spcAft>
                <a:spcPts val="0"/>
              </a:spcAft>
              <a:buNone/>
              <a:defRPr/>
            </a:pPr>
            <a:r>
              <a:rPr lang="en" sz="1600">
                <a:solidFill>
                  <a:srgbClr val="CBD5E1"/>
                </a:solidFill>
              </a:rPr>
              <a:t>• Guest OS Requirement: Every VM requires a full, heavy operating system to run.</a:t>
            </a:r>
            <a:endParaRPr sz="1600">
              <a:solidFill>
                <a:srgbClr val="CBD5E1"/>
              </a:solidFill>
            </a:endParaRPr>
          </a:p>
          <a:p>
            <a:pPr marL="0" lvl="0" indent="0" algn="l" rtl="0">
              <a:spcBef>
                <a:spcPts val="0"/>
              </a:spcBef>
              <a:spcAft>
                <a:spcPts val="0"/>
              </a:spcAft>
              <a:buNone/>
              <a:defRPr/>
            </a:pPr>
            <a:r>
              <a:rPr lang="en" sz="1600">
                <a:solidFill>
                  <a:srgbClr val="CBD5E1"/>
                </a:solidFill>
              </a:rPr>
              <a:t>• Resource Intensive: Consumes massive amounts of RAM and CPU overhead.</a:t>
            </a:r>
            <a:endParaRPr sz="1600">
              <a:solidFill>
                <a:srgbClr val="CBD5E1"/>
              </a:solidFill>
            </a:endParaRPr>
          </a:p>
          <a:p>
            <a:pPr marL="0" lvl="0" indent="0" algn="l" rtl="0">
              <a:spcBef>
                <a:spcPts val="0"/>
              </a:spcBef>
              <a:spcAft>
                <a:spcPts val="0"/>
              </a:spcAft>
              <a:buNone/>
              <a:defRPr/>
            </a:pPr>
            <a:r>
              <a:rPr lang="en" sz="1600">
                <a:solidFill>
                  <a:srgbClr val="CBD5E1"/>
                </a:solidFill>
              </a:rPr>
              <a:t>• Slow Boot Times: Takes minutes to boot.</a:t>
            </a:r>
            <a:endParaRPr sz="1600">
              <a:solidFill>
                <a:srgbClr val="CBD5E1"/>
              </a:solidFill>
            </a:endParaRPr>
          </a:p>
        </p:txBody>
      </p:sp>
      <p:pic>
        <p:nvPicPr>
          <p:cNvPr id="343530093" name="Google Shape;81;p17"/>
          <p:cNvPicPr/>
          <p:nvPr/>
        </p:nvPicPr>
        <p:blipFill rotWithShape="1">
          <a:blip r:embed="rId3">
            <a:alphaModFix/>
          </a:blip>
          <a:stretch/>
        </p:blipFill>
        <p:spPr bwMode="auto">
          <a:xfrm>
            <a:off x="4699000" y="1910609"/>
            <a:ext cx="3937001" cy="2211282"/>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915276301" name="Google Shape;86;p18"/>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VMs vs. Container Architecture</a:t>
            </a:r>
            <a:endParaRPr sz="3600" b="1">
              <a:solidFill>
                <a:srgbClr val="38BDF8"/>
              </a:solidFill>
            </a:endParaRPr>
          </a:p>
        </p:txBody>
      </p:sp>
      <p:sp>
        <p:nvSpPr>
          <p:cNvPr id="1795631307" name="Google Shape;87;p18"/>
          <p:cNvSpPr txBox="1"/>
          <p:nvPr/>
        </p:nvSpPr>
        <p:spPr bwMode="auto">
          <a:xfrm>
            <a:off x="508000" y="1397000"/>
            <a:ext cx="3936900" cy="3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solidFill>
                  <a:srgbClr val="CBD5E1"/>
                </a:solidFill>
              </a:rPr>
              <a:t>Virtual Machines</a:t>
            </a:r>
            <a:endParaRPr sz="1600">
              <a:solidFill>
                <a:srgbClr val="CBD5E1"/>
              </a:solidFill>
            </a:endParaRPr>
          </a:p>
          <a:p>
            <a:pPr marL="0" lvl="0" indent="0" algn="l" rtl="0">
              <a:spcBef>
                <a:spcPts val="0"/>
              </a:spcBef>
              <a:spcAft>
                <a:spcPts val="0"/>
              </a:spcAft>
              <a:buNone/>
              <a:defRPr/>
            </a:pPr>
            <a:endParaRPr sz="1600">
              <a:solidFill>
                <a:srgbClr val="CBD5E1"/>
              </a:solidFill>
            </a:endParaRPr>
          </a:p>
          <a:p>
            <a:pPr marL="0" lvl="0" indent="0" algn="l" rtl="0">
              <a:spcBef>
                <a:spcPts val="0"/>
              </a:spcBef>
              <a:spcAft>
                <a:spcPts val="0"/>
              </a:spcAft>
              <a:buNone/>
              <a:defRPr/>
            </a:pPr>
            <a:r>
              <a:rPr lang="en" sz="1600">
                <a:solidFill>
                  <a:srgbClr val="CBD5E1"/>
                </a:solidFill>
              </a:rPr>
              <a:t>Stack: App -&gt; Libs -&gt; Guest OS -&gt; Hypervisor -&gt; Server.</a:t>
            </a:r>
            <a:endParaRPr sz="1600">
              <a:solidFill>
                <a:srgbClr val="CBD5E1"/>
              </a:solidFill>
            </a:endParaRPr>
          </a:p>
          <a:p>
            <a:pPr marL="0" lvl="0" indent="0" algn="l" rtl="0">
              <a:spcBef>
                <a:spcPts val="0"/>
              </a:spcBef>
              <a:spcAft>
                <a:spcPts val="0"/>
              </a:spcAft>
              <a:buNone/>
              <a:defRPr/>
            </a:pPr>
            <a:endParaRPr sz="1600">
              <a:solidFill>
                <a:srgbClr val="CBD5E1"/>
              </a:solidFill>
            </a:endParaRPr>
          </a:p>
          <a:p>
            <a:pPr marL="0" lvl="0" indent="0" algn="l" rtl="0">
              <a:spcBef>
                <a:spcPts val="0"/>
              </a:spcBef>
              <a:spcAft>
                <a:spcPts val="0"/>
              </a:spcAft>
              <a:buNone/>
              <a:defRPr/>
            </a:pPr>
            <a:r>
              <a:rPr lang="en" sz="1600">
                <a:solidFill>
                  <a:srgbClr val="CBD5E1"/>
                </a:solidFill>
              </a:rPr>
              <a:t>The Hypervisor translates instructions to the physical hardware. The heavy Guest OS creates a strict, inflexible boundary, wasting gigabytes of space per app.</a:t>
            </a:r>
            <a:endParaRPr sz="1600">
              <a:solidFill>
                <a:srgbClr val="CBD5E1"/>
              </a:solidFill>
            </a:endParaRPr>
          </a:p>
        </p:txBody>
      </p:sp>
      <p:sp>
        <p:nvSpPr>
          <p:cNvPr id="34597002" name="Google Shape;88;p18"/>
          <p:cNvSpPr txBox="1"/>
          <p:nvPr/>
        </p:nvSpPr>
        <p:spPr bwMode="auto">
          <a:xfrm>
            <a:off x="4699000" y="1397000"/>
            <a:ext cx="3936900" cy="3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solidFill>
                  <a:srgbClr val="CBD5E1"/>
                </a:solidFill>
              </a:rPr>
              <a:t>Docker Containers</a:t>
            </a:r>
            <a:endParaRPr sz="1600">
              <a:solidFill>
                <a:srgbClr val="CBD5E1"/>
              </a:solidFill>
            </a:endParaRPr>
          </a:p>
          <a:p>
            <a:pPr marL="0" lvl="0" indent="0" algn="l" rtl="0">
              <a:spcBef>
                <a:spcPts val="0"/>
              </a:spcBef>
              <a:spcAft>
                <a:spcPts val="0"/>
              </a:spcAft>
              <a:buNone/>
              <a:defRPr/>
            </a:pPr>
            <a:endParaRPr sz="1600">
              <a:solidFill>
                <a:srgbClr val="CBD5E1"/>
              </a:solidFill>
            </a:endParaRPr>
          </a:p>
          <a:p>
            <a:pPr marL="0" lvl="0" indent="0" algn="l" rtl="0">
              <a:spcBef>
                <a:spcPts val="0"/>
              </a:spcBef>
              <a:spcAft>
                <a:spcPts val="0"/>
              </a:spcAft>
              <a:buNone/>
              <a:defRPr/>
            </a:pPr>
            <a:r>
              <a:rPr lang="en" sz="1600">
                <a:solidFill>
                  <a:srgbClr val="CBD5E1"/>
                </a:solidFill>
              </a:rPr>
              <a:t>Stack: App -&gt; Libs -&gt; Docker Engine -&gt; Server.</a:t>
            </a:r>
            <a:endParaRPr sz="1600">
              <a:solidFill>
                <a:srgbClr val="CBD5E1"/>
              </a:solidFill>
            </a:endParaRPr>
          </a:p>
          <a:p>
            <a:pPr marL="0" lvl="0" indent="0" algn="l" rtl="0">
              <a:spcBef>
                <a:spcPts val="0"/>
              </a:spcBef>
              <a:spcAft>
                <a:spcPts val="0"/>
              </a:spcAft>
              <a:buNone/>
              <a:defRPr/>
            </a:pPr>
            <a:endParaRPr sz="1600">
              <a:solidFill>
                <a:srgbClr val="CBD5E1"/>
              </a:solidFill>
            </a:endParaRPr>
          </a:p>
          <a:p>
            <a:pPr marL="0" lvl="0" indent="0" algn="l" rtl="0">
              <a:spcBef>
                <a:spcPts val="0"/>
              </a:spcBef>
              <a:spcAft>
                <a:spcPts val="0"/>
              </a:spcAft>
              <a:buNone/>
              <a:defRPr/>
            </a:pPr>
            <a:r>
              <a:rPr lang="en" sz="1600">
                <a:solidFill>
                  <a:srgbClr val="CBD5E1"/>
                </a:solidFill>
              </a:rPr>
              <a:t>Docker virtualizes the Operating System, not the hardware. Containers share the host system's OS kernel but run in isolated user spaces.</a:t>
            </a:r>
            <a:endParaRPr sz="1600">
              <a:solidFill>
                <a:srgbClr val="CBD5E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956356159" name="Google Shape;93;p19"/>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Introduction to Docker Core Concepts</a:t>
            </a:r>
            <a:endParaRPr sz="3600" b="1">
              <a:solidFill>
                <a:srgbClr val="38BDF8"/>
              </a:solidFill>
            </a:endParaRPr>
          </a:p>
        </p:txBody>
      </p:sp>
      <p:sp>
        <p:nvSpPr>
          <p:cNvPr id="1043758495" name="Google Shape;94;p19"/>
          <p:cNvSpPr txBox="1"/>
          <p:nvPr/>
        </p:nvSpPr>
        <p:spPr bwMode="auto">
          <a:xfrm>
            <a:off x="507999" y="1647657"/>
            <a:ext cx="8127900" cy="3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800">
                <a:solidFill>
                  <a:srgbClr val="CBD5E1"/>
                </a:solidFill>
              </a:rPr>
              <a:t>• Dockerfile: A text document containing all the commands to assemble an image. The blueprint.</a:t>
            </a:r>
            <a:endParaRPr sz="1800">
              <a:solidFill>
                <a:srgbClr val="CBD5E1"/>
              </a:solidFill>
            </a:endParaRPr>
          </a:p>
          <a:p>
            <a:pPr marL="0" lvl="0" indent="0" algn="l" rtl="0">
              <a:spcBef>
                <a:spcPts val="0"/>
              </a:spcBef>
              <a:spcAft>
                <a:spcPts val="0"/>
              </a:spcAft>
              <a:buNone/>
              <a:defRPr/>
            </a:pPr>
            <a:endParaRPr sz="1800">
              <a:solidFill>
                <a:srgbClr val="CBD5E1"/>
              </a:solidFill>
            </a:endParaRPr>
          </a:p>
          <a:p>
            <a:pPr marL="0" lvl="0" indent="0" algn="l" rtl="0">
              <a:spcBef>
                <a:spcPts val="0"/>
              </a:spcBef>
              <a:spcAft>
                <a:spcPts val="0"/>
              </a:spcAft>
              <a:buNone/>
              <a:defRPr/>
            </a:pPr>
            <a:r>
              <a:rPr lang="en" sz="1800">
                <a:solidFill>
                  <a:srgbClr val="CBD5E1"/>
                </a:solidFill>
              </a:rPr>
              <a:t>• Docker Image: A read-only, immutable template with instructions for creating a container.</a:t>
            </a:r>
            <a:endParaRPr sz="1800">
              <a:solidFill>
                <a:srgbClr val="CBD5E1"/>
              </a:solidFill>
            </a:endParaRPr>
          </a:p>
          <a:p>
            <a:pPr marL="0" lvl="0" indent="0" algn="l" rtl="0">
              <a:spcBef>
                <a:spcPts val="0"/>
              </a:spcBef>
              <a:spcAft>
                <a:spcPts val="0"/>
              </a:spcAft>
              <a:buNone/>
              <a:defRPr/>
            </a:pPr>
            <a:endParaRPr sz="1800">
              <a:solidFill>
                <a:srgbClr val="CBD5E1"/>
              </a:solidFill>
            </a:endParaRPr>
          </a:p>
          <a:p>
            <a:pPr marL="0" lvl="0" indent="0" algn="l" rtl="0">
              <a:spcBef>
                <a:spcPts val="0"/>
              </a:spcBef>
              <a:spcAft>
                <a:spcPts val="0"/>
              </a:spcAft>
              <a:buNone/>
              <a:defRPr/>
            </a:pPr>
            <a:r>
              <a:rPr lang="en" sz="1800">
                <a:solidFill>
                  <a:srgbClr val="CBD5E1"/>
                </a:solidFill>
              </a:rPr>
              <a:t>• Docker Container: A runnable instance of an image. You can create, start, stop, or delete a container.</a:t>
            </a:r>
            <a:endParaRPr sz="1800">
              <a:solidFill>
                <a:srgbClr val="CBD5E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1083745971" name="Google Shape;99;p20"/>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The Developer's Dilemma</a:t>
            </a:r>
            <a:endParaRPr sz="3600" b="1">
              <a:solidFill>
                <a:srgbClr val="38BDF8"/>
              </a:solidFill>
            </a:endParaRPr>
          </a:p>
        </p:txBody>
      </p:sp>
      <p:sp>
        <p:nvSpPr>
          <p:cNvPr id="595355644" name="Google Shape;100;p20"/>
          <p:cNvSpPr txBox="1"/>
          <p:nvPr/>
        </p:nvSpPr>
        <p:spPr bwMode="auto">
          <a:xfrm>
            <a:off x="508000" y="1397000"/>
            <a:ext cx="8127900" cy="3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800">
                <a:solidFill>
                  <a:srgbClr val="CBD5E1"/>
                </a:solidFill>
              </a:rPr>
              <a:t>"It works on my machine!"</a:t>
            </a:r>
            <a:endParaRPr sz="1800">
              <a:solidFill>
                <a:srgbClr val="CBD5E1"/>
              </a:solidFill>
            </a:endParaRPr>
          </a:p>
          <a:p>
            <a:pPr marL="0" lvl="0" indent="0" algn="l" rtl="0">
              <a:spcBef>
                <a:spcPts val="0"/>
              </a:spcBef>
              <a:spcAft>
                <a:spcPts val="0"/>
              </a:spcAft>
              <a:buNone/>
              <a:defRPr/>
            </a:pPr>
            <a:endParaRPr sz="1800">
              <a:solidFill>
                <a:srgbClr val="CBD5E1"/>
              </a:solidFill>
            </a:endParaRPr>
          </a:p>
          <a:p>
            <a:pPr marL="0" lvl="0" indent="0" algn="l" rtl="0">
              <a:spcBef>
                <a:spcPts val="0"/>
              </a:spcBef>
              <a:spcAft>
                <a:spcPts val="0"/>
              </a:spcAft>
              <a:buNone/>
              <a:defRPr/>
            </a:pPr>
            <a:r>
              <a:rPr lang="en" sz="1800">
                <a:solidFill>
                  <a:srgbClr val="CBD5E1"/>
                </a:solidFill>
              </a:rPr>
              <a:t>The Ultimate Fix:</a:t>
            </a:r>
            <a:endParaRPr sz="1800">
              <a:solidFill>
                <a:srgbClr val="CBD5E1"/>
              </a:solidFill>
            </a:endParaRPr>
          </a:p>
          <a:p>
            <a:pPr marL="0" lvl="0" indent="0" algn="l" rtl="0">
              <a:spcBef>
                <a:spcPts val="0"/>
              </a:spcBef>
              <a:spcAft>
                <a:spcPts val="0"/>
              </a:spcAft>
              <a:buNone/>
              <a:defRPr/>
            </a:pPr>
            <a:r>
              <a:rPr lang="en" sz="1800">
                <a:solidFill>
                  <a:srgbClr val="CBD5E1"/>
                </a:solidFill>
              </a:rPr>
              <a:t>Before Docker, code that ran perfectly on a developer's Mac might crash on the Linux production server due to mismatched Node.js versions or missing C++ libraries.</a:t>
            </a:r>
            <a:endParaRPr sz="1800">
              <a:solidFill>
                <a:srgbClr val="CBD5E1"/>
              </a:solidFill>
            </a:endParaRPr>
          </a:p>
          <a:p>
            <a:pPr marL="0" lvl="0" indent="0" algn="l" rtl="0">
              <a:spcBef>
                <a:spcPts val="0"/>
              </a:spcBef>
              <a:spcAft>
                <a:spcPts val="0"/>
              </a:spcAft>
              <a:buNone/>
              <a:defRPr/>
            </a:pPr>
            <a:endParaRPr sz="1800">
              <a:solidFill>
                <a:srgbClr val="CBD5E1"/>
              </a:solidFill>
            </a:endParaRPr>
          </a:p>
          <a:p>
            <a:pPr marL="0" lvl="0" indent="0" algn="l" rtl="0">
              <a:spcBef>
                <a:spcPts val="0"/>
              </a:spcBef>
              <a:spcAft>
                <a:spcPts val="0"/>
              </a:spcAft>
              <a:buNone/>
              <a:defRPr/>
            </a:pPr>
            <a:r>
              <a:rPr lang="en" sz="1800">
                <a:solidFill>
                  <a:srgbClr val="CBD5E1"/>
                </a:solidFill>
              </a:rPr>
              <a:t>Docker guarantees environment consistency. Because the application is packaged with its dependencies, it behaves identically everywhere.</a:t>
            </a:r>
            <a:endParaRPr sz="1800">
              <a:solidFill>
                <a:srgbClr val="CBD5E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1891867617" name="Google Shape;105;p21"/>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Evaluating Docker</a:t>
            </a:r>
            <a:endParaRPr sz="3600" b="1">
              <a:solidFill>
                <a:srgbClr val="38BDF8"/>
              </a:solidFill>
            </a:endParaRPr>
          </a:p>
        </p:txBody>
      </p:sp>
      <p:sp>
        <p:nvSpPr>
          <p:cNvPr id="2076016285" name="Google Shape;106;p21"/>
          <p:cNvSpPr txBox="1"/>
          <p:nvPr/>
        </p:nvSpPr>
        <p:spPr bwMode="auto">
          <a:xfrm>
            <a:off x="508000" y="1397000"/>
            <a:ext cx="3936900" cy="3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solidFill>
                  <a:srgbClr val="CBD5E1"/>
                </a:solidFill>
              </a:rPr>
              <a:t>Advantages:</a:t>
            </a:r>
            <a:endParaRPr sz="1600">
              <a:solidFill>
                <a:srgbClr val="CBD5E1"/>
              </a:solidFill>
            </a:endParaRPr>
          </a:p>
          <a:p>
            <a:pPr marL="0" lvl="0" indent="0" algn="l" rtl="0">
              <a:spcBef>
                <a:spcPts val="0"/>
              </a:spcBef>
              <a:spcAft>
                <a:spcPts val="0"/>
              </a:spcAft>
              <a:buNone/>
              <a:defRPr/>
            </a:pPr>
            <a:r>
              <a:rPr lang="en" sz="1600">
                <a:solidFill>
                  <a:srgbClr val="CBD5E1"/>
                </a:solidFill>
              </a:rPr>
              <a:t>• Speed: Boots in milliseconds.</a:t>
            </a:r>
            <a:endParaRPr sz="1600">
              <a:solidFill>
                <a:srgbClr val="CBD5E1"/>
              </a:solidFill>
            </a:endParaRPr>
          </a:p>
          <a:p>
            <a:pPr marL="0" lvl="0" indent="0" algn="l" rtl="0">
              <a:spcBef>
                <a:spcPts val="0"/>
              </a:spcBef>
              <a:spcAft>
                <a:spcPts val="0"/>
              </a:spcAft>
              <a:buNone/>
              <a:defRPr/>
            </a:pPr>
            <a:r>
              <a:rPr lang="en" sz="1600">
                <a:solidFill>
                  <a:srgbClr val="CBD5E1"/>
                </a:solidFill>
              </a:rPr>
              <a:t>• Density: Run 100 containers where you could only run 5 VMs.</a:t>
            </a:r>
            <a:endParaRPr sz="1600">
              <a:solidFill>
                <a:srgbClr val="CBD5E1"/>
              </a:solidFill>
            </a:endParaRPr>
          </a:p>
          <a:p>
            <a:pPr marL="0" lvl="0" indent="0" algn="l" rtl="0">
              <a:spcBef>
                <a:spcPts val="0"/>
              </a:spcBef>
              <a:spcAft>
                <a:spcPts val="0"/>
              </a:spcAft>
              <a:buNone/>
              <a:defRPr/>
            </a:pPr>
            <a:r>
              <a:rPr lang="en" sz="1600">
                <a:solidFill>
                  <a:srgbClr val="CBD5E1"/>
                </a:solidFill>
              </a:rPr>
              <a:t>• Portability: Run anywhere.</a:t>
            </a:r>
            <a:endParaRPr sz="1600">
              <a:solidFill>
                <a:srgbClr val="CBD5E1"/>
              </a:solidFill>
            </a:endParaRPr>
          </a:p>
          <a:p>
            <a:pPr marL="0" lvl="0" indent="0" algn="l" rtl="0">
              <a:spcBef>
                <a:spcPts val="0"/>
              </a:spcBef>
              <a:spcAft>
                <a:spcPts val="0"/>
              </a:spcAft>
              <a:buNone/>
              <a:defRPr/>
            </a:pPr>
            <a:r>
              <a:rPr lang="en" sz="1600">
                <a:solidFill>
                  <a:srgbClr val="CBD5E1"/>
                </a:solidFill>
              </a:rPr>
              <a:t>• CI/CD Integration: Perfect for automated pipelines.</a:t>
            </a:r>
            <a:endParaRPr sz="1600">
              <a:solidFill>
                <a:srgbClr val="CBD5E1"/>
              </a:solidFill>
            </a:endParaRPr>
          </a:p>
        </p:txBody>
      </p:sp>
      <p:sp>
        <p:nvSpPr>
          <p:cNvPr id="552745007" name="Google Shape;107;p21"/>
          <p:cNvSpPr txBox="1"/>
          <p:nvPr/>
        </p:nvSpPr>
        <p:spPr bwMode="auto">
          <a:xfrm>
            <a:off x="4699000" y="1397000"/>
            <a:ext cx="3936900" cy="3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solidFill>
                  <a:srgbClr val="CBD5E1"/>
                </a:solidFill>
              </a:rPr>
              <a:t>Disadvantages &amp; Limits:</a:t>
            </a:r>
            <a:endParaRPr sz="1600">
              <a:solidFill>
                <a:srgbClr val="CBD5E1"/>
              </a:solidFill>
            </a:endParaRPr>
          </a:p>
          <a:p>
            <a:pPr marL="0" lvl="0" indent="0" algn="l" rtl="0">
              <a:spcBef>
                <a:spcPts val="0"/>
              </a:spcBef>
              <a:spcAft>
                <a:spcPts val="0"/>
              </a:spcAft>
              <a:buNone/>
              <a:defRPr/>
            </a:pPr>
            <a:r>
              <a:rPr lang="en" sz="1600">
                <a:solidFill>
                  <a:srgbClr val="CBD5E1"/>
                </a:solidFill>
              </a:rPr>
              <a:t>• Learning Curve: High barrier to entry.</a:t>
            </a:r>
            <a:endParaRPr sz="1600">
              <a:solidFill>
                <a:srgbClr val="CBD5E1"/>
              </a:solidFill>
            </a:endParaRPr>
          </a:p>
          <a:p>
            <a:pPr marL="0" lvl="0" indent="0" algn="l" rtl="0">
              <a:spcBef>
                <a:spcPts val="0"/>
              </a:spcBef>
              <a:spcAft>
                <a:spcPts val="0"/>
              </a:spcAft>
              <a:buNone/>
              <a:defRPr/>
            </a:pPr>
            <a:r>
              <a:rPr lang="en" sz="1600">
                <a:solidFill>
                  <a:srgbClr val="CBD5E1"/>
                </a:solidFill>
              </a:rPr>
              <a:t>• Security: Kernel sharing means potential host compromise on exploits.</a:t>
            </a:r>
            <a:endParaRPr sz="1600">
              <a:solidFill>
                <a:srgbClr val="CBD5E1"/>
              </a:solidFill>
            </a:endParaRPr>
          </a:p>
          <a:p>
            <a:pPr marL="0" lvl="0" indent="0" algn="l" rtl="0">
              <a:spcBef>
                <a:spcPts val="0"/>
              </a:spcBef>
              <a:spcAft>
                <a:spcPts val="0"/>
              </a:spcAft>
              <a:buNone/>
              <a:defRPr/>
            </a:pPr>
            <a:r>
              <a:rPr lang="en" sz="1600">
                <a:solidFill>
                  <a:srgbClr val="CBD5E1"/>
                </a:solidFill>
              </a:rPr>
              <a:t>• Not for Monoliths: Rarely yields benefits for massive legacy apps.</a:t>
            </a:r>
            <a:endParaRPr sz="1600">
              <a:solidFill>
                <a:srgbClr val="CBD5E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1969660940" name="Google Shape;112;p22"/>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The Data Problem: Volumes</a:t>
            </a:r>
            <a:endParaRPr sz="3600" b="1">
              <a:solidFill>
                <a:srgbClr val="38BDF8"/>
              </a:solidFill>
            </a:endParaRPr>
          </a:p>
        </p:txBody>
      </p:sp>
      <p:sp>
        <p:nvSpPr>
          <p:cNvPr id="864219478" name="Google Shape;113;p22"/>
          <p:cNvSpPr txBox="1"/>
          <p:nvPr/>
        </p:nvSpPr>
        <p:spPr bwMode="auto">
          <a:xfrm>
            <a:off x="508000" y="1397000"/>
            <a:ext cx="8127900" cy="3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800">
                <a:solidFill>
                  <a:srgbClr val="CBD5E1"/>
                </a:solidFill>
              </a:rPr>
              <a:t>By default, containers are ephemeral. If a container stops or is deleted, all data written inside it vanishes forever. This is disastrous for databases.</a:t>
            </a:r>
            <a:endParaRPr sz="1800">
              <a:solidFill>
                <a:srgbClr val="CBD5E1"/>
              </a:solidFill>
            </a:endParaRPr>
          </a:p>
          <a:p>
            <a:pPr marL="0" lvl="0" indent="0" algn="l" rtl="0">
              <a:spcBef>
                <a:spcPts val="0"/>
              </a:spcBef>
              <a:spcAft>
                <a:spcPts val="0"/>
              </a:spcAft>
              <a:buNone/>
              <a:defRPr/>
            </a:pPr>
            <a:endParaRPr sz="1800">
              <a:solidFill>
                <a:srgbClr val="CBD5E1"/>
              </a:solidFill>
            </a:endParaRPr>
          </a:p>
          <a:p>
            <a:pPr marL="0" lvl="0" indent="0" algn="l" rtl="0">
              <a:spcBef>
                <a:spcPts val="0"/>
              </a:spcBef>
              <a:spcAft>
                <a:spcPts val="0"/>
              </a:spcAft>
              <a:buNone/>
              <a:defRPr/>
            </a:pPr>
            <a:r>
              <a:rPr lang="en" sz="1800">
                <a:solidFill>
                  <a:srgbClr val="CBD5E1"/>
                </a:solidFill>
              </a:rPr>
              <a:t>• Ephemeral Layer: The writable layer attached to a running container. Tied to the container lifecycle.</a:t>
            </a:r>
            <a:endParaRPr sz="1800">
              <a:solidFill>
                <a:srgbClr val="CBD5E1"/>
              </a:solidFill>
            </a:endParaRPr>
          </a:p>
          <a:p>
            <a:pPr marL="0" lvl="0" indent="0" algn="l" rtl="0">
              <a:spcBef>
                <a:spcPts val="0"/>
              </a:spcBef>
              <a:spcAft>
                <a:spcPts val="0"/>
              </a:spcAft>
              <a:buNone/>
              <a:defRPr/>
            </a:pPr>
            <a:r>
              <a:rPr lang="en" sz="1800">
                <a:solidFill>
                  <a:srgbClr val="CBD5E1"/>
                </a:solidFill>
              </a:rPr>
              <a:t>• Docker Volumes: Managed by Docker on the host filesystem. They persist independently of container lifecycles. Best for DB data.</a:t>
            </a:r>
            <a:endParaRPr sz="1800">
              <a:solidFill>
                <a:srgbClr val="CBD5E1"/>
              </a:solidFill>
            </a:endParaRPr>
          </a:p>
          <a:p>
            <a:pPr marL="0" lvl="0" indent="0" algn="l" rtl="0">
              <a:spcBef>
                <a:spcPts val="0"/>
              </a:spcBef>
              <a:spcAft>
                <a:spcPts val="0"/>
              </a:spcAft>
              <a:buNone/>
              <a:defRPr/>
            </a:pPr>
            <a:r>
              <a:rPr lang="en" sz="1800">
                <a:solidFill>
                  <a:srgbClr val="CBD5E1"/>
                </a:solidFill>
              </a:rPr>
              <a:t>• Bind Mounts: Maps a specific file or directory on the host machine directly into the container.</a:t>
            </a:r>
            <a:endParaRPr sz="1800">
              <a:solidFill>
                <a:srgbClr val="CBD5E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18866534" name="Google Shape;118;p23"/>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Anatomy of a Dockerfile</a:t>
            </a:r>
            <a:endParaRPr sz="3600" b="1">
              <a:solidFill>
                <a:srgbClr val="38BDF8"/>
              </a:solidFill>
            </a:endParaRPr>
          </a:p>
        </p:txBody>
      </p:sp>
      <p:sp>
        <p:nvSpPr>
          <p:cNvPr id="39929585" name="Google Shape;119;p23"/>
          <p:cNvSpPr txBox="1"/>
          <p:nvPr/>
        </p:nvSpPr>
        <p:spPr bwMode="auto">
          <a:xfrm>
            <a:off x="508000" y="1397000"/>
            <a:ext cx="3810000" cy="3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solidFill>
                  <a:srgbClr val="CBD5E1"/>
                </a:solidFill>
              </a:rPr>
              <a:t>How it builds:</a:t>
            </a:r>
            <a:endParaRPr sz="1600">
              <a:solidFill>
                <a:srgbClr val="CBD5E1"/>
              </a:solidFill>
            </a:endParaRPr>
          </a:p>
          <a:p>
            <a:pPr marL="0" lvl="0" indent="0" algn="l" rtl="0">
              <a:spcBef>
                <a:spcPts val="0"/>
              </a:spcBef>
              <a:spcAft>
                <a:spcPts val="0"/>
              </a:spcAft>
              <a:buNone/>
              <a:defRPr/>
            </a:pPr>
            <a:endParaRPr sz="1600">
              <a:solidFill>
                <a:srgbClr val="CBD5E1"/>
              </a:solidFill>
            </a:endParaRPr>
          </a:p>
          <a:p>
            <a:pPr marL="0" lvl="0" indent="0" algn="l" rtl="0">
              <a:spcBef>
                <a:spcPts val="0"/>
              </a:spcBef>
              <a:spcAft>
                <a:spcPts val="0"/>
              </a:spcAft>
              <a:buNone/>
              <a:defRPr/>
            </a:pPr>
            <a:r>
              <a:rPr lang="en" sz="1600">
                <a:solidFill>
                  <a:srgbClr val="CBD5E1"/>
                </a:solidFill>
              </a:rPr>
              <a:t>Docker reads top-down. Each command creates a cached 'Layer'.</a:t>
            </a:r>
            <a:endParaRPr sz="1600">
              <a:solidFill>
                <a:srgbClr val="CBD5E1"/>
              </a:solidFill>
            </a:endParaRPr>
          </a:p>
          <a:p>
            <a:pPr marL="0" lvl="0" indent="0" algn="l" rtl="0">
              <a:spcBef>
                <a:spcPts val="0"/>
              </a:spcBef>
              <a:spcAft>
                <a:spcPts val="0"/>
              </a:spcAft>
              <a:buNone/>
              <a:defRPr/>
            </a:pPr>
            <a:endParaRPr sz="1600">
              <a:solidFill>
                <a:srgbClr val="CBD5E1"/>
              </a:solidFill>
            </a:endParaRPr>
          </a:p>
          <a:p>
            <a:pPr marL="0" lvl="0" indent="0" algn="l" rtl="0">
              <a:spcBef>
                <a:spcPts val="0"/>
              </a:spcBef>
              <a:spcAft>
                <a:spcPts val="0"/>
              </a:spcAft>
              <a:buNone/>
              <a:defRPr/>
            </a:pPr>
            <a:r>
              <a:rPr lang="en" sz="1600">
                <a:solidFill>
                  <a:srgbClr val="CBD5E1"/>
                </a:solidFill>
              </a:rPr>
              <a:t>If you change your code (Step 5), Docker reuses the cache for Steps 1-4, making builds blazingly fast.</a:t>
            </a:r>
            <a:endParaRPr sz="1600">
              <a:solidFill>
                <a:srgbClr val="CBD5E1"/>
              </a:solidFill>
            </a:endParaRPr>
          </a:p>
        </p:txBody>
      </p:sp>
      <p:sp>
        <p:nvSpPr>
          <p:cNvPr id="2078805258" name="Google Shape;120;p23"/>
          <p:cNvSpPr/>
          <p:nvPr/>
        </p:nvSpPr>
        <p:spPr bwMode="auto">
          <a:xfrm>
            <a:off x="4445000" y="1397000"/>
            <a:ext cx="4317900" cy="3365400"/>
          </a:xfrm>
          <a:prstGeom prst="roundRect">
            <a:avLst>
              <a:gd name="adj" fmla="val 16667"/>
            </a:avLst>
          </a:prstGeom>
          <a:solidFill>
            <a:srgbClr val="020617"/>
          </a:solidFill>
          <a:ln>
            <a:noFill/>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2056612988" name="Google Shape;121;p23"/>
          <p:cNvSpPr txBox="1"/>
          <p:nvPr/>
        </p:nvSpPr>
        <p:spPr bwMode="auto">
          <a:xfrm>
            <a:off x="4508500" y="1460500"/>
            <a:ext cx="4191000" cy="323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200">
                <a:solidFill>
                  <a:srgbClr val="A3E635"/>
                </a:solidFill>
                <a:latin typeface="Consolas"/>
                <a:ea typeface="Consolas"/>
                <a:cs typeface="Consolas"/>
              </a:rPr>
              <a:t># 1. Base Image</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FROM node:18-alpine</a:t>
            </a:r>
            <a:endParaRPr sz="1200">
              <a:solidFill>
                <a:srgbClr val="A3E635"/>
              </a:solidFill>
              <a:latin typeface="Consolas"/>
              <a:ea typeface="Consolas"/>
              <a:cs typeface="Consolas"/>
            </a:endParaRPr>
          </a:p>
          <a:p>
            <a:pPr marL="0" lvl="0" indent="0" algn="l" rtl="0">
              <a:spcBef>
                <a:spcPts val="0"/>
              </a:spcBef>
              <a:spcAft>
                <a:spcPts val="0"/>
              </a:spcAft>
              <a:buNone/>
              <a:defRPr/>
            </a:pP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2. Set directory</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WORKDIR /app</a:t>
            </a:r>
            <a:endParaRPr sz="1200">
              <a:solidFill>
                <a:srgbClr val="A3E635"/>
              </a:solidFill>
              <a:latin typeface="Consolas"/>
              <a:ea typeface="Consolas"/>
              <a:cs typeface="Consolas"/>
            </a:endParaRPr>
          </a:p>
          <a:p>
            <a:pPr marL="0" lvl="0" indent="0" algn="l" rtl="0">
              <a:spcBef>
                <a:spcPts val="0"/>
              </a:spcBef>
              <a:spcAft>
                <a:spcPts val="0"/>
              </a:spcAft>
              <a:buNone/>
              <a:defRPr/>
            </a:pP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3. Copy dependencies</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COPY package.json ./</a:t>
            </a:r>
            <a:endParaRPr sz="1200">
              <a:solidFill>
                <a:srgbClr val="A3E635"/>
              </a:solidFill>
              <a:latin typeface="Consolas"/>
              <a:ea typeface="Consolas"/>
              <a:cs typeface="Consolas"/>
            </a:endParaRPr>
          </a:p>
          <a:p>
            <a:pPr marL="0" lvl="0" indent="0" algn="l" rtl="0">
              <a:spcBef>
                <a:spcPts val="0"/>
              </a:spcBef>
              <a:spcAft>
                <a:spcPts val="0"/>
              </a:spcAft>
              <a:buNone/>
              <a:defRPr/>
            </a:pP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4. Install</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RUN npm install</a:t>
            </a:r>
            <a:endParaRPr sz="1200">
              <a:solidFill>
                <a:srgbClr val="A3E635"/>
              </a:solidFill>
              <a:latin typeface="Consolas"/>
              <a:ea typeface="Consolas"/>
              <a:cs typeface="Consolas"/>
            </a:endParaRPr>
          </a:p>
          <a:p>
            <a:pPr marL="0" lvl="0" indent="0" algn="l" rtl="0">
              <a:spcBef>
                <a:spcPts val="0"/>
              </a:spcBef>
              <a:spcAft>
                <a:spcPts val="0"/>
              </a:spcAft>
              <a:buNone/>
              <a:defRPr/>
            </a:pP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5. Copy code</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COPY . .</a:t>
            </a:r>
            <a:endParaRPr sz="1200">
              <a:solidFill>
                <a:srgbClr val="A3E635"/>
              </a:solidFill>
              <a:latin typeface="Consolas"/>
              <a:ea typeface="Consolas"/>
              <a:cs typeface="Consolas"/>
            </a:endParaRPr>
          </a:p>
          <a:p>
            <a:pPr marL="0" lvl="0" indent="0" algn="l" rtl="0">
              <a:spcBef>
                <a:spcPts val="0"/>
              </a:spcBef>
              <a:spcAft>
                <a:spcPts val="0"/>
              </a:spcAft>
              <a:buNone/>
              <a:defRPr/>
            </a:pP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6. Run</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CMD ["npm", "start"]</a:t>
            </a:r>
            <a:endParaRPr sz="1200">
              <a:solidFill>
                <a:srgbClr val="A3E635"/>
              </a:solidFill>
              <a:latin typeface="Consolas"/>
              <a:ea typeface="Consolas"/>
              <a:cs typeface="Consola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1917175508" name="Google Shape;126;p24"/>
          <p:cNvSpPr txBox="1"/>
          <p:nvPr/>
        </p:nvSpPr>
        <p:spPr bwMode="auto">
          <a:xfrm>
            <a:off x="508000" y="1524000"/>
            <a:ext cx="8127900" cy="126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defRPr/>
            </a:pPr>
            <a:r>
              <a:rPr lang="en" sz="4800" b="1">
                <a:solidFill>
                  <a:srgbClr val="38BDF8"/>
                </a:solidFill>
              </a:rPr>
              <a:t>Docker Compose</a:t>
            </a:r>
            <a:endParaRPr sz="4800" b="1">
              <a:solidFill>
                <a:srgbClr val="38BDF8"/>
              </a:solidFill>
            </a:endParaRPr>
          </a:p>
        </p:txBody>
      </p:sp>
      <p:sp>
        <p:nvSpPr>
          <p:cNvPr id="1511263935" name="Google Shape;127;p24"/>
          <p:cNvSpPr txBox="1"/>
          <p:nvPr/>
        </p:nvSpPr>
        <p:spPr bwMode="auto">
          <a:xfrm>
            <a:off x="508000" y="2921000"/>
            <a:ext cx="8127900" cy="126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defRPr/>
            </a:pPr>
            <a:r>
              <a:rPr lang="en" sz="2000">
                <a:solidFill>
                  <a:srgbClr val="CBD5E1"/>
                </a:solidFill>
              </a:rPr>
              <a:t>Orchestrating Multi-Container Applications</a:t>
            </a:r>
            <a:endParaRPr sz="2000">
              <a:solidFill>
                <a:srgbClr val="CBD5E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2003281911" name="Google Shape;132;p25"/>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Introduction to Compose</a:t>
            </a:r>
            <a:endParaRPr sz="3600" b="1">
              <a:solidFill>
                <a:srgbClr val="38BDF8"/>
              </a:solidFill>
            </a:endParaRPr>
          </a:p>
        </p:txBody>
      </p:sp>
      <p:sp>
        <p:nvSpPr>
          <p:cNvPr id="500313013" name="Google Shape;133;p25"/>
          <p:cNvSpPr txBox="1"/>
          <p:nvPr/>
        </p:nvSpPr>
        <p:spPr bwMode="auto">
          <a:xfrm>
            <a:off x="508000" y="1143000"/>
            <a:ext cx="8127900" cy="63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solidFill>
                  <a:srgbClr val="CBD5E1"/>
                </a:solidFill>
              </a:rPr>
              <a:t>Docker Compose allows us to define and run multi-container applications using a single, declarative file: docker-compose.yml</a:t>
            </a:r>
            <a:endParaRPr sz="1600">
              <a:solidFill>
                <a:srgbClr val="CBD5E1"/>
              </a:solidFill>
            </a:endParaRPr>
          </a:p>
          <a:p>
            <a:pPr marL="0" lvl="0" indent="0" algn="l" rtl="0">
              <a:spcBef>
                <a:spcPts val="0"/>
              </a:spcBef>
              <a:spcAft>
                <a:spcPts val="0"/>
              </a:spcAft>
              <a:buNone/>
              <a:defRPr/>
            </a:pPr>
            <a:endParaRPr sz="1600">
              <a:solidFill>
                <a:srgbClr val="CBD5E1"/>
              </a:solidFill>
            </a:endParaRPr>
          </a:p>
          <a:p>
            <a:pPr marL="0" lvl="0" indent="0" algn="l" rtl="0">
              <a:spcBef>
                <a:spcPts val="0"/>
              </a:spcBef>
              <a:spcAft>
                <a:spcPts val="0"/>
              </a:spcAft>
              <a:buNone/>
              <a:defRPr/>
            </a:pPr>
            <a:r>
              <a:rPr lang="en" sz="1600">
                <a:solidFill>
                  <a:srgbClr val="CBD5E1"/>
                </a:solidFill>
              </a:rPr>
              <a:t>Instead of imperatively typing multiple lengthy commands:</a:t>
            </a:r>
            <a:endParaRPr sz="1600">
              <a:solidFill>
                <a:srgbClr val="CBD5E1"/>
              </a:solidFill>
            </a:endParaRPr>
          </a:p>
        </p:txBody>
      </p:sp>
      <p:sp>
        <p:nvSpPr>
          <p:cNvPr id="508084839" name="Google Shape;134;p25"/>
          <p:cNvSpPr/>
          <p:nvPr/>
        </p:nvSpPr>
        <p:spPr bwMode="auto">
          <a:xfrm>
            <a:off x="508000" y="1905000"/>
            <a:ext cx="8127900" cy="2857500"/>
          </a:xfrm>
          <a:prstGeom prst="roundRect">
            <a:avLst>
              <a:gd name="adj" fmla="val 16667"/>
            </a:avLst>
          </a:prstGeom>
          <a:solidFill>
            <a:srgbClr val="020617"/>
          </a:solidFill>
          <a:ln>
            <a:noFill/>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61003746" name="Google Shape;135;p25"/>
          <p:cNvSpPr txBox="1"/>
          <p:nvPr/>
        </p:nvSpPr>
        <p:spPr bwMode="auto">
          <a:xfrm>
            <a:off x="571500" y="1968500"/>
            <a:ext cx="8001000" cy="273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200">
                <a:solidFill>
                  <a:srgbClr val="A3E635"/>
                </a:solidFill>
                <a:latin typeface="Consolas"/>
                <a:ea typeface="Consolas"/>
                <a:cs typeface="Consolas"/>
              </a:rPr>
              <a:t>$ docker run -d --name db -p 5432:5432 postgres</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docker run -d --name cache -p 6379:6379 redis</a:t>
            </a:r>
            <a:endParaRPr sz="1200">
              <a:solidFill>
                <a:srgbClr val="A3E635"/>
              </a:solidFill>
              <a:latin typeface="Consolas"/>
              <a:ea typeface="Consolas"/>
              <a:cs typeface="Consolas"/>
            </a:endParaRPr>
          </a:p>
          <a:p>
            <a:pPr marL="0" lvl="0" indent="0" algn="l" rtl="0">
              <a:spcBef>
                <a:spcPts val="0"/>
              </a:spcBef>
              <a:spcAft>
                <a:spcPts val="0"/>
              </a:spcAft>
              <a:buNone/>
              <a:defRPr/>
            </a:pP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We simply write a YAML file once and run:</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docker compose up -d</a:t>
            </a:r>
            <a:endParaRPr sz="1200">
              <a:solidFill>
                <a:srgbClr val="A3E635"/>
              </a:solidFill>
              <a:latin typeface="Consolas"/>
              <a:ea typeface="Consolas"/>
              <a:cs typeface="Consola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1110189358" name="Google Shape;140;p26"/>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Anatomy of docker-compose.yml</a:t>
            </a:r>
            <a:endParaRPr sz="3600" b="1">
              <a:solidFill>
                <a:srgbClr val="38BDF8"/>
              </a:solidFill>
            </a:endParaRPr>
          </a:p>
        </p:txBody>
      </p:sp>
      <p:sp>
        <p:nvSpPr>
          <p:cNvPr id="932511051" name="Google Shape;141;p26"/>
          <p:cNvSpPr txBox="1"/>
          <p:nvPr/>
        </p:nvSpPr>
        <p:spPr bwMode="auto">
          <a:xfrm>
            <a:off x="508000" y="1397000"/>
            <a:ext cx="3810000" cy="3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solidFill>
                  <a:srgbClr val="CBD5E1"/>
                </a:solidFill>
              </a:rPr>
              <a:t>The Keys:</a:t>
            </a:r>
            <a:endParaRPr sz="1600">
              <a:solidFill>
                <a:srgbClr val="CBD5E1"/>
              </a:solidFill>
            </a:endParaRPr>
          </a:p>
          <a:p>
            <a:pPr marL="0" lvl="0" indent="0" algn="l" rtl="0">
              <a:spcBef>
                <a:spcPts val="0"/>
              </a:spcBef>
              <a:spcAft>
                <a:spcPts val="0"/>
              </a:spcAft>
              <a:buNone/>
              <a:defRPr/>
            </a:pPr>
            <a:r>
              <a:rPr lang="en" sz="1600">
                <a:solidFill>
                  <a:srgbClr val="CBD5E1"/>
                </a:solidFill>
              </a:rPr>
              <a:t>• services: The root key.</a:t>
            </a:r>
            <a:endParaRPr sz="1600">
              <a:solidFill>
                <a:srgbClr val="CBD5E1"/>
              </a:solidFill>
            </a:endParaRPr>
          </a:p>
          <a:p>
            <a:pPr marL="0" lvl="0" indent="0" algn="l" rtl="0">
              <a:spcBef>
                <a:spcPts val="0"/>
              </a:spcBef>
              <a:spcAft>
                <a:spcPts val="0"/>
              </a:spcAft>
              <a:buNone/>
              <a:defRPr/>
            </a:pPr>
            <a:r>
              <a:rPr lang="en" sz="1600">
                <a:solidFill>
                  <a:srgbClr val="CBD5E1"/>
                </a:solidFill>
              </a:rPr>
              <a:t>• image: Pulls a pre-built image from Docker Hub.</a:t>
            </a:r>
            <a:endParaRPr sz="1600">
              <a:solidFill>
                <a:srgbClr val="CBD5E1"/>
              </a:solidFill>
            </a:endParaRPr>
          </a:p>
          <a:p>
            <a:pPr marL="0" lvl="0" indent="0" algn="l" rtl="0">
              <a:spcBef>
                <a:spcPts val="0"/>
              </a:spcBef>
              <a:spcAft>
                <a:spcPts val="0"/>
              </a:spcAft>
              <a:buNone/>
              <a:defRPr/>
            </a:pPr>
            <a:r>
              <a:rPr lang="en" sz="1600">
                <a:solidFill>
                  <a:srgbClr val="CBD5E1"/>
                </a:solidFill>
              </a:rPr>
              <a:t>• environment: Passes variables to the container.</a:t>
            </a:r>
            <a:endParaRPr sz="1600">
              <a:solidFill>
                <a:srgbClr val="CBD5E1"/>
              </a:solidFill>
            </a:endParaRPr>
          </a:p>
          <a:p>
            <a:pPr marL="0" lvl="0" indent="0" algn="l" rtl="0">
              <a:spcBef>
                <a:spcPts val="0"/>
              </a:spcBef>
              <a:spcAft>
                <a:spcPts val="0"/>
              </a:spcAft>
              <a:buNone/>
              <a:defRPr/>
            </a:pPr>
            <a:r>
              <a:rPr lang="en" sz="1600">
                <a:solidFill>
                  <a:srgbClr val="CBD5E1"/>
                </a:solidFill>
              </a:rPr>
              <a:t>• ports: Maps HostPort:ContainerPort.</a:t>
            </a:r>
            <a:endParaRPr sz="1600">
              <a:solidFill>
                <a:srgbClr val="CBD5E1"/>
              </a:solidFill>
            </a:endParaRPr>
          </a:p>
        </p:txBody>
      </p:sp>
      <p:sp>
        <p:nvSpPr>
          <p:cNvPr id="165204391" name="Google Shape;142;p26"/>
          <p:cNvSpPr/>
          <p:nvPr/>
        </p:nvSpPr>
        <p:spPr bwMode="auto">
          <a:xfrm>
            <a:off x="4445000" y="1397000"/>
            <a:ext cx="4317900" cy="3365400"/>
          </a:xfrm>
          <a:prstGeom prst="roundRect">
            <a:avLst>
              <a:gd name="adj" fmla="val 16667"/>
            </a:avLst>
          </a:prstGeom>
          <a:solidFill>
            <a:srgbClr val="020617"/>
          </a:solidFill>
          <a:ln>
            <a:noFill/>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233405663" name="Google Shape;143;p26"/>
          <p:cNvSpPr txBox="1"/>
          <p:nvPr/>
        </p:nvSpPr>
        <p:spPr bwMode="auto">
          <a:xfrm>
            <a:off x="4508500" y="1460500"/>
            <a:ext cx="4191000" cy="323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200">
                <a:solidFill>
                  <a:srgbClr val="A3E635"/>
                </a:solidFill>
                <a:latin typeface="Consolas"/>
                <a:ea typeface="Consolas"/>
                <a:cs typeface="Consolas"/>
              </a:rPr>
              <a:t>services:</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postgres:</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image: postgres:15</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environment:</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POSTGRES_USER: admin</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ports:</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 "5432:5432"</a:t>
            </a:r>
            <a:endParaRPr sz="1200">
              <a:solidFill>
                <a:srgbClr val="A3E635"/>
              </a:solidFill>
              <a:latin typeface="Consolas"/>
              <a:ea typeface="Consolas"/>
              <a:cs typeface="Consolas"/>
            </a:endParaRPr>
          </a:p>
          <a:p>
            <a:pPr marL="0" lvl="0" indent="0" algn="l" rtl="0">
              <a:spcBef>
                <a:spcPts val="0"/>
              </a:spcBef>
              <a:spcAft>
                <a:spcPts val="0"/>
              </a:spcAft>
              <a:buNone/>
              <a:defRPr/>
            </a:pP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redis:</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image: redis:7</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ports:</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 "6379:6379"</a:t>
            </a:r>
            <a:endParaRPr sz="1200">
              <a:solidFill>
                <a:srgbClr val="A3E635"/>
              </a:solidFill>
              <a:latin typeface="Consolas"/>
              <a:ea typeface="Consolas"/>
              <a:cs typeface="Consola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1469369170" name="Google Shape;148;p27"/>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Managing Environment Variables</a:t>
            </a:r>
            <a:endParaRPr sz="3600" b="1">
              <a:solidFill>
                <a:srgbClr val="38BDF8"/>
              </a:solidFill>
            </a:endParaRPr>
          </a:p>
        </p:txBody>
      </p:sp>
      <p:sp>
        <p:nvSpPr>
          <p:cNvPr id="967638394" name="Google Shape;149;p27"/>
          <p:cNvSpPr txBox="1"/>
          <p:nvPr/>
        </p:nvSpPr>
        <p:spPr bwMode="auto">
          <a:xfrm>
            <a:off x="508000" y="1397000"/>
            <a:ext cx="3936900" cy="3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solidFill>
                  <a:srgbClr val="CBD5E1"/>
                </a:solidFill>
              </a:rPr>
              <a:t>Method 1: Hardcoding (Dev)</a:t>
            </a:r>
            <a:endParaRPr sz="1600">
              <a:solidFill>
                <a:srgbClr val="CBD5E1"/>
              </a:solidFill>
            </a:endParaRPr>
          </a:p>
          <a:p>
            <a:pPr marL="0" lvl="0" indent="0" algn="l" rtl="0">
              <a:spcBef>
                <a:spcPts val="0"/>
              </a:spcBef>
              <a:spcAft>
                <a:spcPts val="0"/>
              </a:spcAft>
              <a:buNone/>
              <a:defRPr/>
            </a:pPr>
            <a:r>
              <a:rPr lang="en" sz="1600">
                <a:solidFill>
                  <a:srgbClr val="CBD5E1"/>
                </a:solidFill>
              </a:rPr>
              <a:t>Good for quick local labs, but bad for security if committed to version control.</a:t>
            </a:r>
            <a:endParaRPr sz="1600">
              <a:solidFill>
                <a:srgbClr val="CBD5E1"/>
              </a:solidFill>
            </a:endParaRPr>
          </a:p>
          <a:p>
            <a:pPr marL="0" lvl="0" indent="0" algn="l" rtl="0">
              <a:spcBef>
                <a:spcPts val="0"/>
              </a:spcBef>
              <a:spcAft>
                <a:spcPts val="0"/>
              </a:spcAft>
              <a:buNone/>
              <a:defRPr/>
            </a:pPr>
            <a:endParaRPr sz="1600">
              <a:solidFill>
                <a:srgbClr val="CBD5E1"/>
              </a:solidFill>
            </a:endParaRPr>
          </a:p>
          <a:p>
            <a:pPr marL="0" lvl="0" indent="0" algn="l" rtl="0">
              <a:spcBef>
                <a:spcPts val="0"/>
              </a:spcBef>
              <a:spcAft>
                <a:spcPts val="0"/>
              </a:spcAft>
              <a:buNone/>
              <a:defRPr/>
            </a:pPr>
            <a:r>
              <a:rPr lang="en" sz="1600">
                <a:solidFill>
                  <a:srgbClr val="CBD5E1"/>
                </a:solidFill>
              </a:rPr>
              <a:t>services:</a:t>
            </a:r>
            <a:endParaRPr sz="1600">
              <a:solidFill>
                <a:srgbClr val="CBD5E1"/>
              </a:solidFill>
            </a:endParaRPr>
          </a:p>
          <a:p>
            <a:pPr marL="0" lvl="0" indent="0" algn="l" rtl="0">
              <a:spcBef>
                <a:spcPts val="0"/>
              </a:spcBef>
              <a:spcAft>
                <a:spcPts val="0"/>
              </a:spcAft>
              <a:buNone/>
              <a:defRPr/>
            </a:pPr>
            <a:r>
              <a:rPr lang="en" sz="1600">
                <a:solidFill>
                  <a:srgbClr val="CBD5E1"/>
                </a:solidFill>
              </a:rPr>
              <a:t>  postgres:</a:t>
            </a:r>
            <a:endParaRPr sz="1600">
              <a:solidFill>
                <a:srgbClr val="CBD5E1"/>
              </a:solidFill>
            </a:endParaRPr>
          </a:p>
          <a:p>
            <a:pPr marL="0" lvl="0" indent="0" algn="l" rtl="0">
              <a:spcBef>
                <a:spcPts val="0"/>
              </a:spcBef>
              <a:spcAft>
                <a:spcPts val="0"/>
              </a:spcAft>
              <a:buNone/>
              <a:defRPr/>
            </a:pPr>
            <a:r>
              <a:rPr lang="en" sz="1600">
                <a:solidFill>
                  <a:srgbClr val="CBD5E1"/>
                </a:solidFill>
              </a:rPr>
              <a:t>    image: postgres:15</a:t>
            </a:r>
            <a:endParaRPr sz="1600">
              <a:solidFill>
                <a:srgbClr val="CBD5E1"/>
              </a:solidFill>
            </a:endParaRPr>
          </a:p>
          <a:p>
            <a:pPr marL="0" lvl="0" indent="0" algn="l" rtl="0">
              <a:spcBef>
                <a:spcPts val="0"/>
              </a:spcBef>
              <a:spcAft>
                <a:spcPts val="0"/>
              </a:spcAft>
              <a:buNone/>
              <a:defRPr/>
            </a:pPr>
            <a:r>
              <a:rPr lang="en" sz="1600">
                <a:solidFill>
                  <a:srgbClr val="CBD5E1"/>
                </a:solidFill>
              </a:rPr>
              <a:t>    environment:</a:t>
            </a:r>
            <a:endParaRPr sz="1600">
              <a:solidFill>
                <a:srgbClr val="CBD5E1"/>
              </a:solidFill>
            </a:endParaRPr>
          </a:p>
          <a:p>
            <a:pPr marL="0" lvl="0" indent="0" algn="l" rtl="0">
              <a:spcBef>
                <a:spcPts val="0"/>
              </a:spcBef>
              <a:spcAft>
                <a:spcPts val="0"/>
              </a:spcAft>
              <a:buNone/>
              <a:defRPr/>
            </a:pPr>
            <a:r>
              <a:rPr lang="en" sz="1600">
                <a:solidFill>
                  <a:srgbClr val="CBD5E1"/>
                </a:solidFill>
              </a:rPr>
              <a:t>      POSTGRES_USER: admin</a:t>
            </a:r>
            <a:endParaRPr sz="1600">
              <a:solidFill>
                <a:srgbClr val="CBD5E1"/>
              </a:solidFill>
            </a:endParaRPr>
          </a:p>
          <a:p>
            <a:pPr marL="0" lvl="0" indent="0" algn="l" rtl="0">
              <a:spcBef>
                <a:spcPts val="0"/>
              </a:spcBef>
              <a:spcAft>
                <a:spcPts val="0"/>
              </a:spcAft>
              <a:buNone/>
              <a:defRPr/>
            </a:pPr>
            <a:r>
              <a:rPr lang="en" sz="1600">
                <a:solidFill>
                  <a:srgbClr val="CBD5E1"/>
                </a:solidFill>
              </a:rPr>
              <a:t>      POSTGRES_PASSWORD: secret</a:t>
            </a:r>
            <a:endParaRPr sz="1600">
              <a:solidFill>
                <a:srgbClr val="CBD5E1"/>
              </a:solidFill>
            </a:endParaRPr>
          </a:p>
        </p:txBody>
      </p:sp>
      <p:sp>
        <p:nvSpPr>
          <p:cNvPr id="1621763262" name="Google Shape;150;p27"/>
          <p:cNvSpPr txBox="1"/>
          <p:nvPr/>
        </p:nvSpPr>
        <p:spPr bwMode="auto">
          <a:xfrm>
            <a:off x="4699000" y="1397000"/>
            <a:ext cx="3936900" cy="3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solidFill>
                  <a:srgbClr val="CBD5E1"/>
                </a:solidFill>
              </a:rPr>
              <a:t>Method 2: env_file (Production)</a:t>
            </a:r>
            <a:endParaRPr sz="1600">
              <a:solidFill>
                <a:srgbClr val="CBD5E1"/>
              </a:solidFill>
            </a:endParaRPr>
          </a:p>
          <a:p>
            <a:pPr marL="0" lvl="0" indent="0" algn="l" rtl="0">
              <a:spcBef>
                <a:spcPts val="0"/>
              </a:spcBef>
              <a:spcAft>
                <a:spcPts val="0"/>
              </a:spcAft>
              <a:buNone/>
              <a:defRPr/>
            </a:pPr>
            <a:r>
              <a:rPr lang="en" sz="1600">
                <a:solidFill>
                  <a:srgbClr val="CBD5E1"/>
                </a:solidFill>
              </a:rPr>
              <a:t>The industry best practice. Store secrets in a separate .env file that is ignored by Git.</a:t>
            </a:r>
            <a:endParaRPr sz="1600">
              <a:solidFill>
                <a:srgbClr val="CBD5E1"/>
              </a:solidFill>
            </a:endParaRPr>
          </a:p>
          <a:p>
            <a:pPr marL="0" lvl="0" indent="0" algn="l" rtl="0">
              <a:spcBef>
                <a:spcPts val="0"/>
              </a:spcBef>
              <a:spcAft>
                <a:spcPts val="0"/>
              </a:spcAft>
              <a:buNone/>
              <a:defRPr/>
            </a:pPr>
            <a:endParaRPr sz="1600">
              <a:solidFill>
                <a:srgbClr val="CBD5E1"/>
              </a:solidFill>
            </a:endParaRPr>
          </a:p>
          <a:p>
            <a:pPr marL="0" lvl="0" indent="0" algn="l" rtl="0">
              <a:spcBef>
                <a:spcPts val="0"/>
              </a:spcBef>
              <a:spcAft>
                <a:spcPts val="0"/>
              </a:spcAft>
              <a:buNone/>
              <a:defRPr/>
            </a:pPr>
            <a:r>
              <a:rPr lang="en" sz="1600">
                <a:solidFill>
                  <a:srgbClr val="CBD5E1"/>
                </a:solidFill>
              </a:rPr>
              <a:t>services:</a:t>
            </a:r>
            <a:endParaRPr sz="1600">
              <a:solidFill>
                <a:srgbClr val="CBD5E1"/>
              </a:solidFill>
            </a:endParaRPr>
          </a:p>
          <a:p>
            <a:pPr marL="0" lvl="0" indent="0" algn="l" rtl="0">
              <a:spcBef>
                <a:spcPts val="0"/>
              </a:spcBef>
              <a:spcAft>
                <a:spcPts val="0"/>
              </a:spcAft>
              <a:buNone/>
              <a:defRPr/>
            </a:pPr>
            <a:r>
              <a:rPr lang="en" sz="1600">
                <a:solidFill>
                  <a:srgbClr val="CBD5E1"/>
                </a:solidFill>
              </a:rPr>
              <a:t>  postgres:</a:t>
            </a:r>
            <a:endParaRPr sz="1600">
              <a:solidFill>
                <a:srgbClr val="CBD5E1"/>
              </a:solidFill>
            </a:endParaRPr>
          </a:p>
          <a:p>
            <a:pPr marL="0" lvl="0" indent="0" algn="l" rtl="0">
              <a:spcBef>
                <a:spcPts val="0"/>
              </a:spcBef>
              <a:spcAft>
                <a:spcPts val="0"/>
              </a:spcAft>
              <a:buNone/>
              <a:defRPr/>
            </a:pPr>
            <a:r>
              <a:rPr lang="en" sz="1600">
                <a:solidFill>
                  <a:srgbClr val="CBD5E1"/>
                </a:solidFill>
              </a:rPr>
              <a:t>    image: postgres:15</a:t>
            </a:r>
            <a:endParaRPr sz="1600">
              <a:solidFill>
                <a:srgbClr val="CBD5E1"/>
              </a:solidFill>
            </a:endParaRPr>
          </a:p>
          <a:p>
            <a:pPr marL="0" lvl="0" indent="0" algn="l" rtl="0">
              <a:spcBef>
                <a:spcPts val="0"/>
              </a:spcBef>
              <a:spcAft>
                <a:spcPts val="0"/>
              </a:spcAft>
              <a:buNone/>
              <a:defRPr/>
            </a:pPr>
            <a:r>
              <a:rPr lang="en" sz="1600">
                <a:solidFill>
                  <a:srgbClr val="CBD5E1"/>
                </a:solidFill>
              </a:rPr>
              <a:t>    env_file:</a:t>
            </a:r>
            <a:endParaRPr sz="1600">
              <a:solidFill>
                <a:srgbClr val="CBD5E1"/>
              </a:solidFill>
            </a:endParaRPr>
          </a:p>
          <a:p>
            <a:pPr marL="0" lvl="0" indent="0" algn="l" rtl="0">
              <a:spcBef>
                <a:spcPts val="0"/>
              </a:spcBef>
              <a:spcAft>
                <a:spcPts val="0"/>
              </a:spcAft>
              <a:buNone/>
              <a:defRPr/>
            </a:pPr>
            <a:r>
              <a:rPr lang="en" sz="1600">
                <a:solidFill>
                  <a:srgbClr val="CBD5E1"/>
                </a:solidFill>
              </a:rPr>
              <a:t>      - .env</a:t>
            </a:r>
            <a:endParaRPr sz="1600">
              <a:solidFill>
                <a:srgbClr val="CBD5E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824002366" name="Google Shape;155;p28"/>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Compose Networking</a:t>
            </a:r>
            <a:endParaRPr sz="3600" b="1">
              <a:solidFill>
                <a:srgbClr val="38BDF8"/>
              </a:solidFill>
            </a:endParaRPr>
          </a:p>
        </p:txBody>
      </p:sp>
      <p:sp>
        <p:nvSpPr>
          <p:cNvPr id="1894695185" name="Google Shape;156;p28"/>
          <p:cNvSpPr txBox="1"/>
          <p:nvPr/>
        </p:nvSpPr>
        <p:spPr bwMode="auto">
          <a:xfrm>
            <a:off x="508000" y="1143000"/>
            <a:ext cx="8127900" cy="63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solidFill>
                  <a:srgbClr val="CBD5E1"/>
                </a:solidFill>
              </a:rPr>
              <a:t>How do containers talk to each other without static IPs? Compose creates a Default Bridge network. Containers discover each other using their service names as hostnames.</a:t>
            </a:r>
            <a:endParaRPr sz="1600">
              <a:solidFill>
                <a:srgbClr val="CBD5E1"/>
              </a:solidFill>
            </a:endParaRPr>
          </a:p>
        </p:txBody>
      </p:sp>
      <p:sp>
        <p:nvSpPr>
          <p:cNvPr id="1134959058" name="Google Shape;157;p28"/>
          <p:cNvSpPr/>
          <p:nvPr/>
        </p:nvSpPr>
        <p:spPr bwMode="auto">
          <a:xfrm>
            <a:off x="507999" y="2005263"/>
            <a:ext cx="8127900" cy="2857500"/>
          </a:xfrm>
          <a:prstGeom prst="roundRect">
            <a:avLst>
              <a:gd name="adj" fmla="val 16667"/>
            </a:avLst>
          </a:prstGeom>
          <a:solidFill>
            <a:srgbClr val="020617"/>
          </a:solidFill>
          <a:ln>
            <a:noFill/>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1345042318" name="Google Shape;158;p28"/>
          <p:cNvSpPr txBox="1"/>
          <p:nvPr/>
        </p:nvSpPr>
        <p:spPr bwMode="auto">
          <a:xfrm>
            <a:off x="571500" y="2068763"/>
            <a:ext cx="8001000" cy="273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200">
                <a:solidFill>
                  <a:srgbClr val="A3E635"/>
                </a:solidFill>
                <a:latin typeface="Consolas"/>
                <a:ea typeface="Consolas"/>
                <a:cs typeface="Consolas"/>
              </a:rPr>
              <a:t>services:</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api:</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image: my-node-app</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networks:</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 backend-net</a:t>
            </a:r>
            <a:endParaRPr sz="1200">
              <a:solidFill>
                <a:srgbClr val="A3E635"/>
              </a:solidFill>
              <a:latin typeface="Consolas"/>
              <a:ea typeface="Consolas"/>
              <a:cs typeface="Consolas"/>
            </a:endParaRPr>
          </a:p>
          <a:p>
            <a:pPr marL="0" lvl="0" indent="0" algn="l" rtl="0">
              <a:spcBef>
                <a:spcPts val="0"/>
              </a:spcBef>
              <a:spcAft>
                <a:spcPts val="0"/>
              </a:spcAft>
              <a:buNone/>
              <a:defRPr/>
            </a:pP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networks:</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backend-net:</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driver: bridge</a:t>
            </a:r>
            <a:endParaRPr sz="1200">
              <a:solidFill>
                <a:srgbClr val="A3E635"/>
              </a:solidFill>
              <a:latin typeface="Consolas"/>
              <a:ea typeface="Consolas"/>
              <a:cs typeface="Consola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1780604188" name="Google Shape;163;p29"/>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Docker Clean Slate Commands</a:t>
            </a:r>
            <a:endParaRPr sz="3600" b="1">
              <a:solidFill>
                <a:srgbClr val="38BDF8"/>
              </a:solidFill>
            </a:endParaRPr>
          </a:p>
        </p:txBody>
      </p:sp>
      <p:sp>
        <p:nvSpPr>
          <p:cNvPr id="887282322" name="Google Shape;164;p29"/>
          <p:cNvSpPr txBox="1"/>
          <p:nvPr/>
        </p:nvSpPr>
        <p:spPr bwMode="auto">
          <a:xfrm>
            <a:off x="508000" y="1143000"/>
            <a:ext cx="8127900" cy="63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solidFill>
                  <a:srgbClr val="CBD5E1"/>
                </a:solidFill>
              </a:rPr>
              <a:t>Sometimes things break, ports are stuck, or you run out of disk space. Here is how to aggressively reset your Docker environment.</a:t>
            </a:r>
            <a:endParaRPr sz="1600">
              <a:solidFill>
                <a:srgbClr val="CBD5E1"/>
              </a:solidFill>
            </a:endParaRPr>
          </a:p>
        </p:txBody>
      </p:sp>
      <p:sp>
        <p:nvSpPr>
          <p:cNvPr id="1756962136" name="Google Shape;165;p29"/>
          <p:cNvSpPr/>
          <p:nvPr/>
        </p:nvSpPr>
        <p:spPr bwMode="auto">
          <a:xfrm>
            <a:off x="508000" y="1905000"/>
            <a:ext cx="8127900" cy="2857500"/>
          </a:xfrm>
          <a:prstGeom prst="roundRect">
            <a:avLst>
              <a:gd name="adj" fmla="val 16667"/>
            </a:avLst>
          </a:prstGeom>
          <a:solidFill>
            <a:srgbClr val="020617"/>
          </a:solidFill>
          <a:ln>
            <a:noFill/>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1647783089" name="Google Shape;166;p29"/>
          <p:cNvSpPr txBox="1"/>
          <p:nvPr/>
        </p:nvSpPr>
        <p:spPr bwMode="auto">
          <a:xfrm>
            <a:off x="571500" y="1968500"/>
            <a:ext cx="8001000" cy="273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200">
                <a:solidFill>
                  <a:srgbClr val="A3E635"/>
                </a:solidFill>
                <a:latin typeface="Consolas"/>
                <a:ea typeface="Consolas"/>
                <a:cs typeface="Consolas"/>
              </a:rPr>
              <a:t># Stop &amp; Remove Compose Stack</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docker compose down -v</a:t>
            </a:r>
            <a:endParaRPr sz="1200">
              <a:solidFill>
                <a:srgbClr val="A3E635"/>
              </a:solidFill>
              <a:latin typeface="Consolas"/>
              <a:ea typeface="Consolas"/>
              <a:cs typeface="Consolas"/>
            </a:endParaRPr>
          </a:p>
          <a:p>
            <a:pPr marL="0" lvl="0" indent="0" algn="l" rtl="0">
              <a:spcBef>
                <a:spcPts val="0"/>
              </a:spcBef>
              <a:spcAft>
                <a:spcPts val="0"/>
              </a:spcAft>
              <a:buNone/>
              <a:defRPr/>
            </a:pP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Remove unused networks</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docker network prune</a:t>
            </a:r>
            <a:endParaRPr sz="1200">
              <a:solidFill>
                <a:srgbClr val="A3E635"/>
              </a:solidFill>
              <a:latin typeface="Consolas"/>
              <a:ea typeface="Consolas"/>
              <a:cs typeface="Consolas"/>
            </a:endParaRPr>
          </a:p>
          <a:p>
            <a:pPr marL="0" lvl="0" indent="0" algn="l" rtl="0">
              <a:spcBef>
                <a:spcPts val="0"/>
              </a:spcBef>
              <a:spcAft>
                <a:spcPts val="0"/>
              </a:spcAft>
              <a:buNone/>
              <a:defRPr/>
            </a:pP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THE NUCLEAR OPTION: Removes all stopped containers &amp; images</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docker system prune -a --volumes</a:t>
            </a:r>
            <a:endParaRPr sz="1200">
              <a:solidFill>
                <a:srgbClr val="A3E635"/>
              </a:solidFill>
              <a:latin typeface="Consolas"/>
              <a:ea typeface="Consolas"/>
              <a:cs typeface="Consola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1888361038" name="Google Shape;171;p30"/>
          <p:cNvSpPr txBox="1"/>
          <p:nvPr/>
        </p:nvSpPr>
        <p:spPr bwMode="auto">
          <a:xfrm>
            <a:off x="508000" y="1524000"/>
            <a:ext cx="8127900" cy="126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defRPr/>
            </a:pPr>
            <a:r>
              <a:rPr lang="en" sz="4800" b="1">
                <a:solidFill>
                  <a:srgbClr val="38BDF8"/>
                </a:solidFill>
              </a:rPr>
              <a:t>Hour 2: In-Memory Key-Value</a:t>
            </a:r>
            <a:endParaRPr sz="4800" b="1">
              <a:solidFill>
                <a:srgbClr val="38BDF8"/>
              </a:solidFill>
            </a:endParaRPr>
          </a:p>
        </p:txBody>
      </p:sp>
      <p:sp>
        <p:nvSpPr>
          <p:cNvPr id="97688681" name="Google Shape;172;p30"/>
          <p:cNvSpPr txBox="1"/>
          <p:nvPr/>
        </p:nvSpPr>
        <p:spPr bwMode="auto">
          <a:xfrm>
            <a:off x="508000" y="2921000"/>
            <a:ext cx="8127900" cy="126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defRPr/>
            </a:pPr>
            <a:r>
              <a:rPr lang="en" sz="2000">
                <a:solidFill>
                  <a:srgbClr val="CBD5E1"/>
                </a:solidFill>
              </a:rPr>
              <a:t>Entering the World of Redis &amp; NoSQL</a:t>
            </a:r>
            <a:endParaRPr sz="2000">
              <a:solidFill>
                <a:srgbClr val="CBD5E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1289228179" name="Google Shape;177;p31"/>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Introduction to NoSQL</a:t>
            </a:r>
            <a:endParaRPr sz="3600" b="1">
              <a:solidFill>
                <a:srgbClr val="38BDF8"/>
              </a:solidFill>
            </a:endParaRPr>
          </a:p>
        </p:txBody>
      </p:sp>
      <p:sp>
        <p:nvSpPr>
          <p:cNvPr id="969721489" name="Google Shape;178;p31"/>
          <p:cNvSpPr txBox="1"/>
          <p:nvPr/>
        </p:nvSpPr>
        <p:spPr bwMode="auto">
          <a:xfrm>
            <a:off x="508000" y="1397000"/>
            <a:ext cx="3936900" cy="3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solidFill>
                  <a:srgbClr val="CBD5E1"/>
                </a:solidFill>
              </a:rPr>
              <a:t>Why NoSQL?</a:t>
            </a:r>
            <a:endParaRPr sz="1600">
              <a:solidFill>
                <a:srgbClr val="CBD5E1"/>
              </a:solidFill>
            </a:endParaRPr>
          </a:p>
          <a:p>
            <a:pPr marL="0" lvl="0" indent="0" algn="l" rtl="0">
              <a:spcBef>
                <a:spcPts val="0"/>
              </a:spcBef>
              <a:spcAft>
                <a:spcPts val="0"/>
              </a:spcAft>
              <a:buNone/>
              <a:defRPr/>
            </a:pPr>
            <a:r>
              <a:rPr lang="en" sz="1600">
                <a:solidFill>
                  <a:srgbClr val="CBD5E1"/>
                </a:solidFill>
              </a:rPr>
              <a:t>Relational databases (SQL) are rigid. They require predefined schemas and struggle to scale horizontally across multiple physical servers.</a:t>
            </a:r>
            <a:endParaRPr sz="1600">
              <a:solidFill>
                <a:srgbClr val="CBD5E1"/>
              </a:solidFill>
            </a:endParaRPr>
          </a:p>
          <a:p>
            <a:pPr marL="0" lvl="0" indent="0" algn="l" rtl="0">
              <a:spcBef>
                <a:spcPts val="0"/>
              </a:spcBef>
              <a:spcAft>
                <a:spcPts val="0"/>
              </a:spcAft>
              <a:buNone/>
              <a:defRPr/>
            </a:pPr>
            <a:endParaRPr sz="1600">
              <a:solidFill>
                <a:srgbClr val="CBD5E1"/>
              </a:solidFill>
            </a:endParaRPr>
          </a:p>
          <a:p>
            <a:pPr marL="0" lvl="0" indent="0" algn="l" rtl="0">
              <a:spcBef>
                <a:spcPts val="0"/>
              </a:spcBef>
              <a:spcAft>
                <a:spcPts val="0"/>
              </a:spcAft>
              <a:buNone/>
              <a:defRPr/>
            </a:pPr>
            <a:r>
              <a:rPr lang="en" sz="1600">
                <a:solidFill>
                  <a:srgbClr val="CBD5E1"/>
                </a:solidFill>
              </a:rPr>
              <a:t>NoSQL emerged to handle massive, unstructured datasets and extreme traffic loads.</a:t>
            </a:r>
            <a:endParaRPr sz="1600">
              <a:solidFill>
                <a:srgbClr val="CBD5E1"/>
              </a:solidFill>
            </a:endParaRPr>
          </a:p>
        </p:txBody>
      </p:sp>
      <p:sp>
        <p:nvSpPr>
          <p:cNvPr id="1176248803" name="Google Shape;179;p31"/>
          <p:cNvSpPr txBox="1"/>
          <p:nvPr/>
        </p:nvSpPr>
        <p:spPr bwMode="auto">
          <a:xfrm>
            <a:off x="4699000" y="1397000"/>
            <a:ext cx="3936900" cy="3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solidFill>
                  <a:srgbClr val="CBD5E1"/>
                </a:solidFill>
              </a:rPr>
              <a:t>Families of NoSQL</a:t>
            </a:r>
            <a:endParaRPr sz="1600">
              <a:solidFill>
                <a:srgbClr val="CBD5E1"/>
              </a:solidFill>
            </a:endParaRPr>
          </a:p>
          <a:p>
            <a:pPr marL="0" lvl="0" indent="0" algn="l" rtl="0">
              <a:spcBef>
                <a:spcPts val="0"/>
              </a:spcBef>
              <a:spcAft>
                <a:spcPts val="0"/>
              </a:spcAft>
              <a:buNone/>
              <a:defRPr/>
            </a:pPr>
            <a:endParaRPr sz="1600">
              <a:solidFill>
                <a:srgbClr val="CBD5E1"/>
              </a:solidFill>
            </a:endParaRPr>
          </a:p>
          <a:p>
            <a:pPr marL="0" lvl="0" indent="0" algn="l" rtl="0">
              <a:spcBef>
                <a:spcPts val="0"/>
              </a:spcBef>
              <a:spcAft>
                <a:spcPts val="0"/>
              </a:spcAft>
              <a:buNone/>
              <a:defRPr/>
            </a:pPr>
            <a:r>
              <a:rPr lang="en" sz="1600">
                <a:solidFill>
                  <a:srgbClr val="CBD5E1"/>
                </a:solidFill>
              </a:rPr>
              <a:t>• Document Stores: MongoDB</a:t>
            </a:r>
            <a:endParaRPr sz="1600">
              <a:solidFill>
                <a:srgbClr val="CBD5E1"/>
              </a:solidFill>
            </a:endParaRPr>
          </a:p>
          <a:p>
            <a:pPr marL="0" lvl="0" indent="0" algn="l" rtl="0">
              <a:spcBef>
                <a:spcPts val="0"/>
              </a:spcBef>
              <a:spcAft>
                <a:spcPts val="0"/>
              </a:spcAft>
              <a:buNone/>
              <a:defRPr/>
            </a:pPr>
            <a:r>
              <a:rPr lang="en" sz="1600">
                <a:solidFill>
                  <a:srgbClr val="CBD5E1"/>
                </a:solidFill>
              </a:rPr>
              <a:t>• Column-Family: Cassandra</a:t>
            </a:r>
            <a:endParaRPr sz="1600">
              <a:solidFill>
                <a:srgbClr val="CBD5E1"/>
              </a:solidFill>
            </a:endParaRPr>
          </a:p>
          <a:p>
            <a:pPr marL="0" lvl="0" indent="0" algn="l" rtl="0">
              <a:spcBef>
                <a:spcPts val="0"/>
              </a:spcBef>
              <a:spcAft>
                <a:spcPts val="0"/>
              </a:spcAft>
              <a:buNone/>
              <a:defRPr/>
            </a:pPr>
            <a:r>
              <a:rPr lang="en" sz="1600">
                <a:solidFill>
                  <a:srgbClr val="CBD5E1"/>
                </a:solidFill>
              </a:rPr>
              <a:t>• Graph Databases: Neo4j</a:t>
            </a:r>
            <a:endParaRPr sz="1600">
              <a:solidFill>
                <a:srgbClr val="CBD5E1"/>
              </a:solidFill>
            </a:endParaRPr>
          </a:p>
          <a:p>
            <a:pPr marL="0" lvl="0" indent="0" algn="l" rtl="0">
              <a:spcBef>
                <a:spcPts val="0"/>
              </a:spcBef>
              <a:spcAft>
                <a:spcPts val="0"/>
              </a:spcAft>
              <a:buNone/>
              <a:defRPr/>
            </a:pPr>
            <a:r>
              <a:rPr lang="en" sz="1600">
                <a:solidFill>
                  <a:srgbClr val="CBD5E1"/>
                </a:solidFill>
              </a:rPr>
              <a:t>• Key-Value Stores: Redis, DynamoDB</a:t>
            </a:r>
            <a:endParaRPr sz="1600">
              <a:solidFill>
                <a:srgbClr val="CBD5E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988465636" name="Google Shape;184;p32"/>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The Key-Value Store Concept</a:t>
            </a:r>
            <a:endParaRPr sz="3600" b="1">
              <a:solidFill>
                <a:srgbClr val="38BDF8"/>
              </a:solidFill>
            </a:endParaRPr>
          </a:p>
        </p:txBody>
      </p:sp>
      <p:sp>
        <p:nvSpPr>
          <p:cNvPr id="136496784" name="Google Shape;185;p32"/>
          <p:cNvSpPr txBox="1"/>
          <p:nvPr/>
        </p:nvSpPr>
        <p:spPr bwMode="auto">
          <a:xfrm>
            <a:off x="508000" y="1397000"/>
            <a:ext cx="8127900" cy="3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800">
                <a:solidFill>
                  <a:srgbClr val="CBD5E1"/>
                </a:solidFill>
              </a:rPr>
              <a:t>Functions identically to a Dictionary in Python or a HashMap in Java. Data is stored as pairs, mapping a unique key to a value.</a:t>
            </a:r>
            <a:endParaRPr sz="1800">
              <a:solidFill>
                <a:srgbClr val="CBD5E1"/>
              </a:solidFill>
            </a:endParaRPr>
          </a:p>
          <a:p>
            <a:pPr marL="0" lvl="0" indent="0" algn="l" rtl="0">
              <a:spcBef>
                <a:spcPts val="0"/>
              </a:spcBef>
              <a:spcAft>
                <a:spcPts val="0"/>
              </a:spcAft>
              <a:buNone/>
              <a:defRPr/>
            </a:pPr>
            <a:endParaRPr sz="1800">
              <a:solidFill>
                <a:srgbClr val="CBD5E1"/>
              </a:solidFill>
            </a:endParaRPr>
          </a:p>
          <a:p>
            <a:pPr marL="0" lvl="0" indent="0" algn="l" rtl="0">
              <a:spcBef>
                <a:spcPts val="0"/>
              </a:spcBef>
              <a:spcAft>
                <a:spcPts val="0"/>
              </a:spcAft>
              <a:buNone/>
              <a:defRPr/>
            </a:pPr>
            <a:r>
              <a:rPr lang="en" sz="1800">
                <a:solidFill>
                  <a:srgbClr val="CBD5E1"/>
                </a:solidFill>
              </a:rPr>
              <a:t>Time Complexity = O(1)</a:t>
            </a:r>
            <a:endParaRPr sz="1800">
              <a:solidFill>
                <a:srgbClr val="CBD5E1"/>
              </a:solidFill>
            </a:endParaRPr>
          </a:p>
          <a:p>
            <a:pPr marL="0" lvl="0" indent="0" algn="l" rtl="0">
              <a:spcBef>
                <a:spcPts val="0"/>
              </a:spcBef>
              <a:spcAft>
                <a:spcPts val="0"/>
              </a:spcAft>
              <a:buNone/>
              <a:defRPr/>
            </a:pPr>
            <a:endParaRPr sz="1800">
              <a:solidFill>
                <a:srgbClr val="CBD5E1"/>
              </a:solidFill>
            </a:endParaRPr>
          </a:p>
          <a:p>
            <a:pPr marL="0" lvl="0" indent="0" algn="l" rtl="0">
              <a:spcBef>
                <a:spcPts val="0"/>
              </a:spcBef>
              <a:spcAft>
                <a:spcPts val="0"/>
              </a:spcAft>
              <a:buNone/>
              <a:defRPr/>
            </a:pPr>
            <a:r>
              <a:rPr lang="en" sz="1800">
                <a:solidFill>
                  <a:srgbClr val="CBD5E1"/>
                </a:solidFill>
              </a:rPr>
              <a:t>Constant Time Lookup:</a:t>
            </a:r>
            <a:endParaRPr sz="1800">
              <a:solidFill>
                <a:srgbClr val="CBD5E1"/>
              </a:solidFill>
            </a:endParaRPr>
          </a:p>
          <a:p>
            <a:pPr marL="0" lvl="0" indent="0" algn="l" rtl="0">
              <a:spcBef>
                <a:spcPts val="0"/>
              </a:spcBef>
              <a:spcAft>
                <a:spcPts val="0"/>
              </a:spcAft>
              <a:buNone/>
              <a:defRPr/>
            </a:pPr>
            <a:r>
              <a:rPr lang="en" sz="1800">
                <a:solidFill>
                  <a:srgbClr val="CBD5E1"/>
                </a:solidFill>
              </a:rPr>
              <a:t>Fetching data via an exact key is instantaneous, whether the database has ten records or ten billion records.</a:t>
            </a:r>
            <a:endParaRPr sz="1800">
              <a:solidFill>
                <a:srgbClr val="CBD5E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967478947" name="Google Shape;190;p33"/>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What is Redis?</a:t>
            </a:r>
            <a:endParaRPr sz="3600" b="1">
              <a:solidFill>
                <a:srgbClr val="38BDF8"/>
              </a:solidFill>
            </a:endParaRPr>
          </a:p>
        </p:txBody>
      </p:sp>
      <p:sp>
        <p:nvSpPr>
          <p:cNvPr id="1213566246" name="Google Shape;191;p33"/>
          <p:cNvSpPr txBox="1"/>
          <p:nvPr/>
        </p:nvSpPr>
        <p:spPr bwMode="auto">
          <a:xfrm>
            <a:off x="508000" y="1397000"/>
            <a:ext cx="3936900" cy="3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solidFill>
                  <a:srgbClr val="CBD5E1"/>
                </a:solidFill>
              </a:rPr>
              <a:t>Redis (Remote Dictionary Server) is an open-source key-value store.</a:t>
            </a:r>
            <a:endParaRPr sz="1600">
              <a:solidFill>
                <a:srgbClr val="CBD5E1"/>
              </a:solidFill>
            </a:endParaRPr>
          </a:p>
          <a:p>
            <a:pPr marL="0" lvl="0" indent="0" algn="l" rtl="0">
              <a:spcBef>
                <a:spcPts val="0"/>
              </a:spcBef>
              <a:spcAft>
                <a:spcPts val="0"/>
              </a:spcAft>
              <a:buNone/>
              <a:defRPr/>
            </a:pPr>
            <a:endParaRPr sz="1600">
              <a:solidFill>
                <a:srgbClr val="CBD5E1"/>
              </a:solidFill>
            </a:endParaRPr>
          </a:p>
          <a:p>
            <a:pPr marL="0" lvl="0" indent="0" algn="l" rtl="0">
              <a:spcBef>
                <a:spcPts val="0"/>
              </a:spcBef>
              <a:spcAft>
                <a:spcPts val="0"/>
              </a:spcAft>
              <a:buNone/>
              <a:defRPr/>
            </a:pPr>
            <a:r>
              <a:rPr lang="en" sz="1600">
                <a:solidFill>
                  <a:srgbClr val="CBD5E1"/>
                </a:solidFill>
              </a:rPr>
              <a:t>The In-Memory Magic:</a:t>
            </a:r>
            <a:endParaRPr sz="1600">
              <a:solidFill>
                <a:srgbClr val="CBD5E1"/>
              </a:solidFill>
            </a:endParaRPr>
          </a:p>
          <a:p>
            <a:pPr marL="0" lvl="0" indent="0" algn="l" rtl="0">
              <a:spcBef>
                <a:spcPts val="0"/>
              </a:spcBef>
              <a:spcAft>
                <a:spcPts val="0"/>
              </a:spcAft>
              <a:buNone/>
              <a:defRPr/>
            </a:pPr>
            <a:r>
              <a:rPr lang="en" sz="1600">
                <a:solidFill>
                  <a:srgbClr val="CBD5E1"/>
                </a:solidFill>
              </a:rPr>
              <a:t>Unlike traditional databases that write to physical disks, Redis operates entirely in RAM.</a:t>
            </a:r>
            <a:endParaRPr sz="1600">
              <a:solidFill>
                <a:srgbClr val="CBD5E1"/>
              </a:solidFill>
            </a:endParaRPr>
          </a:p>
          <a:p>
            <a:pPr marL="0" lvl="0" indent="0" algn="l" rtl="0">
              <a:spcBef>
                <a:spcPts val="0"/>
              </a:spcBef>
              <a:spcAft>
                <a:spcPts val="0"/>
              </a:spcAft>
              <a:buNone/>
              <a:defRPr/>
            </a:pPr>
            <a:endParaRPr sz="1600">
              <a:solidFill>
                <a:srgbClr val="CBD5E1"/>
              </a:solidFill>
            </a:endParaRPr>
          </a:p>
          <a:p>
            <a:pPr marL="0" lvl="0" indent="0" algn="l" rtl="0">
              <a:spcBef>
                <a:spcPts val="0"/>
              </a:spcBef>
              <a:spcAft>
                <a:spcPts val="0"/>
              </a:spcAft>
              <a:buNone/>
              <a:defRPr/>
            </a:pPr>
            <a:r>
              <a:rPr lang="en" sz="1600">
                <a:solidFill>
                  <a:srgbClr val="CBD5E1"/>
                </a:solidFill>
              </a:rPr>
              <a:t>Because RAM is exponentially faster, Redis can handle millions of operations per second with sub-millisecond latency.</a:t>
            </a:r>
            <a:endParaRPr sz="1600">
              <a:solidFill>
                <a:srgbClr val="CBD5E1"/>
              </a:solidFill>
            </a:endParaRPr>
          </a:p>
        </p:txBody>
      </p:sp>
      <p:pic>
        <p:nvPicPr>
          <p:cNvPr id="1931227946" name="Google Shape;192;p33"/>
          <p:cNvPicPr/>
          <p:nvPr/>
        </p:nvPicPr>
        <p:blipFill rotWithShape="1">
          <a:blip r:embed="rId3">
            <a:alphaModFix/>
          </a:blip>
          <a:stretch/>
        </p:blipFill>
        <p:spPr bwMode="auto">
          <a:xfrm>
            <a:off x="4699000" y="1907328"/>
            <a:ext cx="3937001" cy="2217844"/>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1269247742" name="Google Shape;197;p34"/>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Redis Data Structures</a:t>
            </a:r>
            <a:endParaRPr sz="3600" b="1">
              <a:solidFill>
                <a:srgbClr val="38BDF8"/>
              </a:solidFill>
            </a:endParaRPr>
          </a:p>
        </p:txBody>
      </p:sp>
      <p:sp>
        <p:nvSpPr>
          <p:cNvPr id="604329444" name="Google Shape;198;p34"/>
          <p:cNvSpPr txBox="1"/>
          <p:nvPr/>
        </p:nvSpPr>
        <p:spPr bwMode="auto">
          <a:xfrm>
            <a:off x="508000" y="1397000"/>
            <a:ext cx="8127900" cy="3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800">
                <a:solidFill>
                  <a:srgbClr val="CBD5E1"/>
                </a:solidFill>
              </a:rPr>
              <a:t>Redis isn't just plain strings; it offers complex data structures mapped to keys.</a:t>
            </a:r>
            <a:endParaRPr sz="1800">
              <a:solidFill>
                <a:srgbClr val="CBD5E1"/>
              </a:solidFill>
            </a:endParaRPr>
          </a:p>
          <a:p>
            <a:pPr marL="0" lvl="0" indent="0" algn="l" rtl="0">
              <a:spcBef>
                <a:spcPts val="0"/>
              </a:spcBef>
              <a:spcAft>
                <a:spcPts val="0"/>
              </a:spcAft>
              <a:buNone/>
              <a:defRPr/>
            </a:pPr>
            <a:endParaRPr sz="1800">
              <a:solidFill>
                <a:srgbClr val="CBD5E1"/>
              </a:solidFill>
            </a:endParaRPr>
          </a:p>
          <a:p>
            <a:pPr marL="0" lvl="0" indent="0" algn="l" rtl="0">
              <a:spcBef>
                <a:spcPts val="0"/>
              </a:spcBef>
              <a:spcAft>
                <a:spcPts val="0"/>
              </a:spcAft>
              <a:buNone/>
              <a:defRPr/>
            </a:pPr>
            <a:r>
              <a:rPr lang="en" sz="1800">
                <a:solidFill>
                  <a:srgbClr val="CBD5E1"/>
                </a:solidFill>
              </a:rPr>
              <a:t>• Strings: The most basic type. Can store text, serialized JSON, or even binary data up to 512MB.</a:t>
            </a:r>
            <a:endParaRPr sz="1800">
              <a:solidFill>
                <a:srgbClr val="CBD5E1"/>
              </a:solidFill>
            </a:endParaRPr>
          </a:p>
          <a:p>
            <a:pPr marL="0" lvl="0" indent="0" algn="l" rtl="0">
              <a:spcBef>
                <a:spcPts val="0"/>
              </a:spcBef>
              <a:spcAft>
                <a:spcPts val="0"/>
              </a:spcAft>
              <a:buNone/>
              <a:defRPr/>
            </a:pPr>
            <a:r>
              <a:rPr lang="en" sz="1800">
                <a:solidFill>
                  <a:srgbClr val="CBD5E1"/>
                </a:solidFill>
              </a:rPr>
              <a:t>• Lists: Linked lists of strings. Excellent for implementing queues, stacks, or retaining the latest N items.</a:t>
            </a:r>
            <a:endParaRPr sz="1800">
              <a:solidFill>
                <a:srgbClr val="CBD5E1"/>
              </a:solidFill>
            </a:endParaRPr>
          </a:p>
          <a:p>
            <a:pPr marL="0" lvl="0" indent="0" algn="l" rtl="0">
              <a:spcBef>
                <a:spcPts val="0"/>
              </a:spcBef>
              <a:spcAft>
                <a:spcPts val="0"/>
              </a:spcAft>
              <a:buNone/>
              <a:defRPr/>
            </a:pPr>
            <a:r>
              <a:rPr lang="en" sz="1800">
                <a:solidFill>
                  <a:srgbClr val="CBD5E1"/>
                </a:solidFill>
              </a:rPr>
              <a:t>• Hashes: A collection of field-value pairs. Perfect for representing objects (e.g., a User with name, age, email fields).</a:t>
            </a:r>
            <a:endParaRPr sz="1800">
              <a:solidFill>
                <a:srgbClr val="CBD5E1"/>
              </a:solidFill>
            </a:endParaRPr>
          </a:p>
          <a:p>
            <a:pPr marL="0" lvl="0" indent="0" algn="l" rtl="0">
              <a:spcBef>
                <a:spcPts val="0"/>
              </a:spcBef>
              <a:spcAft>
                <a:spcPts val="0"/>
              </a:spcAft>
              <a:buNone/>
              <a:defRPr/>
            </a:pPr>
            <a:r>
              <a:rPr lang="en" sz="1800">
                <a:solidFill>
                  <a:srgbClr val="CBD5E1"/>
                </a:solidFill>
              </a:rPr>
              <a:t>• Sorted Sets: Ordered lists automatically ranked by a numeric score.</a:t>
            </a:r>
            <a:endParaRPr sz="1800">
              <a:solidFill>
                <a:srgbClr val="CBD5E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1443998060" name="Google Shape;203;p35"/>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The Synergy: SQL + Redis</a:t>
            </a:r>
            <a:endParaRPr sz="3600" b="1">
              <a:solidFill>
                <a:srgbClr val="38BDF8"/>
              </a:solidFill>
            </a:endParaRPr>
          </a:p>
        </p:txBody>
      </p:sp>
      <p:sp>
        <p:nvSpPr>
          <p:cNvPr id="229901184" name="Google Shape;204;p35"/>
          <p:cNvSpPr txBox="1"/>
          <p:nvPr/>
        </p:nvSpPr>
        <p:spPr bwMode="auto">
          <a:xfrm>
            <a:off x="508000" y="1397000"/>
            <a:ext cx="3936900" cy="3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solidFill>
                  <a:srgbClr val="CBD5E1"/>
                </a:solidFill>
              </a:rPr>
              <a:t>RDBMS (The Anchor)</a:t>
            </a:r>
            <a:endParaRPr sz="1600">
              <a:solidFill>
                <a:srgbClr val="CBD5E1"/>
              </a:solidFill>
            </a:endParaRPr>
          </a:p>
          <a:p>
            <a:pPr marL="0" lvl="0" indent="0" algn="l" rtl="0">
              <a:spcBef>
                <a:spcPts val="0"/>
              </a:spcBef>
              <a:spcAft>
                <a:spcPts val="0"/>
              </a:spcAft>
              <a:buNone/>
              <a:defRPr/>
            </a:pPr>
            <a:r>
              <a:rPr lang="en" sz="1600">
                <a:solidFill>
                  <a:srgbClr val="CBD5E1"/>
                </a:solidFill>
              </a:rPr>
              <a:t>• System of Record.</a:t>
            </a:r>
            <a:endParaRPr sz="1600">
              <a:solidFill>
                <a:srgbClr val="CBD5E1"/>
              </a:solidFill>
            </a:endParaRPr>
          </a:p>
          <a:p>
            <a:pPr marL="0" lvl="0" indent="0" algn="l" rtl="0">
              <a:spcBef>
                <a:spcPts val="0"/>
              </a:spcBef>
              <a:spcAft>
                <a:spcPts val="0"/>
              </a:spcAft>
              <a:buNone/>
              <a:defRPr/>
            </a:pPr>
            <a:r>
              <a:rPr lang="en" sz="1600">
                <a:solidFill>
                  <a:srgbClr val="CBD5E1"/>
                </a:solidFill>
              </a:rPr>
              <a:t>• Long-term, permanent disk storage.</a:t>
            </a:r>
            <a:endParaRPr sz="1600">
              <a:solidFill>
                <a:srgbClr val="CBD5E1"/>
              </a:solidFill>
            </a:endParaRPr>
          </a:p>
          <a:p>
            <a:pPr marL="0" lvl="0" indent="0" algn="l" rtl="0">
              <a:spcBef>
                <a:spcPts val="0"/>
              </a:spcBef>
              <a:spcAft>
                <a:spcPts val="0"/>
              </a:spcAft>
              <a:buNone/>
              <a:defRPr/>
            </a:pPr>
            <a:r>
              <a:rPr lang="en" sz="1600">
                <a:solidFill>
                  <a:srgbClr val="CBD5E1"/>
                </a:solidFill>
              </a:rPr>
              <a:t>• Maintains relational integrity.</a:t>
            </a:r>
            <a:endParaRPr sz="1600">
              <a:solidFill>
                <a:srgbClr val="CBD5E1"/>
              </a:solidFill>
            </a:endParaRPr>
          </a:p>
          <a:p>
            <a:pPr marL="0" lvl="0" indent="0" algn="l" rtl="0">
              <a:spcBef>
                <a:spcPts val="0"/>
              </a:spcBef>
              <a:spcAft>
                <a:spcPts val="0"/>
              </a:spcAft>
              <a:buNone/>
              <a:defRPr/>
            </a:pPr>
            <a:r>
              <a:rPr lang="en" sz="1600">
                <a:solidFill>
                  <a:srgbClr val="CBD5E1"/>
                </a:solidFill>
              </a:rPr>
              <a:t>• Slower (10-50ms query times).</a:t>
            </a:r>
            <a:endParaRPr sz="1600">
              <a:solidFill>
                <a:srgbClr val="CBD5E1"/>
              </a:solidFill>
            </a:endParaRPr>
          </a:p>
        </p:txBody>
      </p:sp>
      <p:sp>
        <p:nvSpPr>
          <p:cNvPr id="1406371702" name="Google Shape;205;p35"/>
          <p:cNvSpPr txBox="1"/>
          <p:nvPr/>
        </p:nvSpPr>
        <p:spPr bwMode="auto">
          <a:xfrm>
            <a:off x="4699000" y="1397000"/>
            <a:ext cx="3936900" cy="3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solidFill>
                  <a:srgbClr val="CBD5E1"/>
                </a:solidFill>
              </a:rPr>
              <a:t>Redis (The Shield)</a:t>
            </a:r>
            <a:endParaRPr sz="1600">
              <a:solidFill>
                <a:srgbClr val="CBD5E1"/>
              </a:solidFill>
            </a:endParaRPr>
          </a:p>
          <a:p>
            <a:pPr marL="0" lvl="0" indent="0" algn="l" rtl="0">
              <a:spcBef>
                <a:spcPts val="0"/>
              </a:spcBef>
              <a:spcAft>
                <a:spcPts val="0"/>
              </a:spcAft>
              <a:buNone/>
              <a:defRPr/>
            </a:pPr>
            <a:r>
              <a:rPr lang="en" sz="1600">
                <a:solidFill>
                  <a:srgbClr val="CBD5E1"/>
                </a:solidFill>
              </a:rPr>
              <a:t>• Caching Layer.</a:t>
            </a:r>
            <a:endParaRPr sz="1600">
              <a:solidFill>
                <a:srgbClr val="CBD5E1"/>
              </a:solidFill>
            </a:endParaRPr>
          </a:p>
          <a:p>
            <a:pPr marL="0" lvl="0" indent="0" algn="l" rtl="0">
              <a:spcBef>
                <a:spcPts val="0"/>
              </a:spcBef>
              <a:spcAft>
                <a:spcPts val="0"/>
              </a:spcAft>
              <a:buNone/>
              <a:defRPr/>
            </a:pPr>
            <a:r>
              <a:rPr lang="en" sz="1600">
                <a:solidFill>
                  <a:srgbClr val="CBD5E1"/>
                </a:solidFill>
              </a:rPr>
              <a:t>• Volatile, high-speed RAM storage.</a:t>
            </a:r>
            <a:endParaRPr sz="1600">
              <a:solidFill>
                <a:srgbClr val="CBD5E1"/>
              </a:solidFill>
            </a:endParaRPr>
          </a:p>
          <a:p>
            <a:pPr marL="0" lvl="0" indent="0" algn="l" rtl="0">
              <a:spcBef>
                <a:spcPts val="0"/>
              </a:spcBef>
              <a:spcAft>
                <a:spcPts val="0"/>
              </a:spcAft>
              <a:buNone/>
              <a:defRPr/>
            </a:pPr>
            <a:r>
              <a:rPr lang="en" sz="1600">
                <a:solidFill>
                  <a:srgbClr val="CBD5E1"/>
                </a:solidFill>
              </a:rPr>
              <a:t>• Absorbs repetitive reads.</a:t>
            </a:r>
            <a:endParaRPr sz="1600">
              <a:solidFill>
                <a:srgbClr val="CBD5E1"/>
              </a:solidFill>
            </a:endParaRPr>
          </a:p>
          <a:p>
            <a:pPr marL="0" lvl="0" indent="0" algn="l" rtl="0">
              <a:spcBef>
                <a:spcPts val="0"/>
              </a:spcBef>
              <a:spcAft>
                <a:spcPts val="0"/>
              </a:spcAft>
              <a:buNone/>
              <a:defRPr/>
            </a:pPr>
            <a:r>
              <a:rPr lang="en" sz="1600">
                <a:solidFill>
                  <a:srgbClr val="CBD5E1"/>
                </a:solidFill>
              </a:rPr>
              <a:t>• Blazing fast (&lt;1ms query times).</a:t>
            </a:r>
            <a:endParaRPr sz="1600">
              <a:solidFill>
                <a:srgbClr val="CBD5E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1725221569" name="Google Shape;210;p36"/>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The Caching Flow</a:t>
            </a:r>
            <a:endParaRPr sz="3600" b="1">
              <a:solidFill>
                <a:srgbClr val="38BDF8"/>
              </a:solidFill>
            </a:endParaRPr>
          </a:p>
        </p:txBody>
      </p:sp>
      <p:sp>
        <p:nvSpPr>
          <p:cNvPr id="1591670820" name="Google Shape;211;p36"/>
          <p:cNvSpPr txBox="1"/>
          <p:nvPr/>
        </p:nvSpPr>
        <p:spPr bwMode="auto">
          <a:xfrm>
            <a:off x="508000" y="1397000"/>
            <a:ext cx="8127900" cy="3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800">
                <a:solidFill>
                  <a:srgbClr val="CBD5E1"/>
                </a:solidFill>
              </a:rPr>
              <a:t>How the application interacts with both databases during a read request:</a:t>
            </a:r>
            <a:endParaRPr sz="1800">
              <a:solidFill>
                <a:srgbClr val="CBD5E1"/>
              </a:solidFill>
            </a:endParaRPr>
          </a:p>
          <a:p>
            <a:pPr marL="0" lvl="0" indent="0" algn="l" rtl="0">
              <a:spcBef>
                <a:spcPts val="0"/>
              </a:spcBef>
              <a:spcAft>
                <a:spcPts val="0"/>
              </a:spcAft>
              <a:buNone/>
              <a:defRPr/>
            </a:pPr>
            <a:endParaRPr sz="1800">
              <a:solidFill>
                <a:srgbClr val="CBD5E1"/>
              </a:solidFill>
            </a:endParaRPr>
          </a:p>
          <a:p>
            <a:pPr marL="0" lvl="0" indent="0" algn="l" rtl="0">
              <a:spcBef>
                <a:spcPts val="0"/>
              </a:spcBef>
              <a:spcAft>
                <a:spcPts val="0"/>
              </a:spcAft>
              <a:buNone/>
              <a:defRPr/>
            </a:pPr>
            <a:r>
              <a:rPr lang="en" sz="1800">
                <a:solidFill>
                  <a:srgbClr val="CBD5E1"/>
                </a:solidFill>
              </a:rPr>
              <a:t>1. App Request: User requests the "Top 10 News Articles" page.</a:t>
            </a:r>
            <a:endParaRPr sz="1800">
              <a:solidFill>
                <a:srgbClr val="CBD5E1"/>
              </a:solidFill>
            </a:endParaRPr>
          </a:p>
          <a:p>
            <a:pPr marL="0" lvl="0" indent="0" algn="l" rtl="0">
              <a:spcBef>
                <a:spcPts val="0"/>
              </a:spcBef>
              <a:spcAft>
                <a:spcPts val="0"/>
              </a:spcAft>
              <a:buNone/>
              <a:defRPr/>
            </a:pPr>
            <a:r>
              <a:rPr lang="en" sz="1800">
                <a:solidFill>
                  <a:srgbClr val="CBD5E1"/>
                </a:solidFill>
              </a:rPr>
              <a:t>2. Query Redis: App checks Redis first. </a:t>
            </a:r>
            <a:endParaRPr sz="1800">
              <a:solidFill>
                <a:srgbClr val="CBD5E1"/>
              </a:solidFill>
            </a:endParaRPr>
          </a:p>
          <a:p>
            <a:pPr marL="0" lvl="0" indent="0" algn="l" rtl="0">
              <a:spcBef>
                <a:spcPts val="0"/>
              </a:spcBef>
              <a:spcAft>
                <a:spcPts val="0"/>
              </a:spcAft>
              <a:buNone/>
              <a:defRPr/>
            </a:pPr>
            <a:r>
              <a:rPr lang="en" sz="1800">
                <a:solidFill>
                  <a:srgbClr val="CBD5E1"/>
                </a:solidFill>
              </a:rPr>
              <a:t>   - Cache Hit: Return instantly.</a:t>
            </a:r>
            <a:endParaRPr sz="1800">
              <a:solidFill>
                <a:srgbClr val="CBD5E1"/>
              </a:solidFill>
            </a:endParaRPr>
          </a:p>
          <a:p>
            <a:pPr marL="0" lvl="0" indent="0" algn="l" rtl="0">
              <a:spcBef>
                <a:spcPts val="0"/>
              </a:spcBef>
              <a:spcAft>
                <a:spcPts val="0"/>
              </a:spcAft>
              <a:buNone/>
              <a:defRPr/>
            </a:pPr>
            <a:r>
              <a:rPr lang="en" sz="1800">
                <a:solidFill>
                  <a:srgbClr val="CBD5E1"/>
                </a:solidFill>
              </a:rPr>
              <a:t>   - Cache Miss: Proceed to step 3.</a:t>
            </a:r>
            <a:endParaRPr sz="1800">
              <a:solidFill>
                <a:srgbClr val="CBD5E1"/>
              </a:solidFill>
            </a:endParaRPr>
          </a:p>
          <a:p>
            <a:pPr marL="0" lvl="0" indent="0" algn="l" rtl="0">
              <a:spcBef>
                <a:spcPts val="0"/>
              </a:spcBef>
              <a:spcAft>
                <a:spcPts val="0"/>
              </a:spcAft>
              <a:buNone/>
              <a:defRPr/>
            </a:pPr>
            <a:r>
              <a:rPr lang="en" sz="1800">
                <a:solidFill>
                  <a:srgbClr val="CBD5E1"/>
                </a:solidFill>
              </a:rPr>
              <a:t>3. Query SQL: App executes expensive SQL JOINs to compute the top articles.</a:t>
            </a:r>
            <a:endParaRPr sz="1800">
              <a:solidFill>
                <a:srgbClr val="CBD5E1"/>
              </a:solidFill>
            </a:endParaRPr>
          </a:p>
          <a:p>
            <a:pPr marL="0" lvl="0" indent="0" algn="l" rtl="0">
              <a:spcBef>
                <a:spcPts val="0"/>
              </a:spcBef>
              <a:spcAft>
                <a:spcPts val="0"/>
              </a:spcAft>
              <a:buNone/>
              <a:defRPr/>
            </a:pPr>
            <a:r>
              <a:rPr lang="en" sz="1800">
                <a:solidFill>
                  <a:srgbClr val="CBD5E1"/>
                </a:solidFill>
              </a:rPr>
              <a:t>4. Store &amp; Return: App saves result in Redis for future users, then returns data to the user.</a:t>
            </a:r>
            <a:endParaRPr sz="1800">
              <a:solidFill>
                <a:srgbClr val="CBD5E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1698950271" name="Google Shape;216;p37"/>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Redis Real-World Scenarios</a:t>
            </a:r>
            <a:endParaRPr sz="3600" b="1">
              <a:solidFill>
                <a:srgbClr val="38BDF8"/>
              </a:solidFill>
            </a:endParaRPr>
          </a:p>
        </p:txBody>
      </p:sp>
      <p:sp>
        <p:nvSpPr>
          <p:cNvPr id="1368503260" name="Google Shape;217;p37"/>
          <p:cNvSpPr txBox="1"/>
          <p:nvPr/>
        </p:nvSpPr>
        <p:spPr bwMode="auto">
          <a:xfrm>
            <a:off x="508000" y="1397000"/>
            <a:ext cx="8127900" cy="3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800">
                <a:solidFill>
                  <a:srgbClr val="CBD5E1"/>
                </a:solidFill>
              </a:rPr>
              <a:t>• Session / Auth Management: Storing user sessions or JWTs with an expiration time (TTL). Fast lookup on every API request.</a:t>
            </a:r>
            <a:endParaRPr sz="1800">
              <a:solidFill>
                <a:srgbClr val="CBD5E1"/>
              </a:solidFill>
            </a:endParaRPr>
          </a:p>
          <a:p>
            <a:pPr marL="0" lvl="0" indent="0" algn="l" rtl="0">
              <a:spcBef>
                <a:spcPts val="0"/>
              </a:spcBef>
              <a:spcAft>
                <a:spcPts val="0"/>
              </a:spcAft>
              <a:buNone/>
              <a:defRPr/>
            </a:pPr>
            <a:endParaRPr sz="1800">
              <a:solidFill>
                <a:srgbClr val="CBD5E1"/>
              </a:solidFill>
            </a:endParaRPr>
          </a:p>
          <a:p>
            <a:pPr marL="0" lvl="0" indent="0" algn="l" rtl="0">
              <a:spcBef>
                <a:spcPts val="0"/>
              </a:spcBef>
              <a:spcAft>
                <a:spcPts val="0"/>
              </a:spcAft>
              <a:buNone/>
              <a:defRPr/>
            </a:pPr>
            <a:r>
              <a:rPr lang="en" sz="1800">
                <a:solidFill>
                  <a:srgbClr val="CBD5E1"/>
                </a:solidFill>
              </a:rPr>
              <a:t>• Rate Limiting: Using counters in Redis to restrict users to "100 API requests per minute" to prevent DDoS attacks.</a:t>
            </a:r>
            <a:endParaRPr sz="1800">
              <a:solidFill>
                <a:srgbClr val="CBD5E1"/>
              </a:solidFill>
            </a:endParaRPr>
          </a:p>
          <a:p>
            <a:pPr marL="0" lvl="0" indent="0" algn="l" rtl="0">
              <a:spcBef>
                <a:spcPts val="0"/>
              </a:spcBef>
              <a:spcAft>
                <a:spcPts val="0"/>
              </a:spcAft>
              <a:buNone/>
              <a:defRPr/>
            </a:pPr>
            <a:endParaRPr sz="1800">
              <a:solidFill>
                <a:srgbClr val="CBD5E1"/>
              </a:solidFill>
            </a:endParaRPr>
          </a:p>
          <a:p>
            <a:pPr marL="0" lvl="0" indent="0" algn="l" rtl="0">
              <a:spcBef>
                <a:spcPts val="0"/>
              </a:spcBef>
              <a:spcAft>
                <a:spcPts val="0"/>
              </a:spcAft>
              <a:buNone/>
              <a:defRPr/>
            </a:pPr>
            <a:r>
              <a:rPr lang="en" sz="1800">
                <a:solidFill>
                  <a:srgbClr val="CBD5E1"/>
                </a:solidFill>
              </a:rPr>
              <a:t>• Real-time Leaderboards: Using Sorted Sets to automatically rank millions of player scores in gaming without complex SQL queries.</a:t>
            </a:r>
            <a:endParaRPr sz="1800">
              <a:solidFill>
                <a:srgbClr val="CBD5E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813057588" name="Google Shape;222;p38"/>
          <p:cNvSpPr txBox="1"/>
          <p:nvPr/>
        </p:nvSpPr>
        <p:spPr bwMode="auto">
          <a:xfrm>
            <a:off x="508000" y="1524000"/>
            <a:ext cx="8127900" cy="126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defRPr/>
            </a:pPr>
            <a:r>
              <a:rPr lang="en" sz="4800" b="1">
                <a:solidFill>
                  <a:srgbClr val="38BDF8"/>
                </a:solidFill>
              </a:rPr>
              <a:t>Hour 3: JSON Foundation &amp; Postgres</a:t>
            </a:r>
            <a:endParaRPr sz="4800" b="1">
              <a:solidFill>
                <a:srgbClr val="38BDF8"/>
              </a:solidFill>
            </a:endParaRPr>
          </a:p>
        </p:txBody>
      </p:sp>
      <p:sp>
        <p:nvSpPr>
          <p:cNvPr id="121080949" name="Google Shape;223;p38"/>
          <p:cNvSpPr txBox="1"/>
          <p:nvPr/>
        </p:nvSpPr>
        <p:spPr bwMode="auto">
          <a:xfrm>
            <a:off x="508000" y="2921000"/>
            <a:ext cx="8127900" cy="126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defRPr/>
            </a:pPr>
            <a:r>
              <a:rPr lang="en" sz="2000">
                <a:solidFill>
                  <a:srgbClr val="CBD5E1"/>
                </a:solidFill>
              </a:rPr>
              <a:t>Bridging the gap between Strict SQL and Flexible Data</a:t>
            </a:r>
            <a:endParaRPr sz="2000">
              <a:solidFill>
                <a:srgbClr val="CBD5E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1276254762" name="Google Shape;228;p39"/>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What is JSON?</a:t>
            </a:r>
            <a:endParaRPr sz="3600" b="1">
              <a:solidFill>
                <a:srgbClr val="38BDF8"/>
              </a:solidFill>
            </a:endParaRPr>
          </a:p>
        </p:txBody>
      </p:sp>
      <p:sp>
        <p:nvSpPr>
          <p:cNvPr id="974373597" name="Google Shape;229;p39"/>
          <p:cNvSpPr txBox="1"/>
          <p:nvPr/>
        </p:nvSpPr>
        <p:spPr bwMode="auto">
          <a:xfrm>
            <a:off x="508000" y="1143000"/>
            <a:ext cx="8127900" cy="63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solidFill>
                  <a:srgbClr val="CBD5E1"/>
                </a:solidFill>
              </a:rPr>
              <a:t>JSON is a lightweight data-interchange format. It is built on two structures: a collection of name/value pairs (Objects) and ordered lists (Arrays).</a:t>
            </a:r>
            <a:endParaRPr sz="1600">
              <a:solidFill>
                <a:srgbClr val="CBD5E1"/>
              </a:solidFill>
            </a:endParaRPr>
          </a:p>
        </p:txBody>
      </p:sp>
      <p:sp>
        <p:nvSpPr>
          <p:cNvPr id="839593599" name="Google Shape;230;p39"/>
          <p:cNvSpPr/>
          <p:nvPr/>
        </p:nvSpPr>
        <p:spPr bwMode="auto">
          <a:xfrm>
            <a:off x="508000" y="1905000"/>
            <a:ext cx="8127900" cy="2857500"/>
          </a:xfrm>
          <a:prstGeom prst="roundRect">
            <a:avLst>
              <a:gd name="adj" fmla="val 16667"/>
            </a:avLst>
          </a:prstGeom>
          <a:solidFill>
            <a:srgbClr val="020617"/>
          </a:solidFill>
          <a:ln>
            <a:noFill/>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1167695700" name="Google Shape;231;p39"/>
          <p:cNvSpPr txBox="1"/>
          <p:nvPr/>
        </p:nvSpPr>
        <p:spPr bwMode="auto">
          <a:xfrm>
            <a:off x="571500" y="1968500"/>
            <a:ext cx="8001000" cy="273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200">
                <a:solidFill>
                  <a:srgbClr val="A3E635"/>
                </a:solidFill>
                <a:latin typeface="Consolas"/>
                <a:ea typeface="Consolas"/>
                <a:cs typeface="Consolas"/>
              </a:rPr>
              <a:t>// This is a simple JSON Object</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"key": "value",</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"language": "Agnostic"</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a:t>
            </a:r>
            <a:endParaRPr sz="1200">
              <a:solidFill>
                <a:srgbClr val="A3E635"/>
              </a:solidFill>
              <a:latin typeface="Consolas"/>
              <a:ea typeface="Consolas"/>
              <a:cs typeface="Consola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1203659457" name="Google Shape;236;p40"/>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JSON Data Types: Primitives</a:t>
            </a:r>
            <a:endParaRPr sz="3600" b="1">
              <a:solidFill>
                <a:srgbClr val="38BDF8"/>
              </a:solidFill>
            </a:endParaRPr>
          </a:p>
        </p:txBody>
      </p:sp>
      <p:sp>
        <p:nvSpPr>
          <p:cNvPr id="324109675" name="Google Shape;237;p40"/>
          <p:cNvSpPr txBox="1"/>
          <p:nvPr/>
        </p:nvSpPr>
        <p:spPr bwMode="auto">
          <a:xfrm>
            <a:off x="508000" y="1143000"/>
            <a:ext cx="8127900" cy="63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solidFill>
                  <a:srgbClr val="CBD5E1"/>
                </a:solidFill>
              </a:rPr>
              <a:t>At its core, a JSON object maps a String key to a value. Strict Rule: Keys MUST be wrapped in double quotes.</a:t>
            </a:r>
            <a:endParaRPr sz="1600">
              <a:solidFill>
                <a:srgbClr val="CBD5E1"/>
              </a:solidFill>
            </a:endParaRPr>
          </a:p>
        </p:txBody>
      </p:sp>
      <p:sp>
        <p:nvSpPr>
          <p:cNvPr id="558770719" name="Google Shape;238;p40"/>
          <p:cNvSpPr/>
          <p:nvPr/>
        </p:nvSpPr>
        <p:spPr bwMode="auto">
          <a:xfrm>
            <a:off x="508000" y="1905000"/>
            <a:ext cx="8127900" cy="2857500"/>
          </a:xfrm>
          <a:prstGeom prst="roundRect">
            <a:avLst>
              <a:gd name="adj" fmla="val 16667"/>
            </a:avLst>
          </a:prstGeom>
          <a:solidFill>
            <a:srgbClr val="020617"/>
          </a:solidFill>
          <a:ln>
            <a:noFill/>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10915939" name="Google Shape;239;p40"/>
          <p:cNvSpPr txBox="1"/>
          <p:nvPr/>
        </p:nvSpPr>
        <p:spPr bwMode="auto">
          <a:xfrm>
            <a:off x="571500" y="1968500"/>
            <a:ext cx="8001000" cy="273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200">
                <a:solidFill>
                  <a:srgbClr val="A3E635"/>
                </a:solidFill>
                <a:latin typeface="Consolas"/>
                <a:ea typeface="Consolas"/>
                <a:cs typeface="Consolas"/>
              </a:rPr>
              <a:t>{</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 1. String (Must be double quotes)</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"username": "jdoe99",</a:t>
            </a:r>
            <a:endParaRPr sz="1200">
              <a:solidFill>
                <a:srgbClr val="A3E635"/>
              </a:solidFill>
              <a:latin typeface="Consolas"/>
              <a:ea typeface="Consolas"/>
              <a:cs typeface="Consolas"/>
            </a:endParaRPr>
          </a:p>
          <a:p>
            <a:pPr marL="0" lvl="0" indent="0" algn="l" rtl="0">
              <a:spcBef>
                <a:spcPts val="0"/>
              </a:spcBef>
              <a:spcAft>
                <a:spcPts val="0"/>
              </a:spcAft>
              <a:buNone/>
              <a:defRPr/>
            </a:pP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 2. Number (Integer or Float, no quotes)</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"age": 25,</a:t>
            </a:r>
            <a:endParaRPr sz="1200">
              <a:solidFill>
                <a:srgbClr val="A3E635"/>
              </a:solidFill>
              <a:latin typeface="Consolas"/>
              <a:ea typeface="Consolas"/>
              <a:cs typeface="Consolas"/>
            </a:endParaRPr>
          </a:p>
          <a:p>
            <a:pPr marL="0" lvl="0" indent="0" algn="l" rtl="0">
              <a:spcBef>
                <a:spcPts val="0"/>
              </a:spcBef>
              <a:spcAft>
                <a:spcPts val="0"/>
              </a:spcAft>
              <a:buNone/>
              <a:defRPr/>
            </a:pP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 3. Boolean (true or false, lowercase, no quotes)</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"is_student": true,</a:t>
            </a:r>
            <a:endParaRPr sz="1200">
              <a:solidFill>
                <a:srgbClr val="A3E635"/>
              </a:solidFill>
              <a:latin typeface="Consolas"/>
              <a:ea typeface="Consolas"/>
              <a:cs typeface="Consolas"/>
            </a:endParaRPr>
          </a:p>
          <a:p>
            <a:pPr marL="0" lvl="0" indent="0" algn="l" rtl="0">
              <a:spcBef>
                <a:spcPts val="0"/>
              </a:spcBef>
              <a:spcAft>
                <a:spcPts val="0"/>
              </a:spcAft>
              <a:buNone/>
              <a:defRPr/>
            </a:pP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 4. Null (Represents empty/missing data)</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"graduation_date": null</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a:t>
            </a:r>
            <a:endParaRPr sz="1200">
              <a:solidFill>
                <a:srgbClr val="A3E635"/>
              </a:solidFill>
              <a:latin typeface="Consolas"/>
              <a:ea typeface="Consolas"/>
              <a:cs typeface="Consola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1696717153" name="Google Shape;244;p41"/>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JSON Data Types: Nested Objects</a:t>
            </a:r>
            <a:endParaRPr sz="3600" b="1">
              <a:solidFill>
                <a:srgbClr val="38BDF8"/>
              </a:solidFill>
            </a:endParaRPr>
          </a:p>
        </p:txBody>
      </p:sp>
      <p:sp>
        <p:nvSpPr>
          <p:cNvPr id="1706648131" name="Google Shape;245;p41"/>
          <p:cNvSpPr txBox="1"/>
          <p:nvPr/>
        </p:nvSpPr>
        <p:spPr bwMode="auto">
          <a:xfrm>
            <a:off x="508000" y="1143000"/>
            <a:ext cx="8127900" cy="63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solidFill>
                  <a:srgbClr val="CBD5E1"/>
                </a:solidFill>
              </a:rPr>
              <a:t>Values can also be complex types. An object can contain another object, allowing for deep, hierarchical nesting.</a:t>
            </a:r>
            <a:endParaRPr sz="1600">
              <a:solidFill>
                <a:srgbClr val="CBD5E1"/>
              </a:solidFill>
            </a:endParaRPr>
          </a:p>
        </p:txBody>
      </p:sp>
      <p:sp>
        <p:nvSpPr>
          <p:cNvPr id="381237981" name="Google Shape;246;p41"/>
          <p:cNvSpPr/>
          <p:nvPr/>
        </p:nvSpPr>
        <p:spPr bwMode="auto">
          <a:xfrm>
            <a:off x="508000" y="1905000"/>
            <a:ext cx="8127900" cy="2857500"/>
          </a:xfrm>
          <a:prstGeom prst="roundRect">
            <a:avLst>
              <a:gd name="adj" fmla="val 16667"/>
            </a:avLst>
          </a:prstGeom>
          <a:solidFill>
            <a:srgbClr val="020617"/>
          </a:solidFill>
          <a:ln>
            <a:noFill/>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837762753" name="Google Shape;247;p41"/>
          <p:cNvSpPr txBox="1"/>
          <p:nvPr/>
        </p:nvSpPr>
        <p:spPr bwMode="auto">
          <a:xfrm>
            <a:off x="571500" y="1968500"/>
            <a:ext cx="8001000" cy="273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200">
                <a:solidFill>
                  <a:srgbClr val="A3E635"/>
                </a:solidFill>
                <a:latin typeface="Consolas"/>
                <a:ea typeface="Consolas"/>
                <a:cs typeface="Consolas"/>
              </a:rPr>
              <a:t>{</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"product_name": "Gaming Laptop",</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"specifications": {</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"cpu": "Intel Core i9",</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"ram": "32GB",</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"dimensions": {</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"width_cm": 35.9</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a:t>
            </a:r>
            <a:endParaRPr sz="1200">
              <a:solidFill>
                <a:srgbClr val="A3E635"/>
              </a:solidFill>
              <a:latin typeface="Consolas"/>
              <a:ea typeface="Consolas"/>
              <a:cs typeface="Consola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926864881" name="Google Shape;252;p42"/>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JSON Data Types: Arrays</a:t>
            </a:r>
            <a:endParaRPr sz="3600" b="1">
              <a:solidFill>
                <a:srgbClr val="38BDF8"/>
              </a:solidFill>
            </a:endParaRPr>
          </a:p>
        </p:txBody>
      </p:sp>
      <p:sp>
        <p:nvSpPr>
          <p:cNvPr id="1513393161" name="Google Shape;253;p42"/>
          <p:cNvSpPr txBox="1"/>
          <p:nvPr/>
        </p:nvSpPr>
        <p:spPr bwMode="auto">
          <a:xfrm>
            <a:off x="508000" y="1143000"/>
            <a:ext cx="8127900" cy="63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solidFill>
                  <a:srgbClr val="CBD5E1"/>
                </a:solidFill>
              </a:rPr>
              <a:t>An Array is an ordered list of values enclosed in square brackets [ ]. They are used for collections of items.</a:t>
            </a:r>
            <a:endParaRPr sz="1600">
              <a:solidFill>
                <a:srgbClr val="CBD5E1"/>
              </a:solidFill>
            </a:endParaRPr>
          </a:p>
        </p:txBody>
      </p:sp>
      <p:sp>
        <p:nvSpPr>
          <p:cNvPr id="16149836" name="Google Shape;254;p42"/>
          <p:cNvSpPr/>
          <p:nvPr/>
        </p:nvSpPr>
        <p:spPr bwMode="auto">
          <a:xfrm>
            <a:off x="508000" y="1905000"/>
            <a:ext cx="8127900" cy="2857500"/>
          </a:xfrm>
          <a:prstGeom prst="roundRect">
            <a:avLst>
              <a:gd name="adj" fmla="val 16667"/>
            </a:avLst>
          </a:prstGeom>
          <a:solidFill>
            <a:srgbClr val="020617"/>
          </a:solidFill>
          <a:ln>
            <a:noFill/>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175705809" name="Google Shape;255;p42"/>
          <p:cNvSpPr txBox="1"/>
          <p:nvPr/>
        </p:nvSpPr>
        <p:spPr bwMode="auto">
          <a:xfrm>
            <a:off x="571500" y="1968500"/>
            <a:ext cx="8001000" cy="273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200">
                <a:solidFill>
                  <a:srgbClr val="A3E635"/>
                </a:solidFill>
                <a:latin typeface="Consolas"/>
                <a:ea typeface="Consolas"/>
                <a:cs typeface="Consolas"/>
              </a:rPr>
              <a:t>{</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"user_id": 105,</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"tags": ["premium", "subscriber", "beta-tester"],</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"recent_scores": [85, 92, 78, 99],</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"mixed_bad_practice": [1, "apple", true]</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a:t>
            </a:r>
            <a:endParaRPr sz="1200">
              <a:solidFill>
                <a:srgbClr val="A3E635"/>
              </a:solidFill>
              <a:latin typeface="Consolas"/>
              <a:ea typeface="Consolas"/>
              <a:cs typeface="Consola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1134964889" name="Google Shape;260;p43"/>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The Industry Standard: Arrays of Objects</a:t>
            </a:r>
            <a:endParaRPr sz="3600" b="1">
              <a:solidFill>
                <a:srgbClr val="38BDF8"/>
              </a:solidFill>
            </a:endParaRPr>
          </a:p>
        </p:txBody>
      </p:sp>
      <p:sp>
        <p:nvSpPr>
          <p:cNvPr id="948357911" name="Google Shape;261;p43"/>
          <p:cNvSpPr txBox="1"/>
          <p:nvPr/>
        </p:nvSpPr>
        <p:spPr bwMode="auto">
          <a:xfrm>
            <a:off x="507999" y="1509346"/>
            <a:ext cx="8127900" cy="63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solidFill>
                  <a:srgbClr val="CBD5E1"/>
                </a:solidFill>
              </a:rPr>
              <a:t>The most common payload you will see in modern REST APIs is a JSON Array containing JSON Objects. This represents a list of records.</a:t>
            </a:r>
            <a:endParaRPr sz="1600">
              <a:solidFill>
                <a:srgbClr val="CBD5E1"/>
              </a:solidFill>
            </a:endParaRPr>
          </a:p>
        </p:txBody>
      </p:sp>
      <p:sp>
        <p:nvSpPr>
          <p:cNvPr id="302249663" name="Google Shape;262;p43"/>
          <p:cNvSpPr/>
          <p:nvPr/>
        </p:nvSpPr>
        <p:spPr bwMode="auto">
          <a:xfrm>
            <a:off x="507999" y="2088172"/>
            <a:ext cx="8127900" cy="2857500"/>
          </a:xfrm>
          <a:prstGeom prst="roundRect">
            <a:avLst>
              <a:gd name="adj" fmla="val 16667"/>
            </a:avLst>
          </a:prstGeom>
          <a:solidFill>
            <a:srgbClr val="020617"/>
          </a:solidFill>
          <a:ln>
            <a:noFill/>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2006860274" name="Google Shape;263;p43"/>
          <p:cNvSpPr txBox="1"/>
          <p:nvPr/>
        </p:nvSpPr>
        <p:spPr bwMode="auto">
          <a:xfrm>
            <a:off x="571500" y="1968500"/>
            <a:ext cx="8001000" cy="273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200">
                <a:solidFill>
                  <a:srgbClr val="A3E635"/>
                </a:solidFill>
                <a:latin typeface="Consolas"/>
                <a:ea typeface="Consolas"/>
                <a:cs typeface="Consolas"/>
              </a:rPr>
              <a:t>[</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"id": 1,</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"name": "Alice",</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"role": "Admin"</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"id": 2,</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"name": "Bob",</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"role": "User"</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a:t>
            </a:r>
            <a:endParaRPr sz="1200">
              <a:solidFill>
                <a:srgbClr val="A3E635"/>
              </a:solidFill>
              <a:latin typeface="Consolas"/>
              <a:ea typeface="Consolas"/>
              <a:cs typeface="Consola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1249245812" name="Google Shape;268;p44"/>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The Unstructured Data Problem</a:t>
            </a:r>
            <a:endParaRPr sz="3600" b="1">
              <a:solidFill>
                <a:srgbClr val="38BDF8"/>
              </a:solidFill>
            </a:endParaRPr>
          </a:p>
        </p:txBody>
      </p:sp>
      <p:sp>
        <p:nvSpPr>
          <p:cNvPr id="578909494" name="Google Shape;269;p44"/>
          <p:cNvSpPr txBox="1"/>
          <p:nvPr/>
        </p:nvSpPr>
        <p:spPr bwMode="auto">
          <a:xfrm>
            <a:off x="508000" y="1397000"/>
            <a:ext cx="3936900" cy="3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solidFill>
                  <a:srgbClr val="CBD5E1"/>
                </a:solidFill>
              </a:rPr>
              <a:t>The Relational Constraint</a:t>
            </a:r>
            <a:endParaRPr sz="1600">
              <a:solidFill>
                <a:srgbClr val="CBD5E1"/>
              </a:solidFill>
            </a:endParaRPr>
          </a:p>
          <a:p>
            <a:pPr marL="0" lvl="0" indent="0" algn="l" rtl="0">
              <a:spcBef>
                <a:spcPts val="0"/>
              </a:spcBef>
              <a:spcAft>
                <a:spcPts val="0"/>
              </a:spcAft>
              <a:buNone/>
              <a:defRPr/>
            </a:pPr>
            <a:r>
              <a:rPr lang="en" sz="1600">
                <a:solidFill>
                  <a:srgbClr val="CBD5E1"/>
                </a:solidFill>
              </a:rPr>
              <a:t>Imagine an E-Commerce store. A T-Shirt has: Size, Color. A Laptop has: RAM, CPU, Screen.</a:t>
            </a:r>
            <a:endParaRPr sz="1600">
              <a:solidFill>
                <a:srgbClr val="CBD5E1"/>
              </a:solidFill>
            </a:endParaRPr>
          </a:p>
          <a:p>
            <a:pPr marL="0" lvl="0" indent="0" algn="l" rtl="0">
              <a:spcBef>
                <a:spcPts val="0"/>
              </a:spcBef>
              <a:spcAft>
                <a:spcPts val="0"/>
              </a:spcAft>
              <a:buNone/>
              <a:defRPr/>
            </a:pPr>
            <a:endParaRPr sz="1600">
              <a:solidFill>
                <a:srgbClr val="CBD5E1"/>
              </a:solidFill>
            </a:endParaRPr>
          </a:p>
          <a:p>
            <a:pPr marL="0" lvl="0" indent="0" algn="l" rtl="0">
              <a:spcBef>
                <a:spcPts val="0"/>
              </a:spcBef>
              <a:spcAft>
                <a:spcPts val="0"/>
              </a:spcAft>
              <a:buNone/>
              <a:defRPr/>
            </a:pPr>
            <a:r>
              <a:rPr lang="en" sz="1600">
                <a:solidFill>
                  <a:srgbClr val="CBD5E1"/>
                </a:solidFill>
              </a:rPr>
              <a:t>In standard SQL, you must create sparse columns (many NULLs) or complex EAV tables to handle dynamic attributes.</a:t>
            </a:r>
            <a:endParaRPr sz="1600">
              <a:solidFill>
                <a:srgbClr val="CBD5E1"/>
              </a:solidFill>
            </a:endParaRPr>
          </a:p>
        </p:txBody>
      </p:sp>
      <p:sp>
        <p:nvSpPr>
          <p:cNvPr id="616897461" name="Google Shape;270;p44"/>
          <p:cNvSpPr txBox="1"/>
          <p:nvPr/>
        </p:nvSpPr>
        <p:spPr bwMode="auto">
          <a:xfrm>
            <a:off x="4699000" y="1397000"/>
            <a:ext cx="3936900" cy="3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solidFill>
                  <a:srgbClr val="CBD5E1"/>
                </a:solidFill>
              </a:rPr>
              <a:t>The Postgres Solution</a:t>
            </a:r>
            <a:endParaRPr sz="1600">
              <a:solidFill>
                <a:srgbClr val="CBD5E1"/>
              </a:solidFill>
            </a:endParaRPr>
          </a:p>
          <a:p>
            <a:pPr marL="0" lvl="0" indent="0" algn="l" rtl="0">
              <a:spcBef>
                <a:spcPts val="0"/>
              </a:spcBef>
              <a:spcAft>
                <a:spcPts val="0"/>
              </a:spcAft>
              <a:buNone/>
              <a:defRPr/>
            </a:pPr>
            <a:r>
              <a:rPr lang="en" sz="1600">
                <a:solidFill>
                  <a:srgbClr val="CBD5E1"/>
                </a:solidFill>
              </a:rPr>
              <a:t>Instead of migrating entirely to NoSQL (MongoDB), PostgreSQL introduced native JSON support.</a:t>
            </a:r>
            <a:endParaRPr sz="1600">
              <a:solidFill>
                <a:srgbClr val="CBD5E1"/>
              </a:solidFill>
            </a:endParaRPr>
          </a:p>
          <a:p>
            <a:pPr marL="0" lvl="0" indent="0" algn="l" rtl="0">
              <a:spcBef>
                <a:spcPts val="0"/>
              </a:spcBef>
              <a:spcAft>
                <a:spcPts val="0"/>
              </a:spcAft>
              <a:buNone/>
              <a:defRPr/>
            </a:pPr>
            <a:endParaRPr sz="1600">
              <a:solidFill>
                <a:srgbClr val="CBD5E1"/>
              </a:solidFill>
            </a:endParaRPr>
          </a:p>
          <a:p>
            <a:pPr marL="0" lvl="0" indent="0" algn="l" rtl="0">
              <a:spcBef>
                <a:spcPts val="0"/>
              </a:spcBef>
              <a:spcAft>
                <a:spcPts val="0"/>
              </a:spcAft>
              <a:buNone/>
              <a:defRPr/>
            </a:pPr>
            <a:r>
              <a:rPr lang="en" sz="1600">
                <a:solidFill>
                  <a:srgbClr val="CBD5E1"/>
                </a:solidFill>
              </a:rPr>
              <a:t>This allows strictness for critical data (Users, Payments) alongside schema-less JSON flexibility in the same database.</a:t>
            </a:r>
            <a:endParaRPr sz="1600">
              <a:solidFill>
                <a:srgbClr val="CBD5E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1505421206" name="Google Shape;275;p45"/>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JSON vs. JSONB (Binary)</a:t>
            </a:r>
            <a:endParaRPr sz="3600" b="1">
              <a:solidFill>
                <a:srgbClr val="38BDF8"/>
              </a:solidFill>
            </a:endParaRPr>
          </a:p>
        </p:txBody>
      </p:sp>
      <p:sp>
        <p:nvSpPr>
          <p:cNvPr id="1345427353" name="Google Shape;276;p45"/>
          <p:cNvSpPr txBox="1"/>
          <p:nvPr/>
        </p:nvSpPr>
        <p:spPr bwMode="auto">
          <a:xfrm>
            <a:off x="508000" y="1397000"/>
            <a:ext cx="3936900" cy="3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solidFill>
                  <a:srgbClr val="CBD5E1"/>
                </a:solidFill>
              </a:rPr>
              <a:t>'JSON' Type</a:t>
            </a:r>
            <a:endParaRPr sz="1600">
              <a:solidFill>
                <a:srgbClr val="CBD5E1"/>
              </a:solidFill>
            </a:endParaRPr>
          </a:p>
          <a:p>
            <a:pPr marL="0" lvl="0" indent="0" algn="l" rtl="0">
              <a:spcBef>
                <a:spcPts val="0"/>
              </a:spcBef>
              <a:spcAft>
                <a:spcPts val="0"/>
              </a:spcAft>
              <a:buNone/>
              <a:defRPr/>
            </a:pPr>
            <a:r>
              <a:rPr lang="en" sz="1600">
                <a:solidFill>
                  <a:srgbClr val="CBD5E1"/>
                </a:solidFill>
              </a:rPr>
              <a:t>Stores data as an exact text copy. Preserves whitespace.</a:t>
            </a:r>
            <a:endParaRPr sz="1600">
              <a:solidFill>
                <a:srgbClr val="CBD5E1"/>
              </a:solidFill>
            </a:endParaRPr>
          </a:p>
          <a:p>
            <a:pPr marL="0" lvl="0" indent="0" algn="l" rtl="0">
              <a:spcBef>
                <a:spcPts val="0"/>
              </a:spcBef>
              <a:spcAft>
                <a:spcPts val="0"/>
              </a:spcAft>
              <a:buNone/>
              <a:defRPr/>
            </a:pPr>
            <a:endParaRPr sz="1600">
              <a:solidFill>
                <a:srgbClr val="CBD5E1"/>
              </a:solidFill>
            </a:endParaRPr>
          </a:p>
          <a:p>
            <a:pPr marL="0" lvl="0" indent="0" algn="l" rtl="0">
              <a:spcBef>
                <a:spcPts val="0"/>
              </a:spcBef>
              <a:spcAft>
                <a:spcPts val="0"/>
              </a:spcAft>
              <a:buNone/>
              <a:defRPr/>
            </a:pPr>
            <a:r>
              <a:rPr lang="en" sz="1600">
                <a:solidFill>
                  <a:srgbClr val="CBD5E1"/>
                </a:solidFill>
              </a:rPr>
              <a:t>Slow, because PostgreSQL must re-parse the entire text string on every query.</a:t>
            </a:r>
            <a:endParaRPr sz="1600">
              <a:solidFill>
                <a:srgbClr val="CBD5E1"/>
              </a:solidFill>
            </a:endParaRPr>
          </a:p>
        </p:txBody>
      </p:sp>
      <p:sp>
        <p:nvSpPr>
          <p:cNvPr id="541451946" name="Google Shape;277;p45"/>
          <p:cNvSpPr txBox="1"/>
          <p:nvPr/>
        </p:nvSpPr>
        <p:spPr bwMode="auto">
          <a:xfrm>
            <a:off x="4699000" y="1397000"/>
            <a:ext cx="3936900" cy="3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solidFill>
                  <a:srgbClr val="CBD5E1"/>
                </a:solidFill>
              </a:rPr>
              <a:t>'JSONB' Type</a:t>
            </a:r>
            <a:endParaRPr sz="1600">
              <a:solidFill>
                <a:srgbClr val="CBD5E1"/>
              </a:solidFill>
            </a:endParaRPr>
          </a:p>
          <a:p>
            <a:pPr marL="0" lvl="0" indent="0" algn="l" rtl="0">
              <a:spcBef>
                <a:spcPts val="0"/>
              </a:spcBef>
              <a:spcAft>
                <a:spcPts val="0"/>
              </a:spcAft>
              <a:buNone/>
              <a:defRPr/>
            </a:pPr>
            <a:r>
              <a:rPr lang="en" sz="1600">
                <a:solidFill>
                  <a:srgbClr val="CBD5E1"/>
                </a:solidFill>
              </a:rPr>
              <a:t>Stores data in a decomposed binary format. Strips whitespaces and duplicate keys.</a:t>
            </a:r>
            <a:endParaRPr sz="1600">
              <a:solidFill>
                <a:srgbClr val="CBD5E1"/>
              </a:solidFill>
            </a:endParaRPr>
          </a:p>
          <a:p>
            <a:pPr marL="0" lvl="0" indent="0" algn="l" rtl="0">
              <a:spcBef>
                <a:spcPts val="0"/>
              </a:spcBef>
              <a:spcAft>
                <a:spcPts val="0"/>
              </a:spcAft>
              <a:buNone/>
              <a:defRPr/>
            </a:pPr>
            <a:endParaRPr sz="1600">
              <a:solidFill>
                <a:srgbClr val="CBD5E1"/>
              </a:solidFill>
            </a:endParaRPr>
          </a:p>
          <a:p>
            <a:pPr marL="0" lvl="0" indent="0" algn="l" rtl="0">
              <a:spcBef>
                <a:spcPts val="0"/>
              </a:spcBef>
              <a:spcAft>
                <a:spcPts val="0"/>
              </a:spcAft>
              <a:buNone/>
              <a:defRPr/>
            </a:pPr>
            <a:r>
              <a:rPr lang="en" sz="1600">
                <a:solidFill>
                  <a:srgbClr val="CBD5E1"/>
                </a:solidFill>
              </a:rPr>
              <a:t>JSONB is drastically faster to process and supports advanced GIN indexing. This is the industry standard.</a:t>
            </a:r>
            <a:endParaRPr sz="1600">
              <a:solidFill>
                <a:srgbClr val="CBD5E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627827054" name="Google Shape;282;p46"/>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The GIN Index Advantage</a:t>
            </a:r>
            <a:endParaRPr sz="3600" b="1">
              <a:solidFill>
                <a:srgbClr val="38BDF8"/>
              </a:solidFill>
            </a:endParaRPr>
          </a:p>
        </p:txBody>
      </p:sp>
      <p:sp>
        <p:nvSpPr>
          <p:cNvPr id="1503880140" name="Google Shape;283;p46"/>
          <p:cNvSpPr txBox="1"/>
          <p:nvPr/>
        </p:nvSpPr>
        <p:spPr bwMode="auto">
          <a:xfrm>
            <a:off x="508000" y="1397000"/>
            <a:ext cx="3936900" cy="3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solidFill>
                  <a:srgbClr val="CBD5E1"/>
                </a:solidFill>
              </a:rPr>
              <a:t>Standard SQL B-Tree indexes fail at searching inside complex objects.</a:t>
            </a:r>
            <a:endParaRPr sz="1600">
              <a:solidFill>
                <a:srgbClr val="CBD5E1"/>
              </a:solidFill>
            </a:endParaRPr>
          </a:p>
          <a:p>
            <a:pPr marL="0" lvl="0" indent="0" algn="l" rtl="0">
              <a:spcBef>
                <a:spcPts val="0"/>
              </a:spcBef>
              <a:spcAft>
                <a:spcPts val="0"/>
              </a:spcAft>
              <a:buNone/>
              <a:defRPr/>
            </a:pPr>
            <a:endParaRPr sz="1600">
              <a:solidFill>
                <a:srgbClr val="CBD5E1"/>
              </a:solidFill>
            </a:endParaRPr>
          </a:p>
          <a:p>
            <a:pPr marL="0" lvl="0" indent="0" algn="l" rtl="0">
              <a:spcBef>
                <a:spcPts val="0"/>
              </a:spcBef>
              <a:spcAft>
                <a:spcPts val="0"/>
              </a:spcAft>
              <a:buNone/>
              <a:defRPr/>
            </a:pPr>
            <a:r>
              <a:rPr lang="en" sz="1600">
                <a:solidFill>
                  <a:srgbClr val="CBD5E1"/>
                </a:solidFill>
              </a:rPr>
              <a:t>Generalized Inverted Index (GIN)</a:t>
            </a:r>
            <a:endParaRPr sz="1600">
              <a:solidFill>
                <a:srgbClr val="CBD5E1"/>
              </a:solidFill>
            </a:endParaRPr>
          </a:p>
          <a:p>
            <a:pPr marL="0" lvl="0" indent="0" algn="l" rtl="0">
              <a:spcBef>
                <a:spcPts val="0"/>
              </a:spcBef>
              <a:spcAft>
                <a:spcPts val="0"/>
              </a:spcAft>
              <a:buNone/>
              <a:defRPr/>
            </a:pPr>
            <a:r>
              <a:rPr lang="en" sz="1600">
                <a:solidFill>
                  <a:srgbClr val="CBD5E1"/>
                </a:solidFill>
              </a:rPr>
              <a:t>It creates an index entry for every key and value inside the JSONB object, allowing PostgreSQL to instantly locate records that contain specific nested JSON structures.</a:t>
            </a:r>
            <a:endParaRPr sz="1600">
              <a:solidFill>
                <a:srgbClr val="CBD5E1"/>
              </a:solidFill>
            </a:endParaRPr>
          </a:p>
        </p:txBody>
      </p:sp>
      <p:pic>
        <p:nvPicPr>
          <p:cNvPr id="172146857" name="Google Shape;284;p46"/>
          <p:cNvPicPr/>
          <p:nvPr/>
        </p:nvPicPr>
        <p:blipFill rotWithShape="1">
          <a:blip r:embed="rId3">
            <a:alphaModFix/>
          </a:blip>
          <a:stretch/>
        </p:blipFill>
        <p:spPr bwMode="auto">
          <a:xfrm>
            <a:off x="4699000" y="1703917"/>
            <a:ext cx="3937001" cy="2624667"/>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400353183" name="Google Shape;289;p47"/>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JSONB Syntax: DDL &amp; Insert</a:t>
            </a:r>
            <a:endParaRPr sz="3600" b="1">
              <a:solidFill>
                <a:srgbClr val="38BDF8"/>
              </a:solidFill>
            </a:endParaRPr>
          </a:p>
        </p:txBody>
      </p:sp>
      <p:sp>
        <p:nvSpPr>
          <p:cNvPr id="1097105279" name="Google Shape;290;p47"/>
          <p:cNvSpPr txBox="1"/>
          <p:nvPr/>
        </p:nvSpPr>
        <p:spPr bwMode="auto">
          <a:xfrm>
            <a:off x="508000" y="1397000"/>
            <a:ext cx="3810000" cy="3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solidFill>
                  <a:srgbClr val="CBD5E1"/>
                </a:solidFill>
              </a:rPr>
              <a:t>1. Table Creation</a:t>
            </a:r>
            <a:endParaRPr sz="1600">
              <a:solidFill>
                <a:srgbClr val="CBD5E1"/>
              </a:solidFill>
            </a:endParaRPr>
          </a:p>
          <a:p>
            <a:pPr marL="0" lvl="0" indent="0" algn="l" rtl="0">
              <a:spcBef>
                <a:spcPts val="0"/>
              </a:spcBef>
              <a:spcAft>
                <a:spcPts val="0"/>
              </a:spcAft>
              <a:buNone/>
              <a:defRPr/>
            </a:pPr>
            <a:r>
              <a:rPr lang="en" sz="1600">
                <a:solidFill>
                  <a:srgbClr val="CBD5E1"/>
                </a:solidFill>
              </a:rPr>
              <a:t>We define the column simply as JSONB.</a:t>
            </a:r>
            <a:endParaRPr sz="1600">
              <a:solidFill>
                <a:srgbClr val="CBD5E1"/>
              </a:solidFill>
            </a:endParaRPr>
          </a:p>
          <a:p>
            <a:pPr marL="0" lvl="0" indent="0" algn="l" rtl="0">
              <a:spcBef>
                <a:spcPts val="0"/>
              </a:spcBef>
              <a:spcAft>
                <a:spcPts val="0"/>
              </a:spcAft>
              <a:buNone/>
              <a:defRPr/>
            </a:pPr>
            <a:endParaRPr sz="1600">
              <a:solidFill>
                <a:srgbClr val="CBD5E1"/>
              </a:solidFill>
            </a:endParaRPr>
          </a:p>
          <a:p>
            <a:pPr marL="0" lvl="0" indent="0" algn="l" rtl="0">
              <a:spcBef>
                <a:spcPts val="0"/>
              </a:spcBef>
              <a:spcAft>
                <a:spcPts val="0"/>
              </a:spcAft>
              <a:buNone/>
              <a:defRPr/>
            </a:pPr>
            <a:r>
              <a:rPr lang="en" sz="1600">
                <a:solidFill>
                  <a:srgbClr val="CBD5E1"/>
                </a:solidFill>
              </a:rPr>
              <a:t>2. Inserting Nested Data</a:t>
            </a:r>
            <a:endParaRPr sz="1600">
              <a:solidFill>
                <a:srgbClr val="CBD5E1"/>
              </a:solidFill>
            </a:endParaRPr>
          </a:p>
          <a:p>
            <a:pPr marL="0" lvl="0" indent="0" algn="l" rtl="0">
              <a:spcBef>
                <a:spcPts val="0"/>
              </a:spcBef>
              <a:spcAft>
                <a:spcPts val="0"/>
              </a:spcAft>
              <a:buNone/>
              <a:defRPr/>
            </a:pPr>
            <a:r>
              <a:rPr lang="en" sz="1600">
                <a:solidFill>
                  <a:srgbClr val="CBD5E1"/>
                </a:solidFill>
              </a:rPr>
              <a:t>We insert it as a standard formatted string. Postgres validates the JSON upon insert.</a:t>
            </a:r>
            <a:endParaRPr sz="1600">
              <a:solidFill>
                <a:srgbClr val="CBD5E1"/>
              </a:solidFill>
            </a:endParaRPr>
          </a:p>
        </p:txBody>
      </p:sp>
      <p:sp>
        <p:nvSpPr>
          <p:cNvPr id="132520614" name="Google Shape;291;p47"/>
          <p:cNvSpPr/>
          <p:nvPr/>
        </p:nvSpPr>
        <p:spPr bwMode="auto">
          <a:xfrm>
            <a:off x="4445000" y="1397000"/>
            <a:ext cx="4317900" cy="3365400"/>
          </a:xfrm>
          <a:prstGeom prst="roundRect">
            <a:avLst>
              <a:gd name="adj" fmla="val 16667"/>
            </a:avLst>
          </a:prstGeom>
          <a:solidFill>
            <a:srgbClr val="020617"/>
          </a:solidFill>
          <a:ln>
            <a:noFill/>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625566434" name="Google Shape;292;p47"/>
          <p:cNvSpPr txBox="1"/>
          <p:nvPr/>
        </p:nvSpPr>
        <p:spPr bwMode="auto">
          <a:xfrm>
            <a:off x="4508500" y="1460500"/>
            <a:ext cx="4191000" cy="323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200">
                <a:solidFill>
                  <a:srgbClr val="A3E635"/>
                </a:solidFill>
                <a:latin typeface="Consolas"/>
                <a:ea typeface="Consolas"/>
                <a:cs typeface="Consolas"/>
              </a:rPr>
              <a:t>CREATE TABLE products (</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id SERIAL PRIMARY KEY,</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name VARCHAR(100),</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attributes JSONB</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a:t>
            </a:r>
            <a:endParaRPr sz="1200">
              <a:solidFill>
                <a:srgbClr val="A3E635"/>
              </a:solidFill>
              <a:latin typeface="Consolas"/>
              <a:ea typeface="Consolas"/>
              <a:cs typeface="Consolas"/>
            </a:endParaRPr>
          </a:p>
          <a:p>
            <a:pPr marL="0" lvl="0" indent="0" algn="l" rtl="0">
              <a:spcBef>
                <a:spcPts val="0"/>
              </a:spcBef>
              <a:spcAft>
                <a:spcPts val="0"/>
              </a:spcAft>
              <a:buNone/>
              <a:defRPr/>
            </a:pP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INSERT INTO products </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(name, attributes) VALUES (</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'Laptop', </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'{"ram": "16GB"}'</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a:t>
            </a:r>
            <a:endParaRPr sz="1200">
              <a:solidFill>
                <a:srgbClr val="A3E635"/>
              </a:solidFill>
              <a:latin typeface="Consolas"/>
              <a:ea typeface="Consolas"/>
              <a:cs typeface="Consola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893840641" name="Google Shape;297;p48"/>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JSONB Syntax: Query &amp; Filter</a:t>
            </a:r>
            <a:endParaRPr sz="3600" b="1">
              <a:solidFill>
                <a:srgbClr val="38BDF8"/>
              </a:solidFill>
            </a:endParaRPr>
          </a:p>
        </p:txBody>
      </p:sp>
      <p:sp>
        <p:nvSpPr>
          <p:cNvPr id="2077567410" name="Google Shape;298;p48"/>
          <p:cNvSpPr txBox="1"/>
          <p:nvPr/>
        </p:nvSpPr>
        <p:spPr bwMode="auto">
          <a:xfrm>
            <a:off x="508000" y="1397000"/>
            <a:ext cx="3810000" cy="3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solidFill>
                  <a:srgbClr val="CBD5E1"/>
                </a:solidFill>
              </a:rPr>
              <a:t>3. Extracting Data</a:t>
            </a:r>
            <a:endParaRPr sz="1600">
              <a:solidFill>
                <a:srgbClr val="CBD5E1"/>
              </a:solidFill>
            </a:endParaRPr>
          </a:p>
          <a:p>
            <a:pPr marL="0" lvl="0" indent="0" algn="l" rtl="0">
              <a:spcBef>
                <a:spcPts val="0"/>
              </a:spcBef>
              <a:spcAft>
                <a:spcPts val="0"/>
              </a:spcAft>
              <a:buNone/>
              <a:defRPr/>
            </a:pPr>
            <a:r>
              <a:rPr lang="en" sz="1600">
                <a:solidFill>
                  <a:srgbClr val="CBD5E1"/>
                </a:solidFill>
              </a:rPr>
              <a:t>Use -&gt;&gt; to extract as Text, -&gt; to extract as JSON object.</a:t>
            </a:r>
            <a:endParaRPr sz="1600">
              <a:solidFill>
                <a:srgbClr val="CBD5E1"/>
              </a:solidFill>
            </a:endParaRPr>
          </a:p>
          <a:p>
            <a:pPr marL="0" lvl="0" indent="0" algn="l" rtl="0">
              <a:spcBef>
                <a:spcPts val="0"/>
              </a:spcBef>
              <a:spcAft>
                <a:spcPts val="0"/>
              </a:spcAft>
              <a:buNone/>
              <a:defRPr/>
            </a:pPr>
            <a:endParaRPr sz="1600">
              <a:solidFill>
                <a:srgbClr val="CBD5E1"/>
              </a:solidFill>
            </a:endParaRPr>
          </a:p>
          <a:p>
            <a:pPr marL="0" lvl="0" indent="0" algn="l" rtl="0">
              <a:spcBef>
                <a:spcPts val="0"/>
              </a:spcBef>
              <a:spcAft>
                <a:spcPts val="0"/>
              </a:spcAft>
              <a:buNone/>
              <a:defRPr/>
            </a:pPr>
            <a:r>
              <a:rPr lang="en" sz="1600">
                <a:solidFill>
                  <a:srgbClr val="CBD5E1"/>
                </a:solidFill>
              </a:rPr>
              <a:t>4. Filtering Data</a:t>
            </a:r>
            <a:endParaRPr sz="1600">
              <a:solidFill>
                <a:srgbClr val="CBD5E1"/>
              </a:solidFill>
            </a:endParaRPr>
          </a:p>
          <a:p>
            <a:pPr marL="0" lvl="0" indent="0" algn="l" rtl="0">
              <a:spcBef>
                <a:spcPts val="0"/>
              </a:spcBef>
              <a:spcAft>
                <a:spcPts val="0"/>
              </a:spcAft>
              <a:buNone/>
              <a:defRPr/>
            </a:pPr>
            <a:r>
              <a:rPr lang="en" sz="1600">
                <a:solidFill>
                  <a:srgbClr val="CBD5E1"/>
                </a:solidFill>
              </a:rPr>
              <a:t>Use @&gt; (Containment) to check if JSON contains a subset. This utilizes the GIN Index!</a:t>
            </a:r>
            <a:endParaRPr sz="1600">
              <a:solidFill>
                <a:srgbClr val="CBD5E1"/>
              </a:solidFill>
            </a:endParaRPr>
          </a:p>
        </p:txBody>
      </p:sp>
      <p:sp>
        <p:nvSpPr>
          <p:cNvPr id="1608840728" name="Google Shape;299;p48"/>
          <p:cNvSpPr/>
          <p:nvPr/>
        </p:nvSpPr>
        <p:spPr bwMode="auto">
          <a:xfrm>
            <a:off x="4445000" y="1397000"/>
            <a:ext cx="4317900" cy="3365400"/>
          </a:xfrm>
          <a:prstGeom prst="roundRect">
            <a:avLst>
              <a:gd name="adj" fmla="val 16667"/>
            </a:avLst>
          </a:prstGeom>
          <a:solidFill>
            <a:srgbClr val="020617"/>
          </a:solidFill>
          <a:ln>
            <a:noFill/>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1774244803" name="Google Shape;300;p48"/>
          <p:cNvSpPr txBox="1"/>
          <p:nvPr/>
        </p:nvSpPr>
        <p:spPr bwMode="auto">
          <a:xfrm>
            <a:off x="4508500" y="1460500"/>
            <a:ext cx="4191000" cy="323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200">
                <a:solidFill>
                  <a:srgbClr val="A3E635"/>
                </a:solidFill>
                <a:latin typeface="Consolas"/>
                <a:ea typeface="Consolas"/>
                <a:cs typeface="Consolas"/>
              </a:rPr>
              <a:t>-- Returns "16GB" as text</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SELECT attributes-&gt;&gt;'ram' </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FROM products;</a:t>
            </a:r>
            <a:endParaRPr sz="1200">
              <a:solidFill>
                <a:srgbClr val="A3E635"/>
              </a:solidFill>
              <a:latin typeface="Consolas"/>
              <a:ea typeface="Consolas"/>
              <a:cs typeface="Consolas"/>
            </a:endParaRPr>
          </a:p>
          <a:p>
            <a:pPr marL="0" lvl="0" indent="0" algn="l" rtl="0">
              <a:spcBef>
                <a:spcPts val="0"/>
              </a:spcBef>
              <a:spcAft>
                <a:spcPts val="0"/>
              </a:spcAft>
              <a:buNone/>
              <a:defRPr/>
            </a:pP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Containment Filter</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SELECT name FROM products </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WHERE attributes @&gt; </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'{"ram": "16GB"}';</a:t>
            </a:r>
            <a:endParaRPr sz="1200">
              <a:solidFill>
                <a:srgbClr val="A3E635"/>
              </a:solidFill>
              <a:latin typeface="Consolas"/>
              <a:ea typeface="Consolas"/>
              <a:cs typeface="Consola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1157460522" name="Google Shape;305;p49"/>
          <p:cNvSpPr txBox="1"/>
          <p:nvPr/>
        </p:nvSpPr>
        <p:spPr bwMode="auto">
          <a:xfrm>
            <a:off x="508000" y="1524000"/>
            <a:ext cx="8127900" cy="126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defRPr/>
            </a:pPr>
            <a:r>
              <a:rPr lang="en" sz="4800" b="1">
                <a:solidFill>
                  <a:srgbClr val="38BDF8"/>
                </a:solidFill>
              </a:rPr>
              <a:t>Hour 4: Practical Lab</a:t>
            </a:r>
            <a:endParaRPr sz="4800" b="1">
              <a:solidFill>
                <a:srgbClr val="38BDF8"/>
              </a:solidFill>
            </a:endParaRPr>
          </a:p>
        </p:txBody>
      </p:sp>
      <p:sp>
        <p:nvSpPr>
          <p:cNvPr id="2030917384" name="Google Shape;306;p49"/>
          <p:cNvSpPr txBox="1"/>
          <p:nvPr/>
        </p:nvSpPr>
        <p:spPr bwMode="auto">
          <a:xfrm>
            <a:off x="508000" y="2921000"/>
            <a:ext cx="8127900" cy="126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defRPr/>
            </a:pPr>
            <a:r>
              <a:rPr lang="en" sz="2000">
                <a:solidFill>
                  <a:srgbClr val="CBD5E1"/>
                </a:solidFill>
              </a:rPr>
              <a:t>Environment Assembly &amp; Execution</a:t>
            </a:r>
            <a:endParaRPr sz="2000">
              <a:solidFill>
                <a:srgbClr val="CBD5E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1532701155" name="Google Shape;311;p50"/>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Native Linux Installation</a:t>
            </a:r>
            <a:endParaRPr sz="3600" b="1">
              <a:solidFill>
                <a:srgbClr val="38BDF8"/>
              </a:solidFill>
            </a:endParaRPr>
          </a:p>
        </p:txBody>
      </p:sp>
      <p:sp>
        <p:nvSpPr>
          <p:cNvPr id="250209055" name="Google Shape;312;p50"/>
          <p:cNvSpPr txBox="1"/>
          <p:nvPr/>
        </p:nvSpPr>
        <p:spPr bwMode="auto">
          <a:xfrm>
            <a:off x="508000" y="1143000"/>
            <a:ext cx="8127900" cy="63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solidFill>
                  <a:srgbClr val="CBD5E1"/>
                </a:solidFill>
              </a:rPr>
              <a:t>For Debian/Ubuntu systems, we can install directly to the host OS using the apt package manager. (Note: Docker is preferred over native DB installs).</a:t>
            </a:r>
            <a:endParaRPr sz="1600">
              <a:solidFill>
                <a:srgbClr val="CBD5E1"/>
              </a:solidFill>
            </a:endParaRPr>
          </a:p>
        </p:txBody>
      </p:sp>
      <p:sp>
        <p:nvSpPr>
          <p:cNvPr id="880956337" name="Google Shape;313;p50"/>
          <p:cNvSpPr/>
          <p:nvPr/>
        </p:nvSpPr>
        <p:spPr bwMode="auto">
          <a:xfrm>
            <a:off x="508000" y="1905000"/>
            <a:ext cx="8127900" cy="2857500"/>
          </a:xfrm>
          <a:prstGeom prst="roundRect">
            <a:avLst>
              <a:gd name="adj" fmla="val 16667"/>
            </a:avLst>
          </a:prstGeom>
          <a:solidFill>
            <a:srgbClr val="020617"/>
          </a:solidFill>
          <a:ln>
            <a:noFill/>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1251120394" name="Google Shape;314;p50"/>
          <p:cNvSpPr txBox="1"/>
          <p:nvPr/>
        </p:nvSpPr>
        <p:spPr bwMode="auto">
          <a:xfrm>
            <a:off x="571500" y="1968500"/>
            <a:ext cx="8001000" cy="273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200">
                <a:solidFill>
                  <a:srgbClr val="A3E635"/>
                </a:solidFill>
                <a:latin typeface="Consolas"/>
                <a:ea typeface="Consolas"/>
                <a:cs typeface="Consolas"/>
              </a:rPr>
              <a:t>$ sudo apt update</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sudo apt install -y docker.io docker-compose-v2</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sudo usermod -aG docker $USER</a:t>
            </a:r>
            <a:endParaRPr sz="1200">
              <a:solidFill>
                <a:srgbClr val="A3E635"/>
              </a:solidFill>
              <a:latin typeface="Consolas"/>
              <a:ea typeface="Consolas"/>
              <a:cs typeface="Consolas"/>
            </a:endParaRPr>
          </a:p>
          <a:p>
            <a:pPr marL="0" lvl="0" indent="0" algn="l" rtl="0">
              <a:spcBef>
                <a:spcPts val="0"/>
              </a:spcBef>
              <a:spcAft>
                <a:spcPts val="0"/>
              </a:spcAft>
              <a:buNone/>
              <a:defRPr/>
            </a:pP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Install Databases Native (Optional for this lab)</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sudo apt install -y redis-server postgresql</a:t>
            </a:r>
            <a:endParaRPr sz="1200">
              <a:solidFill>
                <a:srgbClr val="A3E635"/>
              </a:solidFill>
              <a:latin typeface="Consolas"/>
              <a:ea typeface="Consolas"/>
              <a:cs typeface="Consola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383759808" name="Google Shape;319;p51"/>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Lab Setup: docker-compose.yml</a:t>
            </a:r>
            <a:endParaRPr sz="3600" b="1">
              <a:solidFill>
                <a:srgbClr val="38BDF8"/>
              </a:solidFill>
            </a:endParaRPr>
          </a:p>
        </p:txBody>
      </p:sp>
      <p:sp>
        <p:nvSpPr>
          <p:cNvPr id="1104743310" name="Google Shape;320;p51"/>
          <p:cNvSpPr txBox="1"/>
          <p:nvPr/>
        </p:nvSpPr>
        <p:spPr bwMode="auto">
          <a:xfrm>
            <a:off x="508000" y="1143000"/>
            <a:ext cx="8127900" cy="63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solidFill>
                  <a:srgbClr val="CBD5E1"/>
                </a:solidFill>
              </a:rPr>
              <a:t>Create a directory and save the declarative structure we studied earlier.</a:t>
            </a:r>
            <a:endParaRPr sz="1600">
              <a:solidFill>
                <a:srgbClr val="CBD5E1"/>
              </a:solidFill>
            </a:endParaRPr>
          </a:p>
        </p:txBody>
      </p:sp>
      <p:sp>
        <p:nvSpPr>
          <p:cNvPr id="1833317081" name="Google Shape;321;p51"/>
          <p:cNvSpPr/>
          <p:nvPr/>
        </p:nvSpPr>
        <p:spPr bwMode="auto">
          <a:xfrm>
            <a:off x="508000" y="1905000"/>
            <a:ext cx="8127900" cy="2857500"/>
          </a:xfrm>
          <a:prstGeom prst="roundRect">
            <a:avLst>
              <a:gd name="adj" fmla="val 16667"/>
            </a:avLst>
          </a:prstGeom>
          <a:solidFill>
            <a:srgbClr val="020617"/>
          </a:solidFill>
          <a:ln>
            <a:noFill/>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924321370" name="Google Shape;322;p51"/>
          <p:cNvSpPr txBox="1"/>
          <p:nvPr/>
        </p:nvSpPr>
        <p:spPr bwMode="auto">
          <a:xfrm>
            <a:off x="571500" y="1968500"/>
            <a:ext cx="8001000" cy="273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200">
                <a:solidFill>
                  <a:srgbClr val="A3E635"/>
                </a:solidFill>
                <a:latin typeface="Consolas"/>
                <a:ea typeface="Consolas"/>
                <a:cs typeface="Consolas"/>
              </a:rPr>
              <a:t>services:</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postgres:</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image: postgres:15</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container_name: lab_postgres</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environment:</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POSTGRES_USER: admin</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POSTGRES_PASSWORD: secretpassword</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POSTGRES_DB: app_db</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ports:</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 "5432:5432"</a:t>
            </a:r>
            <a:endParaRPr sz="1200">
              <a:solidFill>
                <a:srgbClr val="A3E635"/>
              </a:solidFill>
              <a:latin typeface="Consolas"/>
              <a:ea typeface="Consolas"/>
              <a:cs typeface="Consolas"/>
            </a:endParaRPr>
          </a:p>
          <a:p>
            <a:pPr marL="0" lvl="0" indent="0" algn="l" rtl="0">
              <a:spcBef>
                <a:spcPts val="0"/>
              </a:spcBef>
              <a:spcAft>
                <a:spcPts val="0"/>
              </a:spcAft>
              <a:buNone/>
              <a:defRPr/>
            </a:pP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redis:</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image: redis:7</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container_name: lab_redis</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ports:</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 "6379:6379"</a:t>
            </a:r>
            <a:endParaRPr sz="1200">
              <a:solidFill>
                <a:srgbClr val="A3E635"/>
              </a:solidFill>
              <a:latin typeface="Consolas"/>
              <a:ea typeface="Consolas"/>
              <a:cs typeface="Consola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297259484" name="Google Shape;327;p52"/>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Lab Execution - Step 1 &amp; 2</a:t>
            </a:r>
            <a:endParaRPr sz="3600" b="1">
              <a:solidFill>
                <a:srgbClr val="38BDF8"/>
              </a:solidFill>
            </a:endParaRPr>
          </a:p>
        </p:txBody>
      </p:sp>
      <p:sp>
        <p:nvSpPr>
          <p:cNvPr id="1419805280" name="Google Shape;328;p52"/>
          <p:cNvSpPr txBox="1"/>
          <p:nvPr/>
        </p:nvSpPr>
        <p:spPr bwMode="auto">
          <a:xfrm>
            <a:off x="508000" y="1143000"/>
            <a:ext cx="8127900" cy="63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solidFill>
                  <a:srgbClr val="CBD5E1"/>
                </a:solidFill>
              </a:rPr>
              <a:t>1. Spin Up Compose Stack</a:t>
            </a:r>
            <a:endParaRPr sz="1600">
              <a:solidFill>
                <a:srgbClr val="CBD5E1"/>
              </a:solidFill>
            </a:endParaRPr>
          </a:p>
          <a:p>
            <a:pPr marL="0" lvl="0" indent="0" algn="l" rtl="0">
              <a:spcBef>
                <a:spcPts val="0"/>
              </a:spcBef>
              <a:spcAft>
                <a:spcPts val="0"/>
              </a:spcAft>
              <a:buNone/>
              <a:defRPr/>
            </a:pPr>
            <a:r>
              <a:rPr lang="en" sz="1600">
                <a:solidFill>
                  <a:srgbClr val="CBD5E1"/>
                </a:solidFill>
              </a:rPr>
              <a:t>2. Access Postgres interactively</a:t>
            </a:r>
            <a:endParaRPr sz="1600">
              <a:solidFill>
                <a:srgbClr val="CBD5E1"/>
              </a:solidFill>
            </a:endParaRPr>
          </a:p>
        </p:txBody>
      </p:sp>
      <p:sp>
        <p:nvSpPr>
          <p:cNvPr id="1133144820" name="Google Shape;329;p52"/>
          <p:cNvSpPr/>
          <p:nvPr/>
        </p:nvSpPr>
        <p:spPr bwMode="auto">
          <a:xfrm>
            <a:off x="508000" y="1905000"/>
            <a:ext cx="8127900" cy="2857500"/>
          </a:xfrm>
          <a:prstGeom prst="roundRect">
            <a:avLst>
              <a:gd name="adj" fmla="val 16667"/>
            </a:avLst>
          </a:prstGeom>
          <a:solidFill>
            <a:srgbClr val="020617"/>
          </a:solidFill>
          <a:ln>
            <a:noFill/>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367199563" name="Google Shape;330;p52"/>
          <p:cNvSpPr txBox="1"/>
          <p:nvPr/>
        </p:nvSpPr>
        <p:spPr bwMode="auto">
          <a:xfrm>
            <a:off x="571500" y="1968500"/>
            <a:ext cx="8001000" cy="273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200">
                <a:solidFill>
                  <a:srgbClr val="A3E635"/>
                </a:solidFill>
                <a:latin typeface="Consolas"/>
                <a:ea typeface="Consolas"/>
                <a:cs typeface="Consolas"/>
              </a:rPr>
              <a:t>$ docker compose up -d</a:t>
            </a:r>
            <a:r>
              <a:rPr lang="en-US" sz="1200">
                <a:solidFill>
                  <a:srgbClr val="A3E635"/>
                </a:solidFill>
                <a:latin typeface="Consolas"/>
                <a:ea typeface="Consolas"/>
                <a:cs typeface="Consolas"/>
              </a:rPr>
              <a:t> or sudo docker compose up -d</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docker ps</a:t>
            </a:r>
            <a:endParaRPr sz="1200">
              <a:solidFill>
                <a:srgbClr val="A3E635"/>
              </a:solidFill>
              <a:latin typeface="Consolas"/>
              <a:ea typeface="Consolas"/>
              <a:cs typeface="Consolas"/>
            </a:endParaRPr>
          </a:p>
          <a:p>
            <a:pPr marL="0" lvl="0" indent="0" algn="l" rtl="0">
              <a:spcBef>
                <a:spcPts val="0"/>
              </a:spcBef>
              <a:spcAft>
                <a:spcPts val="0"/>
              </a:spcAft>
              <a:buNone/>
              <a:defRPr/>
            </a:pP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docker exec -it lab_postgres psql -U admin -d app_db</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CREATE TABLE products (id SERIAL, attributes JSONB);</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\q (to exit)</a:t>
            </a:r>
            <a:endParaRPr sz="1200">
              <a:solidFill>
                <a:srgbClr val="A3E635"/>
              </a:solidFill>
              <a:latin typeface="Consolas"/>
              <a:ea typeface="Consolas"/>
              <a:cs typeface="Consola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1657364382" name="Google Shape;335;p53"/>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Lab Execution - Step 3 &amp; 4</a:t>
            </a:r>
            <a:endParaRPr sz="3600" b="1">
              <a:solidFill>
                <a:srgbClr val="38BDF8"/>
              </a:solidFill>
            </a:endParaRPr>
          </a:p>
        </p:txBody>
      </p:sp>
      <p:sp>
        <p:nvSpPr>
          <p:cNvPr id="1565745289" name="Google Shape;336;p53"/>
          <p:cNvSpPr txBox="1"/>
          <p:nvPr/>
        </p:nvSpPr>
        <p:spPr bwMode="auto">
          <a:xfrm>
            <a:off x="508000" y="1143000"/>
            <a:ext cx="8127900" cy="63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solidFill>
                  <a:srgbClr val="CBD5E1"/>
                </a:solidFill>
              </a:rPr>
              <a:t>3. Access Redis</a:t>
            </a:r>
            <a:endParaRPr sz="1600">
              <a:solidFill>
                <a:srgbClr val="CBD5E1"/>
              </a:solidFill>
            </a:endParaRPr>
          </a:p>
          <a:p>
            <a:pPr marL="0" lvl="0" indent="0" algn="l" rtl="0">
              <a:spcBef>
                <a:spcPts val="0"/>
              </a:spcBef>
              <a:spcAft>
                <a:spcPts val="0"/>
              </a:spcAft>
              <a:buNone/>
              <a:defRPr/>
            </a:pPr>
            <a:r>
              <a:rPr lang="en" sz="1600">
                <a:solidFill>
                  <a:srgbClr val="CBD5E1"/>
                </a:solidFill>
              </a:rPr>
              <a:t>4. Simulate Cache TTL and observe expiration after 10 seconds</a:t>
            </a:r>
            <a:endParaRPr sz="1600">
              <a:solidFill>
                <a:srgbClr val="CBD5E1"/>
              </a:solidFill>
            </a:endParaRPr>
          </a:p>
        </p:txBody>
      </p:sp>
      <p:sp>
        <p:nvSpPr>
          <p:cNvPr id="496168710" name="Google Shape;337;p53"/>
          <p:cNvSpPr/>
          <p:nvPr/>
        </p:nvSpPr>
        <p:spPr bwMode="auto">
          <a:xfrm>
            <a:off x="508000" y="1905000"/>
            <a:ext cx="8127900" cy="2857500"/>
          </a:xfrm>
          <a:prstGeom prst="roundRect">
            <a:avLst>
              <a:gd name="adj" fmla="val 16667"/>
            </a:avLst>
          </a:prstGeom>
          <a:solidFill>
            <a:srgbClr val="020617"/>
          </a:solidFill>
          <a:ln>
            <a:noFill/>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584262990" name="Google Shape;338;p53"/>
          <p:cNvSpPr txBox="1"/>
          <p:nvPr/>
        </p:nvSpPr>
        <p:spPr bwMode="auto">
          <a:xfrm>
            <a:off x="571500" y="1968500"/>
            <a:ext cx="8001000" cy="273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US" sz="1200">
                <a:solidFill>
                  <a:srgbClr val="A3E635"/>
                </a:solidFill>
                <a:latin typeface="Consolas"/>
                <a:ea typeface="Consolas"/>
                <a:cs typeface="Consolas"/>
              </a:rPr>
              <a:t>$ sudo docker start lab_redis</a:t>
            </a:r>
            <a:endParaRPr lang="en"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a:t>
            </a:r>
            <a:r>
              <a:rPr lang="en-US" sz="1200">
                <a:solidFill>
                  <a:srgbClr val="A3E635"/>
                </a:solidFill>
                <a:latin typeface="Consolas"/>
                <a:ea typeface="Consolas"/>
                <a:cs typeface="Consolas"/>
              </a:rPr>
              <a:t>sudo </a:t>
            </a:r>
            <a:r>
              <a:rPr lang="en" sz="1200">
                <a:solidFill>
                  <a:srgbClr val="A3E635"/>
                </a:solidFill>
                <a:latin typeface="Consolas"/>
                <a:ea typeface="Consolas"/>
                <a:cs typeface="Consolas"/>
              </a:rPr>
              <a:t>docker exec -it lab_redis redis-cli</a:t>
            </a:r>
            <a:endParaRPr lang="en" sz="1200">
              <a:solidFill>
                <a:srgbClr val="A3E635"/>
              </a:solidFill>
              <a:latin typeface="Consolas"/>
              <a:ea typeface="Consolas"/>
              <a:cs typeface="Consolas"/>
            </a:endParaRPr>
          </a:p>
          <a:p>
            <a:pPr marL="0" lvl="0" indent="0" algn="l" rtl="0">
              <a:spcBef>
                <a:spcPts val="0"/>
              </a:spcBef>
              <a:spcAft>
                <a:spcPts val="0"/>
              </a:spcAft>
              <a:buNone/>
              <a:defRPr/>
            </a:pP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SETEX laptop:ram 10 "16GB"</a:t>
            </a:r>
            <a:endParaRPr lang="en"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GET laptop:ram</a:t>
            </a:r>
            <a:endParaRPr sz="1200">
              <a:solidFill>
                <a:srgbClr val="A3E635"/>
              </a:solidFill>
              <a:latin typeface="Consolas"/>
              <a:ea typeface="Consolas"/>
              <a:cs typeface="Consolas"/>
            </a:endParaRPr>
          </a:p>
          <a:p>
            <a:pPr marL="0" lvl="0" indent="0" algn="l" rtl="0">
              <a:spcBef>
                <a:spcPts val="0"/>
              </a:spcBef>
              <a:spcAft>
                <a:spcPts val="0"/>
              </a:spcAft>
              <a:buNone/>
              <a:defRPr/>
            </a:pP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Wait 10 seconds...</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GET laptop:ram  # Returns (nil)</a:t>
            </a:r>
            <a:endParaRPr sz="1200">
              <a:solidFill>
                <a:srgbClr val="A3E635"/>
              </a:solidFill>
              <a:latin typeface="Consolas"/>
              <a:ea typeface="Consolas"/>
              <a:cs typeface="Consolas"/>
            </a:endParaRPr>
          </a:p>
          <a:p>
            <a:pPr marL="0" lvl="0" indent="0" algn="l" rtl="0">
              <a:spcBef>
                <a:spcPts val="0"/>
              </a:spcBef>
              <a:spcAft>
                <a:spcPts val="0"/>
              </a:spcAft>
              <a:buNone/>
              <a:defRPr/>
            </a:pP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exit</a:t>
            </a:r>
            <a:endParaRPr sz="1200">
              <a:solidFill>
                <a:srgbClr val="A3E635"/>
              </a:solidFill>
              <a:latin typeface="Consolas"/>
              <a:ea typeface="Consolas"/>
              <a:cs typeface="Consola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796607795" name="Google Shape;343;p54"/>
          <p:cNvSpPr txBox="1"/>
          <p:nvPr/>
        </p:nvSpPr>
        <p:spPr bwMode="auto">
          <a:xfrm>
            <a:off x="508000" y="381000"/>
            <a:ext cx="81279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3600" b="1">
                <a:solidFill>
                  <a:srgbClr val="38BDF8"/>
                </a:solidFill>
              </a:rPr>
              <a:t>Teardown &amp; Cleanup</a:t>
            </a:r>
            <a:endParaRPr sz="3600" b="1">
              <a:solidFill>
                <a:srgbClr val="38BDF8"/>
              </a:solidFill>
            </a:endParaRPr>
          </a:p>
        </p:txBody>
      </p:sp>
      <p:sp>
        <p:nvSpPr>
          <p:cNvPr id="763425197" name="Google Shape;344;p54"/>
          <p:cNvSpPr txBox="1"/>
          <p:nvPr/>
        </p:nvSpPr>
        <p:spPr bwMode="auto">
          <a:xfrm>
            <a:off x="508000" y="1143000"/>
            <a:ext cx="8127900" cy="63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solidFill>
                  <a:srgbClr val="CBD5E1"/>
                </a:solidFill>
              </a:rPr>
              <a:t>Developers should spin down environments they aren't actively using to save battery and RAM on their local machines.</a:t>
            </a:r>
            <a:endParaRPr sz="1600">
              <a:solidFill>
                <a:srgbClr val="CBD5E1"/>
              </a:solidFill>
            </a:endParaRPr>
          </a:p>
        </p:txBody>
      </p:sp>
      <p:sp>
        <p:nvSpPr>
          <p:cNvPr id="1913110249" name="Google Shape;345;p54"/>
          <p:cNvSpPr/>
          <p:nvPr/>
        </p:nvSpPr>
        <p:spPr bwMode="auto">
          <a:xfrm>
            <a:off x="508000" y="1905000"/>
            <a:ext cx="8127900" cy="2857500"/>
          </a:xfrm>
          <a:prstGeom prst="roundRect">
            <a:avLst>
              <a:gd name="adj" fmla="val 16667"/>
            </a:avLst>
          </a:prstGeom>
          <a:solidFill>
            <a:srgbClr val="020617"/>
          </a:solidFill>
          <a:ln>
            <a:noFill/>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292761210" name="Google Shape;346;p54"/>
          <p:cNvSpPr txBox="1"/>
          <p:nvPr/>
        </p:nvSpPr>
        <p:spPr bwMode="auto">
          <a:xfrm>
            <a:off x="571500" y="1968500"/>
            <a:ext cx="8001000" cy="273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200">
                <a:solidFill>
                  <a:srgbClr val="A3E635"/>
                </a:solidFill>
                <a:latin typeface="Consolas"/>
                <a:ea typeface="Consolas"/>
                <a:cs typeface="Consolas"/>
              </a:rPr>
              <a:t># Stopping Containers (Pauses CPU, saves data)</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docker compose stop</a:t>
            </a:r>
            <a:endParaRPr sz="1200">
              <a:solidFill>
                <a:srgbClr val="A3E635"/>
              </a:solidFill>
              <a:latin typeface="Consolas"/>
              <a:ea typeface="Consolas"/>
              <a:cs typeface="Consolas"/>
            </a:endParaRPr>
          </a:p>
          <a:p>
            <a:pPr marL="0" lvl="0" indent="0" algn="l" rtl="0">
              <a:spcBef>
                <a:spcPts val="0"/>
              </a:spcBef>
              <a:spcAft>
                <a:spcPts val="0"/>
              </a:spcAft>
              <a:buNone/>
              <a:defRPr/>
            </a:pP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Complete Teardown (Destroys containers and networks)</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docker compose down</a:t>
            </a:r>
            <a:endParaRPr sz="1200">
              <a:solidFill>
                <a:srgbClr val="A3E635"/>
              </a:solidFill>
              <a:latin typeface="Consolas"/>
              <a:ea typeface="Consolas"/>
              <a:cs typeface="Consolas"/>
            </a:endParaRPr>
          </a:p>
          <a:p>
            <a:pPr marL="0" lvl="0" indent="0" algn="l" rtl="0">
              <a:spcBef>
                <a:spcPts val="0"/>
              </a:spcBef>
              <a:spcAft>
                <a:spcPts val="0"/>
              </a:spcAft>
              <a:buNone/>
              <a:defRPr/>
            </a:pP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Add -v to also delete persistent data volumes</a:t>
            </a:r>
            <a:endParaRPr sz="1200">
              <a:solidFill>
                <a:srgbClr val="A3E635"/>
              </a:solidFill>
              <a:latin typeface="Consolas"/>
              <a:ea typeface="Consolas"/>
              <a:cs typeface="Consolas"/>
            </a:endParaRPr>
          </a:p>
          <a:p>
            <a:pPr marL="0" lvl="0" indent="0" algn="l" rtl="0">
              <a:spcBef>
                <a:spcPts val="0"/>
              </a:spcBef>
              <a:spcAft>
                <a:spcPts val="0"/>
              </a:spcAft>
              <a:buNone/>
              <a:defRPr/>
            </a:pPr>
            <a:r>
              <a:rPr lang="en" sz="1200">
                <a:solidFill>
                  <a:srgbClr val="A3E635"/>
                </a:solidFill>
                <a:latin typeface="Consolas"/>
                <a:ea typeface="Consolas"/>
                <a:cs typeface="Consolas"/>
              </a:rPr>
              <a:t>$ docker compose down -v</a:t>
            </a:r>
            <a:endParaRPr sz="1200">
              <a:solidFill>
                <a:srgbClr val="A3E635"/>
              </a:solidFill>
              <a:latin typeface="Consolas"/>
              <a:ea typeface="Consolas"/>
              <a:cs typeface="Consola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451181980" name="Google Shape;351;p55"/>
          <p:cNvSpPr txBox="1"/>
          <p:nvPr/>
        </p:nvSpPr>
        <p:spPr bwMode="auto">
          <a:xfrm>
            <a:off x="508000" y="1524000"/>
            <a:ext cx="8127900" cy="126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defRPr/>
            </a:pPr>
            <a:r>
              <a:rPr lang="en" sz="4800" b="1">
                <a:solidFill>
                  <a:srgbClr val="38BDF8"/>
                </a:solidFill>
              </a:rPr>
              <a:t>Reviewing Architecture</a:t>
            </a:r>
            <a:endParaRPr sz="4800" b="1">
              <a:solidFill>
                <a:srgbClr val="38BDF8"/>
              </a:solidFill>
            </a:endParaRPr>
          </a:p>
        </p:txBody>
      </p:sp>
      <p:sp>
        <p:nvSpPr>
          <p:cNvPr id="1130427714" name="Google Shape;352;p55"/>
          <p:cNvSpPr txBox="1"/>
          <p:nvPr/>
        </p:nvSpPr>
        <p:spPr bwMode="auto">
          <a:xfrm>
            <a:off x="508000" y="2921000"/>
            <a:ext cx="8127900" cy="126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defRPr/>
            </a:pPr>
            <a:r>
              <a:rPr lang="en" sz="2000">
                <a:solidFill>
                  <a:srgbClr val="CBD5E1"/>
                </a:solidFill>
              </a:rPr>
              <a:t>We utilize Docker for consistent delivery.</a:t>
            </a:r>
            <a:endParaRPr sz="2000">
              <a:solidFill>
                <a:srgbClr val="CBD5E1"/>
              </a:solidFill>
            </a:endParaRPr>
          </a:p>
          <a:p>
            <a:pPr marL="0" lvl="0" indent="0" algn="ctr" rtl="0">
              <a:spcBef>
                <a:spcPts val="0"/>
              </a:spcBef>
              <a:spcAft>
                <a:spcPts val="0"/>
              </a:spcAft>
              <a:buNone/>
              <a:defRPr/>
            </a:pPr>
            <a:r>
              <a:rPr lang="en" sz="2000">
                <a:solidFill>
                  <a:srgbClr val="CBD5E1"/>
                </a:solidFill>
              </a:rPr>
              <a:t>We utilize PostgreSQL for permanent relational &amp; JSON storage.</a:t>
            </a:r>
            <a:endParaRPr sz="2000">
              <a:solidFill>
                <a:srgbClr val="CBD5E1"/>
              </a:solidFill>
            </a:endParaRPr>
          </a:p>
          <a:p>
            <a:pPr marL="0" lvl="0" indent="0" algn="ctr" rtl="0">
              <a:spcBef>
                <a:spcPts val="0"/>
              </a:spcBef>
              <a:spcAft>
                <a:spcPts val="0"/>
              </a:spcAft>
              <a:buNone/>
              <a:defRPr/>
            </a:pPr>
            <a:r>
              <a:rPr lang="en" sz="2000">
                <a:solidFill>
                  <a:srgbClr val="CBD5E1"/>
                </a:solidFill>
              </a:rPr>
              <a:t>We utilize Redis for volatile, high-speed RAM caching.</a:t>
            </a:r>
            <a:endParaRPr sz="2000">
              <a:solidFill>
                <a:srgbClr val="CBD5E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F172A"/>
        </a:solidFill>
      </p:bgPr>
    </p:bg>
    <p:spTree>
      <p:nvGrpSpPr>
        <p:cNvPr id="1" name=""/>
        <p:cNvGrpSpPr/>
        <p:nvPr/>
      </p:nvGrpSpPr>
      <p:grpSpPr bwMode="auto">
        <a:xfrm>
          <a:off x="0" y="0"/>
          <a:ext cx="0" cy="0"/>
          <a:chOff x="0" y="0"/>
          <a:chExt cx="0" cy="0"/>
        </a:xfrm>
      </p:grpSpPr>
      <p:sp>
        <p:nvSpPr>
          <p:cNvPr id="1990086599" name="Google Shape;357;p56"/>
          <p:cNvSpPr txBox="1"/>
          <p:nvPr/>
        </p:nvSpPr>
        <p:spPr bwMode="auto">
          <a:xfrm>
            <a:off x="508000" y="1524000"/>
            <a:ext cx="8127900" cy="126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defRPr/>
            </a:pPr>
            <a:r>
              <a:rPr lang="en" sz="4800" b="1">
                <a:solidFill>
                  <a:srgbClr val="38BDF8"/>
                </a:solidFill>
              </a:rPr>
              <a:t>Questions?</a:t>
            </a:r>
            <a:endParaRPr sz="4800" b="1">
              <a:solidFill>
                <a:srgbClr val="38BDF8"/>
              </a:solidFill>
            </a:endParaRPr>
          </a:p>
        </p:txBody>
      </p:sp>
      <p:sp>
        <p:nvSpPr>
          <p:cNvPr id="81792573" name="Google Shape;358;p56"/>
          <p:cNvSpPr txBox="1"/>
          <p:nvPr/>
        </p:nvSpPr>
        <p:spPr bwMode="auto">
          <a:xfrm>
            <a:off x="508000" y="2921000"/>
            <a:ext cx="8127900" cy="126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defRPr/>
            </a:pPr>
            <a:r>
              <a:rPr lang="en-US" sz="2000">
                <a:solidFill>
                  <a:srgbClr val="CBD5E1"/>
                </a:solidFill>
              </a:rPr>
              <a:t>THANK YOU</a:t>
            </a:r>
            <a:endParaRPr sz="2000">
              <a:solidFill>
                <a:srgbClr val="CBD5E1"/>
              </a:solidFill>
            </a:endParaRPr>
          </a:p>
          <a:p>
            <a:pPr marL="0" lvl="0" indent="0" algn="ctr" rtl="0">
              <a:spcBef>
                <a:spcPts val="0"/>
              </a:spcBef>
              <a:spcAft>
                <a:spcPts val="0"/>
              </a:spcAft>
              <a:buNone/>
              <a:defRPr/>
            </a:pPr>
            <a:endParaRPr sz="2000">
              <a:solidFill>
                <a:srgbClr val="CBD5E1"/>
              </a:solidFill>
            </a:endParaRPr>
          </a:p>
          <a:p>
            <a:pPr marL="0" lvl="0" indent="0" algn="ctr" rtl="0">
              <a:spcBef>
                <a:spcPts val="0"/>
              </a:spcBef>
              <a:spcAft>
                <a:spcPts val="0"/>
              </a:spcAft>
              <a:buNone/>
              <a:defRPr/>
            </a:pPr>
            <a:endParaRPr sz="2000">
              <a:solidFill>
                <a:srgbClr val="CBD5E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ONLYOFFICE/9.1.0.173</Application>
  <PresentationFormat>On-screen Show (4:3)</PresentationFormat>
  <Paragraphs>0</Paragraphs>
  <Slides>44</Slides>
  <Notes>44</Notes>
  <HiddenSlides>0</HiddenSlides>
  <MMClips>2</MMClips>
  <ScaleCrop>0</ScaleCrop>
  <HeadingPairs>
    <vt:vector size="4" baseType="variant">
      <vt:variant>
        <vt:lpstr>Theme</vt:lpstr>
      </vt:variant>
      <vt:variant>
        <vt:i4>1</vt:i4>
      </vt:variant>
      <vt:variant>
        <vt:lpstr>Slide Titles</vt:lpstr>
      </vt:variant>
      <vt:variant>
        <vt:i4>44</vt:i4>
      </vt:variant>
    </vt:vector>
  </HeadingPairs>
  <TitlesOfParts>
    <vt:vector size="45"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cp:revision>2</cp:revision>
  <dcterms:modified xsi:type="dcterms:W3CDTF">2026-03-16T20:00:50Z</dcterms:modified>
</cp:coreProperties>
</file>