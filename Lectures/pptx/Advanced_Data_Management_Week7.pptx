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slides/slide36.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slides/slide40.xml" ContentType="application/vnd.openxmlformats-officedocument.presentationml.slide+xml"/>
  <Override PartName="/ppt/slides/slide24.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s/slide2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slides/slide16.xml" ContentType="application/vnd.openxmlformats-officedocument.presentationml.slide+xml"/>
  <Override PartName="/docProps/core.xml" ContentType="application/vnd.openxmlformats-package.core-properties+xml"/>
  <Override PartName="/ppt/slides/slide25.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notesSlides/notesSlide53.xml" ContentType="application/vnd.openxmlformats-officedocument.presentationml.notesSlide+xml"/>
  <Override PartName="/ppt/slides/slide3.xml" ContentType="application/vnd.openxmlformats-officedocument.presentationml.slide+xml"/>
  <Override PartName="/ppt/notesSlides/notesSlide32.xml" ContentType="application/vnd.openxmlformats-officedocument.presentationml.notesSlide+xml"/>
  <Override PartName="/ppt/theme/theme1.xml" ContentType="application/vnd.openxmlformats-officedocument.theme+xml"/>
  <Override PartName="/ppt/slides/slide28.xml" ContentType="application/vnd.openxmlformats-officedocument.presentationml.slide+xml"/>
  <Override PartName="/ppt/notesSlides/notesSlide15.xml" ContentType="application/vnd.openxmlformats-officedocument.presentationml.notesSlide+xml"/>
  <Override PartName="/ppt/slides/slide13.xml" ContentType="application/vnd.openxmlformats-officedocument.presentationml.slide+xml"/>
  <Override PartName="/ppt/slides/slide38.xml" ContentType="application/vnd.openxmlformats-officedocument.presentationml.slide+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43.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slides/slide52.xml" ContentType="application/vnd.openxmlformats-officedocument.presentationml.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slides/slide8.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slides/slide21.xml" ContentType="application/vnd.openxmlformats-officedocument.presentationml.slide+xml"/>
  <Override PartName="/ppt/presProps.xml" ContentType="application/vnd.openxmlformats-officedocument.presentationml.presProp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5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notesMaster" Target="notesMasters/notesMaster1.xml"/><Relationship Id="rId58" Type="http://schemas.openxmlformats.org/officeDocument/2006/relationships/presProps" Target="presProps.xml" /><Relationship Id="rId59" Type="http://schemas.openxmlformats.org/officeDocument/2006/relationships/tableStyles" Target="tableStyles.xml" /><Relationship Id="rId6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0658913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72455892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2015312548"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3797144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1101495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5367756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0003636" name="Slide Image Placeholder 1"/>
          <p:cNvSpPr>
            <a:spLocks noChangeAspect="1" noGrp="1" noRot="1"/>
          </p:cNvSpPr>
          <p:nvPr>
            <p:ph type="sldImg"/>
          </p:nvPr>
        </p:nvSpPr>
        <p:spPr bwMode="auto"/>
      </p:sp>
      <p:sp>
        <p:nvSpPr>
          <p:cNvPr id="105340617" name="Notes Placeholder 2"/>
          <p:cNvSpPr>
            <a:spLocks noGrp="1"/>
          </p:cNvSpPr>
          <p:nvPr>
            <p:ph type="body" idx="1"/>
          </p:nvPr>
        </p:nvSpPr>
        <p:spPr bwMode="auto"/>
        <p:txBody>
          <a:bodyPr/>
          <a:lstStyle/>
          <a:p>
            <a:pPr>
              <a:defRPr/>
            </a:pPr>
            <a:r>
              <a:rPr/>
              <a:t>Welcome to Week 7 — the final chapter of Advanced Data Management.</a:t>
            </a:r>
            <a:endParaRPr/>
          </a:p>
          <a:p>
            <a:pPr>
              <a:defRPr/>
            </a:pPr>
            <a:endParaRPr/>
          </a:p>
          <a:p>
            <a:pPr>
              <a:defRPr/>
            </a:pPr>
            <a:r>
              <a:rPr/>
              <a:t>Over the past six weeks you've built a solid mental model of distributed</a:t>
            </a:r>
            <a:endParaRPr/>
          </a:p>
          <a:p>
            <a:pPr>
              <a:defRPr/>
            </a:pPr>
            <a:r>
              <a:rPr/>
              <a:t>systems, CAP theorem, key-value stores (Redis), document stores (MongoDB),</a:t>
            </a:r>
            <a:endParaRPr/>
          </a:p>
          <a:p>
            <a:pPr>
              <a:defRPr/>
            </a:pPr>
            <a:r>
              <a:rPr/>
              <a:t>and column-family databases (Cassandra). Today we close the loop with the</a:t>
            </a:r>
            <a:endParaRPr/>
          </a:p>
          <a:p>
            <a:pPr>
              <a:defRPr/>
            </a:pPr>
            <a:r>
              <a:rPr/>
              <a:t>fourth NoSQL family: Graph Databases.</a:t>
            </a:r>
            <a:endParaRPr/>
          </a:p>
          <a:p>
            <a:pPr>
              <a:defRPr/>
            </a:pPr>
            <a:endParaRPr/>
          </a:p>
          <a:p>
            <a:pPr>
              <a:defRPr/>
            </a:pPr>
            <a:r>
              <a:rPr/>
              <a:t>By the end of this lecture you should be able to answer three big questions:</a:t>
            </a:r>
            <a:endParaRPr/>
          </a:p>
          <a:p>
            <a:pPr>
              <a:defRPr/>
            </a:pPr>
            <a:r>
              <a:rPr/>
              <a:t>  1. When should I reach for a graph database instead of SQL or another NoSQL?</a:t>
            </a:r>
            <a:endParaRPr/>
          </a:p>
          <a:p>
            <a:pPr>
              <a:defRPr/>
            </a:pPr>
            <a:r>
              <a:rPr/>
              <a:t>  2. How do I model real-world connected data as nodes and edges?</a:t>
            </a:r>
            <a:endParaRPr/>
          </a:p>
          <a:p>
            <a:pPr>
              <a:defRPr/>
            </a:pPr>
            <a:r>
              <a:rPr/>
              <a:t>  3. How do I query that data with Cypher?</a:t>
            </a:r>
            <a:endParaRPr/>
          </a:p>
          <a:p>
            <a:pPr>
              <a:defRPr/>
            </a:pPr>
            <a:endParaRPr/>
          </a:p>
          <a:p>
            <a:pPr>
              <a:defRPr/>
            </a:pPr>
            <a:r>
              <a:rPr/>
              <a:t>A quick note on terminology: people sometimes confuse "graph database" with</a:t>
            </a:r>
            <a:endParaRPr/>
          </a:p>
          <a:p>
            <a:pPr>
              <a:defRPr/>
            </a:pPr>
            <a:r>
              <a:rPr/>
              <a:t>"graphing" (drawing charts) or "GraphQL" (a REST API alternative). None of</a:t>
            </a:r>
            <a:endParaRPr/>
          </a:p>
          <a:p>
            <a:pPr>
              <a:defRPr/>
            </a:pPr>
            <a:r>
              <a:rPr/>
              <a:t>those are related. In our context, "graph" is the mathematical concept —</a:t>
            </a:r>
            <a:endParaRPr/>
          </a:p>
          <a:p>
            <a:pPr>
              <a:defRPr/>
            </a:pPr>
            <a:r>
              <a:rPr/>
              <a:t>a collection of vertices connected by edges. Think maps, social networks,</a:t>
            </a:r>
            <a:endParaRPr/>
          </a:p>
          <a:p>
            <a:pPr>
              <a:defRPr/>
            </a:pPr>
            <a:r>
              <a:rPr/>
              <a:t>circuit boards, or citation networks. Anywhere things are connected to other</a:t>
            </a:r>
            <a:endParaRPr/>
          </a:p>
          <a:p>
            <a:pPr>
              <a:defRPr/>
            </a:pPr>
            <a:r>
              <a:rPr/>
              <a:t>things, you have a graph.</a:t>
            </a:r>
            <a:endParaRPr/>
          </a:p>
          <a:p>
            <a:pPr>
              <a:defRPr/>
            </a:pPr>
            <a:endParaRPr/>
          </a:p>
          <a:p>
            <a:pPr>
              <a:defRPr/>
            </a:pPr>
            <a:r>
              <a:rPr/>
              <a:t>Let's get started.</a:t>
            </a:r>
            <a:endParaRPr/>
          </a:p>
        </p:txBody>
      </p:sp>
      <p:sp>
        <p:nvSpPr>
          <p:cNvPr id="1416622317"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102236" name="Slide Image Placeholder 1"/>
          <p:cNvSpPr>
            <a:spLocks noChangeAspect="1" noGrp="1" noRot="1"/>
          </p:cNvSpPr>
          <p:nvPr>
            <p:ph type="sldImg"/>
          </p:nvPr>
        </p:nvSpPr>
        <p:spPr bwMode="auto"/>
      </p:sp>
      <p:sp>
        <p:nvSpPr>
          <p:cNvPr id="1110223549" name="Notes Placeholder 2"/>
          <p:cNvSpPr>
            <a:spLocks noGrp="1"/>
          </p:cNvSpPr>
          <p:nvPr>
            <p:ph type="body" idx="1"/>
          </p:nvPr>
        </p:nvSpPr>
        <p:spPr bwMode="auto"/>
        <p:txBody>
          <a:bodyPr/>
          <a:lstStyle/>
          <a:p>
            <a:pPr>
              <a:defRPr/>
            </a:pPr>
            <a:r>
              <a:rPr/>
              <a:t>Here is the full roadmap for today's four-hour session.</a:t>
            </a:r>
            <a:endParaRPr/>
          </a:p>
          <a:p>
            <a:pPr>
              <a:defRPr/>
            </a:pPr>
            <a:endParaRPr/>
          </a:p>
          <a:p>
            <a:pPr>
              <a:defRPr/>
            </a:pPr>
            <a:r>
              <a:rPr/>
              <a:t>Module 1 sets the foundation: why connected data is fundamentally different</a:t>
            </a:r>
            <a:endParaRPr/>
          </a:p>
          <a:p>
            <a:pPr>
              <a:defRPr/>
            </a:pPr>
            <a:r>
              <a:rPr/>
              <a:t>from tabular data, and what makes a graph database the right tool for it.</a:t>
            </a:r>
            <a:endParaRPr/>
          </a:p>
          <a:p>
            <a:pPr>
              <a:defRPr/>
            </a:pPr>
            <a:endParaRPr/>
          </a:p>
          <a:p>
            <a:pPr>
              <a:defRPr/>
            </a:pPr>
            <a:r>
              <a:rPr/>
              <a:t>Module 2 goes deep into the data model itself — how nodes, edges, labels</a:t>
            </a:r>
            <a:endParaRPr/>
          </a:p>
          <a:p>
            <a:pPr>
              <a:defRPr/>
            </a:pPr>
            <a:r>
              <a:rPr/>
              <a:t>and properties compose into a Property Graph, and how it is stored on disk.</a:t>
            </a:r>
            <a:endParaRPr/>
          </a:p>
          <a:p>
            <a:pPr>
              <a:defRPr/>
            </a:pPr>
            <a:endParaRPr/>
          </a:p>
          <a:p>
            <a:pPr>
              <a:defRPr/>
            </a:pPr>
            <a:r>
              <a:rPr/>
              <a:t>Module 3 surveys the market: Neo4j, Amazon Neptune, TigerGraph, ArangoDB,</a:t>
            </a:r>
            <a:endParaRPr/>
          </a:p>
          <a:p>
            <a:pPr>
              <a:defRPr/>
            </a:pPr>
            <a:r>
              <a:rPr/>
              <a:t>Memgraph, and JanusGraph. You don't need to memorise all of them, but you</a:t>
            </a:r>
            <a:endParaRPr/>
          </a:p>
          <a:p>
            <a:pPr>
              <a:defRPr/>
            </a:pPr>
            <a:r>
              <a:rPr/>
              <a:t>should understand what trade-off each one is optimising for.</a:t>
            </a:r>
            <a:endParaRPr/>
          </a:p>
          <a:p>
            <a:pPr>
              <a:defRPr/>
            </a:pPr>
            <a:endParaRPr/>
          </a:p>
          <a:p>
            <a:pPr>
              <a:defRPr/>
            </a:pPr>
            <a:r>
              <a:rPr/>
              <a:t>Module 4 is where we write code: the Cypher query language, from simple</a:t>
            </a:r>
            <a:endParaRPr/>
          </a:p>
          <a:p>
            <a:pPr>
              <a:defRPr/>
            </a:pPr>
            <a:r>
              <a:rPr/>
              <a:t>CREATE and MATCH to variable-length traversals and idempotent MERGE writes.</a:t>
            </a:r>
            <a:endParaRPr/>
          </a:p>
          <a:p>
            <a:pPr>
              <a:defRPr/>
            </a:pPr>
            <a:r>
              <a:rPr/>
              <a:t>We also cover GQL, the brand-new ISO standard that will unify the field.</a:t>
            </a:r>
            <a:endParaRPr/>
          </a:p>
          <a:p>
            <a:pPr>
              <a:defRPr/>
            </a:pPr>
            <a:endParaRPr/>
          </a:p>
          <a:p>
            <a:pPr>
              <a:defRPr/>
            </a:pPr>
            <a:r>
              <a:rPr/>
              <a:t>Module 5 connects everything to the real world: graph algorithms (PageRank,</a:t>
            </a:r>
            <a:endParaRPr/>
          </a:p>
          <a:p>
            <a:pPr>
              <a:defRPr/>
            </a:pPr>
            <a:r>
              <a:rPr/>
              <a:t>Louvain), and the industries that depend on graph databases every day.</a:t>
            </a:r>
            <a:endParaRPr/>
          </a:p>
          <a:p>
            <a:pPr>
              <a:defRPr/>
            </a:pPr>
            <a:endParaRPr/>
          </a:p>
          <a:p>
            <a:pPr>
              <a:defRPr/>
            </a:pPr>
            <a:r>
              <a:rPr/>
              <a:t>Module 6 is the hands-on lab: you will run Neo4j in Docker, build a small</a:t>
            </a:r>
            <a:endParaRPr/>
          </a:p>
          <a:p>
            <a:pPr>
              <a:defRPr/>
            </a:pPr>
            <a:r>
              <a:rPr/>
              <a:t>research-network graph, and run your first graph algorithm. Budget about</a:t>
            </a:r>
            <a:endParaRPr/>
          </a:p>
          <a:p>
            <a:pPr>
              <a:defRPr/>
            </a:pPr>
            <a:r>
              <a:rPr/>
              <a:t>60 minutes and follow along on your own machine.</a:t>
            </a:r>
            <a:endParaRPr/>
          </a:p>
          <a:p>
            <a:pPr>
              <a:defRPr/>
            </a:pPr>
            <a:endParaRPr/>
          </a:p>
        </p:txBody>
      </p:sp>
      <p:sp>
        <p:nvSpPr>
          <p:cNvPr id="1350567278"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2563469" name="Slide Image Placeholder 1"/>
          <p:cNvSpPr>
            <a:spLocks noChangeAspect="1" noGrp="1" noRot="1"/>
          </p:cNvSpPr>
          <p:nvPr>
            <p:ph type="sldImg"/>
          </p:nvPr>
        </p:nvSpPr>
        <p:spPr bwMode="auto"/>
      </p:sp>
      <p:sp>
        <p:nvSpPr>
          <p:cNvPr id="739011128" name="Notes Placeholder 2"/>
          <p:cNvSpPr>
            <a:spLocks noGrp="1"/>
          </p:cNvSpPr>
          <p:nvPr>
            <p:ph type="body" idx="1"/>
          </p:nvPr>
        </p:nvSpPr>
        <p:spPr bwMode="auto"/>
        <p:txBody>
          <a:bodyPr/>
          <a:lstStyle/>
          <a:p>
            <a:pPr>
              <a:defRPr/>
            </a:pPr>
            <a:r>
              <a:rPr/>
              <a:t>This is the Module 1 divider slide — a moment to reset mentally.</a:t>
            </a:r>
            <a:endParaRPr/>
          </a:p>
          <a:p>
            <a:pPr>
              <a:defRPr/>
            </a:pPr>
            <a:endParaRPr/>
          </a:p>
          <a:p>
            <a:pPr>
              <a:defRPr/>
            </a:pPr>
            <a:r>
              <a:rPr/>
              <a:t>Before jumping into graph-specific concepts, we will do a quick recap of</a:t>
            </a:r>
            <a:endParaRPr/>
          </a:p>
          <a:p>
            <a:pPr>
              <a:defRPr/>
            </a:pPr>
            <a:r>
              <a:rPr/>
              <a:t>where graph databases sit among all four NoSQL families. This is important</a:t>
            </a:r>
            <a:endParaRPr/>
          </a:p>
          <a:p>
            <a:pPr>
              <a:defRPr/>
            </a:pPr>
            <a:r>
              <a:rPr/>
              <a:t>because students often default to the most familiar store (MongoDB) even</a:t>
            </a:r>
            <a:endParaRPr/>
          </a:p>
          <a:p>
            <a:pPr>
              <a:defRPr/>
            </a:pPr>
            <a:r>
              <a:rPr/>
              <a:t>when the data is fundamentally relational in structure. The goal is to make</a:t>
            </a:r>
            <a:endParaRPr/>
          </a:p>
          <a:p>
            <a:pPr>
              <a:defRPr/>
            </a:pPr>
            <a:r>
              <a:rPr/>
              <a:t>the right choice for the right problem, not to pick a favourite technology.</a:t>
            </a:r>
            <a:endParaRPr/>
          </a:p>
          <a:p>
            <a:pPr>
              <a:defRPr/>
            </a:pPr>
            <a:endParaRPr/>
          </a:p>
          <a:p>
            <a:pPr>
              <a:defRPr/>
            </a:pPr>
            <a:r>
              <a:rPr/>
              <a:t>The central question for Module 1 is: what is it about connected data that</a:t>
            </a:r>
            <a:endParaRPr/>
          </a:p>
          <a:p>
            <a:pPr>
              <a:defRPr/>
            </a:pPr>
            <a:r>
              <a:rPr/>
              <a:t>makes relational joins — which work perfectly well for hundreds of use cases</a:t>
            </a:r>
            <a:endParaRPr/>
          </a:p>
          <a:p>
            <a:pPr>
              <a:defRPr/>
            </a:pPr>
            <a:r>
              <a:rPr/>
              <a:t>— start to break down?</a:t>
            </a:r>
            <a:endParaRPr/>
          </a:p>
        </p:txBody>
      </p:sp>
      <p:sp>
        <p:nvSpPr>
          <p:cNvPr id="1971465144"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0242692" name="Slide Image Placeholder 1"/>
          <p:cNvSpPr>
            <a:spLocks noChangeAspect="1" noGrp="1" noRot="1"/>
          </p:cNvSpPr>
          <p:nvPr>
            <p:ph type="sldImg"/>
          </p:nvPr>
        </p:nvSpPr>
        <p:spPr bwMode="auto"/>
      </p:sp>
      <p:sp>
        <p:nvSpPr>
          <p:cNvPr id="282748266" name="Notes Placeholder 2"/>
          <p:cNvSpPr>
            <a:spLocks noGrp="1"/>
          </p:cNvSpPr>
          <p:nvPr>
            <p:ph type="body" idx="1"/>
          </p:nvPr>
        </p:nvSpPr>
        <p:spPr bwMode="auto"/>
        <p:txBody>
          <a:bodyPr/>
          <a:lstStyle/>
          <a:p>
            <a:pPr>
              <a:defRPr/>
            </a:pPr>
            <a:r>
              <a:rPr/>
              <a:t>You have seen this slide before in earlier weeks, but today we place the</a:t>
            </a:r>
            <a:endParaRPr/>
          </a:p>
          <a:p>
            <a:pPr>
              <a:defRPr/>
            </a:pPr>
            <a:r>
              <a:rPr/>
              <a:t>spotlight firmly on the bottom-right quadrant: Graph Databases.</a:t>
            </a:r>
            <a:endParaRPr/>
          </a:p>
          <a:p>
            <a:pPr>
              <a:defRPr/>
            </a:pPr>
            <a:endParaRPr/>
          </a:p>
          <a:p>
            <a:pPr>
              <a:defRPr/>
            </a:pPr>
            <a:r>
              <a:rPr/>
              <a:t>A quick mental summary of the four families:</a:t>
            </a:r>
            <a:endParaRPr/>
          </a:p>
          <a:p>
            <a:pPr>
              <a:defRPr/>
            </a:pPr>
            <a:r>
              <a:rPr/>
              <a:t>  - Key-Value (Redis): fastest reads/writes, no structure. Great for caching,</a:t>
            </a:r>
            <a:endParaRPr/>
          </a:p>
          <a:p>
            <a:pPr>
              <a:defRPr/>
            </a:pPr>
            <a:r>
              <a:rPr/>
              <a:t>    sessions, rate-limiting. Terrible if you need to query by anything other</a:t>
            </a:r>
            <a:endParaRPr/>
          </a:p>
          <a:p>
            <a:pPr>
              <a:defRPr/>
            </a:pPr>
            <a:r>
              <a:rPr/>
              <a:t>    than the key.</a:t>
            </a:r>
            <a:endParaRPr/>
          </a:p>
          <a:p>
            <a:pPr>
              <a:defRPr/>
            </a:pPr>
            <a:r>
              <a:rPr/>
              <a:t>  - Document (MongoDB): self-contained JSON objects. Great for flexible</a:t>
            </a:r>
            <a:endParaRPr/>
          </a:p>
          <a:p>
            <a:pPr>
              <a:defRPr/>
            </a:pPr>
            <a:r>
              <a:rPr/>
              <a:t>    schemas and rich field queries. Awkward when relationships between</a:t>
            </a:r>
            <a:endParaRPr/>
          </a:p>
          <a:p>
            <a:pPr>
              <a:defRPr/>
            </a:pPr>
            <a:r>
              <a:rPr/>
              <a:t>    documents become the primary concern.</a:t>
            </a:r>
            <a:endParaRPr/>
          </a:p>
          <a:p>
            <a:pPr>
              <a:defRPr/>
            </a:pPr>
            <a:r>
              <a:rPr/>
              <a:t>  - Column-Family (Cassandra): sparse wide rows, write-optimised. Excellent</a:t>
            </a:r>
            <a:endParaRPr/>
          </a:p>
          <a:p>
            <a:pPr>
              <a:defRPr/>
            </a:pPr>
            <a:r>
              <a:rPr/>
              <a:t>    for time-series, IoT, append-heavy workloads. Not designed for traversals.</a:t>
            </a:r>
            <a:endParaRPr/>
          </a:p>
          <a:p>
            <a:pPr>
              <a:defRPr/>
            </a:pPr>
            <a:r>
              <a:rPr/>
              <a:t>  - Graph (Neo4j, Neptune): nodes + edges as first-class citizens. Excellent</a:t>
            </a:r>
            <a:endParaRPr/>
          </a:p>
          <a:p>
            <a:pPr>
              <a:defRPr/>
            </a:pPr>
            <a:r>
              <a:rPr/>
              <a:t>    for any problem where the connections themselves carry meaning — social</a:t>
            </a:r>
            <a:endParaRPr/>
          </a:p>
          <a:p>
            <a:pPr>
              <a:defRPr/>
            </a:pPr>
            <a:r>
              <a:rPr/>
              <a:t>    networks, fraud rings, knowledge graphs, dependency trees.</a:t>
            </a:r>
            <a:endParaRPr/>
          </a:p>
          <a:p>
            <a:pPr>
              <a:defRPr/>
            </a:pPr>
            <a:endParaRPr/>
          </a:p>
          <a:p>
            <a:pPr>
              <a:defRPr/>
            </a:pPr>
            <a:r>
              <a:rPr/>
              <a:t>The key insight: every database CAN store relationships. SQL has foreign keys.</a:t>
            </a:r>
            <a:endParaRPr/>
          </a:p>
          <a:p>
            <a:pPr>
              <a:defRPr/>
            </a:pPr>
            <a:r>
              <a:rPr/>
              <a:t>MongoDB has $lookup. But a graph database is the only one where traversing a</a:t>
            </a:r>
            <a:endParaRPr/>
          </a:p>
          <a:p>
            <a:pPr>
              <a:defRPr/>
            </a:pPr>
            <a:r>
              <a:rPr/>
              <a:t>relationship is as cheap as reading a single record. That difference matters</a:t>
            </a:r>
            <a:endParaRPr/>
          </a:p>
          <a:p>
            <a:pPr>
              <a:defRPr/>
            </a:pPr>
            <a:r>
              <a:rPr/>
              <a:t>enormously at scale.</a:t>
            </a:r>
            <a:endParaRPr/>
          </a:p>
          <a:p>
            <a:pPr>
              <a:defRPr/>
            </a:pPr>
            <a:endParaRPr/>
          </a:p>
          <a:p>
            <a:pPr>
              <a:defRPr/>
            </a:pPr>
            <a:r>
              <a:rPr/>
              <a:t>Ask yourself whenever you start a new project: "Is the interesting information</a:t>
            </a:r>
            <a:endParaRPr/>
          </a:p>
          <a:p>
            <a:pPr>
              <a:defRPr/>
            </a:pPr>
            <a:r>
              <a:rPr/>
              <a:t>IN the entities, or BETWEEN the entities?" If the answer is "between," think</a:t>
            </a:r>
            <a:endParaRPr/>
          </a:p>
          <a:p>
            <a:pPr>
              <a:defRPr/>
            </a:pPr>
            <a:r>
              <a:rPr/>
              <a:t>graphs.</a:t>
            </a:r>
            <a:endParaRPr/>
          </a:p>
        </p:txBody>
      </p:sp>
      <p:sp>
        <p:nvSpPr>
          <p:cNvPr id="71732773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8276735" name="Slide Image Placeholder 1"/>
          <p:cNvSpPr>
            <a:spLocks noChangeAspect="1" noGrp="1" noRot="1"/>
          </p:cNvSpPr>
          <p:nvPr>
            <p:ph type="sldImg"/>
          </p:nvPr>
        </p:nvSpPr>
        <p:spPr bwMode="auto"/>
      </p:sp>
      <p:sp>
        <p:nvSpPr>
          <p:cNvPr id="1574224403" name="Notes Placeholder 2"/>
          <p:cNvSpPr>
            <a:spLocks noGrp="1"/>
          </p:cNvSpPr>
          <p:nvPr>
            <p:ph type="body" idx="1"/>
          </p:nvPr>
        </p:nvSpPr>
        <p:spPr bwMode="auto"/>
        <p:txBody>
          <a:bodyPr/>
          <a:lstStyle/>
          <a:p>
            <a:pPr>
              <a:defRPr/>
            </a:pPr>
            <a:r>
              <a:rPr/>
              <a:t>Let's define the thing clearly before we go further.</a:t>
            </a:r>
            <a:endParaRPr/>
          </a:p>
          <a:p>
            <a:pPr>
              <a:defRPr/>
            </a:pPr>
            <a:endParaRPr/>
          </a:p>
          <a:p>
            <a:pPr>
              <a:defRPr/>
            </a:pPr>
            <a:r>
              <a:rPr/>
              <a:t>A graph database stores data as a network. The fundamental building blocks are:</a:t>
            </a:r>
            <a:endParaRPr/>
          </a:p>
          <a:p>
            <a:pPr>
              <a:defRPr/>
            </a:pPr>
            <a:r>
              <a:rPr/>
              <a:t>  - NODE: an entity (a person, a paper, an account, a product).</a:t>
            </a:r>
            <a:endParaRPr/>
          </a:p>
          <a:p>
            <a:pPr>
              <a:defRPr/>
            </a:pPr>
            <a:r>
              <a:rPr/>
              <a:t>  - EDGE / RELATIONSHIP: a named, directed connection between two nodes.</a:t>
            </a:r>
            <a:endParaRPr/>
          </a:p>
          <a:p>
            <a:pPr>
              <a:defRPr/>
            </a:pPr>
            <a:r>
              <a:rPr/>
              <a:t>  - PROPERTIES: key-value pairs that both nodes and edges can carry.</a:t>
            </a:r>
            <a:endParaRPr/>
          </a:p>
          <a:p>
            <a:pPr>
              <a:defRPr/>
            </a:pPr>
            <a:endParaRPr/>
          </a:p>
          <a:p>
            <a:pPr>
              <a:defRPr/>
            </a:pPr>
            <a:r>
              <a:rPr/>
              <a:t>This is elegant because it mirrors how we naturally think about connected</a:t>
            </a:r>
            <a:endParaRPr/>
          </a:p>
          <a:p>
            <a:pPr>
              <a:defRPr/>
            </a:pPr>
            <a:r>
              <a:rPr/>
              <a:t>domains. When you draw a whiteboard diagram of a business domain, you draw</a:t>
            </a:r>
            <a:endParaRPr/>
          </a:p>
          <a:p>
            <a:pPr>
              <a:defRPr/>
            </a:pPr>
            <a:r>
              <a:rPr/>
              <a:t>boxes (entities) and arrows (relationships). A graph database is literally</a:t>
            </a:r>
            <a:endParaRPr/>
          </a:p>
          <a:p>
            <a:pPr>
              <a:defRPr/>
            </a:pPr>
            <a:r>
              <a:rPr/>
              <a:t>that whiteboard stored on disk.</a:t>
            </a:r>
            <a:endParaRPr/>
          </a:p>
          <a:p>
            <a:pPr>
              <a:defRPr/>
            </a:pPr>
            <a:endParaRPr/>
          </a:p>
          <a:p>
            <a:pPr>
              <a:defRPr/>
            </a:pPr>
            <a:r>
              <a:rPr/>
              <a:t>Two important things to notice about the definition on this slide:</a:t>
            </a:r>
            <a:endParaRPr/>
          </a:p>
          <a:p>
            <a:pPr>
              <a:defRPr/>
            </a:pPr>
            <a:r>
              <a:rPr/>
              <a:t>  1. "Relationships are first-class citizens, stored physically." This is not</a:t>
            </a:r>
            <a:endParaRPr/>
          </a:p>
          <a:p>
            <a:pPr>
              <a:defRPr/>
            </a:pPr>
            <a:r>
              <a:rPr/>
              <a:t>     just a design philosophy — it has concrete storage consequences we will</a:t>
            </a:r>
            <a:endParaRPr/>
          </a:p>
          <a:p>
            <a:pPr>
              <a:defRPr/>
            </a:pPr>
            <a:r>
              <a:rPr/>
              <a:t>     examine in a couple of slides (Index-Free Adjacency).</a:t>
            </a:r>
            <a:endParaRPr/>
          </a:p>
          <a:p>
            <a:pPr>
              <a:defRPr/>
            </a:pPr>
            <a:r>
              <a:rPr/>
              <a:t>  2. "Schema-optional." Unlike SQL, you are not forced to decide every column</a:t>
            </a:r>
            <a:endParaRPr/>
          </a:p>
          <a:p>
            <a:pPr>
              <a:defRPr/>
            </a:pPr>
            <a:r>
              <a:rPr/>
              <a:t>     in advance. You can add new node types and edge types at any time without</a:t>
            </a:r>
            <a:endParaRPr/>
          </a:p>
          <a:p>
            <a:pPr>
              <a:defRPr/>
            </a:pPr>
            <a:r>
              <a:rPr/>
              <a:t>     a migration. This is incredibly valuable when the domain is evolving.</a:t>
            </a:r>
            <a:endParaRPr/>
          </a:p>
          <a:p>
            <a:pPr>
              <a:defRPr/>
            </a:pPr>
            <a:endParaRPr/>
          </a:p>
          <a:p>
            <a:pPr>
              <a:defRPr/>
            </a:pPr>
            <a:r>
              <a:rPr/>
              <a:t>Historically, graph theory goes back to Euler's 1736 paper about the Seven</a:t>
            </a:r>
            <a:endParaRPr/>
          </a:p>
          <a:p>
            <a:pPr>
              <a:defRPr/>
            </a:pPr>
            <a:r>
              <a:rPr/>
              <a:t>Bridges of Königsberg — can you walk across every bridge exactly once? Modern</a:t>
            </a:r>
            <a:endParaRPr/>
          </a:p>
          <a:p>
            <a:pPr>
              <a:defRPr/>
            </a:pPr>
            <a:r>
              <a:rPr/>
              <a:t>graph databases stand on 300 years of mathematical research. That is a solid</a:t>
            </a:r>
            <a:endParaRPr/>
          </a:p>
          <a:p>
            <a:pPr>
              <a:defRPr/>
            </a:pPr>
            <a:r>
              <a:rPr/>
              <a:t>foundation.</a:t>
            </a:r>
            <a:endParaRPr/>
          </a:p>
          <a:p>
            <a:pPr>
              <a:defRPr/>
            </a:pPr>
            <a:endParaRPr/>
          </a:p>
          <a:p>
            <a:pPr>
              <a:defRPr/>
            </a:pPr>
            <a:r>
              <a:rPr/>
              <a:t>The Semantic Web / RDF community (W3C, 2004) gave us the idea of linked data</a:t>
            </a:r>
            <a:endParaRPr/>
          </a:p>
          <a:p>
            <a:pPr>
              <a:defRPr/>
            </a:pPr>
            <a:r>
              <a:rPr/>
              <a:t>on the web. The property graph community (Neo4j, LinkedIn) adapted that for</a:t>
            </a:r>
            <a:endParaRPr/>
          </a:p>
          <a:p>
            <a:pPr>
              <a:defRPr/>
            </a:pPr>
            <a:r>
              <a:rPr/>
              <a:t>high-performance application databases. We have both traditions today, and</a:t>
            </a:r>
            <a:endParaRPr/>
          </a:p>
          <a:p>
            <a:pPr>
              <a:defRPr/>
            </a:pPr>
            <a:r>
              <a:rPr/>
              <a:t>we will compare them in Module 2.</a:t>
            </a:r>
            <a:endParaRPr/>
          </a:p>
        </p:txBody>
      </p:sp>
      <p:sp>
        <p:nvSpPr>
          <p:cNvPr id="170482607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6479219" name="Slide Image Placeholder 1"/>
          <p:cNvSpPr>
            <a:spLocks noChangeAspect="1" noGrp="1" noRot="1"/>
          </p:cNvSpPr>
          <p:nvPr>
            <p:ph type="sldImg"/>
          </p:nvPr>
        </p:nvSpPr>
        <p:spPr bwMode="auto"/>
      </p:sp>
      <p:sp>
        <p:nvSpPr>
          <p:cNvPr id="1841045386" name="Notes Placeholder 2"/>
          <p:cNvSpPr>
            <a:spLocks noGrp="1"/>
          </p:cNvSpPr>
          <p:nvPr>
            <p:ph type="body" idx="1"/>
          </p:nvPr>
        </p:nvSpPr>
        <p:spPr bwMode="auto"/>
        <p:txBody>
          <a:bodyPr/>
          <a:lstStyle/>
          <a:p>
            <a:pPr>
              <a:defRPr/>
            </a:pPr>
            <a:r>
              <a:rPr/>
              <a:t>This slide answers the most common question students ask: "Why can't I</a:t>
            </a:r>
            <a:endParaRPr/>
          </a:p>
          <a:p>
            <a:pPr>
              <a:defRPr/>
            </a:pPr>
            <a:r>
              <a:rPr/>
              <a:t>just use SQL with a JOIN for connected data? I've been doing that for years."</a:t>
            </a:r>
            <a:endParaRPr/>
          </a:p>
          <a:p>
            <a:pPr>
              <a:defRPr/>
            </a:pPr>
            <a:endParaRPr/>
          </a:p>
          <a:p>
            <a:pPr>
              <a:defRPr/>
            </a:pPr>
            <a:r>
              <a:rPr/>
              <a:t>The answer is: you can — up to a point. Here's where it breaks down.</a:t>
            </a:r>
            <a:endParaRPr/>
          </a:p>
          <a:p>
            <a:pPr>
              <a:defRPr/>
            </a:pPr>
            <a:endParaRPr/>
          </a:p>
          <a:p>
            <a:pPr>
              <a:defRPr/>
            </a:pPr>
            <a:r>
              <a:rPr/>
              <a:t>Imagine a social network stored in a relational database. You have a Users</a:t>
            </a:r>
            <a:endParaRPr/>
          </a:p>
          <a:p>
            <a:pPr>
              <a:defRPr/>
            </a:pPr>
            <a:r>
              <a:rPr/>
              <a:t>table and a Friendships table. To find direct friends of user Alice, you do</a:t>
            </a:r>
            <a:endParaRPr/>
          </a:p>
          <a:p>
            <a:pPr>
              <a:defRPr/>
            </a:pPr>
            <a:r>
              <a:rPr/>
              <a:t>one JOIN. Fine. To find friends-of-friends, you do two JOINs. Slightly slower.</a:t>
            </a:r>
            <a:endParaRPr/>
          </a:p>
          <a:p>
            <a:pPr>
              <a:defRPr/>
            </a:pPr>
            <a:r>
              <a:rPr/>
              <a:t>To find all people within 4 degrees of separation — the kind of query that</a:t>
            </a:r>
            <a:endParaRPr/>
          </a:p>
          <a:p>
            <a:pPr>
              <a:defRPr/>
            </a:pPr>
            <a:r>
              <a:rPr/>
              <a:t>LinkedIn runs millions of times per day — you need FOUR nested JOINs, and the</a:t>
            </a:r>
            <a:endParaRPr/>
          </a:p>
          <a:p>
            <a:pPr>
              <a:defRPr/>
            </a:pPr>
            <a:r>
              <a:rPr/>
              <a:t>intermediate result set can be astronomical.</a:t>
            </a:r>
            <a:endParaRPr/>
          </a:p>
          <a:p>
            <a:pPr>
              <a:defRPr/>
            </a:pPr>
            <a:endParaRPr/>
          </a:p>
          <a:p>
            <a:pPr>
              <a:defRPr/>
            </a:pPr>
            <a:r>
              <a:rPr/>
              <a:t>The problem is that each JOIN does a B-tree index lookup proportional to the</a:t>
            </a:r>
            <a:endParaRPr/>
          </a:p>
          <a:p>
            <a:pPr>
              <a:defRPr/>
            </a:pPr>
            <a:r>
              <a:rPr/>
              <a:t>number of rows in the table. More data = slower JOINs. The cost is O(N log N)</a:t>
            </a:r>
            <a:endParaRPr/>
          </a:p>
          <a:p>
            <a:pPr>
              <a:defRPr/>
            </a:pPr>
            <a:r>
              <a:rPr/>
              <a:t>per hop, multiplied across hops.</a:t>
            </a:r>
            <a:endParaRPr/>
          </a:p>
          <a:p>
            <a:pPr>
              <a:defRPr/>
            </a:pPr>
            <a:endParaRPr/>
          </a:p>
          <a:p>
            <a:pPr>
              <a:defRPr/>
            </a:pPr>
            <a:r>
              <a:rPr/>
              <a:t>In a native graph database, each node stores a direct pointer to its</a:t>
            </a:r>
            <a:endParaRPr/>
          </a:p>
          <a:p>
            <a:pPr>
              <a:defRPr/>
            </a:pPr>
            <a:r>
              <a:rPr/>
              <a:t>neighbours on disk. Following a relationship is a pointer dereference — O(1)</a:t>
            </a:r>
            <a:endParaRPr/>
          </a:p>
          <a:p>
            <a:pPr>
              <a:defRPr/>
            </a:pPr>
            <a:r>
              <a:rPr/>
              <a:t>per hop, regardless of how large the overall graph is. A 4-hop traversal on</a:t>
            </a:r>
            <a:endParaRPr/>
          </a:p>
          <a:p>
            <a:pPr>
              <a:defRPr/>
            </a:pPr>
            <a:r>
              <a:rPr/>
              <a:t>a graph with 1 billion nodes costs only the work of visiting the nodes you</a:t>
            </a:r>
            <a:endParaRPr/>
          </a:p>
          <a:p>
            <a:pPr>
              <a:defRPr/>
            </a:pPr>
            <a:r>
              <a:rPr/>
              <a:t>actually traverse. You never touch the nodes you don't visit.</a:t>
            </a:r>
            <a:endParaRPr/>
          </a:p>
          <a:p>
            <a:pPr>
              <a:defRPr/>
            </a:pPr>
            <a:endParaRPr/>
          </a:p>
          <a:p>
            <a:pPr>
              <a:defRPr/>
            </a:pPr>
            <a:r>
              <a:rPr/>
              <a:t>This property is called LOCAL QUERY PERFORMANCE: the cost of a graph query</a:t>
            </a:r>
            <a:endParaRPr/>
          </a:p>
          <a:p>
            <a:pPr>
              <a:defRPr/>
            </a:pPr>
            <a:r>
              <a:rPr/>
              <a:t>is proportional to the subgraph you touch, not the size of the whole graph.</a:t>
            </a:r>
            <a:endParaRPr/>
          </a:p>
          <a:p>
            <a:pPr>
              <a:defRPr/>
            </a:pPr>
            <a:r>
              <a:rPr/>
              <a:t>That is what makes a 10-hop fraud-detection query run in milliseconds on a</a:t>
            </a:r>
            <a:endParaRPr/>
          </a:p>
          <a:p>
            <a:pPr>
              <a:defRPr/>
            </a:pPr>
            <a:r>
              <a:rPr/>
              <a:t>graph with hundreds of millions of accounts.</a:t>
            </a:r>
            <a:endParaRPr/>
          </a:p>
          <a:p>
            <a:pPr>
              <a:defRPr/>
            </a:pPr>
            <a:endParaRPr/>
          </a:p>
          <a:p>
            <a:pPr>
              <a:defRPr/>
            </a:pPr>
            <a:r>
              <a:rPr/>
              <a:t>One honest caveat: for simple aggregations (sum all sales, count all users),</a:t>
            </a:r>
            <a:endParaRPr/>
          </a:p>
          <a:p>
            <a:pPr>
              <a:defRPr/>
            </a:pPr>
            <a:r>
              <a:rPr/>
              <a:t>relational databases and column-family stores are often better. Graph databases</a:t>
            </a:r>
            <a:endParaRPr/>
          </a:p>
          <a:p>
            <a:pPr>
              <a:defRPr/>
            </a:pPr>
            <a:r>
              <a:rPr/>
              <a:t>shine specifically when traversal depth is the challenge.</a:t>
            </a:r>
            <a:endParaRPr/>
          </a:p>
        </p:txBody>
      </p:sp>
      <p:sp>
        <p:nvSpPr>
          <p:cNvPr id="942737076"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7000300" name="Slide Image Placeholder 1"/>
          <p:cNvSpPr>
            <a:spLocks noChangeAspect="1" noGrp="1" noRot="1"/>
          </p:cNvSpPr>
          <p:nvPr>
            <p:ph type="sldImg"/>
          </p:nvPr>
        </p:nvSpPr>
        <p:spPr bwMode="auto"/>
      </p:sp>
      <p:sp>
        <p:nvSpPr>
          <p:cNvPr id="994764724" name="Notes Placeholder 2"/>
          <p:cNvSpPr>
            <a:spLocks noGrp="1"/>
          </p:cNvSpPr>
          <p:nvPr>
            <p:ph type="body" idx="1"/>
          </p:nvPr>
        </p:nvSpPr>
        <p:spPr bwMode="auto"/>
        <p:txBody>
          <a:bodyPr/>
          <a:lstStyle/>
          <a:p>
            <a:pPr>
              <a:defRPr/>
            </a:pPr>
            <a:r>
              <a:rPr/>
              <a:t>Let's pin down the vocabulary before we go further. These eight terms will</a:t>
            </a:r>
            <a:endParaRPr/>
          </a:p>
          <a:p>
            <a:pPr>
              <a:defRPr/>
            </a:pPr>
            <a:r>
              <a:rPr/>
              <a:t>appear constantly throughout the rest of the lecture and in the lab.</a:t>
            </a:r>
            <a:endParaRPr/>
          </a:p>
          <a:p>
            <a:pPr>
              <a:defRPr/>
            </a:pPr>
            <a:endParaRPr/>
          </a:p>
          <a:p>
            <a:pPr>
              <a:defRPr/>
            </a:pPr>
            <a:r>
              <a:rPr/>
              <a:t>NODE / VERTEX: Think of it as a row in a database, but more flexible. A node</a:t>
            </a:r>
            <a:endParaRPr/>
          </a:p>
          <a:p>
            <a:pPr>
              <a:defRPr/>
            </a:pPr>
            <a:r>
              <a:rPr/>
              <a:t>can have any set of properties. Two :Person nodes don't have to share the same</a:t>
            </a:r>
            <a:endParaRPr/>
          </a:p>
          <a:p>
            <a:pPr>
              <a:defRPr/>
            </a:pPr>
            <a:r>
              <a:rPr/>
              <a:t>fields. One might have a "birthdate" and the other might have a "companyName."</a:t>
            </a:r>
            <a:endParaRPr/>
          </a:p>
          <a:p>
            <a:pPr>
              <a:defRPr/>
            </a:pPr>
            <a:r>
              <a:rPr/>
              <a:t>No NULL penalties, no schema migrations.</a:t>
            </a:r>
            <a:endParaRPr/>
          </a:p>
          <a:p>
            <a:pPr>
              <a:defRPr/>
            </a:pPr>
            <a:endParaRPr/>
          </a:p>
          <a:p>
            <a:pPr>
              <a:defRPr/>
            </a:pPr>
            <a:r>
              <a:rPr/>
              <a:t>EDGE / RELATIONSHIP: Always directed (from → to) and always typed. The type</a:t>
            </a:r>
            <a:endParaRPr/>
          </a:p>
          <a:p>
            <a:pPr>
              <a:defRPr/>
            </a:pPr>
            <a:r>
              <a:rPr/>
              <a:t>carries meaning — :WROTE is not the same as :REVIEWED. But queries can follow</a:t>
            </a:r>
            <a:endParaRPr/>
          </a:p>
          <a:p>
            <a:pPr>
              <a:defRPr/>
            </a:pPr>
            <a:r>
              <a:rPr/>
              <a:t>edges in either direction or both, so directionality is mostly a semantic hint.</a:t>
            </a:r>
            <a:endParaRPr/>
          </a:p>
          <a:p>
            <a:pPr>
              <a:defRPr/>
            </a:pPr>
            <a:endParaRPr/>
          </a:p>
          <a:p>
            <a:pPr>
              <a:defRPr/>
            </a:pPr>
            <a:r>
              <a:rPr/>
              <a:t>LABEL: A category tag on a node. A node can have multiple labels — for example,</a:t>
            </a:r>
            <a:endParaRPr/>
          </a:p>
          <a:p>
            <a:pPr>
              <a:defRPr/>
            </a:pPr>
            <a:r>
              <a:rPr/>
              <a:t>(:Person:Author) is both a person and an author. Labels are how you efficiently</a:t>
            </a:r>
            <a:endParaRPr/>
          </a:p>
          <a:p>
            <a:pPr>
              <a:defRPr/>
            </a:pPr>
            <a:r>
              <a:rPr/>
              <a:t>scan subsets of nodes. Think of them like a fast filter, similar to a table name.</a:t>
            </a:r>
            <a:endParaRPr/>
          </a:p>
          <a:p>
            <a:pPr>
              <a:defRPr/>
            </a:pPr>
            <a:endParaRPr/>
          </a:p>
          <a:p>
            <a:pPr>
              <a:defRPr/>
            </a:pPr>
            <a:r>
              <a:rPr/>
              <a:t>PROPERTY: Just a key-value pair. Values can be strings, numbers, booleans,</a:t>
            </a:r>
            <a:endParaRPr/>
          </a:p>
          <a:p>
            <a:pPr>
              <a:defRPr/>
            </a:pPr>
            <a:r>
              <a:rPr/>
              <a:t>dates, lists of primitives. You cannot nest a map inside a property — if you</a:t>
            </a:r>
            <a:endParaRPr/>
          </a:p>
          <a:p>
            <a:pPr>
              <a:defRPr/>
            </a:pPr>
            <a:r>
              <a:rPr/>
              <a:t>need complex nested structure, model it as a child node.</a:t>
            </a:r>
            <a:endParaRPr/>
          </a:p>
          <a:p>
            <a:pPr>
              <a:defRPr/>
            </a:pPr>
            <a:endParaRPr/>
          </a:p>
          <a:p>
            <a:pPr>
              <a:defRPr/>
            </a:pPr>
            <a:r>
              <a:rPr/>
              <a:t>PATH: The sequence of alternating nodes and edges between a source and a</a:t>
            </a:r>
            <a:endParaRPr/>
          </a:p>
          <a:p>
            <a:pPr>
              <a:defRPr/>
            </a:pPr>
            <a:r>
              <a:rPr/>
              <a:t>destination. Path length = number of edges traversed. The shortest path</a:t>
            </a:r>
            <a:endParaRPr/>
          </a:p>
          <a:p>
            <a:pPr>
              <a:defRPr/>
            </a:pPr>
            <a:r>
              <a:rPr/>
              <a:t>between two nodes is a very common query.</a:t>
            </a:r>
            <a:endParaRPr/>
          </a:p>
          <a:p>
            <a:pPr>
              <a:defRPr/>
            </a:pPr>
            <a:endParaRPr/>
          </a:p>
          <a:p>
            <a:pPr>
              <a:defRPr/>
            </a:pPr>
            <a:r>
              <a:rPr/>
              <a:t>DEGREE: How many edges touch a node. High-degree nodes (called "hubs") are</a:t>
            </a:r>
            <a:endParaRPr/>
          </a:p>
          <a:p>
            <a:pPr>
              <a:defRPr/>
            </a:pPr>
            <a:r>
              <a:rPr/>
              <a:t>important in network analysis — they appear in PageRank, centrality measures,</a:t>
            </a:r>
            <a:endParaRPr/>
          </a:p>
          <a:p>
            <a:pPr>
              <a:defRPr/>
            </a:pPr>
            <a:r>
              <a:rPr/>
              <a:t>and are often the source of hotspot problems.</a:t>
            </a:r>
            <a:endParaRPr/>
          </a:p>
          <a:p>
            <a:pPr>
              <a:defRPr/>
            </a:pPr>
            <a:endParaRPr/>
          </a:p>
          <a:p>
            <a:pPr>
              <a:defRPr/>
            </a:pPr>
            <a:r>
              <a:rPr/>
              <a:t>INDEX-FREE ADJACENCY: The storage property that makes graph traversal fast.</a:t>
            </a:r>
            <a:endParaRPr/>
          </a:p>
          <a:p>
            <a:pPr>
              <a:defRPr/>
            </a:pPr>
            <a:r>
              <a:rPr/>
              <a:t>We'll dedicate a full slide to this in Module 2.</a:t>
            </a:r>
            <a:endParaRPr/>
          </a:p>
          <a:p>
            <a:pPr>
              <a:defRPr/>
            </a:pPr>
            <a:endParaRPr/>
          </a:p>
          <a:p>
            <a:pPr>
              <a:defRPr/>
            </a:pPr>
            <a:r>
              <a:rPr/>
              <a:t>TRAVERSAL: The act of following edges through the graph to answer a query.</a:t>
            </a:r>
            <a:endParaRPr/>
          </a:p>
          <a:p>
            <a:pPr>
              <a:defRPr/>
            </a:pPr>
            <a:r>
              <a:rPr/>
              <a:t>Traversal is to graph databases what a table scan is to SQL — the fundamental</a:t>
            </a:r>
            <a:endParaRPr/>
          </a:p>
          <a:p>
            <a:pPr>
              <a:defRPr/>
            </a:pPr>
            <a:r>
              <a:rPr/>
              <a:t>read operation, just far more selective.</a:t>
            </a:r>
            <a:endParaRPr/>
          </a:p>
        </p:txBody>
      </p:sp>
      <p:sp>
        <p:nvSpPr>
          <p:cNvPr id="184026258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5203664" name="Slide Image Placeholder 1"/>
          <p:cNvSpPr>
            <a:spLocks noChangeAspect="1" noGrp="1" noRot="1"/>
          </p:cNvSpPr>
          <p:nvPr>
            <p:ph type="sldImg"/>
          </p:nvPr>
        </p:nvSpPr>
        <p:spPr bwMode="auto"/>
      </p:sp>
      <p:sp>
        <p:nvSpPr>
          <p:cNvPr id="335687634" name="Notes Placeholder 2"/>
          <p:cNvSpPr>
            <a:spLocks noGrp="1"/>
          </p:cNvSpPr>
          <p:nvPr>
            <p:ph type="body" idx="1"/>
          </p:nvPr>
        </p:nvSpPr>
        <p:spPr bwMode="auto"/>
        <p:txBody>
          <a:bodyPr/>
          <a:lstStyle/>
          <a:p>
            <a:pPr>
              <a:defRPr/>
            </a:pPr>
            <a:r>
              <a:rPr/>
              <a:t>Module 2 goes under the hood of the Property Graph model.</a:t>
            </a:r>
            <a:endParaRPr/>
          </a:p>
          <a:p>
            <a:pPr>
              <a:defRPr/>
            </a:pPr>
            <a:endParaRPr/>
          </a:p>
          <a:p>
            <a:pPr>
              <a:defRPr/>
            </a:pPr>
            <a:r>
              <a:rPr/>
              <a:t>Up until now we have been talking about graphs at a conceptual level. Here we</a:t>
            </a:r>
            <a:endParaRPr/>
          </a:p>
          <a:p>
            <a:pPr>
              <a:defRPr/>
            </a:pPr>
            <a:r>
              <a:rPr/>
              <a:t>get specific: how is a graph actually stored on disk, and why does that storage</a:t>
            </a:r>
            <a:endParaRPr/>
          </a:p>
          <a:p>
            <a:pPr>
              <a:defRPr/>
            </a:pPr>
            <a:r>
              <a:rPr/>
              <a:t>layout give us the performance properties we just described?</a:t>
            </a:r>
            <a:endParaRPr/>
          </a:p>
          <a:p>
            <a:pPr>
              <a:defRPr/>
            </a:pPr>
            <a:endParaRPr/>
          </a:p>
          <a:p>
            <a:pPr>
              <a:defRPr/>
            </a:pPr>
            <a:r>
              <a:rPr/>
              <a:t>Two concepts to focus on in this module:</a:t>
            </a:r>
            <a:endParaRPr/>
          </a:p>
          <a:p>
            <a:pPr>
              <a:defRPr/>
            </a:pPr>
            <a:r>
              <a:rPr/>
              <a:t>  1. The logical model: what a graph looks like from the developer's perspective</a:t>
            </a:r>
            <a:endParaRPr/>
          </a:p>
          <a:p>
            <a:pPr>
              <a:defRPr/>
            </a:pPr>
            <a:r>
              <a:rPr/>
              <a:t>     (nodes, edges, labels, properties).</a:t>
            </a:r>
            <a:endParaRPr/>
          </a:p>
          <a:p>
            <a:pPr>
              <a:defRPr/>
            </a:pPr>
            <a:r>
              <a:rPr/>
              <a:t>  2. The physical model: how nodes and edges are laid out in memory and on disk,</a:t>
            </a:r>
            <a:endParaRPr/>
          </a:p>
          <a:p>
            <a:pPr>
              <a:defRPr/>
            </a:pPr>
            <a:r>
              <a:rPr/>
              <a:t>     and why Index-Free Adjacency is the key innovation.</a:t>
            </a:r>
            <a:endParaRPr/>
          </a:p>
        </p:txBody>
      </p:sp>
      <p:sp>
        <p:nvSpPr>
          <p:cNvPr id="1659778685"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0149107" name="Slide Image Placeholder 1"/>
          <p:cNvSpPr>
            <a:spLocks noChangeAspect="1" noGrp="1" noRot="1"/>
          </p:cNvSpPr>
          <p:nvPr>
            <p:ph type="sldImg"/>
          </p:nvPr>
        </p:nvSpPr>
        <p:spPr bwMode="auto"/>
      </p:sp>
      <p:sp>
        <p:nvSpPr>
          <p:cNvPr id="451138257" name="Notes Placeholder 2"/>
          <p:cNvSpPr>
            <a:spLocks noGrp="1"/>
          </p:cNvSpPr>
          <p:nvPr>
            <p:ph type="body" idx="1"/>
          </p:nvPr>
        </p:nvSpPr>
        <p:spPr bwMode="auto"/>
        <p:txBody>
          <a:bodyPr/>
          <a:lstStyle/>
          <a:p>
            <a:pPr>
              <a:defRPr/>
            </a:pPr>
            <a:r>
              <a:rPr/>
              <a:t>The formal definition of a Labelled Property Graph (LPG).</a:t>
            </a:r>
            <a:endParaRPr/>
          </a:p>
          <a:p>
            <a:pPr>
              <a:defRPr/>
            </a:pPr>
            <a:endParaRPr/>
          </a:p>
          <a:p>
            <a:pPr>
              <a:defRPr/>
            </a:pPr>
            <a:r>
              <a:rPr/>
              <a:t>The mathematical description — G = (V, E) — is worth understanding because it</a:t>
            </a:r>
            <a:endParaRPr/>
          </a:p>
          <a:p>
            <a:pPr>
              <a:defRPr/>
            </a:pPr>
            <a:r>
              <a:rPr/>
              <a:t>is the same language used in research papers, database documentation, and job</a:t>
            </a:r>
            <a:endParaRPr/>
          </a:p>
          <a:p>
            <a:pPr>
              <a:defRPr/>
            </a:pPr>
            <a:r>
              <a:rPr/>
              <a:t>interviews.</a:t>
            </a:r>
            <a:r>
              <a:rPr lang="en-US" sz="1200" b="0" i="0" u="none" strike="noStrike" cap="none" spc="0">
                <a:solidFill>
                  <a:schemeClr val="tx1"/>
                </a:solidFill>
                <a:latin typeface="+mn-lt"/>
                <a:ea typeface="+mn-ea"/>
                <a:cs typeface="+mn-cs"/>
              </a:rPr>
              <a:t>V is the set of vertices, which we usually call nodes. E is the set of edges, which we usually call relationships. This is the mathematical definition of a graph.</a:t>
            </a:r>
            <a:endParaRPr/>
          </a:p>
          <a:p>
            <a:pPr>
              <a:defRPr/>
            </a:pPr>
            <a:endParaRPr/>
          </a:p>
          <a:p>
            <a:pPr>
              <a:defRPr/>
            </a:pPr>
            <a:r>
              <a:rPr/>
              <a:t>What makes LPG special compared to classical graph theory is the enrichment:</a:t>
            </a:r>
            <a:endParaRPr/>
          </a:p>
          <a:p>
            <a:pPr>
              <a:defRPr/>
            </a:pPr>
            <a:r>
              <a:rPr/>
              <a:t>  - Each vertex has a SET of labels and a MAP of properties.</a:t>
            </a:r>
            <a:endParaRPr/>
          </a:p>
          <a:p>
            <a:pPr>
              <a:defRPr/>
            </a:pPr>
            <a:r>
              <a:rPr/>
              <a:t>  - Each edge has ONE type and a MAP of properties.</a:t>
            </a:r>
            <a:endParaRPr/>
          </a:p>
          <a:p>
            <a:pPr>
              <a:defRPr/>
            </a:pPr>
            <a:r>
              <a:rPr/>
              <a:t>  - The schema is optional — vertex A and vertex B can both be :Person but have</a:t>
            </a:r>
            <a:endParaRPr/>
          </a:p>
          <a:p>
            <a:pPr>
              <a:defRPr/>
            </a:pPr>
            <a:r>
              <a:rPr/>
              <a:t>    completely different property keys with no penalty.</a:t>
            </a:r>
            <a:endParaRPr/>
          </a:p>
          <a:p>
            <a:pPr>
              <a:defRPr/>
            </a:pPr>
            <a:endParaRPr/>
          </a:p>
          <a:p>
            <a:pPr>
              <a:defRPr/>
            </a:pPr>
            <a:r>
              <a:rPr lang="en-US" sz="1200" b="0" i="0" u="none" strike="noStrike" cap="none" spc="0">
                <a:solidFill>
                  <a:schemeClr val="tx1"/>
                </a:solidFill>
                <a:latin typeface="+mn-lt"/>
                <a:ea typeface="+mn-ea"/>
                <a:cs typeface="+mn-cs"/>
              </a:rPr>
              <a:t>So, nodes can have labels and properties. Relationships have one type, a direction, and their own properties. This is practical because real relationships have information: a WROTE relationship can store author role, year, contribution, or order.</a:t>
            </a:r>
            <a:endParaRPr sz="1200"/>
          </a:p>
          <a:p>
            <a:pPr>
              <a:defRPr/>
            </a:pPr>
            <a:endParaRPr/>
          </a:p>
          <a:p>
            <a:pPr>
              <a:defRPr/>
            </a:pPr>
            <a:r>
              <a:rPr/>
              <a:t>The phrase "multi-graph by default" means two nodes can be connected by more</a:t>
            </a:r>
            <a:endParaRPr/>
          </a:p>
          <a:p>
            <a:pPr>
              <a:defRPr/>
            </a:pPr>
            <a:r>
              <a:rPr/>
              <a:t>than one edge. In a research network, two authors might have both WROTE a paper</a:t>
            </a:r>
            <a:endParaRPr/>
          </a:p>
          <a:p>
            <a:pPr>
              <a:defRPr/>
            </a:pPr>
            <a:r>
              <a:rPr/>
              <a:t>together AND be ADVISOR and STUDENT. Both edges coexist and both carry meaning.</a:t>
            </a:r>
            <a:endParaRPr/>
          </a:p>
          <a:p>
            <a:pPr>
              <a:defRPr/>
            </a:pPr>
            <a:endParaRPr/>
          </a:p>
          <a:p>
            <a:pPr>
              <a:defRPr/>
            </a:pPr>
            <a:r>
              <a:rPr/>
              <a:t>The phrase "temporal &amp; weighted graphs" is important for ECE students in</a:t>
            </a:r>
            <a:endParaRPr/>
          </a:p>
          <a:p>
            <a:pPr>
              <a:defRPr/>
            </a:pPr>
            <a:r>
              <a:rPr/>
              <a:t>particular. You often model physical networks (power grids, communication</a:t>
            </a:r>
            <a:endParaRPr/>
          </a:p>
          <a:p>
            <a:pPr>
              <a:defRPr/>
            </a:pPr>
            <a:r>
              <a:rPr/>
              <a:t>networks, sensor meshes) where edges have weights (capacity, latency) and</a:t>
            </a:r>
            <a:endParaRPr/>
          </a:p>
          <a:p>
            <a:pPr>
              <a:defRPr/>
            </a:pPr>
            <a:r>
              <a:rPr/>
              <a:t>timestamps (when was this link established?). Graph databases handle this</a:t>
            </a:r>
            <a:endParaRPr/>
          </a:p>
          <a:p>
            <a:pPr>
              <a:defRPr/>
            </a:pPr>
            <a:r>
              <a:rPr/>
              <a:t>naturally because edges are first-class objects with their own properties.</a:t>
            </a:r>
            <a:endParaRPr/>
          </a:p>
          <a:p>
            <a:pPr>
              <a:defRPr/>
            </a:pPr>
            <a:endParaRPr/>
          </a:p>
          <a:p>
            <a:pPr>
              <a:defRPr/>
            </a:pPr>
            <a:r>
              <a:rPr/>
              <a:t>The key design implication: pattern matching finds every sub-graph that matches</a:t>
            </a:r>
            <a:endParaRPr/>
          </a:p>
          <a:p>
            <a:pPr>
              <a:defRPr/>
            </a:pPr>
            <a:r>
              <a:rPr/>
              <a:t>a given shape. If you define a pattern "Author wrote a Paper about a Topic," the</a:t>
            </a:r>
            <a:endParaRPr/>
          </a:p>
          <a:p>
            <a:pPr>
              <a:defRPr/>
            </a:pPr>
            <a:r>
              <a:rPr/>
              <a:t>engine will return every (Author, Paper, Topic) triple in the database that</a:t>
            </a:r>
            <a:endParaRPr/>
          </a:p>
          <a:p>
            <a:pPr>
              <a:defRPr/>
            </a:pPr>
            <a:r>
              <a:rPr/>
              <a:t>satisfies that shape. This is both very powerful and very different from SQL,</a:t>
            </a:r>
            <a:endParaRPr/>
          </a:p>
          <a:p>
            <a:pPr>
              <a:defRPr/>
            </a:pPr>
            <a:r>
              <a:rPr/>
              <a:t>where you enumerate what you want column by column.</a:t>
            </a:r>
            <a:endParaRPr/>
          </a:p>
        </p:txBody>
      </p:sp>
      <p:sp>
        <p:nvSpPr>
          <p:cNvPr id="676067828"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0530262" name="Slide Image Placeholder 1"/>
          <p:cNvSpPr>
            <a:spLocks noChangeAspect="1" noGrp="1" noRot="1"/>
          </p:cNvSpPr>
          <p:nvPr>
            <p:ph type="sldImg"/>
          </p:nvPr>
        </p:nvSpPr>
        <p:spPr bwMode="auto"/>
      </p:sp>
      <p:sp>
        <p:nvSpPr>
          <p:cNvPr id="1262422002" name="Notes Placeholder 2"/>
          <p:cNvSpPr>
            <a:spLocks noGrp="1"/>
          </p:cNvSpPr>
          <p:nvPr>
            <p:ph type="body" idx="1"/>
          </p:nvPr>
        </p:nvSpPr>
        <p:spPr bwMode="auto"/>
        <p:txBody>
          <a:bodyPr/>
          <a:lstStyle/>
          <a:p>
            <a:pPr>
              <a:defRPr/>
            </a:pPr>
            <a:endParaRPr/>
          </a:p>
          <a:p>
            <a:pPr>
              <a:defRPr/>
            </a:pPr>
            <a:endParaRPr/>
          </a:p>
          <a:p>
            <a:pPr>
              <a:defRPr/>
            </a:pPr>
            <a:r>
              <a:rPr/>
              <a:t>The scenario is a tiny research network with three node types: :Author, :Paper,</a:t>
            </a:r>
            <a:endParaRPr/>
          </a:p>
          <a:p>
            <a:pPr>
              <a:defRPr/>
            </a:pPr>
            <a:r>
              <a:rPr/>
              <a:t>and :Topic. The edges show who wrote what ([:WROTE]) and what each paper is</a:t>
            </a:r>
            <a:endParaRPr/>
          </a:p>
          <a:p>
            <a:pPr>
              <a:defRPr/>
            </a:pPr>
            <a:r>
              <a:rPr/>
              <a:t>about ([:ABOUT]).</a:t>
            </a:r>
            <a:endParaRPr/>
          </a:p>
          <a:p>
            <a:pPr>
              <a:defRPr/>
            </a:pPr>
            <a:endParaRPr/>
          </a:p>
          <a:p>
            <a:pPr>
              <a:defRPr/>
            </a:pPr>
            <a:r>
              <a:rPr/>
              <a:t>Notice several things about this diagram:</a:t>
            </a:r>
            <a:endParaRPr/>
          </a:p>
          <a:p>
            <a:pPr>
              <a:defRPr/>
            </a:pPr>
            <a:r>
              <a:rPr/>
              <a:t>  - The nodes are drawn as ellipses — in Neo4j Browser they appear as circles.</a:t>
            </a:r>
            <a:endParaRPr/>
          </a:p>
          <a:p>
            <a:pPr>
              <a:defRPr/>
            </a:pPr>
            <a:r>
              <a:rPr/>
              <a:t>  - Each node has a label (prefixed with</a:t>
            </a:r>
            <a:r>
              <a:rPr lang="el-GR"/>
              <a:t> </a:t>
            </a:r>
            <a:r>
              <a:rPr lang="en-US"/>
              <a:t>colon</a:t>
            </a:r>
            <a:r>
              <a:rPr/>
              <a:t> :) and one or more properties inside.</a:t>
            </a:r>
            <a:endParaRPr/>
          </a:p>
          <a:p>
            <a:pPr>
              <a:defRPr/>
            </a:pPr>
            <a:r>
              <a:rPr/>
              <a:t>  - Edges are directed arrows with a type name in square brackets.</a:t>
            </a:r>
            <a:endParaRPr/>
          </a:p>
          <a:p>
            <a:pPr>
              <a:defRPr/>
            </a:pPr>
            <a:r>
              <a:rPr/>
              <a:t>  - The edge [:WROTE { year: 2024 }] carries its own property. This is powerful:</a:t>
            </a:r>
            <a:endParaRPr/>
          </a:p>
          <a:p>
            <a:pPr>
              <a:defRPr/>
            </a:pPr>
            <a:r>
              <a:rPr/>
              <a:t>    you know not just that Anna wrote the paper, but when she submitted it.</a:t>
            </a:r>
            <a:endParaRPr/>
          </a:p>
          <a:p>
            <a:pPr>
              <a:defRPr/>
            </a:pPr>
            <a:r>
              <a:rPr/>
              <a:t>  - The pattern shown at the bottom is Cypher syntax. You can literally read it</a:t>
            </a:r>
            <a:endParaRPr/>
          </a:p>
          <a:p>
            <a:pPr>
              <a:defRPr/>
            </a:pPr>
            <a:r>
              <a:rPr/>
              <a:t>    aloud: "An Author who WROTE a Paper that is ABOUT a Topic."</a:t>
            </a:r>
            <a:endParaRPr/>
          </a:p>
          <a:p>
            <a:pPr>
              <a:defRPr/>
            </a:pPr>
            <a:endParaRPr/>
          </a:p>
          <a:p>
            <a:pPr>
              <a:defRPr/>
            </a:pPr>
            <a:r>
              <a:rPr/>
              <a:t>This three-node, two-edge pattern is the backbone of the queries you will write</a:t>
            </a:r>
            <a:endParaRPr/>
          </a:p>
          <a:p>
            <a:pPr>
              <a:defRPr/>
            </a:pPr>
            <a:r>
              <a:rPr/>
              <a:t>in the lab. In a real research network, you might have thousands of</a:t>
            </a:r>
            <a:endParaRPr/>
          </a:p>
          <a:p>
            <a:pPr>
              <a:defRPr/>
            </a:pPr>
            <a:r>
              <a:rPr/>
              <a:t>Authors, tens of thousands of Papers, and hundreds of Topics — but the pattern</a:t>
            </a:r>
            <a:endParaRPr/>
          </a:p>
          <a:p>
            <a:pPr>
              <a:defRPr/>
            </a:pPr>
            <a:r>
              <a:rPr/>
              <a:t>stays exactly the same. The engine finds every matching subgraph.</a:t>
            </a:r>
            <a:endParaRPr/>
          </a:p>
          <a:p>
            <a:pPr>
              <a:defRPr/>
            </a:pPr>
            <a:endParaRPr/>
          </a:p>
          <a:p>
            <a:pPr>
              <a:defRPr/>
            </a:pPr>
            <a:r>
              <a:rPr/>
              <a:t>One modelling note: we chose to model :Topic as a separate node rather than a</a:t>
            </a:r>
            <a:endParaRPr/>
          </a:p>
          <a:p>
            <a:pPr>
              <a:defRPr/>
            </a:pPr>
            <a:r>
              <a:rPr/>
              <a:t>property on :Paper. Why? Because topics are shared — many papers can be ABOUT</a:t>
            </a:r>
            <a:endParaRPr/>
          </a:p>
          <a:p>
            <a:pPr>
              <a:defRPr/>
            </a:pPr>
            <a:r>
              <a:rPr/>
              <a:t>the same topic. If topic were a property (like a string tag), you could not</a:t>
            </a:r>
            <a:endParaRPr/>
          </a:p>
          <a:p>
            <a:pPr>
              <a:defRPr/>
            </a:pPr>
            <a:r>
              <a:rPr/>
              <a:t>easily query "find all papers about VLSI Design" without a full-text search.</a:t>
            </a:r>
            <a:endParaRPr/>
          </a:p>
          <a:p>
            <a:pPr>
              <a:defRPr/>
            </a:pPr>
            <a:r>
              <a:rPr/>
              <a:t>As a node, the query is just MATCH (p:Paper)-[:ABOUT]-&gt;(t:Topic {name:'VLSI Design'})</a:t>
            </a:r>
            <a:endParaRPr/>
          </a:p>
          <a:p>
            <a:pPr>
              <a:defRPr/>
            </a:pPr>
            <a:r>
              <a:rPr/>
              <a:t>and it uses an index lookup. This is the "graph thinking" mindset in action.</a:t>
            </a:r>
            <a:endParaRPr/>
          </a:p>
        </p:txBody>
      </p:sp>
      <p:sp>
        <p:nvSpPr>
          <p:cNvPr id="1200470732"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9358655" name="Slide Image Placeholder 1"/>
          <p:cNvSpPr>
            <a:spLocks noChangeAspect="1" noGrp="1" noRot="1"/>
          </p:cNvSpPr>
          <p:nvPr>
            <p:ph type="sldImg"/>
          </p:nvPr>
        </p:nvSpPr>
        <p:spPr bwMode="auto"/>
      </p:sp>
      <p:sp>
        <p:nvSpPr>
          <p:cNvPr id="1812124394" name="Notes Placeholder 2"/>
          <p:cNvSpPr>
            <a:spLocks noGrp="1"/>
          </p:cNvSpPr>
          <p:nvPr>
            <p:ph type="body" idx="1"/>
          </p:nvPr>
        </p:nvSpPr>
        <p:spPr bwMode="auto"/>
        <p:txBody>
          <a:bodyPr/>
          <a:lstStyle/>
          <a:p>
            <a:pPr>
              <a:defRPr/>
            </a:pPr>
            <a:r>
              <a:rPr/>
              <a:t>There are two major paradigms in the graph database world, and you will</a:t>
            </a:r>
            <a:endParaRPr/>
          </a:p>
          <a:p>
            <a:pPr>
              <a:defRPr/>
            </a:pPr>
            <a:r>
              <a:rPr/>
              <a:t>encounter both in your career. It is important to know the difference.</a:t>
            </a:r>
            <a:endParaRPr/>
          </a:p>
          <a:p>
            <a:pPr>
              <a:defRPr/>
            </a:pPr>
            <a:endParaRPr/>
          </a:p>
          <a:p>
            <a:pPr>
              <a:defRPr/>
            </a:pPr>
            <a:r>
              <a:rPr/>
              <a:t>LABELLED PROPERTY GRAPH (LPG) — what Neo4j, TigerGraph, Memgraph, and ArangoDB</a:t>
            </a:r>
            <a:endParaRPr/>
          </a:p>
          <a:p>
            <a:pPr>
              <a:defRPr/>
            </a:pPr>
            <a:r>
              <a:rPr/>
              <a:t>use. Properties live ON the node or edge directly. The data model is compact and</a:t>
            </a:r>
            <a:endParaRPr/>
          </a:p>
          <a:p>
            <a:pPr>
              <a:defRPr/>
            </a:pPr>
            <a:r>
              <a:rPr/>
              <a:t>intuitive. If you want to store that Anna works at "University of Thessaly," you</a:t>
            </a:r>
            <a:endParaRPr/>
          </a:p>
          <a:p>
            <a:pPr>
              <a:defRPr/>
            </a:pPr>
            <a:r>
              <a:rPr/>
              <a:t>just set a.affiliation = 'University of Thessaly'. Query language: Cypher (and</a:t>
            </a:r>
            <a:endParaRPr/>
          </a:p>
          <a:p>
            <a:pPr>
              <a:defRPr/>
            </a:pPr>
            <a:r>
              <a:rPr/>
              <a:t>soon GQL). This is what we use in today's lab.</a:t>
            </a:r>
            <a:endParaRPr/>
          </a:p>
          <a:p>
            <a:pPr>
              <a:defRPr/>
            </a:pPr>
            <a:endParaRPr/>
          </a:p>
          <a:p>
            <a:pPr>
              <a:defRPr/>
            </a:pPr>
            <a:r>
              <a:rPr/>
              <a:t>RDF TRIPLE STORES — what GraphDB, Stardog, Apache Jena, and Virtuoso use. In RDF,</a:t>
            </a:r>
            <a:endParaRPr/>
          </a:p>
          <a:p>
            <a:pPr>
              <a:defRPr/>
            </a:pPr>
            <a:r>
              <a:rPr/>
              <a:t>everything is a triple: (subject, predicate, object). Even a simple property like</a:t>
            </a:r>
            <a:endParaRPr/>
          </a:p>
          <a:p>
            <a:pPr>
              <a:defRPr/>
            </a:pPr>
            <a:r>
              <a:rPr/>
              <a:t>"Anna's name is Anna Stavridou" becomes a triple:</a:t>
            </a:r>
            <a:endParaRPr/>
          </a:p>
          <a:p>
            <a:pPr>
              <a:defRPr/>
            </a:pPr>
            <a:r>
              <a:rPr/>
              <a:t>  (Anna_URI, foaf:name, "Anna Stavridou")</a:t>
            </a:r>
            <a:endParaRPr/>
          </a:p>
          <a:p>
            <a:pPr>
              <a:defRPr/>
            </a:pPr>
            <a:r>
              <a:rPr/>
              <a:t>Properties are not stored on nodes — they are expressed as edges to literal values.</a:t>
            </a:r>
            <a:endParaRPr/>
          </a:p>
          <a:p>
            <a:pPr>
              <a:defRPr/>
            </a:pPr>
            <a:r>
              <a:rPr/>
              <a:t>This makes RDF more verbose but also more interoperable. Query language: SPARQL,</a:t>
            </a:r>
            <a:endParaRPr/>
          </a:p>
          <a:p>
            <a:pPr>
              <a:defRPr/>
            </a:pPr>
            <a:r>
              <a:rPr/>
              <a:t>a W3C standard since 2008.</a:t>
            </a:r>
            <a:endParaRPr/>
          </a:p>
          <a:p>
            <a:pPr>
              <a:defRPr/>
            </a:pPr>
            <a:endParaRPr/>
          </a:p>
          <a:p>
            <a:pPr>
              <a:defRPr/>
            </a:pPr>
            <a:r>
              <a:rPr/>
              <a:t>WHEN DOES EACH MATTER?</a:t>
            </a:r>
            <a:endParaRPr/>
          </a:p>
          <a:p>
            <a:pPr>
              <a:defRPr/>
            </a:pPr>
            <a:r>
              <a:rPr/>
              <a:t>  - LPG: application development, real-time queries, fraud detection, recommendations.</a:t>
            </a:r>
            <a:endParaRPr/>
          </a:p>
          <a:p>
            <a:pPr>
              <a:defRPr/>
            </a:pPr>
            <a:r>
              <a:rPr/>
              <a:t>    Compact, fast, developer-friendly.</a:t>
            </a:r>
            <a:endParaRPr/>
          </a:p>
          <a:p>
            <a:pPr>
              <a:defRPr/>
            </a:pPr>
            <a:r>
              <a:rPr/>
              <a:t>  - RDF: linked data on the web, ontology reasoning (OWL, SHACL), knowledge</a:t>
            </a:r>
            <a:endParaRPr/>
          </a:p>
          <a:p>
            <a:pPr>
              <a:defRPr/>
            </a:pPr>
            <a:r>
              <a:rPr/>
              <a:t>    representation across organisations, open government data, biomedical databases</a:t>
            </a:r>
            <a:endParaRPr/>
          </a:p>
          <a:p>
            <a:pPr>
              <a:defRPr/>
            </a:pPr>
            <a:r>
              <a:rPr/>
              <a:t>    like UniProt, ChEMBL, and Wikidata.</a:t>
            </a:r>
            <a:endParaRPr/>
          </a:p>
          <a:p>
            <a:pPr>
              <a:defRPr/>
            </a:pPr>
            <a:endParaRPr/>
          </a:p>
          <a:p>
            <a:pPr>
              <a:defRPr/>
            </a:pPr>
            <a:r>
              <a:rPr/>
              <a:t>In practice, the ECE industry you will join uses LPG (Neo4j) for the vast majority</a:t>
            </a:r>
            <a:endParaRPr/>
          </a:p>
          <a:p>
            <a:pPr>
              <a:defRPr/>
            </a:pPr>
            <a:r>
              <a:rPr/>
              <a:t>of application-level graph work, and occasionally encounters RDF in standards-heavy</a:t>
            </a:r>
            <a:endParaRPr/>
          </a:p>
          <a:p>
            <a:pPr>
              <a:defRPr/>
            </a:pPr>
            <a:r>
              <a:rPr/>
              <a:t>domains like telecommunications (GSMA, 3GPP) or healthcare (HL7 FHIR).</a:t>
            </a:r>
            <a:endParaRPr/>
          </a:p>
          <a:p>
            <a:pPr>
              <a:defRPr/>
            </a:pPr>
            <a:endParaRPr/>
          </a:p>
          <a:p>
            <a:pPr>
              <a:defRPr/>
            </a:pPr>
            <a:r>
              <a:rPr/>
              <a:t>Interesting fact: Wikidata — the structured knowledge base behind Wikipedia — is</a:t>
            </a:r>
            <a:endParaRPr/>
          </a:p>
          <a:p>
            <a:pPr>
              <a:defRPr/>
            </a:pPr>
            <a:r>
              <a:rPr/>
              <a:t>one of the largest public RDF graphs. It has ~100 million nodes and is freely</a:t>
            </a:r>
            <a:endParaRPr/>
          </a:p>
          <a:p>
            <a:pPr>
              <a:defRPr/>
            </a:pPr>
            <a:r>
              <a:rPr/>
              <a:t>queryable via its SPARQL endpoint. Great for research projects.</a:t>
            </a:r>
            <a:endParaRPr/>
          </a:p>
        </p:txBody>
      </p:sp>
      <p:sp>
        <p:nvSpPr>
          <p:cNvPr id="127276685"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1401459" name="Slide Image Placeholder 1"/>
          <p:cNvSpPr>
            <a:spLocks noChangeAspect="1" noGrp="1" noRot="1"/>
          </p:cNvSpPr>
          <p:nvPr>
            <p:ph type="sldImg"/>
          </p:nvPr>
        </p:nvSpPr>
        <p:spPr bwMode="auto"/>
      </p:sp>
      <p:sp>
        <p:nvSpPr>
          <p:cNvPr id="18437627" name="Notes Placeholder 2"/>
          <p:cNvSpPr>
            <a:spLocks noGrp="1"/>
          </p:cNvSpPr>
          <p:nvPr>
            <p:ph type="body" idx="1"/>
          </p:nvPr>
        </p:nvSpPr>
        <p:spPr bwMode="auto"/>
        <p:txBody>
          <a:bodyPr/>
          <a:lstStyle/>
          <a:p>
            <a:pPr>
              <a:defRPr/>
            </a:pPr>
            <a:r>
              <a:rPr/>
              <a:t>Index-Free Adjacency is THE core storage innovation that separates a native</a:t>
            </a:r>
            <a:endParaRPr/>
          </a:p>
          <a:p>
            <a:pPr>
              <a:defRPr/>
            </a:pPr>
            <a:r>
              <a:rPr/>
              <a:t>graph database from "SQL with a graph layer on top." This slide is probably the</a:t>
            </a:r>
            <a:endParaRPr/>
          </a:p>
          <a:p>
            <a:pPr>
              <a:defRPr/>
            </a:pPr>
            <a:r>
              <a:rPr/>
              <a:t>most technically dense of Module 2, so let's slow down.</a:t>
            </a:r>
            <a:endParaRPr/>
          </a:p>
          <a:p>
            <a:pPr>
              <a:defRPr/>
            </a:pPr>
            <a:endParaRPr/>
          </a:p>
          <a:p>
            <a:pPr>
              <a:defRPr/>
            </a:pPr>
            <a:r>
              <a:rPr/>
              <a:t>RELATIONAL DATABASES store relationships as data in a join table. When you query</a:t>
            </a:r>
            <a:endParaRPr/>
          </a:p>
          <a:p>
            <a:pPr>
              <a:defRPr/>
            </a:pPr>
            <a:r>
              <a:rPr/>
              <a:t>"find all friends of Alice," the database looks up Alice's ID in the friendships</a:t>
            </a:r>
            <a:endParaRPr/>
          </a:p>
          <a:p>
            <a:pPr>
              <a:defRPr/>
            </a:pPr>
            <a:r>
              <a:rPr/>
              <a:t>table — a B-tree index scan that touches O(log N) rows where N is the total number</a:t>
            </a:r>
            <a:endParaRPr/>
          </a:p>
          <a:p>
            <a:pPr>
              <a:defRPr/>
            </a:pPr>
            <a:r>
              <a:rPr/>
              <a:t>of friendships in the system. At 1 billion friendships, log(1B) ≈ 30 comparisons</a:t>
            </a:r>
            <a:endParaRPr/>
          </a:p>
          <a:p>
            <a:pPr>
              <a:defRPr/>
            </a:pPr>
            <a:r>
              <a:rPr/>
              <a:t>per hop. Across 4 hops: 30^4 = 810,000 comparisons. Multiplied by the rows</a:t>
            </a:r>
            <a:endParaRPr/>
          </a:p>
          <a:p>
            <a:pPr>
              <a:defRPr/>
            </a:pPr>
            <a:r>
              <a:rPr/>
              <a:t>matched at each step. This is why deep JOIN queries are slow.</a:t>
            </a:r>
            <a:endParaRPr/>
          </a:p>
          <a:p>
            <a:pPr>
              <a:defRPr/>
            </a:pPr>
            <a:endParaRPr/>
          </a:p>
          <a:p>
            <a:pPr>
              <a:defRPr/>
            </a:pPr>
            <a:r>
              <a:rPr/>
              <a:t>NATIVE GRAPH DATABASES work differently. On disk, each node record contains a</a:t>
            </a:r>
            <a:endParaRPr/>
          </a:p>
          <a:p>
            <a:pPr>
              <a:defRPr/>
            </a:pPr>
            <a:r>
              <a:rPr/>
              <a:t>literal pointer (a file offset) to the first edge in its adjacency list. Each edge</a:t>
            </a:r>
            <a:endParaRPr/>
          </a:p>
          <a:p>
            <a:pPr>
              <a:defRPr/>
            </a:pPr>
            <a:r>
              <a:rPr/>
              <a:t>record contains pointers to both endpoint nodes and to the next edge in each node's</a:t>
            </a:r>
            <a:endParaRPr/>
          </a:p>
          <a:p>
            <a:pPr>
              <a:defRPr/>
            </a:pPr>
            <a:r>
              <a:rPr/>
              <a:t>list. Following a relationship = following a pointer. No index lookup. No B-tree.</a:t>
            </a:r>
            <a:endParaRPr/>
          </a:p>
          <a:p>
            <a:pPr>
              <a:defRPr/>
            </a:pPr>
            <a:r>
              <a:rPr/>
              <a:t>Just: go to this byte offset on disk. That is O(1) per hop.</a:t>
            </a:r>
            <a:endParaRPr/>
          </a:p>
          <a:p>
            <a:pPr>
              <a:defRPr/>
            </a:pPr>
            <a:endParaRPr/>
          </a:p>
          <a:p>
            <a:pPr>
              <a:defRPr/>
            </a:pPr>
            <a:r>
              <a:rPr/>
              <a:t>A 4-hop traversal visiting 10,000 edges costs approximately 10,000 pointer</a:t>
            </a:r>
            <a:endParaRPr/>
          </a:p>
          <a:p>
            <a:pPr>
              <a:defRPr/>
            </a:pPr>
            <a:r>
              <a:rPr/>
              <a:t>dereferences — the same whether the graph has 1 million or 1 billion nodes.</a:t>
            </a:r>
            <a:endParaRPr/>
          </a:p>
          <a:p>
            <a:pPr>
              <a:defRPr/>
            </a:pPr>
            <a:endParaRPr/>
          </a:p>
          <a:p>
            <a:pPr>
              <a:defRPr/>
            </a:pPr>
            <a:r>
              <a:rPr/>
              <a:t>The trade-off: random I/O. Pointer chasing through a large graph means your disk</a:t>
            </a:r>
            <a:endParaRPr/>
          </a:p>
          <a:p>
            <a:pPr>
              <a:defRPr/>
            </a:pPr>
            <a:r>
              <a:rPr/>
              <a:t>head jumps around (or your SSD controller handles many random reads). Modern</a:t>
            </a:r>
            <a:endParaRPr/>
          </a:p>
          <a:p>
            <a:pPr>
              <a:defRPr/>
            </a:pPr>
            <a:r>
              <a:rPr/>
              <a:t>engines mitigate this with memory-mapped files (mmap), OS page caching, and</a:t>
            </a:r>
            <a:endParaRPr/>
          </a:p>
          <a:p>
            <a:pPr>
              <a:defRPr/>
            </a:pPr>
            <a:r>
              <a:rPr/>
              <a:t>graph-aware node ordering that places frequently co-accessed nodes on the same</a:t>
            </a:r>
            <a:endParaRPr/>
          </a:p>
          <a:p>
            <a:pPr>
              <a:defRPr/>
            </a:pPr>
            <a:r>
              <a:rPr/>
              <a:t>disk page.</a:t>
            </a:r>
            <a:endParaRPr/>
          </a:p>
          <a:p>
            <a:pPr>
              <a:defRPr/>
            </a:pPr>
            <a:endParaRPr/>
          </a:p>
          <a:p>
            <a:pPr>
              <a:defRPr/>
            </a:pPr>
            <a:r>
              <a:rPr/>
              <a:t>Important: not every database that calls itself a "graph database" uses Index-Free</a:t>
            </a:r>
            <a:endParaRPr/>
          </a:p>
          <a:p>
            <a:pPr>
              <a:defRPr/>
            </a:pPr>
            <a:r>
              <a:rPr/>
              <a:t>Adjacency. Some build a graph layer on top of a relational or key-value store. They</a:t>
            </a:r>
            <a:endParaRPr/>
          </a:p>
          <a:p>
            <a:pPr>
              <a:defRPr/>
            </a:pPr>
            <a:r>
              <a:rPr/>
              <a:t>can answer graph queries, but lose the O(1) per-hop traversal property. Neo4j,</a:t>
            </a:r>
            <a:endParaRPr/>
          </a:p>
          <a:p>
            <a:pPr>
              <a:defRPr/>
            </a:pPr>
            <a:r>
              <a:rPr/>
              <a:t>Memgraph, and TigerGraph are examples of TRUE native graph engines. JanusGraph</a:t>
            </a:r>
            <a:endParaRPr/>
          </a:p>
          <a:p>
            <a:pPr>
              <a:defRPr/>
            </a:pPr>
            <a:r>
              <a:rPr/>
              <a:t>uses a pluggable backend (Cassandra, HBase) and does NOT have Index-Free Adjacency</a:t>
            </a:r>
            <a:endParaRPr/>
          </a:p>
          <a:p>
            <a:pPr>
              <a:defRPr/>
            </a:pPr>
            <a:r>
              <a:rPr/>
              <a:t>— it gains flexibility but pays a traversal cost.</a:t>
            </a:r>
            <a:endParaRPr/>
          </a:p>
        </p:txBody>
      </p:sp>
      <p:sp>
        <p:nvSpPr>
          <p:cNvPr id="34309832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950280" name="Slide Image Placeholder 1"/>
          <p:cNvSpPr>
            <a:spLocks noChangeAspect="1" noGrp="1" noRot="1"/>
          </p:cNvSpPr>
          <p:nvPr>
            <p:ph type="sldImg"/>
          </p:nvPr>
        </p:nvSpPr>
        <p:spPr bwMode="auto"/>
      </p:sp>
      <p:sp>
        <p:nvSpPr>
          <p:cNvPr id="1065040391" name="Notes Placeholder 2"/>
          <p:cNvSpPr>
            <a:spLocks noGrp="1"/>
          </p:cNvSpPr>
          <p:nvPr>
            <p:ph type="body" idx="1"/>
          </p:nvPr>
        </p:nvSpPr>
        <p:spPr bwMode="auto"/>
        <p:txBody>
          <a:bodyPr/>
          <a:lstStyle/>
          <a:p>
            <a:pPr>
              <a:defRPr/>
            </a:pPr>
            <a:r>
              <a:rPr/>
              <a:t>This slide opens the hood even further and shows how node, edge, and property</a:t>
            </a:r>
            <a:endParaRPr/>
          </a:p>
          <a:p>
            <a:pPr>
              <a:defRPr/>
            </a:pPr>
            <a:r>
              <a:rPr/>
              <a:t>data are physically stored in a native graph database like Neo4j.</a:t>
            </a:r>
            <a:endParaRPr/>
          </a:p>
          <a:p>
            <a:pPr>
              <a:defRPr/>
            </a:pPr>
            <a:endParaRPr/>
          </a:p>
          <a:p>
            <a:pPr>
              <a:defRPr/>
            </a:pPr>
            <a:r>
              <a:rPr/>
              <a:t>NODE STORE: Neo4j uses fixed-size node records (15 bytes each in older versions,</a:t>
            </a:r>
            <a:endParaRPr/>
          </a:p>
          <a:p>
            <a:pPr>
              <a:defRPr/>
            </a:pPr>
            <a:r>
              <a:rPr/>
              <a:t>larger in 5.x). Fixed size means finding node N is trivial: seek to offset N × 15.</a:t>
            </a:r>
            <a:endParaRPr/>
          </a:p>
          <a:p>
            <a:pPr>
              <a:defRPr/>
            </a:pPr>
            <a:r>
              <a:rPr/>
              <a:t>Each record stores: the node's label(s) (as integer IDs into a label store), a</a:t>
            </a:r>
            <a:endParaRPr/>
          </a:p>
          <a:p>
            <a:pPr>
              <a:defRPr/>
            </a:pPr>
            <a:r>
              <a:rPr/>
              <a:t>pointer to its first property, and a pointer to the first edge in its adjacency list.</a:t>
            </a:r>
            <a:endParaRPr/>
          </a:p>
          <a:p>
            <a:pPr>
              <a:defRPr/>
            </a:pPr>
            <a:endParaRPr/>
          </a:p>
          <a:p>
            <a:pPr>
              <a:defRPr/>
            </a:pPr>
            <a:r>
              <a:rPr/>
              <a:t>EDGE STORE: also fixed-size records. Each edge record stores: the relationship type</a:t>
            </a:r>
            <a:endParaRPr/>
          </a:p>
          <a:p>
            <a:pPr>
              <a:defRPr/>
            </a:pPr>
            <a:r>
              <a:rPr/>
              <a:t>(integer ID), the start node ID, the end node ID, and — crucially — TWO sets of</a:t>
            </a:r>
            <a:endParaRPr/>
          </a:p>
          <a:p>
            <a:pPr>
              <a:defRPr/>
            </a:pPr>
            <a:r>
              <a:rPr/>
              <a:t>next/prev pointers: one for the start node's edge chain and one for the end node's</a:t>
            </a:r>
            <a:endParaRPr/>
          </a:p>
          <a:p>
            <a:pPr>
              <a:defRPr/>
            </a:pPr>
            <a:r>
              <a:rPr/>
              <a:t>edge chain. This doubly-linked-list structure allows traversal in either direction</a:t>
            </a:r>
            <a:endParaRPr/>
          </a:p>
          <a:p>
            <a:pPr>
              <a:defRPr/>
            </a:pPr>
            <a:r>
              <a:rPr/>
              <a:t>without a global index.</a:t>
            </a:r>
            <a:endParaRPr/>
          </a:p>
          <a:p>
            <a:pPr>
              <a:defRPr/>
            </a:pPr>
            <a:endParaRPr/>
          </a:p>
          <a:p>
            <a:pPr>
              <a:defRPr/>
            </a:pPr>
            <a:r>
              <a:rPr/>
              <a:t>DICTIONARIES: labels, relationship types, and property keys are all stored as</a:t>
            </a:r>
            <a:endParaRPr/>
          </a:p>
          <a:p>
            <a:pPr>
              <a:defRPr/>
            </a:pPr>
            <a:r>
              <a:rPr/>
              <a:t>integers internally. "Person" maps to 4, "WROTE" maps to 12. String comparisons</a:t>
            </a:r>
            <a:endParaRPr/>
          </a:p>
          <a:p>
            <a:pPr>
              <a:defRPr/>
            </a:pPr>
            <a:r>
              <a:rPr/>
              <a:t>become integer comparisons — much faster.</a:t>
            </a:r>
            <a:endParaRPr/>
          </a:p>
          <a:p>
            <a:pPr>
              <a:defRPr/>
            </a:pPr>
            <a:endParaRPr/>
          </a:p>
          <a:p>
            <a:pPr>
              <a:defRPr/>
            </a:pPr>
            <a:r>
              <a:rPr/>
              <a:t>TRAVERSAL COST (right column): for a query that fans out k hops with average degree</a:t>
            </a:r>
            <a:endParaRPr/>
          </a:p>
          <a:p>
            <a:pPr>
              <a:defRPr/>
            </a:pPr>
            <a:r>
              <a:rPr/>
              <a:t>d, the number of edges visited is d^k. For a fraud ring query (k=4, d=5) that is</a:t>
            </a:r>
            <a:endParaRPr/>
          </a:p>
          <a:p>
            <a:pPr>
              <a:defRPr/>
            </a:pPr>
            <a:r>
              <a:rPr/>
              <a:t>625 edges — tiny. For a "find all paths" query (k=10, d=100) it is 100^10 — never</a:t>
            </a:r>
            <a:endParaRPr/>
          </a:p>
          <a:p>
            <a:pPr>
              <a:defRPr/>
            </a:pPr>
            <a:r>
              <a:rPr/>
              <a:t>do that without a selectivity filter! The practical lesson: always filter at the</a:t>
            </a:r>
            <a:endParaRPr/>
          </a:p>
          <a:p>
            <a:pPr>
              <a:defRPr/>
            </a:pPr>
            <a:r>
              <a:rPr/>
              <a:t>ENTRY POINT of a traversal. Start from a specific node (indexed lookup), not from</a:t>
            </a:r>
            <a:endParaRPr/>
          </a:p>
          <a:p>
            <a:pPr>
              <a:defRPr/>
            </a:pPr>
            <a:r>
              <a:rPr/>
              <a:t>the whole graph.</a:t>
            </a:r>
            <a:endParaRPr/>
          </a:p>
          <a:p>
            <a:pPr>
              <a:defRPr/>
            </a:pPr>
            <a:endParaRPr/>
          </a:p>
          <a:p>
            <a:pPr>
              <a:defRPr/>
            </a:pPr>
            <a:r>
              <a:rPr/>
              <a:t>"Working set should fit page cache" is an operational concern that becomes important</a:t>
            </a:r>
            <a:endParaRPr/>
          </a:p>
          <a:p>
            <a:pPr>
              <a:defRPr/>
            </a:pPr>
            <a:r>
              <a:rPr/>
              <a:t>when you deploy to production. If the hot subgraph of your application (e.g., the</a:t>
            </a:r>
            <a:endParaRPr/>
          </a:p>
          <a:p>
            <a:pPr>
              <a:defRPr/>
            </a:pPr>
            <a:r>
              <a:rPr/>
              <a:t>most-queried accounts in a fraud graph) fits in RAM, reads never touch disk.</a:t>
            </a:r>
            <a:endParaRPr/>
          </a:p>
          <a:p>
            <a:pPr>
              <a:defRPr/>
            </a:pPr>
            <a:r>
              <a:rPr/>
              <a:t>Capacity planning for graph databases is therefore about estimating hot subgraph</a:t>
            </a:r>
            <a:endParaRPr/>
          </a:p>
          <a:p>
            <a:pPr>
              <a:defRPr/>
            </a:pPr>
            <a:r>
              <a:rPr/>
              <a:t>size, not total graph size.</a:t>
            </a:r>
            <a:endParaRPr/>
          </a:p>
        </p:txBody>
      </p:sp>
      <p:sp>
        <p:nvSpPr>
          <p:cNvPr id="990381921"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2216297" name="Slide Image Placeholder 1"/>
          <p:cNvSpPr>
            <a:spLocks noChangeAspect="1" noGrp="1" noRot="1"/>
          </p:cNvSpPr>
          <p:nvPr>
            <p:ph type="sldImg"/>
          </p:nvPr>
        </p:nvSpPr>
        <p:spPr bwMode="auto"/>
      </p:sp>
      <p:sp>
        <p:nvSpPr>
          <p:cNvPr id="816324544" name="Notes Placeholder 2"/>
          <p:cNvSpPr>
            <a:spLocks noGrp="1"/>
          </p:cNvSpPr>
          <p:nvPr>
            <p:ph type="body" idx="1"/>
          </p:nvPr>
        </p:nvSpPr>
        <p:spPr bwMode="auto"/>
        <p:txBody>
          <a:bodyPr/>
          <a:lstStyle/>
          <a:p>
            <a:pPr>
              <a:defRPr/>
            </a:pPr>
            <a:r>
              <a:rPr/>
              <a:t>Welcome to Module 3 — and honestly, this is where things get exciting.</a:t>
            </a:r>
            <a:endParaRPr/>
          </a:p>
          <a:p>
            <a:pPr>
              <a:defRPr/>
            </a:pPr>
            <a:endParaRPr/>
          </a:p>
          <a:p>
            <a:pPr>
              <a:defRPr/>
            </a:pPr>
            <a:r>
              <a:rPr/>
              <a:t>Up until now, we've been talking about graphs as a concept. Now we're going to meet the actual systems you'll encounter in the real world — the tools that companies are using right now to power fraud detection, recommendation engines, and knowledge graphs.</a:t>
            </a:r>
            <a:endParaRPr/>
          </a:p>
          <a:p>
            <a:pPr>
              <a:defRPr/>
            </a:pPr>
            <a:endParaRPr/>
          </a:p>
          <a:p>
            <a:pPr>
              <a:defRPr/>
            </a:pPr>
            <a:r>
              <a:rPr/>
              <a:t>Think of this module as a "shopping guide" for graph databases. By the end, you should be able to look at a technical problem and say: "This calls for Neo4j" or "Actually, this sounds like a Memgraph job." That's a genuinely useful skill to walk out of here with.</a:t>
            </a:r>
            <a:endParaRPr/>
          </a:p>
          <a:p>
            <a:pPr>
              <a:defRPr/>
            </a:pPr>
            <a:endParaRPr/>
          </a:p>
          <a:p>
            <a:pPr>
              <a:defRPr/>
            </a:pPr>
            <a:r>
              <a:rPr/>
              <a:t>A question students often ask at this point: "Which one should I learn?" The short answer is: start with Neo4j. It's the most widely used, the best documented, and has the biggest community — so when you get stuck at 2am before a deadline, help is one Stack Overflow search away. Once you understand Neo4j and Cypher, picking up the others is much faster.</a:t>
            </a:r>
            <a:endParaRPr/>
          </a:p>
          <a:p>
            <a:pPr>
              <a:defRPr/>
            </a:pPr>
            <a:endParaRPr/>
          </a:p>
          <a:p>
            <a:pPr>
              <a:defRPr/>
            </a:pPr>
            <a:r>
              <a:rPr/>
              <a:t>None of the systems on this slide are toys. They're all running in production at companies you've heard of. Let's go meet them.</a:t>
            </a:r>
            <a:endParaRPr/>
          </a:p>
        </p:txBody>
      </p:sp>
      <p:sp>
        <p:nvSpPr>
          <p:cNvPr id="855260391"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4638278" name="Slide Image Placeholder 1"/>
          <p:cNvSpPr>
            <a:spLocks noChangeAspect="1" noGrp="1" noRot="1"/>
          </p:cNvSpPr>
          <p:nvPr>
            <p:ph type="sldImg"/>
          </p:nvPr>
        </p:nvSpPr>
        <p:spPr bwMode="auto"/>
      </p:sp>
      <p:sp>
        <p:nvSpPr>
          <p:cNvPr id="341721748" name="Notes Placeholder 2"/>
          <p:cNvSpPr>
            <a:spLocks noGrp="1"/>
          </p:cNvSpPr>
          <p:nvPr>
            <p:ph type="body" idx="1"/>
          </p:nvPr>
        </p:nvSpPr>
        <p:spPr bwMode="auto"/>
        <p:txBody>
          <a:bodyPr/>
          <a:lstStyle/>
          <a:p>
            <a:pPr>
              <a:defRPr/>
            </a:pPr>
            <a:r>
              <a:rPr/>
              <a:t>Neo4j is to graph databases what PostgreSQL is to relational databases — the name most people mean when they say the category name.</a:t>
            </a:r>
            <a:endParaRPr/>
          </a:p>
          <a:p>
            <a:pPr>
              <a:defRPr/>
            </a:pPr>
            <a:endParaRPr/>
          </a:p>
          <a:p>
            <a:pPr>
              <a:defRPr/>
            </a:pPr>
            <a:r>
              <a:rPr/>
              <a:t>A few things about Neo4j that are worth understanding beyond what's on the slide:</a:t>
            </a:r>
            <a:endParaRPr/>
          </a:p>
          <a:p>
            <a:pPr>
              <a:defRPr/>
            </a:pPr>
            <a:endParaRPr/>
          </a:p>
          <a:p>
            <a:pPr>
              <a:defRPr/>
            </a:pPr>
            <a:r>
              <a:rPr/>
              <a:t>Where it came from: Neo4j wasn't built to be a graph database from the start. It grew out of a content-management company in Sweden that needed to store complex relationships between documents. They realised their problem was really a graph problem, built a custom storage engine, and eventually spun that off as Neo4j in 2007. Because it was built from the ground up as a graph store — not adapted from a relational engine — it has true Index-Free Adjacency. That's the architectural advantage that makes it fast for deep traversals.</a:t>
            </a:r>
            <a:endParaRPr/>
          </a:p>
          <a:p>
            <a:pPr>
              <a:defRPr/>
            </a:pPr>
            <a:endParaRPr/>
          </a:p>
          <a:p>
            <a:pPr>
              <a:defRPr/>
            </a:pPr>
            <a:r>
              <a:rPr/>
              <a:t>Its sweet spot: Cypher (the query language), the GDS library (60+ graph algorithms with one CALL statement), and the ecosystem around it (Bloom for visual exploration, Aura for cloud hosting, Browser for an interactive UI) make it the most productive system for most graph use cases. If you're building a recommendation engine, a fraud detection layer, or a knowledge graph, Neo4j is almost always the right starting point.</a:t>
            </a:r>
            <a:endParaRPr/>
          </a:p>
          <a:p>
            <a:pPr>
              <a:defRPr/>
            </a:pPr>
            <a:endParaRPr/>
          </a:p>
          <a:p>
            <a:pPr>
              <a:defRPr/>
            </a:pPr>
            <a:r>
              <a:rPr/>
              <a:t>One important caveat: the free Community Edition has limits. It runs on a single machine — no clustering, no online backup. For a production deployment at scale, you need Neo4j Enterprise (commercial) or Neo4j Aura (cloud). For this course, and for your assignment, Aura Free gives you a persistent cloud instance for free — highly recommended.</a:t>
            </a:r>
            <a:endParaRPr/>
          </a:p>
          <a:p>
            <a:pPr>
              <a:defRPr/>
            </a:pPr>
            <a:endParaRPr/>
          </a:p>
          <a:p>
            <a:pPr>
              <a:defRPr/>
            </a:pPr>
            <a:r>
              <a:rPr/>
              <a:t>Real-world context: when NASA needed a system to link together lessons learned across missions — connecting failure modes, components, corrective actions, and missions into a navigable network — they chose Neo4j. The Panama Papers (the biggest investigative journalism project in history) ran on Neo4j. eBay uses it for product recommendations. These aren't boutique use cases.</a:t>
            </a:r>
            <a:endParaRPr/>
          </a:p>
        </p:txBody>
      </p:sp>
      <p:sp>
        <p:nvSpPr>
          <p:cNvPr id="1327285203"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2760530" name="Slide Image Placeholder 1"/>
          <p:cNvSpPr>
            <a:spLocks noChangeAspect="1" noGrp="1" noRot="1"/>
          </p:cNvSpPr>
          <p:nvPr>
            <p:ph type="sldImg"/>
          </p:nvPr>
        </p:nvSpPr>
        <p:spPr bwMode="auto"/>
      </p:sp>
      <p:sp>
        <p:nvSpPr>
          <p:cNvPr id="1862115701" name="Notes Placeholder 2"/>
          <p:cNvSpPr>
            <a:spLocks noGrp="1"/>
          </p:cNvSpPr>
          <p:nvPr>
            <p:ph type="body" idx="1"/>
          </p:nvPr>
        </p:nvSpPr>
        <p:spPr bwMode="auto"/>
        <p:txBody>
          <a:bodyPr/>
          <a:lstStyle/>
          <a:p>
            <a:pPr>
              <a:defRPr/>
            </a:pPr>
            <a:r>
              <a:rPr/>
              <a:t>This slide connects directly to Week 1. Remember Raft consensus? Here it is in production.</a:t>
            </a:r>
            <a:endParaRPr/>
          </a:p>
          <a:p>
            <a:pPr>
              <a:defRPr/>
            </a:pPr>
            <a:endParaRPr/>
          </a:p>
          <a:p>
            <a:pPr>
              <a:defRPr/>
            </a:pPr>
            <a:r>
              <a:rPr/>
              <a:t>Neo4j's Causal Cluster is its answer to the question: "How do we keep a graph database available and consistent across multiple machines?" Let's read the diagram carefully, because this architecture comes up in interviews.</a:t>
            </a:r>
            <a:endParaRPr/>
          </a:p>
          <a:p>
            <a:pPr>
              <a:defRPr/>
            </a:pPr>
            <a:endParaRPr/>
          </a:p>
          <a:p>
            <a:pPr>
              <a:defRPr/>
            </a:pPr>
            <a:r>
              <a:rPr/>
              <a:t>The LEADER is the single node that accepts all write transactions. Every INSERT, UPDATE, and DELETE goes through the leader. There can only be one leader at a time — that's what Raft guarantees.</a:t>
            </a:r>
            <a:r>
              <a:rPr/>
              <a:t> </a:t>
            </a:r>
            <a:r>
              <a:rPr lang="en-US" sz="1200" b="0" i="0" u="none" strike="noStrike" cap="none" spc="0">
                <a:solidFill>
                  <a:schemeClr val="tx1"/>
                </a:solidFill>
                <a:latin typeface="Calibri"/>
                <a:ea typeface="Calibri"/>
                <a:cs typeface="Calibri"/>
              </a:rPr>
              <a:t>Raft is a distributed consensus algorithm. In simple terms, it is a set of rules that helps a cluster of database servers communicate and agree on data changes, even if some servers crash or experience network issues</a:t>
            </a:r>
            <a:endParaRPr/>
          </a:p>
          <a:p>
            <a:pPr>
              <a:defRPr/>
            </a:pPr>
            <a:endParaRPr/>
          </a:p>
          <a:p>
            <a:pPr>
              <a:defRPr/>
            </a:pPr>
            <a:r>
              <a:rPr/>
              <a:t>FOLLOWERS receive every write from the leader via Raft replication. Before a write is committed, a quorum of followers must acknowledge it. If the leader goes down, the followers hold an election and promote one of themselves. This is automatic — no human intervention needed.</a:t>
            </a:r>
            <a:endParaRPr/>
          </a:p>
          <a:p>
            <a:pPr>
              <a:defRPr/>
            </a:pPr>
            <a:endParaRPr/>
          </a:p>
          <a:p>
            <a:pPr>
              <a:defRPr/>
            </a:pPr>
            <a:r>
              <a:rPr/>
              <a:t>READ REPLICAS are different from followers. They receive the write log asynchronously and serve read-only queries. They don't participate in Raft elections. Think of them as "extra capacity for reads" — you can add as many as you need without affecting write performance.</a:t>
            </a:r>
            <a:endParaRPr/>
          </a:p>
          <a:p>
            <a:pPr>
              <a:defRPr/>
            </a:pPr>
            <a:endParaRPr/>
          </a:p>
          <a:p>
            <a:pPr>
              <a:defRPr/>
            </a:pPr>
            <a:r>
              <a:rPr/>
              <a:t>Now, the clever part — BOOKMARKS: when your application writes a transaction, Neo4j hands it a "bookmark" — essentially a log position stamp. When the same application then issues a read, it passes the bookmark back to Neo4j, which routes the query to a replica that has caught up to at least that point. This gives you "read-your-own-writes" consistency even when reads go to replicas. Your write is visible to you immediately after committing — even in a distributed cluster. </a:t>
            </a:r>
            <a:endParaRPr/>
          </a:p>
          <a:p>
            <a:pPr>
              <a:defRPr/>
            </a:pPr>
            <a:endParaRPr/>
          </a:p>
          <a:p>
            <a:pPr>
              <a:defRPr/>
            </a:pPr>
            <a:r>
              <a:rPr/>
              <a:t>CAP theorem position: Neo4j is a CP system. During a network partition, the side without a quorum of followers stops accepting writes rather than risk inconsistency. For fraud detection or access control, this is exactly what you want — the cost of accepting a stale read is higher than the cost of a brief write outage.</a:t>
            </a:r>
            <a:endParaRPr/>
          </a:p>
        </p:txBody>
      </p:sp>
      <p:sp>
        <p:nvSpPr>
          <p:cNvPr id="1116616712"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4A233B-A7D9-53B8-EBCE-1DF47A71F506}"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1707178" name="Slide Image Placeholder 1"/>
          <p:cNvSpPr>
            <a:spLocks noChangeAspect="1" noGrp="1" noRot="1"/>
          </p:cNvSpPr>
          <p:nvPr>
            <p:ph type="sldImg"/>
          </p:nvPr>
        </p:nvSpPr>
        <p:spPr bwMode="auto"/>
      </p:sp>
      <p:sp>
        <p:nvSpPr>
          <p:cNvPr id="169263175" name="Notes Placeholder 2"/>
          <p:cNvSpPr>
            <a:spLocks noGrp="1"/>
          </p:cNvSpPr>
          <p:nvPr>
            <p:ph type="body" idx="1"/>
          </p:nvPr>
        </p:nvSpPr>
        <p:spPr bwMode="auto"/>
        <p:txBody>
          <a:bodyPr/>
          <a:lstStyle/>
          <a:p>
            <a:pPr>
              <a:defRPr/>
            </a:pPr>
            <a:r>
              <a:rPr/>
              <a:t>Amazon Neptune is what you reach for when your company is already living in AWS and doesn't want to operate database infrastructure itself.</a:t>
            </a:r>
            <a:endParaRPr/>
          </a:p>
          <a:p>
            <a:pPr>
              <a:defRPr/>
            </a:pPr>
            <a:endParaRPr/>
          </a:p>
          <a:p>
            <a:pPr>
              <a:defRPr/>
            </a:pPr>
            <a:r>
              <a:rPr/>
              <a:t>The most unusual thing about Neptune — and it's genuinely unusual — is that it supports three completely different query languages on the same underlying data store: openCypher (for LPG queries), Gremlin (the Apache TinkerPop standard), and SPARQL (for RDF). This is like a relational database that speaks both SQL and some other query language on the same tables. It gives you flexibility: your application developers can use Cypher, your data scientists can use SPARQL for linked-data work, and your legacy Gremlin code keeps running.</a:t>
            </a:r>
            <a:endParaRPr/>
          </a:p>
          <a:p>
            <a:pPr>
              <a:defRPr/>
            </a:pPr>
            <a:endParaRPr/>
          </a:p>
          <a:p>
            <a:pPr>
              <a:defRPr/>
            </a:pPr>
            <a:r>
              <a:rPr/>
              <a:t>The storage architecture is worth understanding: Neptune separates storage from compute. The storage layer automatically keeps 6 copies of your data across 3 AWS Availability Zones — so even if an entire data centre goes down, your data is safe. Compute (the query engine) scales separately. You can add up to 15 read replicas without moving any data — they simply connect to the same underlying storage. This is similar to how Amazon Aurora works, and it's a genuinely elegant design.</a:t>
            </a:r>
            <a:endParaRPr/>
          </a:p>
          <a:p>
            <a:pPr>
              <a:defRPr/>
            </a:pPr>
            <a:endParaRPr/>
          </a:p>
          <a:p>
            <a:pPr>
              <a:defRPr/>
            </a:pPr>
            <a:r>
              <a:rPr/>
              <a:t>Three newer features are worth knowing:</a:t>
            </a:r>
            <a:endParaRPr/>
          </a:p>
          <a:p>
            <a:pPr>
              <a:defRPr/>
            </a:pPr>
            <a:r>
              <a:rPr/>
              <a:t>- Neptune Analytics (2023): a separate in-memory engine for running graph algorithms (think GDS, but AWS-managed) on large datasets in seconds.</a:t>
            </a:r>
            <a:endParaRPr/>
          </a:p>
          <a:p>
            <a:pPr>
              <a:defRPr/>
            </a:pPr>
            <a:r>
              <a:rPr/>
              <a:t>- Neptune Serverless: scales capacity automatically including down to zero. Perfect for dev environments that don't need to run 24/7.</a:t>
            </a:r>
            <a:endParaRPr/>
          </a:p>
          <a:p>
            <a:pPr>
              <a:defRPr/>
            </a:pPr>
            <a:r>
              <a:rPr/>
              <a:t>- Vector similarity search (2024): this is new and significant. You can now run hybrid queries that combine graph traversal with semantic similarity — "find accounts graph-connected to this flagged account AND semantically similar to this risk profile." This is the GraphRAG pattern, and it's how the next generation of AI applications will be built.</a:t>
            </a:r>
            <a:endParaRPr/>
          </a:p>
          <a:p>
            <a:pPr>
              <a:defRPr/>
            </a:pPr>
            <a:endParaRPr/>
          </a:p>
          <a:p>
            <a:pPr>
              <a:defRPr/>
            </a:pPr>
            <a:r>
              <a:rPr/>
              <a:t>When does Neptune make less sense? When you need the richest algorithm library (Neo4j GDS), the most mature Cypher tooling, or when you're not committed to the AWS ecosystem.</a:t>
            </a:r>
            <a:endParaRPr/>
          </a:p>
        </p:txBody>
      </p:sp>
      <p:sp>
        <p:nvSpPr>
          <p:cNvPr id="251675533"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F82C7E-E9BD-C0FD-F39A-5B3262FC837B}"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4228740" name="Slide Image Placeholder 1"/>
          <p:cNvSpPr>
            <a:spLocks noChangeAspect="1" noGrp="1" noRot="1"/>
          </p:cNvSpPr>
          <p:nvPr>
            <p:ph type="sldImg"/>
          </p:nvPr>
        </p:nvSpPr>
        <p:spPr bwMode="auto"/>
      </p:sp>
      <p:sp>
        <p:nvSpPr>
          <p:cNvPr id="298524510" name="Notes Placeholder 2"/>
          <p:cNvSpPr>
            <a:spLocks noGrp="1"/>
          </p:cNvSpPr>
          <p:nvPr>
            <p:ph type="body" idx="1"/>
          </p:nvPr>
        </p:nvSpPr>
        <p:spPr bwMode="auto"/>
        <p:txBody>
          <a:bodyPr/>
          <a:lstStyle/>
          <a:p>
            <a:pPr>
              <a:defRPr/>
            </a:pPr>
            <a:r>
              <a:rPr/>
              <a:t>Two more engines that solve specific problems better than Neo4j — worth knowing even if you won't use them on day one.</a:t>
            </a:r>
            <a:endParaRPr/>
          </a:p>
          <a:p>
            <a:pPr>
              <a:defRPr/>
            </a:pPr>
            <a:endParaRPr/>
          </a:p>
          <a:p>
            <a:pPr>
              <a:defRPr/>
            </a:pPr>
            <a:r>
              <a:rPr/>
              <a:t>TIGERGRAPH: imagine you're building a real-time fraud detection system. Every time a transaction comes in, you need to know within 50 milliseconds whether this account is connected to any known fraud ring within 6 hops. The graph has 500 million nodes. Neo4j can do this, but TigerGraph was specifically engineered for it.</a:t>
            </a:r>
            <a:endParaRPr/>
          </a:p>
          <a:p>
            <a:pPr>
              <a:defRPr/>
            </a:pPr>
            <a:endParaRPr/>
          </a:p>
          <a:p>
            <a:pPr>
              <a:defRPr/>
            </a:pPr>
            <a:r>
              <a:rPr/>
              <a:t>Its secret weapon is GSQL — a query language that's Turing-complete. Unlike Cypher, which is declarative (you describe what you want), GSQL lets you write algorithms directly in the query language: loops, accumulators, conditionals, multi-step computations. A GSQL query can say "for every account, sum up the transaction volume from all accounts within 3 hops, flag anything over threshold, and return only flagged accounts" — all in one query pass. This would require multiple round-trips with Cypher.</a:t>
            </a:r>
            <a:endParaRPr/>
          </a:p>
          <a:p>
            <a:pPr>
              <a:defRPr/>
            </a:pPr>
            <a:endParaRPr/>
          </a:p>
          <a:p>
            <a:pPr>
              <a:defRPr/>
            </a:pPr>
            <a:r>
              <a:rPr/>
              <a:t>TigerGraph also uses MPP (massively parallel processing) — the graph is partitioned across many servers and queries run in parallel across all of them simultaneously. For deep analytics on enormous graphs, this architecture is very hard to beat.</a:t>
            </a:r>
            <a:endParaRPr/>
          </a:p>
          <a:p>
            <a:pPr>
              <a:defRPr/>
            </a:pPr>
            <a:endParaRPr/>
          </a:p>
          <a:p>
            <a:pPr>
              <a:defRPr/>
            </a:pPr>
            <a:r>
              <a:rPr/>
              <a:t>ARANGODB: a completely different philosophy — multi-model by design. One ArangoDB cluster handles key-value lookups, document queries, AND graph traversals with a single query language (AQL). If your application needs "some graph, some documents, some key-value" without wanting to run three separate database systems, ArangoDB is compelling.</a:t>
            </a:r>
            <a:endParaRPr/>
          </a:p>
          <a:p>
            <a:pPr>
              <a:defRPr/>
            </a:pPr>
            <a:endParaRPr/>
          </a:p>
          <a:p>
            <a:pPr>
              <a:defRPr/>
            </a:pPr>
            <a:r>
              <a:rPr/>
              <a:t>Trade-off: ArangoDB is solid at everything but exceptional at nothing. For pure graph workloads, Neo4j's native engine is faster. For pure documents, MongoDB is more mature. ArangoDB's value is the integration: one system, one operations team, one query language.</a:t>
            </a:r>
            <a:endParaRPr/>
          </a:p>
          <a:p>
            <a:pPr>
              <a:defRPr/>
            </a:pPr>
            <a:endParaRPr/>
          </a:p>
          <a:p>
            <a:pPr>
              <a:defRPr/>
            </a:pPr>
            <a:r>
              <a:rPr/>
              <a:t>The SmartGraphs feature is clever: it co-locates a vertex and all its edges on the same shard. This dramatically reduces expensive cross-shard network calls during traversals. It's ArangoDB's architectural answer to the graph partitioning problem.</a:t>
            </a:r>
            <a:endParaRPr/>
          </a:p>
        </p:txBody>
      </p:sp>
      <p:sp>
        <p:nvSpPr>
          <p:cNvPr id="1462791456"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1861199" name="Slide Image Placeholder 1"/>
          <p:cNvSpPr>
            <a:spLocks noChangeAspect="1" noGrp="1" noRot="1"/>
          </p:cNvSpPr>
          <p:nvPr>
            <p:ph type="sldImg"/>
          </p:nvPr>
        </p:nvSpPr>
        <p:spPr bwMode="auto"/>
      </p:sp>
      <p:sp>
        <p:nvSpPr>
          <p:cNvPr id="598347040" name="Notes Placeholder 2"/>
          <p:cNvSpPr>
            <a:spLocks noGrp="1"/>
          </p:cNvSpPr>
          <p:nvPr>
            <p:ph type="body" idx="1"/>
          </p:nvPr>
        </p:nvSpPr>
        <p:spPr bwMode="auto"/>
        <p:txBody>
          <a:bodyPr/>
          <a:lstStyle/>
          <a:p>
            <a:pPr>
              <a:defRPr/>
            </a:pPr>
            <a:r>
              <a:rPr/>
              <a:t>Two more engines with particular relevance if you end up doing systems engineering or data streaming work.</a:t>
            </a:r>
            <a:endParaRPr/>
          </a:p>
          <a:p>
            <a:pPr>
              <a:defRPr/>
            </a:pPr>
            <a:endParaRPr/>
          </a:p>
          <a:p>
            <a:pPr>
              <a:defRPr/>
            </a:pPr>
            <a:r>
              <a:rPr/>
              <a:t>MEMGRAPH: think of it as Neo4j reimagined for the streaming era. The core design decision is radical: store the entire graph in RAM. Not as a cache on top of disk — the primary data store is in memory. A write-ahead log provides durability (if the machine crashes, you can replay the WAL to reconstruct the graph), but the live query path never touches disk. This gives Memgraph sub-millisecond query latency even for complex traversals.</a:t>
            </a:r>
            <a:endParaRPr/>
          </a:p>
          <a:p>
            <a:pPr>
              <a:defRPr/>
            </a:pPr>
            <a:endParaRPr/>
          </a:p>
          <a:p>
            <a:pPr>
              <a:defRPr/>
            </a:pPr>
            <a:r>
              <a:rPr/>
              <a:t>The feature that makes ECE engineers perk up: native Kafka integration. You can wire a Kafka topic directly into Memgraph, and for every new message (event), Memgraph automatically updates the graph and can trigger a Cypher query. Real-time stream processing ON a graph — think sensor networks, live network telemetry, or a live social graph that updates as events stream in.</a:t>
            </a:r>
            <a:endParaRPr/>
          </a:p>
          <a:p>
            <a:pPr>
              <a:defRPr/>
            </a:pPr>
            <a:endParaRPr/>
          </a:p>
          <a:p>
            <a:pPr>
              <a:defRPr/>
            </a:pPr>
            <a:r>
              <a:rPr/>
              <a:t>Its query language is openCypher — fully compatible with Neo4j. Your Cypher skills transfer directly.</a:t>
            </a:r>
            <a:endParaRPr/>
          </a:p>
          <a:p>
            <a:pPr>
              <a:defRPr/>
            </a:pPr>
            <a:endParaRPr/>
          </a:p>
          <a:p>
            <a:pPr>
              <a:defRPr/>
            </a:pPr>
            <a:r>
              <a:rPr/>
              <a:t>JANUSGRAPH: a very different animal. JanusGraph is not really a graph database in the traditional sense — it's a graph query engine that delegates storage entirely to another system. Cassandra backend? Your graph benefits from Cassandra's horizontal scalability. HBase? Plug it in. This is the "bring your own storage" model.</a:t>
            </a:r>
            <a:endParaRPr/>
          </a:p>
          <a:p>
            <a:pPr>
              <a:defRPr/>
            </a:pPr>
            <a:endParaRPr/>
          </a:p>
          <a:p>
            <a:pPr>
              <a:defRPr/>
            </a:pPr>
            <a:r>
              <a:rPr/>
              <a:t>This makes JanusGraph the right choice when you already have a massive Cassandra or HBase infrastructure and need to add graph querying on top of it without migrating data. Uber used it for their logistics graph because they already had enormous Cassandra clusters.</a:t>
            </a:r>
            <a:endParaRPr/>
          </a:p>
          <a:p>
            <a:pPr>
              <a:defRPr/>
            </a:pPr>
            <a:endParaRPr/>
          </a:p>
          <a:p>
            <a:pPr>
              <a:defRPr/>
            </a:pPr>
            <a:r>
              <a:rPr/>
              <a:t>Important caveat: JanusGraph does NOT have Index-Free Adjacency. Every edge traversal involves a key lookup in the underlying store. For deep traversals, this is significantly slower than a native graph engine like Neo4j or Memgraph. For broad, shallow queries on massive data with existing Cassandra infrastructure, it can make sense.</a:t>
            </a:r>
            <a:endParaRPr/>
          </a:p>
        </p:txBody>
      </p:sp>
      <p:sp>
        <p:nvSpPr>
          <p:cNvPr id="1578059161"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5021826" name="Slide Image Placeholder 1"/>
          <p:cNvSpPr>
            <a:spLocks noChangeAspect="1" noGrp="1" noRot="1"/>
          </p:cNvSpPr>
          <p:nvPr>
            <p:ph type="sldImg"/>
          </p:nvPr>
        </p:nvSpPr>
        <p:spPr bwMode="auto"/>
      </p:sp>
      <p:sp>
        <p:nvSpPr>
          <p:cNvPr id="387911717" name="Notes Placeholder 2"/>
          <p:cNvSpPr>
            <a:spLocks noGrp="1"/>
          </p:cNvSpPr>
          <p:nvPr>
            <p:ph type="body" idx="1"/>
          </p:nvPr>
        </p:nvSpPr>
        <p:spPr bwMode="auto"/>
        <p:txBody>
          <a:bodyPr/>
          <a:lstStyle/>
          <a:p>
            <a:pPr>
              <a:defRPr/>
            </a:pPr>
            <a:r>
              <a:rPr/>
              <a:t>The slide title says "Cloud-Native Graph Services," but the more useful framing is: this is how most companies will actually use graph databases going forward.</a:t>
            </a:r>
            <a:endParaRPr/>
          </a:p>
          <a:p>
            <a:pPr>
              <a:defRPr/>
            </a:pPr>
            <a:endParaRPr/>
          </a:p>
          <a:p>
            <a:pPr>
              <a:defRPr/>
            </a:pPr>
            <a:r>
              <a:rPr/>
              <a:t>Very few organisations in 2025 want to run their own database clusters. They want the functionality, not the operational burden. Managed services handle patching, backups, scaling, high availability — so engineering teams can focus on applications instead of infrastructure. The cloud providers all noticed graph databases growing in adoption and moved quickly to offer managed options.</a:t>
            </a:r>
            <a:endParaRPr/>
          </a:p>
          <a:p>
            <a:pPr>
              <a:defRPr/>
            </a:pPr>
            <a:endParaRPr/>
          </a:p>
          <a:p>
            <a:pPr>
              <a:defRPr/>
            </a:pPr>
            <a:r>
              <a:rPr/>
              <a:t>The big story here is convergence: all of these services are moving toward openCypher or GQL as their query interface. When a standard emerges — just like SQL for relational databases — it creates a bigger skills market and a more portable ecosystem. Your Cypher knowledge becomes increasingly valuable as more systems adopt it.</a:t>
            </a:r>
            <a:endParaRPr/>
          </a:p>
          <a:p>
            <a:pPr>
              <a:defRPr/>
            </a:pPr>
            <a:endParaRPr/>
          </a:p>
          <a:p>
            <a:pPr>
              <a:defRPr/>
            </a:pPr>
            <a:r>
              <a:rPr/>
              <a:t>Google Spanner Graph (2024) is the most technically interesting new entrant. Spanner is already a globally-consistent, horizontally-scalable relational database — arguably the most sophisticated database system in production anywhere. Adding a graph query layer on top means you get OLTP relational operations AND graph traversals in the same globally-consistent, multi-region system. For organisations that need both and need them to be consistent with each other, this is genuinely novel.</a:t>
            </a:r>
            <a:endParaRPr/>
          </a:p>
          <a:p>
            <a:pPr>
              <a:defRPr/>
            </a:pPr>
            <a:endParaRPr/>
          </a:p>
          <a:p>
            <a:pPr>
              <a:defRPr/>
            </a:pPr>
            <a:r>
              <a:rPr/>
              <a:t>Career note: most graph database work you'll do in your first five years of industry will go through one of these managed services. Understanding the cloud offerings — pricing models, scaling behaviour, integration patterns — is arguably as important as understanding the underlying graph theory.</a:t>
            </a:r>
            <a:endParaRPr/>
          </a:p>
          <a:p>
            <a:pPr>
              <a:defRPr/>
            </a:pPr>
            <a:endParaRPr/>
          </a:p>
          <a:p>
            <a:pPr>
              <a:defRPr/>
            </a:pPr>
            <a:r>
              <a:rPr/>
              <a:t>Neo4j Aura Free is the easiest way to get started right now. It gives you a persistent cloud Neo4j instance with 50,000 nodes and 175,000 relationships, for free, forever. I'd encourage everyone to create an account today.</a:t>
            </a:r>
            <a:endParaRPr/>
          </a:p>
        </p:txBody>
      </p:sp>
      <p:sp>
        <p:nvSpPr>
          <p:cNvPr id="118404235"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7620756" name="Slide Image Placeholder 1"/>
          <p:cNvSpPr>
            <a:spLocks noChangeAspect="1" noGrp="1" noRot="1"/>
          </p:cNvSpPr>
          <p:nvPr>
            <p:ph type="sldImg"/>
          </p:nvPr>
        </p:nvSpPr>
        <p:spPr bwMode="auto"/>
      </p:sp>
      <p:sp>
        <p:nvSpPr>
          <p:cNvPr id="1791950488" name="Notes Placeholder 2"/>
          <p:cNvSpPr>
            <a:spLocks noGrp="1"/>
          </p:cNvSpPr>
          <p:nvPr>
            <p:ph type="body" idx="1"/>
          </p:nvPr>
        </p:nvSpPr>
        <p:spPr bwMode="auto"/>
        <p:txBody>
          <a:bodyPr/>
          <a:lstStyle/>
          <a:p>
            <a:pPr>
              <a:defRPr/>
            </a:pPr>
            <a:r>
              <a:rPr/>
              <a:t>Before we move to query languages, let's lock in the comparison — because this table is what the exam will test.</a:t>
            </a:r>
            <a:endParaRPr/>
          </a:p>
          <a:p>
            <a:pPr>
              <a:defRPr/>
            </a:pPr>
            <a:endParaRPr/>
          </a:p>
          <a:p>
            <a:pPr>
              <a:defRPr/>
            </a:pPr>
            <a:r>
              <a:rPr/>
              <a:t>Reading the columns:</a:t>
            </a:r>
            <a:endParaRPr/>
          </a:p>
          <a:p>
            <a:pPr>
              <a:defRPr/>
            </a:pPr>
            <a:endParaRPr/>
          </a:p>
          <a:p>
            <a:pPr>
              <a:defRPr/>
            </a:pPr>
            <a:r>
              <a:rPr/>
              <a:t>MODEL: LPG (Labelled Property Graph) is dominant. If someone says "graph database" without qualification, they almost certainly mean LPG. RDF is the standards-heavy alternative, mostly seen in academic and semantic web contexts.</a:t>
            </a:r>
            <a:endParaRPr/>
          </a:p>
          <a:p>
            <a:pPr>
              <a:defRPr/>
            </a:pPr>
            <a:endParaRPr/>
          </a:p>
          <a:p>
            <a:pPr>
              <a:defRPr/>
            </a:pPr>
            <a:r>
              <a:rPr/>
              <a:t>QUERY LANGUAGE: openCypher/GQL is where the industry is converging. Gremlin is the Apache standard used by JanusGraph and Neptune. GSQL and AQL are powerful but proprietary — useful to know they exist, but Cypher is the transferable skill.</a:t>
            </a:r>
            <a:endParaRPr/>
          </a:p>
          <a:p>
            <a:pPr>
              <a:defRPr/>
            </a:pPr>
            <a:endParaRPr/>
          </a:p>
          <a:p>
            <a:pPr>
              <a:defRPr/>
            </a:pPr>
            <a:r>
              <a:rPr/>
              <a:t>ARCHITECTURE: this column maps back to Week 1. Single-leader (Neo4j, Memgraph) means CP. MPP (TigerGraph) means designed for parallel analytics. "Pluggable backend" (JanusGraph) means you inherit whatever consistency model your backend provides.</a:t>
            </a:r>
            <a:endParaRPr/>
          </a:p>
          <a:p>
            <a:pPr>
              <a:defRPr/>
            </a:pPr>
            <a:endParaRPr/>
          </a:p>
          <a:p>
            <a:pPr>
              <a:defRPr/>
            </a:pPr>
            <a:r>
              <a:rPr/>
              <a:t>BEST FOR: this is your cheat sheet. Commit this column to memory. Fraud detection and recommendations → Neo4j or TigerGraph. Streaming and IoT → Memgraph. Multi-model applications → ArangoDB. AWS infrastructure → Neptune. Very large graphs on existing Cassandra → JanusGraph.</a:t>
            </a:r>
            <a:endParaRPr/>
          </a:p>
          <a:p>
            <a:pPr>
              <a:defRPr/>
            </a:pPr>
            <a:endParaRPr/>
          </a:p>
          <a:p>
            <a:pPr>
              <a:defRPr/>
            </a:pPr>
            <a:r>
              <a:rPr/>
              <a:t>One thing this table doesn't show: community size. Neo4j has by far the largest community — the most Stack Overflow answers, the most tutorials, the most drivers (Python, Java, JavaScript, Go, .NET). When you're debugging a production issue at midnight, a large community is priceless.</a:t>
            </a:r>
            <a:endParaRPr/>
          </a:p>
          <a:p>
            <a:pPr>
              <a:defRPr/>
            </a:pPr>
            <a:endParaRPr/>
          </a:p>
          <a:p>
            <a:pPr>
              <a:defRPr/>
            </a:pPr>
            <a:r>
              <a:rPr/>
              <a:t>For the exam, you don't need to memorise every cell. You need to be able to justify a choice given a scenario. Something like: "Recommend a graph database for a real-time fraud system processing 50,000 transactions per second with a 50ms SLA" → TigerGraph or Memgraph, because MPP/in-memory architecture and low-latency requirements. That's the level of reasoning we're looking for.</a:t>
            </a:r>
            <a:endParaRPr/>
          </a:p>
        </p:txBody>
      </p:sp>
      <p:sp>
        <p:nvSpPr>
          <p:cNvPr id="2088660659"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4147011" name="Slide Image Placeholder 1"/>
          <p:cNvSpPr>
            <a:spLocks noChangeAspect="1" noGrp="1" noRot="1"/>
          </p:cNvSpPr>
          <p:nvPr>
            <p:ph type="sldImg"/>
          </p:nvPr>
        </p:nvSpPr>
        <p:spPr bwMode="auto"/>
      </p:sp>
      <p:sp>
        <p:nvSpPr>
          <p:cNvPr id="521909804" name="Notes Placeholder 2"/>
          <p:cNvSpPr>
            <a:spLocks noGrp="1"/>
          </p:cNvSpPr>
          <p:nvPr>
            <p:ph type="body" idx="1"/>
          </p:nvPr>
        </p:nvSpPr>
        <p:spPr bwMode="auto"/>
        <p:txBody>
          <a:bodyPr/>
          <a:lstStyle/>
          <a:p>
            <a:pPr>
              <a:defRPr/>
            </a:pPr>
            <a:r>
              <a:rPr/>
              <a:t>Module 4 is where we stop admiring graph databases from the outside and actually start talking to them.</a:t>
            </a:r>
            <a:endParaRPr/>
          </a:p>
          <a:p>
            <a:pPr>
              <a:defRPr/>
            </a:pPr>
            <a:endParaRPr/>
          </a:p>
          <a:p>
            <a:pPr>
              <a:defRPr/>
            </a:pPr>
            <a:r>
              <a:rPr/>
              <a:t>Cypher is to graph databases what SQL is to relational databases. It's the standard interface, and learning it is one of the most immediately practical skills you're going to pick up this semester.</a:t>
            </a:r>
            <a:endParaRPr/>
          </a:p>
          <a:p>
            <a:pPr>
              <a:defRPr/>
            </a:pPr>
            <a:endParaRPr/>
          </a:p>
          <a:p>
            <a:pPr>
              <a:defRPr/>
            </a:pPr>
            <a:r>
              <a:rPr/>
              <a:t>Here's the good news: if you already know SQL, you're about 70% of the way there. RETURN is your SELECT. WHERE works the same. ORDER BY, LIMIT, count(), and aggregate functions all carry over. Even the concept of filtering rows and projecting columns translates. The genuinely new thing is the pattern-matching syntax — the visual ASCII-art way of expressing graph shapes. That's what replaces JOIN.</a:t>
            </a:r>
            <a:endParaRPr/>
          </a:p>
          <a:p>
            <a:pPr>
              <a:defRPr/>
            </a:pPr>
            <a:endParaRPr/>
          </a:p>
          <a:p>
            <a:pPr>
              <a:defRPr/>
            </a:pPr>
            <a:r>
              <a:rPr/>
              <a:t>By the end of this module, you should be able to:</a:t>
            </a:r>
            <a:endParaRPr/>
          </a:p>
          <a:p>
            <a:pPr>
              <a:defRPr/>
            </a:pPr>
            <a:r>
              <a:rPr/>
              <a:t>- Read any Cypher query and understand what it does, without running it.</a:t>
            </a:r>
            <a:endParaRPr/>
          </a:p>
          <a:p>
            <a:pPr>
              <a:defRPr/>
            </a:pPr>
            <a:r>
              <a:rPr/>
              <a:t>- Write CREATE, MATCH, WHERE, RETURN, WITH, MERGE, and UNWIND queries from scratch.</a:t>
            </a:r>
            <a:endParaRPr/>
          </a:p>
          <a:p>
            <a:pPr>
              <a:defRPr/>
            </a:pPr>
            <a:r>
              <a:rPr/>
              <a:t>- Write variable-length path queries — the thing that makes graph databases feel like magic.</a:t>
            </a:r>
            <a:endParaRPr/>
          </a:p>
          <a:p>
            <a:pPr>
              <a:defRPr/>
            </a:pPr>
            <a:r>
              <a:rPr/>
              <a:t>- Know when to use indexes and constraints, and how to check whether your queries are actually using them.</a:t>
            </a:r>
            <a:endParaRPr/>
          </a:p>
          <a:p>
            <a:pPr>
              <a:defRPr/>
            </a:pPr>
            <a:endParaRPr/>
          </a:p>
          <a:p>
            <a:pPr>
              <a:defRPr/>
            </a:pPr>
            <a:r>
              <a:rPr/>
              <a:t>These are skills that will show up in technical interviews, in assignments, and in your first graph database project at work. Let's dig in.</a:t>
            </a:r>
            <a:endParaRPr/>
          </a:p>
        </p:txBody>
      </p:sp>
      <p:sp>
        <p:nvSpPr>
          <p:cNvPr id="1907549141"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6822432" name="Slide Image Placeholder 1"/>
          <p:cNvSpPr>
            <a:spLocks noChangeAspect="1" noGrp="1" noRot="1"/>
          </p:cNvSpPr>
          <p:nvPr>
            <p:ph type="sldImg"/>
          </p:nvPr>
        </p:nvSpPr>
        <p:spPr bwMode="auto"/>
      </p:sp>
      <p:sp>
        <p:nvSpPr>
          <p:cNvPr id="90430951" name="Notes Placeholder 2"/>
          <p:cNvSpPr>
            <a:spLocks noGrp="1"/>
          </p:cNvSpPr>
          <p:nvPr>
            <p:ph type="body" idx="1"/>
          </p:nvPr>
        </p:nvSpPr>
        <p:spPr bwMode="auto"/>
        <p:txBody>
          <a:bodyPr/>
          <a:lstStyle/>
          <a:p>
            <a:pPr>
              <a:defRPr/>
            </a:pPr>
            <a:r>
              <a:rPr/>
              <a:t>Before we look at Cypher syntax, let's understand the design philosophy behind it — because once you get it, the syntax becomes obvious rather than arbitrary.</a:t>
            </a:r>
            <a:endParaRPr/>
          </a:p>
          <a:p>
            <a:pPr>
              <a:defRPr/>
            </a:pPr>
            <a:endParaRPr/>
          </a:p>
          <a:p>
            <a:pPr>
              <a:defRPr/>
            </a:pPr>
            <a:r>
              <a:rPr/>
              <a:t>The designers of Cypher wanted a query language that felt like you were drawing on a whiteboard. Nodes are written in (parentheses) because parentheses look like circles. Relationships are written as -[brackets]-&gt; because that looks like a labelled arrow. So a pattern like (a:Author)-[:WROTE]-&gt;(p:Paper) can be read aloud: "an Author connected by a WROTE edge to a Paper." It's almost diagrammatic.</a:t>
            </a:r>
            <a:endParaRPr/>
          </a:p>
          <a:p>
            <a:pPr>
              <a:defRPr/>
            </a:pPr>
            <a:endParaRPr/>
          </a:p>
          <a:p>
            <a:pPr>
              <a:defRPr/>
            </a:pPr>
            <a:r>
              <a:rPr/>
              <a:t>This declarative nature is powerful. You're describing WHAT you want — the shape of the data — not HOW to find it. The query planner decides the optimal traversal strategy: do we start from Author nodes, Paper nodes, or the edge store? Which index do we use? You don't need to specify. This is the same philosophy as SQL — you describe the result, the engine figures out the plan.</a:t>
            </a:r>
            <a:endParaRPr/>
          </a:p>
          <a:p>
            <a:pPr>
              <a:defRPr/>
            </a:pPr>
            <a:endParaRPr/>
          </a:p>
          <a:p>
            <a:pPr>
              <a:defRPr/>
            </a:pPr>
            <a:r>
              <a:rPr/>
              <a:t>openCypher (2015) was Neo4j's decision to open-source the Cypher specification so other databases could implement it. It was a smart strategic move — it created an ecosystem of compatible databases, all speaking the same language. Your Cypher skills work on Memgraph, RedisGraph, AgensGraph, and others.</a:t>
            </a:r>
            <a:endParaRPr/>
          </a:p>
          <a:p>
            <a:pPr>
              <a:defRPr/>
            </a:pPr>
            <a:endParaRPr/>
          </a:p>
          <a:p>
            <a:pPr>
              <a:defRPr/>
            </a:pPr>
            <a:r>
              <a:rPr/>
              <a:t>GQL (ISO/IEC 39075:2024) is the culmination of this: for the first time, we have an ISO standard for a graph query language. Think about what that means — the same standardisation process that produced SQL in 1986 has now produced GQL in 2024. Graph query is officially part of the database standards canon. If you learn Cypher/GQL now, you're learning something that will be relevant for the next 30 years.</a:t>
            </a:r>
            <a:endParaRPr/>
          </a:p>
          <a:p>
            <a:pPr>
              <a:defRPr/>
            </a:pPr>
            <a:endParaRPr/>
          </a:p>
          <a:p>
            <a:pPr>
              <a:defRPr/>
            </a:pPr>
            <a:r>
              <a:rPr/>
              <a:t>The cypher-shell tool we use in the lab today is the command-line equivalent of psql for PostgreSQL or mysql for MySQL. Simple, scriptable, and completely reliable for learning.</a:t>
            </a:r>
            <a:endParaRPr/>
          </a:p>
        </p:txBody>
      </p:sp>
      <p:sp>
        <p:nvSpPr>
          <p:cNvPr id="1525510243"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9073604" name="Slide Image Placeholder 1"/>
          <p:cNvSpPr>
            <a:spLocks noChangeAspect="1" noGrp="1" noRot="1"/>
          </p:cNvSpPr>
          <p:nvPr>
            <p:ph type="sldImg"/>
          </p:nvPr>
        </p:nvSpPr>
        <p:spPr bwMode="auto"/>
      </p:sp>
      <p:sp>
        <p:nvSpPr>
          <p:cNvPr id="1619257124" name="Notes Placeholder 2"/>
          <p:cNvSpPr>
            <a:spLocks noGrp="1"/>
          </p:cNvSpPr>
          <p:nvPr>
            <p:ph type="body" idx="1"/>
          </p:nvPr>
        </p:nvSpPr>
        <p:spPr bwMode="auto"/>
        <p:txBody>
          <a:bodyPr/>
          <a:lstStyle/>
          <a:p>
            <a:pPr>
              <a:defRPr/>
            </a:pPr>
            <a:r>
              <a:rPr/>
              <a:t>Let's read through this code carefully. Every line here is something you'll use in the lab.</a:t>
            </a:r>
            <a:endParaRPr/>
          </a:p>
          <a:p>
            <a:pPr>
              <a:defRPr/>
            </a:pPr>
            <a:endParaRPr/>
          </a:p>
          <a:p>
            <a:pPr>
              <a:defRPr/>
            </a:pPr>
            <a:r>
              <a:rPr/>
              <a:t>CREATE (a:Author { name: 'Anna', orcid: '...' })</a:t>
            </a:r>
            <a:endParaRPr/>
          </a:p>
          <a:p>
            <a:pPr>
              <a:defRPr/>
            </a:pPr>
            <a:r>
              <a:rPr/>
              <a:t>This creates a new node. The label is :Author — think of it like a class name or a type. The curly braces are a property map — key-value pairs. The variable 'a' is a local name that only exists within this query statement. It doesn't get stored in the database.</a:t>
            </a:r>
            <a:endParaRPr/>
          </a:p>
          <a:p>
            <a:pPr>
              <a:defRPr/>
            </a:pPr>
            <a:endParaRPr/>
          </a:p>
          <a:p>
            <a:pPr>
              <a:defRPr/>
            </a:pPr>
            <a:r>
              <a:rPr/>
              <a:t>CREATE (a)-[:WROTE { year: 2024 }]-&gt;(p)</a:t>
            </a:r>
            <a:endParaRPr/>
          </a:p>
          <a:p>
            <a:pPr>
              <a:defRPr/>
            </a:pPr>
            <a:r>
              <a:rPr/>
              <a:t>This creates a relationship. The square brackets hold the type [:WROTE] and any properties. The arrow direction matters: (a)→(p) means "a wrote p," not the other way around. Once you create a relationship with a direction, you can't flip it — but you CAN traverse it from either direction in a query.</a:t>
            </a:r>
            <a:endParaRPr/>
          </a:p>
          <a:p>
            <a:pPr>
              <a:defRPr/>
            </a:pPr>
            <a:endParaRPr/>
          </a:p>
          <a:p>
            <a:pPr>
              <a:defRPr/>
            </a:pPr>
            <a:r>
              <a:rPr/>
              <a:t>MATCH (a:Author {name:'Anna'})-[:WROTE]-&gt;(p:Paper) RETURN p.title, p.year</a:t>
            </a:r>
            <a:endParaRPr/>
          </a:p>
          <a:p>
            <a:pPr>
              <a:defRPr/>
            </a:pPr>
            <a:r>
              <a:rPr/>
              <a:t>This is a read query. MATCH is the workhorse of Cypher — it finds all subgraphs in the database that match the described pattern. The inline filter {name:'Anna'} narrows it to only Anna's node. ORDER BY and LIMIT work exactly as you'd expect from SQL.</a:t>
            </a:r>
            <a:endParaRPr/>
          </a:p>
          <a:p>
            <a:pPr>
              <a:defRPr/>
            </a:pPr>
            <a:endParaRPr/>
          </a:p>
          <a:p>
            <a:pPr>
              <a:defRPr/>
            </a:pPr>
            <a:r>
              <a:rPr/>
              <a:t>The biggest conceptual difference from SQL: in SQL, you write JOIN table1 ON table1.id = table2.foreign_key. In Cypher, you write the shape of the connection directly. There's no JOIN keyword because the graph already physically stores the connection — you just describe it.</a:t>
            </a:r>
            <a:endParaRPr/>
          </a:p>
          <a:p>
            <a:pPr>
              <a:defRPr/>
            </a:pPr>
            <a:endParaRPr/>
          </a:p>
          <a:p>
            <a:pPr>
              <a:defRPr/>
            </a:pPr>
            <a:r>
              <a:rPr/>
              <a:t>A common gotcha for newcomers: you can't mix MATCH (read) and CREATE (write) freely in a single statement. You need to MATCH first to find existing nodes, then use those variables in a CREATE. If you try to CREATE from scratch using variables that haven't been bound, you'll get an error. We'll see the correct pattern throughout the lab.</a:t>
            </a:r>
            <a:endParaRPr/>
          </a:p>
        </p:txBody>
      </p:sp>
      <p:sp>
        <p:nvSpPr>
          <p:cNvPr id="1630152903"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0615123" name="Slide Image Placeholder 1"/>
          <p:cNvSpPr>
            <a:spLocks noChangeAspect="1" noGrp="1" noRot="1"/>
          </p:cNvSpPr>
          <p:nvPr>
            <p:ph type="sldImg"/>
          </p:nvPr>
        </p:nvSpPr>
        <p:spPr bwMode="auto"/>
      </p:sp>
      <p:sp>
        <p:nvSpPr>
          <p:cNvPr id="959692372" name="Notes Placeholder 2"/>
          <p:cNvSpPr>
            <a:spLocks noGrp="1"/>
          </p:cNvSpPr>
          <p:nvPr>
            <p:ph type="body" idx="1"/>
          </p:nvPr>
        </p:nvSpPr>
        <p:spPr bwMode="auto"/>
        <p:txBody>
          <a:bodyPr/>
          <a:lstStyle/>
          <a:p>
            <a:pPr>
              <a:defRPr/>
            </a:pPr>
            <a:r>
              <a:rPr/>
              <a:t>Variable-length paths are the feature that makes graph databases feel genuinely different from everything else. This is the slide to understand deeply.</a:t>
            </a:r>
            <a:endParaRPr/>
          </a:p>
          <a:p>
            <a:pPr>
              <a:defRPr/>
            </a:pPr>
            <a:endParaRPr/>
          </a:p>
          <a:p>
            <a:pPr>
              <a:defRPr/>
            </a:pPr>
            <a:r>
              <a:rPr/>
              <a:t>The syntax [:CITES*2..4] means: "follow the CITES relationship between 2 and 4 times." The engine explores every path from the starting node that traverses exactly 2, 3, or 4 CITES edges. No other mainstream query language makes this so concise.</a:t>
            </a:r>
            <a:endParaRPr/>
          </a:p>
          <a:p>
            <a:pPr>
              <a:defRPr/>
            </a:pPr>
            <a:endParaRPr/>
          </a:p>
          <a:p>
            <a:pPr>
              <a:defRPr/>
            </a:pPr>
            <a:r>
              <a:rPr/>
              <a:t>EXAMPLE 1 — Co-authors: the pattern (anna)-[:WROTE]-&gt;(p)&lt;-[:WROTE]-(co:Author) says "Anna wrote a paper, and some other Author also wrote that same paper." The variable 'p' is the shared intermediate node — the paper they both worked on. count(p) gives the number of shared papers, so ordering by it ranks co-authors from closest collaborator to most peripheral.</a:t>
            </a:r>
            <a:endParaRPr/>
          </a:p>
          <a:p>
            <a:pPr>
              <a:defRPr/>
            </a:pPr>
            <a:endParaRPr/>
          </a:p>
          <a:p>
            <a:pPr>
              <a:defRPr/>
            </a:pPr>
            <a:r>
              <a:rPr/>
              <a:t>EXAMPLE 2 — Citation chains: this is a bibliometric analysis query. It finds all papers that cite your paper indirectly, through chains of 2 to 4 hops. In a real citation database like Semantic Scholar, this would tell you: "what downstream research has built on this work?" A single SQL query cannot do this efficiently.</a:t>
            </a:r>
            <a:endParaRPr/>
          </a:p>
          <a:p>
            <a:pPr>
              <a:defRPr/>
            </a:pPr>
            <a:endParaRPr/>
          </a:p>
          <a:p>
            <a:pPr>
              <a:defRPr/>
            </a:pPr>
            <a:r>
              <a:rPr/>
              <a:t>EXAMPLE 3 — shortestPath(): this built-in function uses bidirectional BFS — it starts searching from both ends simultaneously and meets in the middle, making it roughly twice as fast as searching from one end. The result is a PATH object — an ordered sequence of nodes and edges. The list comprehension [n in nodes(p) | n.name] extracts just the names.</a:t>
            </a:r>
            <a:endParaRPr/>
          </a:p>
          <a:p>
            <a:pPr>
              <a:defRPr/>
            </a:pPr>
            <a:endParaRPr/>
          </a:p>
          <a:p>
            <a:pPr>
              <a:defRPr/>
            </a:pPr>
            <a:r>
              <a:rPr/>
              <a:t>Critical warning: a variable-length pattern without an upper bound — like [:CITES*] — can cause out-of-memory errors on large graphs because the engine might try to enumerate billions of paths. Always specify an upper bound in production code: [:CITES*..10]. The shortestPath() function is safe because it stops the moment it finds the shortest path.</a:t>
            </a:r>
            <a:endParaRPr/>
          </a:p>
        </p:txBody>
      </p:sp>
      <p:sp>
        <p:nvSpPr>
          <p:cNvPr id="2109582317" name="Slide Number Placeholder 3"/>
          <p:cNvSpPr>
            <a:spLocks noGrp="1"/>
          </p:cNvSpPr>
          <p:nvPr>
            <p:ph type="sldNum" sz="quarter" idx="10"/>
          </p:nvPr>
        </p:nvSpPr>
        <p:spPr bwMode="auto"/>
        <p:txBody>
          <a:bodyPr/>
          <a:lstStyle/>
          <a:p>
            <a:pPr>
              <a:defRPr/>
            </a:pPr>
            <a:fld id="{F7021451-1387-4CA6-816F-3879F97B5CBC}" type="slidenum">
              <a:rPr lang="en-US"/>
              <a:t>25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0419083" name="Slide Image Placeholder 1"/>
          <p:cNvSpPr>
            <a:spLocks noChangeAspect="1" noGrp="1" noRot="1"/>
          </p:cNvSpPr>
          <p:nvPr>
            <p:ph type="sldImg"/>
          </p:nvPr>
        </p:nvSpPr>
        <p:spPr bwMode="auto"/>
      </p:sp>
      <p:sp>
        <p:nvSpPr>
          <p:cNvPr id="549504852" name="Notes Placeholder 2"/>
          <p:cNvSpPr>
            <a:spLocks noGrp="1"/>
          </p:cNvSpPr>
          <p:nvPr>
            <p:ph type="body" idx="1"/>
          </p:nvPr>
        </p:nvSpPr>
        <p:spPr bwMode="auto"/>
        <p:txBody>
          <a:bodyPr/>
          <a:lstStyle/>
          <a:p>
            <a:pPr>
              <a:defRPr/>
            </a:pPr>
            <a:r>
              <a:rPr/>
              <a:t>Three patterns that separate "I can write basic Cypher" from "I can write production-quality Cypher." These are worth taking extra time on.</a:t>
            </a:r>
            <a:endParaRPr/>
          </a:p>
          <a:p>
            <a:pPr>
              <a:defRPr/>
            </a:pPr>
            <a:endParaRPr/>
          </a:p>
          <a:p>
            <a:pPr>
              <a:defRPr/>
            </a:pPr>
            <a:r>
              <a:rPr/>
              <a:t>WITH — the pipeline operator:</a:t>
            </a:r>
            <a:endParaRPr/>
          </a:p>
          <a:p>
            <a:pPr>
              <a:defRPr/>
            </a:pPr>
            <a:r>
              <a:rPr/>
              <a:t>Think of WITH as a UNIX pipe character, or a SQL subquery. It lets you chain MATCH stages, passing results from one stage to the next. The example on this slide does something clever: it first aggregates (counting papers per author), then filters on the aggregate (keeping only authors with 5+ papers), then uses those filtered authors as the starting point for a second traversal. Without WITH, you'd need two separate queries or a subquery — WITH makes it a single elegant pipeline.</a:t>
            </a:r>
            <a:endParaRPr/>
          </a:p>
          <a:p>
            <a:pPr>
              <a:defRPr/>
            </a:pPr>
            <a:endParaRPr/>
          </a:p>
          <a:p>
            <a:pPr>
              <a:defRPr/>
            </a:pPr>
            <a:r>
              <a:rPr/>
              <a:t>MERGE — the idempotent write:</a:t>
            </a:r>
            <a:endParaRPr/>
          </a:p>
          <a:p>
            <a:pPr>
              <a:defRPr/>
            </a:pPr>
            <a:r>
              <a:rPr/>
              <a:t>MERGE is the most important pattern for data loading, and it's the one most often missing from students' first attempts. It works like this: try to MATCH the pattern; if found, execute ON MATCH SET; if not found, create it and execute ON CREATE SET. This means you can run a MERGE statement a hundred times and it will have the same effect as running it once. No duplicates. This is the graph database equivalent of SQL's INSERT INTO ... ON CONFLICT DO UPDATE (upsert). In any real ETL pipeline — loading from CSV, from an API, from a Kafka stream — you should be using MERGE almost everywhere instead of CREATE.</a:t>
            </a:r>
            <a:endParaRPr/>
          </a:p>
          <a:p>
            <a:pPr>
              <a:defRPr/>
            </a:pPr>
            <a:endParaRPr/>
          </a:p>
          <a:p>
            <a:pPr>
              <a:defRPr/>
            </a:pPr>
            <a:r>
              <a:rPr/>
              <a:t>UNWIND — bulk operations:</a:t>
            </a:r>
            <a:endParaRPr/>
          </a:p>
          <a:p>
            <a:pPr>
              <a:defRPr/>
            </a:pPr>
            <a:r>
              <a:rPr/>
              <a:t>UNWIND takes a list and expands it into individual rows, similar to SQL's UNNEST. Combined with MERGE, it lets you bulk-insert thousands of nodes in a single parameterised query, with the list passed from your application. This is dramatically faster than sending one MERGE statement per node over the network. In the Python neo4j driver, you'd pass $rows as a parameter containing a list of dicts.</a:t>
            </a:r>
            <a:endParaRPr/>
          </a:p>
          <a:p>
            <a:pPr>
              <a:defRPr/>
            </a:pPr>
            <a:endParaRPr/>
          </a:p>
          <a:p>
            <a:pPr>
              <a:defRPr/>
            </a:pPr>
            <a:r>
              <a:rPr/>
              <a:t>For today's lab, you'll mostly use CREATE and MATCH because we're building a small graph step by step. In your assignment, you should use MERGE for everything that might run more than once — which is most things in a real data pipeline.</a:t>
            </a:r>
            <a:endParaRPr/>
          </a:p>
        </p:txBody>
      </p:sp>
      <p:sp>
        <p:nvSpPr>
          <p:cNvPr id="1657304064"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0929653" name="Slide Image Placeholder 1"/>
          <p:cNvSpPr>
            <a:spLocks noChangeAspect="1" noGrp="1" noRot="1"/>
          </p:cNvSpPr>
          <p:nvPr>
            <p:ph type="sldImg"/>
          </p:nvPr>
        </p:nvSpPr>
        <p:spPr bwMode="auto"/>
      </p:sp>
      <p:sp>
        <p:nvSpPr>
          <p:cNvPr id="1201985754" name="Notes Placeholder 2"/>
          <p:cNvSpPr>
            <a:spLocks noGrp="1"/>
          </p:cNvSpPr>
          <p:nvPr>
            <p:ph type="body" idx="1"/>
          </p:nvPr>
        </p:nvSpPr>
        <p:spPr bwMode="auto"/>
        <p:txBody>
          <a:bodyPr/>
          <a:lstStyle/>
          <a:p>
            <a:pPr>
              <a:defRPr/>
            </a:pPr>
            <a:r>
              <a:rPr/>
              <a:t>GQL deserves a moment to appreciate how significant it is — even if the database world doesn't always make a big deal of it publicly.</a:t>
            </a:r>
            <a:endParaRPr/>
          </a:p>
          <a:p>
            <a:pPr>
              <a:defRPr/>
            </a:pPr>
            <a:endParaRPr/>
          </a:p>
          <a:p>
            <a:pPr>
              <a:defRPr/>
            </a:pPr>
            <a:r>
              <a:rPr/>
              <a:t>Here's the background: since 2015, graph databases had been fragmenting. Neo4j invented Cypher. Apache TinkerPop standardised Gremlin. Oracle had PGQL. TigerGraph had GSQL. Each was powerful, but code written for one couldn't run on another. If your company started with Neo4j and later wanted to move to a cloud-managed solution, your query code needed to be rewritten. Developers had to choose which ecosystem to invest in, with real risk of lock-in.</a:t>
            </a:r>
            <a:endParaRPr/>
          </a:p>
          <a:p>
            <a:pPr>
              <a:defRPr/>
            </a:pPr>
            <a:endParaRPr/>
          </a:p>
          <a:p>
            <a:pPr>
              <a:defRPr/>
            </a:pPr>
            <a:r>
              <a:rPr/>
              <a:t>This is exactly the same situation relational databases were in during the 1980s — before ANSI SQL standardised the language and made skills transferable. The solution then was standardisation. The solution now is GQL.</a:t>
            </a:r>
            <a:endParaRPr/>
          </a:p>
          <a:p>
            <a:pPr>
              <a:defRPr/>
            </a:pPr>
            <a:endParaRPr/>
          </a:p>
          <a:p>
            <a:pPr>
              <a:defRPr/>
            </a:pPr>
            <a:r>
              <a:rPr/>
              <a:t>In 2019, a joint working group — including Neo4j, Oracle, IBM, Amazon, Google, SAP, and others — began working on a unified standard under the ISO committee that maintains SQL. After five years of work, ISO/IEC 39075:2024 (GQL) was approved in April 2024. It's the first new ISO database query language standard since SQL itself in 1986. That's not marketing — that's a historic event in database history.</a:t>
            </a:r>
            <a:endParaRPr/>
          </a:p>
          <a:p>
            <a:pPr>
              <a:defRPr/>
            </a:pPr>
            <a:endParaRPr/>
          </a:p>
          <a:p>
            <a:pPr>
              <a:defRPr/>
            </a:pPr>
            <a:r>
              <a:rPr/>
              <a:t>What GQL standardises: the graph type system, pattern matching syntax (compatible with openCypher), data manipulation operations, schema definition, transactions, and security. It covers the full lifecycle of graph query, not just SELECT-equivalent operations.</a:t>
            </a:r>
            <a:endParaRPr/>
          </a:p>
          <a:p>
            <a:pPr>
              <a:defRPr/>
            </a:pPr>
            <a:endParaRPr/>
          </a:p>
          <a:p>
            <a:pPr>
              <a:defRPr/>
            </a:pPr>
            <a:r>
              <a:rPr/>
              <a:t>Why this matters for your career: companies now know that graph query skills are durable and portable. They can invest in training their teams on GQL without the risk that the language disappears or becomes obsolete. The way SQL skills from the 1980s are still relevant today — GQL skills learned now will still be relevant in 2045.</a:t>
            </a:r>
            <a:endParaRPr/>
          </a:p>
        </p:txBody>
      </p:sp>
      <p:sp>
        <p:nvSpPr>
          <p:cNvPr id="1163754183"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4455478" name="Slide Image Placeholder 1"/>
          <p:cNvSpPr>
            <a:spLocks noChangeAspect="1" noGrp="1" noRot="1"/>
          </p:cNvSpPr>
          <p:nvPr>
            <p:ph type="sldImg"/>
          </p:nvPr>
        </p:nvSpPr>
        <p:spPr bwMode="auto"/>
      </p:sp>
      <p:sp>
        <p:nvSpPr>
          <p:cNvPr id="2023359353" name="Notes Placeholder 2"/>
          <p:cNvSpPr>
            <a:spLocks noGrp="1"/>
          </p:cNvSpPr>
          <p:nvPr>
            <p:ph type="body" idx="1"/>
          </p:nvPr>
        </p:nvSpPr>
        <p:spPr bwMode="auto"/>
        <p:txBody>
          <a:bodyPr/>
          <a:lstStyle/>
          <a:p>
            <a:pPr>
              <a:defRPr/>
            </a:pPr>
            <a:r>
              <a:rPr/>
              <a:t>Think of this slide as your production checklist — the things you should do before deploying any graph database application.</a:t>
            </a:r>
            <a:endParaRPr/>
          </a:p>
          <a:p>
            <a:pPr>
              <a:defRPr/>
            </a:pPr>
            <a:endParaRPr/>
          </a:p>
          <a:p>
            <a:pPr>
              <a:defRPr/>
            </a:pPr>
            <a:r>
              <a:rPr/>
              <a:t>UNIQUENESS CONSTRAINT — do this first, always:</a:t>
            </a:r>
            <a:endParaRPr/>
          </a:p>
          <a:p>
            <a:pPr>
              <a:defRPr/>
            </a:pPr>
            <a:r>
              <a:rPr/>
              <a:t>A uniqueness constraint guarantees that no two nodes with the same label can share the same value for a property. It also automatically creates a B-tree index on that property, giving you fast O(log N) lookups. In our research network, every :Author should have a unique ORCID (because two researchers might share a name, but ORCIDs are globally unique) and every :Paper a unique DOI. Without this constraint, a bug in your data loader could create two "Anna" nodes, and your co-author queries would return wrong results — silently, with no error message.</a:t>
            </a:r>
            <a:endParaRPr/>
          </a:p>
          <a:p>
            <a:pPr>
              <a:defRPr/>
            </a:pPr>
            <a:endParaRPr/>
          </a:p>
          <a:p>
            <a:pPr>
              <a:defRPr/>
            </a:pPr>
            <a:r>
              <a:rPr/>
              <a:t>EXISTENCE CONSTRAINT — the fine print:</a:t>
            </a:r>
            <a:endParaRPr/>
          </a:p>
          <a:p>
            <a:pPr>
              <a:defRPr/>
            </a:pPr>
            <a:r>
              <a:rPr/>
              <a:t>In Neo4j Community Edition (which we use in the lab today), properties are completely optional. A node can simply not have a property — this is different from SQL NULL. The existence constraint enforces that a property must be present. But: existence constraints require Neo4j Enterprise or Aura Professional. Good to know for your career, even if we can't use it today.</a:t>
            </a:r>
            <a:endParaRPr/>
          </a:p>
          <a:p>
            <a:pPr>
              <a:defRPr/>
            </a:pPr>
            <a:endParaRPr/>
          </a:p>
          <a:p>
            <a:pPr>
              <a:defRPr/>
            </a:pPr>
            <a:r>
              <a:rPr/>
              <a:t>RANGE INDEX — for filtering:</a:t>
            </a:r>
            <a:endParaRPr/>
          </a:p>
          <a:p>
            <a:pPr>
              <a:defRPr/>
            </a:pPr>
            <a:r>
              <a:rPr/>
              <a:t>A B-tree index on a numeric or string property. Use it when you frequently filter with =, &lt;, &gt;, or range operations on a non-key field. Here we add it on Paper.year so that "find all papers from 2023 onwards" doesn't have to scan every paper node in the database.</a:t>
            </a:r>
            <a:endParaRPr/>
          </a:p>
          <a:p>
            <a:pPr>
              <a:defRPr/>
            </a:pPr>
            <a:endParaRPr/>
          </a:p>
          <a:p>
            <a:pPr>
              <a:defRPr/>
            </a:pPr>
            <a:r>
              <a:rPr/>
              <a:t>FULLTEXT INDEX — for text search:</a:t>
            </a:r>
            <a:endParaRPr/>
          </a:p>
          <a:p>
            <a:pPr>
              <a:defRPr/>
            </a:pPr>
            <a:r>
              <a:rPr/>
              <a:t>When you need to search inside long strings (paper abstracts, descriptions, article bodies), a range index won't help. A fulltext index (backed by Lucene) tokenises the text and supports keyword search, fuzzy matching, and relevance scoring.</a:t>
            </a:r>
            <a:endParaRPr/>
          </a:p>
          <a:p>
            <a:pPr>
              <a:defRPr/>
            </a:pPr>
            <a:endParaRPr/>
          </a:p>
          <a:p>
            <a:pPr>
              <a:defRPr/>
            </a:pPr>
            <a:r>
              <a:rPr/>
              <a:t>EXPLAIN — your best friend:</a:t>
            </a:r>
            <a:endParaRPr/>
          </a:p>
          <a:p>
            <a:pPr>
              <a:defRPr/>
            </a:pPr>
            <a:r>
              <a:rPr/>
              <a:t>Before deploying any query, run EXPLAIN on it. Look at the plan. The word you want to see is "NodeIndexSeek" — the query found an index to use. The word you never want to see is "AllNodesScan" — the engine is reading every node in the database. One small change (adding an index) can make a query 100x faster.</a:t>
            </a:r>
            <a:endParaRPr/>
          </a:p>
        </p:txBody>
      </p:sp>
      <p:sp>
        <p:nvSpPr>
          <p:cNvPr id="1476749634" name="Slide Number Placeholder 3"/>
          <p:cNvSpPr>
            <a:spLocks noGrp="1"/>
          </p:cNvSpPr>
          <p:nvPr>
            <p:ph type="sldNum" sz="quarter" idx="10"/>
          </p:nvPr>
        </p:nvSpPr>
        <p:spPr bwMode="auto"/>
        <p:txBody>
          <a:bodyPr/>
          <a:lstStyle/>
          <a:p>
            <a:pPr>
              <a:defRPr/>
            </a:pPr>
            <a:fld id="{F7021451-1387-4CA6-816F-3879F97B5CBC}" type="slidenum">
              <a:rPr lang="en-US"/>
              <a:t>28</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236215" name="Slide Image Placeholder 1"/>
          <p:cNvSpPr>
            <a:spLocks noChangeAspect="1" noGrp="1" noRot="1"/>
          </p:cNvSpPr>
          <p:nvPr>
            <p:ph type="sldImg"/>
          </p:nvPr>
        </p:nvSpPr>
        <p:spPr bwMode="auto"/>
      </p:sp>
      <p:sp>
        <p:nvSpPr>
          <p:cNvPr id="18462919" name="Notes Placeholder 2"/>
          <p:cNvSpPr>
            <a:spLocks noGrp="1"/>
          </p:cNvSpPr>
          <p:nvPr>
            <p:ph type="body" idx="1"/>
          </p:nvPr>
        </p:nvSpPr>
        <p:spPr bwMode="auto"/>
        <p:txBody>
          <a:bodyPr/>
          <a:lstStyle/>
          <a:p>
            <a:pPr>
              <a:defRPr/>
            </a:pPr>
            <a:r>
              <a:rPr/>
              <a:t>This comparison is one of the most important conceptual shifts in the entire course — and it applies not just to graph databases, but to all the NoSQL systems we've studied.</a:t>
            </a:r>
            <a:endParaRPr/>
          </a:p>
          <a:p>
            <a:pPr>
              <a:defRPr/>
            </a:pPr>
            <a:endParaRPr/>
          </a:p>
          <a:p>
            <a:pPr>
              <a:defRPr/>
            </a:pPr>
            <a:r>
              <a:rPr/>
              <a:t>Relational databases are schema-first. You start by designing tables and columns, apply normalisation rules (3NF, BCNF) to eliminate redundancy, add foreign keys to enforce relationships, and then figure out your queries. The schema is fixed and everything must conform to it. Changing the schema later means migration scripts, downtime, and careful coordination.</a:t>
            </a:r>
            <a:endParaRPr/>
          </a:p>
          <a:p>
            <a:pPr>
              <a:defRPr/>
            </a:pPr>
            <a:endParaRPr/>
          </a:p>
          <a:p>
            <a:pPr>
              <a:defRPr/>
            </a:pPr>
            <a:r>
              <a:rPr/>
              <a:t>Graph databases are question-first. You start with the questions your application needs to answer. What traversals do you need to perform? What patterns do you need to match? What does the user actually ask the system? You design your nodes, edges, labels, and properties to make those specific queries fast and natural. The schema serves the queries, not the other way around.</a:t>
            </a:r>
            <a:endParaRPr/>
          </a:p>
          <a:p>
            <a:pPr>
              <a:defRPr/>
            </a:pPr>
            <a:endParaRPr/>
          </a:p>
          <a:p>
            <a:pPr>
              <a:defRPr/>
            </a:pPr>
            <a:r>
              <a:rPr/>
              <a:t>Sound familiar? This is the same philosophy as Cassandra's query-driven design from Week 6. The pattern is: NoSQL systems almost always require you to think about access patterns first.</a:t>
            </a:r>
            <a:endParaRPr/>
          </a:p>
          <a:p>
            <a:pPr>
              <a:defRPr/>
            </a:pPr>
            <a:endParaRPr/>
          </a:p>
          <a:p>
            <a:pPr>
              <a:defRPr/>
            </a:pPr>
            <a:r>
              <a:rPr/>
              <a:t>Let me make this concrete. Suppose your application needs to answer: "Show me all co-authors of any paper I've cited in my thesis, along with their most recent affiliation."</a:t>
            </a:r>
            <a:endParaRPr/>
          </a:p>
          <a:p>
            <a:pPr>
              <a:defRPr/>
            </a:pPr>
            <a:endParaRPr/>
          </a:p>
          <a:p>
            <a:pPr>
              <a:defRPr/>
            </a:pPr>
            <a:r>
              <a:rPr/>
              <a:t>Graph approach: you sketch it on a whiteboard as a network. You need :Author, :Paper, and :Affiliation nodes. You need :WROTE, :CITES, and :AFFILIATED_WITH edges. You put a 'year' property on :AFFILIATED_WITH to find the most recent one. The Cypher query mirrors the whiteboard directly. Done.</a:t>
            </a:r>
            <a:endParaRPr/>
          </a:p>
          <a:p>
            <a:pPr>
              <a:defRPr/>
            </a:pPr>
            <a:endParaRPr/>
          </a:p>
          <a:p>
            <a:pPr>
              <a:defRPr/>
            </a:pPr>
            <a:r>
              <a:rPr/>
              <a:t>Relational approach: you need Authors, Papers, Citations, Authorships, Affiliations tables. The query involves at least five JOINs. At a million papers, it gets slow. You add indexes, then materialised views, then start denormalising. At some point you've essentially re-invented a graph store — but with more complexity.</a:t>
            </a:r>
            <a:endParaRPr/>
          </a:p>
          <a:p>
            <a:pPr>
              <a:defRPr/>
            </a:pPr>
            <a:endParaRPr/>
          </a:p>
          <a:p>
            <a:pPr>
              <a:defRPr/>
            </a:pPr>
            <a:r>
              <a:rPr/>
              <a:t>Important nuance: graphs aren't better for everything. For global aggregations ("what's the total revenue across all customers?"), columnar stores or relational databases are often faster. The skill is choosing the right model.</a:t>
            </a:r>
            <a:endParaRPr/>
          </a:p>
        </p:txBody>
      </p:sp>
      <p:sp>
        <p:nvSpPr>
          <p:cNvPr id="944274613"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2481196" name="Slide Image Placeholder 1"/>
          <p:cNvSpPr>
            <a:spLocks noChangeAspect="1" noGrp="1" noRot="1"/>
          </p:cNvSpPr>
          <p:nvPr>
            <p:ph type="sldImg"/>
          </p:nvPr>
        </p:nvSpPr>
        <p:spPr bwMode="auto"/>
      </p:sp>
      <p:sp>
        <p:nvSpPr>
          <p:cNvPr id="183793440" name="Notes Placeholder 2"/>
          <p:cNvSpPr>
            <a:spLocks noGrp="1"/>
          </p:cNvSpPr>
          <p:nvPr>
            <p:ph type="body" idx="1"/>
          </p:nvPr>
        </p:nvSpPr>
        <p:spPr bwMode="auto"/>
        <p:txBody>
          <a:bodyPr/>
          <a:lstStyle/>
          <a:p>
            <a:pPr>
              <a:defRPr/>
            </a:pPr>
            <a:r>
              <a:rPr/>
              <a:t>Module 5 is about connecting the dots. We've learned the model, we've learned the language — now the question is: when does a graph database actually deliver value that you couldn't get another way?</a:t>
            </a:r>
            <a:endParaRPr/>
          </a:p>
          <a:p>
            <a:pPr>
              <a:defRPr/>
            </a:pPr>
            <a:endParaRPr/>
          </a:p>
          <a:p>
            <a:pPr>
              <a:defRPr/>
            </a:pPr>
            <a:r>
              <a:rPr/>
              <a:t>By the end of this module, you should be able to answer that question convincingly, with specific examples. This is the part of the lecture that directly prepares you for technical interviews, because interviewers love to ask: "When would you choose a graph database over a relational database?"</a:t>
            </a:r>
            <a:endParaRPr/>
          </a:p>
          <a:p>
            <a:pPr>
              <a:defRPr/>
            </a:pPr>
            <a:endParaRPr/>
          </a:p>
          <a:p>
            <a:pPr>
              <a:defRPr/>
            </a:pPr>
            <a:r>
              <a:rPr/>
              <a:t>We'll cover three areas: the distributed systems behaviour of graph databases (how they handle consistency, replication, and partitioning — connecting back to Week 1), the algorithms you can run on them (which turn a query engine into an analytics platform), and the real-world applications (so you can talk about concrete use cases with confidence).</a:t>
            </a:r>
            <a:endParaRPr/>
          </a:p>
          <a:p>
            <a:pPr>
              <a:defRPr/>
            </a:pPr>
            <a:endParaRPr/>
          </a:p>
          <a:p>
            <a:pPr>
              <a:defRPr/>
            </a:pPr>
            <a:r>
              <a:rPr/>
              <a:t>The running theme: graph databases don't just store data differently — they make some classes of problems that were intractable with other tools suddenly straightforward.</a:t>
            </a:r>
            <a:endParaRPr/>
          </a:p>
        </p:txBody>
      </p:sp>
      <p:sp>
        <p:nvSpPr>
          <p:cNvPr id="136263046" name="Slide Number Placeholder 3"/>
          <p:cNvSpPr>
            <a:spLocks noGrp="1"/>
          </p:cNvSpPr>
          <p:nvPr>
            <p:ph type="sldNum" sz="quarter" idx="10"/>
          </p:nvPr>
        </p:nvSpPr>
        <p:spPr bwMode="auto"/>
        <p:txBody>
          <a:bodyPr/>
          <a:lstStyle/>
          <a:p>
            <a:pPr>
              <a:defRPr/>
            </a:pPr>
            <a:fld id="{F7021451-1387-4CA6-816F-3879F97B5CBC}" type="slidenum">
              <a:rPr lang="en-US"/>
              <a:t>30</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4060897" name="Slide Image Placeholder 1"/>
          <p:cNvSpPr>
            <a:spLocks noChangeAspect="1" noGrp="1" noRot="1"/>
          </p:cNvSpPr>
          <p:nvPr>
            <p:ph type="sldImg"/>
          </p:nvPr>
        </p:nvSpPr>
        <p:spPr bwMode="auto"/>
      </p:sp>
      <p:sp>
        <p:nvSpPr>
          <p:cNvPr id="771918704" name="Notes Placeholder 2"/>
          <p:cNvSpPr>
            <a:spLocks noGrp="1"/>
          </p:cNvSpPr>
          <p:nvPr>
            <p:ph type="body" idx="1"/>
          </p:nvPr>
        </p:nvSpPr>
        <p:spPr bwMode="auto"/>
        <p:txBody>
          <a:bodyPr/>
          <a:lstStyle/>
          <a:p>
            <a:pPr>
              <a:defRPr/>
            </a:pPr>
            <a:r>
              <a:rPr/>
              <a:t>ACID in graph databases is a topic worth pausing on, because the answer is surprisingly non-obvious for a NoSQL family.</a:t>
            </a:r>
            <a:endParaRPr/>
          </a:p>
          <a:p>
            <a:pPr>
              <a:defRPr/>
            </a:pPr>
            <a:endParaRPr/>
          </a:p>
          <a:p>
            <a:pPr>
              <a:defRPr/>
            </a:pPr>
            <a:r>
              <a:rPr/>
              <a:t>Quick ACID recap:</a:t>
            </a:r>
            <a:endParaRPr/>
          </a:p>
          <a:p>
            <a:pPr>
              <a:defRPr/>
            </a:pPr>
            <a:r>
              <a:rPr/>
              <a:t>A (Atomicity): all or nothing — if any part of a transaction fails, the whole thing rolls back.</a:t>
            </a:r>
            <a:endParaRPr/>
          </a:p>
          <a:p>
            <a:pPr>
              <a:defRPr/>
            </a:pPr>
            <a:r>
              <a:rPr/>
              <a:t>C (Consistency): every transaction leaves the database in a valid state.</a:t>
            </a:r>
            <a:endParaRPr/>
          </a:p>
          <a:p>
            <a:pPr>
              <a:defRPr/>
            </a:pPr>
            <a:r>
              <a:rPr/>
              <a:t>I (Isolation): concurrent transactions don't step on each other's toes — you don't see someone else's half-written changes.</a:t>
            </a:r>
            <a:endParaRPr/>
          </a:p>
          <a:p>
            <a:pPr>
              <a:defRPr/>
            </a:pPr>
            <a:r>
              <a:rPr/>
              <a:t>D (Durability): once committed, data survives crashes.</a:t>
            </a:r>
            <a:endParaRPr/>
          </a:p>
          <a:p>
            <a:pPr>
              <a:defRPr/>
            </a:pPr>
            <a:endParaRPr/>
          </a:p>
          <a:p>
            <a:pPr>
              <a:defRPr/>
            </a:pPr>
            <a:r>
              <a:rPr/>
              <a:t>Most NoSQL databases sacrifice some ACID properties for performance or scalability. So why do major graph databases like Neo4j, Memgraph, and ArangoDB offer full ACID?</a:t>
            </a:r>
            <a:endParaRPr/>
          </a:p>
          <a:p>
            <a:pPr>
              <a:defRPr/>
            </a:pPr>
            <a:endParaRPr/>
          </a:p>
          <a:p>
            <a:pPr>
              <a:defRPr/>
            </a:pPr>
            <a:r>
              <a:rPr/>
              <a:t>Because graph data is uniquely fragile. Imagine a transaction that creates an edge (author)-[:WROTE]-&gt;(paper) but fails halfway through — after creating the edge but before setting the paper's required properties. Now you have an edge pointing to an incomplete node. When a query traverses that edge, it gets wrong answers — silently. In a key-value store, a half-written record is immediately obvious. In a graph, structural corruption can propagate invisibly through traversals. ACID prevents this entirely.</a:t>
            </a:r>
            <a:endParaRPr/>
          </a:p>
          <a:p>
            <a:pPr>
              <a:defRPr/>
            </a:pPr>
            <a:endParaRPr/>
          </a:p>
          <a:p>
            <a:pPr>
              <a:defRPr/>
            </a:pPr>
            <a:r>
              <a:rPr/>
              <a:t>The graph sharding problem is genuinely hard and worth understanding. Distributing a graph across multiple machines creates a fundamental tension: a traversal might need to follow an edge that crosses a machine boundary, requiring a network round-trip. Network is orders of magnitude slower than local memory. Optimal graph partitioning — minimising these cross-boundary edges — is mathematically NP-hard. Real systems use heuristics: TigerGraph uses vertex-cut partitioning, ArangoDB SmartGraphs co-locates a vertex with its edges on the same shard, JanusGraph uses community detection as a layout guide.</a:t>
            </a:r>
            <a:endParaRPr/>
          </a:p>
          <a:p>
            <a:pPr>
              <a:defRPr/>
            </a:pPr>
            <a:endParaRPr/>
          </a:p>
          <a:p>
            <a:pPr>
              <a:defRPr/>
            </a:pPr>
            <a:r>
              <a:rPr/>
              <a:t>PACELC connects to Week 1: even without partitions, you must choose between lower latency (read from replica immediately, possibly stale) and stronger consistency (wait for leader confirmation). Fraud detection systems lean hard toward consistency — you cannot afford to miss a fraud signal because you read stale data.</a:t>
            </a:r>
            <a:endParaRPr/>
          </a:p>
        </p:txBody>
      </p:sp>
      <p:sp>
        <p:nvSpPr>
          <p:cNvPr id="2072061949"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3832353" name="Slide Image Placeholder 1"/>
          <p:cNvSpPr>
            <a:spLocks noChangeAspect="1" noGrp="1" noRot="1"/>
          </p:cNvSpPr>
          <p:nvPr>
            <p:ph type="sldImg"/>
          </p:nvPr>
        </p:nvSpPr>
        <p:spPr bwMode="auto"/>
      </p:sp>
      <p:sp>
        <p:nvSpPr>
          <p:cNvPr id="467511213" name="Notes Placeholder 2"/>
          <p:cNvSpPr>
            <a:spLocks noGrp="1"/>
          </p:cNvSpPr>
          <p:nvPr>
            <p:ph type="body" idx="1"/>
          </p:nvPr>
        </p:nvSpPr>
        <p:spPr bwMode="auto"/>
        <p:txBody>
          <a:bodyPr/>
          <a:lstStyle/>
          <a:p>
            <a:pPr>
              <a:defRPr/>
            </a:pPr>
            <a:r>
              <a:rPr/>
              <a:t>Graph algorithms are where graph databases go from "smart storage" to "analytical superpower." This is what separates a graph database from "SQL with a graph API on top."</a:t>
            </a:r>
            <a:endParaRPr/>
          </a:p>
          <a:p>
            <a:pPr>
              <a:defRPr/>
            </a:pPr>
            <a:endParaRPr/>
          </a:p>
          <a:p>
            <a:pPr>
              <a:defRPr/>
            </a:pPr>
            <a:r>
              <a:rPr/>
              <a:t>Think of these five families as a toolkit, each answering a different category of question:</a:t>
            </a:r>
            <a:endParaRPr/>
          </a:p>
          <a:p>
            <a:pPr>
              <a:defRPr/>
            </a:pPr>
            <a:endParaRPr/>
          </a:p>
          <a:p>
            <a:pPr>
              <a:defRPr/>
            </a:pPr>
            <a:r>
              <a:rPr/>
              <a:t>PATHFINDING — "How do I get from A to B?"</a:t>
            </a:r>
            <a:endParaRPr/>
          </a:p>
          <a:p>
            <a:pPr>
              <a:defRPr/>
            </a:pPr>
            <a:r>
              <a:rPr/>
              <a:t>Dijkstra finds the minimum-cost path (useful when edges have weights like distances or prices). BFS finds the minimum-hop path. A* adds a heuristic to search faster when you have domain knowledge about the destination. Yen's K-shortest finds not just the best path, but the K best alternatives — critical for route planning where you need fallback options. These power navigation apps, network routing, and supply chain optimisation.</a:t>
            </a:r>
            <a:endParaRPr/>
          </a:p>
          <a:p>
            <a:pPr>
              <a:defRPr/>
            </a:pPr>
            <a:endParaRPr/>
          </a:p>
          <a:p>
            <a:pPr>
              <a:defRPr/>
            </a:pPr>
            <a:r>
              <a:rPr/>
              <a:t>CENTRALITY — "Who is the most important node?"</a:t>
            </a:r>
            <a:endParaRPr/>
          </a:p>
          <a:p>
            <a:pPr>
              <a:defRPr/>
            </a:pPr>
            <a:r>
              <a:rPr/>
              <a:t>Don't just count edges (degree centrality — crude but fast). PageRank gives importance recursively: a node is important if important nodes point to it. This is literally the algorithm Google was built on. Betweenness centrality identifies nodes that sit on many shortest paths — remove them and the graph fragments. These are critical infrastructure nodes or social influencers.</a:t>
            </a:r>
            <a:endParaRPr/>
          </a:p>
          <a:p>
            <a:pPr>
              <a:defRPr/>
            </a:pPr>
            <a:endParaRPr/>
          </a:p>
          <a:p>
            <a:pPr>
              <a:defRPr/>
            </a:pPr>
            <a:r>
              <a:rPr/>
              <a:t>COMMUNITY DETECTION — "Which nodes cluster together naturally?"</a:t>
            </a:r>
            <a:endParaRPr/>
          </a:p>
          <a:p>
            <a:pPr>
              <a:defRPr/>
            </a:pPr>
            <a:r>
              <a:rPr/>
              <a:t>Louvain and Leiden maximise modularity — how much denser a community is internally versus what random chance would predict. Run this on a social network and it automatically discovers friend groups. Run it on a financial network and it finds transaction clusters that might indicate money laundering rings.</a:t>
            </a:r>
            <a:endParaRPr/>
          </a:p>
          <a:p>
            <a:pPr>
              <a:defRPr/>
            </a:pPr>
            <a:endParaRPr/>
          </a:p>
          <a:p>
            <a:pPr>
              <a:defRPr/>
            </a:pPr>
            <a:r>
              <a:rPr/>
              <a:t>SIMILARITY &amp; EMBEDDINGS — "How alike are two nodes structurally?"</a:t>
            </a:r>
            <a:endParaRPr/>
          </a:p>
          <a:p>
            <a:pPr>
              <a:defRPr/>
            </a:pPr>
            <a:r>
              <a:rPr/>
              <a:t>Jaccard similarity counts shared neighbours. Node2Vec and FastRP create vector representations of nodes that capture their structural position in the graph — these vectors can then be fed into any standard ML model.</a:t>
            </a:r>
            <a:endParaRPr/>
          </a:p>
          <a:p>
            <a:pPr>
              <a:defRPr/>
            </a:pPr>
            <a:endParaRPr/>
          </a:p>
          <a:p>
            <a:pPr>
              <a:defRPr/>
            </a:pPr>
            <a:r>
              <a:rPr/>
              <a:t>LINK PREDICTION — "What edges will form next?"</a:t>
            </a:r>
            <a:endParaRPr/>
          </a:p>
          <a:p>
            <a:pPr>
              <a:defRPr/>
            </a:pPr>
            <a:r>
              <a:rPr/>
              <a:t>Common neighbours: if two nodes share many neighbours, they'll likely connect. Graph Neural Networks: the state of the art for drug-protein interaction prediction, social link prediction, and fraud ring detection.</a:t>
            </a:r>
            <a:endParaRPr/>
          </a:p>
        </p:txBody>
      </p:sp>
      <p:sp>
        <p:nvSpPr>
          <p:cNvPr id="1980778392"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7889803" name="Slide Image Placeholder 1"/>
          <p:cNvSpPr>
            <a:spLocks noChangeAspect="1" noGrp="1" noRot="1"/>
          </p:cNvSpPr>
          <p:nvPr>
            <p:ph type="sldImg"/>
          </p:nvPr>
        </p:nvSpPr>
        <p:spPr bwMode="auto"/>
      </p:sp>
      <p:sp>
        <p:nvSpPr>
          <p:cNvPr id="1195010403" name="Notes Placeholder 2"/>
          <p:cNvSpPr>
            <a:spLocks noGrp="1"/>
          </p:cNvSpPr>
          <p:nvPr>
            <p:ph type="body" idx="1"/>
          </p:nvPr>
        </p:nvSpPr>
        <p:spPr bwMode="auto"/>
        <p:txBody>
          <a:bodyPr/>
          <a:lstStyle/>
          <a:p>
            <a:pPr>
              <a:defRPr/>
            </a:pPr>
            <a:r>
              <a:rPr/>
              <a:t>Let's make the algorithm concepts concrete with actual code.</a:t>
            </a:r>
            <a:endParaRPr/>
          </a:p>
          <a:p>
            <a:pPr>
              <a:defRPr/>
            </a:pPr>
            <a:endParaRPr/>
          </a:p>
          <a:p>
            <a:pPr>
              <a:defRPr/>
            </a:pPr>
            <a:r>
              <a:rPr/>
              <a:t>STEP 1 — gds.graph.project():</a:t>
            </a:r>
            <a:endParaRPr/>
          </a:p>
          <a:p>
            <a:pPr>
              <a:defRPr/>
            </a:pPr>
            <a:r>
              <a:rPr/>
              <a:t>Before running any algorithm, you project the relevant subgraph into memory. Why? Because GDS algorithms work on an optimised in-memory representation — not on the disk-based store. This separation is a performance design: you're telling GDS "I want to run algorithms on THIS subgraph (authors connected by CO_AUTHORED edges), not the entire database."</a:t>
            </a:r>
            <a:endParaRPr/>
          </a:p>
          <a:p>
            <a:pPr>
              <a:defRPr/>
            </a:pPr>
            <a:endParaRPr/>
          </a:p>
          <a:p>
            <a:pPr>
              <a:defRPr/>
            </a:pPr>
            <a:r>
              <a:rPr/>
              <a:t>UNDIRECTED orientation means the algorithm treats (Anna)→(Maria) and (Maria)→(Anna) as the same connection. For co-authorship, this makes sense — the collaboration is bidirectional regardless of how the WROTE edge is directed in the store.</a:t>
            </a:r>
            <a:endParaRPr/>
          </a:p>
          <a:p>
            <a:pPr>
              <a:defRPr/>
            </a:pPr>
            <a:endParaRPr/>
          </a:p>
          <a:p>
            <a:pPr>
              <a:defRPr/>
            </a:pPr>
            <a:r>
              <a:rPr/>
              <a:t>STEP 2 — gds.pageRank.stream():</a:t>
            </a:r>
            <a:endParaRPr/>
          </a:p>
          <a:p>
            <a:pPr>
              <a:defRPr/>
            </a:pPr>
            <a:r>
              <a:rPr/>
              <a:t>PageRank runs iteratively, propagating importance scores through the graph until they converge. The GDS library parallelises this across your CPU cores. The result: each author gets a score. The highest score goes to the author whose papers are cited by other highly-cited papers — recursive importance. Compare this to simply counting publications (degree) or citation counts: PageRank gives you influence, not just volume. In a real research network, this often surfaces "kingmaker" researchers whose endorsement carries enormous weight even if they don't publish prolifically themselves.</a:t>
            </a:r>
            <a:endParaRPr/>
          </a:p>
          <a:p>
            <a:pPr>
              <a:defRPr/>
            </a:pPr>
            <a:endParaRPr/>
          </a:p>
          <a:p>
            <a:pPr>
              <a:defRPr/>
            </a:pPr>
            <a:r>
              <a:rPr/>
              <a:t>STEP 3 — gds.louvain.write():</a:t>
            </a:r>
            <a:endParaRPr/>
          </a:p>
          <a:p>
            <a:pPr>
              <a:defRPr/>
            </a:pPr>
            <a:r>
              <a:rPr/>
              <a:t>Unlike stream() which returns results to your query, write() modifies the database directly. After this call, every :Author node has a 'community' integer property. Authors in the same community are a research cluster — people who collaborate closely together. You can then query: MATCH (a:Author) RETURN a.community, collect(a.name) to see who's in each cluster.</a:t>
            </a:r>
            <a:endParaRPr/>
          </a:p>
          <a:p>
            <a:pPr>
              <a:defRPr/>
            </a:pPr>
            <a:endParaRPr/>
          </a:p>
          <a:p>
            <a:pPr>
              <a:defRPr/>
            </a:pPr>
            <a:r>
              <a:rPr/>
              <a:t>One practical note: after finishing with a GDS projection, drop it with CALL gds.graph.drop('authorNet'). It stays in memory until the Neo4j process restarts otherwise, and on large graphs that's a significant chunk of RAM.</a:t>
            </a:r>
            <a:endParaRPr/>
          </a:p>
        </p:txBody>
      </p:sp>
      <p:sp>
        <p:nvSpPr>
          <p:cNvPr id="614851620"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39864" name="Slide Image Placeholder 1"/>
          <p:cNvSpPr>
            <a:spLocks noChangeAspect="1" noGrp="1" noRot="1"/>
          </p:cNvSpPr>
          <p:nvPr>
            <p:ph type="sldImg"/>
          </p:nvPr>
        </p:nvSpPr>
        <p:spPr bwMode="auto"/>
      </p:sp>
      <p:sp>
        <p:nvSpPr>
          <p:cNvPr id="306637311" name="Notes Placeholder 2"/>
          <p:cNvSpPr>
            <a:spLocks noGrp="1"/>
          </p:cNvSpPr>
          <p:nvPr>
            <p:ph type="body" idx="1"/>
          </p:nvPr>
        </p:nvSpPr>
        <p:spPr bwMode="auto"/>
        <p:txBody>
          <a:bodyPr/>
          <a:lstStyle/>
          <a:p>
            <a:pPr>
              <a:defRPr/>
            </a:pPr>
            <a:r>
              <a:rPr/>
              <a:t>This slide is your "interview ammunition" — concrete examples you can reference when asked "where are graph databases actually used?"</a:t>
            </a:r>
            <a:endParaRPr/>
          </a:p>
          <a:p>
            <a:pPr>
              <a:defRPr/>
            </a:pPr>
            <a:endParaRPr/>
          </a:p>
          <a:p>
            <a:pPr>
              <a:defRPr/>
            </a:pPr>
            <a:r>
              <a:rPr/>
              <a:t>FRAUD DETECTION — the killer app:</a:t>
            </a:r>
            <a:endParaRPr/>
          </a:p>
          <a:p>
            <a:pPr>
              <a:defRPr/>
            </a:pPr>
            <a:r>
              <a:rPr/>
              <a:t>A fraudster rarely acts alone. They use a network of fake accounts, shared device IDs, overlapping email addresses, and coordinated IP addresses. Checking each account in isolation (as a relational query would) misses the ring entirely. A graph query that says "find all accounts sharing a device fingerprint or phone number with this flagged account, within 3 hops" catches the entire ring in milliseconds. PayPal, Klarna, and most major banks use this pattern. It's the graph database use case with the clearest ROI.</a:t>
            </a:r>
            <a:endParaRPr/>
          </a:p>
          <a:p>
            <a:pPr>
              <a:defRPr/>
            </a:pPr>
            <a:endParaRPr/>
          </a:p>
          <a:p>
            <a:pPr>
              <a:defRPr/>
            </a:pPr>
            <a:r>
              <a:rPr/>
              <a:t>RECOMMENDATIONS — collaborative filtering:</a:t>
            </a:r>
            <a:endParaRPr/>
          </a:p>
          <a:p>
            <a:pPr>
              <a:defRPr/>
            </a:pPr>
            <a:r>
              <a:rPr/>
              <a:t>LinkedIn's "People You May Know" traverses: you → friend → friend-of-friend. Count mutual connections. Sort descending. That's your recommendation list. Spotify Radio, Netflix "Because You Watched X," Walmart's "Customers Also Bought" — all variations of this bipartite graph pattern. The graph naturally represents the "collaborative filtering" insight: people similar to you (connected via shared items or relationships) like things you might also like.</a:t>
            </a:r>
            <a:endParaRPr/>
          </a:p>
          <a:p>
            <a:pPr>
              <a:defRPr/>
            </a:pPr>
            <a:endParaRPr/>
          </a:p>
          <a:p>
            <a:pPr>
              <a:defRPr/>
            </a:pPr>
            <a:r>
              <a:rPr/>
              <a:t>KNOWLEDGE GRAPHS and GenAI:</a:t>
            </a:r>
            <a:endParaRPr/>
          </a:p>
          <a:p>
            <a:pPr>
              <a:defRPr/>
            </a:pPr>
            <a:r>
              <a:rPr/>
              <a:t>Google's Knowledge Graph powers the info boxes in search results. Bloomberg's entity graph links companies, executives, and news articles. The most interesting current application is GraphRAG — using a knowledge graph as the retrieval layer for large language models. Instead of doing pure semantic similarity search over unstructured text, the LLM traverses the graph to find relevant entities and relationships before generating an answer. This dramatically improves accuracy for factual questions.</a:t>
            </a:r>
            <a:endParaRPr/>
          </a:p>
          <a:p>
            <a:pPr>
              <a:defRPr/>
            </a:pPr>
            <a:endParaRPr/>
          </a:p>
          <a:p>
            <a:pPr>
              <a:defRPr/>
            </a:pPr>
            <a:r>
              <a:rPr/>
              <a:t>BIOINFORMATICS — one of the oldest graph problems:</a:t>
            </a:r>
            <a:endParaRPr/>
          </a:p>
          <a:p>
            <a:pPr>
              <a:defRPr/>
            </a:pPr>
            <a:r>
              <a:rPr/>
              <a:t>Protein-protein interaction networks, metabolic pathways, drug-target graphs. Hetionet is a public biomedical knowledge graph with 47,000 nodes and 2.2 million edges spanning diseases, genes, drugs, and tissues. Researchers use it to discover drug repurposing opportunities — "this drug targets this protein; are there other diseases connected to this protein via this pathway?" Graph traversal makes these multi-hop questions tractable.</a:t>
            </a:r>
            <a:endParaRPr/>
          </a:p>
        </p:txBody>
      </p:sp>
      <p:sp>
        <p:nvSpPr>
          <p:cNvPr id="1150319796"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2152542" name="Slide Image Placeholder 1"/>
          <p:cNvSpPr>
            <a:spLocks noChangeAspect="1" noGrp="1" noRot="1"/>
          </p:cNvSpPr>
          <p:nvPr>
            <p:ph type="sldImg"/>
          </p:nvPr>
        </p:nvSpPr>
        <p:spPr bwMode="auto"/>
      </p:sp>
      <p:sp>
        <p:nvSpPr>
          <p:cNvPr id="1619092460" name="Notes Placeholder 2"/>
          <p:cNvSpPr>
            <a:spLocks noGrp="1"/>
          </p:cNvSpPr>
          <p:nvPr>
            <p:ph type="body" idx="1"/>
          </p:nvPr>
        </p:nvSpPr>
        <p:spPr bwMode="auto"/>
        <p:txBody>
          <a:bodyPr/>
          <a:lstStyle/>
          <a:p>
            <a:pPr>
              <a:defRPr/>
            </a:pPr>
            <a:r>
              <a:rPr/>
              <a:t>The Panama Papers is the best real-world story in the history of graph databases, and it's worth telling properly.</a:t>
            </a:r>
            <a:endParaRPr/>
          </a:p>
          <a:p>
            <a:pPr>
              <a:defRPr/>
            </a:pPr>
            <a:endParaRPr/>
          </a:p>
          <a:p>
            <a:pPr>
              <a:defRPr/>
            </a:pPr>
            <a:r>
              <a:rPr/>
              <a:t>THE PROBLEM:</a:t>
            </a:r>
            <a:endParaRPr/>
          </a:p>
          <a:p>
            <a:pPr>
              <a:defRPr/>
            </a:pPr>
            <a:r>
              <a:rPr/>
              <a:t>In April 2016, ICIJ received 11.5 million leaked documents from Mossack Fonseca — a Panamanian law firm specialising in offshore shell companies. 2.6 terabytes. 40 years of records. The documents revealed how wealthy individuals, politicians, and criminals used offshore structures to hide assets and evade taxes.</a:t>
            </a:r>
            <a:endParaRPr/>
          </a:p>
          <a:p>
            <a:pPr>
              <a:defRPr/>
            </a:pPr>
            <a:endParaRPr/>
          </a:p>
          <a:p>
            <a:pPr>
              <a:defRPr/>
            </a:pPr>
            <a:r>
              <a:rPr/>
              <a:t>The challenge wasn't storage — it was connection. The interesting information wasn't in any single document. It was in the network of relationships between documents: "Is the company registered in the British Virgin Islands owned by the same person who shares an address with this oligarch registered in Panama?" With spreadsheets or SQL, each journalist could only investigate their own jurisdiction. The cross-border connections were invisible.</a:t>
            </a:r>
            <a:endParaRPr/>
          </a:p>
          <a:p>
            <a:pPr>
              <a:defRPr/>
            </a:pPr>
            <a:endParaRPr/>
          </a:p>
          <a:p>
            <a:pPr>
              <a:defRPr/>
            </a:pPr>
            <a:r>
              <a:rPr/>
              <a:t>THE SOLUTION:</a:t>
            </a:r>
            <a:endParaRPr/>
          </a:p>
          <a:p>
            <a:pPr>
              <a:defRPr/>
            </a:pPr>
            <a:r>
              <a:rPr/>
              <a:t>ICIJ used Neo4j as the backend for Linkurious — a visual graph exploration tool built for investigative journalism. They modelled 214,000+ offshore entities, 127,000+ officers (directors, shareholders, beneficiaries), and 151,000+ addresses as nodes. The edges modelled SHAREHOLDER_OF, OFFICER_OF, REGISTERED_AT, and SIMILAR_ADDRESS_TO relationships.</a:t>
            </a:r>
            <a:endParaRPr/>
          </a:p>
          <a:p>
            <a:pPr>
              <a:defRPr/>
            </a:pPr>
            <a:endParaRPr/>
          </a:p>
          <a:p>
            <a:pPr>
              <a:defRPr/>
            </a:pPr>
            <a:r>
              <a:rPr/>
              <a:t>A journalist in Munich could type "Vladimir Putin" and instantly see all companies connected to his associates within 3 hops, across Panama, BVI, Luxembourg, and Hong Kong — a query that previously would have taken months of manual cross-referencing. 150 newsrooms in 80 countries worked simultaneously on the same graph.</a:t>
            </a:r>
            <a:endParaRPr/>
          </a:p>
          <a:p>
            <a:pPr>
              <a:defRPr/>
            </a:pPr>
            <a:endParaRPr/>
          </a:p>
          <a:p>
            <a:pPr>
              <a:defRPr/>
            </a:pPr>
            <a:r>
              <a:rPr/>
              <a:t>THE OUTCOME:</a:t>
            </a:r>
            <a:endParaRPr/>
          </a:p>
          <a:p>
            <a:pPr>
              <a:defRPr/>
            </a:pPr>
            <a:r>
              <a:rPr/>
              <a:t>Within one year of publication: the Prime Minister of Iceland resigned, new legislation was enacted in 79 countries, over $1.2 billion was recovered in taxes and fines, and the project won the 2017 Pulitzer Prize.</a:t>
            </a:r>
            <a:endParaRPr/>
          </a:p>
          <a:p>
            <a:pPr>
              <a:defRPr/>
            </a:pPr>
            <a:endParaRPr/>
          </a:p>
          <a:p>
            <a:pPr>
              <a:defRPr/>
            </a:pPr>
            <a:r>
              <a:rPr/>
              <a:t>The entire ICIJ Offshore Leaks dataset is now publicly browsable at offshoreleaks.icij.org. I genuinely recommend spending 15 minutes there — it's one of the most compelling demonstrations of graph thinking you'll ever encounter, and you can feel the technology working in real time.</a:t>
            </a:r>
            <a:endParaRPr/>
          </a:p>
        </p:txBody>
      </p:sp>
      <p:sp>
        <p:nvSpPr>
          <p:cNvPr id="2091860599" name="Slide Number Placeholder 3"/>
          <p:cNvSpPr>
            <a:spLocks noGrp="1"/>
          </p:cNvSpPr>
          <p:nvPr>
            <p:ph type="sldNum" sz="quarter" idx="10"/>
          </p:nvPr>
        </p:nvSpPr>
        <p:spPr bwMode="auto"/>
        <p:txBody>
          <a:bodyPr/>
          <a:lstStyle/>
          <a:p>
            <a:pPr>
              <a:defRPr/>
            </a:pPr>
            <a:fld id="{F7021451-1387-4CA6-816F-3879F97B5CBC}" type="slidenum">
              <a:rPr lang="en-US"/>
              <a:t>35</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6796890" name="Slide Image Placeholder 1"/>
          <p:cNvSpPr>
            <a:spLocks noChangeAspect="1" noGrp="1" noRot="1"/>
          </p:cNvSpPr>
          <p:nvPr>
            <p:ph type="sldImg"/>
          </p:nvPr>
        </p:nvSpPr>
        <p:spPr bwMode="auto"/>
      </p:sp>
      <p:sp>
        <p:nvSpPr>
          <p:cNvPr id="1511191170" name="Notes Placeholder 2"/>
          <p:cNvSpPr>
            <a:spLocks noGrp="1"/>
          </p:cNvSpPr>
          <p:nvPr>
            <p:ph type="body" idx="1"/>
          </p:nvPr>
        </p:nvSpPr>
        <p:spPr bwMode="auto"/>
        <p:txBody>
          <a:bodyPr/>
          <a:lstStyle/>
          <a:p>
            <a:pPr>
              <a:defRPr/>
            </a:pPr>
            <a:r>
              <a:rPr/>
              <a:t>Module 6 is the lab. This is where everything we've talked about for the past three hours gets grounded in real commands on a real database.</a:t>
            </a:r>
            <a:endParaRPr/>
          </a:p>
          <a:p>
            <a:pPr>
              <a:defRPr/>
            </a:pPr>
            <a:endParaRPr/>
          </a:p>
          <a:p>
            <a:pPr>
              <a:defRPr/>
            </a:pPr>
            <a:r>
              <a:rPr/>
              <a:t>The scenario you're going to build: a small version of the research knowledge graph we've been using as our running example. You'll create :Author, :Paper, and :Topic nodes; connect them with :WROTE, :ABOUT, and :CITES edges; run pattern-matching queries, shortest-path traversals, and a PageRank algorithm. By the end, you'll have personally run every major concept from this lecture.</a:t>
            </a:r>
            <a:endParaRPr/>
          </a:p>
          <a:p>
            <a:pPr>
              <a:defRPr/>
            </a:pPr>
            <a:endParaRPr/>
          </a:p>
          <a:p>
            <a:pPr>
              <a:defRPr/>
            </a:pPr>
            <a:r>
              <a:rPr/>
              <a:t>The setup: Neo4j 5.20 Community Edition inside Docker, accessed via cypher-shell in the terminal. This is exactly the workflow you'd use as a developer at any company running Neo4j.</a:t>
            </a:r>
            <a:endParaRPr/>
          </a:p>
          <a:p>
            <a:pPr>
              <a:defRPr/>
            </a:pPr>
            <a:endParaRPr/>
          </a:p>
          <a:p>
            <a:pPr>
              <a:defRPr/>
            </a:pPr>
            <a:r>
              <a:rPr/>
              <a:t>Five habits to build right now — before you touch the keyboard:</a:t>
            </a:r>
            <a:endParaRPr/>
          </a:p>
          <a:p>
            <a:pPr>
              <a:defRPr/>
            </a:pPr>
            <a:r>
              <a:rPr/>
              <a:t>1. Always create constraints BEFORE loading data. Constraints are checked at write time. Adding them after is slower and riskier.</a:t>
            </a:r>
            <a:endParaRPr/>
          </a:p>
          <a:p>
            <a:pPr>
              <a:defRPr/>
            </a:pPr>
            <a:r>
              <a:rPr/>
              <a:t>2. Use MERGE, not CREATE, for anything that might run more than once. This prevents duplicate data.</a:t>
            </a:r>
            <a:endParaRPr/>
          </a:p>
          <a:p>
            <a:pPr>
              <a:defRPr/>
            </a:pPr>
            <a:r>
              <a:rPr/>
              <a:t>3. Always EXPLAIN a query before running it at scale. Check that the plan shows NodeIndexSeek, not AllNodesScan.</a:t>
            </a:r>
            <a:endParaRPr/>
          </a:p>
          <a:p>
            <a:pPr>
              <a:defRPr/>
            </a:pPr>
            <a:r>
              <a:rPr/>
              <a:t>4. DETACH DELETE when removing nodes. Neo4j will throw an error if you try to delete a node that still has edges attached.</a:t>
            </a:r>
            <a:endParaRPr/>
          </a:p>
          <a:p>
            <a:pPr>
              <a:defRPr/>
            </a:pPr>
            <a:r>
              <a:rPr/>
              <a:t>5. Drop your GDS projection after using it. CALL gds.graph.drop('graphName') frees the memory.</a:t>
            </a:r>
            <a:endParaRPr/>
          </a:p>
          <a:p>
            <a:pPr>
              <a:defRPr/>
            </a:pPr>
            <a:endParaRPr/>
          </a:p>
          <a:p>
            <a:pPr>
              <a:defRPr/>
            </a:pPr>
            <a:r>
              <a:rPr/>
              <a:t>If you run into errors — and you will, that's normal — the troubleshooting slide at the end of the lab section covers every common problem. Check it before asking for help, because 90% of lab errors fall into the six categories listed there.</a:t>
            </a:r>
            <a:endParaRPr/>
          </a:p>
        </p:txBody>
      </p:sp>
      <p:sp>
        <p:nvSpPr>
          <p:cNvPr id="447922981" name="Slide Number Placeholder 3"/>
          <p:cNvSpPr>
            <a:spLocks noGrp="1"/>
          </p:cNvSpPr>
          <p:nvPr>
            <p:ph type="sldNum" sz="quarter" idx="10"/>
          </p:nvPr>
        </p:nvSpPr>
        <p:spPr bwMode="auto"/>
        <p:txBody>
          <a:bodyPr/>
          <a:lstStyle/>
          <a:p>
            <a:pPr>
              <a:defRPr/>
            </a:pPr>
            <a:fld id="{F7021451-1387-4CA6-816F-3879F97B5CBC}" type="slidenum">
              <a:rPr lang="en-US"/>
              <a:t>36</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6297471" name="Slide Image Placeholder 1"/>
          <p:cNvSpPr>
            <a:spLocks noChangeAspect="1" noGrp="1" noRot="1"/>
          </p:cNvSpPr>
          <p:nvPr>
            <p:ph type="sldImg"/>
          </p:nvPr>
        </p:nvSpPr>
        <p:spPr bwMode="auto"/>
      </p:sp>
      <p:sp>
        <p:nvSpPr>
          <p:cNvPr id="1110677288" name="Notes Placeholder 2"/>
          <p:cNvSpPr>
            <a:spLocks noGrp="1"/>
          </p:cNvSpPr>
          <p:nvPr>
            <p:ph type="body" idx="1"/>
          </p:nvPr>
        </p:nvSpPr>
        <p:spPr bwMode="auto"/>
        <p:txBody>
          <a:bodyPr/>
          <a:lstStyle/>
          <a:p>
            <a:pPr>
              <a:defRPr/>
            </a:pPr>
            <a:r>
              <a:rPr/>
              <a:t>Before we start typing commands, let's make sure we all have the same mental picture of what we're building and why each step matters.</a:t>
            </a:r>
            <a:endParaRPr/>
          </a:p>
          <a:p>
            <a:pPr>
              <a:defRPr/>
            </a:pPr>
            <a:endParaRPr/>
          </a:p>
          <a:p>
            <a:pPr>
              <a:defRPr/>
            </a:pPr>
            <a:r>
              <a:rPr/>
              <a:t>By the end of this lab, you'll have personally:</a:t>
            </a:r>
            <a:endParaRPr/>
          </a:p>
          <a:p>
            <a:pPr>
              <a:defRPr/>
            </a:pPr>
            <a:r>
              <a:rPr/>
              <a:t>✓ Pulled and started an official Neo4j Docker image</a:t>
            </a:r>
            <a:endParaRPr/>
          </a:p>
          <a:p>
            <a:pPr>
              <a:defRPr/>
            </a:pPr>
            <a:r>
              <a:rPr/>
              <a:t>✓ Connected to it via cypher-shell (the interactive Cypher terminal)</a:t>
            </a:r>
            <a:endParaRPr/>
          </a:p>
          <a:p>
            <a:pPr>
              <a:defRPr/>
            </a:pPr>
            <a:r>
              <a:rPr/>
              <a:t>✓ Created nodes with labels and properties</a:t>
            </a:r>
            <a:endParaRPr/>
          </a:p>
          <a:p>
            <a:pPr>
              <a:defRPr/>
            </a:pPr>
            <a:r>
              <a:rPr/>
              <a:t>✓ Created typed, directed relationships between those nodes</a:t>
            </a:r>
            <a:endParaRPr/>
          </a:p>
          <a:p>
            <a:pPr>
              <a:defRPr/>
            </a:pPr>
            <a:r>
              <a:rPr/>
              <a:t>✓ Queried the graph with pattern matching (MATCH)</a:t>
            </a:r>
            <a:endParaRPr/>
          </a:p>
          <a:p>
            <a:pPr>
              <a:defRPr/>
            </a:pPr>
            <a:r>
              <a:rPr/>
              <a:t>✓ Traversed variable-length paths and found shortest paths</a:t>
            </a:r>
            <a:endParaRPr/>
          </a:p>
          <a:p>
            <a:pPr>
              <a:defRPr/>
            </a:pPr>
            <a:r>
              <a:rPr/>
              <a:t>✓ Run a PageRank and a Louvain community detection algorithm via GDS</a:t>
            </a:r>
            <a:endParaRPr/>
          </a:p>
          <a:p>
            <a:pPr>
              <a:defRPr/>
            </a:pPr>
            <a:r>
              <a:rPr/>
              <a:t>✓ Added indexes and constraints</a:t>
            </a:r>
            <a:endParaRPr/>
          </a:p>
          <a:p>
            <a:pPr>
              <a:defRPr/>
            </a:pPr>
            <a:r>
              <a:rPr/>
              <a:t>✓ Cleaned up safely (DETACH DELETE + docker rm)</a:t>
            </a:r>
            <a:endParaRPr/>
          </a:p>
          <a:p>
            <a:pPr>
              <a:defRPr/>
            </a:pPr>
            <a:endParaRPr/>
          </a:p>
          <a:p>
            <a:pPr>
              <a:defRPr/>
            </a:pPr>
            <a:r>
              <a:rPr/>
              <a:t>That's a complete end-to-end cycle. Every step in a real project looks like this sequence.</a:t>
            </a:r>
            <a:endParaRPr/>
          </a:p>
          <a:p>
            <a:pPr>
              <a:defRPr/>
            </a:pPr>
            <a:endParaRPr/>
          </a:p>
          <a:p>
            <a:pPr>
              <a:defRPr/>
            </a:pPr>
            <a:r>
              <a:rPr/>
              <a:t>Before you run anything, do a quick prerequisites check:</a:t>
            </a:r>
            <a:endParaRPr/>
          </a:p>
          <a:p>
            <a:pPr>
              <a:defRPr/>
            </a:pPr>
            <a:r>
              <a:rPr/>
              <a:t>- docker --version should print 20.x or later</a:t>
            </a:r>
            <a:endParaRPr/>
          </a:p>
          <a:p>
            <a:pPr>
              <a:defRPr/>
            </a:pPr>
            <a:r>
              <a:rPr/>
              <a:t>- Ports 7474 (Browser UI) and 7687 (Bolt protocol) must be free — run lsof -i :7474 and lsof -i :7687 to check</a:t>
            </a:r>
            <a:endParaRPr/>
          </a:p>
          <a:p>
            <a:pPr>
              <a:defRPr/>
            </a:pPr>
            <a:r>
              <a:rPr/>
              <a:t>- You need about 1 GB of free RAM for Neo4j's JVM heap</a:t>
            </a:r>
            <a:endParaRPr/>
          </a:p>
          <a:p>
            <a:pPr>
              <a:defRPr/>
            </a:pPr>
            <a:r>
              <a:rPr/>
              <a:t>- Internet access to pull the neo4j:5.20-community image (~600 MB download)</a:t>
            </a:r>
            <a:endParaRPr/>
          </a:p>
          <a:p>
            <a:pPr>
              <a:defRPr/>
            </a:pPr>
            <a:endParaRPr/>
          </a:p>
          <a:p>
            <a:pPr>
              <a:defRPr/>
            </a:pPr>
            <a:r>
              <a:rPr/>
              <a:t>If you're on a lab machine that's already cached the image, Step 1 will be near-instant. If not, run the docker pull command now while I continue talking — it runs in the background.</a:t>
            </a:r>
            <a:endParaRPr/>
          </a:p>
          <a:p>
            <a:pPr>
              <a:defRPr/>
            </a:pPr>
            <a:endParaRPr/>
          </a:p>
          <a:p>
            <a:pPr>
              <a:defRPr/>
            </a:pPr>
            <a:r>
              <a:rPr/>
              <a:t>Password note: we set NEO4J_AUTH=neo4j/AdmPassw0rd — that's a zero in "Passw0rd," not the letter O. Neo4j 5.x normally forces a password change on first login, but setting it via the environment variable bypasses that prompt. If you use a different password, substitute it in every cypher-shell command throughout the lab.</a:t>
            </a:r>
            <a:endParaRPr/>
          </a:p>
        </p:txBody>
      </p:sp>
      <p:sp>
        <p:nvSpPr>
          <p:cNvPr id="949967580" name="Slide Number Placeholder 3"/>
          <p:cNvSpPr>
            <a:spLocks noGrp="1"/>
          </p:cNvSpPr>
          <p:nvPr>
            <p:ph type="sldNum" sz="quarter" idx="10"/>
          </p:nvPr>
        </p:nvSpPr>
        <p:spPr bwMode="auto"/>
        <p:txBody>
          <a:bodyPr/>
          <a:lstStyle/>
          <a:p>
            <a:pPr>
              <a:defRPr/>
            </a:pPr>
            <a:fld id="{F7021451-1387-4CA6-816F-3879F97B5CBC}" type="slidenum">
              <a:rPr lang="en-US"/>
              <a:t>37</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9909204" name="Slide Image Placeholder 1"/>
          <p:cNvSpPr>
            <a:spLocks noChangeAspect="1" noGrp="1" noRot="1"/>
          </p:cNvSpPr>
          <p:nvPr>
            <p:ph type="sldImg"/>
          </p:nvPr>
        </p:nvSpPr>
        <p:spPr bwMode="auto"/>
      </p:sp>
      <p:sp>
        <p:nvSpPr>
          <p:cNvPr id="1010539255" name="Notes Placeholder 2"/>
          <p:cNvSpPr>
            <a:spLocks noGrp="1"/>
          </p:cNvSpPr>
          <p:nvPr>
            <p:ph type="body" idx="1"/>
          </p:nvPr>
        </p:nvSpPr>
        <p:spPr bwMode="auto"/>
        <p:txBody>
          <a:bodyPr/>
          <a:lstStyle/>
          <a:p>
            <a:pPr>
              <a:defRPr/>
            </a:pPr>
            <a:r>
              <a:rPr/>
              <a:t>Let's walk through the docker run command line by line. Understanding each flag is useful — you'll write similar commands for other databases.</a:t>
            </a:r>
            <a:endParaRPr/>
          </a:p>
          <a:p>
            <a:pPr>
              <a:defRPr/>
            </a:pPr>
            <a:endParaRPr/>
          </a:p>
          <a:p>
            <a:pPr>
              <a:defRPr/>
            </a:pPr>
            <a:r>
              <a:rPr/>
              <a:t>docker pull neo4j:5.20-community</a:t>
            </a:r>
            <a:endParaRPr/>
          </a:p>
          <a:p>
            <a:pPr>
              <a:defRPr/>
            </a:pPr>
            <a:r>
              <a:rPr/>
              <a:t>Downloads the official Neo4j 5.20 Community Edition image from Docker Hub. "Community" means no clustering and no online backup, but all core graph features work — including APOC and GDS, which we're adding via an environment variable.</a:t>
            </a:r>
            <a:endParaRPr/>
          </a:p>
          <a:p>
            <a:pPr>
              <a:defRPr/>
            </a:pPr>
            <a:endParaRPr/>
          </a:p>
          <a:p>
            <a:pPr>
              <a:defRPr/>
            </a:pPr>
            <a:r>
              <a:rPr/>
              <a:t>docker run -d</a:t>
            </a:r>
            <a:endParaRPr/>
          </a:p>
          <a:p>
            <a:pPr>
              <a:defRPr/>
            </a:pPr>
            <a:r>
              <a:rPr/>
              <a:t>Run in detached mode — the container runs as a background process. Without -d, it would lock your terminal until you stop it.</a:t>
            </a:r>
            <a:endParaRPr/>
          </a:p>
          <a:p>
            <a:pPr>
              <a:defRPr/>
            </a:pPr>
            <a:endParaRPr/>
          </a:p>
          <a:p>
            <a:pPr>
              <a:defRPr/>
            </a:pPr>
            <a:r>
              <a:rPr/>
              <a:t>--name neo4j-lab</a:t>
            </a:r>
            <a:endParaRPr/>
          </a:p>
          <a:p>
            <a:pPr>
              <a:defRPr/>
            </a:pPr>
            <a:r>
              <a:rPr/>
              <a:t>A human-readable name for the container. Without this, Docker generates a random name like "eager_feynman." The name lets you run docker logs neo4j-lab and docker stop neo4j-lab without looking up the container ID.</a:t>
            </a:r>
            <a:endParaRPr/>
          </a:p>
          <a:p>
            <a:pPr>
              <a:defRPr/>
            </a:pPr>
            <a:endParaRPr/>
          </a:p>
          <a:p>
            <a:pPr>
              <a:defRPr/>
            </a:pPr>
            <a:r>
              <a:rPr/>
              <a:t>-p 7474:7474</a:t>
            </a:r>
            <a:endParaRPr/>
          </a:p>
          <a:p>
            <a:pPr>
              <a:defRPr/>
            </a:pPr>
            <a:r>
              <a:rPr/>
              <a:t>Maps your machine's port 7474 to the container's port 7474. This is the Neo4j Browser — a web-based visual query tool. Open http://localhost:7474 in your browser after starting the container.</a:t>
            </a:r>
            <a:endParaRPr/>
          </a:p>
          <a:p>
            <a:pPr>
              <a:defRPr/>
            </a:pPr>
            <a:endParaRPr/>
          </a:p>
          <a:p>
            <a:pPr>
              <a:defRPr/>
            </a:pPr>
            <a:r>
              <a:rPr/>
              <a:t>-p 7687:7687</a:t>
            </a:r>
            <a:endParaRPr/>
          </a:p>
          <a:p>
            <a:pPr>
              <a:defRPr/>
            </a:pPr>
            <a:r>
              <a:rPr/>
              <a:t>Maps the Bolt protocol port. This is how cypher-shell connects, and also how the Python neo4j driver, Java driver, and JavaScript driver connect in real applications.</a:t>
            </a:r>
            <a:endParaRPr/>
          </a:p>
          <a:p>
            <a:pPr>
              <a:defRPr/>
            </a:pPr>
            <a:endParaRPr/>
          </a:p>
          <a:p>
            <a:pPr>
              <a:defRPr/>
            </a:pPr>
            <a:r>
              <a:rPr/>
              <a:t>-e NEO4J_AUTH=neo4j/AdmPassw0rd</a:t>
            </a:r>
            <a:endParaRPr/>
          </a:p>
          <a:p>
            <a:pPr>
              <a:defRPr/>
            </a:pPr>
            <a:r>
              <a:rPr/>
              <a:t>Sets the initial credentials. The format is username/password.</a:t>
            </a:r>
            <a:endParaRPr/>
          </a:p>
          <a:p>
            <a:pPr>
              <a:defRPr/>
            </a:pPr>
            <a:endParaRPr/>
          </a:p>
          <a:p>
            <a:pPr>
              <a:defRPr/>
            </a:pPr>
            <a:r>
              <a:rPr/>
              <a:t>-e NEO4J_PLUGINS='["apoc","graph-data-science"]'</a:t>
            </a:r>
            <a:endParaRPr/>
          </a:p>
          <a:p>
            <a:pPr>
              <a:defRPr/>
            </a:pPr>
            <a:r>
              <a:rPr/>
              <a:t>Automatically downloads and installs the APOC (utility procedures) and GDS (graph algorithms) plugins on first startup. Without this, you'd need to download JAR files manually and place them in the correct directory inside the container.</a:t>
            </a:r>
            <a:endParaRPr/>
          </a:p>
          <a:p>
            <a:pPr>
              <a:defRPr/>
            </a:pPr>
            <a:endParaRPr/>
          </a:p>
          <a:p>
            <a:pPr>
              <a:defRPr/>
            </a:pPr>
            <a:r>
              <a:rPr/>
              <a:t>After running this, wait 20-30 seconds for Neo4j to initialise — it's a JVM application with non-trivial startup time. Check the logs with docker logs neo4j-lab | tail -20. Look for "Started." or "Remote interface available at http://..." before trying to connect.</a:t>
            </a:r>
            <a:endParaRPr/>
          </a:p>
        </p:txBody>
      </p:sp>
      <p:sp>
        <p:nvSpPr>
          <p:cNvPr id="396997592" name="Slide Number Placeholder 3"/>
          <p:cNvSpPr>
            <a:spLocks noGrp="1"/>
          </p:cNvSpPr>
          <p:nvPr>
            <p:ph type="sldNum" sz="quarter" idx="10"/>
          </p:nvPr>
        </p:nvSpPr>
        <p:spPr bwMode="auto"/>
        <p:txBody>
          <a:bodyPr/>
          <a:lstStyle/>
          <a:p>
            <a:pPr>
              <a:defRPr/>
            </a:pPr>
            <a:fld id="{F7021451-1387-4CA6-816F-3879F97B5CBC}" type="slidenum">
              <a:rPr lang="en-US"/>
              <a:t>38</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2972323" name="Slide Image Placeholder 1"/>
          <p:cNvSpPr>
            <a:spLocks noChangeAspect="1" noGrp="1" noRot="1"/>
          </p:cNvSpPr>
          <p:nvPr>
            <p:ph type="sldImg"/>
          </p:nvPr>
        </p:nvSpPr>
        <p:spPr bwMode="auto"/>
      </p:sp>
      <p:sp>
        <p:nvSpPr>
          <p:cNvPr id="1009093488" name="Notes Placeholder 2"/>
          <p:cNvSpPr>
            <a:spLocks noGrp="1"/>
          </p:cNvSpPr>
          <p:nvPr>
            <p:ph type="body" idx="1"/>
          </p:nvPr>
        </p:nvSpPr>
        <p:spPr bwMode="auto"/>
        <p:txBody>
          <a:bodyPr/>
          <a:lstStyle/>
          <a:p>
            <a:pPr>
              <a:defRPr/>
            </a:pPr>
            <a:r>
              <a:rPr/>
              <a:t>Cypher-shell is your primary interface today. It's the equivalent of psql for PostgreSQL or cqlsh for Cassandra — a clean, interactive command-line client.</a:t>
            </a:r>
            <a:endParaRPr/>
          </a:p>
          <a:p>
            <a:pPr>
              <a:defRPr/>
            </a:pPr>
            <a:endParaRPr/>
          </a:p>
          <a:p>
            <a:pPr>
              <a:defRPr/>
            </a:pPr>
            <a:r>
              <a:rPr/>
              <a:t>docker exec -it neo4j-lab cypher-shell -u neo4j -p AdmPassw0rd</a:t>
            </a:r>
            <a:endParaRPr/>
          </a:p>
          <a:p>
            <a:pPr>
              <a:defRPr/>
            </a:pPr>
            <a:r>
              <a:rPr/>
              <a:t>Breaking this down: docker exec runs a command inside an already-running container. -it keeps the connection interactive (keeps stdin open and allocates a terminal). cypher-shell is the executable. -u and -p are the credentials.</a:t>
            </a:r>
            <a:endParaRPr/>
          </a:p>
          <a:p>
            <a:pPr>
              <a:defRPr/>
            </a:pPr>
            <a:endParaRPr/>
          </a:p>
          <a:p>
            <a:pPr>
              <a:defRPr/>
            </a:pPr>
            <a:r>
              <a:rPr/>
              <a:t>Why run cypher-shell inside the container rather than installing it on your machine? Because cypher-shell needs to match the Neo4j version exactly. Running it inside the container guarantees that — no version mismatch possible.</a:t>
            </a:r>
            <a:endParaRPr/>
          </a:p>
          <a:p>
            <a:pPr>
              <a:defRPr/>
            </a:pPr>
            <a:endParaRPr/>
          </a:p>
          <a:p>
            <a:pPr>
              <a:defRPr/>
            </a:pPr>
            <a:r>
              <a:rPr/>
              <a:t>When you're connected, the prompt looks like: neo4j@neo4j&gt;</a:t>
            </a:r>
            <a:endParaRPr/>
          </a:p>
          <a:p>
            <a:pPr>
              <a:defRPr/>
            </a:pPr>
            <a:r>
              <a:rPr/>
              <a:t>The part before @ is your username; after @ is the current database name. You can switch databases with USE database_name.</a:t>
            </a:r>
            <a:endParaRPr/>
          </a:p>
          <a:p>
            <a:pPr>
              <a:defRPr/>
            </a:pPr>
            <a:endParaRPr/>
          </a:p>
          <a:p>
            <a:pPr>
              <a:defRPr/>
            </a:pPr>
            <a:r>
              <a:rPr/>
              <a:t>Useful shell commands (these start with : and are not Cypher):</a:t>
            </a:r>
            <a:endParaRPr/>
          </a:p>
          <a:p>
            <a:pPr>
              <a:defRPr/>
            </a:pPr>
            <a:r>
              <a:rPr/>
              <a:t>- :help — all available shell commands</a:t>
            </a:r>
            <a:endParaRPr/>
          </a:p>
          <a:p>
            <a:pPr>
              <a:defRPr/>
            </a:pPr>
            <a:r>
              <a:rPr/>
              <a:t>- :exit or Ctrl+D — quit</a:t>
            </a:r>
            <a:endParaRPr/>
          </a:p>
          <a:p>
            <a:pPr>
              <a:defRPr/>
            </a:pPr>
            <a:r>
              <a:rPr/>
              <a:t>- :params — view/set query parameters</a:t>
            </a:r>
            <a:endParaRPr/>
          </a:p>
          <a:p>
            <a:pPr>
              <a:defRPr/>
            </a:pPr>
            <a:r>
              <a:rPr/>
              <a:t>- :begin, :commit, :rollback — manual transaction control</a:t>
            </a:r>
            <a:endParaRPr/>
          </a:p>
          <a:p>
            <a:pPr>
              <a:defRPr/>
            </a:pPr>
            <a:r>
              <a:rPr/>
              <a:t>- :source /path/to/file.cypher — run a Cypher file (useful for running setup scripts)</a:t>
            </a:r>
            <a:endParaRPr/>
          </a:p>
          <a:p>
            <a:pPr>
              <a:defRPr/>
            </a:pPr>
            <a:endParaRPr/>
          </a:p>
          <a:p>
            <a:pPr>
              <a:defRPr/>
            </a:pPr>
            <a:r>
              <a:rPr/>
              <a:t>Useful Cypher system queries:</a:t>
            </a:r>
            <a:endParaRPr/>
          </a:p>
          <a:p>
            <a:pPr>
              <a:defRPr/>
            </a:pPr>
            <a:r>
              <a:rPr/>
              <a:t>- CALL db.info(); — shows the current database status and version</a:t>
            </a:r>
            <a:endParaRPr/>
          </a:p>
          <a:p>
            <a:pPr>
              <a:defRPr/>
            </a:pPr>
            <a:r>
              <a:rPr/>
              <a:t>- SHOW DATABASES; — lists all databases (you have 'neo4j' for your data and 'system' for admin)</a:t>
            </a:r>
            <a:endParaRPr/>
          </a:p>
          <a:p>
            <a:pPr>
              <a:defRPr/>
            </a:pPr>
            <a:r>
              <a:rPr/>
              <a:t>- CALL db.schema.visualization(); — shows the schema as a graph: which labels exist and how they connect. Very useful after loading data.</a:t>
            </a:r>
            <a:endParaRPr/>
          </a:p>
          <a:p>
            <a:pPr>
              <a:defRPr/>
            </a:pPr>
            <a:endParaRPr/>
          </a:p>
          <a:p>
            <a:pPr>
              <a:defRPr/>
            </a:pPr>
            <a:r>
              <a:rPr/>
              <a:t>Pro tip: you can run a Cypher file non-interactively with:</a:t>
            </a:r>
            <a:endParaRPr/>
          </a:p>
          <a:p>
            <a:pPr>
              <a:defRPr/>
            </a:pPr>
            <a:r>
              <a:rPr/>
              <a:t>docker exec -i neo4j-lab cypher-shell -u neo4j -p AdmPassw0rd &lt; setup.cypher</a:t>
            </a:r>
            <a:endParaRPr/>
          </a:p>
          <a:p>
            <a:pPr>
              <a:defRPr/>
            </a:pPr>
            <a:r>
              <a:rPr/>
              <a:t>This is how you'd automate database initialisation in a CI/CD pipeline.</a:t>
            </a:r>
            <a:endParaRPr/>
          </a:p>
        </p:txBody>
      </p:sp>
      <p:sp>
        <p:nvSpPr>
          <p:cNvPr id="855247521" name="Slide Number Placeholder 3"/>
          <p:cNvSpPr>
            <a:spLocks noGrp="1"/>
          </p:cNvSpPr>
          <p:nvPr>
            <p:ph type="sldNum" sz="quarter" idx="10"/>
          </p:nvPr>
        </p:nvSpPr>
        <p:spPr bwMode="auto"/>
        <p:txBody>
          <a:bodyPr/>
          <a:lstStyle/>
          <a:p>
            <a:pPr>
              <a:defRPr/>
            </a:pPr>
            <a:fld id="{F7021451-1387-4CA6-816F-3879F97B5CBC}" type="slidenum">
              <a:rPr lang="en-US"/>
              <a:t>39</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2466203" name="Slide Image Placeholder 1"/>
          <p:cNvSpPr>
            <a:spLocks noChangeAspect="1" noGrp="1" noRot="1"/>
          </p:cNvSpPr>
          <p:nvPr>
            <p:ph type="sldImg"/>
          </p:nvPr>
        </p:nvSpPr>
        <p:spPr bwMode="auto"/>
      </p:sp>
      <p:sp>
        <p:nvSpPr>
          <p:cNvPr id="550614046" name="Notes Placeholder 2"/>
          <p:cNvSpPr>
            <a:spLocks noGrp="1"/>
          </p:cNvSpPr>
          <p:nvPr>
            <p:ph type="body" idx="1"/>
          </p:nvPr>
        </p:nvSpPr>
        <p:spPr bwMode="auto"/>
        <p:txBody>
          <a:bodyPr/>
          <a:lstStyle/>
          <a:p>
            <a:pPr>
              <a:defRPr/>
            </a:pPr>
            <a:r>
              <a:rPr/>
              <a:t>Now we create the actual data. Read through every line before typing anything — understanding what you're doing is more valuable than speed.</a:t>
            </a:r>
            <a:endParaRPr/>
          </a:p>
          <a:p>
            <a:pPr>
              <a:defRPr/>
            </a:pPr>
            <a:endParaRPr/>
          </a:p>
          <a:p>
            <a:pPr>
              <a:defRPr/>
            </a:pPr>
            <a:r>
              <a:rPr/>
              <a:t>The scenario: we're modelling the ECE Department's research network. Three types of entities (authors, papers, topics) with deliberate design choices you should notice.</a:t>
            </a:r>
            <a:endParaRPr/>
          </a:p>
          <a:p>
            <a:pPr>
              <a:defRPr/>
            </a:pPr>
            <a:endParaRPr/>
          </a:p>
          <a:p>
            <a:pPr>
              <a:defRPr/>
            </a:pPr>
            <a:r>
              <a:rPr/>
              <a:t>:Author nodes have two properties:</a:t>
            </a:r>
            <a:endParaRPr/>
          </a:p>
          <a:p>
            <a:pPr>
              <a:defRPr/>
            </a:pPr>
            <a:r>
              <a:rPr/>
              <a:t>- 'orcid': a globally unique researcher identifier (like a DOI for people). Every academic has one. Using ORCID as the identifier is better than using 'name' because two researchers might share the name "Maria Papadopoulou" — but ORCIDs are unique globally. This is the unique key we'll put a constraint on.</a:t>
            </a:r>
            <a:endParaRPr/>
          </a:p>
          <a:p>
            <a:pPr>
              <a:defRPr/>
            </a:pPr>
            <a:r>
              <a:rPr/>
              <a:t>- 'name': the human-readable display name.</a:t>
            </a:r>
            <a:endParaRPr/>
          </a:p>
          <a:p>
            <a:pPr>
              <a:defRPr/>
            </a:pPr>
            <a:endParaRPr/>
          </a:p>
          <a:p>
            <a:pPr>
              <a:defRPr/>
            </a:pPr>
            <a:r>
              <a:rPr/>
              <a:t>:Paper nodes have 'doi' (unique identifier), 'title', and 'year'. DOI (Digital Object Identifier) is the unique ID for academic papers — like an ISBN for articles. We'll put a uniqueness constraint on doi in Step 7.</a:t>
            </a:r>
            <a:endParaRPr/>
          </a:p>
          <a:p>
            <a:pPr>
              <a:defRPr/>
            </a:pPr>
            <a:endParaRPr/>
          </a:p>
          <a:p>
            <a:pPr>
              <a:defRPr/>
            </a:pPr>
            <a:r>
              <a:rPr/>
              <a:t>:Topic nodes just have a 'name'. Simple.</a:t>
            </a:r>
            <a:endParaRPr/>
          </a:p>
          <a:p>
            <a:pPr>
              <a:defRPr/>
            </a:pPr>
            <a:endParaRPr/>
          </a:p>
          <a:p>
            <a:pPr>
              <a:defRPr/>
            </a:pPr>
            <a:r>
              <a:rPr/>
              <a:t>What happens if you run CREATE twice? You get duplicate nodes. Neo4j doesn't prevent this by default — that's what constraints are for (which we add in Step 7). If you accidentally duplicate your data during the lab, the fastest reset is: MATCH (n) DETACH DELETE n; — this wipes everything and you start fresh.</a:t>
            </a:r>
            <a:endParaRPr/>
          </a:p>
          <a:p>
            <a:pPr>
              <a:defRPr/>
            </a:pPr>
            <a:endParaRPr/>
          </a:p>
          <a:p>
            <a:pPr>
              <a:defRPr/>
            </a:pPr>
            <a:r>
              <a:rPr/>
              <a:t>In a production system, you'd never use raw CREATE for entities — you'd use MERGE to prevent duplicates. We're using CREATE here for educational clarity: you can see exactly what's being created and when.</a:t>
            </a:r>
            <a:endParaRPr/>
          </a:p>
          <a:p>
            <a:pPr>
              <a:defRPr/>
            </a:pPr>
            <a:endParaRPr/>
          </a:p>
          <a:p>
            <a:pPr>
              <a:defRPr/>
            </a:pPr>
            <a:r>
              <a:rPr/>
              <a:t>After running all the CREATE statements, verify your work: MATCH (n) RETURN labels(n) AS label, count(*) AS count;</a:t>
            </a:r>
            <a:endParaRPr/>
          </a:p>
          <a:p>
            <a:pPr>
              <a:defRPr/>
            </a:pPr>
            <a:r>
              <a:rPr/>
              <a:t>You should see: Author: 3, Paper: 2, Topic: 2. If the counts are wrong, debug before moving to Step 4.</a:t>
            </a:r>
            <a:endParaRPr/>
          </a:p>
        </p:txBody>
      </p:sp>
      <p:sp>
        <p:nvSpPr>
          <p:cNvPr id="1076496112" name="Slide Number Placeholder 3"/>
          <p:cNvSpPr>
            <a:spLocks noGrp="1"/>
          </p:cNvSpPr>
          <p:nvPr>
            <p:ph type="sldNum" sz="quarter" idx="10"/>
          </p:nvPr>
        </p:nvSpPr>
        <p:spPr bwMode="auto"/>
        <p:txBody>
          <a:bodyPr/>
          <a:lstStyle/>
          <a:p>
            <a:pPr>
              <a:defRPr/>
            </a:pPr>
            <a:fld id="{F7021451-1387-4CA6-816F-3879F97B5CBC}" type="slidenum">
              <a:rPr lang="en-US"/>
              <a:t>40</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1634973" name="Slide Image Placeholder 1"/>
          <p:cNvSpPr>
            <a:spLocks noChangeAspect="1" noGrp="1" noRot="1"/>
          </p:cNvSpPr>
          <p:nvPr>
            <p:ph type="sldImg"/>
          </p:nvPr>
        </p:nvSpPr>
        <p:spPr bwMode="auto"/>
      </p:sp>
      <p:sp>
        <p:nvSpPr>
          <p:cNvPr id="2067736349" name="Notes Placeholder 2"/>
          <p:cNvSpPr>
            <a:spLocks noGrp="1"/>
          </p:cNvSpPr>
          <p:nvPr>
            <p:ph type="body" idx="1"/>
          </p:nvPr>
        </p:nvSpPr>
        <p:spPr bwMode="auto"/>
        <p:txBody>
          <a:bodyPr/>
          <a:lstStyle/>
          <a:p>
            <a:pPr>
              <a:defRPr/>
            </a:pPr>
            <a:r>
              <a:rPr/>
              <a:t>This is the most important step in the lab — the moment where disconnected nodes become an actual graph.</a:t>
            </a:r>
            <a:endParaRPr/>
          </a:p>
          <a:p>
            <a:pPr>
              <a:defRPr/>
            </a:pPr>
            <a:endParaRPr/>
          </a:p>
          <a:p>
            <a:pPr>
              <a:defRPr/>
            </a:pPr>
            <a:r>
              <a:rPr/>
              <a:t>The pattern you're following is always the same: MATCH the two endpoints, then CREATE the relationship between them. You can't create a relationship without first finding the nodes it connects. The MATCH finds existing nodes and binds them to variables; CREATE uses those variables as endpoints.</a:t>
            </a:r>
            <a:endParaRPr/>
          </a:p>
          <a:p>
            <a:pPr>
              <a:defRPr/>
            </a:pPr>
            <a:endParaRPr/>
          </a:p>
          <a:p>
            <a:pPr>
              <a:defRPr/>
            </a:pPr>
            <a:r>
              <a:rPr/>
              <a:t>Direction matters — think carefully about which way the arrow points:</a:t>
            </a:r>
            <a:endParaRPr/>
          </a:p>
          <a:p>
            <a:pPr>
              <a:defRPr/>
            </a:pPr>
            <a:r>
              <a:rPr/>
              <a:t>- (a)-[:WROTE]-&gt;(p): the author wrote the paper. The arrow points from author to paper. Makes semantic sense: "Anna wrote this paper," not "this paper wrote Anna."</a:t>
            </a:r>
            <a:endParaRPr/>
          </a:p>
          <a:p>
            <a:pPr>
              <a:defRPr/>
            </a:pPr>
            <a:r>
              <a:rPr/>
              <a:t>- (p)-[:ABOUT]-&gt;(t): the paper is about the topic. Arrow from paper to topic.</a:t>
            </a:r>
            <a:endParaRPr/>
          </a:p>
          <a:p>
            <a:pPr>
              <a:defRPr/>
            </a:pPr>
            <a:r>
              <a:rPr/>
              <a:t>- (a)-[:CITES]-&gt;(b): paper A cites paper B. Arrow from citing to cited.</a:t>
            </a:r>
            <a:endParaRPr/>
          </a:p>
          <a:p>
            <a:pPr>
              <a:defRPr/>
            </a:pPr>
            <a:endParaRPr/>
          </a:p>
          <a:p>
            <a:pPr>
              <a:defRPr/>
            </a:pPr>
            <a:r>
              <a:rPr/>
              <a:t>Notice that Anna's WROTE edge has a role property: 'first'. This means Anna is the first (lead) author. Maria's WROTE edge doesn't have that property — and that's perfectly fine in a graph. Schema-optional design means you don't need to define a column for every node; properties exist where they're needed.</a:t>
            </a:r>
            <a:endParaRPr/>
          </a:p>
          <a:p>
            <a:pPr>
              <a:defRPr/>
            </a:pPr>
            <a:endParaRPr/>
          </a:p>
          <a:p>
            <a:pPr>
              <a:defRPr/>
            </a:pPr>
            <a:r>
              <a:rPr/>
              <a:t>There's a deliberate inconsistency in the citation edge: Paper DEF (published 2023) cites Paper ABC (published 2024). A 2023 paper can't cite a 2024 paper — that's temporally impossible. This is intentional: in a real production system, you'd add validation logic to catch this. In our lab, it's there to remind you that Neo4j doesn't enforce domain logic automatically — that's your application's responsibility.</a:t>
            </a:r>
            <a:endParaRPr/>
          </a:p>
          <a:p>
            <a:pPr>
              <a:defRPr/>
            </a:pPr>
            <a:endParaRPr/>
          </a:p>
          <a:p>
            <a:pPr>
              <a:defRPr/>
            </a:pPr>
            <a:r>
              <a:rPr/>
              <a:t>After creating all relationships, verify: MATCH ()-[r]-&gt;() RETURN type(r) AS type, count(*) AS count;</a:t>
            </a:r>
            <a:endParaRPr/>
          </a:p>
          <a:p>
            <a:pPr>
              <a:defRPr/>
            </a:pPr>
            <a:r>
              <a:rPr/>
              <a:t>You should see: WROTE: 2, ABOUT: 1, CITES: 1.</a:t>
            </a:r>
            <a:endParaRPr/>
          </a:p>
        </p:txBody>
      </p:sp>
      <p:sp>
        <p:nvSpPr>
          <p:cNvPr id="748395221" name="Slide Number Placeholder 3"/>
          <p:cNvSpPr>
            <a:spLocks noGrp="1"/>
          </p:cNvSpPr>
          <p:nvPr>
            <p:ph type="sldNum" sz="quarter" idx="10"/>
          </p:nvPr>
        </p:nvSpPr>
        <p:spPr bwMode="auto"/>
        <p:txBody>
          <a:bodyPr/>
          <a:lstStyle/>
          <a:p>
            <a:pPr>
              <a:defRPr/>
            </a:pPr>
            <a:fld id="{F7021451-1387-4CA6-816F-3879F97B5CBC}" type="slidenum">
              <a:rPr lang="en-US"/>
              <a:t>41</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2069517" name="Slide Image Placeholder 1"/>
          <p:cNvSpPr>
            <a:spLocks noChangeAspect="1" noGrp="1" noRot="1"/>
          </p:cNvSpPr>
          <p:nvPr>
            <p:ph type="sldImg"/>
          </p:nvPr>
        </p:nvSpPr>
        <p:spPr bwMode="auto"/>
      </p:sp>
      <p:sp>
        <p:nvSpPr>
          <p:cNvPr id="802732556" name="Notes Placeholder 2"/>
          <p:cNvSpPr>
            <a:spLocks noGrp="1"/>
          </p:cNvSpPr>
          <p:nvPr>
            <p:ph type="body" idx="1"/>
          </p:nvPr>
        </p:nvSpPr>
        <p:spPr bwMode="auto"/>
        <p:txBody>
          <a:bodyPr/>
          <a:lstStyle/>
          <a:p>
            <a:pPr>
              <a:defRPr/>
            </a:pPr>
            <a:r>
              <a:rPr/>
              <a:t>Now we query. This is the payoff for all the setup work — three queries of increasing complexity.</a:t>
            </a:r>
            <a:endParaRPr/>
          </a:p>
          <a:p>
            <a:pPr>
              <a:defRPr/>
            </a:pPr>
            <a:endParaRPr/>
          </a:p>
          <a:p>
            <a:pPr>
              <a:defRPr/>
            </a:pPr>
            <a:r>
              <a:rPr/>
              <a:t>QUERY 1 — All papers Anna wrote:</a:t>
            </a:r>
            <a:endParaRPr/>
          </a:p>
          <a:p>
            <a:pPr>
              <a:defRPr/>
            </a:pPr>
            <a:r>
              <a:rPr/>
              <a:t>(a:Author {name:'Anna Stavridou'})-[:WROTE]-&gt;(p:Paper)</a:t>
            </a:r>
            <a:endParaRPr/>
          </a:p>
          <a:p>
            <a:pPr>
              <a:defRPr/>
            </a:pPr>
            <a:r>
              <a:rPr/>
              <a:t>This is a 1-hop traversal. The engine finds Anna's node via the name property filter, then follows all outgoing :WROTE edges to her papers. ORDER BY p.year DESC shows the most recent paper first. Simple, clean, readable.</a:t>
            </a:r>
            <a:endParaRPr/>
          </a:p>
          <a:p>
            <a:pPr>
              <a:defRPr/>
            </a:pPr>
            <a:endParaRPr/>
          </a:p>
          <a:p>
            <a:pPr>
              <a:defRPr/>
            </a:pPr>
            <a:r>
              <a:rPr/>
              <a:t>QUERY 2 — Co-author network:</a:t>
            </a:r>
            <a:endParaRPr/>
          </a:p>
          <a:p>
            <a:pPr>
              <a:defRPr/>
            </a:pPr>
            <a:r>
              <a:rPr/>
              <a:t>(a)-[:WROTE]-&gt;(p)&lt;-[:WROTE]-(co:Author)</a:t>
            </a:r>
            <a:endParaRPr/>
          </a:p>
          <a:p>
            <a:pPr>
              <a:defRPr/>
            </a:pPr>
            <a:r>
              <a:rPr/>
              <a:t>This is a 2-hop traversal with a merge point at 'p'. The pattern says: "Follow a :WROTE edge forward to a paper, then follow a :WROTE edge BACKWARDS from that same paper to another author." The fact that both traversal paths meet at 'p' is what makes it co-authorship — they must have written the SAME paper. The arrow going left (&lt;-) means we traverse the :WROTE edge in reverse direction. WHERE co &lt;&gt; a excludes Anna from her own list. count(p) counts shared papers.</a:t>
            </a:r>
            <a:endParaRPr/>
          </a:p>
          <a:p>
            <a:pPr>
              <a:defRPr/>
            </a:pPr>
            <a:endParaRPr/>
          </a:p>
          <a:p>
            <a:pPr>
              <a:defRPr/>
            </a:pPr>
            <a:r>
              <a:rPr/>
              <a:t>QUERY 3 — Aggregate papers per topic:</a:t>
            </a:r>
            <a:endParaRPr/>
          </a:p>
          <a:p>
            <a:pPr>
              <a:defRPr/>
            </a:pPr>
            <a:r>
              <a:rPr/>
              <a:t>MATCH (p:Paper)-[:ABOUT]-&gt;(t:Topic)</a:t>
            </a:r>
            <a:endParaRPr/>
          </a:p>
          <a:p>
            <a:pPr>
              <a:defRPr/>
            </a:pPr>
            <a:r>
              <a:rPr/>
              <a:t>RETURN t.name AS topic, count(p) AS papers, collect(p.title) AS titles</a:t>
            </a:r>
            <a:endParaRPr/>
          </a:p>
          <a:p>
            <a:pPr>
              <a:defRPr/>
            </a:pPr>
            <a:r>
              <a:rPr/>
              <a:t>collect() is the Cypher equivalent of GROUP_CONCAT in MySQL or array_agg in PostgreSQL. It gathers all matching values into a list. Very useful for reporting.</a:t>
            </a:r>
            <a:endParaRPr/>
          </a:p>
          <a:p>
            <a:pPr>
              <a:defRPr/>
            </a:pPr>
            <a:endParaRPr/>
          </a:p>
          <a:p>
            <a:pPr>
              <a:defRPr/>
            </a:pPr>
            <a:r>
              <a:rPr/>
              <a:t>After running these queries: look at the results and think about scale. Our graph has 3 authors and 2 papers — everything is obvious. Now imagine 1 million authors and 10 million papers. The exact same queries work identically, with the same syntax, and Neo4j's Index-Free Adjacency means they stay fast even at that scale. That's the architectural promise of graph databases.</a:t>
            </a:r>
            <a:endParaRPr/>
          </a:p>
        </p:txBody>
      </p:sp>
      <p:sp>
        <p:nvSpPr>
          <p:cNvPr id="2073286694" name="Slide Number Placeholder 3"/>
          <p:cNvSpPr>
            <a:spLocks noGrp="1"/>
          </p:cNvSpPr>
          <p:nvPr>
            <p:ph type="sldNum" sz="quarter" idx="10"/>
          </p:nvPr>
        </p:nvSpPr>
        <p:spPr bwMode="auto"/>
        <p:txBody>
          <a:bodyPr/>
          <a:lstStyle/>
          <a:p>
            <a:pPr>
              <a:defRPr/>
            </a:pPr>
            <a:fld id="{F7021451-1387-4CA6-816F-3879F97B5CBC}" type="slidenum">
              <a:rPr lang="en-US"/>
              <a:t>42</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738073" name="Slide Image Placeholder 1"/>
          <p:cNvSpPr>
            <a:spLocks noChangeAspect="1" noGrp="1" noRot="1"/>
          </p:cNvSpPr>
          <p:nvPr>
            <p:ph type="sldImg"/>
          </p:nvPr>
        </p:nvSpPr>
        <p:spPr bwMode="auto"/>
      </p:sp>
      <p:sp>
        <p:nvSpPr>
          <p:cNvPr id="957891417" name="Notes Placeholder 2"/>
          <p:cNvSpPr>
            <a:spLocks noGrp="1"/>
          </p:cNvSpPr>
          <p:nvPr>
            <p:ph type="body" idx="1"/>
          </p:nvPr>
        </p:nvSpPr>
        <p:spPr bwMode="auto"/>
        <p:txBody>
          <a:bodyPr/>
          <a:lstStyle/>
          <a:p>
            <a:pPr>
              <a:defRPr/>
            </a:pPr>
            <a:r>
              <a:rPr/>
              <a:t>This slide has the queries that most feel uniquely like "graph" queries — things that would be very awkward to write in SQL.</a:t>
            </a:r>
            <a:endParaRPr/>
          </a:p>
          <a:p>
            <a:pPr>
              <a:defRPr/>
            </a:pPr>
            <a:endParaRPr/>
          </a:p>
          <a:p>
            <a:pPr>
              <a:defRPr/>
            </a:pPr>
            <a:r>
              <a:rPr/>
              <a:t>CITATION CHAIN — [:CITES*1..3]:</a:t>
            </a:r>
            <a:endParaRPr/>
          </a:p>
          <a:p>
            <a:pPr>
              <a:defRPr/>
            </a:pPr>
            <a:r>
              <a:rPr/>
              <a:t>The variable-length path operator is what makes this special. *1..3 means "follow the :CITES relationship between 1 and 3 times." The engine explores every path from the starting paper that traverses 1, 2, or 3 CITES edges. In a real citation database, this answers: "What downstream research has been built on this paper?" It's impact analysis — the reverse of a literature review.</a:t>
            </a:r>
            <a:endParaRPr/>
          </a:p>
          <a:p>
            <a:pPr>
              <a:defRPr/>
            </a:pPr>
            <a:endParaRPr/>
          </a:p>
          <a:p>
            <a:pPr>
              <a:defRPr/>
            </a:pPr>
            <a:r>
              <a:rPr/>
              <a:t>Why the upper bound matters: without an upper bound (*1..), the engine would try to follow CITES edges indefinitely, potentially exploring billions of paths on a large graph. Always bound variable-length patterns in production.</a:t>
            </a:r>
            <a:endParaRPr/>
          </a:p>
          <a:p>
            <a:pPr>
              <a:defRPr/>
            </a:pPr>
            <a:endParaRPr/>
          </a:p>
          <a:p>
            <a:pPr>
              <a:defRPr/>
            </a:pPr>
            <a:r>
              <a:rPr/>
              <a:t>SHORTEST PATH:</a:t>
            </a:r>
            <a:endParaRPr/>
          </a:p>
          <a:p>
            <a:pPr>
              <a:defRPr/>
            </a:pPr>
            <a:r>
              <a:rPr/>
              <a:t>shortestPath() uses bidirectional BFS — it searches from both Anna's node and Nikos's node simultaneously, meeting in the middle. This is roughly twice as fast as searching from one end only.</a:t>
            </a:r>
            <a:endParaRPr/>
          </a:p>
          <a:p>
            <a:pPr>
              <a:defRPr/>
            </a:pPr>
            <a:endParaRPr/>
          </a:p>
          <a:p>
            <a:pPr>
              <a:defRPr/>
            </a:pPr>
            <a:r>
              <a:rPr/>
              <a:t>The [:WROTE*..6] pattern means "follow :WROTE edges in either direction, up to 6 hops." This finds the shortest collaborative chain — perhaps Anna wrote Paper1, which Nikos also wrote (1 hop), or Anna → Paper2 ← CoAuthor → Paper3 ← Nikos (3 hops). The result is an Erdős-number-style collaborative distance.</a:t>
            </a:r>
            <a:endParaRPr/>
          </a:p>
          <a:p>
            <a:pPr>
              <a:defRPr/>
            </a:pPr>
            <a:endParaRPr/>
          </a:p>
          <a:p>
            <a:pPr>
              <a:defRPr/>
            </a:pPr>
            <a:r>
              <a:rPr/>
              <a:t>The list comprehension [n in nodes(path) | coalesce(n.name, n.title)] extracts a readable label from each node in the path. coalesce() returns the first non-null value: Author nodes have 'name', Paper nodes have 'title'. This handles mixed-type paths elegantly without needing a complex CASE expression.</a:t>
            </a:r>
            <a:endParaRPr/>
          </a:p>
          <a:p>
            <a:pPr>
              <a:defRPr/>
            </a:pPr>
            <a:endParaRPr/>
          </a:p>
          <a:p>
            <a:pPr>
              <a:defRPr/>
            </a:pPr>
            <a:r>
              <a:rPr/>
              <a:t>OPTIONAL MATCH with negative pattern — WHERE NOT (p)-[:ABOUT]-&gt;(:Topic):</a:t>
            </a:r>
            <a:endParaRPr/>
          </a:p>
          <a:p>
            <a:pPr>
              <a:defRPr/>
            </a:pPr>
            <a:r>
              <a:rPr/>
              <a:t>This finds all Paper nodes that have no :ABOUT edge to any :Topic. In production, this is a data quality check — run it nightly to find records with incomplete metadata. It's the graph equivalent of WHERE topic_id IS NULL, but much more expressive because it checks the presence of an entire relationship.</a:t>
            </a:r>
            <a:endParaRPr/>
          </a:p>
        </p:txBody>
      </p:sp>
      <p:sp>
        <p:nvSpPr>
          <p:cNvPr id="28434851"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6023043" name="Slide Image Placeholder 1"/>
          <p:cNvSpPr>
            <a:spLocks noChangeAspect="1" noGrp="1" noRot="1"/>
          </p:cNvSpPr>
          <p:nvPr>
            <p:ph type="sldImg"/>
          </p:nvPr>
        </p:nvSpPr>
        <p:spPr bwMode="auto"/>
      </p:sp>
      <p:sp>
        <p:nvSpPr>
          <p:cNvPr id="1233972975" name="Notes Placeholder 2"/>
          <p:cNvSpPr>
            <a:spLocks noGrp="1"/>
          </p:cNvSpPr>
          <p:nvPr>
            <p:ph type="body" idx="1"/>
          </p:nvPr>
        </p:nvSpPr>
        <p:spPr bwMode="auto"/>
        <p:txBody>
          <a:bodyPr/>
          <a:lstStyle/>
          <a:p>
            <a:pPr>
              <a:defRPr/>
            </a:pPr>
            <a:r>
              <a:rPr/>
              <a:t>Constraints and indexes are not optional — they're professional hygiene. This step is short but critical.</a:t>
            </a:r>
            <a:endParaRPr/>
          </a:p>
          <a:p>
            <a:pPr>
              <a:defRPr/>
            </a:pPr>
            <a:endParaRPr/>
          </a:p>
          <a:p>
            <a:pPr>
              <a:defRPr/>
            </a:pPr>
            <a:r>
              <a:rPr/>
              <a:t>When to create constraints: BEFORE loading any data. Constraints are checked at write time. If you add a uniqueness constraint after loading 1 million nodes, Neo4j scans every existing node to verify none violate it — this takes time. Create them on an empty database and data loading automatically enforces them from the start.</a:t>
            </a:r>
            <a:endParaRPr/>
          </a:p>
          <a:p>
            <a:pPr>
              <a:defRPr/>
            </a:pPr>
            <a:endParaRPr/>
          </a:p>
          <a:p>
            <a:pPr>
              <a:defRPr/>
            </a:pPr>
            <a:r>
              <a:rPr/>
              <a:t>Understanding the EXPLAIN output:</a:t>
            </a:r>
            <a:endParaRPr/>
          </a:p>
          <a:p>
            <a:pPr>
              <a:defRPr/>
            </a:pPr>
            <a:r>
              <a:rPr/>
              <a:t>EXPLAIN doesn't execute your query — it just shows the plan the query engine would use. Think of it like asking for directions before starting a journey. The plan is displayed as a tree of operators. The two critical things to look for:</a:t>
            </a:r>
            <a:endParaRPr/>
          </a:p>
          <a:p>
            <a:pPr>
              <a:defRPr/>
            </a:pPr>
            <a:endParaRPr/>
          </a:p>
          <a:p>
            <a:pPr>
              <a:defRPr/>
            </a:pPr>
            <a:r>
              <a:rPr/>
              <a:t>"NodeIndexSeek" — the engine found an index for your filter. This is what you want. Fast.</a:t>
            </a:r>
            <a:endParaRPr/>
          </a:p>
          <a:p>
            <a:pPr>
              <a:defRPr/>
            </a:pPr>
            <a:r>
              <a:rPr/>
              <a:t>"AllNodesScan" — the engine is scanning every node in the database. This is what you want to avoid.</a:t>
            </a:r>
            <a:endParaRPr/>
          </a:p>
          <a:p>
            <a:pPr>
              <a:defRPr/>
            </a:pPr>
            <a:r>
              <a:rPr/>
              <a:t>"NodeByLabelScan" — scanning all nodes of a given label. Acceptable if the label is highly selective (few nodes), bad if it's common.</a:t>
            </a:r>
            <a:endParaRPr/>
          </a:p>
          <a:p>
            <a:pPr>
              <a:defRPr/>
            </a:pPr>
            <a:r>
              <a:rPr/>
              <a:t>"CartesianProduct" — two unconnected MATCH patterns creating a cross-product. Almost always a query design bug.</a:t>
            </a:r>
            <a:endParaRPr/>
          </a:p>
          <a:p>
            <a:pPr>
              <a:defRPr/>
            </a:pPr>
            <a:endParaRPr/>
          </a:p>
          <a:p>
            <a:pPr>
              <a:defRPr/>
            </a:pPr>
            <a:r>
              <a:rPr/>
              <a:t>A practical exercise: run EXPLAIN on MATCH (p:Paper) WHERE p.year &gt;= 2023 RETURN p.title BEFORE creating the paper_year_idx index. Note the plan. Then create the index. Then run EXPLAIN again. You should see the plan change from AllNodesScan to NodeIndexSeek. This single-line change can make a query 100x faster on large datasets. That's the kind of performance reasoning you'll do in production.</a:t>
            </a:r>
            <a:endParaRPr/>
          </a:p>
          <a:p>
            <a:pPr>
              <a:defRPr/>
            </a:pPr>
            <a:endParaRPr/>
          </a:p>
          <a:p>
            <a:pPr>
              <a:defRPr/>
            </a:pPr>
            <a:r>
              <a:rPr/>
              <a:t>SHOW CONSTRAINTS and SHOW INDEXES are your inventory commands. Check them before adding something new — duplicate indexes waste memory and slightly slow down every write operation.</a:t>
            </a:r>
            <a:endParaRPr/>
          </a:p>
        </p:txBody>
      </p:sp>
      <p:sp>
        <p:nvSpPr>
          <p:cNvPr id="771681320" name="Slide Number Placeholder 3"/>
          <p:cNvSpPr>
            <a:spLocks noGrp="1"/>
          </p:cNvSpPr>
          <p:nvPr>
            <p:ph type="sldNum" sz="quarter" idx="10"/>
          </p:nvPr>
        </p:nvSpPr>
        <p:spPr bwMode="auto"/>
        <p:txBody>
          <a:bodyPr/>
          <a:lstStyle/>
          <a:p>
            <a:pPr>
              <a:defRPr/>
            </a:pPr>
            <a:fld id="{F7021451-1387-4CA6-816F-3879F97B5CBC}" type="slidenum">
              <a:rPr lang="en-US"/>
              <a:t>44</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7459504" name="Slide Image Placeholder 1"/>
          <p:cNvSpPr>
            <a:spLocks noChangeAspect="1" noGrp="1" noRot="1"/>
          </p:cNvSpPr>
          <p:nvPr>
            <p:ph type="sldImg"/>
          </p:nvPr>
        </p:nvSpPr>
        <p:spPr bwMode="auto"/>
      </p:sp>
      <p:sp>
        <p:nvSpPr>
          <p:cNvPr id="1574777676" name="Notes Placeholder 2"/>
          <p:cNvSpPr>
            <a:spLocks noGrp="1"/>
          </p:cNvSpPr>
          <p:nvPr>
            <p:ph type="body" idx="1"/>
          </p:nvPr>
        </p:nvSpPr>
        <p:spPr bwMode="auto"/>
        <p:txBody>
          <a:bodyPr/>
          <a:lstStyle/>
          <a:p>
            <a:pPr>
              <a:defRPr/>
            </a:pPr>
            <a:r>
              <a:rPr/>
              <a:t>This is the most advanced step in the lab, and it brings together everything we've discussed about algorithms. Take it slowly.</a:t>
            </a:r>
            <a:endParaRPr/>
          </a:p>
          <a:p>
            <a:pPr>
              <a:defRPr/>
            </a:pPr>
            <a:endParaRPr/>
          </a:p>
          <a:p>
            <a:pPr>
              <a:defRPr/>
            </a:pPr>
            <a:r>
              <a:rPr/>
              <a:t>STEP 1 — Graph Projection (gds.graph.project):</a:t>
            </a:r>
            <a:endParaRPr/>
          </a:p>
          <a:p>
            <a:pPr>
              <a:defRPr/>
            </a:pPr>
            <a:r>
              <a:rPr/>
              <a:t>Think of this as creating a "working copy" of the graph for algorithms to run on. The GDS library doesn't run algorithms directly against the persistent Neo4j store — instead, it loads the relevant subgraph into an optimised in-memory data structure (essentially an adjacency matrix). This is much faster for iterative algorithms that need to traverse the same edges thousands of times.</a:t>
            </a:r>
            <a:endParaRPr/>
          </a:p>
          <a:p>
            <a:pPr>
              <a:defRPr/>
            </a:pPr>
            <a:endParaRPr/>
          </a:p>
          <a:p>
            <a:pPr>
              <a:defRPr/>
            </a:pPr>
            <a:r>
              <a:rPr/>
              <a:t>The Cypher projection in this slide uses a MATCH query to define what to include: authors connected to other authors via WROTE→Paper→WROTE co-authorship paths. UNDIRECTED orientation means (Anna)-(Maria) counts as the same connection regardless of which WROTE edge direction we traverse. The result is a pure co-authorship graph: every edge represents "these two people co-authored a paper."</a:t>
            </a:r>
            <a:endParaRPr/>
          </a:p>
          <a:p>
            <a:pPr>
              <a:defRPr/>
            </a:pPr>
            <a:endParaRPr/>
          </a:p>
          <a:p>
            <a:pPr>
              <a:defRPr/>
            </a:pPr>
            <a:r>
              <a:rPr/>
              <a:t>STEP 2 — PageRank (gds.pageRank.stream):</a:t>
            </a:r>
            <a:endParaRPr/>
          </a:p>
          <a:p>
            <a:pPr>
              <a:defRPr/>
            </a:pPr>
            <a:r>
              <a:rPr/>
              <a:t>The algorithm runs iteratively on the in-memory projection, propagating scores until they converge. The GDS implementation is parallelised — it uses multiple CPU cores. On our tiny lab graph (3 authors), this is instantaneous. On a graph with millions of nodes, it might take minutes.</a:t>
            </a:r>
            <a:endParaRPr/>
          </a:p>
          <a:p>
            <a:pPr>
              <a:defRPr/>
            </a:pPr>
            <a:endParaRPr/>
          </a:p>
          <a:p>
            <a:pPr>
              <a:defRPr/>
            </a:pPr>
            <a:r>
              <a:rPr/>
              <a:t>The result: each author gets a score. The highest-scoring author is the most influential — not necessarily the most prolific. An author who publishes occasionally but whose work is cited by other highly-cited papers will score higher than a prolific author whose work goes largely uncited. This is the same distinction as PageRank vs. raw link counting that made Google better than earlier search engines.</a:t>
            </a:r>
            <a:endParaRPr/>
          </a:p>
          <a:p>
            <a:pPr>
              <a:defRPr/>
            </a:pPr>
            <a:endParaRPr/>
          </a:p>
          <a:p>
            <a:pPr>
              <a:defRPr/>
            </a:pPr>
            <a:r>
              <a:rPr/>
              <a:t>STEP 3 — Louvain (gds.louvain.write):</a:t>
            </a:r>
            <a:endParaRPr/>
          </a:p>
          <a:p>
            <a:pPr>
              <a:defRPr/>
            </a:pPr>
            <a:r>
              <a:rPr/>
              <a:t>write() modifies the database — after this, every :Author node has a community integer property. Query it with: MATCH (a:Author) RETURN a.community, collect(a.name) to see research clusters.</a:t>
            </a:r>
            <a:endParaRPr/>
          </a:p>
          <a:p>
            <a:pPr>
              <a:defRPr/>
            </a:pPr>
            <a:endParaRPr/>
          </a:p>
          <a:p>
            <a:pPr>
              <a:defRPr/>
            </a:pPr>
            <a:r>
              <a:rPr/>
              <a:t>Don't forget: CALL gds.graph.drop('authorNet'); when done. It stays in memory otherwise.</a:t>
            </a:r>
            <a:endParaRPr/>
          </a:p>
        </p:txBody>
      </p:sp>
      <p:sp>
        <p:nvSpPr>
          <p:cNvPr id="722162138" name="Slide Number Placeholder 3"/>
          <p:cNvSpPr>
            <a:spLocks noGrp="1"/>
          </p:cNvSpPr>
          <p:nvPr>
            <p:ph type="sldNum" sz="quarter" idx="10"/>
          </p:nvPr>
        </p:nvSpPr>
        <p:spPr bwMode="auto"/>
        <p:txBody>
          <a:bodyPr/>
          <a:lstStyle/>
          <a:p>
            <a:pPr>
              <a:defRPr/>
            </a:pPr>
            <a:fld id="{F7021451-1387-4CA6-816F-3879F97B5CBC}" type="slidenum">
              <a:rPr lang="en-US"/>
              <a:t>45</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8316645" name="Slide Image Placeholder 1"/>
          <p:cNvSpPr>
            <a:spLocks noChangeAspect="1" noGrp="1" noRot="1"/>
          </p:cNvSpPr>
          <p:nvPr>
            <p:ph type="sldImg"/>
          </p:nvPr>
        </p:nvSpPr>
        <p:spPr bwMode="auto"/>
      </p:sp>
      <p:sp>
        <p:nvSpPr>
          <p:cNvPr id="395619843" name="Notes Placeholder 2"/>
          <p:cNvSpPr>
            <a:spLocks noGrp="1"/>
          </p:cNvSpPr>
          <p:nvPr>
            <p:ph type="body" idx="1"/>
          </p:nvPr>
        </p:nvSpPr>
        <p:spPr bwMode="auto"/>
        <p:txBody>
          <a:bodyPr/>
          <a:lstStyle/>
          <a:p>
            <a:pPr>
              <a:defRPr/>
            </a:pPr>
            <a:r>
              <a:rPr/>
              <a:t>Updates and deletes in Neo4j have some important differences from SQL — specifically around the rules for deleting nodes. These trip up almost every SQL developer on their first day with Neo4j.</a:t>
            </a:r>
            <a:endParaRPr/>
          </a:p>
          <a:p>
            <a:pPr>
              <a:defRPr/>
            </a:pPr>
            <a:endParaRPr/>
          </a:p>
          <a:p>
            <a:pPr>
              <a:defRPr/>
            </a:pPr>
            <a:r>
              <a:rPr/>
              <a:t>SET — updating properties:</a:t>
            </a:r>
            <a:endParaRPr/>
          </a:p>
          <a:p>
            <a:pPr>
              <a:defRPr/>
            </a:pPr>
            <a:r>
              <a:rPr/>
              <a:t>SET a.affiliation = 'University of Thessaly' works exactly as you'd expect. One subtlety: the += operator merges properties into the existing map (like Python's dict.update()), while = replaces all properties with the new map. If you use SET a = {name: 'Anna'}, you'd delete every other property on that node. Use += when you want to add or update specific properties without touching others.</a:t>
            </a:r>
            <a:endParaRPr/>
          </a:p>
          <a:p>
            <a:pPr>
              <a:defRPr/>
            </a:pPr>
            <a:endParaRPr/>
          </a:p>
          <a:p>
            <a:pPr>
              <a:defRPr/>
            </a:pPr>
            <a:r>
              <a:rPr/>
              <a:t>MERGE with ON CREATE / ON MATCH:</a:t>
            </a:r>
            <a:endParaRPr/>
          </a:p>
          <a:p>
            <a:pPr>
              <a:defRPr/>
            </a:pPr>
            <a:r>
              <a:rPr/>
              <a:t>This is the production-grade upsert pattern. Running it 100 times has the same effect as running it once — you get exactly one :Topic{name:'Embedded Systems'} node with the correct timestamps, regardless of how many times you run the pipeline. ON CREATE SET runs only when the node is first created. ON MATCH SET runs only when the node already existed. This is how you build idempotent data pipelines — a critical property for any real ETL or stream processing system.</a:t>
            </a:r>
            <a:endParaRPr/>
          </a:p>
          <a:p>
            <a:pPr>
              <a:defRPr/>
            </a:pPr>
            <a:endParaRPr/>
          </a:p>
          <a:p>
            <a:pPr>
              <a:defRPr/>
            </a:pPr>
            <a:r>
              <a:rPr/>
              <a:t>DELETE vs DETACH DELETE — this is the one that surprises SQL developers:</a:t>
            </a:r>
            <a:endParaRPr/>
          </a:p>
          <a:p>
            <a:pPr>
              <a:defRPr/>
            </a:pPr>
            <a:r>
              <a:rPr/>
              <a:t>Neo4j will refuse to delete a node if it still has relationships attached to it. The error message is "Cannot delete node&lt;N&gt;, because it still has relationships. To delete this node, you must first delete its relationships." Neo4j does this deliberately — it won't let you create dangling edges. DETACH DELETE removes the node AND all its incident relationships in one statement. It's the safe default when you know you want to remove a node completely.</a:t>
            </a:r>
            <a:endParaRPr/>
          </a:p>
          <a:p>
            <a:pPr>
              <a:defRPr/>
            </a:pPr>
            <a:endParaRPr/>
          </a:p>
          <a:p>
            <a:pPr>
              <a:defRPr/>
            </a:pPr>
            <a:r>
              <a:rPr/>
              <a:t>After any delete operation, verify your counts: MATCH (n) RETURN labels(n), count(*) and MATCH ()-[r]-&gt;() RETURN type(r), count(*). Make sure you deleted exactly what you intended and nothing else.</a:t>
            </a:r>
            <a:endParaRPr/>
          </a:p>
        </p:txBody>
      </p:sp>
      <p:sp>
        <p:nvSpPr>
          <p:cNvPr id="922195232" name="Slide Number Placeholder 3"/>
          <p:cNvSpPr>
            <a:spLocks noGrp="1"/>
          </p:cNvSpPr>
          <p:nvPr>
            <p:ph type="sldNum" sz="quarter" idx="10"/>
          </p:nvPr>
        </p:nvSpPr>
        <p:spPr bwMode="auto"/>
        <p:txBody>
          <a:bodyPr/>
          <a:lstStyle/>
          <a:p>
            <a:pPr>
              <a:defRPr/>
            </a:pPr>
            <a:fld id="{F7021451-1387-4CA6-816F-3879F97B5CBC}" type="slidenum">
              <a:rPr lang="en-US"/>
              <a:t>46</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1655652" name="Slide Image Placeholder 1"/>
          <p:cNvSpPr>
            <a:spLocks noChangeAspect="1" noGrp="1" noRot="1"/>
          </p:cNvSpPr>
          <p:nvPr>
            <p:ph type="sldImg"/>
          </p:nvPr>
        </p:nvSpPr>
        <p:spPr bwMode="auto"/>
      </p:sp>
      <p:sp>
        <p:nvSpPr>
          <p:cNvPr id="2139784131" name="Notes Placeholder 2"/>
          <p:cNvSpPr>
            <a:spLocks noGrp="1"/>
          </p:cNvSpPr>
          <p:nvPr>
            <p:ph type="body" idx="1"/>
          </p:nvPr>
        </p:nvSpPr>
        <p:spPr bwMode="auto"/>
        <p:txBody>
          <a:bodyPr/>
          <a:lstStyle/>
          <a:p>
            <a:pPr>
              <a:defRPr/>
            </a:pPr>
            <a:r>
              <a:rPr/>
              <a:t>The cleanup step is just as important as the setup — and it teaches habits that matter in production.</a:t>
            </a:r>
            <a:endParaRPr/>
          </a:p>
          <a:p>
            <a:pPr>
              <a:defRPr/>
            </a:pPr>
            <a:endParaRPr/>
          </a:p>
          <a:p>
            <a:pPr>
              <a:defRPr/>
            </a:pPr>
            <a:r>
              <a:rPr/>
              <a:t>Why count nodes and edges BEFORE wiping?</a:t>
            </a:r>
            <a:endParaRPr/>
          </a:p>
          <a:p>
            <a:pPr>
              <a:defRPr/>
            </a:pPr>
            <a:r>
              <a:rPr/>
              <a:t>Because in production, you'd use these counts as a data quality check. Run them before and after every major batch load to confirm exactly the expected number of records were created or modified. Automate this in your CI/CD pipeline: load 10,000 papers → check that 10,000 :Paper nodes exist → proceed. If the count is wrong, something failed silently.</a:t>
            </a:r>
            <a:endParaRPr/>
          </a:p>
          <a:p>
            <a:pPr>
              <a:defRPr/>
            </a:pPr>
            <a:endParaRPr/>
          </a:p>
          <a:p>
            <a:pPr>
              <a:defRPr/>
            </a:pPr>
            <a:r>
              <a:rPr/>
              <a:t>MATCH (n) DETACH DELETE n — the nuclear option:</a:t>
            </a:r>
            <a:endParaRPr/>
          </a:p>
          <a:p>
            <a:pPr>
              <a:defRPr/>
            </a:pPr>
            <a:r>
              <a:rPr/>
              <a:t>This removes everything in the database. It processes nodes one at a time, which is slow on large graphs. For large datasets, the faster approach is to drop and recreate the database: DROP DATABASE neo4j; CREATE DATABASE neo4j; — but this requires admin privileges and Enterprise edition. For our lab with a handful of nodes, DETACH DELETE is fine.</a:t>
            </a:r>
            <a:endParaRPr/>
          </a:p>
          <a:p>
            <a:pPr>
              <a:defRPr/>
            </a:pPr>
            <a:endParaRPr/>
          </a:p>
          <a:p>
            <a:pPr>
              <a:defRPr/>
            </a:pPr>
            <a:r>
              <a:rPr/>
              <a:t>docker stop and docker rm:</a:t>
            </a:r>
            <a:endParaRPr/>
          </a:p>
          <a:p>
            <a:pPr>
              <a:defRPr/>
            </a:pPr>
            <a:r>
              <a:rPr/>
              <a:t>stop sends a graceful shutdown signal — Neo4j flushes its write-ahead log and closes files cleanly. rm removes the container's metadata. The data files on disk are NOT removed by rm — because we didn't mount a volume in today's lab. When you rebuild the container from scratch, it starts with an empty graph.</a:t>
            </a:r>
            <a:endParaRPr/>
          </a:p>
          <a:p>
            <a:pPr>
              <a:defRPr/>
            </a:pPr>
            <a:endParaRPr/>
          </a:p>
          <a:p>
            <a:pPr>
              <a:defRPr/>
            </a:pPr>
            <a:r>
              <a:rPr/>
              <a:t>The volume mount tip at the bottom of the slide:</a:t>
            </a:r>
            <a:endParaRPr/>
          </a:p>
          <a:p>
            <a:pPr>
              <a:defRPr/>
            </a:pPr>
            <a:r>
              <a:rPr/>
              <a:t>docker run -d --name neo4j-lab -v $PWD/neo4j-data:/data ...</a:t>
            </a:r>
            <a:endParaRPr/>
          </a:p>
          <a:p>
            <a:pPr>
              <a:defRPr/>
            </a:pPr>
            <a:r>
              <a:rPr/>
              <a:t>The -v flag mounts a host directory into the container's /data directory. /data is where Neo4j stores its graph database files, logs, and plugins. With this mount, your graph persists across docker stop / docker rm / docker run cycles. For your assignment work — where you want data to persist between lab sessions — always use the volume mount form.</a:t>
            </a:r>
            <a:endParaRPr/>
          </a:p>
        </p:txBody>
      </p:sp>
      <p:sp>
        <p:nvSpPr>
          <p:cNvPr id="1663246041" name="Slide Number Placeholder 3"/>
          <p:cNvSpPr>
            <a:spLocks noGrp="1"/>
          </p:cNvSpPr>
          <p:nvPr>
            <p:ph type="sldNum" sz="quarter" idx="10"/>
          </p:nvPr>
        </p:nvSpPr>
        <p:spPr bwMode="auto"/>
        <p:txBody>
          <a:bodyPr/>
          <a:lstStyle/>
          <a:p>
            <a:pPr>
              <a:defRPr/>
            </a:pPr>
            <a:fld id="{F7021451-1387-4CA6-816F-3879F97B5CBC}" type="slidenum">
              <a:rPr lang="en-US"/>
              <a:t>47</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9228072" name="Slide Image Placeholder 1"/>
          <p:cNvSpPr>
            <a:spLocks noChangeAspect="1" noGrp="1" noRot="1"/>
          </p:cNvSpPr>
          <p:nvPr>
            <p:ph type="sldImg"/>
          </p:nvPr>
        </p:nvSpPr>
        <p:spPr bwMode="auto"/>
      </p:sp>
      <p:sp>
        <p:nvSpPr>
          <p:cNvPr id="1659941403" name="Notes Placeholder 2"/>
          <p:cNvSpPr>
            <a:spLocks noGrp="1"/>
          </p:cNvSpPr>
          <p:nvPr>
            <p:ph type="body" idx="1"/>
          </p:nvPr>
        </p:nvSpPr>
        <p:spPr bwMode="auto"/>
        <p:txBody>
          <a:bodyPr/>
          <a:lstStyle/>
          <a:p>
            <a:pPr>
              <a:defRPr/>
            </a:pPr>
            <a:r>
              <a:rPr/>
              <a:t>Keep this slide open in a second tab during the lab. You will likely need it.</a:t>
            </a:r>
            <a:endParaRPr/>
          </a:p>
          <a:p>
            <a:pPr>
              <a:defRPr/>
            </a:pPr>
            <a:endParaRPr/>
          </a:p>
          <a:p>
            <a:pPr>
              <a:defRPr/>
            </a:pPr>
            <a:r>
              <a:rPr/>
              <a:t>ERROR: "ServiceUnavailable: Could not perform discovery"</a:t>
            </a:r>
            <a:endParaRPr/>
          </a:p>
          <a:p>
            <a:pPr>
              <a:defRPr/>
            </a:pPr>
            <a:r>
              <a:rPr/>
              <a:t>Translation: cypher-shell connected to port 7687, but Neo4j hasn't finished starting its Bolt listener yet. Solution: wait 20-30 more seconds and retry. Check docker logs neo4j-lab | tail -5 — look for "Started." in the output. Neo4j is a JVM application with non-trivial startup time.</a:t>
            </a:r>
            <a:endParaRPr/>
          </a:p>
          <a:p>
            <a:pPr>
              <a:defRPr/>
            </a:pPr>
            <a:endParaRPr/>
          </a:p>
          <a:p>
            <a:pPr>
              <a:defRPr/>
            </a:pPr>
            <a:r>
              <a:rPr/>
              <a:t>ERROR: "Failed to authenticate"</a:t>
            </a:r>
            <a:endParaRPr/>
          </a:p>
          <a:p>
            <a:pPr>
              <a:defRPr/>
            </a:pPr>
            <a:r>
              <a:rPr/>
              <a:t>Either wrong credentials, or a first-startup password issue. Safest fix: docker stop neo4j-lab &amp;&amp; docker rm neo4j-lab, then re-run the docker run command with -e NEO4J_AUTH=neo4j/AdmPassw0rd. This resets everything cleanly.</a:t>
            </a:r>
            <a:endParaRPr/>
          </a:p>
          <a:p>
            <a:pPr>
              <a:defRPr/>
            </a:pPr>
            <a:endParaRPr/>
          </a:p>
          <a:p>
            <a:pPr>
              <a:defRPr/>
            </a:pPr>
            <a:r>
              <a:rPr/>
              <a:t>WARNING: "EagerOperator" in PROFILE output</a:t>
            </a:r>
            <a:endParaRPr/>
          </a:p>
          <a:p>
            <a:pPr>
              <a:defRPr/>
            </a:pPr>
            <a:r>
              <a:rPr/>
              <a:t>This appears when your query has both reads and writes and the planner isn't sure about the ordering — so it "eagerly" materialises all read results before starting writes. It's correct behaviour but can be slow on large datasets. Fix: split into two separate transactions — a READ transaction followed by a WRITE transaction.</a:t>
            </a:r>
            <a:endParaRPr/>
          </a:p>
          <a:p>
            <a:pPr>
              <a:defRPr/>
            </a:pPr>
            <a:endParaRPr/>
          </a:p>
          <a:p>
            <a:pPr>
              <a:defRPr/>
            </a:pPr>
            <a:r>
              <a:rPr/>
              <a:t>WARNING: "Cartesian product"</a:t>
            </a:r>
            <a:endParaRPr/>
          </a:p>
          <a:p>
            <a:pPr>
              <a:defRPr/>
            </a:pPr>
            <a:r>
              <a:rPr/>
              <a:t>You wrote MATCH (a:Author), (p:Paper) RETURN a, p without any connecting pattern. This produces N_authors × N_papers rows — every combination of every author and every paper. Almost certainly a bug. Fix: add the relationship: MATCH (a:Author)-[:WROTE]-&gt;(p:Paper).</a:t>
            </a:r>
            <a:endParaRPr/>
          </a:p>
          <a:p>
            <a:pPr>
              <a:defRPr/>
            </a:pPr>
            <a:endParaRPr/>
          </a:p>
          <a:p>
            <a:pPr>
              <a:defRPr/>
            </a:pPr>
            <a:r>
              <a:rPr/>
              <a:t>ERROR: "This query cannot be executed" (with out-of-memory on deep traversal)</a:t>
            </a:r>
            <a:endParaRPr/>
          </a:p>
          <a:p>
            <a:pPr>
              <a:defRPr/>
            </a:pPr>
            <a:r>
              <a:rPr/>
              <a:t>You ran a variable-length path without an upper bound, or projected too large a GDS graph. Fix: add an upper bound ([:REL*..10]), filter the starting set more aggressively, or project a smaller subgraph.</a:t>
            </a:r>
            <a:endParaRPr/>
          </a:p>
          <a:p>
            <a:pPr>
              <a:defRPr/>
            </a:pPr>
            <a:endParaRPr/>
          </a:p>
          <a:p>
            <a:pPr>
              <a:defRPr/>
            </a:pPr>
            <a:r>
              <a:rPr/>
              <a:t>ERROR: "Port already allocated"</a:t>
            </a:r>
            <a:endParaRPr/>
          </a:p>
          <a:p>
            <a:pPr>
              <a:defRPr/>
            </a:pPr>
            <a:r>
              <a:rPr/>
              <a:t>Port 7474 or 7687 is already in use — probably a Neo4j instance from a previous session that wasn't properly stopped. Run docker ps -a to find it, docker stop + docker rm it, then restart. Or remap: -p 8474:7474 -p 8687:7687.</a:t>
            </a:r>
            <a:endParaRPr/>
          </a:p>
        </p:txBody>
      </p:sp>
      <p:sp>
        <p:nvSpPr>
          <p:cNvPr id="1107639073" name="Slide Number Placeholder 3"/>
          <p:cNvSpPr>
            <a:spLocks noGrp="1"/>
          </p:cNvSpPr>
          <p:nvPr>
            <p:ph type="sldNum" sz="quarter" idx="10"/>
          </p:nvPr>
        </p:nvSpPr>
        <p:spPr bwMode="auto"/>
        <p:txBody>
          <a:bodyPr/>
          <a:lstStyle/>
          <a:p>
            <a:pPr>
              <a:defRPr/>
            </a:pPr>
            <a:fld id="{F7021451-1387-4CA6-816F-3879F97B5CBC}" type="slidenum">
              <a:rPr lang="en-US"/>
              <a:t>48</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1855574" name="Slide Image Placeholder 1"/>
          <p:cNvSpPr>
            <a:spLocks noChangeAspect="1" noGrp="1" noRot="1"/>
          </p:cNvSpPr>
          <p:nvPr>
            <p:ph type="sldImg"/>
          </p:nvPr>
        </p:nvSpPr>
        <p:spPr bwMode="auto"/>
      </p:sp>
      <p:sp>
        <p:nvSpPr>
          <p:cNvPr id="739978346" name="Notes Placeholder 2"/>
          <p:cNvSpPr>
            <a:spLocks noGrp="1"/>
          </p:cNvSpPr>
          <p:nvPr>
            <p:ph type="body" idx="1"/>
          </p:nvPr>
        </p:nvSpPr>
        <p:spPr bwMode="auto"/>
        <p:txBody>
          <a:bodyPr/>
          <a:lstStyle/>
          <a:p>
            <a:pPr>
              <a:defRPr/>
            </a:pPr>
            <a:r>
              <a:rPr/>
              <a:t>Take a breath — this is the summary slide, and it's worth actually pausing on rather than rushing through.</a:t>
            </a:r>
            <a:endParaRPr/>
          </a:p>
          <a:p>
            <a:pPr>
              <a:defRPr/>
            </a:pPr>
            <a:endParaRPr/>
          </a:p>
          <a:p>
            <a:pPr>
              <a:defRPr/>
            </a:pPr>
            <a:r>
              <a:rPr/>
              <a:t>We covered a lot of ground today. Let me reframe it as three questions we set out to answer:</a:t>
            </a:r>
            <a:endParaRPr/>
          </a:p>
          <a:p>
            <a:pPr>
              <a:defRPr/>
            </a:pPr>
            <a:endParaRPr/>
          </a:p>
          <a:p>
            <a:pPr>
              <a:defRPr/>
            </a:pPr>
            <a:r>
              <a:rPr/>
              <a:t>Question 1: When should I use a graph database?</a:t>
            </a:r>
            <a:endParaRPr/>
          </a:p>
          <a:p>
            <a:pPr>
              <a:defRPr/>
            </a:pPr>
            <a:r>
              <a:rPr/>
              <a:t>When the connections between entities are as important as the entities themselves, and when you need to traverse those connections at depth. Fraud rings, co-authorship networks, recommendation engines, knowledge graphs — anywhere "who is connected to what" is the central question.</a:t>
            </a:r>
            <a:endParaRPr/>
          </a:p>
          <a:p>
            <a:pPr>
              <a:defRPr/>
            </a:pPr>
            <a:endParaRPr/>
          </a:p>
          <a:p>
            <a:pPr>
              <a:defRPr/>
            </a:pPr>
            <a:r>
              <a:rPr/>
              <a:t>Question 2: How do I model connected data as a graph?</a:t>
            </a:r>
            <a:endParaRPr/>
          </a:p>
          <a:p>
            <a:pPr>
              <a:defRPr/>
            </a:pPr>
            <a:r>
              <a:rPr/>
              <a:t>Start from the questions your application must answer. Sketch the domain as a whiteboard diagram — entities are nodes with labels and properties, connections are typed directed edges that can also carry properties. Let the query requirements drive the schema design, not the other way around.</a:t>
            </a:r>
            <a:endParaRPr/>
          </a:p>
          <a:p>
            <a:pPr>
              <a:defRPr/>
            </a:pPr>
            <a:endParaRPr/>
          </a:p>
          <a:p>
            <a:pPr>
              <a:defRPr/>
            </a:pPr>
            <a:r>
              <a:rPr/>
              <a:t>Question 3: How do I query it?</a:t>
            </a:r>
            <a:endParaRPr/>
          </a:p>
          <a:p>
            <a:pPr>
              <a:defRPr/>
            </a:pPr>
            <a:r>
              <a:rPr/>
              <a:t>With Cypher's ASCII-art pattern matching. You describe the shape of the subgraph you want — (a:Author)-[:WROTE]-&gt;(p:Paper) — and the engine finds every occurrence of that shape in the data. For variable-length traversals, add a hop count: [:CITES*1..3]. For shortest paths, use the shortestPath() function. For algorithms, use the GDS library.</a:t>
            </a:r>
            <a:endParaRPr/>
          </a:p>
          <a:p>
            <a:pPr>
              <a:defRPr/>
            </a:pPr>
            <a:endParaRPr/>
          </a:p>
          <a:p>
            <a:pPr>
              <a:defRPr/>
            </a:pPr>
            <a:r>
              <a:rPr/>
              <a:t>If you can answer these three questions confidently in an exam — with specific examples and trade-offs — you're in good shape. The next slide has the eight-point condensed version.</a:t>
            </a:r>
            <a:endParaRPr/>
          </a:p>
        </p:txBody>
      </p:sp>
      <p:sp>
        <p:nvSpPr>
          <p:cNvPr id="358000744" name="Slide Number Placeholder 3"/>
          <p:cNvSpPr>
            <a:spLocks noGrp="1"/>
          </p:cNvSpPr>
          <p:nvPr>
            <p:ph type="sldNum" sz="quarter" idx="10"/>
          </p:nvPr>
        </p:nvSpPr>
        <p:spPr bwMode="auto"/>
        <p:txBody>
          <a:bodyPr/>
          <a:lstStyle/>
          <a:p>
            <a:pPr>
              <a:defRPr/>
            </a:pPr>
            <a:fld id="{F7021451-1387-4CA6-816F-3879F97B5CBC}" type="slidenum">
              <a:rPr lang="en-US"/>
              <a:t>49</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0251096" name="Slide Image Placeholder 1"/>
          <p:cNvSpPr>
            <a:spLocks noChangeAspect="1" noGrp="1" noRot="1"/>
          </p:cNvSpPr>
          <p:nvPr>
            <p:ph type="sldImg"/>
          </p:nvPr>
        </p:nvSpPr>
        <p:spPr bwMode="auto"/>
      </p:sp>
      <p:sp>
        <p:nvSpPr>
          <p:cNvPr id="374608776" name="Notes Placeholder 2"/>
          <p:cNvSpPr>
            <a:spLocks noGrp="1"/>
          </p:cNvSpPr>
          <p:nvPr>
            <p:ph type="body" idx="1"/>
          </p:nvPr>
        </p:nvSpPr>
        <p:spPr bwMode="auto"/>
        <p:txBody>
          <a:bodyPr/>
          <a:lstStyle/>
          <a:p>
            <a:pPr>
              <a:defRPr/>
            </a:pPr>
            <a:r>
              <a:rPr/>
              <a:t>Eight sentences. If you can reproduce all eight in your own words, you know the material.</a:t>
            </a:r>
            <a:endParaRPr/>
          </a:p>
          <a:p>
            <a:pPr>
              <a:defRPr/>
            </a:pPr>
            <a:endParaRPr/>
          </a:p>
          <a:p>
            <a:pPr>
              <a:defRPr/>
            </a:pPr>
            <a:r>
              <a:rPr/>
              <a:t>1. FIRST-CLASS RELATIONSHIPS: graph databases store relationships as physical pointers between node records on disk — not computed at query time from foreign key joins. This is the fundamental architectural difference from SQL and every other NoSQL family we studied.</a:t>
            </a:r>
            <a:endParaRPr/>
          </a:p>
          <a:p>
            <a:pPr>
              <a:defRPr/>
            </a:pPr>
            <a:endParaRPr/>
          </a:p>
          <a:p>
            <a:pPr>
              <a:defRPr/>
            </a:pPr>
            <a:r>
              <a:rPr/>
              <a:t>2. LPG vs RDF: Labelled Property Graphs (Neo4j, TigerGraph, Memgraph) put properties directly on nodes and edges — compact and fast for application queries. RDF triple stores model everything as subject-predicate-object triples — verbose but formally standards-compliant, used in semantic web and ontology applications.</a:t>
            </a:r>
            <a:endParaRPr/>
          </a:p>
          <a:p>
            <a:pPr>
              <a:defRPr/>
            </a:pPr>
            <a:endParaRPr/>
          </a:p>
          <a:p>
            <a:pPr>
              <a:defRPr/>
            </a:pPr>
            <a:r>
              <a:rPr/>
              <a:t>3. INDEX-FREE ADJACENCY: following a relationship in a native graph database costs O(1) per hop — one pointer dereference — regardless of graph size. A SQL JOIN costs O(log N) per hop using a B-tree index, multiplied across every hop. At 5+ hops, the difference is the gap between milliseconds and minutes.</a:t>
            </a:r>
            <a:endParaRPr/>
          </a:p>
          <a:p>
            <a:pPr>
              <a:defRPr/>
            </a:pPr>
            <a:endParaRPr/>
          </a:p>
          <a:p>
            <a:pPr>
              <a:defRPr/>
            </a:pPr>
            <a:r>
              <a:rPr/>
              <a:t>4. CYPHER AND GQL: Cypher is the de-facto standard query language for LPG; ISO/IEC 39075:2024 (GQL) standardises it across vendors. They are compatible — learning one means knowing the other.</a:t>
            </a:r>
            <a:endParaRPr/>
          </a:p>
          <a:p>
            <a:pPr>
              <a:defRPr/>
            </a:pPr>
            <a:endParaRPr/>
          </a:p>
          <a:p>
            <a:pPr>
              <a:defRPr/>
            </a:pPr>
            <a:r>
              <a:rPr/>
              <a:t>5. THE ECOSYSTEM: Neo4j offers ACID transactions, Raft-based clustering (CP), and the GDS algorithm library. Neptune is AWS-managed with multi-model support. Memgraph is in-memory with native Kafka integration for streaming graphs.</a:t>
            </a:r>
            <a:endParaRPr/>
          </a:p>
          <a:p>
            <a:pPr>
              <a:defRPr/>
            </a:pPr>
            <a:endParaRPr/>
          </a:p>
          <a:p>
            <a:pPr>
              <a:defRPr/>
            </a:pPr>
            <a:r>
              <a:rPr/>
              <a:t>6. FIVE ALGORITHM FAMILIES: pathfinding, centrality (PageRank), community detection (Louvain), similarity and embeddings (Node2Vec), and link prediction. All available in Neo4j GDS via a single CALL statement.</a:t>
            </a:r>
            <a:endParaRPr/>
          </a:p>
          <a:p>
            <a:pPr>
              <a:defRPr/>
            </a:pPr>
            <a:endParaRPr/>
          </a:p>
          <a:p>
            <a:pPr>
              <a:defRPr/>
            </a:pPr>
            <a:r>
              <a:rPr/>
              <a:t>7. WHERE GRAPHS DELIVER: fraud detection, recommendation engines, knowledge graphs, identity and access management, network operations, and GenAI retrieval (GraphRAG). Anywhere the relationships between entities carry meaning.</a:t>
            </a:r>
            <a:endParaRPr/>
          </a:p>
          <a:p>
            <a:pPr>
              <a:defRPr/>
            </a:pPr>
            <a:endParaRPr/>
          </a:p>
          <a:p>
            <a:pPr>
              <a:defRPr/>
            </a:pPr>
            <a:r>
              <a:rPr/>
              <a:t>8. THE LAB SEQUENCE: docker pull → docker run → cypher-shell → CREATE/MATCH/MERGE → GDS algorithms → DETACH DELETE → docker rm. That sequence describes a complete development cycle.</a:t>
            </a:r>
            <a:endParaRPr/>
          </a:p>
        </p:txBody>
      </p:sp>
      <p:sp>
        <p:nvSpPr>
          <p:cNvPr id="1366739499" name="Slide Number Placeholder 3"/>
          <p:cNvSpPr>
            <a:spLocks noGrp="1"/>
          </p:cNvSpPr>
          <p:nvPr>
            <p:ph type="sldNum" sz="quarter" idx="10"/>
          </p:nvPr>
        </p:nvSpPr>
        <p:spPr bwMode="auto"/>
        <p:txBody>
          <a:bodyPr/>
          <a:lstStyle/>
          <a:p>
            <a:pPr>
              <a:defRPr/>
            </a:pPr>
            <a:fld id="{F7021451-1387-4CA6-816F-3879F97B5CBC}" type="slidenum">
              <a:rPr lang="en-US"/>
              <a:t>50</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3129535" name="Slide Image Placeholder 1"/>
          <p:cNvSpPr>
            <a:spLocks noChangeAspect="1" noGrp="1" noRot="1"/>
          </p:cNvSpPr>
          <p:nvPr>
            <p:ph type="sldImg"/>
          </p:nvPr>
        </p:nvSpPr>
        <p:spPr bwMode="auto"/>
      </p:sp>
      <p:sp>
        <p:nvSpPr>
          <p:cNvPr id="582062823" name="Notes Placeholder 2"/>
          <p:cNvSpPr>
            <a:spLocks noGrp="1"/>
          </p:cNvSpPr>
          <p:nvPr>
            <p:ph type="body" idx="1"/>
          </p:nvPr>
        </p:nvSpPr>
        <p:spPr bwMode="auto"/>
        <p:txBody>
          <a:bodyPr/>
          <a:lstStyle/>
          <a:p>
            <a:pPr>
              <a:defRPr/>
            </a:pPr>
            <a:r>
              <a:rPr/>
              <a:t>Resources and a course map — use both.</a:t>
            </a:r>
            <a:endParaRPr/>
          </a:p>
          <a:p>
            <a:pPr>
              <a:defRPr/>
            </a:pPr>
            <a:endParaRPr/>
          </a:p>
          <a:p>
            <a:pPr>
              <a:defRPr/>
            </a:pPr>
            <a:r>
              <a:rPr/>
              <a:t>REQUIRED READING before the exam:</a:t>
            </a:r>
            <a:endParaRPr/>
          </a:p>
          <a:p>
            <a:pPr>
              <a:defRPr/>
            </a:pPr>
            <a:r>
              <a:rPr/>
              <a:t>Robinson, Webber &amp; Eifrem — "Graph Databases" (O'Reilly, 2nd edition): the definitive textbook. Chapters 3-5 on data modelling are especially relevant for the assignment. The full PDF is freely available from neo4j.com. Read chapters 3 and 4 at minimum.</a:t>
            </a:r>
            <a:endParaRPr/>
          </a:p>
          <a:p>
            <a:pPr>
              <a:defRPr/>
            </a:pPr>
            <a:endParaRPr/>
          </a:p>
          <a:p>
            <a:pPr>
              <a:defRPr/>
            </a:pPr>
            <a:r>
              <a:rPr/>
              <a:t>GQL overview: the ISO standard itself is a dense technical document, but the overview paper in Communications of the ACM (2024) is readable and free — search "GQL ISO 39075 CACM 2024."</a:t>
            </a:r>
            <a:endParaRPr/>
          </a:p>
          <a:p>
            <a:pPr>
              <a:defRPr/>
            </a:pPr>
            <a:endParaRPr/>
          </a:p>
          <a:p>
            <a:pPr>
              <a:defRPr/>
            </a:pPr>
            <a:r>
              <a:rPr/>
              <a:t>Panama Papers technical write-up: search "ICIJ Panama Papers Neo4j blog" — both the ICIJ team and Linkurious published detailed technical posts about the architecture. Reading these gives you a concrete mental model of graph design at real scale.</a:t>
            </a:r>
            <a:endParaRPr/>
          </a:p>
          <a:p>
            <a:pPr>
              <a:defRPr/>
            </a:pPr>
            <a:endParaRPr/>
          </a:p>
          <a:p>
            <a:pPr>
              <a:defRPr/>
            </a:pPr>
            <a:r>
              <a:rPr/>
              <a:t>TOOLS to explore before the exam (all have free tiers):</a:t>
            </a:r>
            <a:endParaRPr/>
          </a:p>
          <a:p>
            <a:pPr>
              <a:defRPr/>
            </a:pPr>
            <a:r>
              <a:rPr/>
              <a:t>- Neo4j Aura Free: cloud-hosted Neo4j, no installation required. 50K nodes, 175K relationships, free forever. Perfect for experimenting beyond the lab.</a:t>
            </a:r>
            <a:endParaRPr/>
          </a:p>
          <a:p>
            <a:pPr>
              <a:defRPr/>
            </a:pPr>
            <a:r>
              <a:rPr/>
              <a:t>- Neo4j Browser: the web-based visual query tool. Type a Cypher query, see your graph as an interactive node-edge diagram. Very useful for understanding structure.</a:t>
            </a:r>
            <a:endParaRPr/>
          </a:p>
          <a:p>
            <a:pPr>
              <a:defRPr/>
            </a:pPr>
            <a:r>
              <a:rPr/>
              <a:t>- Memgraph Lab: browser-based Memgraph UI with a built-in algorithm runner.</a:t>
            </a:r>
            <a:endParaRPr/>
          </a:p>
          <a:p>
            <a:pPr>
              <a:defRPr/>
            </a:pPr>
            <a:endParaRPr/>
          </a:p>
          <a:p>
            <a:pPr>
              <a:defRPr/>
            </a:pPr>
            <a:r>
              <a:rPr/>
              <a:t>COURSE RECAP — the full arc of what you've learned:</a:t>
            </a:r>
            <a:endParaRPr/>
          </a:p>
          <a:p>
            <a:pPr>
              <a:defRPr/>
            </a:pPr>
            <a:r>
              <a:rPr/>
              <a:t>Week 1-2: Distributed systems theory, CAP theorem, consistency vs. availability</a:t>
            </a:r>
            <a:endParaRPr/>
          </a:p>
          <a:p>
            <a:pPr>
              <a:defRPr/>
            </a:pPr>
            <a:r>
              <a:rPr/>
              <a:t>Week 3: Redis — key-value stores, caching, pub/sub, sorted sets</a:t>
            </a:r>
            <a:endParaRPr/>
          </a:p>
          <a:p>
            <a:pPr>
              <a:defRPr/>
            </a:pPr>
            <a:r>
              <a:rPr/>
              <a:t>Week 4: MongoDB and PostgreSQL JSONB — document stores, aggregation</a:t>
            </a:r>
            <a:endParaRPr/>
          </a:p>
          <a:p>
            <a:pPr>
              <a:defRPr/>
            </a:pPr>
            <a:r>
              <a:rPr/>
              <a:t>Week 5: Docker, FastAPI, microservices — the infrastructure that connects everything</a:t>
            </a:r>
            <a:endParaRPr/>
          </a:p>
          <a:p>
            <a:pPr>
              <a:defRPr/>
            </a:pPr>
            <a:r>
              <a:rPr/>
              <a:t>Week 6: Cassandra — column-family stores, write-heavy, query-driven design</a:t>
            </a:r>
            <a:endParaRPr/>
          </a:p>
          <a:p>
            <a:pPr>
              <a:defRPr/>
            </a:pPr>
            <a:r>
              <a:rPr/>
              <a:t>Week 7: Neo4j and GQL — graph databases, connected data, traversal algorithms</a:t>
            </a:r>
            <a:endParaRPr/>
          </a:p>
          <a:p>
            <a:pPr>
              <a:defRPr/>
            </a:pPr>
            <a:endParaRPr/>
          </a:p>
          <a:p>
            <a:pPr>
              <a:defRPr/>
            </a:pPr>
            <a:r>
              <a:rPr/>
              <a:t>EXAM FOCUS AREAS:</a:t>
            </a:r>
            <a:endParaRPr/>
          </a:p>
          <a:p>
            <a:pPr>
              <a:defRPr/>
            </a:pPr>
            <a:r>
              <a:rPr/>
              <a:t>- Given a scenario, choose the right NoSQL family and justify your choice with trade-offs</a:t>
            </a:r>
            <a:endParaRPr/>
          </a:p>
          <a:p>
            <a:pPr>
              <a:defRPr/>
            </a:pPr>
            <a:r>
              <a:rPr/>
              <a:t>- Design a Cypher schema (nodes, edges, properties, indexes) for a described domain</a:t>
            </a:r>
            <a:endParaRPr/>
          </a:p>
          <a:p>
            <a:pPr>
              <a:defRPr/>
            </a:pPr>
            <a:r>
              <a:rPr/>
              <a:t>- Write a Cypher query with MATCH, WHERE, RETURN, ORDER BY, and variable-length paths</a:t>
            </a:r>
            <a:endParaRPr/>
          </a:p>
          <a:p>
            <a:pPr>
              <a:defRPr/>
            </a:pPr>
            <a:r>
              <a:rPr/>
              <a:t>- Explain Index-Free Adjacency and why it enables fast traversals at scale</a:t>
            </a:r>
            <a:endParaRPr/>
          </a:p>
          <a:p>
            <a:pPr>
              <a:defRPr/>
            </a:pPr>
            <a:r>
              <a:rPr/>
              <a:t>- Compare Neo4j, Neptune, and Memgraph: architecture, use case, consistency model</a:t>
            </a:r>
            <a:endParaRPr/>
          </a:p>
        </p:txBody>
      </p:sp>
      <p:sp>
        <p:nvSpPr>
          <p:cNvPr id="924966652" name="Slide Number Placeholder 3"/>
          <p:cNvSpPr>
            <a:spLocks noGrp="1"/>
          </p:cNvSpPr>
          <p:nvPr>
            <p:ph type="sldNum" sz="quarter" idx="10"/>
          </p:nvPr>
        </p:nvSpPr>
        <p:spPr bwMode="auto"/>
        <p:txBody>
          <a:bodyPr/>
          <a:lstStyle/>
          <a:p>
            <a:pPr>
              <a:defRPr/>
            </a:pPr>
            <a:fld id="{F7021451-1387-4CA6-816F-3879F97B5CBC}" type="slidenum">
              <a:rPr lang="en-US"/>
              <a:t>51</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5376081" name="Slide Image Placeholder 1"/>
          <p:cNvSpPr>
            <a:spLocks noChangeAspect="1" noGrp="1" noRot="1"/>
          </p:cNvSpPr>
          <p:nvPr>
            <p:ph type="sldImg"/>
          </p:nvPr>
        </p:nvSpPr>
        <p:spPr bwMode="auto"/>
      </p:sp>
      <p:sp>
        <p:nvSpPr>
          <p:cNvPr id="211487323" name="Notes Placeholder 2"/>
          <p:cNvSpPr>
            <a:spLocks noGrp="1"/>
          </p:cNvSpPr>
          <p:nvPr>
            <p:ph type="body" idx="1"/>
          </p:nvPr>
        </p:nvSpPr>
        <p:spPr bwMode="auto"/>
        <p:txBody>
          <a:bodyPr/>
          <a:lstStyle/>
          <a:p>
            <a:pPr>
              <a:defRPr/>
            </a:pPr>
            <a:r>
              <a:rPr/>
              <a:t>A few genuine thoughts as we close out — not just formal conclusions, but things worth actually thinking about.</a:t>
            </a:r>
            <a:endParaRPr/>
          </a:p>
          <a:p>
            <a:pPr>
              <a:defRPr/>
            </a:pPr>
            <a:endParaRPr/>
          </a:p>
          <a:p>
            <a:pPr>
              <a:defRPr/>
            </a:pPr>
            <a:r>
              <a:rPr/>
              <a:t>The most valuable thing you've developed over these seven weeks isn't syntax. It's judgment — the ability to look at a problem and identify which storage model serves it best. The real world doesn't label its problems "this is a Redis problem" or "this is a Neo4j problem." You have to see through the surface requirements to the underlying data structure. A Redis cache + PostgreSQL + Neo4j graph + Cassandra time-series might all coexist in one production application, each doing what it does best. Engineers who can navigate that landscape without defaulting to "just use Postgres for everything" are genuinely rare.</a:t>
            </a:r>
            <a:endParaRPr/>
          </a:p>
          <a:p>
            <a:pPr>
              <a:defRPr/>
            </a:pPr>
            <a:endParaRPr/>
          </a:p>
          <a:p>
            <a:pPr>
              <a:defRPr/>
            </a:pPr>
            <a:r>
              <a:rPr/>
              <a:t>The fundamentals transfer. Raft consensus, CAP/PACELC trade-offs, replication strategies, consistency models — these don't change when the database product changes. They're the underlying physics of distributed systems. Every new database that appears over the next decade will be making the same fundamental trade-offs we studied. Investing in understanding the fundamentals means your knowledge doesn't expire.</a:t>
            </a:r>
            <a:endParaRPr/>
          </a:p>
          <a:p>
            <a:pPr>
              <a:defRPr/>
            </a:pPr>
            <a:endParaRPr/>
          </a:p>
          <a:p>
            <a:pPr>
              <a:defRPr/>
            </a:pPr>
            <a:r>
              <a:rPr/>
              <a:t>Graph databases specifically are growing fast. Knowledge graphs are the retrieval layer for the next generation of AI applications. GQL standardisation in 2024 means graph query skills will be as foundational as SQL skills within five years. You're early to a field that's about to become mainstream — that's a good position to be in.</a:t>
            </a:r>
            <a:endParaRPr/>
          </a:p>
          <a:p>
            <a:pPr>
              <a:defRPr/>
            </a:pPr>
            <a:endParaRPr/>
          </a:p>
          <a:p>
            <a:pPr>
              <a:defRPr/>
            </a:pPr>
            <a:r>
              <a:rPr/>
              <a:t>I'm available during office hours for any questions as you prepare for the exam. The lab environment stays accessible until the end of the semester — use it to practice.</a:t>
            </a:r>
            <a:endParaRPr/>
          </a:p>
          <a:p>
            <a:pPr>
              <a:defRPr/>
            </a:pPr>
            <a:endParaRPr/>
          </a:p>
          <a:p>
            <a:pPr>
              <a:defRPr/>
            </a:pPr>
            <a:r>
              <a:rPr/>
              <a:t>Καλή επιτυχία — good luck to all of you.</a:t>
            </a:r>
            <a:endParaRPr/>
          </a:p>
        </p:txBody>
      </p:sp>
      <p:sp>
        <p:nvSpPr>
          <p:cNvPr id="553358268" name="Slide Number Placeholder 3"/>
          <p:cNvSpPr>
            <a:spLocks noGrp="1"/>
          </p:cNvSpPr>
          <p:nvPr>
            <p:ph type="sldNum" sz="quarter" idx="10"/>
          </p:nvPr>
        </p:nvSpPr>
        <p:spPr bwMode="auto"/>
        <p:txBody>
          <a:bodyPr/>
          <a:lstStyle/>
          <a:p>
            <a:pPr>
              <a:defRPr/>
            </a:pPr>
            <a:fld id="{F7021451-1387-4CA6-816F-3879F97B5CBC}" type="slidenum">
              <a:rPr lang="en-US"/>
              <a:t>52</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A2A52"/>
        </a:solidFill>
      </p:bgPr>
    </p:bg>
    <p:spTree>
      <p:nvGrpSpPr>
        <p:cNvPr id="1" name=""/>
        <p:cNvGrpSpPr/>
        <p:nvPr/>
      </p:nvGrpSpPr>
      <p:grpSpPr bwMode="auto">
        <a:xfrm>
          <a:off x="0" y="0"/>
          <a:ext cx="0" cy="0"/>
          <a:chOff x="0" y="0"/>
          <a:chExt cx="0" cy="0"/>
        </a:xfrm>
      </p:grpSpPr>
      <p:sp>
        <p:nvSpPr>
          <p:cNvPr id="1830408858"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815880019" name="Shape 1"/>
          <p:cNvSpPr/>
          <p:nvPr/>
        </p:nvSpPr>
        <p:spPr bwMode="auto">
          <a:xfrm>
            <a:off x="7772400" y="0"/>
            <a:ext cx="1371600" cy="5143500"/>
          </a:xfrm>
          <a:prstGeom prst="rect">
            <a:avLst/>
          </a:prstGeom>
          <a:solidFill>
            <a:srgbClr val="243C72"/>
          </a:solidFill>
          <a:ln w="12700">
            <a:solidFill>
              <a:srgbClr val="243C72"/>
            </a:solidFill>
            <a:prstDash val="solid"/>
          </a:ln>
        </p:spPr>
      </p:sp>
      <p:sp>
        <p:nvSpPr>
          <p:cNvPr id="270285556" name="Text 2"/>
          <p:cNvSpPr/>
          <p:nvPr/>
        </p:nvSpPr>
        <p:spPr bwMode="auto">
          <a:xfrm>
            <a:off x="640080" y="960120"/>
            <a:ext cx="6400800" cy="457200"/>
          </a:xfrm>
          <a:prstGeom prst="rect">
            <a:avLst/>
          </a:prstGeom>
          <a:noFill/>
          <a:ln/>
        </p:spPr>
        <p:txBody>
          <a:bodyPr wrap="square" lIns="0" tIns="0" rIns="0" bIns="0" rtlCol="0" anchor="ctr"/>
          <a:lstStyle/>
          <a:p>
            <a:pPr marL="0" indent="0">
              <a:buNone/>
              <a:defRPr/>
            </a:pPr>
            <a:r>
              <a:rPr lang="en-US" sz="2200" i="1">
                <a:solidFill>
                  <a:srgbClr val="5BB3F0"/>
                </a:solidFill>
                <a:latin typeface="Calibri"/>
                <a:ea typeface="Calibri"/>
                <a:cs typeface="Calibri"/>
              </a:rPr>
              <a:t>Advanced Data Management</a:t>
            </a:r>
            <a:endParaRPr lang="en-US" sz="2200"/>
          </a:p>
        </p:txBody>
      </p:sp>
      <p:sp>
        <p:nvSpPr>
          <p:cNvPr id="1336404456" name="Text 3"/>
          <p:cNvSpPr/>
          <p:nvPr/>
        </p:nvSpPr>
        <p:spPr bwMode="auto">
          <a:xfrm>
            <a:off x="640080" y="1417320"/>
            <a:ext cx="7315200" cy="1783080"/>
          </a:xfrm>
          <a:prstGeom prst="rect">
            <a:avLst/>
          </a:prstGeom>
          <a:noFill/>
          <a:ln/>
        </p:spPr>
        <p:txBody>
          <a:bodyPr wrap="square" lIns="0" tIns="0" rIns="0" bIns="0" rtlCol="0" anchor="t"/>
          <a:lstStyle/>
          <a:p>
            <a:pPr marL="0" indent="0">
              <a:buNone/>
              <a:defRPr/>
            </a:pPr>
            <a:r>
              <a:rPr lang="en-US" sz="5400" b="1">
                <a:solidFill>
                  <a:srgbClr val="FFFFFF"/>
                </a:solidFill>
                <a:latin typeface="Calibri"/>
                <a:ea typeface="Calibri"/>
                <a:cs typeface="Calibri"/>
              </a:rPr>
              <a:t>Graph</a:t>
            </a:r>
            <a:endParaRPr lang="en-US" sz="5400"/>
          </a:p>
          <a:p>
            <a:pPr marL="0" indent="0">
              <a:buNone/>
              <a:defRPr/>
            </a:pPr>
            <a:r>
              <a:rPr lang="en-US" sz="5400" b="1">
                <a:solidFill>
                  <a:srgbClr val="FFFFFF"/>
                </a:solidFill>
                <a:latin typeface="Calibri"/>
                <a:ea typeface="Calibri"/>
                <a:cs typeface="Calibri"/>
              </a:rPr>
              <a:t>NoSQL Databases</a:t>
            </a:r>
            <a:endParaRPr lang="en-US" sz="5400"/>
          </a:p>
        </p:txBody>
      </p:sp>
      <p:sp>
        <p:nvSpPr>
          <p:cNvPr id="1562393060" name="Text 4"/>
          <p:cNvSpPr/>
          <p:nvPr/>
        </p:nvSpPr>
        <p:spPr bwMode="auto">
          <a:xfrm>
            <a:off x="640080" y="3657600"/>
            <a:ext cx="6858000" cy="822960"/>
          </a:xfrm>
          <a:prstGeom prst="rect">
            <a:avLst/>
          </a:prstGeom>
          <a:noFill/>
          <a:ln/>
        </p:spPr>
        <p:txBody>
          <a:bodyPr wrap="square" lIns="0" tIns="0" rIns="0" bIns="0" rtlCol="0" anchor="t"/>
          <a:lstStyle/>
          <a:p>
            <a:pPr marL="0" indent="0">
              <a:buNone/>
              <a:defRPr/>
            </a:pPr>
            <a:r>
              <a:rPr lang="en-US" sz="1400">
                <a:solidFill>
                  <a:srgbClr val="E8EEF7"/>
                </a:solidFill>
              </a:rPr>
              <a:t>Week 7 — Final Chapter:  Property Graphs, Cypher &amp; Hands-On Lab</a:t>
            </a:r>
            <a:endParaRPr lang="en-US" sz="1400"/>
          </a:p>
          <a:p>
            <a:pPr marL="0" indent="0">
              <a:buNone/>
              <a:defRPr/>
            </a:pPr>
            <a:r>
              <a:rPr lang="en-US" sz="1300">
                <a:solidFill>
                  <a:srgbClr val="E8EEF7"/>
                </a:solidFill>
              </a:rPr>
              <a:t>Bachelor of Electrical &amp; Computer Engineering · 4-Hour Lecture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1A2A52"/>
        </a:solidFill>
      </p:bgPr>
    </p:bg>
    <p:spTree>
      <p:nvGrpSpPr>
        <p:cNvPr id="1" name=""/>
        <p:cNvGrpSpPr/>
        <p:nvPr/>
      </p:nvGrpSpPr>
      <p:grpSpPr bwMode="auto">
        <a:xfrm>
          <a:off x="0" y="0"/>
          <a:ext cx="0" cy="0"/>
          <a:chOff x="0" y="0"/>
          <a:chExt cx="0" cy="0"/>
        </a:xfrm>
      </p:grpSpPr>
      <p:sp>
        <p:nvSpPr>
          <p:cNvPr id="975746402"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Agenda — What We Cover Today</a:t>
            </a:r>
            <a:endParaRPr lang="en-US" sz="3000"/>
          </a:p>
        </p:txBody>
      </p:sp>
      <p:sp>
        <p:nvSpPr>
          <p:cNvPr id="21901122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953897721" name="Text 2"/>
          <p:cNvSpPr/>
          <p:nvPr/>
        </p:nvSpPr>
        <p:spPr bwMode="auto">
          <a:xfrm>
            <a:off x="822960" y="1143000"/>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1</a:t>
            </a:r>
            <a:r>
              <a:rPr lang="en-US" sz="1400">
                <a:solidFill>
                  <a:srgbClr val="E8EEF7"/>
                </a:solidFill>
              </a:rPr>
              <a:t> — </a:t>
            </a:r>
            <a:r>
              <a:rPr lang="en-US" sz="1400">
                <a:solidFill>
                  <a:srgbClr val="E8EEF7"/>
                </a:solidFill>
              </a:rPr>
              <a:t>Graph Fundamentals &amp; Why Connected Data Is Different</a:t>
            </a:r>
            <a:endParaRPr lang="en-US" sz="1400"/>
          </a:p>
        </p:txBody>
      </p:sp>
      <p:sp>
        <p:nvSpPr>
          <p:cNvPr id="131995617" name="Text 3"/>
          <p:cNvSpPr/>
          <p:nvPr/>
        </p:nvSpPr>
        <p:spPr bwMode="auto">
          <a:xfrm>
            <a:off x="822960" y="1709928"/>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2</a:t>
            </a:r>
            <a:r>
              <a:rPr lang="en-US" sz="1400">
                <a:solidFill>
                  <a:srgbClr val="E8EEF7"/>
                </a:solidFill>
              </a:rPr>
              <a:t> — </a:t>
            </a:r>
            <a:r>
              <a:rPr lang="en-US" sz="1400">
                <a:solidFill>
                  <a:srgbClr val="E8EEF7"/>
                </a:solidFill>
              </a:rPr>
              <a:t>The Property Graph Data Model: Nodes, Edges, Labels &amp; Properties</a:t>
            </a:r>
            <a:endParaRPr lang="en-US" sz="1400"/>
          </a:p>
        </p:txBody>
      </p:sp>
      <p:sp>
        <p:nvSpPr>
          <p:cNvPr id="1100295939" name="Text 4"/>
          <p:cNvSpPr/>
          <p:nvPr/>
        </p:nvSpPr>
        <p:spPr bwMode="auto">
          <a:xfrm>
            <a:off x="822960" y="2276856"/>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3</a:t>
            </a:r>
            <a:r>
              <a:rPr lang="en-US" sz="1400">
                <a:solidFill>
                  <a:srgbClr val="E8EEF7"/>
                </a:solidFill>
              </a:rPr>
              <a:t> — </a:t>
            </a:r>
            <a:r>
              <a:rPr lang="en-US" sz="1400">
                <a:solidFill>
                  <a:srgbClr val="E8EEF7"/>
                </a:solidFill>
              </a:rPr>
              <a:t>State-of-the-Art Systems: Neo4j, Neptune, TigerGraph, Memgraph &amp; Cloud</a:t>
            </a:r>
            <a:endParaRPr lang="en-US" sz="1400"/>
          </a:p>
        </p:txBody>
      </p:sp>
      <p:sp>
        <p:nvSpPr>
          <p:cNvPr id="1025123781" name="Text 5"/>
          <p:cNvSpPr/>
          <p:nvPr/>
        </p:nvSpPr>
        <p:spPr bwMode="auto">
          <a:xfrm>
            <a:off x="822960" y="2843784"/>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4</a:t>
            </a:r>
            <a:r>
              <a:rPr lang="en-US" sz="1400">
                <a:solidFill>
                  <a:srgbClr val="E8EEF7"/>
                </a:solidFill>
              </a:rPr>
              <a:t> — </a:t>
            </a:r>
            <a:r>
              <a:rPr lang="en-US" sz="1400">
                <a:solidFill>
                  <a:srgbClr val="E8EEF7"/>
                </a:solidFill>
              </a:rPr>
              <a:t>Cypher &amp; GQL: The Graph Query Languages</a:t>
            </a:r>
            <a:endParaRPr lang="en-US" sz="1400"/>
          </a:p>
        </p:txBody>
      </p:sp>
      <p:sp>
        <p:nvSpPr>
          <p:cNvPr id="887012180" name="Text 6"/>
          <p:cNvSpPr/>
          <p:nvPr/>
        </p:nvSpPr>
        <p:spPr bwMode="auto">
          <a:xfrm>
            <a:off x="822960" y="3410712"/>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5</a:t>
            </a:r>
            <a:r>
              <a:rPr lang="en-US" sz="1400">
                <a:solidFill>
                  <a:srgbClr val="E8EEF7"/>
                </a:solidFill>
              </a:rPr>
              <a:t> — </a:t>
            </a:r>
            <a:r>
              <a:rPr lang="en-US" sz="1400">
                <a:solidFill>
                  <a:srgbClr val="E8EEF7"/>
                </a:solidFill>
              </a:rPr>
              <a:t>Graph Algorithms, Real-World Use Cases &amp; Distributed Graph Engines</a:t>
            </a:r>
            <a:endParaRPr lang="en-US" sz="1400"/>
          </a:p>
        </p:txBody>
      </p:sp>
      <p:sp>
        <p:nvSpPr>
          <p:cNvPr id="1063349049" name="Text 7"/>
          <p:cNvSpPr/>
          <p:nvPr/>
        </p:nvSpPr>
        <p:spPr bwMode="auto">
          <a:xfrm>
            <a:off x="822960" y="3977640"/>
            <a:ext cx="7863840" cy="411480"/>
          </a:xfrm>
          <a:prstGeom prst="rect">
            <a:avLst/>
          </a:prstGeom>
          <a:noFill/>
          <a:ln/>
        </p:spPr>
        <p:txBody>
          <a:bodyPr wrap="square" lIns="0" tIns="0" rIns="0" bIns="0" rtlCol="0" anchor="ctr"/>
          <a:lstStyle/>
          <a:p>
            <a:pPr marL="0" indent="0">
              <a:buNone/>
              <a:defRPr/>
            </a:pPr>
            <a:r>
              <a:rPr lang="en-US" sz="1400" b="1">
                <a:solidFill>
                  <a:srgbClr val="4A9FE7"/>
                </a:solidFill>
              </a:rPr>
              <a:t>MODULE 6</a:t>
            </a:r>
            <a:r>
              <a:rPr lang="en-US" sz="1400">
                <a:solidFill>
                  <a:srgbClr val="E8EEF7"/>
                </a:solidFill>
              </a:rPr>
              <a:t> — </a:t>
            </a:r>
            <a:r>
              <a:rPr lang="en-US" sz="1400">
                <a:solidFill>
                  <a:srgbClr val="E8EEF7"/>
                </a:solidFill>
              </a:rPr>
              <a:t>LAB: Apache Neo4j on Linux (Docker + cypher-shell)</a:t>
            </a:r>
            <a:endParaRPr lang="en-US" sz="1400"/>
          </a:p>
        </p:txBody>
      </p:sp>
      <p:sp>
        <p:nvSpPr>
          <p:cNvPr id="257047012" name="Text 8"/>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1A2A52"/>
        </a:solidFill>
      </p:bgPr>
    </p:bg>
    <p:spTree>
      <p:nvGrpSpPr>
        <p:cNvPr id="1" name=""/>
        <p:cNvGrpSpPr/>
        <p:nvPr/>
      </p:nvGrpSpPr>
      <p:grpSpPr bwMode="auto">
        <a:xfrm>
          <a:off x="0" y="0"/>
          <a:ext cx="0" cy="0"/>
          <a:chOff x="0" y="0"/>
          <a:chExt cx="0" cy="0"/>
        </a:xfrm>
      </p:grpSpPr>
      <p:sp>
        <p:nvSpPr>
          <p:cNvPr id="1831380214"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174478369"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1</a:t>
            </a:r>
            <a:endParaRPr lang="en-US" sz="4800"/>
          </a:p>
        </p:txBody>
      </p:sp>
      <p:sp>
        <p:nvSpPr>
          <p:cNvPr id="1247492333"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Graph Fundamentals &amp; Why Connected Data Is Different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1A2A52"/>
        </a:solidFill>
      </p:bgPr>
    </p:bg>
    <p:spTree>
      <p:nvGrpSpPr>
        <p:cNvPr id="1" name=""/>
        <p:cNvGrpSpPr/>
        <p:nvPr/>
      </p:nvGrpSpPr>
      <p:grpSpPr bwMode="auto">
        <a:xfrm>
          <a:off x="0" y="0"/>
          <a:ext cx="0" cy="0"/>
          <a:chOff x="0" y="0"/>
          <a:chExt cx="0" cy="0"/>
        </a:xfrm>
      </p:grpSpPr>
      <p:sp>
        <p:nvSpPr>
          <p:cNvPr id="198003513"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The Four NoSQL Families</a:t>
            </a:r>
            <a:endParaRPr lang="en-US" sz="3000"/>
          </a:p>
        </p:txBody>
      </p:sp>
      <p:sp>
        <p:nvSpPr>
          <p:cNvPr id="44599123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685746639" name="Shape 2"/>
          <p:cNvSpPr/>
          <p:nvPr/>
        </p:nvSpPr>
        <p:spPr bwMode="auto">
          <a:xfrm>
            <a:off x="4572000" y="1143000"/>
            <a:ext cx="22860" cy="3474720"/>
          </a:xfrm>
          <a:prstGeom prst="rect">
            <a:avLst/>
          </a:prstGeom>
          <a:solidFill>
            <a:srgbClr val="5BB3F0"/>
          </a:solidFill>
          <a:ln w="12700">
            <a:solidFill>
              <a:srgbClr val="5BB3F0"/>
            </a:solidFill>
            <a:prstDash val="solid"/>
          </a:ln>
        </p:spPr>
      </p:sp>
      <p:sp>
        <p:nvSpPr>
          <p:cNvPr id="1888565884" name="Text 3"/>
          <p:cNvSpPr/>
          <p:nvPr/>
        </p:nvSpPr>
        <p:spPr bwMode="auto">
          <a:xfrm>
            <a:off x="548640" y="1143000"/>
            <a:ext cx="3931920" cy="347472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KEY-VALUE STORES</a:t>
            </a:r>
            <a:endParaRPr lang="en-US" sz="1300"/>
          </a:p>
          <a:p>
            <a:pPr marL="342900" indent="-342900">
              <a:spcAft>
                <a:spcPts val="600"/>
              </a:spcAft>
              <a:buSzPct val="100000"/>
              <a:buChar char="▶"/>
              <a:defRPr/>
            </a:pPr>
            <a:r>
              <a:rPr lang="en-US" sz="1300">
                <a:solidFill>
                  <a:srgbClr val="E8EEF7"/>
                </a:solidFill>
              </a:rPr>
              <a:t>Redis, DynamoDB</a:t>
            </a:r>
            <a:endParaRPr lang="en-US" sz="1300"/>
          </a:p>
          <a:p>
            <a:pPr marL="342900" indent="-342900">
              <a:spcAft>
                <a:spcPts val="600"/>
              </a:spcAft>
              <a:buSzPct val="100000"/>
              <a:buChar char="▶"/>
              <a:defRPr/>
            </a:pPr>
            <a:r>
              <a:rPr lang="en-US" sz="1300">
                <a:solidFill>
                  <a:srgbClr val="E8EEF7"/>
                </a:solidFill>
              </a:rPr>
              <a:t>One key → one opaque value</a:t>
            </a:r>
            <a:endParaRPr lang="en-US" sz="1300"/>
          </a:p>
          <a:p>
            <a:pPr marL="342900" indent="-342900">
              <a:spcAft>
                <a:spcPts val="600"/>
              </a:spcAft>
              <a:buSzPct val="100000"/>
              <a:buChar char="▶"/>
              <a:defRPr/>
            </a:pPr>
            <a:r>
              <a:rPr lang="en-US" sz="1300">
                <a:solidFill>
                  <a:srgbClr val="E8EEF7"/>
                </a:solidFill>
              </a:rPr>
              <a:t>Fastest read/write; no relations</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DOCUMENT STORES</a:t>
            </a:r>
            <a:endParaRPr lang="en-US" sz="1300"/>
          </a:p>
          <a:p>
            <a:pPr marL="342900" indent="-342900">
              <a:spcAft>
                <a:spcPts val="600"/>
              </a:spcAft>
              <a:buSzPct val="100000"/>
              <a:buChar char="▶"/>
              <a:defRPr/>
            </a:pPr>
            <a:r>
              <a:rPr lang="en-US" sz="1300">
                <a:solidFill>
                  <a:srgbClr val="E8EEF7"/>
                </a:solidFill>
              </a:rPr>
              <a:t>MongoDB, CouchDB</a:t>
            </a:r>
            <a:endParaRPr lang="en-US" sz="1300"/>
          </a:p>
          <a:p>
            <a:pPr marL="342900" indent="-342900">
              <a:spcAft>
                <a:spcPts val="600"/>
              </a:spcAft>
              <a:buSzPct val="100000"/>
              <a:buChar char="▶"/>
              <a:defRPr/>
            </a:pPr>
            <a:r>
              <a:rPr lang="en-US" sz="1300">
                <a:solidFill>
                  <a:srgbClr val="E8EEF7"/>
                </a:solidFill>
              </a:rPr>
              <a:t>Self-contained JSON documents</a:t>
            </a:r>
            <a:endParaRPr lang="en-US" sz="1300"/>
          </a:p>
          <a:p>
            <a:pPr marL="342900" indent="-342900">
              <a:spcAft>
                <a:spcPts val="600"/>
              </a:spcAft>
              <a:buSzPct val="100000"/>
              <a:buChar char="▶"/>
              <a:defRPr/>
            </a:pPr>
            <a:r>
              <a:rPr lang="en-US" sz="1300">
                <a:solidFill>
                  <a:srgbClr val="E8EEF7"/>
                </a:solidFill>
              </a:rPr>
              <a:t>Query nested fields, no JOINs</a:t>
            </a:r>
            <a:endParaRPr lang="en-US" sz="1300"/>
          </a:p>
        </p:txBody>
      </p:sp>
      <p:sp>
        <p:nvSpPr>
          <p:cNvPr id="584985444" name="Text 4"/>
          <p:cNvSpPr/>
          <p:nvPr/>
        </p:nvSpPr>
        <p:spPr bwMode="auto">
          <a:xfrm>
            <a:off x="4800600" y="1143000"/>
            <a:ext cx="3931920" cy="347472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COLUMN-FAMILY STORES</a:t>
            </a:r>
            <a:endParaRPr lang="en-US" sz="1300"/>
          </a:p>
          <a:p>
            <a:pPr marL="342900" indent="-342900">
              <a:spcAft>
                <a:spcPts val="600"/>
              </a:spcAft>
              <a:buSzPct val="100000"/>
              <a:buChar char="▶"/>
              <a:defRPr/>
            </a:pPr>
            <a:r>
              <a:rPr lang="en-US" sz="1300">
                <a:solidFill>
                  <a:srgbClr val="E8EEF7"/>
                </a:solidFill>
              </a:rPr>
              <a:t>Cassandra, HBase, ScyllaDB</a:t>
            </a:r>
            <a:endParaRPr lang="en-US" sz="1300"/>
          </a:p>
          <a:p>
            <a:pPr marL="342900" indent="-342900">
              <a:spcAft>
                <a:spcPts val="600"/>
              </a:spcAft>
              <a:buSzPct val="100000"/>
              <a:buChar char="▶"/>
              <a:defRPr/>
            </a:pPr>
            <a:r>
              <a:rPr lang="en-US" sz="1300">
                <a:solidFill>
                  <a:srgbClr val="E8EEF7"/>
                </a:solidFill>
              </a:rPr>
              <a:t>Sparse rows, dynamic columns</a:t>
            </a:r>
            <a:endParaRPr lang="en-US" sz="1300"/>
          </a:p>
          <a:p>
            <a:pPr marL="342900" indent="-342900">
              <a:spcAft>
                <a:spcPts val="600"/>
              </a:spcAft>
              <a:buSzPct val="100000"/>
              <a:buChar char="▶"/>
              <a:defRPr/>
            </a:pPr>
            <a:r>
              <a:rPr lang="en-US" sz="1300">
                <a:solidFill>
                  <a:srgbClr val="E8EEF7"/>
                </a:solidFill>
              </a:rPr>
              <a:t>Time-series, write-heavy analytics</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GRAPH DATABASES  ← TODAY</a:t>
            </a:r>
            <a:endParaRPr lang="en-US" sz="1300"/>
          </a:p>
          <a:p>
            <a:pPr marL="342900" indent="-342900">
              <a:spcAft>
                <a:spcPts val="600"/>
              </a:spcAft>
              <a:buSzPct val="100000"/>
              <a:buChar char="▶"/>
              <a:defRPr/>
            </a:pPr>
            <a:r>
              <a:rPr lang="en-US" sz="1300">
                <a:solidFill>
                  <a:srgbClr val="E8EEF7"/>
                </a:solidFill>
              </a:rPr>
              <a:t>Neo4j, Neptune, TigerGraph</a:t>
            </a:r>
            <a:endParaRPr lang="en-US" sz="1300"/>
          </a:p>
          <a:p>
            <a:pPr marL="342900" indent="-342900">
              <a:spcAft>
                <a:spcPts val="600"/>
              </a:spcAft>
              <a:buSzPct val="100000"/>
              <a:buChar char="▶"/>
              <a:defRPr/>
            </a:pPr>
            <a:r>
              <a:rPr lang="en-US" sz="1300">
                <a:solidFill>
                  <a:srgbClr val="E8EEF7"/>
                </a:solidFill>
              </a:rPr>
              <a:t>Nodes + edges as first-class citizens</a:t>
            </a:r>
            <a:endParaRPr lang="en-US" sz="1300"/>
          </a:p>
          <a:p>
            <a:pPr marL="342900" indent="-342900">
              <a:spcAft>
                <a:spcPts val="600"/>
              </a:spcAft>
              <a:buSzPct val="100000"/>
              <a:buChar char="▶"/>
              <a:defRPr/>
            </a:pPr>
            <a:r>
              <a:rPr lang="en-US" sz="1300">
                <a:solidFill>
                  <a:srgbClr val="E8EEF7"/>
                </a:solidFill>
              </a:rPr>
              <a:t>Connected data: networks, fraud, KG</a:t>
            </a:r>
            <a:endParaRPr lang="en-US" sz="1300"/>
          </a:p>
        </p:txBody>
      </p:sp>
      <p:sp>
        <p:nvSpPr>
          <p:cNvPr id="778720600"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1A2A52"/>
        </a:solidFill>
      </p:bgPr>
    </p:bg>
    <p:spTree>
      <p:nvGrpSpPr>
        <p:cNvPr id="1" name=""/>
        <p:cNvGrpSpPr/>
        <p:nvPr/>
      </p:nvGrpSpPr>
      <p:grpSpPr bwMode="auto">
        <a:xfrm>
          <a:off x="0" y="0"/>
          <a:ext cx="0" cy="0"/>
          <a:chOff x="0" y="0"/>
          <a:chExt cx="0" cy="0"/>
        </a:xfrm>
      </p:grpSpPr>
      <p:sp>
        <p:nvSpPr>
          <p:cNvPr id="67242637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What Is a Graph Database?</a:t>
            </a:r>
            <a:endParaRPr lang="en-US" sz="3000"/>
          </a:p>
        </p:txBody>
      </p:sp>
      <p:sp>
        <p:nvSpPr>
          <p:cNvPr id="144862948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125457441"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Stores data as a network: NODES (entities) connected by EDGES (relationships) — both can carry PROPERTIES</a:t>
            </a:r>
            <a:endParaRPr lang="en-US" sz="1300"/>
          </a:p>
          <a:p>
            <a:pPr marL="342900" indent="-342900">
              <a:spcAft>
                <a:spcPts val="600"/>
              </a:spcAft>
              <a:buSzPct val="100000"/>
              <a:buChar char="▶"/>
              <a:defRPr/>
            </a:pPr>
            <a:r>
              <a:rPr lang="en-US" sz="1300">
                <a:solidFill>
                  <a:srgbClr val="E8EEF7"/>
                </a:solidFill>
              </a:rPr>
              <a:t>Relationships are first-class citizens — stored physically, not computed at query time via JOINs</a:t>
            </a:r>
            <a:endParaRPr lang="en-US" sz="1300"/>
          </a:p>
          <a:p>
            <a:pPr marL="342900" indent="-342900">
              <a:spcAft>
                <a:spcPts val="600"/>
              </a:spcAft>
              <a:buSzPct val="100000"/>
              <a:buChar char="▶"/>
              <a:defRPr/>
            </a:pPr>
            <a:r>
              <a:rPr lang="en-US" sz="1300">
                <a:solidFill>
                  <a:srgbClr val="E8EEF7"/>
                </a:solidFill>
              </a:rPr>
              <a:t>Two dominant models: Labelled Property Graph (LPG) — Neo4j, TigerGraph; and RDF Triple Stores — GraphDB, Stardog</a:t>
            </a:r>
            <a:endParaRPr lang="en-US" sz="1300"/>
          </a:p>
          <a:p>
            <a:pPr marL="342900" indent="-342900">
              <a:spcAft>
                <a:spcPts val="600"/>
              </a:spcAft>
              <a:buSzPct val="100000"/>
              <a:buChar char="▶"/>
              <a:defRPr/>
            </a:pPr>
            <a:r>
              <a:rPr lang="en-US" sz="1300">
                <a:solidFill>
                  <a:srgbClr val="E8EEF7"/>
                </a:solidFill>
              </a:rPr>
              <a:t>Roots in graph theory (Euler, 1736) and the Semantic Web (W3C RDF, 2004); modern revival driven by LinkedIn, Facebook &amp; fraud teams</a:t>
            </a:r>
            <a:endParaRPr lang="en-US" sz="1300"/>
          </a:p>
          <a:p>
            <a:pPr marL="342900" indent="-342900">
              <a:spcAft>
                <a:spcPts val="600"/>
              </a:spcAft>
              <a:buSzPct val="100000"/>
              <a:buChar char="▶"/>
              <a:defRPr/>
            </a:pPr>
            <a:r>
              <a:rPr lang="en-US" sz="1300">
                <a:solidFill>
                  <a:srgbClr val="E8EEF7"/>
                </a:solidFill>
              </a:rPr>
              <a:t>Schema-optional: nodes can have heterogeneous properties; constraints and indexes are added where needed</a:t>
            </a:r>
            <a:endParaRPr lang="en-US" sz="1300"/>
          </a:p>
          <a:p>
            <a:pPr marL="342900" indent="-342900">
              <a:spcAft>
                <a:spcPts val="600"/>
              </a:spcAft>
              <a:buSzPct val="100000"/>
              <a:buChar char="▶"/>
              <a:defRPr/>
            </a:pPr>
            <a:r>
              <a:rPr lang="en-US" sz="1300">
                <a:solidFill>
                  <a:srgbClr val="E8EEF7"/>
                </a:solidFill>
              </a:rPr>
              <a:t>Optimised for: deep traversals, pattern matching, recommendations, fraud detection, knowledge graphs, network analysis</a:t>
            </a:r>
            <a:endParaRPr lang="en-US" sz="1300"/>
          </a:p>
          <a:p>
            <a:pPr marL="342900" indent="-342900">
              <a:spcAft>
                <a:spcPts val="600"/>
              </a:spcAft>
              <a:buSzPct val="100000"/>
              <a:buChar char="▶"/>
              <a:defRPr/>
            </a:pPr>
            <a:r>
              <a:rPr lang="en-US" sz="1300">
                <a:solidFill>
                  <a:srgbClr val="E8EEF7"/>
                </a:solidFill>
              </a:rPr>
              <a:t>Core idea: model your data as it actually IS — a network — instead of forcing it into rectangular tables</a:t>
            </a:r>
            <a:endParaRPr lang="en-US" sz="1300"/>
          </a:p>
        </p:txBody>
      </p:sp>
      <p:sp>
        <p:nvSpPr>
          <p:cNvPr id="1003162305"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1A2A52"/>
        </a:solidFill>
      </p:bgPr>
    </p:bg>
    <p:spTree>
      <p:nvGrpSpPr>
        <p:cNvPr id="1" name=""/>
        <p:cNvGrpSpPr/>
        <p:nvPr/>
      </p:nvGrpSpPr>
      <p:grpSpPr bwMode="auto">
        <a:xfrm>
          <a:off x="0" y="0"/>
          <a:ext cx="0" cy="0"/>
          <a:chOff x="0" y="0"/>
          <a:chExt cx="0" cy="0"/>
        </a:xfrm>
      </p:grpSpPr>
      <p:sp>
        <p:nvSpPr>
          <p:cNvPr id="1261259291"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Relational JOINs vs Native Graph Traversal</a:t>
            </a:r>
            <a:endParaRPr lang="en-US" sz="3000"/>
          </a:p>
        </p:txBody>
      </p:sp>
      <p:sp>
        <p:nvSpPr>
          <p:cNvPr id="120979001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917773634"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949836894"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RELATIONAL APPROACH</a:t>
            </a:r>
            <a:endParaRPr lang="en-US" sz="1300"/>
          </a:p>
          <a:p>
            <a:pPr marL="342900" indent="-342900">
              <a:spcAft>
                <a:spcPts val="600"/>
              </a:spcAft>
              <a:buSzPct val="100000"/>
              <a:buChar char="▶"/>
              <a:defRPr/>
            </a:pPr>
            <a:r>
              <a:rPr lang="en-US" sz="1300">
                <a:solidFill>
                  <a:srgbClr val="E8EEF7"/>
                </a:solidFill>
              </a:rPr>
              <a:t>Friendships stored in a join table</a:t>
            </a:r>
            <a:endParaRPr lang="en-US" sz="1300"/>
          </a:p>
          <a:p>
            <a:pPr marL="342900" indent="-342900">
              <a:spcAft>
                <a:spcPts val="600"/>
              </a:spcAft>
              <a:buSzPct val="100000"/>
              <a:buChar char="▶"/>
              <a:defRPr/>
            </a:pPr>
            <a:r>
              <a:rPr lang="en-US" sz="1300">
                <a:solidFill>
                  <a:srgbClr val="E8EEF7"/>
                </a:solidFill>
              </a:rPr>
              <a:t>Friend-of-friend = JOIN × JOIN × JOIN</a:t>
            </a:r>
            <a:endParaRPr lang="en-US" sz="1300"/>
          </a:p>
          <a:p>
            <a:pPr marL="342900" indent="-342900">
              <a:spcAft>
                <a:spcPts val="600"/>
              </a:spcAft>
              <a:buSzPct val="100000"/>
              <a:buChar char="▶"/>
              <a:defRPr/>
            </a:pPr>
            <a:r>
              <a:rPr lang="en-US" sz="1300">
                <a:solidFill>
                  <a:srgbClr val="E8EEF7"/>
                </a:solidFill>
              </a:rPr>
              <a:t>Cost grows MULTIPLICATIVELY with depth</a:t>
            </a:r>
            <a:endParaRPr lang="en-US" sz="1300"/>
          </a:p>
          <a:p>
            <a:pPr marL="342900" indent="-342900">
              <a:spcAft>
                <a:spcPts val="600"/>
              </a:spcAft>
              <a:buSzPct val="100000"/>
              <a:buChar char="▶"/>
              <a:defRPr/>
            </a:pPr>
            <a:r>
              <a:rPr lang="en-US" sz="1300">
                <a:solidFill>
                  <a:srgbClr val="E8EEF7"/>
                </a:solidFill>
              </a:rPr>
              <a:t>5-hop query on social graph ≈ unusable</a:t>
            </a:r>
            <a:endParaRPr lang="en-US" sz="1300"/>
          </a:p>
          <a:p>
            <a:pPr marL="342900" indent="-342900">
              <a:spcAft>
                <a:spcPts val="600"/>
              </a:spcAft>
              <a:buSzPct val="100000"/>
              <a:buChar char="▶"/>
              <a:defRPr/>
            </a:pPr>
            <a:r>
              <a:rPr lang="en-US" sz="1300">
                <a:solidFill>
                  <a:srgbClr val="E8EEF7"/>
                </a:solidFill>
              </a:rPr>
              <a:t>Indexes help, but each JOIN scans rows</a:t>
            </a:r>
            <a:endParaRPr lang="en-US" sz="1300"/>
          </a:p>
          <a:p>
            <a:pPr marL="342900" indent="-342900">
              <a:spcAft>
                <a:spcPts val="600"/>
              </a:spcAft>
              <a:buSzPct val="100000"/>
              <a:buChar char="▶"/>
              <a:defRPr/>
            </a:pPr>
            <a:r>
              <a:rPr lang="en-US" sz="1300">
                <a:solidFill>
                  <a:srgbClr val="E8EEF7"/>
                </a:solidFill>
              </a:rPr>
              <a:t>Query plan complexity explodes at depth</a:t>
            </a:r>
            <a:endParaRPr lang="en-US" sz="1300"/>
          </a:p>
        </p:txBody>
      </p:sp>
      <p:sp>
        <p:nvSpPr>
          <p:cNvPr id="712921939"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GRAPH APPROACH</a:t>
            </a:r>
            <a:endParaRPr lang="en-US" sz="1300"/>
          </a:p>
          <a:p>
            <a:pPr marL="342900" indent="-342900">
              <a:spcAft>
                <a:spcPts val="600"/>
              </a:spcAft>
              <a:buSzPct val="100000"/>
              <a:buChar char="▶"/>
              <a:defRPr/>
            </a:pPr>
            <a:r>
              <a:rPr lang="en-US" sz="1300">
                <a:solidFill>
                  <a:srgbClr val="E8EEF7"/>
                </a:solidFill>
              </a:rPr>
              <a:t>Each node points directly to its neighbours</a:t>
            </a:r>
            <a:endParaRPr lang="en-US" sz="1300"/>
          </a:p>
          <a:p>
            <a:pPr marL="342900" indent="-342900">
              <a:spcAft>
                <a:spcPts val="600"/>
              </a:spcAft>
              <a:buSzPct val="100000"/>
              <a:buChar char="▶"/>
              <a:defRPr/>
            </a:pPr>
            <a:r>
              <a:rPr lang="en-US" sz="1300">
                <a:solidFill>
                  <a:srgbClr val="E8EEF7"/>
                </a:solidFill>
              </a:rPr>
              <a:t>Friend-of-friend = follow 2 pointers</a:t>
            </a:r>
            <a:endParaRPr lang="en-US" sz="1300"/>
          </a:p>
          <a:p>
            <a:pPr marL="342900" indent="-342900">
              <a:spcAft>
                <a:spcPts val="600"/>
              </a:spcAft>
              <a:buSzPct val="100000"/>
              <a:buChar char="▶"/>
              <a:defRPr/>
            </a:pPr>
            <a:r>
              <a:rPr lang="en-US" sz="1300">
                <a:solidFill>
                  <a:srgbClr val="E8EEF7"/>
                </a:solidFill>
              </a:rPr>
              <a:t>Cost grows LINEARLY with edges visited</a:t>
            </a:r>
            <a:endParaRPr lang="en-US" sz="1300"/>
          </a:p>
          <a:p>
            <a:pPr marL="342900" indent="-342900">
              <a:spcAft>
                <a:spcPts val="600"/>
              </a:spcAft>
              <a:buSzPct val="100000"/>
              <a:buChar char="▶"/>
              <a:defRPr/>
            </a:pPr>
            <a:r>
              <a:rPr lang="en-US" sz="1300">
                <a:solidFill>
                  <a:srgbClr val="E8EEF7"/>
                </a:solidFill>
              </a:rPr>
              <a:t>5-hop query on 1B-node graph: milliseconds</a:t>
            </a:r>
            <a:endParaRPr lang="en-US" sz="1300"/>
          </a:p>
          <a:p>
            <a:pPr marL="342900" indent="-342900">
              <a:spcAft>
                <a:spcPts val="600"/>
              </a:spcAft>
              <a:buSzPct val="100000"/>
              <a:buChar char="▶"/>
              <a:defRPr/>
            </a:pPr>
            <a:r>
              <a:rPr lang="en-US" sz="1300">
                <a:solidFill>
                  <a:srgbClr val="E8EEF7"/>
                </a:solidFill>
              </a:rPr>
              <a:t>Index-Free Adjacency: no global lookup</a:t>
            </a:r>
            <a:endParaRPr lang="en-US" sz="1300"/>
          </a:p>
          <a:p>
            <a:pPr marL="342900" indent="-342900">
              <a:spcAft>
                <a:spcPts val="600"/>
              </a:spcAft>
              <a:buSzPct val="100000"/>
              <a:buChar char="▶"/>
              <a:defRPr/>
            </a:pPr>
            <a:r>
              <a:rPr lang="en-US" sz="1300">
                <a:solidFill>
                  <a:srgbClr val="E8EEF7"/>
                </a:solidFill>
              </a:rPr>
              <a:t>Pattern matching expresses intent directly</a:t>
            </a:r>
            <a:endParaRPr lang="en-US" sz="1300"/>
          </a:p>
        </p:txBody>
      </p:sp>
      <p:sp>
        <p:nvSpPr>
          <p:cNvPr id="1302380353"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1A2A52"/>
        </a:solidFill>
      </p:bgPr>
    </p:bg>
    <p:spTree>
      <p:nvGrpSpPr>
        <p:cNvPr id="1" name=""/>
        <p:cNvGrpSpPr/>
        <p:nvPr/>
      </p:nvGrpSpPr>
      <p:grpSpPr bwMode="auto">
        <a:xfrm>
          <a:off x="0" y="0"/>
          <a:ext cx="0" cy="0"/>
          <a:chOff x="0" y="0"/>
          <a:chExt cx="0" cy="0"/>
        </a:xfrm>
      </p:grpSpPr>
      <p:sp>
        <p:nvSpPr>
          <p:cNvPr id="197997652"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Key Terminology — Glossary</a:t>
            </a:r>
            <a:endParaRPr lang="en-US" sz="3000"/>
          </a:p>
        </p:txBody>
      </p:sp>
      <p:sp>
        <p:nvSpPr>
          <p:cNvPr id="69687206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895616008" name="Text 2"/>
          <p:cNvSpPr/>
          <p:nvPr/>
        </p:nvSpPr>
        <p:spPr bwMode="auto">
          <a:xfrm>
            <a:off x="548640" y="1051560"/>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NODE / VERTEX: </a:t>
            </a:r>
            <a:r>
              <a:rPr lang="en-US" sz="1200">
                <a:solidFill>
                  <a:srgbClr val="E8EEF7"/>
                </a:solidFill>
              </a:rPr>
              <a:t>an entity in the graph (Person, Movie, Account); carries a Label and Properties</a:t>
            </a:r>
            <a:endParaRPr lang="en-US" sz="1200"/>
          </a:p>
        </p:txBody>
      </p:sp>
      <p:sp>
        <p:nvSpPr>
          <p:cNvPr id="1170409467" name="Text 3"/>
          <p:cNvSpPr/>
          <p:nvPr/>
        </p:nvSpPr>
        <p:spPr bwMode="auto">
          <a:xfrm>
            <a:off x="548640" y="1490472"/>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EDGE / RELATIONSHIP: </a:t>
            </a:r>
            <a:r>
              <a:rPr lang="en-US" sz="1200">
                <a:solidFill>
                  <a:srgbClr val="E8EEF7"/>
                </a:solidFill>
              </a:rPr>
              <a:t>a directed link between two nodes (FRIENDS_WITH, BOUGHT, CITES); carries a type and properties</a:t>
            </a:r>
            <a:endParaRPr lang="en-US" sz="1200"/>
          </a:p>
        </p:txBody>
      </p:sp>
      <p:sp>
        <p:nvSpPr>
          <p:cNvPr id="982234585" name="Text 4"/>
          <p:cNvSpPr/>
          <p:nvPr/>
        </p:nvSpPr>
        <p:spPr bwMode="auto">
          <a:xfrm>
            <a:off x="548640" y="1929384"/>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LABEL: </a:t>
            </a:r>
            <a:r>
              <a:rPr lang="en-US" sz="1200">
                <a:solidFill>
                  <a:srgbClr val="E8EEF7"/>
                </a:solidFill>
              </a:rPr>
              <a:t>a tag that groups nodes by type — like a class (e.g., :Person, :Paper); a node can have multiple</a:t>
            </a:r>
            <a:endParaRPr lang="en-US" sz="1200"/>
          </a:p>
        </p:txBody>
      </p:sp>
      <p:sp>
        <p:nvSpPr>
          <p:cNvPr id="1352758482" name="Text 5"/>
          <p:cNvSpPr/>
          <p:nvPr/>
        </p:nvSpPr>
        <p:spPr bwMode="auto">
          <a:xfrm>
            <a:off x="548640" y="2368296"/>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PROPERTY: </a:t>
            </a:r>
            <a:r>
              <a:rPr lang="en-US" sz="1200">
                <a:solidFill>
                  <a:srgbClr val="E8EEF7"/>
                </a:solidFill>
              </a:rPr>
              <a:t>a key-value pair on a node or edge — { name: 'Anna', since: 2021 }</a:t>
            </a:r>
            <a:endParaRPr lang="en-US" sz="1200"/>
          </a:p>
        </p:txBody>
      </p:sp>
      <p:sp>
        <p:nvSpPr>
          <p:cNvPr id="813967320" name="Text 6"/>
          <p:cNvSpPr/>
          <p:nvPr/>
        </p:nvSpPr>
        <p:spPr bwMode="auto">
          <a:xfrm>
            <a:off x="548640" y="2807208"/>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PATH: </a:t>
            </a:r>
            <a:r>
              <a:rPr lang="en-US" sz="1200">
                <a:solidFill>
                  <a:srgbClr val="E8EEF7"/>
                </a:solidFill>
              </a:rPr>
              <a:t>an ordered sequence of nodes connected by edges — central to traversal queries</a:t>
            </a:r>
            <a:endParaRPr lang="en-US" sz="1200"/>
          </a:p>
        </p:txBody>
      </p:sp>
      <p:sp>
        <p:nvSpPr>
          <p:cNvPr id="148322012" name="Text 7"/>
          <p:cNvSpPr/>
          <p:nvPr/>
        </p:nvSpPr>
        <p:spPr bwMode="auto">
          <a:xfrm>
            <a:off x="548640" y="3246120"/>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DEGREE: </a:t>
            </a:r>
            <a:r>
              <a:rPr lang="en-US" sz="1200">
                <a:solidFill>
                  <a:srgbClr val="E8EEF7"/>
                </a:solidFill>
              </a:rPr>
              <a:t>number of edges incident to a node; in/out-degree for directed graphs</a:t>
            </a:r>
            <a:endParaRPr lang="en-US" sz="1200"/>
          </a:p>
        </p:txBody>
      </p:sp>
      <p:sp>
        <p:nvSpPr>
          <p:cNvPr id="1696968221" name="Text 8"/>
          <p:cNvSpPr/>
          <p:nvPr/>
        </p:nvSpPr>
        <p:spPr bwMode="auto">
          <a:xfrm>
            <a:off x="548640" y="3685032"/>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INDEX-FREE ADJACENCY: </a:t>
            </a:r>
            <a:r>
              <a:rPr lang="en-US" sz="1200">
                <a:solidFill>
                  <a:srgbClr val="E8EEF7"/>
                </a:solidFill>
              </a:rPr>
              <a:t>every node directly references its neighbours on disk — no global index lookup needed</a:t>
            </a:r>
            <a:endParaRPr lang="en-US" sz="1200"/>
          </a:p>
        </p:txBody>
      </p:sp>
      <p:sp>
        <p:nvSpPr>
          <p:cNvPr id="133331464" name="Text 9"/>
          <p:cNvSpPr/>
          <p:nvPr/>
        </p:nvSpPr>
        <p:spPr bwMode="auto">
          <a:xfrm>
            <a:off x="548640" y="4123944"/>
            <a:ext cx="8046720" cy="384048"/>
          </a:xfrm>
          <a:prstGeom prst="rect">
            <a:avLst/>
          </a:prstGeom>
          <a:noFill/>
          <a:ln/>
        </p:spPr>
        <p:txBody>
          <a:bodyPr wrap="square" lIns="0" tIns="0" rIns="0" bIns="0" rtlCol="0" anchor="ctr"/>
          <a:lstStyle/>
          <a:p>
            <a:pPr marL="0" indent="0">
              <a:buNone/>
              <a:defRPr/>
            </a:pPr>
            <a:r>
              <a:rPr lang="en-US" sz="1200" b="1">
                <a:solidFill>
                  <a:srgbClr val="5BB3F0"/>
                </a:solidFill>
              </a:rPr>
              <a:t>TRAVERSAL: </a:t>
            </a:r>
            <a:r>
              <a:rPr lang="en-US" sz="1200">
                <a:solidFill>
                  <a:srgbClr val="E8EEF7"/>
                </a:solidFill>
              </a:rPr>
              <a:t>graph walk that follows edges to answer pattern-matching queries</a:t>
            </a:r>
            <a:endParaRPr lang="en-US" sz="1200"/>
          </a:p>
        </p:txBody>
      </p:sp>
      <p:sp>
        <p:nvSpPr>
          <p:cNvPr id="1133113878" name="Text 10"/>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1A2A52"/>
        </a:solidFill>
      </p:bgPr>
    </p:bg>
    <p:spTree>
      <p:nvGrpSpPr>
        <p:cNvPr id="1" name=""/>
        <p:cNvGrpSpPr/>
        <p:nvPr/>
      </p:nvGrpSpPr>
      <p:grpSpPr bwMode="auto">
        <a:xfrm>
          <a:off x="0" y="0"/>
          <a:ext cx="0" cy="0"/>
          <a:chOff x="0" y="0"/>
          <a:chExt cx="0" cy="0"/>
        </a:xfrm>
      </p:grpSpPr>
      <p:sp>
        <p:nvSpPr>
          <p:cNvPr id="1303243114"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789806659"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2</a:t>
            </a:r>
            <a:endParaRPr lang="en-US" sz="4800"/>
          </a:p>
        </p:txBody>
      </p:sp>
      <p:sp>
        <p:nvSpPr>
          <p:cNvPr id="1925093263"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The Property Graph Data Model</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1A2A52"/>
        </a:solidFill>
      </p:bgPr>
    </p:bg>
    <p:spTree>
      <p:nvGrpSpPr>
        <p:cNvPr id="1" name=""/>
        <p:cNvGrpSpPr/>
        <p:nvPr/>
      </p:nvGrpSpPr>
      <p:grpSpPr bwMode="auto">
        <a:xfrm>
          <a:off x="0" y="0"/>
          <a:ext cx="0" cy="0"/>
          <a:chOff x="0" y="0"/>
          <a:chExt cx="0" cy="0"/>
        </a:xfrm>
      </p:grpSpPr>
      <p:sp>
        <p:nvSpPr>
          <p:cNvPr id="92253568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The Logical Data Model</a:t>
            </a:r>
            <a:endParaRPr lang="en-US" sz="3000"/>
          </a:p>
        </p:txBody>
      </p:sp>
      <p:sp>
        <p:nvSpPr>
          <p:cNvPr id="58950073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85517945"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Think of a graph as G = (V, E) — a set of vertices V and a set of directed, typed edges E</a:t>
            </a:r>
            <a:endParaRPr lang="en-US" sz="1300"/>
          </a:p>
          <a:p>
            <a:pPr marL="342900" indent="-342900">
              <a:spcAft>
                <a:spcPts val="600"/>
              </a:spcAft>
              <a:buSzPct val="100000"/>
              <a:buChar char="▶"/>
              <a:defRPr/>
            </a:pPr>
            <a:r>
              <a:rPr lang="en-US" sz="1300">
                <a:solidFill>
                  <a:srgbClr val="E8EEF7"/>
                </a:solidFill>
              </a:rPr>
              <a:t>Outer set V → each vertex has a label set { :Label1, :Label2 } and a property map { key: value, … }</a:t>
            </a:r>
            <a:endParaRPr lang="en-US" sz="1300"/>
          </a:p>
          <a:p>
            <a:pPr marL="342900" indent="-342900">
              <a:spcAft>
                <a:spcPts val="600"/>
              </a:spcAft>
              <a:buSzPct val="100000"/>
              <a:buChar char="▶"/>
              <a:defRPr/>
            </a:pPr>
            <a:r>
              <a:rPr lang="en-US" sz="1300">
                <a:solidFill>
                  <a:srgbClr val="E8EEF7"/>
                </a:solidFill>
              </a:rPr>
              <a:t>Inner set E → each edge has ONE type, a direction (from → to), and its own property map</a:t>
            </a:r>
            <a:endParaRPr lang="en-US" sz="1300"/>
          </a:p>
          <a:p>
            <a:pPr marL="342900" indent="-342900">
              <a:spcAft>
                <a:spcPts val="600"/>
              </a:spcAft>
              <a:buSzPct val="100000"/>
              <a:buChar char="▶"/>
              <a:defRPr/>
            </a:pPr>
            <a:r>
              <a:rPr lang="en-US" sz="1300">
                <a:solidFill>
                  <a:srgbClr val="E8EEF7"/>
                </a:solidFill>
              </a:rPr>
              <a:t>Schema-optional: two :Person nodes can have completely different property keys — storage is per-node</a:t>
            </a:r>
            <a:endParaRPr lang="en-US" sz="1300"/>
          </a:p>
          <a:p>
            <a:pPr marL="342900" indent="-342900">
              <a:spcAft>
                <a:spcPts val="600"/>
              </a:spcAft>
              <a:buSzPct val="100000"/>
              <a:buChar char="▶"/>
              <a:defRPr/>
            </a:pPr>
            <a:r>
              <a:rPr lang="en-US" sz="1300">
                <a:solidFill>
                  <a:srgbClr val="E8EEF7"/>
                </a:solidFill>
              </a:rPr>
              <a:t>Multi-graph by default: two nodes may be connected by many parallel edges of different types</a:t>
            </a:r>
            <a:endParaRPr lang="en-US" sz="1300"/>
          </a:p>
          <a:p>
            <a:pPr marL="342900" indent="-342900">
              <a:spcAft>
                <a:spcPts val="600"/>
              </a:spcAft>
              <a:buSzPct val="100000"/>
              <a:buChar char="▶"/>
              <a:defRPr/>
            </a:pPr>
            <a:r>
              <a:rPr lang="en-US" sz="1300">
                <a:solidFill>
                  <a:srgbClr val="E8EEF7"/>
                </a:solidFill>
              </a:rPr>
              <a:t>Every edge can carry weights, timestamps and provenance — perfect for temporal &amp; weighted graphs</a:t>
            </a:r>
            <a:endParaRPr lang="en-US" sz="1300"/>
          </a:p>
          <a:p>
            <a:pPr marL="342900" indent="-342900">
              <a:spcAft>
                <a:spcPts val="600"/>
              </a:spcAft>
              <a:buSzPct val="100000"/>
              <a:buChar char="▶"/>
              <a:defRPr/>
            </a:pPr>
            <a:r>
              <a:rPr lang="en-US" sz="1300">
                <a:solidFill>
                  <a:srgbClr val="E8EEF7"/>
                </a:solidFill>
              </a:rPr>
              <a:t>Pattern matching = specify a sub-graph shape; the engine finds every embedding of that shape in your data</a:t>
            </a:r>
            <a:endParaRPr lang="en-US" sz="1300"/>
          </a:p>
        </p:txBody>
      </p:sp>
      <p:sp>
        <p:nvSpPr>
          <p:cNvPr id="404618265"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1A2A52"/>
        </a:solidFill>
      </p:bgPr>
    </p:bg>
    <p:spTree>
      <p:nvGrpSpPr>
        <p:cNvPr id="1" name=""/>
        <p:cNvGrpSpPr/>
        <p:nvPr/>
      </p:nvGrpSpPr>
      <p:grpSpPr bwMode="auto">
        <a:xfrm>
          <a:off x="0" y="0"/>
          <a:ext cx="0" cy="0"/>
          <a:chOff x="0" y="0"/>
          <a:chExt cx="0" cy="0"/>
        </a:xfrm>
      </p:grpSpPr>
      <p:sp>
        <p:nvSpPr>
          <p:cNvPr id="1838118995"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Data Model: Nodes → Edges → Properties</a:t>
            </a:r>
            <a:endParaRPr lang="en-US" sz="3000"/>
          </a:p>
        </p:txBody>
      </p:sp>
      <p:sp>
        <p:nvSpPr>
          <p:cNvPr id="1262049825"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266577969" name="Shape 2"/>
          <p:cNvSpPr/>
          <p:nvPr/>
        </p:nvSpPr>
        <p:spPr bwMode="auto">
          <a:xfrm>
            <a:off x="457200" y="1097280"/>
            <a:ext cx="8229600" cy="3657600"/>
          </a:xfrm>
          <a:prstGeom prst="rect">
            <a:avLst/>
          </a:prstGeom>
          <a:solidFill>
            <a:srgbClr val="243C72"/>
          </a:solidFill>
          <a:ln w="19050">
            <a:solidFill>
              <a:srgbClr val="4A9FE7"/>
            </a:solidFill>
            <a:prstDash val="solid"/>
          </a:ln>
        </p:spPr>
        <p:txBody>
          <a:bodyPr anchor="ctr"/>
          <a:p>
            <a:pPr algn="ctr">
              <a:defRPr/>
            </a:pPr>
            <a:endParaRPr/>
          </a:p>
        </p:txBody>
      </p:sp>
      <p:sp>
        <p:nvSpPr>
          <p:cNvPr id="1724534559" name="Text 3"/>
          <p:cNvSpPr/>
          <p:nvPr/>
        </p:nvSpPr>
        <p:spPr bwMode="auto">
          <a:xfrm>
            <a:off x="640080" y="1188720"/>
            <a:ext cx="4572000" cy="274320"/>
          </a:xfrm>
          <a:prstGeom prst="rect">
            <a:avLst/>
          </a:prstGeom>
          <a:noFill/>
          <a:ln/>
        </p:spPr>
        <p:txBody>
          <a:bodyPr wrap="square" lIns="0" tIns="0" rIns="0" bIns="0" rtlCol="0" anchor="ctr"/>
          <a:lstStyle/>
          <a:p>
            <a:pPr marL="0" indent="0">
              <a:buNone/>
              <a:defRPr/>
            </a:pPr>
            <a:r>
              <a:rPr lang="en-US" sz="1200" b="1">
                <a:solidFill>
                  <a:srgbClr val="5BB3F0"/>
                </a:solidFill>
                <a:latin typeface="Consolas"/>
                <a:ea typeface="Consolas"/>
                <a:cs typeface="Consolas"/>
              </a:rPr>
              <a:t>GRAPH: research_network</a:t>
            </a:r>
            <a:endParaRPr lang="en-US" sz="1200"/>
          </a:p>
        </p:txBody>
      </p:sp>
      <p:sp>
        <p:nvSpPr>
          <p:cNvPr id="1693139476" name="Shape 4"/>
          <p:cNvSpPr/>
          <p:nvPr/>
        </p:nvSpPr>
        <p:spPr bwMode="auto">
          <a:xfrm>
            <a:off x="777240" y="1691640"/>
            <a:ext cx="2103120" cy="960120"/>
          </a:xfrm>
          <a:prstGeom prst="ellipse">
            <a:avLst/>
          </a:prstGeom>
          <a:solidFill>
            <a:srgbClr val="0F1B3A"/>
          </a:solidFill>
          <a:ln w="19050">
            <a:solidFill>
              <a:srgbClr val="4A9FE7"/>
            </a:solidFill>
            <a:prstDash val="solid"/>
          </a:ln>
        </p:spPr>
      </p:sp>
      <p:sp>
        <p:nvSpPr>
          <p:cNvPr id="485318798" name="Text 5"/>
          <p:cNvSpPr/>
          <p:nvPr/>
        </p:nvSpPr>
        <p:spPr bwMode="auto">
          <a:xfrm>
            <a:off x="777240" y="1691640"/>
            <a:ext cx="2103120" cy="960120"/>
          </a:xfrm>
          <a:prstGeom prst="rect">
            <a:avLst/>
          </a:prstGeom>
          <a:noFill/>
          <a:ln/>
        </p:spPr>
        <p:txBody>
          <a:bodyPr wrap="square" lIns="0" tIns="0" rIns="0" bIns="0" rtlCol="0" anchor="ctr"/>
          <a:lstStyle/>
          <a:p>
            <a:pPr marL="0" indent="0" algn="ctr">
              <a:buNone/>
              <a:defRPr/>
            </a:pPr>
            <a:r>
              <a:rPr lang="en-US" sz="1100" b="1">
                <a:solidFill>
                  <a:srgbClr val="5BB3F0"/>
                </a:solidFill>
                <a:latin typeface="Consolas"/>
                <a:ea typeface="Consolas"/>
                <a:cs typeface="Consolas"/>
              </a:rPr>
              <a:t>:Author</a:t>
            </a:r>
            <a:endParaRPr lang="en-US" sz="1100"/>
          </a:p>
          <a:p>
            <a:pPr marL="0" indent="0" algn="ctr">
              <a:buNone/>
              <a:defRPr/>
            </a:pPr>
            <a:r>
              <a:rPr lang="en-US" sz="900">
                <a:solidFill>
                  <a:srgbClr val="E8EEF7"/>
                </a:solidFill>
                <a:latin typeface="Consolas"/>
                <a:ea typeface="Consolas"/>
                <a:cs typeface="Consolas"/>
              </a:rPr>
              <a:t>name: 'Anna'</a:t>
            </a:r>
            <a:endParaRPr lang="en-US" sz="1100"/>
          </a:p>
          <a:p>
            <a:pPr marL="0" indent="0" algn="ctr">
              <a:buNone/>
              <a:defRPr/>
            </a:pPr>
            <a:r>
              <a:rPr lang="en-US" sz="900">
                <a:solidFill>
                  <a:srgbClr val="E8EEF7"/>
                </a:solidFill>
                <a:latin typeface="Consolas"/>
                <a:ea typeface="Consolas"/>
                <a:cs typeface="Consolas"/>
              </a:rPr>
              <a:t>orcid: '0000-0002…'</a:t>
            </a:r>
            <a:endParaRPr lang="en-US" sz="1100"/>
          </a:p>
        </p:txBody>
      </p:sp>
      <p:sp>
        <p:nvSpPr>
          <p:cNvPr id="734704936" name="Shape 6"/>
          <p:cNvSpPr/>
          <p:nvPr/>
        </p:nvSpPr>
        <p:spPr bwMode="auto">
          <a:xfrm>
            <a:off x="3520440" y="3246120"/>
            <a:ext cx="2103120" cy="960120"/>
          </a:xfrm>
          <a:prstGeom prst="ellipse">
            <a:avLst/>
          </a:prstGeom>
          <a:solidFill>
            <a:srgbClr val="0F1B3A"/>
          </a:solidFill>
          <a:ln w="19050">
            <a:solidFill>
              <a:srgbClr val="4A9FE7"/>
            </a:solidFill>
            <a:prstDash val="solid"/>
          </a:ln>
        </p:spPr>
      </p:sp>
      <p:sp>
        <p:nvSpPr>
          <p:cNvPr id="1152999210" name="Text 7"/>
          <p:cNvSpPr/>
          <p:nvPr/>
        </p:nvSpPr>
        <p:spPr bwMode="auto">
          <a:xfrm>
            <a:off x="3520440" y="3246120"/>
            <a:ext cx="2103120" cy="960120"/>
          </a:xfrm>
          <a:prstGeom prst="rect">
            <a:avLst/>
          </a:prstGeom>
          <a:noFill/>
          <a:ln/>
        </p:spPr>
        <p:txBody>
          <a:bodyPr wrap="square" lIns="0" tIns="0" rIns="0" bIns="0" rtlCol="0" anchor="ctr"/>
          <a:lstStyle/>
          <a:p>
            <a:pPr marL="0" indent="0" algn="ctr">
              <a:buNone/>
              <a:defRPr/>
            </a:pPr>
            <a:r>
              <a:rPr lang="en-US" sz="1100" b="1">
                <a:solidFill>
                  <a:srgbClr val="5BB3F0"/>
                </a:solidFill>
                <a:latin typeface="Consolas"/>
                <a:ea typeface="Consolas"/>
                <a:cs typeface="Consolas"/>
              </a:rPr>
              <a:t>:Paper</a:t>
            </a:r>
            <a:endParaRPr lang="en-US" sz="1100"/>
          </a:p>
          <a:p>
            <a:pPr marL="0" indent="0" algn="ctr">
              <a:buNone/>
              <a:defRPr/>
            </a:pPr>
            <a:r>
              <a:rPr lang="en-US" sz="900">
                <a:solidFill>
                  <a:srgbClr val="E8EEF7"/>
                </a:solidFill>
                <a:latin typeface="Consolas"/>
                <a:ea typeface="Consolas"/>
                <a:cs typeface="Consolas"/>
              </a:rPr>
              <a:t>title: 'FPGA…'</a:t>
            </a:r>
            <a:endParaRPr lang="en-US" sz="1100"/>
          </a:p>
          <a:p>
            <a:pPr marL="0" indent="0" algn="ctr">
              <a:buNone/>
              <a:defRPr/>
            </a:pPr>
            <a:r>
              <a:rPr lang="en-US" sz="900">
                <a:solidFill>
                  <a:srgbClr val="E8EEF7"/>
                </a:solidFill>
                <a:latin typeface="Consolas"/>
                <a:ea typeface="Consolas"/>
                <a:cs typeface="Consolas"/>
              </a:rPr>
              <a:t>year: 2024</a:t>
            </a:r>
            <a:endParaRPr lang="en-US" sz="1100"/>
          </a:p>
        </p:txBody>
      </p:sp>
      <p:sp>
        <p:nvSpPr>
          <p:cNvPr id="1020677364" name="Shape 8"/>
          <p:cNvSpPr/>
          <p:nvPr/>
        </p:nvSpPr>
        <p:spPr bwMode="auto">
          <a:xfrm>
            <a:off x="6263640" y="1691640"/>
            <a:ext cx="2103120" cy="960120"/>
          </a:xfrm>
          <a:prstGeom prst="ellipse">
            <a:avLst/>
          </a:prstGeom>
          <a:solidFill>
            <a:srgbClr val="0F1B3A"/>
          </a:solidFill>
          <a:ln w="19050">
            <a:solidFill>
              <a:srgbClr val="4A9FE7"/>
            </a:solidFill>
            <a:prstDash val="solid"/>
          </a:ln>
        </p:spPr>
      </p:sp>
      <p:sp>
        <p:nvSpPr>
          <p:cNvPr id="2062763795" name="Text 9"/>
          <p:cNvSpPr/>
          <p:nvPr/>
        </p:nvSpPr>
        <p:spPr bwMode="auto">
          <a:xfrm>
            <a:off x="6263640" y="1691640"/>
            <a:ext cx="2103120" cy="960120"/>
          </a:xfrm>
          <a:prstGeom prst="rect">
            <a:avLst/>
          </a:prstGeom>
          <a:noFill/>
          <a:ln/>
        </p:spPr>
        <p:txBody>
          <a:bodyPr wrap="square" lIns="0" tIns="0" rIns="0" bIns="0" rtlCol="0" anchor="ctr"/>
          <a:lstStyle/>
          <a:p>
            <a:pPr marL="0" indent="0" algn="ctr">
              <a:buNone/>
              <a:defRPr/>
            </a:pPr>
            <a:r>
              <a:rPr lang="en-US" sz="1100" b="1">
                <a:solidFill>
                  <a:srgbClr val="5BB3F0"/>
                </a:solidFill>
                <a:latin typeface="Consolas"/>
                <a:ea typeface="Consolas"/>
                <a:cs typeface="Consolas"/>
              </a:rPr>
              <a:t>:Topic</a:t>
            </a:r>
            <a:endParaRPr lang="en-US" sz="1100"/>
          </a:p>
          <a:p>
            <a:pPr marL="0" indent="0" algn="ctr">
              <a:buNone/>
              <a:defRPr/>
            </a:pPr>
            <a:r>
              <a:rPr lang="en-US" sz="900">
                <a:solidFill>
                  <a:srgbClr val="E8EEF7"/>
                </a:solidFill>
                <a:latin typeface="Consolas"/>
                <a:ea typeface="Consolas"/>
                <a:cs typeface="Consolas"/>
              </a:rPr>
              <a:t>name: 'VLSI'</a:t>
            </a:r>
            <a:endParaRPr lang="en-US" sz="1100"/>
          </a:p>
          <a:p>
            <a:pPr marL="0" indent="0" algn="ctr">
              <a:buNone/>
              <a:defRPr/>
            </a:pPr>
            <a:r>
              <a:rPr lang="en-US" sz="900">
                <a:solidFill>
                  <a:srgbClr val="E8EEF7"/>
                </a:solidFill>
                <a:latin typeface="Consolas"/>
                <a:ea typeface="Consolas"/>
                <a:cs typeface="Consolas"/>
              </a:rPr>
              <a:t>field: 'ECE'</a:t>
            </a:r>
            <a:endParaRPr lang="en-US" sz="1100"/>
          </a:p>
        </p:txBody>
      </p:sp>
      <p:sp>
        <p:nvSpPr>
          <p:cNvPr id="585743857" name="Shape 10"/>
          <p:cNvSpPr/>
          <p:nvPr/>
        </p:nvSpPr>
        <p:spPr bwMode="auto">
          <a:xfrm flipH="0" flipV="0">
            <a:off x="2331720" y="2606040"/>
            <a:ext cx="1405325" cy="777240"/>
          </a:xfrm>
          <a:prstGeom prst="line">
            <a:avLst/>
          </a:prstGeom>
          <a:noFill/>
          <a:ln w="19050">
            <a:solidFill>
              <a:srgbClr val="5BB3F0"/>
            </a:solidFill>
            <a:prstDash val="solid"/>
            <a:tailEnd type="triangle"/>
          </a:ln>
        </p:spPr>
      </p:sp>
      <p:sp>
        <p:nvSpPr>
          <p:cNvPr id="753602228" name="Text 11"/>
          <p:cNvSpPr/>
          <p:nvPr/>
        </p:nvSpPr>
        <p:spPr bwMode="auto">
          <a:xfrm>
            <a:off x="2628702" y="2434590"/>
            <a:ext cx="2377440" cy="274320"/>
          </a:xfrm>
          <a:prstGeom prst="rect">
            <a:avLst/>
          </a:prstGeom>
          <a:noFill/>
          <a:ln/>
        </p:spPr>
        <p:txBody>
          <a:bodyPr wrap="square" lIns="0" tIns="0" rIns="0" bIns="0" rtlCol="0" anchor="ctr"/>
          <a:lstStyle/>
          <a:p>
            <a:pPr marL="0" indent="0">
              <a:buNone/>
              <a:defRPr/>
            </a:pPr>
            <a:r>
              <a:rPr lang="en-US" sz="1000" i="1">
                <a:solidFill>
                  <a:srgbClr val="5BB3F0"/>
                </a:solidFill>
                <a:latin typeface="Consolas"/>
                <a:ea typeface="Consolas"/>
                <a:cs typeface="Consolas"/>
              </a:rPr>
              <a:t>[:WROTE { year: 2024 }]</a:t>
            </a:r>
            <a:endParaRPr lang="en-US" sz="1000"/>
          </a:p>
        </p:txBody>
      </p:sp>
      <p:sp>
        <p:nvSpPr>
          <p:cNvPr id="1052003357" name="Shape 12"/>
          <p:cNvSpPr/>
          <p:nvPr/>
        </p:nvSpPr>
        <p:spPr bwMode="auto">
          <a:xfrm flipH="0" flipV="1">
            <a:off x="5532119" y="2651760"/>
            <a:ext cx="1346938" cy="811876"/>
          </a:xfrm>
          <a:prstGeom prst="line">
            <a:avLst/>
          </a:prstGeom>
          <a:noFill/>
          <a:ln w="19050">
            <a:solidFill>
              <a:srgbClr val="5BB3F0"/>
            </a:solidFill>
            <a:prstDash val="solid"/>
            <a:tailEnd type="triangle"/>
          </a:ln>
        </p:spPr>
      </p:sp>
      <p:sp>
        <p:nvSpPr>
          <p:cNvPr id="942880035" name="Text 13"/>
          <p:cNvSpPr/>
          <p:nvPr/>
        </p:nvSpPr>
        <p:spPr bwMode="auto">
          <a:xfrm>
            <a:off x="5532120" y="2331720"/>
            <a:ext cx="1828800" cy="274320"/>
          </a:xfrm>
          <a:prstGeom prst="rect">
            <a:avLst/>
          </a:prstGeom>
          <a:noFill/>
          <a:ln/>
        </p:spPr>
        <p:txBody>
          <a:bodyPr wrap="square" lIns="0" tIns="0" rIns="0" bIns="0" rtlCol="0" anchor="ctr"/>
          <a:lstStyle/>
          <a:p>
            <a:pPr marL="0" indent="0">
              <a:buNone/>
              <a:defRPr/>
            </a:pPr>
            <a:r>
              <a:rPr lang="en-US" sz="1000" i="1">
                <a:solidFill>
                  <a:srgbClr val="5BB3F0"/>
                </a:solidFill>
                <a:latin typeface="Consolas"/>
                <a:ea typeface="Consolas"/>
                <a:cs typeface="Consolas"/>
              </a:rPr>
              <a:t>[:ABOUT]</a:t>
            </a:r>
            <a:endParaRPr lang="en-US" sz="1000"/>
          </a:p>
        </p:txBody>
      </p:sp>
      <p:sp>
        <p:nvSpPr>
          <p:cNvPr id="562994862" name="Text 14"/>
          <p:cNvSpPr/>
          <p:nvPr/>
        </p:nvSpPr>
        <p:spPr bwMode="auto">
          <a:xfrm>
            <a:off x="640080" y="4434840"/>
            <a:ext cx="7955280" cy="274320"/>
          </a:xfrm>
          <a:prstGeom prst="rect">
            <a:avLst/>
          </a:prstGeom>
          <a:noFill/>
          <a:ln/>
        </p:spPr>
        <p:txBody>
          <a:bodyPr wrap="square" lIns="0" tIns="0" rIns="0" bIns="0" rtlCol="0" anchor="ctr"/>
          <a:lstStyle/>
          <a:p>
            <a:pPr marL="0" indent="0">
              <a:buNone/>
              <a:defRPr/>
            </a:pPr>
            <a:r>
              <a:rPr lang="en-US" sz="1100" i="1">
                <a:solidFill>
                  <a:srgbClr val="5BB3F0"/>
                </a:solidFill>
                <a:latin typeface="Consolas"/>
                <a:ea typeface="Consolas"/>
                <a:cs typeface="Consolas"/>
              </a:rPr>
              <a:t>Pattern: (a:Author)-[:WROTE]-&gt;(p:Paper)-[:ABOUT]-&gt;(t:Topic)</a:t>
            </a:r>
            <a:endParaRPr lang="en-US" sz="1100"/>
          </a:p>
        </p:txBody>
      </p:sp>
      <p:sp>
        <p:nvSpPr>
          <p:cNvPr id="1423901267" name="Text 1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1A2A52"/>
        </a:solidFill>
      </p:bgPr>
    </p:bg>
    <p:spTree>
      <p:nvGrpSpPr>
        <p:cNvPr id="1" name=""/>
        <p:cNvGrpSpPr/>
        <p:nvPr/>
      </p:nvGrpSpPr>
      <p:grpSpPr bwMode="auto">
        <a:xfrm>
          <a:off x="0" y="0"/>
          <a:ext cx="0" cy="0"/>
          <a:chOff x="0" y="0"/>
          <a:chExt cx="0" cy="0"/>
        </a:xfrm>
      </p:grpSpPr>
      <p:sp>
        <p:nvSpPr>
          <p:cNvPr id="1330486013"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Property Graph (LPG) vs RDF Triple Stores</a:t>
            </a:r>
            <a:endParaRPr lang="en-US" sz="3000"/>
          </a:p>
        </p:txBody>
      </p:sp>
      <p:sp>
        <p:nvSpPr>
          <p:cNvPr id="1485364863"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746827439"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183588116"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LABELLED PROPERTY GRAPH (LPG)</a:t>
            </a:r>
            <a:endParaRPr lang="en-US" sz="1300"/>
          </a:p>
          <a:p>
            <a:pPr marL="342900" indent="-342900">
              <a:spcAft>
                <a:spcPts val="600"/>
              </a:spcAft>
              <a:buSzPct val="100000"/>
              <a:buChar char="▶"/>
              <a:defRPr/>
            </a:pPr>
            <a:r>
              <a:rPr lang="en-US" sz="1300">
                <a:solidFill>
                  <a:srgbClr val="E8EEF7"/>
                </a:solidFill>
              </a:rPr>
              <a:t>Used by Neo4j, TigerGraph, Memgraph</a:t>
            </a:r>
            <a:endParaRPr lang="en-US" sz="1300"/>
          </a:p>
          <a:p>
            <a:pPr marL="342900" indent="-342900">
              <a:spcAft>
                <a:spcPts val="600"/>
              </a:spcAft>
              <a:buSzPct val="100000"/>
              <a:buChar char="▶"/>
              <a:defRPr/>
            </a:pPr>
            <a:r>
              <a:rPr lang="en-US" sz="1300">
                <a:solidFill>
                  <a:srgbClr val="E8EEF7"/>
                </a:solidFill>
              </a:rPr>
              <a:t>Properties live ON nodes &amp; edges directly</a:t>
            </a:r>
            <a:endParaRPr lang="en-US" sz="1300"/>
          </a:p>
          <a:p>
            <a:pPr marL="342900" indent="-342900">
              <a:spcAft>
                <a:spcPts val="600"/>
              </a:spcAft>
              <a:buSzPct val="100000"/>
              <a:buChar char="▶"/>
              <a:defRPr/>
            </a:pPr>
            <a:r>
              <a:rPr lang="en-US" sz="1300">
                <a:solidFill>
                  <a:srgbClr val="E8EEF7"/>
                </a:solidFill>
              </a:rPr>
              <a:t>Compact: one node = one record on disk</a:t>
            </a:r>
            <a:endParaRPr lang="en-US" sz="1300"/>
          </a:p>
          <a:p>
            <a:pPr marL="342900" indent="-342900">
              <a:spcAft>
                <a:spcPts val="600"/>
              </a:spcAft>
              <a:buSzPct val="100000"/>
              <a:buChar char="▶"/>
              <a:defRPr/>
            </a:pPr>
            <a:r>
              <a:rPr lang="en-US" sz="1300">
                <a:solidFill>
                  <a:srgbClr val="E8EEF7"/>
                </a:solidFill>
              </a:rPr>
              <a:t>Query language: Cypher / openCypher / GQL</a:t>
            </a:r>
            <a:endParaRPr lang="en-US" sz="1300"/>
          </a:p>
          <a:p>
            <a:pPr marL="342900" indent="-342900">
              <a:spcAft>
                <a:spcPts val="600"/>
              </a:spcAft>
              <a:buSzPct val="100000"/>
              <a:buChar char="▶"/>
              <a:defRPr/>
            </a:pPr>
            <a:r>
              <a:rPr lang="en-US" sz="1300">
                <a:solidFill>
                  <a:srgbClr val="E8EEF7"/>
                </a:solidFill>
              </a:rPr>
              <a:t>Better for OLTP, recommendations, fraud</a:t>
            </a:r>
            <a:endParaRPr lang="en-US" sz="1300"/>
          </a:p>
          <a:p>
            <a:pPr marL="342900" indent="-342900">
              <a:spcAft>
                <a:spcPts val="600"/>
              </a:spcAft>
              <a:buSzPct val="100000"/>
              <a:buChar char="▶"/>
              <a:defRPr/>
            </a:pPr>
            <a:r>
              <a:rPr lang="en-US" sz="1300">
                <a:solidFill>
                  <a:srgbClr val="E8EEF7"/>
                </a:solidFill>
              </a:rPr>
              <a:t>Natural fit for application domain models</a:t>
            </a:r>
            <a:endParaRPr lang="en-US" sz="1300"/>
          </a:p>
        </p:txBody>
      </p:sp>
      <p:sp>
        <p:nvSpPr>
          <p:cNvPr id="616909926"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RDF / TRIPLE STORES</a:t>
            </a:r>
            <a:endParaRPr lang="en-US" sz="1300"/>
          </a:p>
          <a:p>
            <a:pPr marL="342900" indent="-342900">
              <a:spcAft>
                <a:spcPts val="600"/>
              </a:spcAft>
              <a:buSzPct val="100000"/>
              <a:buChar char="▶"/>
              <a:defRPr/>
            </a:pPr>
            <a:r>
              <a:rPr lang="en-US" sz="1300">
                <a:solidFill>
                  <a:srgbClr val="E8EEF7"/>
                </a:solidFill>
              </a:rPr>
              <a:t>Used by GraphDB, Stardog, Virtuoso</a:t>
            </a:r>
            <a:endParaRPr lang="en-US" sz="1300"/>
          </a:p>
          <a:p>
            <a:pPr marL="342900" indent="-342900">
              <a:spcAft>
                <a:spcPts val="600"/>
              </a:spcAft>
              <a:buSzPct val="100000"/>
              <a:buChar char="▶"/>
              <a:defRPr/>
            </a:pPr>
            <a:r>
              <a:rPr lang="en-US" sz="1300">
                <a:solidFill>
                  <a:srgbClr val="E8EEF7"/>
                </a:solidFill>
              </a:rPr>
              <a:t>Everything is a triple: (subject, pred, object)</a:t>
            </a:r>
            <a:endParaRPr lang="en-US" sz="1300"/>
          </a:p>
          <a:p>
            <a:pPr marL="342900" indent="-342900">
              <a:spcAft>
                <a:spcPts val="600"/>
              </a:spcAft>
              <a:buSzPct val="100000"/>
              <a:buChar char="▶"/>
              <a:defRPr/>
            </a:pPr>
            <a:r>
              <a:rPr lang="en-US" sz="1300">
                <a:solidFill>
                  <a:srgbClr val="E8EEF7"/>
                </a:solidFill>
              </a:rPr>
              <a:t>Properties are themselves edges to literals</a:t>
            </a:r>
            <a:endParaRPr lang="en-US" sz="1300"/>
          </a:p>
          <a:p>
            <a:pPr marL="342900" indent="-342900">
              <a:spcAft>
                <a:spcPts val="600"/>
              </a:spcAft>
              <a:buSzPct val="100000"/>
              <a:buChar char="▶"/>
              <a:defRPr/>
            </a:pPr>
            <a:r>
              <a:rPr lang="en-US" sz="1300">
                <a:solidFill>
                  <a:srgbClr val="E8EEF7"/>
                </a:solidFill>
              </a:rPr>
              <a:t>Query language: SPARQL (W3C standard 2008)</a:t>
            </a:r>
            <a:endParaRPr lang="en-US" sz="1300"/>
          </a:p>
          <a:p>
            <a:pPr marL="342900" indent="-342900">
              <a:spcAft>
                <a:spcPts val="600"/>
              </a:spcAft>
              <a:buSzPct val="100000"/>
              <a:buChar char="▶"/>
              <a:defRPr/>
            </a:pPr>
            <a:r>
              <a:rPr lang="en-US" sz="1300">
                <a:solidFill>
                  <a:srgbClr val="E8EEF7"/>
                </a:solidFill>
              </a:rPr>
              <a:t>Better for ontology, reasoning, Linked Data</a:t>
            </a:r>
            <a:endParaRPr lang="en-US" sz="1300"/>
          </a:p>
          <a:p>
            <a:pPr marL="342900" indent="-342900">
              <a:spcAft>
                <a:spcPts val="600"/>
              </a:spcAft>
              <a:buSzPct val="100000"/>
              <a:buChar char="▶"/>
              <a:defRPr/>
            </a:pPr>
            <a:r>
              <a:rPr lang="en-US" sz="1300">
                <a:solidFill>
                  <a:srgbClr val="E8EEF7"/>
                </a:solidFill>
              </a:rPr>
              <a:t>Standardised: OWL, RDFS, SHACL inference</a:t>
            </a:r>
            <a:endParaRPr lang="en-US" sz="1300"/>
          </a:p>
        </p:txBody>
      </p:sp>
      <p:sp>
        <p:nvSpPr>
          <p:cNvPr id="363888543"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1A2A52"/>
        </a:solidFill>
      </p:bgPr>
    </p:bg>
    <p:spTree>
      <p:nvGrpSpPr>
        <p:cNvPr id="1" name=""/>
        <p:cNvGrpSpPr/>
        <p:nvPr/>
      </p:nvGrpSpPr>
      <p:grpSpPr bwMode="auto">
        <a:xfrm>
          <a:off x="0" y="0"/>
          <a:ext cx="0" cy="0"/>
          <a:chOff x="0" y="0"/>
          <a:chExt cx="0" cy="0"/>
        </a:xfrm>
      </p:grpSpPr>
      <p:sp>
        <p:nvSpPr>
          <p:cNvPr id="193899233"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Index-Free Adjacency — The Core Optimisation</a:t>
            </a:r>
            <a:endParaRPr lang="en-US" sz="3000"/>
          </a:p>
        </p:txBody>
      </p:sp>
      <p:sp>
        <p:nvSpPr>
          <p:cNvPr id="101415583"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513302240"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On disk, each node record contains a POINTER to the first edge in its adjacency list</a:t>
            </a:r>
            <a:endParaRPr lang="en-US" sz="1300"/>
          </a:p>
          <a:p>
            <a:pPr marL="342900" indent="-342900">
              <a:spcAft>
                <a:spcPts val="600"/>
              </a:spcAft>
              <a:buSzPct val="100000"/>
              <a:buChar char="▶"/>
              <a:defRPr/>
            </a:pPr>
            <a:r>
              <a:rPr lang="en-US" sz="1300">
                <a:solidFill>
                  <a:srgbClr val="E8EEF7"/>
                </a:solidFill>
              </a:rPr>
              <a:t>Each edge record contains pointers to its two end-node records and to the next edge in each list</a:t>
            </a:r>
            <a:endParaRPr lang="en-US" sz="1300"/>
          </a:p>
          <a:p>
            <a:pPr marL="342900" indent="-342900">
              <a:spcAft>
                <a:spcPts val="600"/>
              </a:spcAft>
              <a:buSzPct val="100000"/>
              <a:buChar char="▶"/>
              <a:defRPr/>
            </a:pPr>
            <a:r>
              <a:rPr lang="en-US" sz="1300">
                <a:solidFill>
                  <a:srgbClr val="E8EEF7"/>
                </a:solidFill>
              </a:rPr>
              <a:t>Following an edge = pointer dereference — O(1), independent of graph size</a:t>
            </a:r>
            <a:endParaRPr lang="en-US" sz="1300"/>
          </a:p>
          <a:p>
            <a:pPr marL="342900" indent="-342900">
              <a:spcAft>
                <a:spcPts val="600"/>
              </a:spcAft>
              <a:buSzPct val="100000"/>
              <a:buChar char="▶"/>
              <a:defRPr/>
            </a:pPr>
            <a:r>
              <a:rPr lang="en-US" sz="1300">
                <a:solidFill>
                  <a:srgbClr val="E8EEF7"/>
                </a:solidFill>
              </a:rPr>
              <a:t>Compare: a relational JOIN performs a B-tree lookup per row → O(log N) per hop, multiplied across hops</a:t>
            </a:r>
            <a:endParaRPr lang="en-US" sz="1300"/>
          </a:p>
          <a:p>
            <a:pPr marL="342900" indent="-342900">
              <a:spcAft>
                <a:spcPts val="600"/>
              </a:spcAft>
              <a:buSzPct val="100000"/>
              <a:buChar char="▶"/>
              <a:defRPr/>
            </a:pPr>
            <a:r>
              <a:rPr lang="en-US" sz="1300">
                <a:solidFill>
                  <a:srgbClr val="E8EEF7"/>
                </a:solidFill>
              </a:rPr>
              <a:t>Result: a 4-hop traversal touching 10K edges costs ~10K pointer hops — milliseconds on 1B-node graphs</a:t>
            </a:r>
            <a:endParaRPr lang="en-US" sz="1300"/>
          </a:p>
          <a:p>
            <a:pPr marL="342900" indent="-342900">
              <a:spcAft>
                <a:spcPts val="600"/>
              </a:spcAft>
              <a:buSzPct val="100000"/>
              <a:buChar char="▶"/>
              <a:defRPr/>
            </a:pPr>
            <a:r>
              <a:rPr lang="en-US" sz="1300">
                <a:solidFill>
                  <a:srgbClr val="E8EEF7"/>
                </a:solidFill>
              </a:rPr>
              <a:t>Trade-off: random I/O pattern; modern engines use mmap, page caching and graph-aware compression</a:t>
            </a:r>
            <a:endParaRPr lang="en-US" sz="1300"/>
          </a:p>
          <a:p>
            <a:pPr marL="342900" indent="-342900">
              <a:spcAft>
                <a:spcPts val="600"/>
              </a:spcAft>
              <a:buSzPct val="100000"/>
              <a:buChar char="▶"/>
              <a:defRPr/>
            </a:pPr>
            <a:r>
              <a:rPr lang="en-US" sz="1300">
                <a:solidFill>
                  <a:srgbClr val="E8EEF7"/>
                </a:solidFill>
              </a:rPr>
              <a:t>This single design choice is what distinguishes a NATIVE graph database from a graph layer over SQL</a:t>
            </a:r>
            <a:endParaRPr lang="en-US" sz="1300"/>
          </a:p>
        </p:txBody>
      </p:sp>
      <p:sp>
        <p:nvSpPr>
          <p:cNvPr id="668039795"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1A2A52"/>
        </a:solidFill>
      </p:bgPr>
    </p:bg>
    <p:spTree>
      <p:nvGrpSpPr>
        <p:cNvPr id="1" name=""/>
        <p:cNvGrpSpPr/>
        <p:nvPr/>
      </p:nvGrpSpPr>
      <p:grpSpPr bwMode="auto">
        <a:xfrm>
          <a:off x="0" y="0"/>
          <a:ext cx="0" cy="0"/>
          <a:chOff x="0" y="0"/>
          <a:chExt cx="0" cy="0"/>
        </a:xfrm>
      </p:grpSpPr>
      <p:sp>
        <p:nvSpPr>
          <p:cNvPr id="154038828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Storage Layout &amp; Traversal Cost Model</a:t>
            </a:r>
            <a:endParaRPr lang="en-US" sz="3000"/>
          </a:p>
        </p:txBody>
      </p:sp>
      <p:sp>
        <p:nvSpPr>
          <p:cNvPr id="475428126"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798564794"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317078324"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NODE STORE: fixed-size records</a:t>
            </a:r>
            <a:endParaRPr lang="en-US" sz="1300"/>
          </a:p>
          <a:p>
            <a:pPr marL="342900" indent="-342900">
              <a:spcAft>
                <a:spcPts val="600"/>
              </a:spcAft>
              <a:buSzPct val="100000"/>
              <a:buChar char="▶"/>
              <a:defRPr/>
            </a:pPr>
            <a:r>
              <a:rPr lang="en-US" sz="1300">
                <a:solidFill>
                  <a:srgbClr val="E8EEF7"/>
                </a:solidFill>
              </a:rPr>
              <a:t>  · id, label-id, first-property, first-edge</a:t>
            </a:r>
            <a:endParaRPr lang="en-US" sz="1300"/>
          </a:p>
          <a:p>
            <a:pPr marL="342900" indent="-342900">
              <a:spcAft>
                <a:spcPts val="600"/>
              </a:spcAft>
              <a:buSzPct val="100000"/>
              <a:buChar char="▶"/>
              <a:defRPr/>
            </a:pPr>
            <a:r>
              <a:rPr lang="en-US" sz="1300">
                <a:solidFill>
                  <a:srgbClr val="E8EEF7"/>
                </a:solidFill>
              </a:rPr>
              <a:t>EDGE STORE: fixed-size records</a:t>
            </a:r>
            <a:endParaRPr lang="en-US" sz="1300"/>
          </a:p>
          <a:p>
            <a:pPr marL="342900" indent="-342900">
              <a:spcAft>
                <a:spcPts val="600"/>
              </a:spcAft>
              <a:buSzPct val="100000"/>
              <a:buChar char="▶"/>
              <a:defRPr/>
            </a:pPr>
            <a:r>
              <a:rPr lang="en-US" sz="1300">
                <a:solidFill>
                  <a:srgbClr val="E8EEF7"/>
                </a:solidFill>
              </a:rPr>
              <a:t>  · type-id, start-node, end-node,</a:t>
            </a:r>
            <a:endParaRPr lang="en-US" sz="1300"/>
          </a:p>
          <a:p>
            <a:pPr marL="342900" indent="-342900">
              <a:spcAft>
                <a:spcPts val="600"/>
              </a:spcAft>
              <a:buSzPct val="100000"/>
              <a:buChar char="▶"/>
              <a:defRPr/>
            </a:pPr>
            <a:r>
              <a:rPr lang="en-US" sz="1300">
                <a:solidFill>
                  <a:srgbClr val="E8EEF7"/>
                </a:solidFill>
              </a:rPr>
              <a:t>    prev/next pointer in EACH chain</a:t>
            </a:r>
            <a:endParaRPr lang="en-US" sz="1300"/>
          </a:p>
          <a:p>
            <a:pPr marL="342900" indent="-342900">
              <a:spcAft>
                <a:spcPts val="600"/>
              </a:spcAft>
              <a:buSzPct val="100000"/>
              <a:buChar char="▶"/>
              <a:defRPr/>
            </a:pPr>
            <a:r>
              <a:rPr lang="en-US" sz="1300">
                <a:solidFill>
                  <a:srgbClr val="E8EEF7"/>
                </a:solidFill>
              </a:rPr>
              <a:t>PROPERTY STORE: variable-length</a:t>
            </a:r>
            <a:endParaRPr lang="en-US" sz="1300"/>
          </a:p>
          <a:p>
            <a:pPr marL="342900" indent="-342900">
              <a:spcAft>
                <a:spcPts val="600"/>
              </a:spcAft>
              <a:buSzPct val="100000"/>
              <a:buChar char="▶"/>
              <a:defRPr/>
            </a:pPr>
            <a:r>
              <a:rPr lang="en-US" sz="1300">
                <a:solidFill>
                  <a:srgbClr val="E8EEF7"/>
                </a:solidFill>
              </a:rPr>
              <a:t>DICTIONARIES: label, type, key as ints</a:t>
            </a:r>
            <a:endParaRPr lang="en-US" sz="1300"/>
          </a:p>
        </p:txBody>
      </p:sp>
      <p:sp>
        <p:nvSpPr>
          <p:cNvPr id="1749615791"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TRAVERSAL COST</a:t>
            </a:r>
            <a:endParaRPr lang="en-US" sz="1300"/>
          </a:p>
          <a:p>
            <a:pPr marL="342900" indent="-342900">
              <a:spcAft>
                <a:spcPts val="600"/>
              </a:spcAft>
              <a:buSzPct val="100000"/>
              <a:buChar char="▶"/>
              <a:defRPr/>
            </a:pPr>
            <a:r>
              <a:rPr lang="en-US" sz="1300">
                <a:solidFill>
                  <a:srgbClr val="E8EEF7"/>
                </a:solidFill>
              </a:rPr>
              <a:t>k hops × avg-degree d → O(d^k) edges visited</a:t>
            </a:r>
            <a:endParaRPr lang="en-US" sz="1300"/>
          </a:p>
          <a:p>
            <a:pPr marL="342900" indent="-342900">
              <a:spcAft>
                <a:spcPts val="600"/>
              </a:spcAft>
              <a:buSzPct val="100000"/>
              <a:buChar char="▶"/>
              <a:defRPr/>
            </a:pPr>
            <a:r>
              <a:rPr lang="en-US" sz="1300">
                <a:solidFill>
                  <a:srgbClr val="E8EEF7"/>
                </a:solidFill>
              </a:rPr>
              <a:t>Each edge visit: ~1 random page read</a:t>
            </a:r>
            <a:endParaRPr lang="en-US" sz="1300"/>
          </a:p>
          <a:p>
            <a:pPr marL="342900" indent="-342900">
              <a:spcAft>
                <a:spcPts val="600"/>
              </a:spcAft>
              <a:buSzPct val="100000"/>
              <a:buChar char="▶"/>
              <a:defRPr/>
            </a:pPr>
            <a:r>
              <a:rPr lang="en-US" sz="1300">
                <a:solidFill>
                  <a:srgbClr val="E8EEF7"/>
                </a:solidFill>
              </a:rPr>
              <a:t>Working set should fit page cache for speed</a:t>
            </a:r>
            <a:endParaRPr lang="en-US" sz="1300"/>
          </a:p>
          <a:p>
            <a:pPr marL="342900" indent="-342900">
              <a:spcAft>
                <a:spcPts val="600"/>
              </a:spcAft>
              <a:buSzPct val="100000"/>
              <a:buChar char="▶"/>
              <a:defRPr/>
            </a:pPr>
            <a:r>
              <a:rPr lang="en-US" sz="1300">
                <a:solidFill>
                  <a:srgbClr val="E8EEF7"/>
                </a:solidFill>
              </a:rPr>
              <a:t>Locality boosters: graph re-ordering,</a:t>
            </a:r>
            <a:endParaRPr lang="en-US" sz="1300"/>
          </a:p>
          <a:p>
            <a:pPr marL="342900" indent="-342900">
              <a:spcAft>
                <a:spcPts val="600"/>
              </a:spcAft>
              <a:buSzPct val="100000"/>
              <a:buChar char="▶"/>
              <a:defRPr/>
            </a:pPr>
            <a:r>
              <a:rPr lang="en-US" sz="1300">
                <a:solidFill>
                  <a:srgbClr val="E8EEF7"/>
                </a:solidFill>
              </a:rPr>
              <a:t>  community-aware partitioning, hot caching</a:t>
            </a:r>
            <a:endParaRPr lang="en-US" sz="1300"/>
          </a:p>
          <a:p>
            <a:pPr marL="342900" indent="-342900">
              <a:spcAft>
                <a:spcPts val="600"/>
              </a:spcAft>
              <a:buSzPct val="100000"/>
              <a:buChar char="▶"/>
              <a:defRPr/>
            </a:pPr>
            <a:r>
              <a:rPr lang="en-US" sz="1300">
                <a:solidFill>
                  <a:srgbClr val="E8EEF7"/>
                </a:solidFill>
              </a:rPr>
              <a:t>DEEP queries (k&gt;4) need seed selectivity</a:t>
            </a:r>
            <a:endParaRPr lang="en-US" sz="1300"/>
          </a:p>
        </p:txBody>
      </p:sp>
      <p:sp>
        <p:nvSpPr>
          <p:cNvPr id="951452242"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1A2A52"/>
        </a:solidFill>
      </p:bgPr>
    </p:bg>
    <p:spTree>
      <p:nvGrpSpPr>
        <p:cNvPr id="1" name=""/>
        <p:cNvGrpSpPr/>
        <p:nvPr/>
      </p:nvGrpSpPr>
      <p:grpSpPr bwMode="auto">
        <a:xfrm>
          <a:off x="0" y="0"/>
          <a:ext cx="0" cy="0"/>
          <a:chOff x="0" y="0"/>
          <a:chExt cx="0" cy="0"/>
        </a:xfrm>
      </p:grpSpPr>
      <p:sp>
        <p:nvSpPr>
          <p:cNvPr id="1068812912"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1677825183"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3</a:t>
            </a:r>
            <a:endParaRPr lang="en-US" sz="4800"/>
          </a:p>
        </p:txBody>
      </p:sp>
      <p:sp>
        <p:nvSpPr>
          <p:cNvPr id="2091362964"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State-of-the-Art Graph Database Systems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1A2A52"/>
        </a:solidFill>
      </p:bgPr>
    </p:bg>
    <p:spTree>
      <p:nvGrpSpPr>
        <p:cNvPr id="1" name=""/>
        <p:cNvGrpSpPr/>
        <p:nvPr/>
      </p:nvGrpSpPr>
      <p:grpSpPr bwMode="auto">
        <a:xfrm>
          <a:off x="0" y="0"/>
          <a:ext cx="0" cy="0"/>
          <a:chOff x="0" y="0"/>
          <a:chExt cx="0" cy="0"/>
        </a:xfrm>
      </p:grpSpPr>
      <p:sp>
        <p:nvSpPr>
          <p:cNvPr id="1638798555"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Neo4j — The Reference Property Graph DB</a:t>
            </a:r>
            <a:endParaRPr lang="en-US" sz="3000"/>
          </a:p>
        </p:txBody>
      </p:sp>
      <p:sp>
        <p:nvSpPr>
          <p:cNvPr id="730369721"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874737995"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525308026" name="Text 3"/>
          <p:cNvSpPr/>
          <p:nvPr/>
        </p:nvSpPr>
        <p:spPr bwMode="auto">
          <a:xfrm>
            <a:off x="54864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ORIGIN</a:t>
            </a:r>
            <a:endParaRPr lang="en-US" sz="1300"/>
          </a:p>
          <a:p>
            <a:pPr marL="0" indent="0">
              <a:spcAft>
                <a:spcPts val="400"/>
              </a:spcAft>
              <a:buNone/>
              <a:defRPr/>
            </a:pPr>
            <a:r>
              <a:rPr lang="en-US" sz="1200">
                <a:solidFill>
                  <a:srgbClr val="E8EEF7"/>
                </a:solidFill>
              </a:rPr>
              <a:t>Founded by Emil Eifrem &amp; co. in Sweden, 2007</a:t>
            </a:r>
            <a:endParaRPr lang="en-US" sz="1300"/>
          </a:p>
          <a:p>
            <a:pPr marL="0" indent="0">
              <a:spcAft>
                <a:spcPts val="400"/>
              </a:spcAft>
              <a:buNone/>
              <a:defRPr/>
            </a:pPr>
            <a:r>
              <a:rPr lang="en-US" sz="1200">
                <a:solidFill>
                  <a:srgbClr val="E8EEF7"/>
                </a:solidFill>
              </a:rPr>
              <a:t>Open source from day one (GPL / commercial)</a:t>
            </a:r>
            <a:endParaRPr lang="en-US" sz="1300"/>
          </a:p>
          <a:p>
            <a:pPr marL="0" indent="0">
              <a:spcAft>
                <a:spcPts val="400"/>
              </a:spcAft>
              <a:buNone/>
              <a:defRPr/>
            </a:pPr>
            <a:r>
              <a:rPr lang="en-US" sz="1200">
                <a:solidFill>
                  <a:srgbClr val="E8EEF7"/>
                </a:solidFill>
              </a:rPr>
              <a:t>Apache top-level alternative; very active community</a:t>
            </a:r>
            <a:endParaRPr lang="en-US" sz="1300"/>
          </a:p>
          <a:p>
            <a:pPr marL="0" indent="0">
              <a:spcAft>
                <a:spcPts val="400"/>
              </a:spcAft>
              <a:buNone/>
              <a:defRPr/>
            </a:pPr>
            <a:r>
              <a:rPr lang="en-US" sz="1200">
                <a:solidFill>
                  <a:srgbClr val="E8EEF7"/>
                </a:solidFill>
              </a:rPr>
              <a:t>Latest: Neo4j 5.x (rolling LTS releases)</a:t>
            </a:r>
            <a:endParaRPr lang="en-US" sz="1300"/>
          </a:p>
          <a:p>
            <a:pPr marL="0" indent="0">
              <a:spcAft>
                <a:spcPts val="400"/>
              </a:spcAft>
              <a:buNone/>
              <a:defRPr/>
            </a:pPr>
            <a:r>
              <a:rPr lang="en-US" sz="1200">
                <a:solidFill>
                  <a:srgbClr val="E8EEF7"/>
                </a:solidFill>
              </a:rPr>
              <a:t>ARCHITECTURE</a:t>
            </a:r>
            <a:endParaRPr lang="en-US" sz="1300"/>
          </a:p>
          <a:p>
            <a:pPr marL="0" indent="0">
              <a:spcAft>
                <a:spcPts val="400"/>
              </a:spcAft>
              <a:buNone/>
              <a:defRPr/>
            </a:pPr>
            <a:r>
              <a:rPr lang="en-US" sz="1200">
                <a:solidFill>
                  <a:srgbClr val="E8EEF7"/>
                </a:solidFill>
              </a:rPr>
              <a:t>Native graph storage on disk</a:t>
            </a:r>
            <a:endParaRPr lang="en-US" sz="1300"/>
          </a:p>
          <a:p>
            <a:pPr marL="0" indent="0">
              <a:spcAft>
                <a:spcPts val="400"/>
              </a:spcAft>
              <a:buNone/>
              <a:defRPr/>
            </a:pPr>
            <a:r>
              <a:rPr lang="en-US" sz="1200">
                <a:solidFill>
                  <a:srgbClr val="E8EEF7"/>
                </a:solidFill>
              </a:rPr>
              <a:t>Causal Cluster: leader + read replicas (Raft)</a:t>
            </a:r>
            <a:endParaRPr lang="en-US" sz="1300"/>
          </a:p>
        </p:txBody>
      </p:sp>
      <p:sp>
        <p:nvSpPr>
          <p:cNvPr id="1602653852" name="Text 4"/>
          <p:cNvSpPr/>
          <p:nvPr/>
        </p:nvSpPr>
        <p:spPr bwMode="auto">
          <a:xfrm>
            <a:off x="480060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KEY STRENGTHS</a:t>
            </a:r>
            <a:endParaRPr lang="en-US" sz="1300"/>
          </a:p>
          <a:p>
            <a:pPr marL="0" indent="0">
              <a:spcAft>
                <a:spcPts val="400"/>
              </a:spcAft>
              <a:buNone/>
              <a:defRPr/>
            </a:pPr>
            <a:r>
              <a:rPr lang="en-US" sz="1200">
                <a:solidFill>
                  <a:srgbClr val="E8EEF7"/>
                </a:solidFill>
              </a:rPr>
              <a:t>Cypher: declarative, pattern-based query language</a:t>
            </a:r>
            <a:endParaRPr lang="en-US" sz="1300"/>
          </a:p>
          <a:p>
            <a:pPr marL="0" indent="0">
              <a:spcAft>
                <a:spcPts val="400"/>
              </a:spcAft>
              <a:buNone/>
              <a:defRPr/>
            </a:pPr>
            <a:r>
              <a:rPr lang="en-US" sz="1200">
                <a:solidFill>
                  <a:srgbClr val="E8EEF7"/>
                </a:solidFill>
              </a:rPr>
              <a:t>ACID transactions (full)</a:t>
            </a:r>
            <a:endParaRPr lang="en-US" sz="1300"/>
          </a:p>
          <a:p>
            <a:pPr marL="0" indent="0">
              <a:spcAft>
                <a:spcPts val="400"/>
              </a:spcAft>
              <a:buNone/>
              <a:defRPr/>
            </a:pPr>
            <a:r>
              <a:rPr lang="en-US" sz="1200">
                <a:solidFill>
                  <a:srgbClr val="E8EEF7"/>
                </a:solidFill>
              </a:rPr>
              <a:t>Large ecosystem: Bloom, GDS, Aura cloud</a:t>
            </a:r>
            <a:endParaRPr lang="en-US" sz="1300"/>
          </a:p>
          <a:p>
            <a:pPr marL="0" indent="0">
              <a:spcAft>
                <a:spcPts val="400"/>
              </a:spcAft>
              <a:buNone/>
              <a:defRPr/>
            </a:pPr>
            <a:r>
              <a:rPr lang="en-US" sz="1200">
                <a:solidFill>
                  <a:srgbClr val="E8EEF7"/>
                </a:solidFill>
              </a:rPr>
              <a:t>Fine-grained role-based access control</a:t>
            </a:r>
            <a:endParaRPr lang="en-US" sz="1300"/>
          </a:p>
          <a:p>
            <a:pPr marL="0" indent="0">
              <a:spcAft>
                <a:spcPts val="400"/>
              </a:spcAft>
              <a:buNone/>
              <a:defRPr/>
            </a:pPr>
            <a:r>
              <a:rPr lang="en-US" sz="1200">
                <a:solidFill>
                  <a:srgbClr val="E8EEF7"/>
                </a:solidFill>
              </a:rPr>
              <a:t>REAL-WORLD USERS</a:t>
            </a:r>
            <a:endParaRPr lang="en-US" sz="1300"/>
          </a:p>
          <a:p>
            <a:pPr marL="0" indent="0">
              <a:spcAft>
                <a:spcPts val="400"/>
              </a:spcAft>
              <a:buNone/>
              <a:defRPr/>
            </a:pPr>
            <a:r>
              <a:rPr lang="en-US" sz="1200">
                <a:solidFill>
                  <a:srgbClr val="E8EEF7"/>
                </a:solidFill>
              </a:rPr>
              <a:t>NASA: lessons-learned knowledge graph</a:t>
            </a:r>
            <a:endParaRPr lang="en-US" sz="1300"/>
          </a:p>
          <a:p>
            <a:pPr marL="0" indent="0">
              <a:spcAft>
                <a:spcPts val="400"/>
              </a:spcAft>
              <a:buNone/>
              <a:defRPr/>
            </a:pPr>
            <a:r>
              <a:rPr lang="en-US" sz="1200">
                <a:solidFill>
                  <a:srgbClr val="E8EEF7"/>
                </a:solidFill>
              </a:rPr>
              <a:t>Adidas, eBay, Walmart: recommendations, supply chain</a:t>
            </a:r>
            <a:endParaRPr lang="en-US" sz="1300"/>
          </a:p>
          <a:p>
            <a:pPr marL="0" indent="0">
              <a:spcAft>
                <a:spcPts val="400"/>
              </a:spcAft>
              <a:buNone/>
              <a:defRPr/>
            </a:pPr>
            <a:r>
              <a:rPr lang="en-US" sz="1200">
                <a:solidFill>
                  <a:srgbClr val="E8EEF7"/>
                </a:solidFill>
              </a:rPr>
              <a:t>ICIJ Panama Papers: 2.6 TB document graph</a:t>
            </a:r>
            <a:endParaRPr lang="en-US" sz="1300"/>
          </a:p>
        </p:txBody>
      </p:sp>
      <p:sp>
        <p:nvSpPr>
          <p:cNvPr id="1262948481"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1A2A52"/>
        </a:solidFill>
      </p:bgPr>
    </p:bg>
    <p:spTree>
      <p:nvGrpSpPr>
        <p:cNvPr id="1" name=""/>
        <p:cNvGrpSpPr/>
        <p:nvPr/>
      </p:nvGrpSpPr>
      <p:grpSpPr bwMode="auto">
        <a:xfrm>
          <a:off x="0" y="0"/>
          <a:ext cx="0" cy="0"/>
          <a:chOff x="0" y="0"/>
          <a:chExt cx="0" cy="0"/>
        </a:xfrm>
      </p:grpSpPr>
      <p:sp>
        <p:nvSpPr>
          <p:cNvPr id="941522937"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Neo4j Causal Cluster Architecture</a:t>
            </a:r>
            <a:endParaRPr lang="en-US" sz="3000"/>
          </a:p>
        </p:txBody>
      </p:sp>
      <p:sp>
        <p:nvSpPr>
          <p:cNvPr id="738385310"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82414102" name="Text 2"/>
          <p:cNvSpPr/>
          <p:nvPr/>
        </p:nvSpPr>
        <p:spPr bwMode="auto">
          <a:xfrm>
            <a:off x="548640" y="1188720"/>
            <a:ext cx="3566160" cy="347472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ONE LEADER handles all writes</a:t>
            </a:r>
            <a:endParaRPr lang="en-US" sz="1300"/>
          </a:p>
          <a:p>
            <a:pPr marL="342900" indent="-342900">
              <a:spcAft>
                <a:spcPts val="600"/>
              </a:spcAft>
              <a:buSzPct val="100000"/>
              <a:buChar char="▶"/>
              <a:defRPr/>
            </a:pPr>
            <a:r>
              <a:rPr lang="en-US" sz="1300">
                <a:solidFill>
                  <a:srgbClr val="E8EEF7"/>
                </a:solidFill>
              </a:rPr>
              <a:t>Followers replicate via Raft consensus</a:t>
            </a:r>
            <a:endParaRPr lang="en-US" sz="1300"/>
          </a:p>
          <a:p>
            <a:pPr marL="342900" indent="-342900">
              <a:spcAft>
                <a:spcPts val="600"/>
              </a:spcAft>
              <a:buSzPct val="100000"/>
              <a:buChar char="▶"/>
              <a:defRPr/>
            </a:pPr>
            <a:r>
              <a:rPr lang="en-US" sz="1300">
                <a:solidFill>
                  <a:srgbClr val="E8EEF7"/>
                </a:solidFill>
              </a:rPr>
              <a:t>Read replicas serve read-only queries</a:t>
            </a:r>
            <a:endParaRPr lang="en-US" sz="1300"/>
          </a:p>
          <a:p>
            <a:pPr marL="342900" indent="-342900">
              <a:spcAft>
                <a:spcPts val="600"/>
              </a:spcAft>
              <a:buSzPct val="100000"/>
              <a:buChar char="▶"/>
              <a:defRPr/>
            </a:pPr>
            <a:r>
              <a:rPr lang="en-US" sz="1300">
                <a:solidFill>
                  <a:srgbClr val="E8EEF7"/>
                </a:solidFill>
              </a:rPr>
              <a:t>Failover is automatic — Raft elects new leader</a:t>
            </a:r>
            <a:endParaRPr lang="en-US" sz="1300"/>
          </a:p>
          <a:p>
            <a:pPr marL="342900" indent="-342900">
              <a:spcAft>
                <a:spcPts val="600"/>
              </a:spcAft>
              <a:buSzPct val="100000"/>
              <a:buChar char="▶"/>
              <a:defRPr/>
            </a:pPr>
            <a:r>
              <a:rPr lang="en-US" sz="1300">
                <a:solidFill>
                  <a:srgbClr val="E8EEF7"/>
                </a:solidFill>
              </a:rPr>
              <a:t>Bookmarks enforce causal consistency</a:t>
            </a:r>
            <a:endParaRPr lang="en-US" sz="1300"/>
          </a:p>
          <a:p>
            <a:pPr marL="342900" indent="-342900">
              <a:spcAft>
                <a:spcPts val="600"/>
              </a:spcAft>
              <a:buSzPct val="100000"/>
              <a:buChar char="▶"/>
              <a:defRPr/>
            </a:pPr>
            <a:r>
              <a:rPr lang="en-US" sz="1300">
                <a:solidFill>
                  <a:srgbClr val="E8EEF7"/>
                </a:solidFill>
              </a:rPr>
              <a:t>Strong consistency (CP system in CAP)</a:t>
            </a:r>
            <a:endParaRPr lang="en-US" sz="1300"/>
          </a:p>
        </p:txBody>
      </p:sp>
      <p:sp>
        <p:nvSpPr>
          <p:cNvPr id="229303956" name="Shape 3"/>
          <p:cNvSpPr/>
          <p:nvPr/>
        </p:nvSpPr>
        <p:spPr bwMode="auto">
          <a:xfrm>
            <a:off x="6263640" y="2560320"/>
            <a:ext cx="1005840" cy="731520"/>
          </a:xfrm>
          <a:prstGeom prst="ellipse">
            <a:avLst/>
          </a:prstGeom>
          <a:solidFill>
            <a:srgbClr val="0F1B3A"/>
          </a:solidFill>
          <a:ln w="19050">
            <a:solidFill>
              <a:srgbClr val="4A9FE7"/>
            </a:solidFill>
            <a:prstDash val="solid"/>
          </a:ln>
        </p:spPr>
      </p:sp>
      <p:sp>
        <p:nvSpPr>
          <p:cNvPr id="1417212741" name="Text 4"/>
          <p:cNvSpPr/>
          <p:nvPr/>
        </p:nvSpPr>
        <p:spPr bwMode="auto">
          <a:xfrm>
            <a:off x="6263640" y="2560320"/>
            <a:ext cx="1005840" cy="731520"/>
          </a:xfrm>
          <a:prstGeom prst="rect">
            <a:avLst/>
          </a:prstGeom>
          <a:noFill/>
          <a:ln/>
        </p:spPr>
        <p:txBody>
          <a:bodyPr wrap="square" lIns="0" tIns="0" rIns="0" bIns="0" rtlCol="0" anchor="ctr"/>
          <a:lstStyle/>
          <a:p>
            <a:pPr marL="0" indent="0" algn="ctr">
              <a:buNone/>
              <a:defRPr/>
            </a:pPr>
            <a:r>
              <a:rPr lang="en-US" sz="1000" b="1">
                <a:solidFill>
                  <a:srgbClr val="FFFFFF"/>
                </a:solidFill>
              </a:rPr>
              <a:t>LEADER</a:t>
            </a:r>
            <a:endParaRPr lang="en-US" sz="1000"/>
          </a:p>
          <a:p>
            <a:pPr marL="0" indent="0" algn="ctr">
              <a:buNone/>
              <a:defRPr/>
            </a:pPr>
            <a:r>
              <a:rPr lang="en-US" sz="800">
                <a:solidFill>
                  <a:srgbClr val="E8EEF7"/>
                </a:solidFill>
              </a:rPr>
              <a:t>writes</a:t>
            </a:r>
            <a:endParaRPr lang="en-US" sz="1000"/>
          </a:p>
        </p:txBody>
      </p:sp>
      <p:sp>
        <p:nvSpPr>
          <p:cNvPr id="1645226451" name="Shape 5"/>
          <p:cNvSpPr/>
          <p:nvPr/>
        </p:nvSpPr>
        <p:spPr bwMode="auto">
          <a:xfrm>
            <a:off x="4983480" y="1463040"/>
            <a:ext cx="1005840" cy="731520"/>
          </a:xfrm>
          <a:prstGeom prst="ellipse">
            <a:avLst/>
          </a:prstGeom>
          <a:solidFill>
            <a:srgbClr val="243C72"/>
          </a:solidFill>
          <a:ln w="19050">
            <a:solidFill>
              <a:srgbClr val="4A9FE7"/>
            </a:solidFill>
            <a:prstDash val="solid"/>
          </a:ln>
        </p:spPr>
      </p:sp>
      <p:sp>
        <p:nvSpPr>
          <p:cNvPr id="966644909" name="Text 6"/>
          <p:cNvSpPr/>
          <p:nvPr/>
        </p:nvSpPr>
        <p:spPr bwMode="auto">
          <a:xfrm>
            <a:off x="4983480" y="1463040"/>
            <a:ext cx="1005840" cy="731520"/>
          </a:xfrm>
          <a:prstGeom prst="rect">
            <a:avLst/>
          </a:prstGeom>
          <a:noFill/>
          <a:ln/>
        </p:spPr>
        <p:txBody>
          <a:bodyPr wrap="square" lIns="0" tIns="0" rIns="0" bIns="0" rtlCol="0" anchor="ctr"/>
          <a:lstStyle/>
          <a:p>
            <a:pPr marL="0" indent="0" algn="ctr">
              <a:buNone/>
              <a:defRPr/>
            </a:pPr>
            <a:r>
              <a:rPr lang="en-US" sz="1000" b="1">
                <a:solidFill>
                  <a:srgbClr val="FFFFFF"/>
                </a:solidFill>
              </a:rPr>
              <a:t>Follower</a:t>
            </a:r>
            <a:endParaRPr lang="en-US" sz="1000"/>
          </a:p>
          <a:p>
            <a:pPr marL="0" indent="0" algn="ctr">
              <a:buNone/>
              <a:defRPr/>
            </a:pPr>
            <a:r>
              <a:rPr lang="en-US" sz="800">
                <a:solidFill>
                  <a:srgbClr val="E8EEF7"/>
                </a:solidFill>
              </a:rPr>
              <a:t>Raft</a:t>
            </a:r>
            <a:endParaRPr lang="en-US" sz="1000"/>
          </a:p>
        </p:txBody>
      </p:sp>
      <p:sp>
        <p:nvSpPr>
          <p:cNvPr id="154001986" name="Shape 7"/>
          <p:cNvSpPr/>
          <p:nvPr/>
        </p:nvSpPr>
        <p:spPr bwMode="auto">
          <a:xfrm>
            <a:off x="7543800" y="1463040"/>
            <a:ext cx="1005840" cy="731520"/>
          </a:xfrm>
          <a:prstGeom prst="ellipse">
            <a:avLst/>
          </a:prstGeom>
          <a:solidFill>
            <a:srgbClr val="243C72"/>
          </a:solidFill>
          <a:ln w="19050">
            <a:solidFill>
              <a:srgbClr val="4A9FE7"/>
            </a:solidFill>
            <a:prstDash val="solid"/>
          </a:ln>
        </p:spPr>
      </p:sp>
      <p:sp>
        <p:nvSpPr>
          <p:cNvPr id="1845981799" name="Text 8"/>
          <p:cNvSpPr/>
          <p:nvPr/>
        </p:nvSpPr>
        <p:spPr bwMode="auto">
          <a:xfrm>
            <a:off x="7543800" y="1463040"/>
            <a:ext cx="1005840" cy="731520"/>
          </a:xfrm>
          <a:prstGeom prst="rect">
            <a:avLst/>
          </a:prstGeom>
          <a:noFill/>
          <a:ln/>
        </p:spPr>
        <p:txBody>
          <a:bodyPr wrap="square" lIns="0" tIns="0" rIns="0" bIns="0" rtlCol="0" anchor="ctr"/>
          <a:lstStyle/>
          <a:p>
            <a:pPr marL="0" indent="0" algn="ctr">
              <a:buNone/>
              <a:defRPr/>
            </a:pPr>
            <a:r>
              <a:rPr lang="en-US" sz="1000" b="1">
                <a:solidFill>
                  <a:srgbClr val="FFFFFF"/>
                </a:solidFill>
              </a:rPr>
              <a:t>Follower</a:t>
            </a:r>
            <a:endParaRPr lang="en-US" sz="1000"/>
          </a:p>
          <a:p>
            <a:pPr marL="0" indent="0" algn="ctr">
              <a:buNone/>
              <a:defRPr/>
            </a:pPr>
            <a:r>
              <a:rPr lang="en-US" sz="800">
                <a:solidFill>
                  <a:srgbClr val="E8EEF7"/>
                </a:solidFill>
              </a:rPr>
              <a:t>Raft</a:t>
            </a:r>
            <a:endParaRPr lang="en-US" sz="1000"/>
          </a:p>
        </p:txBody>
      </p:sp>
      <p:sp>
        <p:nvSpPr>
          <p:cNvPr id="1397440229" name="Shape 9"/>
          <p:cNvSpPr/>
          <p:nvPr/>
        </p:nvSpPr>
        <p:spPr bwMode="auto">
          <a:xfrm>
            <a:off x="4983480" y="3657600"/>
            <a:ext cx="1005840" cy="731520"/>
          </a:xfrm>
          <a:prstGeom prst="ellipse">
            <a:avLst/>
          </a:prstGeom>
          <a:solidFill>
            <a:srgbClr val="1F3360"/>
          </a:solidFill>
          <a:ln w="19050">
            <a:solidFill>
              <a:srgbClr val="4A9FE7"/>
            </a:solidFill>
            <a:prstDash val="solid"/>
          </a:ln>
        </p:spPr>
      </p:sp>
      <p:sp>
        <p:nvSpPr>
          <p:cNvPr id="1736302895" name="Text 10"/>
          <p:cNvSpPr/>
          <p:nvPr/>
        </p:nvSpPr>
        <p:spPr bwMode="auto">
          <a:xfrm>
            <a:off x="4983480" y="3657600"/>
            <a:ext cx="1005840" cy="731520"/>
          </a:xfrm>
          <a:prstGeom prst="rect">
            <a:avLst/>
          </a:prstGeom>
          <a:noFill/>
          <a:ln/>
        </p:spPr>
        <p:txBody>
          <a:bodyPr wrap="square" lIns="0" tIns="0" rIns="0" bIns="0" rtlCol="0" anchor="ctr"/>
          <a:lstStyle/>
          <a:p>
            <a:pPr marL="0" indent="0" algn="ctr">
              <a:buNone/>
              <a:defRPr/>
            </a:pPr>
            <a:r>
              <a:rPr lang="en-US" sz="1000" b="1">
                <a:solidFill>
                  <a:srgbClr val="FFFFFF"/>
                </a:solidFill>
              </a:rPr>
              <a:t>Replica</a:t>
            </a:r>
            <a:endParaRPr lang="en-US" sz="1000"/>
          </a:p>
          <a:p>
            <a:pPr marL="0" indent="0" algn="ctr">
              <a:buNone/>
              <a:defRPr/>
            </a:pPr>
            <a:r>
              <a:rPr lang="en-US" sz="800">
                <a:solidFill>
                  <a:srgbClr val="E8EEF7"/>
                </a:solidFill>
              </a:rPr>
              <a:t>reads</a:t>
            </a:r>
            <a:endParaRPr lang="en-US" sz="1000"/>
          </a:p>
        </p:txBody>
      </p:sp>
      <p:sp>
        <p:nvSpPr>
          <p:cNvPr id="1915279236" name="Shape 11"/>
          <p:cNvSpPr/>
          <p:nvPr/>
        </p:nvSpPr>
        <p:spPr bwMode="auto">
          <a:xfrm>
            <a:off x="7543800" y="3657600"/>
            <a:ext cx="1005840" cy="731520"/>
          </a:xfrm>
          <a:prstGeom prst="ellipse">
            <a:avLst/>
          </a:prstGeom>
          <a:solidFill>
            <a:srgbClr val="1F3360"/>
          </a:solidFill>
          <a:ln w="19050">
            <a:solidFill>
              <a:srgbClr val="4A9FE7"/>
            </a:solidFill>
            <a:prstDash val="solid"/>
          </a:ln>
        </p:spPr>
      </p:sp>
      <p:sp>
        <p:nvSpPr>
          <p:cNvPr id="280900259" name="Text 12"/>
          <p:cNvSpPr/>
          <p:nvPr/>
        </p:nvSpPr>
        <p:spPr bwMode="auto">
          <a:xfrm>
            <a:off x="7543800" y="3657600"/>
            <a:ext cx="1005840" cy="731520"/>
          </a:xfrm>
          <a:prstGeom prst="rect">
            <a:avLst/>
          </a:prstGeom>
          <a:noFill/>
          <a:ln/>
        </p:spPr>
        <p:txBody>
          <a:bodyPr wrap="square" lIns="0" tIns="0" rIns="0" bIns="0" rtlCol="0" anchor="ctr"/>
          <a:lstStyle/>
          <a:p>
            <a:pPr marL="0" indent="0" algn="ctr">
              <a:buNone/>
              <a:defRPr/>
            </a:pPr>
            <a:r>
              <a:rPr lang="en-US" sz="1000" b="1">
                <a:solidFill>
                  <a:srgbClr val="FFFFFF"/>
                </a:solidFill>
              </a:rPr>
              <a:t>Replica</a:t>
            </a:r>
            <a:endParaRPr lang="en-US" sz="1000"/>
          </a:p>
          <a:p>
            <a:pPr marL="0" indent="0" algn="ctr">
              <a:buNone/>
              <a:defRPr/>
            </a:pPr>
            <a:r>
              <a:rPr lang="en-US" sz="800">
                <a:solidFill>
                  <a:srgbClr val="E8EEF7"/>
                </a:solidFill>
              </a:rPr>
              <a:t>reads</a:t>
            </a:r>
            <a:endParaRPr lang="en-US" sz="1000"/>
          </a:p>
        </p:txBody>
      </p:sp>
      <p:sp>
        <p:nvSpPr>
          <p:cNvPr id="2008886560" name="Shape 13"/>
          <p:cNvSpPr/>
          <p:nvPr/>
        </p:nvSpPr>
        <p:spPr bwMode="auto">
          <a:xfrm>
            <a:off x="6766560" y="2560320"/>
            <a:ext cx="0" cy="0"/>
          </a:xfrm>
          <a:prstGeom prst="line">
            <a:avLst/>
          </a:prstGeom>
          <a:noFill/>
          <a:ln w="12700">
            <a:solidFill>
              <a:srgbClr val="5BB3F0"/>
            </a:solidFill>
            <a:prstDash val="solid"/>
          </a:ln>
        </p:spPr>
      </p:sp>
      <p:sp>
        <p:nvSpPr>
          <p:cNvPr id="2040445619" name="Shape 14"/>
          <p:cNvSpPr/>
          <p:nvPr/>
        </p:nvSpPr>
        <p:spPr bwMode="auto">
          <a:xfrm>
            <a:off x="6766560" y="2560320"/>
            <a:ext cx="1280160" cy="0"/>
          </a:xfrm>
          <a:prstGeom prst="line">
            <a:avLst/>
          </a:prstGeom>
          <a:noFill/>
          <a:ln w="12700">
            <a:solidFill>
              <a:srgbClr val="5BB3F0"/>
            </a:solidFill>
            <a:prstDash val="solid"/>
          </a:ln>
        </p:spPr>
      </p:sp>
      <p:sp>
        <p:nvSpPr>
          <p:cNvPr id="1123854350" name="Shape 15"/>
          <p:cNvSpPr/>
          <p:nvPr/>
        </p:nvSpPr>
        <p:spPr bwMode="auto">
          <a:xfrm>
            <a:off x="5486400" y="2194560"/>
            <a:ext cx="0" cy="1463040"/>
          </a:xfrm>
          <a:prstGeom prst="line">
            <a:avLst/>
          </a:prstGeom>
          <a:noFill/>
          <a:ln w="12700">
            <a:solidFill>
              <a:srgbClr val="5BB3F0"/>
            </a:solidFill>
            <a:prstDash val="dash"/>
          </a:ln>
        </p:spPr>
      </p:sp>
      <p:sp>
        <p:nvSpPr>
          <p:cNvPr id="615530695" name="Shape 16"/>
          <p:cNvSpPr/>
          <p:nvPr/>
        </p:nvSpPr>
        <p:spPr bwMode="auto">
          <a:xfrm>
            <a:off x="8046720" y="2194560"/>
            <a:ext cx="0" cy="1463040"/>
          </a:xfrm>
          <a:prstGeom prst="line">
            <a:avLst/>
          </a:prstGeom>
          <a:noFill/>
          <a:ln w="12700">
            <a:solidFill>
              <a:srgbClr val="5BB3F0"/>
            </a:solidFill>
            <a:prstDash val="dash"/>
          </a:ln>
        </p:spPr>
      </p:sp>
      <p:sp>
        <p:nvSpPr>
          <p:cNvPr id="1960063055" name="Text 17"/>
          <p:cNvSpPr/>
          <p:nvPr/>
        </p:nvSpPr>
        <p:spPr bwMode="auto">
          <a:xfrm>
            <a:off x="5394960" y="4572000"/>
            <a:ext cx="2743200" cy="228600"/>
          </a:xfrm>
          <a:prstGeom prst="rect">
            <a:avLst/>
          </a:prstGeom>
          <a:noFill/>
          <a:ln/>
        </p:spPr>
        <p:txBody>
          <a:bodyPr wrap="square" lIns="0" tIns="0" rIns="0" bIns="0" rtlCol="0" anchor="ctr"/>
          <a:lstStyle/>
          <a:p>
            <a:pPr marL="0" indent="0" algn="ctr">
              <a:buNone/>
              <a:defRPr/>
            </a:pPr>
            <a:r>
              <a:rPr lang="en-US" sz="1000" i="1">
                <a:solidFill>
                  <a:srgbClr val="5BB3F0"/>
                </a:solidFill>
              </a:rPr>
              <a:t>Causal Cluster</a:t>
            </a:r>
            <a:endParaRPr lang="en-US" sz="1000"/>
          </a:p>
        </p:txBody>
      </p:sp>
      <p:sp>
        <p:nvSpPr>
          <p:cNvPr id="435731382" name="Text 18"/>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6341133" name=""/>
          <p:cNvPicPr>
            <a:picLocks noChangeAspect="1"/>
          </p:cNvPicPr>
          <p:nvPr/>
        </p:nvPicPr>
        <p:blipFill rotWithShape="1">
          <a:blip r:embed="rId3"/>
          <a:stretch/>
        </p:blipFill>
        <p:spPr bwMode="auto">
          <a:xfrm>
            <a:off x="0" y="26669"/>
            <a:ext cx="9144000" cy="509015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1A2A52"/>
        </a:solidFill>
      </p:bgPr>
    </p:bg>
    <p:spTree>
      <p:nvGrpSpPr>
        <p:cNvPr id="1" name=""/>
        <p:cNvGrpSpPr/>
        <p:nvPr/>
      </p:nvGrpSpPr>
      <p:grpSpPr bwMode="auto">
        <a:xfrm>
          <a:off x="0" y="0"/>
          <a:ext cx="0" cy="0"/>
          <a:chOff x="0" y="0"/>
          <a:chExt cx="0" cy="0"/>
        </a:xfrm>
      </p:grpSpPr>
      <p:sp>
        <p:nvSpPr>
          <p:cNvPr id="2027125441"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Amazon Neptune — Managed Multi-Model Graph</a:t>
            </a:r>
            <a:endParaRPr lang="en-US" sz="3000"/>
          </a:p>
        </p:txBody>
      </p:sp>
      <p:sp>
        <p:nvSpPr>
          <p:cNvPr id="57622020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908491939"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231677265" name="Text 3"/>
          <p:cNvSpPr/>
          <p:nvPr/>
        </p:nvSpPr>
        <p:spPr bwMode="auto">
          <a:xfrm>
            <a:off x="54864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ORIGIN</a:t>
            </a:r>
            <a:endParaRPr lang="en-US" sz="1300"/>
          </a:p>
          <a:p>
            <a:pPr marL="0" indent="0">
              <a:spcAft>
                <a:spcPts val="400"/>
              </a:spcAft>
              <a:buNone/>
              <a:defRPr/>
            </a:pPr>
            <a:r>
              <a:rPr lang="en-US" sz="1200">
                <a:solidFill>
                  <a:srgbClr val="E8EEF7"/>
                </a:solidFill>
              </a:rPr>
              <a:t>Launched by AWS in 2018</a:t>
            </a:r>
            <a:endParaRPr lang="en-US" sz="1300"/>
          </a:p>
          <a:p>
            <a:pPr marL="0" indent="0">
              <a:spcAft>
                <a:spcPts val="400"/>
              </a:spcAft>
              <a:buNone/>
              <a:defRPr/>
            </a:pPr>
            <a:r>
              <a:rPr lang="en-US" sz="1200">
                <a:solidFill>
                  <a:srgbClr val="E8EEF7"/>
                </a:solidFill>
              </a:rPr>
              <a:t>Fully managed, purpose-built graph DB</a:t>
            </a:r>
            <a:endParaRPr lang="en-US" sz="1300"/>
          </a:p>
          <a:p>
            <a:pPr marL="0" indent="0">
              <a:spcAft>
                <a:spcPts val="400"/>
              </a:spcAft>
              <a:buNone/>
              <a:defRPr/>
            </a:pPr>
            <a:r>
              <a:rPr lang="en-US" sz="1200">
                <a:solidFill>
                  <a:srgbClr val="E8EEF7"/>
                </a:solidFill>
              </a:rPr>
              <a:t>Multi-model: supports BOTH LPG and RDF</a:t>
            </a:r>
            <a:endParaRPr lang="en-US" sz="1300"/>
          </a:p>
          <a:p>
            <a:pPr marL="0" indent="0">
              <a:spcAft>
                <a:spcPts val="400"/>
              </a:spcAft>
              <a:buNone/>
              <a:defRPr/>
            </a:pPr>
            <a:r>
              <a:rPr lang="en-US" sz="1200">
                <a:solidFill>
                  <a:srgbClr val="E8EEF7"/>
                </a:solidFill>
              </a:rPr>
              <a:t>Latest: Neptune Analytics + Neptune Serverless</a:t>
            </a:r>
            <a:endParaRPr lang="en-US" sz="1300"/>
          </a:p>
          <a:p>
            <a:pPr marL="0" indent="0">
              <a:spcAft>
                <a:spcPts val="400"/>
              </a:spcAft>
              <a:buNone/>
              <a:defRPr/>
            </a:pPr>
            <a:r>
              <a:rPr lang="en-US" sz="1200">
                <a:solidFill>
                  <a:srgbClr val="E8EEF7"/>
                </a:solidFill>
              </a:rPr>
              <a:t>ARCHITECTURE</a:t>
            </a:r>
            <a:endParaRPr lang="en-US" sz="1300"/>
          </a:p>
          <a:p>
            <a:pPr marL="0" indent="0">
              <a:spcAft>
                <a:spcPts val="400"/>
              </a:spcAft>
              <a:buNone/>
              <a:defRPr/>
            </a:pPr>
            <a:r>
              <a:rPr lang="en-US" sz="1200">
                <a:solidFill>
                  <a:srgbClr val="E8EEF7"/>
                </a:solidFill>
              </a:rPr>
              <a:t>Storage layer: 6 replicas across 3 AZs</a:t>
            </a:r>
            <a:endParaRPr lang="en-US" sz="1300"/>
          </a:p>
          <a:p>
            <a:pPr marL="0" indent="0">
              <a:spcAft>
                <a:spcPts val="400"/>
              </a:spcAft>
              <a:buNone/>
              <a:defRPr/>
            </a:pPr>
            <a:r>
              <a:rPr lang="en-US" sz="1200">
                <a:solidFill>
                  <a:srgbClr val="E8EEF7"/>
                </a:solidFill>
              </a:rPr>
              <a:t>Up to 15 read replicas with millisecond replication</a:t>
            </a:r>
            <a:endParaRPr lang="en-US" sz="1300"/>
          </a:p>
          <a:p>
            <a:pPr marL="0" indent="0">
              <a:spcAft>
                <a:spcPts val="400"/>
              </a:spcAft>
              <a:buNone/>
              <a:defRPr/>
            </a:pPr>
            <a:r>
              <a:rPr lang="en-US" sz="1200">
                <a:solidFill>
                  <a:srgbClr val="E8EEF7"/>
                </a:solidFill>
              </a:rPr>
              <a:t>Auto-scaling, point-in-time recovery</a:t>
            </a:r>
            <a:endParaRPr lang="en-US" sz="1300"/>
          </a:p>
        </p:txBody>
      </p:sp>
      <p:sp>
        <p:nvSpPr>
          <p:cNvPr id="1618739567" name="Text 4"/>
          <p:cNvSpPr/>
          <p:nvPr/>
        </p:nvSpPr>
        <p:spPr bwMode="auto">
          <a:xfrm>
            <a:off x="480060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KEY STRENGTHS</a:t>
            </a:r>
            <a:endParaRPr lang="en-US" sz="1300"/>
          </a:p>
          <a:p>
            <a:pPr marL="0" indent="0">
              <a:spcAft>
                <a:spcPts val="400"/>
              </a:spcAft>
              <a:buNone/>
              <a:defRPr/>
            </a:pPr>
            <a:r>
              <a:rPr lang="en-US" sz="1200">
                <a:solidFill>
                  <a:srgbClr val="E8EEF7"/>
                </a:solidFill>
              </a:rPr>
              <a:t>Three query languages: Gremlin, openCypher, SPARQL</a:t>
            </a:r>
            <a:endParaRPr lang="en-US" sz="1300"/>
          </a:p>
          <a:p>
            <a:pPr marL="0" indent="0">
              <a:spcAft>
                <a:spcPts val="400"/>
              </a:spcAft>
              <a:buNone/>
              <a:defRPr/>
            </a:pPr>
            <a:r>
              <a:rPr lang="en-US" sz="1200">
                <a:solidFill>
                  <a:srgbClr val="E8EEF7"/>
                </a:solidFill>
              </a:rPr>
              <a:t>Tight integration with VPC, IAM, KMS</a:t>
            </a:r>
            <a:endParaRPr lang="en-US" sz="1300"/>
          </a:p>
          <a:p>
            <a:pPr marL="0" indent="0">
              <a:spcAft>
                <a:spcPts val="400"/>
              </a:spcAft>
              <a:buNone/>
              <a:defRPr/>
            </a:pPr>
            <a:r>
              <a:rPr lang="en-US" sz="1200">
                <a:solidFill>
                  <a:srgbClr val="E8EEF7"/>
                </a:solidFill>
              </a:rPr>
              <a:t>Vector similarity search (2024) for GenAI use cases</a:t>
            </a:r>
            <a:endParaRPr lang="en-US" sz="1300"/>
          </a:p>
          <a:p>
            <a:pPr marL="0" indent="0">
              <a:spcAft>
                <a:spcPts val="400"/>
              </a:spcAft>
              <a:buNone/>
              <a:defRPr/>
            </a:pPr>
            <a:r>
              <a:rPr lang="en-US" sz="1200">
                <a:solidFill>
                  <a:srgbClr val="E8EEF7"/>
                </a:solidFill>
              </a:rPr>
              <a:t>Serverless tier scales to zero</a:t>
            </a:r>
            <a:endParaRPr lang="en-US" sz="1300"/>
          </a:p>
          <a:p>
            <a:pPr marL="0" indent="0">
              <a:spcAft>
                <a:spcPts val="400"/>
              </a:spcAft>
              <a:buNone/>
              <a:defRPr/>
            </a:pPr>
            <a:r>
              <a:rPr lang="en-US" sz="1200">
                <a:solidFill>
                  <a:srgbClr val="E8EEF7"/>
                </a:solidFill>
              </a:rPr>
              <a:t>REAL-WORLD USERS</a:t>
            </a:r>
            <a:endParaRPr lang="en-US" sz="1300"/>
          </a:p>
          <a:p>
            <a:pPr marL="0" indent="0">
              <a:spcAft>
                <a:spcPts val="400"/>
              </a:spcAft>
              <a:buNone/>
              <a:defRPr/>
            </a:pPr>
            <a:r>
              <a:rPr lang="en-US" sz="1200">
                <a:solidFill>
                  <a:srgbClr val="E8EEF7"/>
                </a:solidFill>
              </a:rPr>
              <a:t>Pearson, AstraZeneca: knowledge graphs</a:t>
            </a:r>
            <a:endParaRPr lang="en-US" sz="1300"/>
          </a:p>
          <a:p>
            <a:pPr marL="0" indent="0">
              <a:spcAft>
                <a:spcPts val="400"/>
              </a:spcAft>
              <a:buNone/>
              <a:defRPr/>
            </a:pPr>
            <a:r>
              <a:rPr lang="en-US" sz="1200">
                <a:solidFill>
                  <a:srgbClr val="E8EEF7"/>
                </a:solidFill>
              </a:rPr>
              <a:t>Siemens, Samsung: identity &amp; supply-chain graphs</a:t>
            </a:r>
            <a:endParaRPr lang="en-US" sz="1300"/>
          </a:p>
          <a:p>
            <a:pPr marL="0" indent="0">
              <a:spcAft>
                <a:spcPts val="400"/>
              </a:spcAft>
              <a:buNone/>
              <a:defRPr/>
            </a:pPr>
            <a:r>
              <a:rPr lang="en-US" sz="1200">
                <a:solidFill>
                  <a:srgbClr val="E8EEF7"/>
                </a:solidFill>
              </a:rPr>
              <a:t>Many AWS customers for fraud detection backbones</a:t>
            </a:r>
            <a:endParaRPr lang="en-US" sz="1300"/>
          </a:p>
        </p:txBody>
      </p:sp>
      <p:sp>
        <p:nvSpPr>
          <p:cNvPr id="1911993997"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1850171" name=""/>
          <p:cNvPicPr>
            <a:picLocks noChangeAspect="1"/>
          </p:cNvPicPr>
          <p:nvPr/>
        </p:nvPicPr>
        <p:blipFill rotWithShape="1">
          <a:blip r:embed="rId3"/>
          <a:stretch/>
        </p:blipFill>
        <p:spPr bwMode="auto">
          <a:xfrm>
            <a:off x="971549" y="1109662"/>
            <a:ext cx="7200900" cy="2924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1A2A52"/>
        </a:solidFill>
      </p:bgPr>
    </p:bg>
    <p:spTree>
      <p:nvGrpSpPr>
        <p:cNvPr id="1" name=""/>
        <p:cNvGrpSpPr/>
        <p:nvPr/>
      </p:nvGrpSpPr>
      <p:grpSpPr bwMode="auto">
        <a:xfrm>
          <a:off x="0" y="0"/>
          <a:ext cx="0" cy="0"/>
          <a:chOff x="0" y="0"/>
          <a:chExt cx="0" cy="0"/>
        </a:xfrm>
      </p:grpSpPr>
      <p:sp>
        <p:nvSpPr>
          <p:cNvPr id="1017319119"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TigerGraph &amp; ArangoDB — Specialised Engines</a:t>
            </a:r>
            <a:endParaRPr lang="en-US" sz="3000"/>
          </a:p>
        </p:txBody>
      </p:sp>
      <p:sp>
        <p:nvSpPr>
          <p:cNvPr id="908060110"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911693554"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272911753" name="Text 3"/>
          <p:cNvSpPr/>
          <p:nvPr/>
        </p:nvSpPr>
        <p:spPr bwMode="auto">
          <a:xfrm>
            <a:off x="54864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TIGERGRAPH</a:t>
            </a:r>
            <a:endParaRPr lang="en-US" sz="1300"/>
          </a:p>
          <a:p>
            <a:pPr marL="0" indent="0">
              <a:spcAft>
                <a:spcPts val="400"/>
              </a:spcAft>
              <a:buNone/>
              <a:defRPr/>
            </a:pPr>
            <a:r>
              <a:rPr lang="en-US" sz="1200">
                <a:solidFill>
                  <a:srgbClr val="E8EEF7"/>
                </a:solidFill>
              </a:rPr>
              <a:t>Founded 2012 (Yu Xu, ex-Twitter)</a:t>
            </a:r>
            <a:endParaRPr lang="en-US" sz="1300"/>
          </a:p>
          <a:p>
            <a:pPr marL="0" indent="0">
              <a:spcAft>
                <a:spcPts val="400"/>
              </a:spcAft>
              <a:buNone/>
              <a:defRPr/>
            </a:pPr>
            <a:r>
              <a:rPr lang="en-US" sz="1200">
                <a:solidFill>
                  <a:srgbClr val="E8EEF7"/>
                </a:solidFill>
              </a:rPr>
              <a:t>Native parallel graph engine (MPP architecture)</a:t>
            </a:r>
            <a:endParaRPr lang="en-US" sz="1300"/>
          </a:p>
          <a:p>
            <a:pPr marL="0" indent="0">
              <a:spcAft>
                <a:spcPts val="400"/>
              </a:spcAft>
              <a:buNone/>
              <a:defRPr/>
            </a:pPr>
            <a:r>
              <a:rPr lang="en-US" sz="1200">
                <a:solidFill>
                  <a:srgbClr val="E8EEF7"/>
                </a:solidFill>
              </a:rPr>
              <a:t>GSQL — proprietary Turing-complete query language</a:t>
            </a:r>
            <a:endParaRPr lang="en-US" sz="1300"/>
          </a:p>
          <a:p>
            <a:pPr marL="0" indent="0">
              <a:spcAft>
                <a:spcPts val="400"/>
              </a:spcAft>
              <a:buNone/>
              <a:defRPr/>
            </a:pPr>
            <a:r>
              <a:rPr lang="en-US" sz="1200">
                <a:solidFill>
                  <a:srgbClr val="E8EEF7"/>
                </a:solidFill>
              </a:rPr>
              <a:t>Designed for real-time deep-link analytics</a:t>
            </a:r>
            <a:endParaRPr lang="en-US" sz="1300"/>
          </a:p>
          <a:p>
            <a:pPr marL="0" indent="0">
              <a:spcAft>
                <a:spcPts val="400"/>
              </a:spcAft>
              <a:buNone/>
              <a:defRPr/>
            </a:pPr>
            <a:r>
              <a:rPr lang="en-US" sz="1200">
                <a:solidFill>
                  <a:srgbClr val="E8EEF7"/>
                </a:solidFill>
              </a:rPr>
              <a:t>Used in fraud, anti-money-laundering, telecom</a:t>
            </a:r>
            <a:endParaRPr lang="en-US" sz="1300"/>
          </a:p>
          <a:p>
            <a:pPr marL="0" indent="0">
              <a:spcAft>
                <a:spcPts val="400"/>
              </a:spcAft>
              <a:buNone/>
              <a:defRPr/>
            </a:pPr>
            <a:r>
              <a:rPr lang="en-US" sz="1200">
                <a:solidFill>
                  <a:srgbClr val="E8EEF7"/>
                </a:solidFill>
              </a:rPr>
              <a:t>Strength: distributed analytics on huge graphs</a:t>
            </a:r>
            <a:endParaRPr lang="en-US" sz="1300"/>
          </a:p>
          <a:p>
            <a:pPr marL="0" indent="0">
              <a:spcAft>
                <a:spcPts val="400"/>
              </a:spcAft>
              <a:buNone/>
              <a:defRPr/>
            </a:pPr>
            <a:r>
              <a:rPr lang="en-US" sz="1200">
                <a:solidFill>
                  <a:srgbClr val="E8EEF7"/>
                </a:solidFill>
              </a:rPr>
              <a:t>Free Developer Edition + TigerGraph Cloud</a:t>
            </a:r>
            <a:endParaRPr lang="en-US" sz="1300"/>
          </a:p>
        </p:txBody>
      </p:sp>
      <p:sp>
        <p:nvSpPr>
          <p:cNvPr id="536684666" name="Text 4"/>
          <p:cNvSpPr/>
          <p:nvPr/>
        </p:nvSpPr>
        <p:spPr bwMode="auto">
          <a:xfrm>
            <a:off x="480060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ARANGODB</a:t>
            </a:r>
            <a:endParaRPr lang="en-US" sz="1300"/>
          </a:p>
          <a:p>
            <a:pPr marL="0" indent="0">
              <a:spcAft>
                <a:spcPts val="400"/>
              </a:spcAft>
              <a:buNone/>
              <a:defRPr/>
            </a:pPr>
            <a:r>
              <a:rPr lang="en-US" sz="1200">
                <a:solidFill>
                  <a:srgbClr val="E8EEF7"/>
                </a:solidFill>
              </a:rPr>
              <a:t>Multi-model: documents + graphs + key-value</a:t>
            </a:r>
            <a:endParaRPr lang="en-US" sz="1300"/>
          </a:p>
          <a:p>
            <a:pPr marL="0" indent="0">
              <a:spcAft>
                <a:spcPts val="400"/>
              </a:spcAft>
              <a:buNone/>
              <a:defRPr/>
            </a:pPr>
            <a:r>
              <a:rPr lang="en-US" sz="1200">
                <a:solidFill>
                  <a:srgbClr val="E8EEF7"/>
                </a:solidFill>
              </a:rPr>
              <a:t>AQL — single query language across models</a:t>
            </a:r>
            <a:endParaRPr lang="en-US" sz="1300"/>
          </a:p>
          <a:p>
            <a:pPr marL="0" indent="0">
              <a:spcAft>
                <a:spcPts val="400"/>
              </a:spcAft>
              <a:buNone/>
              <a:defRPr/>
            </a:pPr>
            <a:r>
              <a:rPr lang="en-US" sz="1200">
                <a:solidFill>
                  <a:srgbClr val="E8EEF7"/>
                </a:solidFill>
              </a:rPr>
              <a:t>SmartGraphs: vertex/edge co-location for sharding</a:t>
            </a:r>
            <a:endParaRPr lang="en-US" sz="1300"/>
          </a:p>
          <a:p>
            <a:pPr marL="0" indent="0">
              <a:spcAft>
                <a:spcPts val="400"/>
              </a:spcAft>
              <a:buNone/>
              <a:defRPr/>
            </a:pPr>
            <a:r>
              <a:rPr lang="en-US" sz="1200">
                <a:solidFill>
                  <a:srgbClr val="E8EEF7"/>
                </a:solidFill>
              </a:rPr>
              <a:t>Apache 2.0 (community) + commercial Enterprise</a:t>
            </a:r>
            <a:endParaRPr lang="en-US" sz="1300"/>
          </a:p>
          <a:p>
            <a:pPr marL="0" indent="0">
              <a:spcAft>
                <a:spcPts val="400"/>
              </a:spcAft>
              <a:buNone/>
              <a:defRPr/>
            </a:pPr>
            <a:r>
              <a:rPr lang="en-US" sz="1200">
                <a:solidFill>
                  <a:srgbClr val="E8EEF7"/>
                </a:solidFill>
              </a:rPr>
              <a:t>Strong fit when graph is one part of a wider app</a:t>
            </a:r>
            <a:endParaRPr lang="en-US" sz="1300"/>
          </a:p>
          <a:p>
            <a:pPr marL="0" indent="0">
              <a:spcAft>
                <a:spcPts val="400"/>
              </a:spcAft>
              <a:buNone/>
              <a:defRPr/>
            </a:pPr>
            <a:r>
              <a:rPr lang="en-US" sz="1200">
                <a:solidFill>
                  <a:srgbClr val="E8EEF7"/>
                </a:solidFill>
              </a:rPr>
              <a:t>Integrated full-text search via ArangoSearch</a:t>
            </a:r>
            <a:endParaRPr lang="en-US" sz="1300"/>
          </a:p>
          <a:p>
            <a:pPr marL="0" indent="0">
              <a:spcAft>
                <a:spcPts val="400"/>
              </a:spcAft>
              <a:buNone/>
              <a:defRPr/>
            </a:pPr>
            <a:r>
              <a:rPr lang="en-US" sz="1200">
                <a:solidFill>
                  <a:srgbClr val="E8EEF7"/>
                </a:solidFill>
              </a:rPr>
              <a:t>Used by Mercedes-Benz, Cisco, Liaison.tech</a:t>
            </a:r>
            <a:endParaRPr lang="en-US" sz="1300"/>
          </a:p>
        </p:txBody>
      </p:sp>
      <p:sp>
        <p:nvSpPr>
          <p:cNvPr id="322194319"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1A2A52"/>
        </a:solidFill>
      </p:bgPr>
    </p:bg>
    <p:spTree>
      <p:nvGrpSpPr>
        <p:cNvPr id="1" name=""/>
        <p:cNvGrpSpPr/>
        <p:nvPr/>
      </p:nvGrpSpPr>
      <p:grpSpPr bwMode="auto">
        <a:xfrm>
          <a:off x="0" y="0"/>
          <a:ext cx="0" cy="0"/>
          <a:chOff x="0" y="0"/>
          <a:chExt cx="0" cy="0"/>
        </a:xfrm>
      </p:grpSpPr>
      <p:sp>
        <p:nvSpPr>
          <p:cNvPr id="833785123"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Memgraph &amp; JanusGraph — Performance &amp; Scale</a:t>
            </a:r>
            <a:endParaRPr lang="en-US" sz="3000"/>
          </a:p>
        </p:txBody>
      </p:sp>
      <p:sp>
        <p:nvSpPr>
          <p:cNvPr id="708363061"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720886883"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701166780" name="Text 3"/>
          <p:cNvSpPr/>
          <p:nvPr/>
        </p:nvSpPr>
        <p:spPr bwMode="auto">
          <a:xfrm>
            <a:off x="54864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MEMGRAPH</a:t>
            </a:r>
            <a:endParaRPr lang="en-US" sz="1300"/>
          </a:p>
          <a:p>
            <a:pPr marL="0" indent="0">
              <a:spcAft>
                <a:spcPts val="400"/>
              </a:spcAft>
              <a:buNone/>
              <a:defRPr/>
            </a:pPr>
            <a:r>
              <a:rPr lang="en-US" sz="1200">
                <a:solidFill>
                  <a:srgbClr val="E8EEF7"/>
                </a:solidFill>
              </a:rPr>
              <a:t>Founded 2016 (Cambridge, UK)</a:t>
            </a:r>
            <a:endParaRPr lang="en-US" sz="1300"/>
          </a:p>
          <a:p>
            <a:pPr marL="0" indent="0">
              <a:spcAft>
                <a:spcPts val="400"/>
              </a:spcAft>
              <a:buNone/>
              <a:defRPr/>
            </a:pPr>
            <a:r>
              <a:rPr lang="en-US" sz="1200">
                <a:solidFill>
                  <a:srgbClr val="E8EEF7"/>
                </a:solidFill>
              </a:rPr>
              <a:t>C++ engine, in-memory first with WAL persistence</a:t>
            </a:r>
            <a:endParaRPr lang="en-US" sz="1300"/>
          </a:p>
          <a:p>
            <a:pPr marL="0" indent="0">
              <a:spcAft>
                <a:spcPts val="400"/>
              </a:spcAft>
              <a:buNone/>
              <a:defRPr/>
            </a:pPr>
            <a:r>
              <a:rPr lang="en-US" sz="1200">
                <a:solidFill>
                  <a:srgbClr val="E8EEF7"/>
                </a:solidFill>
              </a:rPr>
              <a:t>openCypher / Bolt-protocol compatible with Neo4j</a:t>
            </a:r>
            <a:endParaRPr lang="en-US" sz="1300"/>
          </a:p>
          <a:p>
            <a:pPr marL="0" indent="0">
              <a:spcAft>
                <a:spcPts val="400"/>
              </a:spcAft>
              <a:buNone/>
              <a:defRPr/>
            </a:pPr>
            <a:r>
              <a:rPr lang="en-US" sz="1200">
                <a:solidFill>
                  <a:srgbClr val="E8EEF7"/>
                </a:solidFill>
              </a:rPr>
              <a:t>Streaming-first: Kafka, Pulsar source connectors</a:t>
            </a:r>
            <a:endParaRPr lang="en-US" sz="1300"/>
          </a:p>
          <a:p>
            <a:pPr marL="0" indent="0">
              <a:spcAft>
                <a:spcPts val="400"/>
              </a:spcAft>
              <a:buNone/>
              <a:defRPr/>
            </a:pPr>
            <a:r>
              <a:rPr lang="en-US" sz="1200">
                <a:solidFill>
                  <a:srgbClr val="E8EEF7"/>
                </a:solidFill>
              </a:rPr>
              <a:t>MAGE library: 100+ graph algorithms (open source)</a:t>
            </a:r>
            <a:endParaRPr lang="en-US" sz="1300"/>
          </a:p>
          <a:p>
            <a:pPr marL="0" indent="0">
              <a:spcAft>
                <a:spcPts val="400"/>
              </a:spcAft>
              <a:buNone/>
              <a:defRPr/>
            </a:pPr>
            <a:r>
              <a:rPr lang="en-US" sz="1200">
                <a:solidFill>
                  <a:srgbClr val="E8EEF7"/>
                </a:solidFill>
              </a:rPr>
              <a:t>Sub-millisecond latency for streaming use cases</a:t>
            </a:r>
            <a:endParaRPr lang="en-US" sz="1300"/>
          </a:p>
          <a:p>
            <a:pPr marL="0" indent="0">
              <a:spcAft>
                <a:spcPts val="400"/>
              </a:spcAft>
              <a:buNone/>
              <a:defRPr/>
            </a:pPr>
            <a:r>
              <a:rPr lang="en-US" sz="1200">
                <a:solidFill>
                  <a:srgbClr val="E8EEF7"/>
                </a:solidFill>
              </a:rPr>
              <a:t>Used by NASA JPL, Capitec Bank, Cedacri</a:t>
            </a:r>
            <a:endParaRPr lang="en-US" sz="1300"/>
          </a:p>
        </p:txBody>
      </p:sp>
      <p:sp>
        <p:nvSpPr>
          <p:cNvPr id="1956541890" name="Text 4"/>
          <p:cNvSpPr/>
          <p:nvPr/>
        </p:nvSpPr>
        <p:spPr bwMode="auto">
          <a:xfrm>
            <a:off x="4800600" y="1143000"/>
            <a:ext cx="3931920" cy="3520440"/>
          </a:xfrm>
          <a:prstGeom prst="rect">
            <a:avLst/>
          </a:prstGeom>
          <a:noFill/>
          <a:ln/>
        </p:spPr>
        <p:txBody>
          <a:bodyPr wrap="square" lIns="0" tIns="0" rIns="0" bIns="0" rtlCol="0" anchor="t"/>
          <a:lstStyle/>
          <a:p>
            <a:pPr marL="0" indent="0">
              <a:spcAft>
                <a:spcPts val="500"/>
              </a:spcAft>
              <a:buNone/>
              <a:defRPr/>
            </a:pPr>
            <a:r>
              <a:rPr lang="en-US" sz="1300" b="1">
                <a:solidFill>
                  <a:srgbClr val="5BB3F0"/>
                </a:solidFill>
              </a:rPr>
              <a:t>JANUSGRAPH</a:t>
            </a:r>
            <a:endParaRPr lang="en-US" sz="1300"/>
          </a:p>
          <a:p>
            <a:pPr marL="0" indent="0">
              <a:spcAft>
                <a:spcPts val="400"/>
              </a:spcAft>
              <a:buNone/>
              <a:defRPr/>
            </a:pPr>
            <a:r>
              <a:rPr lang="en-US" sz="1200">
                <a:solidFill>
                  <a:srgbClr val="E8EEF7"/>
                </a:solidFill>
              </a:rPr>
              <a:t>Apache 2.0 fork of Titan DB (LinkedIn, 2017)</a:t>
            </a:r>
            <a:endParaRPr lang="en-US" sz="1300"/>
          </a:p>
          <a:p>
            <a:pPr marL="0" indent="0">
              <a:spcAft>
                <a:spcPts val="400"/>
              </a:spcAft>
              <a:buNone/>
              <a:defRPr/>
            </a:pPr>
            <a:r>
              <a:rPr lang="en-US" sz="1200">
                <a:solidFill>
                  <a:srgbClr val="E8EEF7"/>
                </a:solidFill>
              </a:rPr>
              <a:t>Plug different storage back-ends:</a:t>
            </a:r>
            <a:endParaRPr lang="en-US" sz="1300"/>
          </a:p>
          <a:p>
            <a:pPr marL="0" indent="0">
              <a:spcAft>
                <a:spcPts val="400"/>
              </a:spcAft>
              <a:buNone/>
              <a:defRPr/>
            </a:pPr>
            <a:r>
              <a:rPr lang="en-US" sz="1200">
                <a:solidFill>
                  <a:srgbClr val="E8EEF7"/>
                </a:solidFill>
              </a:rPr>
              <a:t>  · Cassandra · HBase · BerkeleyDB · ScyllaDB</a:t>
            </a:r>
            <a:endParaRPr lang="en-US" sz="1300"/>
          </a:p>
          <a:p>
            <a:pPr marL="0" indent="0">
              <a:spcAft>
                <a:spcPts val="400"/>
              </a:spcAft>
              <a:buNone/>
              <a:defRPr/>
            </a:pPr>
            <a:r>
              <a:rPr lang="en-US" sz="1200">
                <a:solidFill>
                  <a:srgbClr val="E8EEF7"/>
                </a:solidFill>
              </a:rPr>
              <a:t>Plug different indexes: ES, Solr, Lucene</a:t>
            </a:r>
            <a:endParaRPr lang="en-US" sz="1300"/>
          </a:p>
          <a:p>
            <a:pPr marL="0" indent="0">
              <a:spcAft>
                <a:spcPts val="400"/>
              </a:spcAft>
              <a:buNone/>
              <a:defRPr/>
            </a:pPr>
            <a:r>
              <a:rPr lang="en-US" sz="1200">
                <a:solidFill>
                  <a:srgbClr val="E8EEF7"/>
                </a:solidFill>
              </a:rPr>
              <a:t>Apache TinkerPop / Gremlin query language</a:t>
            </a:r>
            <a:endParaRPr lang="en-US" sz="1300"/>
          </a:p>
          <a:p>
            <a:pPr marL="0" indent="0">
              <a:spcAft>
                <a:spcPts val="400"/>
              </a:spcAft>
              <a:buNone/>
              <a:defRPr/>
            </a:pPr>
            <a:r>
              <a:rPr lang="en-US" sz="1200">
                <a:solidFill>
                  <a:srgbClr val="E8EEF7"/>
                </a:solidFill>
              </a:rPr>
              <a:t>Strength: very large graphs over commodity HW</a:t>
            </a:r>
            <a:endParaRPr lang="en-US" sz="1300"/>
          </a:p>
          <a:p>
            <a:pPr marL="0" indent="0">
              <a:spcAft>
                <a:spcPts val="400"/>
              </a:spcAft>
              <a:buNone/>
              <a:defRPr/>
            </a:pPr>
            <a:r>
              <a:rPr lang="en-US" sz="1200">
                <a:solidFill>
                  <a:srgbClr val="E8EEF7"/>
                </a:solidFill>
              </a:rPr>
              <a:t>Used by Uber (Mission Control), IBM, Expero</a:t>
            </a:r>
            <a:endParaRPr lang="en-US" sz="1300"/>
          </a:p>
        </p:txBody>
      </p:sp>
      <p:sp>
        <p:nvSpPr>
          <p:cNvPr id="1741946836"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19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1A2A52"/>
        </a:solidFill>
      </p:bgPr>
    </p:bg>
    <p:spTree>
      <p:nvGrpSpPr>
        <p:cNvPr id="1" name=""/>
        <p:cNvGrpSpPr/>
        <p:nvPr/>
      </p:nvGrpSpPr>
      <p:grpSpPr bwMode="auto">
        <a:xfrm>
          <a:off x="0" y="0"/>
          <a:ext cx="0" cy="0"/>
          <a:chOff x="0" y="0"/>
          <a:chExt cx="0" cy="0"/>
        </a:xfrm>
      </p:grpSpPr>
      <p:sp>
        <p:nvSpPr>
          <p:cNvPr id="525777702"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Cloud-Native Graph Services</a:t>
            </a:r>
            <a:endParaRPr lang="en-US" sz="3000"/>
          </a:p>
        </p:txBody>
      </p:sp>
      <p:sp>
        <p:nvSpPr>
          <p:cNvPr id="1995943869"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891408185"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713808733"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AMAZON NEPTUNE</a:t>
            </a:r>
            <a:endParaRPr lang="en-US" sz="1300"/>
          </a:p>
          <a:p>
            <a:pPr marL="342900" indent="-342900">
              <a:spcAft>
                <a:spcPts val="600"/>
              </a:spcAft>
              <a:buSzPct val="100000"/>
              <a:buChar char="▶"/>
              <a:defRPr/>
            </a:pPr>
            <a:r>
              <a:rPr lang="en-US" sz="1300">
                <a:solidFill>
                  <a:srgbClr val="E8EEF7"/>
                </a:solidFill>
              </a:rPr>
              <a:t>Managed LPG + RDF, three languages</a:t>
            </a:r>
            <a:endParaRPr lang="en-US" sz="1300"/>
          </a:p>
          <a:p>
            <a:pPr marL="342900" indent="-342900">
              <a:spcAft>
                <a:spcPts val="600"/>
              </a:spcAft>
              <a:buSzPct val="100000"/>
              <a:buChar char="▶"/>
              <a:defRPr/>
            </a:pPr>
            <a:r>
              <a:rPr lang="en-US" sz="1300">
                <a:solidFill>
                  <a:srgbClr val="E8EEF7"/>
                </a:solidFill>
              </a:rPr>
              <a:t>Neptune Analytics for GDS-style workloads</a:t>
            </a:r>
            <a:endParaRPr lang="en-US" sz="1300"/>
          </a:p>
          <a:p>
            <a:pPr marL="342900" indent="-342900">
              <a:spcAft>
                <a:spcPts val="600"/>
              </a:spcAft>
              <a:buSzPct val="100000"/>
              <a:buChar char="▶"/>
              <a:defRPr/>
            </a:pPr>
            <a:r>
              <a:rPr lang="en-US" sz="1300">
                <a:solidFill>
                  <a:srgbClr val="E8EEF7"/>
                </a:solidFill>
              </a:rPr>
              <a:t>Vector search for hybrid GenAI + KG apps</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AZURE COSMOS DB (GREMLIN API)</a:t>
            </a:r>
            <a:endParaRPr lang="en-US" sz="1300"/>
          </a:p>
          <a:p>
            <a:pPr marL="342900" indent="-342900">
              <a:spcAft>
                <a:spcPts val="600"/>
              </a:spcAft>
              <a:buSzPct val="100000"/>
              <a:buChar char="▶"/>
              <a:defRPr/>
            </a:pPr>
            <a:r>
              <a:rPr lang="en-US" sz="1300">
                <a:solidFill>
                  <a:srgbClr val="E8EEF7"/>
                </a:solidFill>
              </a:rPr>
              <a:t>Multi-model service, Gremlin endpoint</a:t>
            </a:r>
            <a:endParaRPr lang="en-US" sz="1300"/>
          </a:p>
          <a:p>
            <a:pPr marL="342900" indent="-342900">
              <a:spcAft>
                <a:spcPts val="600"/>
              </a:spcAft>
              <a:buSzPct val="100000"/>
              <a:buChar char="▶"/>
              <a:defRPr/>
            </a:pPr>
            <a:r>
              <a:rPr lang="en-US" sz="1300">
                <a:solidFill>
                  <a:srgbClr val="E8EEF7"/>
                </a:solidFill>
              </a:rPr>
              <a:t>Global distribution, 99.999% SLA</a:t>
            </a:r>
            <a:endParaRPr lang="en-US" sz="1300"/>
          </a:p>
          <a:p>
            <a:pPr marL="342900" indent="-342900">
              <a:spcAft>
                <a:spcPts val="600"/>
              </a:spcAft>
              <a:buSzPct val="100000"/>
              <a:buChar char="▶"/>
              <a:defRPr/>
            </a:pPr>
            <a:r>
              <a:rPr lang="en-US" sz="1300">
                <a:solidFill>
                  <a:srgbClr val="E8EEF7"/>
                </a:solidFill>
              </a:rPr>
              <a:t>Pay per RU/s; serverless tier available</a:t>
            </a:r>
            <a:endParaRPr lang="en-US" sz="1300"/>
          </a:p>
        </p:txBody>
      </p:sp>
      <p:sp>
        <p:nvSpPr>
          <p:cNvPr id="347653929"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GOOGLE SPANNER GRAPH (2024)</a:t>
            </a:r>
            <a:endParaRPr lang="en-US" sz="1300"/>
          </a:p>
          <a:p>
            <a:pPr marL="342900" indent="-342900">
              <a:spcAft>
                <a:spcPts val="600"/>
              </a:spcAft>
              <a:buSzPct val="100000"/>
              <a:buChar char="▶"/>
              <a:defRPr/>
            </a:pPr>
            <a:r>
              <a:rPr lang="en-US" sz="1300">
                <a:solidFill>
                  <a:srgbClr val="E8EEF7"/>
                </a:solidFill>
              </a:rPr>
              <a:t>Adds graph queries on top of Spanner SQL</a:t>
            </a:r>
            <a:endParaRPr lang="en-US" sz="1300"/>
          </a:p>
          <a:p>
            <a:pPr marL="342900" indent="-342900">
              <a:spcAft>
                <a:spcPts val="600"/>
              </a:spcAft>
              <a:buSzPct val="100000"/>
              <a:buChar char="▶"/>
              <a:defRPr/>
            </a:pPr>
            <a:r>
              <a:rPr lang="en-US" sz="1300">
                <a:solidFill>
                  <a:srgbClr val="E8EEF7"/>
                </a:solidFill>
              </a:rPr>
              <a:t>Combines OLTP + graph in one engine</a:t>
            </a:r>
            <a:endParaRPr lang="en-US" sz="1300"/>
          </a:p>
          <a:p>
            <a:pPr marL="342900" indent="-342900">
              <a:spcAft>
                <a:spcPts val="600"/>
              </a:spcAft>
              <a:buSzPct val="100000"/>
              <a:buChar char="▶"/>
              <a:defRPr/>
            </a:pPr>
            <a:r>
              <a:rPr lang="en-US" sz="1300">
                <a:solidFill>
                  <a:srgbClr val="E8EEF7"/>
                </a:solidFill>
              </a:rPr>
              <a:t>openCypher-compatible syntax</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NEO4J AURA &amp; TIGERGRAPH CLOUD</a:t>
            </a:r>
            <a:endParaRPr lang="en-US" sz="1300"/>
          </a:p>
          <a:p>
            <a:pPr marL="342900" indent="-342900">
              <a:spcAft>
                <a:spcPts val="600"/>
              </a:spcAft>
              <a:buSzPct val="100000"/>
              <a:buChar char="▶"/>
              <a:defRPr/>
            </a:pPr>
            <a:r>
              <a:rPr lang="en-US" sz="1300">
                <a:solidFill>
                  <a:srgbClr val="E8EEF7"/>
                </a:solidFill>
              </a:rPr>
              <a:t>Vendor-managed DBaaS on AWS / GCP / Azure</a:t>
            </a:r>
            <a:endParaRPr lang="en-US" sz="1300"/>
          </a:p>
          <a:p>
            <a:pPr marL="342900" indent="-342900">
              <a:spcAft>
                <a:spcPts val="600"/>
              </a:spcAft>
              <a:buSzPct val="100000"/>
              <a:buChar char="▶"/>
              <a:defRPr/>
            </a:pPr>
            <a:r>
              <a:rPr lang="en-US" sz="1300">
                <a:solidFill>
                  <a:srgbClr val="E8EEF7"/>
                </a:solidFill>
              </a:rPr>
              <a:t>Free tiers; auto-pause on small instances</a:t>
            </a:r>
            <a:endParaRPr lang="en-US" sz="1300"/>
          </a:p>
          <a:p>
            <a:pPr marL="342900" indent="-342900">
              <a:spcAft>
                <a:spcPts val="600"/>
              </a:spcAft>
              <a:buSzPct val="100000"/>
              <a:buChar char="▶"/>
              <a:defRPr/>
            </a:pPr>
            <a:r>
              <a:rPr lang="en-US" sz="1300">
                <a:solidFill>
                  <a:srgbClr val="E8EEF7"/>
                </a:solidFill>
              </a:rPr>
              <a:t>TREND: every major cloud now ships graph</a:t>
            </a:r>
            <a:endParaRPr lang="en-US" sz="1300"/>
          </a:p>
        </p:txBody>
      </p:sp>
      <p:sp>
        <p:nvSpPr>
          <p:cNvPr id="1625145611"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1A2A52"/>
        </a:solidFill>
      </p:bgPr>
    </p:bg>
    <p:spTree>
      <p:nvGrpSpPr>
        <p:cNvPr id="1" name=""/>
        <p:cNvGrpSpPr/>
        <p:nvPr/>
      </p:nvGrpSpPr>
      <p:grpSpPr bwMode="auto">
        <a:xfrm>
          <a:off x="0" y="0"/>
          <a:ext cx="0" cy="0"/>
          <a:chOff x="0" y="0"/>
          <a:chExt cx="0" cy="0"/>
        </a:xfrm>
      </p:grpSpPr>
      <p:sp>
        <p:nvSpPr>
          <p:cNvPr id="131365863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System Comparison at a Glance</a:t>
            </a:r>
            <a:endParaRPr lang="en-US" sz="3000"/>
          </a:p>
        </p:txBody>
      </p:sp>
      <p:sp>
        <p:nvSpPr>
          <p:cNvPr id="2071025312" name="Shape 1"/>
          <p:cNvSpPr/>
          <p:nvPr/>
        </p:nvSpPr>
        <p:spPr bwMode="auto">
          <a:xfrm>
            <a:off x="457200" y="914400"/>
            <a:ext cx="914400" cy="45720"/>
          </a:xfrm>
          <a:prstGeom prst="rect">
            <a:avLst/>
          </a:prstGeom>
          <a:solidFill>
            <a:srgbClr val="4A9FE7"/>
          </a:solidFill>
          <a:ln w="12700">
            <a:solidFill>
              <a:srgbClr val="4A9FE7"/>
            </a:solidFill>
            <a:prstDash val="solid"/>
          </a:ln>
        </p:spPr>
      </p:sp>
      <p:graphicFrame>
        <p:nvGraphicFramePr>
          <p:cNvPr id="93718017" name="Table 0"/>
          <p:cNvGraphicFramePr>
            <a:graphicFrameLocks xmlns:a="http://schemas.openxmlformats.org/drawingml/2006/main" noGrp="1"/>
          </p:cNvGraphicFramePr>
          <p:nvPr/>
        </p:nvGraphicFramePr>
        <p:xfrm rot="0">
          <a:off x="457200" y="1097280"/>
          <a:ext cx="8229600" cy="914400"/>
        </p:xfrm>
        <a:graphic>
          <a:graphicData uri="http://schemas.openxmlformats.org/drawingml/2006/table">
            <a:tbl>
              <a:tblPr firstRow="0" firstCol="0" lastRow="0" lastCol="0" bandRow="0" bandCol="0"/>
              <a:tblGrid>
                <a:gridCol w="1280160"/>
                <a:gridCol w="1188720"/>
                <a:gridCol w="1828800"/>
                <a:gridCol w="1920240"/>
                <a:gridCol w="2011680"/>
              </a:tblGrid>
              <a:tr h="411480">
                <a:tc>
                  <a:txBody>
                    <a:bodyPr/>
                    <a:p>
                      <a:pPr marL="0" indent="0" algn="l">
                        <a:buNone/>
                        <a:defRPr/>
                      </a:pPr>
                      <a:r>
                        <a:rPr lang="en-US" sz="1100" b="1">
                          <a:solidFill>
                            <a:srgbClr val="FFFFFF"/>
                          </a:solidFill>
                          <a:latin typeface="Calibri"/>
                          <a:ea typeface="Calibri"/>
                          <a:cs typeface="Calibri"/>
                        </a:rPr>
                        <a:t>System</a:t>
                      </a:r>
                      <a:endParaRPr lang="en-US" sz="11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E66B5"/>
                    </a:solidFill>
                  </a:tcPr>
                </a:tc>
                <a:tc>
                  <a:txBody>
                    <a:bodyPr/>
                    <a:p>
                      <a:pPr marL="0" indent="0" algn="l">
                        <a:buNone/>
                        <a:defRPr/>
                      </a:pPr>
                      <a:r>
                        <a:rPr lang="en-US" sz="1100" b="1">
                          <a:solidFill>
                            <a:srgbClr val="FFFFFF"/>
                          </a:solidFill>
                          <a:latin typeface="Calibri"/>
                          <a:ea typeface="Calibri"/>
                          <a:cs typeface="Calibri"/>
                        </a:rPr>
                        <a:t>Model</a:t>
                      </a:r>
                      <a:endParaRPr lang="en-US" sz="11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E66B5"/>
                    </a:solidFill>
                  </a:tcPr>
                </a:tc>
                <a:tc>
                  <a:txBody>
                    <a:bodyPr/>
                    <a:p>
                      <a:pPr marL="0" indent="0" algn="l">
                        <a:buNone/>
                        <a:defRPr/>
                      </a:pPr>
                      <a:r>
                        <a:rPr lang="en-US" sz="1100" b="1">
                          <a:solidFill>
                            <a:srgbClr val="FFFFFF"/>
                          </a:solidFill>
                          <a:latin typeface="Calibri"/>
                          <a:ea typeface="Calibri"/>
                          <a:cs typeface="Calibri"/>
                        </a:rPr>
                        <a:t>Query Lang.</a:t>
                      </a:r>
                      <a:endParaRPr lang="en-US" sz="11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E66B5"/>
                    </a:solidFill>
                  </a:tcPr>
                </a:tc>
                <a:tc>
                  <a:txBody>
                    <a:bodyPr/>
                    <a:p>
                      <a:pPr marL="0" indent="0" algn="l">
                        <a:buNone/>
                        <a:defRPr/>
                      </a:pPr>
                      <a:r>
                        <a:rPr lang="en-US" sz="1100" b="1">
                          <a:solidFill>
                            <a:srgbClr val="FFFFFF"/>
                          </a:solidFill>
                          <a:latin typeface="Calibri"/>
                          <a:ea typeface="Calibri"/>
                          <a:cs typeface="Calibri"/>
                        </a:rPr>
                        <a:t>Architecture</a:t>
                      </a:r>
                      <a:endParaRPr lang="en-US" sz="11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E66B5"/>
                    </a:solidFill>
                  </a:tcPr>
                </a:tc>
                <a:tc>
                  <a:txBody>
                    <a:bodyPr/>
                    <a:p>
                      <a:pPr marL="0" indent="0" algn="l">
                        <a:buNone/>
                        <a:defRPr/>
                      </a:pPr>
                      <a:r>
                        <a:rPr lang="en-US" sz="1100" b="1">
                          <a:solidFill>
                            <a:srgbClr val="FFFFFF"/>
                          </a:solidFill>
                          <a:latin typeface="Calibri"/>
                          <a:ea typeface="Calibri"/>
                          <a:cs typeface="Calibri"/>
                        </a:rPr>
                        <a:t>Best For</a:t>
                      </a:r>
                      <a:endParaRPr lang="en-US" sz="11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E66B5"/>
                    </a:solidFill>
                  </a:tcPr>
                </a:tc>
              </a:tr>
              <a:tr h="411480">
                <a:tc>
                  <a:txBody>
                    <a:bodyPr/>
                    <a:p>
                      <a:pPr marL="0" indent="0" algn="l">
                        <a:buNone/>
                        <a:defRPr/>
                      </a:pPr>
                      <a:r>
                        <a:rPr lang="en-US" sz="1000">
                          <a:solidFill>
                            <a:srgbClr val="E8EEF7"/>
                          </a:solidFill>
                          <a:latin typeface="Calibri"/>
                          <a:ea typeface="Calibri"/>
                          <a:cs typeface="Calibri"/>
                        </a:rPr>
                        <a:t>Neo4j</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LPG</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Cypher / GQL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Causal Cluster (CP)</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Recommendations, fraud, KG</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r>
              <a:tr h="411480">
                <a:tc>
                  <a:txBody>
                    <a:bodyPr/>
                    <a:p>
                      <a:pPr marL="0" indent="0" algn="l">
                        <a:buNone/>
                        <a:defRPr/>
                      </a:pPr>
                      <a:r>
                        <a:rPr lang="en-US" sz="1000">
                          <a:solidFill>
                            <a:srgbClr val="E8EEF7"/>
                          </a:solidFill>
                          <a:latin typeface="Calibri"/>
                          <a:ea typeface="Calibri"/>
                          <a:cs typeface="Calibri"/>
                        </a:rPr>
                        <a:t>Amazon Neptune</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LPG + RDF</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Cypher / Gremlin / SPARQL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Managed multi-AZ</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AWS-native graphs</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r>
              <a:tr h="411480">
                <a:tc>
                  <a:txBody>
                    <a:bodyPr/>
                    <a:p>
                      <a:pPr marL="0" indent="0" algn="l">
                        <a:buNone/>
                        <a:defRPr/>
                      </a:pPr>
                      <a:r>
                        <a:rPr lang="en-US" sz="1000">
                          <a:solidFill>
                            <a:srgbClr val="E8EEF7"/>
                          </a:solidFill>
                          <a:latin typeface="Calibri"/>
                          <a:ea typeface="Calibri"/>
                          <a:cs typeface="Calibri"/>
                        </a:rPr>
                        <a:t>TigerGraph</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LPG</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GSQL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Native MPP</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Real-time deep analytics</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r>
              <a:tr h="411480">
                <a:tc>
                  <a:txBody>
                    <a:bodyPr/>
                    <a:p>
                      <a:pPr marL="0" indent="0" algn="l">
                        <a:buNone/>
                        <a:defRPr/>
                      </a:pPr>
                      <a:r>
                        <a:rPr lang="en-US" sz="1000">
                          <a:solidFill>
                            <a:srgbClr val="E8EEF7"/>
                          </a:solidFill>
                          <a:latin typeface="Calibri"/>
                          <a:ea typeface="Calibri"/>
                          <a:cs typeface="Calibri"/>
                        </a:rPr>
                        <a:t>ArangoDB</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Multi-model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AQL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Distributed cluster</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Doc + graph in one app</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r>
              <a:tr h="411480">
                <a:tc>
                  <a:txBody>
                    <a:bodyPr/>
                    <a:p>
                      <a:pPr marL="0" indent="0" algn="l">
                        <a:buNone/>
                        <a:defRPr/>
                      </a:pPr>
                      <a:r>
                        <a:rPr lang="en-US" sz="1000">
                          <a:solidFill>
                            <a:srgbClr val="E8EEF7"/>
                          </a:solidFill>
                          <a:latin typeface="Calibri"/>
                          <a:ea typeface="Calibri"/>
                          <a:cs typeface="Calibri"/>
                        </a:rPr>
                        <a:t>Memgraph</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LPG</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openCypher</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In-memory + WAL</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c>
                  <a:txBody>
                    <a:bodyPr/>
                    <a:p>
                      <a:pPr marL="0" indent="0" algn="l">
                        <a:buNone/>
                        <a:defRPr/>
                      </a:pPr>
                      <a:r>
                        <a:rPr lang="en-US" sz="1000">
                          <a:solidFill>
                            <a:srgbClr val="E8EEF7"/>
                          </a:solidFill>
                          <a:latin typeface="Calibri"/>
                          <a:ea typeface="Calibri"/>
                          <a:cs typeface="Calibri"/>
                        </a:rPr>
                        <a:t>Streaming, low latency</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1F3360"/>
                    </a:solidFill>
                  </a:tcPr>
                </a:tc>
              </a:tr>
              <a:tr h="411480">
                <a:tc>
                  <a:txBody>
                    <a:bodyPr/>
                    <a:p>
                      <a:pPr marL="0" indent="0" algn="l">
                        <a:buNone/>
                        <a:defRPr/>
                      </a:pPr>
                      <a:r>
                        <a:rPr lang="en-US" sz="1000">
                          <a:solidFill>
                            <a:srgbClr val="E8EEF7"/>
                          </a:solidFill>
                          <a:latin typeface="Calibri"/>
                          <a:ea typeface="Calibri"/>
                          <a:cs typeface="Calibri"/>
                        </a:rPr>
                        <a:t>JanusGraph</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LPG</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Gremlin</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Pluggable backend</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c>
                  <a:txBody>
                    <a:bodyPr/>
                    <a:p>
                      <a:pPr marL="0" indent="0" algn="l">
                        <a:buNone/>
                        <a:defRPr/>
                      </a:pPr>
                      <a:r>
                        <a:rPr lang="en-US" sz="1000">
                          <a:solidFill>
                            <a:srgbClr val="E8EEF7"/>
                          </a:solidFill>
                          <a:latin typeface="Calibri"/>
                          <a:ea typeface="Calibri"/>
                          <a:cs typeface="Calibri"/>
                        </a:rPr>
                        <a:t>Very large graphs on Cassandra/HBase</a:t>
                      </a:r>
                      <a:endParaRPr lang="en-US" sz="1000">
                        <a:latin typeface="Calibri"/>
                        <a:ea typeface="Calibri"/>
                        <a:cs typeface="Calibri"/>
                      </a:endParaRPr>
                    </a:p>
                  </a:txBody>
                  <a:tcPr marL="91440" marR="91440" marT="45720" marB="45720" anchor="ctr">
                    <a:lnL w="0" algn="ctr">
                      <a:noFill/>
                    </a:lnL>
                    <a:lnR w="0" algn="ctr">
                      <a:noFill/>
                    </a:lnR>
                    <a:lnT w="0" algn="ctr">
                      <a:noFill/>
                    </a:lnT>
                    <a:lnB w="0" algn="ctr">
                      <a:noFill/>
                    </a:lnB>
                    <a:solidFill>
                      <a:srgbClr val="243C72"/>
                    </a:solidFill>
                  </a:tcPr>
                </a:tc>
              </a:tr>
            </a:tbl>
          </a:graphicData>
        </a:graphic>
      </p:graphicFrame>
      <p:sp>
        <p:nvSpPr>
          <p:cNvPr id="1012246578" name="Text 2"/>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1A2A52"/>
        </a:solidFill>
      </p:bgPr>
    </p:bg>
    <p:spTree>
      <p:nvGrpSpPr>
        <p:cNvPr id="1" name=""/>
        <p:cNvGrpSpPr/>
        <p:nvPr/>
      </p:nvGrpSpPr>
      <p:grpSpPr bwMode="auto">
        <a:xfrm>
          <a:off x="0" y="0"/>
          <a:ext cx="0" cy="0"/>
          <a:chOff x="0" y="0"/>
          <a:chExt cx="0" cy="0"/>
        </a:xfrm>
      </p:grpSpPr>
      <p:sp>
        <p:nvSpPr>
          <p:cNvPr id="1638627412"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1656357084"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4</a:t>
            </a:r>
            <a:endParaRPr lang="en-US" sz="4800"/>
          </a:p>
        </p:txBody>
      </p:sp>
      <p:sp>
        <p:nvSpPr>
          <p:cNvPr id="1130730840"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Cypher &amp; GQL — The Graph Query Languages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1A2A52"/>
        </a:solidFill>
      </p:bgPr>
    </p:bg>
    <p:spTree>
      <p:nvGrpSpPr>
        <p:cNvPr id="1" name=""/>
        <p:cNvGrpSpPr/>
        <p:nvPr/>
      </p:nvGrpSpPr>
      <p:grpSpPr bwMode="auto">
        <a:xfrm>
          <a:off x="0" y="0"/>
          <a:ext cx="0" cy="0"/>
          <a:chOff x="0" y="0"/>
          <a:chExt cx="0" cy="0"/>
        </a:xfrm>
      </p:grpSpPr>
      <p:sp>
        <p:nvSpPr>
          <p:cNvPr id="225675825"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Cypher — A Pattern-Based Query Language</a:t>
            </a:r>
            <a:endParaRPr lang="en-US" sz="3000"/>
          </a:p>
        </p:txBody>
      </p:sp>
      <p:sp>
        <p:nvSpPr>
          <p:cNvPr id="862487285"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554669831"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Cypher reads like ASCII-art: nodes are (parens), relationships are -[brackets]-&gt;</a:t>
            </a:r>
            <a:endParaRPr lang="en-US" sz="1300"/>
          </a:p>
          <a:p>
            <a:pPr marL="342900" indent="-342900">
              <a:spcAft>
                <a:spcPts val="600"/>
              </a:spcAft>
              <a:buSzPct val="100000"/>
              <a:buChar char="▶"/>
              <a:defRPr/>
            </a:pPr>
            <a:r>
              <a:rPr lang="en-US" sz="1300">
                <a:solidFill>
                  <a:srgbClr val="E8EEF7"/>
                </a:solidFill>
              </a:rPr>
              <a:t>Pattern matching is declarative — describe the SHAPE you want; the engine plans the traversal</a:t>
            </a:r>
            <a:endParaRPr lang="en-US" sz="1300"/>
          </a:p>
          <a:p>
            <a:pPr marL="342900" indent="-342900">
              <a:spcAft>
                <a:spcPts val="600"/>
              </a:spcAft>
              <a:buSzPct val="100000"/>
              <a:buChar char="▶"/>
              <a:defRPr/>
            </a:pPr>
            <a:r>
              <a:rPr lang="en-US" sz="1300">
                <a:solidFill>
                  <a:srgbClr val="E8EEF7"/>
                </a:solidFill>
              </a:rPr>
              <a:t>Open-sourced as openCypher (2015); now consumed by Neo4j, Memgraph, RedisGraph, AgensGraph and others</a:t>
            </a:r>
            <a:endParaRPr lang="en-US" sz="1300"/>
          </a:p>
          <a:p>
            <a:pPr marL="342900" indent="-342900">
              <a:spcAft>
                <a:spcPts val="600"/>
              </a:spcAft>
              <a:buSzPct val="100000"/>
              <a:buChar char="▶"/>
              <a:defRPr/>
            </a:pPr>
            <a:r>
              <a:rPr lang="en-US" sz="1300">
                <a:solidFill>
                  <a:srgbClr val="E8EEF7"/>
                </a:solidFill>
              </a:rPr>
              <a:t>ISO/IEC 39075:2024 — GQL: the first ISO standard for graph queries since SQL itself in 1986</a:t>
            </a:r>
            <a:endParaRPr lang="en-US" sz="1300"/>
          </a:p>
          <a:p>
            <a:pPr marL="342900" indent="-342900">
              <a:spcAft>
                <a:spcPts val="600"/>
              </a:spcAft>
              <a:buSzPct val="100000"/>
              <a:buChar char="▶"/>
              <a:defRPr/>
            </a:pPr>
            <a:r>
              <a:rPr lang="en-US" sz="1300">
                <a:solidFill>
                  <a:srgbClr val="E8EEF7"/>
                </a:solidFill>
              </a:rPr>
              <a:t>Core verbs: MATCH (read), CREATE / MERGE (write), WHERE (filter), RETURN, WITH (chain), CALL (procedure)</a:t>
            </a:r>
            <a:endParaRPr lang="en-US" sz="1300"/>
          </a:p>
          <a:p>
            <a:pPr marL="342900" indent="-342900">
              <a:spcAft>
                <a:spcPts val="600"/>
              </a:spcAft>
              <a:buSzPct val="100000"/>
              <a:buChar char="▶"/>
              <a:defRPr/>
            </a:pPr>
            <a:r>
              <a:rPr lang="en-US" sz="1300">
                <a:solidFill>
                  <a:srgbClr val="E8EEF7"/>
                </a:solidFill>
              </a:rPr>
              <a:t>Supports parameters, transactions, batched UNWIND, sub-queries, EXISTS, COLLECT, and the full GDS library</a:t>
            </a:r>
            <a:endParaRPr lang="en-US" sz="1300"/>
          </a:p>
          <a:p>
            <a:pPr marL="342900" indent="-342900">
              <a:spcAft>
                <a:spcPts val="600"/>
              </a:spcAft>
              <a:buSzPct val="100000"/>
              <a:buChar char="▶"/>
              <a:defRPr/>
            </a:pPr>
            <a:r>
              <a:rPr lang="en-US" sz="1300">
                <a:solidFill>
                  <a:srgbClr val="E8EEF7"/>
                </a:solidFill>
              </a:rPr>
              <a:t>Tool: cypher-shell — the interactive command-line client (used in today's lab)</a:t>
            </a:r>
            <a:endParaRPr lang="en-US" sz="1300"/>
          </a:p>
        </p:txBody>
      </p:sp>
      <p:sp>
        <p:nvSpPr>
          <p:cNvPr id="216230638"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1A2A52"/>
        </a:solidFill>
      </p:bgPr>
    </p:bg>
    <p:spTree>
      <p:nvGrpSpPr>
        <p:cNvPr id="1" name=""/>
        <p:cNvGrpSpPr/>
        <p:nvPr/>
      </p:nvGrpSpPr>
      <p:grpSpPr bwMode="auto">
        <a:xfrm>
          <a:off x="0" y="0"/>
          <a:ext cx="0" cy="0"/>
          <a:chOff x="0" y="0"/>
          <a:chExt cx="0" cy="0"/>
        </a:xfrm>
      </p:grpSpPr>
      <p:sp>
        <p:nvSpPr>
          <p:cNvPr id="1676448140"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Cypher — CREATE, MATCH &amp; Basic RETURN</a:t>
            </a:r>
            <a:endParaRPr lang="en-US" sz="3000"/>
          </a:p>
        </p:txBody>
      </p:sp>
      <p:sp>
        <p:nvSpPr>
          <p:cNvPr id="72326165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253155012"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658739668"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Create nodes with labels and properties</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(a:Author { name: 'Anna', orcid: '0000-0002-1234-5678' });</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(p:Paper  { title: 'FPGA Accelerators', year: 2024, doi: '10.1109/ABC' });</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(t:Topic  { name: 'VLSI Design' });</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Create directed, typed relationships between existing nodes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(a)-[:WROTE { year: 2024 }]-&gt;(p);</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Find every paper Anna wrote and return its title and year</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a:t>
            </a:r>
            <a:r>
              <a:rPr lang="en-US" sz="1100">
                <a:solidFill>
                  <a:srgbClr val="E8EEF7"/>
                </a:solidFill>
                <a:latin typeface="Consolas"/>
                <a:ea typeface="Consolas"/>
                <a:cs typeface="Consolas"/>
              </a:rPr>
              <a:t>})-[:WROTE]-&gt;(p:Paper)</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p.title, p.year</a:t>
            </a:r>
            <a:r>
              <a:rPr lang="en-US" sz="1100" b="1">
                <a:solidFill>
                  <a:srgbClr val="8AB4F8"/>
                </a:solidFill>
                <a:latin typeface="Consolas"/>
                <a:ea typeface="Consolas"/>
                <a:cs typeface="Consolas"/>
              </a:rPr>
              <a:t> ORDER BY </a:t>
            </a:r>
            <a:r>
              <a:rPr lang="en-US" sz="1100">
                <a:solidFill>
                  <a:srgbClr val="E8EEF7"/>
                </a:solidFill>
                <a:latin typeface="Consolas"/>
                <a:ea typeface="Consolas"/>
                <a:cs typeface="Consolas"/>
              </a:rPr>
              <a:t>p.year DESC</a:t>
            </a:r>
            <a:r>
              <a:rPr lang="en-US" sz="1100" b="1">
                <a:solidFill>
                  <a:srgbClr val="8AB4F8"/>
                </a:solidFill>
                <a:latin typeface="Consolas"/>
                <a:ea typeface="Consolas"/>
                <a:cs typeface="Consolas"/>
              </a:rPr>
              <a:t> LIMIT </a:t>
            </a:r>
            <a:r>
              <a:rPr lang="en-US" sz="1100">
                <a:solidFill>
                  <a:srgbClr val="E8EEF7"/>
                </a:solidFill>
                <a:latin typeface="Consolas"/>
                <a:ea typeface="Consolas"/>
                <a:cs typeface="Consolas"/>
              </a:rPr>
              <a:t>10;</a:t>
            </a:r>
            <a:endParaRPr lang="en-US" sz="1100"/>
          </a:p>
        </p:txBody>
      </p:sp>
      <p:sp>
        <p:nvSpPr>
          <p:cNvPr id="1069156041"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bg>
      <p:bgPr shadeToTitle="0">
        <a:solidFill>
          <a:srgbClr val="1A2A52"/>
        </a:solidFill>
      </p:bgPr>
    </p:bg>
    <p:spTree>
      <p:nvGrpSpPr>
        <p:cNvPr id="1" name=""/>
        <p:cNvGrpSpPr/>
        <p:nvPr/>
      </p:nvGrpSpPr>
      <p:grpSpPr bwMode="auto">
        <a:xfrm>
          <a:off x="0" y="0"/>
          <a:ext cx="0" cy="0"/>
          <a:chOff x="0" y="0"/>
          <a:chExt cx="0" cy="0"/>
        </a:xfrm>
      </p:grpSpPr>
      <p:sp>
        <p:nvSpPr>
          <p:cNvPr id="66454218"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Cypher — Variable-Length Paths &amp; Pattern Power</a:t>
            </a:r>
            <a:endParaRPr lang="en-US" sz="3000"/>
          </a:p>
        </p:txBody>
      </p:sp>
      <p:sp>
        <p:nvSpPr>
          <p:cNvPr id="185383650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177916099"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232457348"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Co-authors (people who wrote the same paper as Anna)</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(anna:Author {name:</a:t>
            </a:r>
            <a:r>
              <a:rPr lang="en-US" sz="1100">
                <a:solidFill>
                  <a:srgbClr val="7DDFC1"/>
                </a:solidFill>
                <a:latin typeface="Consolas"/>
                <a:ea typeface="Consolas"/>
                <a:cs typeface="Consolas"/>
              </a:rPr>
              <a:t>'Anna'</a:t>
            </a:r>
            <a:r>
              <a:rPr lang="en-US" sz="1100">
                <a:solidFill>
                  <a:srgbClr val="E8EEF7"/>
                </a:solidFill>
                <a:latin typeface="Consolas"/>
                <a:ea typeface="Consolas"/>
                <a:cs typeface="Consolas"/>
              </a:rPr>
              <a:t>})-[:WROTE]-&gt;(p)&lt;-[:WROTE]-(co:Author)</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co.name, count(p) AS shared_papers </a:t>
            </a:r>
            <a:r>
              <a:rPr lang="en-US" sz="1100" b="1">
                <a:solidFill>
                  <a:srgbClr val="8AB4F8"/>
                </a:solidFill>
                <a:latin typeface="Consolas"/>
                <a:ea typeface="Consolas"/>
                <a:cs typeface="Consolas"/>
              </a:rPr>
              <a:t>ORDER BY</a:t>
            </a:r>
            <a:r>
              <a:rPr lang="en-US" sz="1100">
                <a:solidFill>
                  <a:srgbClr val="E8EEF7"/>
                </a:solidFill>
                <a:latin typeface="Consolas"/>
                <a:ea typeface="Consolas"/>
                <a:cs typeface="Consolas"/>
              </a:rPr>
              <a:t> shared_papers DESC;</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2- to 4-hop citation chains starting from a paper</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path =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})-[:CITES*2..4]-&gt;(t:Paper)</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t.title, length(path) AS hops </a:t>
            </a:r>
            <a:r>
              <a:rPr lang="en-US" sz="1100" b="1">
                <a:solidFill>
                  <a:srgbClr val="8AB4F8"/>
                </a:solidFill>
                <a:latin typeface="Consolas"/>
                <a:ea typeface="Consolas"/>
                <a:cs typeface="Consolas"/>
              </a:rPr>
              <a:t>LIMIT</a:t>
            </a:r>
            <a:r>
              <a:rPr lang="en-US" sz="1100">
                <a:solidFill>
                  <a:srgbClr val="E8EEF7"/>
                </a:solidFill>
                <a:latin typeface="Consolas"/>
                <a:ea typeface="Consolas"/>
                <a:cs typeface="Consolas"/>
              </a:rPr>
              <a:t> 25;</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Shortest path between two authors via co-authorship</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a:t>
            </a:r>
            <a:r>
              <a:rPr lang="en-US" sz="1100">
                <a:solidFill>
                  <a:srgbClr val="E8EEF7"/>
                </a:solidFill>
                <a:latin typeface="Consolas"/>
                <a:ea typeface="Consolas"/>
                <a:cs typeface="Consolas"/>
              </a:rPr>
              <a:t>}), (b:Author {name:</a:t>
            </a:r>
            <a:r>
              <a:rPr lang="en-US" sz="1100">
                <a:solidFill>
                  <a:srgbClr val="7DDFC1"/>
                </a:solidFill>
                <a:latin typeface="Consolas"/>
                <a:ea typeface="Consolas"/>
                <a:cs typeface="Consolas"/>
              </a:rPr>
              <a:t>'Maria'</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 = shortestPath( (a)-[:WROTE|CO_AUTHORED*..6]-(b) )</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[n in nodes(p) | n.name] AS chain;</a:t>
            </a:r>
            <a:endParaRPr lang="en-US" sz="1100"/>
          </a:p>
        </p:txBody>
      </p:sp>
      <p:sp>
        <p:nvSpPr>
          <p:cNvPr id="409465973"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1A2A52"/>
        </a:solidFill>
      </p:bgPr>
    </p:bg>
    <p:spTree>
      <p:nvGrpSpPr>
        <p:cNvPr id="1" name=""/>
        <p:cNvGrpSpPr/>
        <p:nvPr/>
      </p:nvGrpSpPr>
      <p:grpSpPr bwMode="auto">
        <a:xfrm>
          <a:off x="0" y="0"/>
          <a:ext cx="0" cy="0"/>
          <a:chOff x="0" y="0"/>
          <a:chExt cx="0" cy="0"/>
        </a:xfrm>
      </p:grpSpPr>
      <p:sp>
        <p:nvSpPr>
          <p:cNvPr id="13260263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Cypher — WITH, MERGE &amp; Idempotent Writes</a:t>
            </a:r>
            <a:endParaRPr lang="en-US" sz="3000"/>
          </a:p>
        </p:txBody>
      </p:sp>
      <p:sp>
        <p:nvSpPr>
          <p:cNvPr id="1523662528"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907962188"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789324913"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MERGE = match-or-create: idempotent, safe to re-run loaders</a:t>
            </a:r>
            <a:endParaRPr lang="en-US" sz="1100"/>
          </a:p>
          <a:p>
            <a:pPr marL="0" indent="0">
              <a:buNone/>
              <a:defRPr/>
            </a:pPr>
            <a:r>
              <a:rPr lang="en-US" sz="1100" b="1">
                <a:solidFill>
                  <a:srgbClr val="8AB4F8"/>
                </a:solidFill>
                <a:latin typeface="Consolas"/>
                <a:ea typeface="Consolas"/>
                <a:cs typeface="Consolas"/>
              </a:rPr>
              <a:t>MERGE</a:t>
            </a:r>
            <a:r>
              <a:rPr lang="en-US" sz="1100">
                <a:solidFill>
                  <a:srgbClr val="E8EEF7"/>
                </a:solidFill>
                <a:latin typeface="Consolas"/>
                <a:ea typeface="Consolas"/>
                <a:cs typeface="Consolas"/>
              </a:rPr>
              <a:t> (t:Topic { name: </a:t>
            </a:r>
            <a:r>
              <a:rPr lang="en-US" sz="1100">
                <a:solidFill>
                  <a:srgbClr val="7DDFC1"/>
                </a:solidFill>
                <a:latin typeface="Consolas"/>
                <a:ea typeface="Consolas"/>
                <a:cs typeface="Consolas"/>
              </a:rPr>
              <a:t>'VLSI Design'</a:t>
            </a:r>
            <a:r>
              <a:rPr lang="en-US" sz="1100">
                <a:solidFill>
                  <a:srgbClr val="E8EEF7"/>
                </a:solidFill>
                <a:latin typeface="Consolas"/>
                <a:ea typeface="Consolas"/>
                <a:cs typeface="Consolas"/>
              </a:rPr>
              <a:t> })</a:t>
            </a:r>
            <a:endParaRPr lang="en-US" sz="1100"/>
          </a:p>
          <a:p>
            <a:pPr marL="0" indent="0">
              <a:buNone/>
              <a:defRPr/>
            </a:pPr>
            <a:r>
              <a:rPr lang="en-US" sz="1100" b="1">
                <a:solidFill>
                  <a:srgbClr val="8AB4F8"/>
                </a:solidFill>
                <a:latin typeface="Consolas"/>
                <a:ea typeface="Consolas"/>
                <a:cs typeface="Consolas"/>
              </a:rPr>
              <a:t>ON CREATE SET</a:t>
            </a:r>
            <a:r>
              <a:rPr lang="en-US" sz="1100">
                <a:solidFill>
                  <a:srgbClr val="E8EEF7"/>
                </a:solidFill>
                <a:latin typeface="Consolas"/>
                <a:ea typeface="Consolas"/>
                <a:cs typeface="Consolas"/>
              </a:rPr>
              <a:t> t.created = datetime() </a:t>
            </a:r>
            <a:r>
              <a:rPr lang="en-US" sz="1100" b="1">
                <a:solidFill>
                  <a:srgbClr val="8AB4F8"/>
                </a:solidFill>
                <a:latin typeface="Consolas"/>
                <a:ea typeface="Consolas"/>
                <a:cs typeface="Consolas"/>
              </a:rPr>
              <a:t>ON MATCH SET</a:t>
            </a:r>
            <a:r>
              <a:rPr lang="en-US" sz="1100">
                <a:solidFill>
                  <a:srgbClr val="E8EEF7"/>
                </a:solidFill>
                <a:latin typeface="Consolas"/>
                <a:ea typeface="Consolas"/>
                <a:cs typeface="Consolas"/>
              </a:rPr>
              <a:t> t.last_seen = datetime();</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WITH chains pipeline stages: aggregate, filter, then traverse again</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(a:Author)-[:WROTE]-&gt;(p:Paper)</a:t>
            </a:r>
            <a:endParaRPr lang="en-US" sz="1100"/>
          </a:p>
          <a:p>
            <a:pPr marL="0" indent="0">
              <a:buNone/>
              <a:defRPr/>
            </a:pPr>
            <a:r>
              <a:rPr lang="en-US" sz="1100" b="1">
                <a:solidFill>
                  <a:srgbClr val="8AB4F8"/>
                </a:solidFill>
                <a:latin typeface="Consolas"/>
                <a:ea typeface="Consolas"/>
                <a:cs typeface="Consolas"/>
              </a:rPr>
              <a:t>WITH</a:t>
            </a:r>
            <a:r>
              <a:rPr lang="en-US" sz="1100">
                <a:solidFill>
                  <a:srgbClr val="E8EEF7"/>
                </a:solidFill>
                <a:latin typeface="Consolas"/>
                <a:ea typeface="Consolas"/>
                <a:cs typeface="Consolas"/>
              </a:rPr>
              <a:t> a, count(p) AS pubs </a:t>
            </a:r>
            <a:r>
              <a:rPr lang="en-US" sz="1100" b="1">
                <a:solidFill>
                  <a:srgbClr val="8AB4F8"/>
                </a:solidFill>
                <a:latin typeface="Consolas"/>
                <a:ea typeface="Consolas"/>
                <a:cs typeface="Consolas"/>
              </a:rPr>
              <a:t>WHERE</a:t>
            </a:r>
            <a:r>
              <a:rPr lang="en-US" sz="1100">
                <a:solidFill>
                  <a:srgbClr val="E8EEF7"/>
                </a:solidFill>
                <a:latin typeface="Consolas"/>
                <a:ea typeface="Consolas"/>
                <a:cs typeface="Consolas"/>
              </a:rPr>
              <a:t> pubs &gt;= 5</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(a)-[:WROTE]-&gt;(p)-[:ABOUT]-&gt;(t:Topic)</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a.name, collect(DISTINCT t.name) AS topics, pubs;</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UNWIND: bulk-insert from a parameterised list (driver-side batching)</a:t>
            </a:r>
            <a:endParaRPr lang="en-US" sz="1100"/>
          </a:p>
          <a:p>
            <a:pPr marL="0" indent="0">
              <a:buNone/>
              <a:defRPr/>
            </a:pPr>
            <a:r>
              <a:rPr lang="en-US" sz="1100" b="1">
                <a:solidFill>
                  <a:srgbClr val="8AB4F8"/>
                </a:solidFill>
                <a:latin typeface="Consolas"/>
                <a:ea typeface="Consolas"/>
                <a:cs typeface="Consolas"/>
              </a:rPr>
              <a:t>UNWIND</a:t>
            </a:r>
            <a:r>
              <a:rPr lang="en-US" sz="1100">
                <a:solidFill>
                  <a:srgbClr val="E8EEF7"/>
                </a:solidFill>
                <a:latin typeface="Consolas"/>
                <a:ea typeface="Consolas"/>
                <a:cs typeface="Consolas"/>
              </a:rPr>
              <a:t> $rows AS row</a:t>
            </a:r>
            <a:endParaRPr lang="en-US" sz="1100"/>
          </a:p>
          <a:p>
            <a:pPr marL="0" indent="0">
              <a:buNone/>
              <a:defRPr/>
            </a:pPr>
            <a:r>
              <a:rPr lang="en-US" sz="1100" b="1">
                <a:solidFill>
                  <a:srgbClr val="8AB4F8"/>
                </a:solidFill>
                <a:latin typeface="Consolas"/>
                <a:ea typeface="Consolas"/>
                <a:cs typeface="Consolas"/>
              </a:rPr>
              <a:t>MERGE</a:t>
            </a:r>
            <a:r>
              <a:rPr lang="en-US" sz="1100">
                <a:solidFill>
                  <a:srgbClr val="E8EEF7"/>
                </a:solidFill>
                <a:latin typeface="Consolas"/>
                <a:ea typeface="Consolas"/>
                <a:cs typeface="Consolas"/>
              </a:rPr>
              <a:t> (a:Author { orcid: row.orcid })</a:t>
            </a:r>
            <a:endParaRPr lang="en-US" sz="1100"/>
          </a:p>
          <a:p>
            <a:pPr marL="0" indent="0">
              <a:buNone/>
              <a:defRPr/>
            </a:pPr>
            <a:r>
              <a:rPr lang="en-US" sz="1100" b="1">
                <a:solidFill>
                  <a:srgbClr val="8AB4F8"/>
                </a:solidFill>
                <a:latin typeface="Consolas"/>
                <a:ea typeface="Consolas"/>
                <a:cs typeface="Consolas"/>
              </a:rPr>
              <a:t>SET</a:t>
            </a:r>
            <a:r>
              <a:rPr lang="en-US" sz="1100">
                <a:solidFill>
                  <a:srgbClr val="E8EEF7"/>
                </a:solidFill>
                <a:latin typeface="Consolas"/>
                <a:ea typeface="Consolas"/>
                <a:cs typeface="Consolas"/>
              </a:rPr>
              <a:t> a.name = row.name, a.affiliation = row.affiliation;</a:t>
            </a:r>
            <a:endParaRPr lang="en-US" sz="1100"/>
          </a:p>
        </p:txBody>
      </p:sp>
      <p:sp>
        <p:nvSpPr>
          <p:cNvPr id="776205628"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bg>
      <p:bgPr shadeToTitle="0">
        <a:solidFill>
          <a:srgbClr val="1A2A52"/>
        </a:solidFill>
      </p:bgPr>
    </p:bg>
    <p:spTree>
      <p:nvGrpSpPr>
        <p:cNvPr id="1" name=""/>
        <p:cNvGrpSpPr/>
        <p:nvPr/>
      </p:nvGrpSpPr>
      <p:grpSpPr bwMode="auto">
        <a:xfrm>
          <a:off x="0" y="0"/>
          <a:ext cx="0" cy="0"/>
          <a:chOff x="0" y="0"/>
          <a:chExt cx="0" cy="0"/>
        </a:xfrm>
      </p:grpSpPr>
      <p:sp>
        <p:nvSpPr>
          <p:cNvPr id="921805418"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GQL — ISO Standard 39075:2024</a:t>
            </a:r>
            <a:endParaRPr lang="en-US" sz="3000"/>
          </a:p>
        </p:txBody>
      </p:sp>
      <p:sp>
        <p:nvSpPr>
          <p:cNvPr id="2014007283"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637906034"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Approved April 2024 — first new ISO database query language standard since SQL (1986)</a:t>
            </a:r>
            <a:endParaRPr lang="en-US" sz="1300"/>
          </a:p>
          <a:p>
            <a:pPr marL="342900" indent="-342900">
              <a:spcAft>
                <a:spcPts val="600"/>
              </a:spcAft>
              <a:buSzPct val="100000"/>
              <a:buChar char="▶"/>
              <a:defRPr/>
            </a:pPr>
            <a:r>
              <a:rPr lang="en-US" sz="1300">
                <a:solidFill>
                  <a:srgbClr val="E8EEF7"/>
                </a:solidFill>
              </a:rPr>
              <a:t>Supersedes: openCypher, GSQL, PGQL — converges 30 years of academic and industry work into one syntax</a:t>
            </a:r>
            <a:endParaRPr lang="en-US" sz="1300"/>
          </a:p>
          <a:p>
            <a:pPr marL="342900" indent="-342900">
              <a:spcAft>
                <a:spcPts val="600"/>
              </a:spcAft>
              <a:buSzPct val="100000"/>
              <a:buChar char="▶"/>
              <a:defRPr/>
            </a:pPr>
            <a:r>
              <a:rPr lang="en-US" sz="1300">
                <a:solidFill>
                  <a:srgbClr val="E8EEF7"/>
                </a:solidFill>
              </a:rPr>
              <a:t>Core principle: pattern matching as first-class operator, alongside relational projection and selection</a:t>
            </a:r>
            <a:endParaRPr lang="en-US" sz="1300"/>
          </a:p>
          <a:p>
            <a:pPr marL="342900" indent="-342900">
              <a:spcAft>
                <a:spcPts val="600"/>
              </a:spcAft>
              <a:buSzPct val="100000"/>
              <a:buChar char="▶"/>
              <a:defRPr/>
            </a:pPr>
            <a:r>
              <a:rPr lang="en-US" sz="1300">
                <a:solidFill>
                  <a:srgbClr val="E8EEF7"/>
                </a:solidFill>
              </a:rPr>
              <a:t>Defines: graph types, schema, transactions, query composition, security and the GQL-Schema language</a:t>
            </a:r>
            <a:endParaRPr lang="en-US" sz="1300"/>
          </a:p>
          <a:p>
            <a:pPr marL="342900" indent="-342900">
              <a:spcAft>
                <a:spcPts val="600"/>
              </a:spcAft>
              <a:buSzPct val="100000"/>
              <a:buChar char="▶"/>
              <a:defRPr/>
            </a:pPr>
            <a:r>
              <a:rPr lang="en-US" sz="1300">
                <a:solidFill>
                  <a:srgbClr val="E8EEF7"/>
                </a:solidFill>
              </a:rPr>
              <a:t>Adoption path: Neo4j, TigerGraph, Oracle, Snowflake all committed; full implementations rolling out 2024–2026</a:t>
            </a:r>
            <a:endParaRPr lang="en-US" sz="1300"/>
          </a:p>
          <a:p>
            <a:pPr marL="342900" indent="-342900">
              <a:spcAft>
                <a:spcPts val="600"/>
              </a:spcAft>
              <a:buSzPct val="100000"/>
              <a:buChar char="▶"/>
              <a:defRPr/>
            </a:pPr>
            <a:r>
              <a:rPr lang="en-US" sz="1300">
                <a:solidFill>
                  <a:srgbClr val="E8EEF7"/>
                </a:solidFill>
              </a:rPr>
              <a:t>Implication for engineers: future-proof skills — learn the patterns once, target many engines</a:t>
            </a:r>
            <a:endParaRPr lang="en-US" sz="1300"/>
          </a:p>
          <a:p>
            <a:pPr marL="342900" indent="-342900">
              <a:spcAft>
                <a:spcPts val="600"/>
              </a:spcAft>
              <a:buSzPct val="100000"/>
              <a:buChar char="▶"/>
              <a:defRPr/>
            </a:pPr>
            <a:r>
              <a:rPr lang="en-US" sz="1300">
                <a:solidFill>
                  <a:srgbClr val="E8EEF7"/>
                </a:solidFill>
              </a:rPr>
              <a:t>Recommended: read ISO/IEC 39075:2024 introduction (free overview in Communications of the ACM, 2024)</a:t>
            </a:r>
            <a:endParaRPr lang="en-US" sz="1300"/>
          </a:p>
        </p:txBody>
      </p:sp>
      <p:sp>
        <p:nvSpPr>
          <p:cNvPr id="902821616"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8">
    <p:bg>
      <p:bgPr shadeToTitle="0">
        <a:solidFill>
          <a:srgbClr val="1A2A52"/>
        </a:solidFill>
      </p:bgPr>
    </p:bg>
    <p:spTree>
      <p:nvGrpSpPr>
        <p:cNvPr id="1" name=""/>
        <p:cNvGrpSpPr/>
        <p:nvPr/>
      </p:nvGrpSpPr>
      <p:grpSpPr bwMode="auto">
        <a:xfrm>
          <a:off x="0" y="0"/>
          <a:ext cx="0" cy="0"/>
          <a:chOff x="0" y="0"/>
          <a:chExt cx="0" cy="0"/>
        </a:xfrm>
      </p:grpSpPr>
      <p:sp>
        <p:nvSpPr>
          <p:cNvPr id="2043114167"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Indexes, Constraints &amp; Cypher Data Types</a:t>
            </a:r>
            <a:endParaRPr lang="en-US" sz="3000"/>
          </a:p>
        </p:txBody>
      </p:sp>
      <p:sp>
        <p:nvSpPr>
          <p:cNvPr id="727268668"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65765059"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290057082"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Uniqueness constraint (also creates a backing index)</a:t>
            </a:r>
            <a:endParaRPr lang="en-US" sz="1100"/>
          </a:p>
          <a:p>
            <a:pPr marL="0" indent="0">
              <a:buNone/>
              <a:defRPr/>
            </a:pPr>
            <a:r>
              <a:rPr lang="en-US" sz="1100" b="1">
                <a:solidFill>
                  <a:srgbClr val="8AB4F8"/>
                </a:solidFill>
                <a:latin typeface="Consolas"/>
                <a:ea typeface="Consolas"/>
                <a:cs typeface="Consolas"/>
              </a:rPr>
              <a:t>CREATE CONSTRAINT</a:t>
            </a:r>
            <a:r>
              <a:rPr lang="en-US" sz="1100">
                <a:solidFill>
                  <a:srgbClr val="E8EEF7"/>
                </a:solidFill>
                <a:latin typeface="Consolas"/>
                <a:ea typeface="Consolas"/>
                <a:cs typeface="Consolas"/>
              </a:rPr>
              <a:t> author_orcid_unique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(a:Author) </a:t>
            </a:r>
            <a:r>
              <a:rPr lang="en-US" sz="1100" b="1">
                <a:solidFill>
                  <a:srgbClr val="8AB4F8"/>
                </a:solidFill>
                <a:latin typeface="Consolas"/>
                <a:ea typeface="Consolas"/>
                <a:cs typeface="Consolas"/>
              </a:rPr>
              <a:t>REQUIRE</a:t>
            </a:r>
            <a:r>
              <a:rPr lang="en-US" sz="1100">
                <a:solidFill>
                  <a:srgbClr val="E8EEF7"/>
                </a:solidFill>
                <a:latin typeface="Consolas"/>
                <a:ea typeface="Consolas"/>
                <a:cs typeface="Consolas"/>
              </a:rPr>
              <a:t> a.orcid IS UNIQUE;</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Existence (NOT NULL) — only on Enterprise edition</a:t>
            </a:r>
            <a:endParaRPr lang="en-US" sz="1100"/>
          </a:p>
          <a:p>
            <a:pPr marL="0" indent="0">
              <a:buNone/>
              <a:defRPr/>
            </a:pPr>
            <a:r>
              <a:rPr lang="en-US" sz="1100" b="1">
                <a:solidFill>
                  <a:srgbClr val="8AB4F8"/>
                </a:solidFill>
                <a:latin typeface="Consolas"/>
                <a:ea typeface="Consolas"/>
                <a:cs typeface="Consolas"/>
              </a:rPr>
              <a:t>CREATE CONSTRAINT</a:t>
            </a:r>
            <a:r>
              <a:rPr lang="en-US" sz="1100">
                <a:solidFill>
                  <a:srgbClr val="E8EEF7"/>
                </a:solidFill>
                <a:latin typeface="Consolas"/>
                <a:ea typeface="Consolas"/>
                <a:cs typeface="Consolas"/>
              </a:rPr>
              <a:t> paper_doi_exists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REQUIRE</a:t>
            </a:r>
            <a:r>
              <a:rPr lang="en-US" sz="1100">
                <a:solidFill>
                  <a:srgbClr val="E8EEF7"/>
                </a:solidFill>
                <a:latin typeface="Consolas"/>
                <a:ea typeface="Consolas"/>
                <a:cs typeface="Consolas"/>
              </a:rPr>
              <a:t> p.doi IS NOT NULL;</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Range index for fast equality / range queries on numeric fields</a:t>
            </a:r>
            <a:endParaRPr lang="en-US" sz="1100"/>
          </a:p>
          <a:p>
            <a:pPr marL="0" indent="0">
              <a:buNone/>
              <a:defRPr/>
            </a:pPr>
            <a:r>
              <a:rPr lang="en-US" sz="1100" b="1">
                <a:solidFill>
                  <a:srgbClr val="8AB4F8"/>
                </a:solidFill>
                <a:latin typeface="Consolas"/>
                <a:ea typeface="Consolas"/>
                <a:cs typeface="Consolas"/>
              </a:rPr>
              <a:t>CREATE INDEX</a:t>
            </a:r>
            <a:r>
              <a:rPr lang="en-US" sz="1100">
                <a:solidFill>
                  <a:srgbClr val="E8EEF7"/>
                </a:solidFill>
                <a:latin typeface="Consolas"/>
                <a:ea typeface="Consolas"/>
                <a:cs typeface="Consolas"/>
              </a:rPr>
              <a:t> paper_year_idx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ON</a:t>
            </a:r>
            <a:r>
              <a:rPr lang="en-US" sz="1100">
                <a:solidFill>
                  <a:srgbClr val="E8EEF7"/>
                </a:solidFill>
                <a:latin typeface="Consolas"/>
                <a:ea typeface="Consolas"/>
                <a:cs typeface="Consolas"/>
              </a:rPr>
              <a:t> (p.year);</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Full-text index (Lucene) for keyword search across long strings</a:t>
            </a:r>
            <a:endParaRPr lang="en-US" sz="1100"/>
          </a:p>
          <a:p>
            <a:pPr marL="0" indent="0">
              <a:buNone/>
              <a:defRPr/>
            </a:pPr>
            <a:r>
              <a:rPr lang="en-US" sz="1100" b="1">
                <a:solidFill>
                  <a:srgbClr val="8AB4F8"/>
                </a:solidFill>
                <a:latin typeface="Consolas"/>
                <a:ea typeface="Consolas"/>
                <a:cs typeface="Consolas"/>
              </a:rPr>
              <a:t>CREATE FULLTEXT INDEX</a:t>
            </a:r>
            <a:r>
              <a:rPr lang="en-US" sz="1100">
                <a:solidFill>
                  <a:srgbClr val="E8EEF7"/>
                </a:solidFill>
                <a:latin typeface="Consolas"/>
                <a:ea typeface="Consolas"/>
                <a:cs typeface="Consolas"/>
              </a:rPr>
              <a:t> paper_search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ON EACH</a:t>
            </a:r>
            <a:r>
              <a:rPr lang="en-US" sz="1100">
                <a:solidFill>
                  <a:srgbClr val="E8EEF7"/>
                </a:solidFill>
                <a:latin typeface="Consolas"/>
                <a:ea typeface="Consolas"/>
                <a:cs typeface="Consolas"/>
              </a:rPr>
              <a:t> [p.title, p.abstract];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Data types: STRING, INTEGER, FLOAT, BOOLEAN, DATE, DATETIME, POINT,</a:t>
            </a:r>
            <a:endParaRPr lang="en-US" sz="1100"/>
          </a:p>
          <a:p>
            <a:pPr marL="0" indent="0">
              <a:buNone/>
              <a:defRPr/>
            </a:pPr>
            <a:r>
              <a:rPr lang="en-US" sz="1100">
                <a:solidFill>
                  <a:srgbClr val="A6B0C0"/>
                </a:solidFill>
                <a:latin typeface="Consolas"/>
                <a:ea typeface="Consolas"/>
                <a:cs typeface="Consolas"/>
              </a:rPr>
              <a:t>//             DURATION, LIST&lt;T&gt;, MAP — and references via ELEMENT ID.</a:t>
            </a:r>
            <a:endParaRPr lang="en-US" sz="1100"/>
          </a:p>
        </p:txBody>
      </p:sp>
      <p:sp>
        <p:nvSpPr>
          <p:cNvPr id="1241970693"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bg>
      <p:bgPr shadeToTitle="0">
        <a:solidFill>
          <a:srgbClr val="1A2A52"/>
        </a:solidFill>
      </p:bgPr>
    </p:bg>
    <p:spTree>
      <p:nvGrpSpPr>
        <p:cNvPr id="1" name=""/>
        <p:cNvGrpSpPr/>
        <p:nvPr/>
      </p:nvGrpSpPr>
      <p:grpSpPr bwMode="auto">
        <a:xfrm>
          <a:off x="0" y="0"/>
          <a:ext cx="0" cy="0"/>
          <a:chOff x="0" y="0"/>
          <a:chExt cx="0" cy="0"/>
        </a:xfrm>
      </p:grpSpPr>
      <p:sp>
        <p:nvSpPr>
          <p:cNvPr id="13130197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Schema-Free vs Constraint-Driven Design</a:t>
            </a:r>
            <a:endParaRPr lang="en-US" sz="3000"/>
          </a:p>
        </p:txBody>
      </p:sp>
      <p:sp>
        <p:nvSpPr>
          <p:cNvPr id="1230828007"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993640929"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907942650"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RELATIONAL DESIGN</a:t>
            </a:r>
            <a:endParaRPr lang="en-US" sz="1300"/>
          </a:p>
          <a:p>
            <a:pPr marL="342900" indent="-342900">
              <a:spcAft>
                <a:spcPts val="600"/>
              </a:spcAft>
              <a:buSzPct val="100000"/>
              <a:buChar char="▶"/>
              <a:defRPr/>
            </a:pPr>
            <a:r>
              <a:rPr lang="en-US" sz="1300">
                <a:solidFill>
                  <a:srgbClr val="E8EEF7"/>
                </a:solidFill>
              </a:rPr>
              <a:t>1. Identify entities &amp; relationships</a:t>
            </a:r>
            <a:endParaRPr lang="en-US" sz="1300"/>
          </a:p>
          <a:p>
            <a:pPr marL="342900" indent="-342900">
              <a:spcAft>
                <a:spcPts val="600"/>
              </a:spcAft>
              <a:buSzPct val="100000"/>
              <a:buChar char="▶"/>
              <a:defRPr/>
            </a:pPr>
            <a:r>
              <a:rPr lang="en-US" sz="1300">
                <a:solidFill>
                  <a:srgbClr val="E8EEF7"/>
                </a:solidFill>
              </a:rPr>
              <a:t>2. Normalise to 3NF</a:t>
            </a:r>
            <a:endParaRPr lang="en-US" sz="1300"/>
          </a:p>
          <a:p>
            <a:pPr marL="342900" indent="-342900">
              <a:spcAft>
                <a:spcPts val="600"/>
              </a:spcAft>
              <a:buSzPct val="100000"/>
              <a:buChar char="▶"/>
              <a:defRPr/>
            </a:pPr>
            <a:r>
              <a:rPr lang="en-US" sz="1300">
                <a:solidFill>
                  <a:srgbClr val="E8EEF7"/>
                </a:solidFill>
              </a:rPr>
              <a:t>3. Schema is rigid — every row obeys it</a:t>
            </a:r>
            <a:endParaRPr lang="en-US" sz="1300"/>
          </a:p>
          <a:p>
            <a:pPr marL="342900" indent="-342900">
              <a:spcAft>
                <a:spcPts val="600"/>
              </a:spcAft>
              <a:buSzPct val="100000"/>
              <a:buChar char="▶"/>
              <a:defRPr/>
            </a:pPr>
            <a:r>
              <a:rPr lang="en-US" sz="1300">
                <a:solidFill>
                  <a:srgbClr val="E8EEF7"/>
                </a:solidFill>
              </a:rPr>
              <a:t>4. JOINs answer connection questions</a:t>
            </a:r>
            <a:endParaRPr lang="en-US" sz="1300"/>
          </a:p>
          <a:p>
            <a:pPr marL="342900" indent="-342900">
              <a:spcAft>
                <a:spcPts val="600"/>
              </a:spcAft>
              <a:buSzPct val="100000"/>
              <a:buChar char="▶"/>
              <a:defRPr/>
            </a:pPr>
            <a:r>
              <a:rPr lang="en-US" sz="1300">
                <a:solidFill>
                  <a:srgbClr val="E8EEF7"/>
                </a:solidFill>
              </a:rPr>
              <a:t>Schema first, queries later</a:t>
            </a:r>
            <a:endParaRPr lang="en-US" sz="1300"/>
          </a:p>
          <a:p>
            <a:pPr marL="342900" indent="-342900">
              <a:spcAft>
                <a:spcPts val="600"/>
              </a:spcAft>
              <a:buSzPct val="100000"/>
              <a:buChar char="▶"/>
              <a:defRPr/>
            </a:pPr>
            <a:r>
              <a:rPr lang="en-US" sz="1300">
                <a:solidFill>
                  <a:srgbClr val="E8EEF7"/>
                </a:solidFill>
              </a:rPr>
              <a:t>Hard to evolve as domain grows</a:t>
            </a:r>
            <a:endParaRPr lang="en-US" sz="1300"/>
          </a:p>
        </p:txBody>
      </p:sp>
      <p:sp>
        <p:nvSpPr>
          <p:cNvPr id="869999085"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GRAPH DESIGN</a:t>
            </a:r>
            <a:endParaRPr lang="en-US" sz="1300"/>
          </a:p>
          <a:p>
            <a:pPr marL="342900" indent="-342900">
              <a:spcAft>
                <a:spcPts val="600"/>
              </a:spcAft>
              <a:buSzPct val="100000"/>
              <a:buChar char="▶"/>
              <a:defRPr/>
            </a:pPr>
            <a:r>
              <a:rPr lang="en-US" sz="1300">
                <a:solidFill>
                  <a:srgbClr val="E8EEF7"/>
                </a:solidFill>
              </a:rPr>
              <a:t>1. Whiteboard the domain as a network</a:t>
            </a:r>
            <a:endParaRPr lang="en-US" sz="1300"/>
          </a:p>
          <a:p>
            <a:pPr marL="342900" indent="-342900">
              <a:spcAft>
                <a:spcPts val="600"/>
              </a:spcAft>
              <a:buSzPct val="100000"/>
              <a:buChar char="▶"/>
              <a:defRPr/>
            </a:pPr>
            <a:r>
              <a:rPr lang="en-US" sz="1300">
                <a:solidFill>
                  <a:srgbClr val="E8EEF7"/>
                </a:solidFill>
              </a:rPr>
              <a:t>2. Identify the QUESTIONS you must answer</a:t>
            </a:r>
            <a:endParaRPr lang="en-US" sz="1300"/>
          </a:p>
          <a:p>
            <a:pPr marL="342900" indent="-342900">
              <a:spcAft>
                <a:spcPts val="600"/>
              </a:spcAft>
              <a:buSzPct val="100000"/>
              <a:buChar char="▶"/>
              <a:defRPr/>
            </a:pPr>
            <a:r>
              <a:rPr lang="en-US" sz="1300">
                <a:solidFill>
                  <a:srgbClr val="E8EEF7"/>
                </a:solidFill>
              </a:rPr>
              <a:t>3. Add only the constraints you need</a:t>
            </a:r>
            <a:endParaRPr lang="en-US" sz="1300"/>
          </a:p>
          <a:p>
            <a:pPr marL="342900" indent="-342900">
              <a:spcAft>
                <a:spcPts val="600"/>
              </a:spcAft>
              <a:buSzPct val="100000"/>
              <a:buChar char="▶"/>
              <a:defRPr/>
            </a:pPr>
            <a:r>
              <a:rPr lang="en-US" sz="1300">
                <a:solidFill>
                  <a:srgbClr val="E8EEF7"/>
                </a:solidFill>
              </a:rPr>
              <a:t>4. Patterns answer questions directly</a:t>
            </a:r>
            <a:endParaRPr lang="en-US" sz="1300"/>
          </a:p>
          <a:p>
            <a:pPr marL="342900" indent="-342900">
              <a:spcAft>
                <a:spcPts val="600"/>
              </a:spcAft>
              <a:buSzPct val="100000"/>
              <a:buChar char="▶"/>
              <a:defRPr/>
            </a:pPr>
            <a:r>
              <a:rPr lang="en-US" sz="1300">
                <a:solidFill>
                  <a:srgbClr val="E8EEF7"/>
                </a:solidFill>
              </a:rPr>
              <a:t>Domain shape first, schema gradually</a:t>
            </a:r>
            <a:endParaRPr lang="en-US" sz="1300"/>
          </a:p>
          <a:p>
            <a:pPr marL="342900" indent="-342900">
              <a:spcAft>
                <a:spcPts val="600"/>
              </a:spcAft>
              <a:buSzPct val="100000"/>
              <a:buChar char="▶"/>
              <a:defRPr/>
            </a:pPr>
            <a:r>
              <a:rPr lang="en-US" sz="1300">
                <a:solidFill>
                  <a:srgbClr val="E8EEF7"/>
                </a:solidFill>
              </a:rPr>
              <a:t>Easy to add new node/edge types</a:t>
            </a:r>
            <a:endParaRPr lang="en-US" sz="1300"/>
          </a:p>
        </p:txBody>
      </p:sp>
      <p:sp>
        <p:nvSpPr>
          <p:cNvPr id="445331102"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29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bg>
      <p:bgPr shadeToTitle="0">
        <a:solidFill>
          <a:srgbClr val="1A2A52"/>
        </a:solidFill>
      </p:bgPr>
    </p:bg>
    <p:spTree>
      <p:nvGrpSpPr>
        <p:cNvPr id="1" name=""/>
        <p:cNvGrpSpPr/>
        <p:nvPr/>
      </p:nvGrpSpPr>
      <p:grpSpPr bwMode="auto">
        <a:xfrm>
          <a:off x="0" y="0"/>
          <a:ext cx="0" cy="0"/>
          <a:chOff x="0" y="0"/>
          <a:chExt cx="0" cy="0"/>
        </a:xfrm>
      </p:grpSpPr>
      <p:sp>
        <p:nvSpPr>
          <p:cNvPr id="1215587555"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2079089031"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5</a:t>
            </a:r>
            <a:endParaRPr lang="en-US" sz="4800"/>
          </a:p>
        </p:txBody>
      </p:sp>
      <p:sp>
        <p:nvSpPr>
          <p:cNvPr id="891664833"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Algorithms, Real-World Use Cases &amp; Distributed Graphs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bg>
      <p:bgPr shadeToTitle="0">
        <a:solidFill>
          <a:srgbClr val="1A2A52"/>
        </a:solidFill>
      </p:bgPr>
    </p:bg>
    <p:spTree>
      <p:nvGrpSpPr>
        <p:cNvPr id="1" name=""/>
        <p:cNvGrpSpPr/>
        <p:nvPr/>
      </p:nvGrpSpPr>
      <p:grpSpPr bwMode="auto">
        <a:xfrm>
          <a:off x="0" y="0"/>
          <a:ext cx="0" cy="0"/>
          <a:chOff x="0" y="0"/>
          <a:chExt cx="0" cy="0"/>
        </a:xfrm>
      </p:grpSpPr>
      <p:sp>
        <p:nvSpPr>
          <p:cNvPr id="1818132700"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ACID, Replication &amp; CAP for Graph DBs</a:t>
            </a:r>
            <a:endParaRPr lang="en-US" sz="3000"/>
          </a:p>
        </p:txBody>
      </p:sp>
      <p:sp>
        <p:nvSpPr>
          <p:cNvPr id="482307271"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483818629"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Most native graph DBs (Neo4j, Memgraph, ArangoDB) provide FULL ACID transactions — unusual among NoSQL</a:t>
            </a:r>
            <a:endParaRPr lang="en-US" sz="1300"/>
          </a:p>
          <a:p>
            <a:pPr marL="342900" indent="-342900">
              <a:spcAft>
                <a:spcPts val="600"/>
              </a:spcAft>
              <a:buSzPct val="100000"/>
              <a:buChar char="▶"/>
              <a:defRPr/>
            </a:pPr>
            <a:r>
              <a:rPr lang="en-US" sz="1300">
                <a:solidFill>
                  <a:srgbClr val="E8EEF7"/>
                </a:solidFill>
              </a:rPr>
              <a:t>Reason: connected data is fragile — broken edges silently corrupt analytics; isolation is critical</a:t>
            </a:r>
            <a:endParaRPr lang="en-US" sz="1300"/>
          </a:p>
          <a:p>
            <a:pPr marL="342900" indent="-342900">
              <a:spcAft>
                <a:spcPts val="600"/>
              </a:spcAft>
              <a:buSzPct val="100000"/>
              <a:buChar char="▶"/>
              <a:defRPr/>
            </a:pPr>
            <a:r>
              <a:rPr lang="en-US" sz="1300">
                <a:solidFill>
                  <a:srgbClr val="E8EEF7"/>
                </a:solidFill>
              </a:rPr>
              <a:t>Neo4j Causal Cluster: leader-based Raft replication → CP system; bookmarks let clients enforce read-your-writes</a:t>
            </a:r>
            <a:endParaRPr lang="en-US" sz="1300"/>
          </a:p>
          <a:p>
            <a:pPr marL="342900" indent="-342900">
              <a:spcAft>
                <a:spcPts val="600"/>
              </a:spcAft>
              <a:buSzPct val="100000"/>
              <a:buChar char="▶"/>
              <a:defRPr/>
            </a:pPr>
            <a:r>
              <a:rPr lang="en-US" sz="1300">
                <a:solidFill>
                  <a:srgbClr val="E8EEF7"/>
                </a:solidFill>
              </a:rPr>
              <a:t>TigerGraph &amp; JanusGraph: distributed by design; tunable consistency; eventual replicas across regions</a:t>
            </a:r>
            <a:endParaRPr lang="en-US" sz="1300"/>
          </a:p>
          <a:p>
            <a:pPr marL="342900" indent="-342900">
              <a:spcAft>
                <a:spcPts val="600"/>
              </a:spcAft>
              <a:buSzPct val="100000"/>
              <a:buChar char="▶"/>
              <a:defRPr/>
            </a:pPr>
            <a:r>
              <a:rPr lang="en-US" sz="1300">
                <a:solidFill>
                  <a:srgbClr val="E8EEF7"/>
                </a:solidFill>
              </a:rPr>
              <a:t>Sharding a graph is hard: minimum-cut partitioning is NP-hard; community detection used as a heuristic</a:t>
            </a:r>
            <a:endParaRPr lang="en-US" sz="1300"/>
          </a:p>
          <a:p>
            <a:pPr marL="342900" indent="-342900">
              <a:spcAft>
                <a:spcPts val="600"/>
              </a:spcAft>
              <a:buSzPct val="100000"/>
              <a:buChar char="▶"/>
              <a:defRPr/>
            </a:pPr>
            <a:r>
              <a:rPr lang="en-US" sz="1300">
                <a:solidFill>
                  <a:srgbClr val="E8EEF7"/>
                </a:solidFill>
              </a:rPr>
              <a:t>Cross-shard traversals dominate cost — favour SmartGraphs (ArangoDB) or vertex-cut (TigerGraph) layouts</a:t>
            </a:r>
            <a:endParaRPr lang="en-US" sz="1300"/>
          </a:p>
          <a:p>
            <a:pPr marL="342900" indent="-342900">
              <a:spcAft>
                <a:spcPts val="600"/>
              </a:spcAft>
              <a:buSzPct val="100000"/>
              <a:buChar char="▶"/>
              <a:defRPr/>
            </a:pPr>
            <a:r>
              <a:rPr lang="en-US" sz="1300">
                <a:solidFill>
                  <a:srgbClr val="E8EEF7"/>
                </a:solidFill>
              </a:rPr>
              <a:t>PACELC reminder: even without partitions, replication latency vs consistency must be tuned per workload</a:t>
            </a:r>
            <a:endParaRPr lang="en-US" sz="1300"/>
          </a:p>
        </p:txBody>
      </p:sp>
      <p:sp>
        <p:nvSpPr>
          <p:cNvPr id="590376979"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bg>
      <p:bgPr shadeToTitle="0">
        <a:solidFill>
          <a:srgbClr val="1A2A52"/>
        </a:solidFill>
      </p:bgPr>
    </p:bg>
    <p:spTree>
      <p:nvGrpSpPr>
        <p:cNvPr id="1" name=""/>
        <p:cNvGrpSpPr/>
        <p:nvPr/>
      </p:nvGrpSpPr>
      <p:grpSpPr bwMode="auto">
        <a:xfrm>
          <a:off x="0" y="0"/>
          <a:ext cx="0" cy="0"/>
          <a:chOff x="0" y="0"/>
          <a:chExt cx="0" cy="0"/>
        </a:xfrm>
      </p:grpSpPr>
      <p:sp>
        <p:nvSpPr>
          <p:cNvPr id="565001257"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Graph Algorithms — Five Families You Should Know</a:t>
            </a:r>
            <a:endParaRPr lang="en-US" sz="3000"/>
          </a:p>
        </p:txBody>
      </p:sp>
      <p:sp>
        <p:nvSpPr>
          <p:cNvPr id="975394209"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423412511"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207701359"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PATHFINDING</a:t>
            </a:r>
            <a:endParaRPr lang="en-US" sz="1300"/>
          </a:p>
          <a:p>
            <a:pPr marL="342900" indent="-342900">
              <a:spcAft>
                <a:spcPts val="600"/>
              </a:spcAft>
              <a:buSzPct val="100000"/>
              <a:buChar char="▶"/>
              <a:defRPr/>
            </a:pPr>
            <a:r>
              <a:rPr lang="en-US" sz="1300">
                <a:solidFill>
                  <a:srgbClr val="E8EEF7"/>
                </a:solidFill>
              </a:rPr>
              <a:t>Shortest path (Dijkstra, BFS)</a:t>
            </a:r>
            <a:endParaRPr lang="en-US" sz="1300"/>
          </a:p>
          <a:p>
            <a:pPr marL="342900" indent="-342900">
              <a:spcAft>
                <a:spcPts val="600"/>
              </a:spcAft>
              <a:buSzPct val="100000"/>
              <a:buChar char="▶"/>
              <a:defRPr/>
            </a:pPr>
            <a:r>
              <a:rPr lang="en-US" sz="1300">
                <a:solidFill>
                  <a:srgbClr val="E8EEF7"/>
                </a:solidFill>
              </a:rPr>
              <a:t>All-pairs (Floyd–Warshall)</a:t>
            </a:r>
            <a:endParaRPr lang="en-US" sz="1300"/>
          </a:p>
          <a:p>
            <a:pPr marL="342900" indent="-342900">
              <a:spcAft>
                <a:spcPts val="600"/>
              </a:spcAft>
              <a:buSzPct val="100000"/>
              <a:buChar char="▶"/>
              <a:defRPr/>
            </a:pPr>
            <a:r>
              <a:rPr lang="en-US" sz="1300">
                <a:solidFill>
                  <a:srgbClr val="E8EEF7"/>
                </a:solidFill>
              </a:rPr>
              <a:t>A*, Yen's K-shortest paths</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CENTRALITY</a:t>
            </a:r>
            <a:endParaRPr lang="en-US" sz="1300"/>
          </a:p>
          <a:p>
            <a:pPr marL="342900" indent="-342900">
              <a:spcAft>
                <a:spcPts val="600"/>
              </a:spcAft>
              <a:buSzPct val="100000"/>
              <a:buChar char="▶"/>
              <a:defRPr/>
            </a:pPr>
            <a:r>
              <a:rPr lang="en-US" sz="1300">
                <a:solidFill>
                  <a:srgbClr val="E8EEF7"/>
                </a:solidFill>
              </a:rPr>
              <a:t>Degree, Closeness, Betweenness</a:t>
            </a:r>
            <a:endParaRPr lang="en-US" sz="1300"/>
          </a:p>
          <a:p>
            <a:pPr marL="342900" indent="-342900">
              <a:spcAft>
                <a:spcPts val="600"/>
              </a:spcAft>
              <a:buSzPct val="100000"/>
              <a:buChar char="▶"/>
              <a:defRPr/>
            </a:pPr>
            <a:r>
              <a:rPr lang="en-US" sz="1300">
                <a:solidFill>
                  <a:srgbClr val="E8EEF7"/>
                </a:solidFill>
              </a:rPr>
              <a:t>PageRank, Eigenvector, ArticleRank</a:t>
            </a:r>
            <a:endParaRPr lang="en-US" sz="1300"/>
          </a:p>
        </p:txBody>
      </p:sp>
      <p:sp>
        <p:nvSpPr>
          <p:cNvPr id="1985008348"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COMMUNITY DETECTION</a:t>
            </a:r>
            <a:endParaRPr lang="en-US" sz="1300"/>
          </a:p>
          <a:p>
            <a:pPr marL="342900" indent="-342900">
              <a:spcAft>
                <a:spcPts val="600"/>
              </a:spcAft>
              <a:buSzPct val="100000"/>
              <a:buChar char="▶"/>
              <a:defRPr/>
            </a:pPr>
            <a:r>
              <a:rPr lang="en-US" sz="1300">
                <a:solidFill>
                  <a:srgbClr val="E8EEF7"/>
                </a:solidFill>
              </a:rPr>
              <a:t>Louvain, Leiden modularity</a:t>
            </a:r>
            <a:endParaRPr lang="en-US" sz="1300"/>
          </a:p>
          <a:p>
            <a:pPr marL="342900" indent="-342900">
              <a:spcAft>
                <a:spcPts val="600"/>
              </a:spcAft>
              <a:buSzPct val="100000"/>
              <a:buChar char="▶"/>
              <a:defRPr/>
            </a:pPr>
            <a:r>
              <a:rPr lang="en-US" sz="1300">
                <a:solidFill>
                  <a:srgbClr val="E8EEF7"/>
                </a:solidFill>
              </a:rPr>
              <a:t>Label Propagation, Triangle Count</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SIMILARITY &amp; EMBEDDINGS</a:t>
            </a:r>
            <a:endParaRPr lang="en-US" sz="1300"/>
          </a:p>
          <a:p>
            <a:pPr marL="342900" indent="-342900">
              <a:spcAft>
                <a:spcPts val="600"/>
              </a:spcAft>
              <a:buSzPct val="100000"/>
              <a:buChar char="▶"/>
              <a:defRPr/>
            </a:pPr>
            <a:r>
              <a:rPr lang="en-US" sz="1300">
                <a:solidFill>
                  <a:srgbClr val="E8EEF7"/>
                </a:solidFill>
              </a:rPr>
              <a:t>Jaccard, Cosine, Node2Vec, FastRP</a:t>
            </a:r>
            <a:endParaRPr lang="en-US" sz="1300"/>
          </a:p>
          <a:p>
            <a:pPr marL="342900" indent="-342900">
              <a:spcAft>
                <a:spcPts val="600"/>
              </a:spcAft>
              <a:buSzPct val="100000"/>
              <a:buChar char="▶"/>
              <a:defRPr/>
            </a:pPr>
            <a:endParaRPr lang="en-US" sz="1300"/>
          </a:p>
          <a:p>
            <a:pPr marL="342900" indent="-342900">
              <a:spcAft>
                <a:spcPts val="600"/>
              </a:spcAft>
              <a:buSzPct val="100000"/>
              <a:buChar char="▶"/>
              <a:defRPr/>
            </a:pPr>
            <a:r>
              <a:rPr lang="en-US" sz="1300">
                <a:solidFill>
                  <a:srgbClr val="E8EEF7"/>
                </a:solidFill>
              </a:rPr>
              <a:t>LINK PREDICTION &amp; ML</a:t>
            </a:r>
            <a:endParaRPr lang="en-US" sz="1300"/>
          </a:p>
          <a:p>
            <a:pPr marL="342900" indent="-342900">
              <a:spcAft>
                <a:spcPts val="600"/>
              </a:spcAft>
              <a:buSzPct val="100000"/>
              <a:buChar char="▶"/>
              <a:defRPr/>
            </a:pPr>
            <a:r>
              <a:rPr lang="en-US" sz="1300">
                <a:solidFill>
                  <a:srgbClr val="E8EEF7"/>
                </a:solidFill>
              </a:rPr>
              <a:t>Common neighbours, Adamic–Adar, GNNs</a:t>
            </a:r>
            <a:endParaRPr lang="en-US" sz="1300"/>
          </a:p>
        </p:txBody>
      </p:sp>
      <p:sp>
        <p:nvSpPr>
          <p:cNvPr id="484168572"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bg>
      <p:bgPr shadeToTitle="0">
        <a:solidFill>
          <a:srgbClr val="1A2A52"/>
        </a:solidFill>
      </p:bgPr>
    </p:bg>
    <p:spTree>
      <p:nvGrpSpPr>
        <p:cNvPr id="1" name=""/>
        <p:cNvGrpSpPr/>
        <p:nvPr/>
      </p:nvGrpSpPr>
      <p:grpSpPr bwMode="auto">
        <a:xfrm>
          <a:off x="0" y="0"/>
          <a:ext cx="0" cy="0"/>
          <a:chOff x="0" y="0"/>
          <a:chExt cx="0" cy="0"/>
        </a:xfrm>
      </p:grpSpPr>
      <p:sp>
        <p:nvSpPr>
          <p:cNvPr id="3317820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Graph Data Science Library — A Glimpse</a:t>
            </a:r>
            <a:endParaRPr lang="en-US" sz="3000"/>
          </a:p>
        </p:txBody>
      </p:sp>
      <p:sp>
        <p:nvSpPr>
          <p:cNvPr id="173622177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559955457"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962597367"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Project an in-memory graph from author/citation data</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gds.graph.project(</a:t>
            </a:r>
            <a:endParaRPr lang="en-US" sz="1100"/>
          </a:p>
          <a:p>
            <a:pPr marL="0" indent="0">
              <a:buNone/>
              <a:defRPr/>
            </a:pPr>
            <a:r>
              <a:rPr lang="en-US" sz="1100">
                <a:solidFill>
                  <a:srgbClr val="E8EEF7"/>
                </a:solidFill>
                <a:latin typeface="Consolas"/>
                <a:ea typeface="Consolas"/>
                <a:cs typeface="Consolas"/>
              </a:rPr>
              <a:t>  </a:t>
            </a:r>
            <a:r>
              <a:rPr lang="en-US" sz="1100">
                <a:solidFill>
                  <a:srgbClr val="7DDFC1"/>
                </a:solidFill>
                <a:latin typeface="Consolas"/>
                <a:ea typeface="Consolas"/>
                <a:cs typeface="Consolas"/>
              </a:rPr>
              <a:t>'authorNet'</a:t>
            </a:r>
            <a:r>
              <a:rPr lang="en-US" sz="1100">
                <a:solidFill>
                  <a:srgbClr val="E8EEF7"/>
                </a:solidFill>
                <a:latin typeface="Consolas"/>
                <a:ea typeface="Consolas"/>
                <a:cs typeface="Consolas"/>
              </a:rPr>
              <a:t>, </a:t>
            </a:r>
            <a:r>
              <a:rPr lang="en-US" sz="1100">
                <a:solidFill>
                  <a:srgbClr val="7DDFC1"/>
                </a:solidFill>
                <a:latin typeface="Consolas"/>
                <a:ea typeface="Consolas"/>
                <a:cs typeface="Consolas"/>
              </a:rPr>
              <a:t>'Author'</a:t>
            </a:r>
            <a:r>
              <a:rPr lang="en-US" sz="1100">
                <a:solidFill>
                  <a:srgbClr val="E8EEF7"/>
                </a:solidFill>
                <a:latin typeface="Consolas"/>
                <a:ea typeface="Consolas"/>
                <a:cs typeface="Consolas"/>
              </a:rPr>
              <a:t>, { CO_AUTHORED: { orientation: </a:t>
            </a:r>
            <a:r>
              <a:rPr lang="en-US" sz="1100">
                <a:solidFill>
                  <a:srgbClr val="7DDFC1"/>
                </a:solidFill>
                <a:latin typeface="Consolas"/>
                <a:ea typeface="Consolas"/>
                <a:cs typeface="Consolas"/>
              </a:rPr>
              <a:t>'UNDIRECTED'</a:t>
            </a:r>
            <a:r>
              <a:rPr lang="en-US" sz="1100">
                <a:solidFill>
                  <a:srgbClr val="E8EEF7"/>
                </a:solidFill>
                <a:latin typeface="Consolas"/>
                <a:ea typeface="Consolas"/>
                <a:cs typeface="Consolas"/>
              </a:rPr>
              <a:t> } });</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Run PageRank — top-10 most influential authors in the network</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gds.pageRank.stream(</a:t>
            </a:r>
            <a:r>
              <a:rPr lang="en-US" sz="1100">
                <a:solidFill>
                  <a:srgbClr val="7DDFC1"/>
                </a:solidFill>
                <a:latin typeface="Consolas"/>
                <a:ea typeface="Consolas"/>
                <a:cs typeface="Consolas"/>
              </a:rPr>
              <a:t>'authorNet'</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YIELD</a:t>
            </a:r>
            <a:r>
              <a:rPr lang="en-US" sz="1100">
                <a:solidFill>
                  <a:srgbClr val="E8EEF7"/>
                </a:solidFill>
                <a:latin typeface="Consolas"/>
                <a:ea typeface="Consolas"/>
                <a:cs typeface="Consolas"/>
              </a:rPr>
              <a:t> nodeId, score</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gds.util.asNode(nodeId).name AS author, score</a:t>
            </a:r>
            <a:endParaRPr lang="en-US" sz="1100"/>
          </a:p>
          <a:p>
            <a:pPr marL="0" indent="0">
              <a:buNone/>
              <a:defRPr/>
            </a:pPr>
            <a:r>
              <a:rPr lang="en-US" sz="1100" b="1">
                <a:solidFill>
                  <a:srgbClr val="8AB4F8"/>
                </a:solidFill>
                <a:latin typeface="Consolas"/>
                <a:ea typeface="Consolas"/>
                <a:cs typeface="Consolas"/>
              </a:rPr>
              <a:t>ORDER BY</a:t>
            </a:r>
            <a:r>
              <a:rPr lang="en-US" sz="1100">
                <a:solidFill>
                  <a:srgbClr val="E8EEF7"/>
                </a:solidFill>
                <a:latin typeface="Consolas"/>
                <a:ea typeface="Consolas"/>
                <a:cs typeface="Consolas"/>
              </a:rPr>
              <a:t> score DESC </a:t>
            </a:r>
            <a:r>
              <a:rPr lang="en-US" sz="1100" b="1">
                <a:solidFill>
                  <a:srgbClr val="8AB4F8"/>
                </a:solidFill>
                <a:latin typeface="Consolas"/>
                <a:ea typeface="Consolas"/>
                <a:cs typeface="Consolas"/>
              </a:rPr>
              <a:t>LIMIT</a:t>
            </a:r>
            <a:r>
              <a:rPr lang="en-US" sz="1100">
                <a:solidFill>
                  <a:srgbClr val="E8EEF7"/>
                </a:solidFill>
                <a:latin typeface="Consolas"/>
                <a:ea typeface="Consolas"/>
                <a:cs typeface="Consolas"/>
              </a:rPr>
              <a:t> 10;</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Detect research communities via Louvain modularity</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gds.louvain.write('authorNet', { writeProperty: </a:t>
            </a:r>
            <a:r>
              <a:rPr lang="en-US" sz="1100">
                <a:solidFill>
                  <a:srgbClr val="7DDFC1"/>
                </a:solidFill>
                <a:latin typeface="Consolas"/>
                <a:ea typeface="Consolas"/>
                <a:cs typeface="Consolas"/>
              </a:rPr>
              <a:t>'community'</a:t>
            </a:r>
            <a:r>
              <a:rPr lang="en-US" sz="1100">
                <a:solidFill>
                  <a:srgbClr val="E8EEF7"/>
                </a:solidFill>
                <a:latin typeface="Consolas"/>
                <a:ea typeface="Consolas"/>
                <a:cs typeface="Consolas"/>
              </a:rPr>
              <a:t> })</a:t>
            </a:r>
            <a:endParaRPr lang="en-US" sz="1100"/>
          </a:p>
          <a:p>
            <a:pPr marL="0" indent="0">
              <a:buNone/>
              <a:defRPr/>
            </a:pPr>
            <a:r>
              <a:rPr lang="en-US" sz="1100" b="1">
                <a:solidFill>
                  <a:srgbClr val="8AB4F8"/>
                </a:solidFill>
                <a:latin typeface="Consolas"/>
                <a:ea typeface="Consolas"/>
                <a:cs typeface="Consolas"/>
              </a:rPr>
              <a:t>YIELD</a:t>
            </a:r>
            <a:r>
              <a:rPr lang="en-US" sz="1100">
                <a:solidFill>
                  <a:srgbClr val="E8EEF7"/>
                </a:solidFill>
                <a:latin typeface="Consolas"/>
                <a:ea typeface="Consolas"/>
                <a:cs typeface="Consolas"/>
              </a:rPr>
              <a:t> communityCount, modularity;</a:t>
            </a:r>
            <a:endParaRPr lang="en-US" sz="1100"/>
          </a:p>
        </p:txBody>
      </p:sp>
      <p:sp>
        <p:nvSpPr>
          <p:cNvPr id="780627531"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1A2A52"/>
        </a:solidFill>
      </p:bgPr>
    </p:bg>
    <p:spTree>
      <p:nvGrpSpPr>
        <p:cNvPr id="1" name=""/>
        <p:cNvGrpSpPr/>
        <p:nvPr/>
      </p:nvGrpSpPr>
      <p:grpSpPr bwMode="auto">
        <a:xfrm>
          <a:off x="0" y="0"/>
          <a:ext cx="0" cy="0"/>
          <a:chOff x="0" y="0"/>
          <a:chExt cx="0" cy="0"/>
        </a:xfrm>
      </p:grpSpPr>
      <p:sp>
        <p:nvSpPr>
          <p:cNvPr id="812562849"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Real-World Use Cases — Engineering Context</a:t>
            </a:r>
            <a:endParaRPr lang="en-US" sz="3000"/>
          </a:p>
        </p:txBody>
      </p:sp>
      <p:sp>
        <p:nvSpPr>
          <p:cNvPr id="102691405"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517628989"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200">
                <a:solidFill>
                  <a:srgbClr val="E8EEF7"/>
                </a:solidFill>
              </a:rPr>
              <a:t>FRAUD DETECTION: PayPal, Klarna, banks — model accounts, devices, IPs as a graph; detect rings via community algorithms</a:t>
            </a:r>
            <a:endParaRPr lang="en-US" sz="1200"/>
          </a:p>
          <a:p>
            <a:pPr marL="342900" indent="-342900">
              <a:spcAft>
                <a:spcPts val="600"/>
              </a:spcAft>
              <a:buSzPct val="100000"/>
              <a:buChar char="▶"/>
              <a:defRPr/>
            </a:pPr>
            <a:r>
              <a:rPr lang="en-US" sz="1200">
                <a:solidFill>
                  <a:srgbClr val="E8EEF7"/>
                </a:solidFill>
              </a:rPr>
              <a:t>RECOMMENDATIONS: LinkedIn 'people you may know', Walmart product graph, Spotify radio — collaborative filtering on bipartite graphs</a:t>
            </a:r>
            <a:endParaRPr lang="en-US" sz="1200"/>
          </a:p>
          <a:p>
            <a:pPr marL="342900" indent="-342900">
              <a:spcAft>
                <a:spcPts val="600"/>
              </a:spcAft>
              <a:buSzPct val="100000"/>
              <a:buChar char="▶"/>
              <a:defRPr/>
            </a:pPr>
            <a:r>
              <a:rPr lang="en-US" sz="1200">
                <a:solidFill>
                  <a:srgbClr val="E8EEF7"/>
                </a:solidFill>
              </a:rPr>
              <a:t>KNOWLEDGE GRAPHS: Google Search, Bloomberg, NASA — entities, relations, provenance; backbone of GenAI retrieval (GraphRAG)</a:t>
            </a:r>
            <a:endParaRPr lang="en-US" sz="1200"/>
          </a:p>
          <a:p>
            <a:pPr marL="342900" indent="-342900">
              <a:spcAft>
                <a:spcPts val="600"/>
              </a:spcAft>
              <a:buSzPct val="100000"/>
              <a:buChar char="▶"/>
              <a:defRPr/>
            </a:pPr>
            <a:r>
              <a:rPr lang="en-US" sz="1200">
                <a:solidFill>
                  <a:srgbClr val="E8EEF7"/>
                </a:solidFill>
              </a:rPr>
              <a:t>IDENTITY &amp; ACCESS: Microsoft Entra (formerly Azure AD), Adobe — permission graphs answer 'can user X access resource Y?' instantly</a:t>
            </a:r>
            <a:endParaRPr lang="en-US" sz="1200"/>
          </a:p>
          <a:p>
            <a:pPr marL="342900" indent="-342900">
              <a:spcAft>
                <a:spcPts val="600"/>
              </a:spcAft>
              <a:buSzPct val="100000"/>
              <a:buChar char="▶"/>
              <a:defRPr/>
            </a:pPr>
            <a:r>
              <a:rPr lang="en-US" sz="1200">
                <a:solidFill>
                  <a:srgbClr val="E8EEF7"/>
                </a:solidFill>
              </a:rPr>
              <a:t>MASTER DATA MANAGEMENT: pharma &amp; telco — resolve 'is this the same customer?' across dozens of systems via similarity graphs</a:t>
            </a:r>
            <a:endParaRPr lang="en-US" sz="1200"/>
          </a:p>
          <a:p>
            <a:pPr marL="342900" indent="-342900">
              <a:spcAft>
                <a:spcPts val="600"/>
              </a:spcAft>
              <a:buSzPct val="100000"/>
              <a:buChar char="▶"/>
              <a:defRPr/>
            </a:pPr>
            <a:r>
              <a:rPr lang="en-US" sz="1200">
                <a:solidFill>
                  <a:srgbClr val="E8EEF7"/>
                </a:solidFill>
              </a:rPr>
              <a:t>NETWORK &amp; IT OPERATIONS: Cisco, ServiceNow — model dependencies; root-cause analysis via reverse traversal from a failing service</a:t>
            </a:r>
            <a:endParaRPr lang="en-US" sz="1200"/>
          </a:p>
          <a:p>
            <a:pPr marL="342900" indent="-342900">
              <a:spcAft>
                <a:spcPts val="600"/>
              </a:spcAft>
              <a:buSzPct val="100000"/>
              <a:buChar char="▶"/>
              <a:defRPr/>
            </a:pPr>
            <a:r>
              <a:rPr lang="en-US" sz="1200">
                <a:solidFill>
                  <a:srgbClr val="E8EEF7"/>
                </a:solidFill>
              </a:rPr>
              <a:t>BIOINFORMATICS: protein-protein interaction networks, drug-target graphs (Hetionet, ChEMBL); mining for novel therapies</a:t>
            </a:r>
            <a:endParaRPr lang="en-US" sz="1200"/>
          </a:p>
        </p:txBody>
      </p:sp>
      <p:sp>
        <p:nvSpPr>
          <p:cNvPr id="962813387"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bg>
      <p:bgPr shadeToTitle="0">
        <a:solidFill>
          <a:srgbClr val="1A2A52"/>
        </a:solidFill>
      </p:bgPr>
    </p:bg>
    <p:spTree>
      <p:nvGrpSpPr>
        <p:cNvPr id="1" name=""/>
        <p:cNvGrpSpPr/>
        <p:nvPr/>
      </p:nvGrpSpPr>
      <p:grpSpPr bwMode="auto">
        <a:xfrm>
          <a:off x="0" y="0"/>
          <a:ext cx="0" cy="0"/>
          <a:chOff x="0" y="0"/>
          <a:chExt cx="0" cy="0"/>
        </a:xfrm>
      </p:grpSpPr>
      <p:sp>
        <p:nvSpPr>
          <p:cNvPr id="991236043"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Case Study: ICIJ Panama Papers Investigation</a:t>
            </a:r>
            <a:endParaRPr lang="en-US" sz="3000"/>
          </a:p>
        </p:txBody>
      </p:sp>
      <p:sp>
        <p:nvSpPr>
          <p:cNvPr id="1725267389"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907358222"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127627728"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THE PROBLEM</a:t>
            </a:r>
            <a:endParaRPr lang="en-US" sz="1300"/>
          </a:p>
          <a:p>
            <a:pPr marL="342900" indent="-342900">
              <a:spcAft>
                <a:spcPts val="600"/>
              </a:spcAft>
              <a:buSzPct val="100000"/>
              <a:buChar char="▶"/>
              <a:defRPr/>
            </a:pPr>
            <a:r>
              <a:rPr lang="en-US" sz="1300">
                <a:solidFill>
                  <a:srgbClr val="E8EEF7"/>
                </a:solidFill>
              </a:rPr>
              <a:t>11.5 million leaked documents (2.6 TB)</a:t>
            </a:r>
            <a:endParaRPr lang="en-US" sz="1300"/>
          </a:p>
          <a:p>
            <a:pPr marL="342900" indent="-342900">
              <a:spcAft>
                <a:spcPts val="600"/>
              </a:spcAft>
              <a:buSzPct val="100000"/>
              <a:buChar char="▶"/>
              <a:defRPr/>
            </a:pPr>
            <a:r>
              <a:rPr lang="en-US" sz="1300">
                <a:solidFill>
                  <a:srgbClr val="E8EEF7"/>
                </a:solidFill>
              </a:rPr>
              <a:t>Mossack Fonseca: 40 years of offshore data</a:t>
            </a:r>
            <a:endParaRPr lang="en-US" sz="1300"/>
          </a:p>
          <a:p>
            <a:pPr marL="342900" indent="-342900">
              <a:spcAft>
                <a:spcPts val="600"/>
              </a:spcAft>
              <a:buSzPct val="100000"/>
              <a:buChar char="▶"/>
              <a:defRPr/>
            </a:pPr>
            <a:r>
              <a:rPr lang="en-US" sz="1300">
                <a:solidFill>
                  <a:srgbClr val="E8EEF7"/>
                </a:solidFill>
              </a:rPr>
              <a:t>Hidden ownership chains across countries</a:t>
            </a:r>
            <a:endParaRPr lang="en-US" sz="1300"/>
          </a:p>
          <a:p>
            <a:pPr marL="342900" indent="-342900">
              <a:spcAft>
                <a:spcPts val="600"/>
              </a:spcAft>
              <a:buSzPct val="100000"/>
              <a:buChar char="▶"/>
              <a:defRPr/>
            </a:pPr>
            <a:r>
              <a:rPr lang="en-US" sz="1300">
                <a:solidFill>
                  <a:srgbClr val="E8EEF7"/>
                </a:solidFill>
              </a:rPr>
              <a:t>Analysts in 80+ newsrooms simultaneously</a:t>
            </a:r>
            <a:endParaRPr lang="en-US" sz="1300"/>
          </a:p>
          <a:p>
            <a:pPr marL="342900" indent="-342900">
              <a:spcAft>
                <a:spcPts val="600"/>
              </a:spcAft>
              <a:buSzPct val="100000"/>
              <a:buChar char="▶"/>
              <a:defRPr/>
            </a:pPr>
            <a:r>
              <a:rPr lang="en-US" sz="1300">
                <a:solidFill>
                  <a:srgbClr val="E8EEF7"/>
                </a:solidFill>
              </a:rPr>
              <a:t>Spreadsheets and SQL: unworkable</a:t>
            </a:r>
            <a:endParaRPr lang="en-US" sz="1300"/>
          </a:p>
          <a:p>
            <a:pPr marL="342900" indent="-342900">
              <a:spcAft>
                <a:spcPts val="600"/>
              </a:spcAft>
              <a:buSzPct val="100000"/>
              <a:buChar char="▶"/>
              <a:defRPr/>
            </a:pPr>
            <a:r>
              <a:rPr lang="en-US" sz="1300">
                <a:solidFill>
                  <a:srgbClr val="E8EEF7"/>
                </a:solidFill>
              </a:rPr>
              <a:t>Question: 'who is the real beneficial owner?'</a:t>
            </a:r>
            <a:endParaRPr lang="en-US" sz="1300"/>
          </a:p>
        </p:txBody>
      </p:sp>
      <p:sp>
        <p:nvSpPr>
          <p:cNvPr id="1853650196"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THE GRAPH SOLUTION</a:t>
            </a:r>
            <a:endParaRPr lang="en-US" sz="1300"/>
          </a:p>
          <a:p>
            <a:pPr marL="342900" indent="-342900">
              <a:spcAft>
                <a:spcPts val="600"/>
              </a:spcAft>
              <a:buSzPct val="100000"/>
              <a:buChar char="▶"/>
              <a:defRPr/>
            </a:pPr>
            <a:r>
              <a:rPr lang="en-US" sz="1300">
                <a:solidFill>
                  <a:srgbClr val="E8EEF7"/>
                </a:solidFill>
              </a:rPr>
              <a:t>Linkurious + Neo4j: visual exploration UI</a:t>
            </a:r>
            <a:endParaRPr lang="en-US" sz="1300"/>
          </a:p>
          <a:p>
            <a:pPr marL="342900" indent="-342900">
              <a:spcAft>
                <a:spcPts val="600"/>
              </a:spcAft>
              <a:buSzPct val="100000"/>
              <a:buChar char="▶"/>
              <a:defRPr/>
            </a:pPr>
            <a:r>
              <a:rPr lang="en-US" sz="1300">
                <a:solidFill>
                  <a:srgbClr val="E8EEF7"/>
                </a:solidFill>
              </a:rPr>
              <a:t>Nodes: officers, entities, intermediaries, addresses</a:t>
            </a:r>
            <a:endParaRPr lang="en-US" sz="1300"/>
          </a:p>
          <a:p>
            <a:pPr marL="342900" indent="-342900">
              <a:spcAft>
                <a:spcPts val="600"/>
              </a:spcAft>
              <a:buSzPct val="100000"/>
              <a:buChar char="▶"/>
              <a:defRPr/>
            </a:pPr>
            <a:r>
              <a:rPr lang="en-US" sz="1300">
                <a:solidFill>
                  <a:srgbClr val="E8EEF7"/>
                </a:solidFill>
              </a:rPr>
              <a:t>Edges: SHAREHOLDER_OF, OFFICER_OF, REGISTERED_AT</a:t>
            </a:r>
            <a:endParaRPr lang="en-US" sz="1300"/>
          </a:p>
          <a:p>
            <a:pPr marL="342900" indent="-342900">
              <a:spcAft>
                <a:spcPts val="600"/>
              </a:spcAft>
              <a:buSzPct val="100000"/>
              <a:buChar char="▶"/>
              <a:defRPr/>
            </a:pPr>
            <a:r>
              <a:rPr lang="en-US" sz="1300">
                <a:solidFill>
                  <a:srgbClr val="E8EEF7"/>
                </a:solidFill>
              </a:rPr>
              <a:t>Multi-hop pattern queries: ms-to-second latency</a:t>
            </a:r>
            <a:endParaRPr lang="en-US" sz="1300"/>
          </a:p>
          <a:p>
            <a:pPr marL="342900" indent="-342900">
              <a:spcAft>
                <a:spcPts val="600"/>
              </a:spcAft>
              <a:buSzPct val="100000"/>
              <a:buChar char="▶"/>
              <a:defRPr/>
            </a:pPr>
            <a:r>
              <a:rPr lang="en-US" sz="1300">
                <a:solidFill>
                  <a:srgbClr val="E8EEF7"/>
                </a:solidFill>
              </a:rPr>
              <a:t>Pulitzer Prize 2017 — investigative journalism</a:t>
            </a:r>
            <a:endParaRPr lang="en-US" sz="1300"/>
          </a:p>
          <a:p>
            <a:pPr marL="342900" indent="-342900">
              <a:spcAft>
                <a:spcPts val="600"/>
              </a:spcAft>
              <a:buSzPct val="100000"/>
              <a:buChar char="▶"/>
              <a:defRPr/>
            </a:pPr>
            <a:r>
              <a:rPr lang="en-US" sz="1300">
                <a:solidFill>
                  <a:srgbClr val="E8EEF7"/>
                </a:solidFill>
              </a:rPr>
              <a:t>Today: ICIJ Offshore Leaks DB is publicly browsable</a:t>
            </a:r>
            <a:endParaRPr lang="en-US" sz="1300"/>
          </a:p>
        </p:txBody>
      </p:sp>
      <p:sp>
        <p:nvSpPr>
          <p:cNvPr id="2110857319"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bg>
      <p:bgPr shadeToTitle="0">
        <a:solidFill>
          <a:srgbClr val="1A2A52"/>
        </a:solidFill>
      </p:bgPr>
    </p:bg>
    <p:spTree>
      <p:nvGrpSpPr>
        <p:cNvPr id="1" name=""/>
        <p:cNvGrpSpPr/>
        <p:nvPr/>
      </p:nvGrpSpPr>
      <p:grpSpPr bwMode="auto">
        <a:xfrm>
          <a:off x="0" y="0"/>
          <a:ext cx="0" cy="0"/>
          <a:chOff x="0" y="0"/>
          <a:chExt cx="0" cy="0"/>
        </a:xfrm>
      </p:grpSpPr>
      <p:sp>
        <p:nvSpPr>
          <p:cNvPr id="928933717"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2111053742"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MODULE 6 — LAB</a:t>
            </a:r>
            <a:endParaRPr lang="en-US" sz="4800"/>
          </a:p>
        </p:txBody>
      </p:sp>
      <p:sp>
        <p:nvSpPr>
          <p:cNvPr id="1779826843"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Apache Neo4j on Linux: Docker + cypher-shell</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bg>
      <p:bgPr shadeToTitle="0">
        <a:solidFill>
          <a:srgbClr val="1A2A52"/>
        </a:solidFill>
      </p:bgPr>
    </p:bg>
    <p:spTree>
      <p:nvGrpSpPr>
        <p:cNvPr id="1" name=""/>
        <p:cNvGrpSpPr/>
        <p:nvPr/>
      </p:nvGrpSpPr>
      <p:grpSpPr bwMode="auto">
        <a:xfrm>
          <a:off x="0" y="0"/>
          <a:ext cx="0" cy="0"/>
          <a:chOff x="0" y="0"/>
          <a:chExt cx="0" cy="0"/>
        </a:xfrm>
      </p:grpSpPr>
      <p:sp>
        <p:nvSpPr>
          <p:cNvPr id="1836941478"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Lab Overview &amp; Objectives</a:t>
            </a:r>
            <a:endParaRPr lang="en-US" sz="3000"/>
          </a:p>
        </p:txBody>
      </p:sp>
      <p:sp>
        <p:nvSpPr>
          <p:cNvPr id="1067011479"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2107159315"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300">
                <a:solidFill>
                  <a:srgbClr val="E8EEF7"/>
                </a:solidFill>
              </a:rPr>
              <a:t>GOAL: Run Neo4j Community Edition in Docker on Linux and interact via cypher-shell + Browser UI</a:t>
            </a:r>
            <a:endParaRPr lang="en-US" sz="1300"/>
          </a:p>
          <a:p>
            <a:pPr marL="342900" indent="-342900">
              <a:spcAft>
                <a:spcPts val="600"/>
              </a:spcAft>
              <a:buSzPct val="100000"/>
              <a:buChar char="▶"/>
              <a:defRPr/>
            </a:pPr>
            <a:r>
              <a:rPr lang="en-US" sz="1300">
                <a:solidFill>
                  <a:srgbClr val="E8EEF7"/>
                </a:solidFill>
              </a:rPr>
              <a:t>By the end of the lab you will be able to: start a Neo4j container, connect with cypher-shell,</a:t>
            </a:r>
            <a:endParaRPr lang="en-US" sz="1300"/>
          </a:p>
          <a:p>
            <a:pPr marL="342900" indent="-342900">
              <a:spcAft>
                <a:spcPts val="600"/>
              </a:spcAft>
              <a:buSzPct val="100000"/>
              <a:buChar char="▶"/>
              <a:defRPr/>
            </a:pPr>
            <a:r>
              <a:rPr lang="en-US" sz="1300">
                <a:solidFill>
                  <a:srgbClr val="E8EEF7"/>
                </a:solidFill>
              </a:rPr>
              <a:t>  build a small property graph, write MATCH / CREATE / MERGE queries and run a graph algorithm</a:t>
            </a:r>
            <a:endParaRPr lang="en-US" sz="1300"/>
          </a:p>
          <a:p>
            <a:pPr marL="342900" indent="-342900">
              <a:spcAft>
                <a:spcPts val="600"/>
              </a:spcAft>
              <a:buSzPct val="100000"/>
              <a:buChar char="▶"/>
              <a:defRPr/>
            </a:pPr>
            <a:r>
              <a:rPr lang="en-US" sz="1300">
                <a:solidFill>
                  <a:srgbClr val="E8EEF7"/>
                </a:solidFill>
              </a:rPr>
              <a:t>PREREQUISITES: Docker installed and running; ports 7474 (HTTP) and 7687 (Bolt) free; internet access</a:t>
            </a:r>
            <a:endParaRPr lang="en-US" sz="1300"/>
          </a:p>
          <a:p>
            <a:pPr marL="342900" indent="-342900">
              <a:spcAft>
                <a:spcPts val="600"/>
              </a:spcAft>
              <a:buSzPct val="100000"/>
              <a:buChar char="▶"/>
              <a:defRPr/>
            </a:pPr>
            <a:r>
              <a:rPr lang="en-US" sz="1300">
                <a:solidFill>
                  <a:srgbClr val="E8EEF7"/>
                </a:solidFill>
              </a:rPr>
              <a:t>Estimated time: 60 minutes (Steps 1–10)</a:t>
            </a:r>
            <a:endParaRPr lang="en-US" sz="1300"/>
          </a:p>
          <a:p>
            <a:pPr marL="342900" indent="-342900">
              <a:spcAft>
                <a:spcPts val="600"/>
              </a:spcAft>
              <a:buSzPct val="100000"/>
              <a:buChar char="▶"/>
              <a:defRPr/>
            </a:pPr>
            <a:r>
              <a:rPr lang="en-US" sz="1300">
                <a:solidFill>
                  <a:srgbClr val="E8EEF7"/>
                </a:solidFill>
              </a:rPr>
              <a:t>All commands target Ubuntu/Debian Linux — also works on WSL2 on Windows and on macOS</a:t>
            </a:r>
            <a:endParaRPr lang="en-US" sz="1300"/>
          </a:p>
          <a:p>
            <a:pPr marL="342900" indent="-342900">
              <a:spcAft>
                <a:spcPts val="600"/>
              </a:spcAft>
              <a:buSzPct val="100000"/>
              <a:buChar char="▶"/>
              <a:defRPr/>
            </a:pPr>
            <a:r>
              <a:rPr lang="en-US" sz="1300">
                <a:solidFill>
                  <a:srgbClr val="E8EEF7"/>
                </a:solidFill>
              </a:rPr>
              <a:t>No Java required on the host — cypher-shell runs inside the Docker container</a:t>
            </a:r>
            <a:endParaRPr lang="en-US" sz="1300"/>
          </a:p>
        </p:txBody>
      </p:sp>
      <p:sp>
        <p:nvSpPr>
          <p:cNvPr id="1031399180"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bg>
      <p:bgPr shadeToTitle="0">
        <a:solidFill>
          <a:srgbClr val="1A2A52"/>
        </a:solidFill>
      </p:bgPr>
    </p:bg>
    <p:spTree>
      <p:nvGrpSpPr>
        <p:cNvPr id="1" name=""/>
        <p:cNvGrpSpPr/>
        <p:nvPr/>
      </p:nvGrpSpPr>
      <p:grpSpPr bwMode="auto">
        <a:xfrm>
          <a:off x="0" y="0"/>
          <a:ext cx="0" cy="0"/>
          <a:chOff x="0" y="0"/>
          <a:chExt cx="0" cy="0"/>
        </a:xfrm>
      </p:grpSpPr>
      <p:sp>
        <p:nvSpPr>
          <p:cNvPr id="1151475111"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1 — Pull &amp; Run the Neo4j Container</a:t>
            </a:r>
            <a:endParaRPr lang="en-US" sz="3000"/>
          </a:p>
        </p:txBody>
      </p:sp>
      <p:sp>
        <p:nvSpPr>
          <p:cNvPr id="1132465788"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739837268"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842596876"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Pull the official Neo4j 5 LTS image (Community Edition)</a:t>
            </a:r>
            <a:endParaRPr lang="en-US" sz="1100"/>
          </a:p>
          <a:p>
            <a:pPr marL="0" indent="0">
              <a:buNone/>
              <a:defRPr/>
            </a:pPr>
            <a:r>
              <a:rPr lang="en-US" sz="1100">
                <a:solidFill>
                  <a:srgbClr val="E8EEF7"/>
                </a:solidFill>
                <a:latin typeface="Consolas"/>
                <a:ea typeface="Consolas"/>
                <a:cs typeface="Consolas"/>
              </a:rPr>
              <a:t>docker pull neo4j:5.20-community</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Run the container</a:t>
            </a:r>
            <a:endParaRPr lang="en-US" sz="1100"/>
          </a:p>
          <a:p>
            <a:pPr marL="0" indent="0">
              <a:buNone/>
              <a:defRPr/>
            </a:pPr>
            <a:r>
              <a:rPr lang="en-US" sz="1100">
                <a:solidFill>
                  <a:srgbClr val="A6B0C0"/>
                </a:solidFill>
                <a:latin typeface="Consolas"/>
                <a:ea typeface="Consolas"/>
                <a:cs typeface="Consolas"/>
              </a:rPr>
              <a:t>#   -p 7474: HTTP browser UI    -p 7687: Bolt protocol</a:t>
            </a:r>
            <a:endParaRPr lang="en-US" sz="1100"/>
          </a:p>
          <a:p>
            <a:pPr marL="0" indent="0">
              <a:buNone/>
              <a:defRPr/>
            </a:pPr>
            <a:r>
              <a:rPr lang="en-US" sz="1100">
                <a:solidFill>
                  <a:srgbClr val="A6B0C0"/>
                </a:solidFill>
                <a:latin typeface="Consolas"/>
                <a:ea typeface="Consolas"/>
                <a:cs typeface="Consolas"/>
              </a:rPr>
              <a:t>#   NEO4J_AUTH sets the initial username/password</a:t>
            </a:r>
            <a:endParaRPr lang="en-US" sz="1100"/>
          </a:p>
          <a:p>
            <a:pPr marL="0" indent="0">
              <a:buNone/>
              <a:defRPr/>
            </a:pPr>
            <a:r>
              <a:rPr lang="en-US" sz="1100">
                <a:solidFill>
                  <a:srgbClr val="E8EEF7"/>
                </a:solidFill>
                <a:latin typeface="Consolas"/>
                <a:ea typeface="Consolas"/>
                <a:cs typeface="Consolas"/>
              </a:rPr>
              <a:t>docker run -d \</a:t>
            </a:r>
            <a:endParaRPr lang="en-US" sz="1100"/>
          </a:p>
          <a:p>
            <a:pPr marL="0" indent="0">
              <a:buNone/>
              <a:defRPr/>
            </a:pPr>
            <a:r>
              <a:rPr lang="en-US" sz="1100">
                <a:solidFill>
                  <a:srgbClr val="E8EEF7"/>
                </a:solidFill>
                <a:latin typeface="Consolas"/>
                <a:ea typeface="Consolas"/>
                <a:cs typeface="Consolas"/>
              </a:rPr>
              <a:t>  --name neo4j-lab \</a:t>
            </a:r>
            <a:endParaRPr lang="en-US" sz="1100"/>
          </a:p>
          <a:p>
            <a:pPr marL="0" indent="0">
              <a:buNone/>
              <a:defRPr/>
            </a:pPr>
            <a:r>
              <a:rPr lang="en-US" sz="1100">
                <a:solidFill>
                  <a:srgbClr val="E8EEF7"/>
                </a:solidFill>
                <a:latin typeface="Consolas"/>
                <a:ea typeface="Consolas"/>
                <a:cs typeface="Consolas"/>
              </a:rPr>
              <a:t>  -p 7474:7474 -p 7687:7687 \</a:t>
            </a:r>
            <a:endParaRPr lang="en-US" sz="1100"/>
          </a:p>
          <a:p>
            <a:pPr marL="0" indent="0">
              <a:buNone/>
              <a:defRPr/>
            </a:pPr>
            <a:r>
              <a:rPr lang="en-US" sz="1100">
                <a:solidFill>
                  <a:srgbClr val="E8EEF7"/>
                </a:solidFill>
                <a:latin typeface="Consolas"/>
                <a:ea typeface="Consolas"/>
                <a:cs typeface="Consolas"/>
              </a:rPr>
              <a:t>  -e NEO4J_AUTH=neo4j/AdmPassw0rd \</a:t>
            </a:r>
            <a:endParaRPr lang="en-US" sz="1100"/>
          </a:p>
          <a:p>
            <a:pPr marL="0" indent="0">
              <a:buNone/>
              <a:defRPr/>
            </a:pPr>
            <a:r>
              <a:rPr lang="en-US" sz="1100">
                <a:solidFill>
                  <a:srgbClr val="E8EEF7"/>
                </a:solidFill>
                <a:latin typeface="Consolas"/>
                <a:ea typeface="Consolas"/>
                <a:cs typeface="Consolas"/>
              </a:rPr>
              <a:t>  -e NEO4J_PLUGINS='["apoc","graph-data-science"]' \</a:t>
            </a:r>
            <a:endParaRPr lang="en-US" sz="1100"/>
          </a:p>
          <a:p>
            <a:pPr marL="0" indent="0">
              <a:buNone/>
              <a:defRPr/>
            </a:pPr>
            <a:r>
              <a:rPr lang="en-US" sz="1100">
                <a:solidFill>
                  <a:srgbClr val="E8EEF7"/>
                </a:solidFill>
                <a:latin typeface="Consolas"/>
                <a:ea typeface="Consolas"/>
                <a:cs typeface="Consolas"/>
              </a:rPr>
              <a:t>  neo4j:5.20-community</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Wait ~20 seconds for Neo4j to fully start, then check status</a:t>
            </a:r>
            <a:endParaRPr lang="en-US" sz="1100"/>
          </a:p>
          <a:p>
            <a:pPr marL="0" indent="0">
              <a:buNone/>
              <a:defRPr/>
            </a:pPr>
            <a:r>
              <a:rPr lang="en-US" sz="1100">
                <a:solidFill>
                  <a:srgbClr val="E8EEF7"/>
                </a:solidFill>
                <a:latin typeface="Consolas"/>
                <a:ea typeface="Consolas"/>
                <a:cs typeface="Consolas"/>
              </a:rPr>
              <a:t>docker ps</a:t>
            </a:r>
            <a:endParaRPr lang="en-US" sz="1100"/>
          </a:p>
          <a:p>
            <a:pPr marL="0" indent="0">
              <a:buNone/>
              <a:defRPr/>
            </a:pPr>
            <a:r>
              <a:rPr lang="en-US" sz="1100">
                <a:solidFill>
                  <a:srgbClr val="E8EEF7"/>
                </a:solidFill>
                <a:latin typeface="Consolas"/>
                <a:ea typeface="Consolas"/>
                <a:cs typeface="Consolas"/>
              </a:rPr>
              <a:t>docker logs neo4j-lab | tail -20</a:t>
            </a:r>
            <a:endParaRPr lang="en-US" sz="1100"/>
          </a:p>
          <a:p>
            <a:pPr marL="0" indent="0">
              <a:buNone/>
              <a:defRPr/>
            </a:pPr>
            <a:r>
              <a:rPr lang="en-US" sz="1100">
                <a:solidFill>
                  <a:srgbClr val="A6B0C0"/>
                </a:solidFill>
                <a:latin typeface="Consolas"/>
                <a:ea typeface="Consolas"/>
                <a:cs typeface="Consolas"/>
              </a:rPr>
              <a:t># Browser UI: open  http://localhost:7474  (user neo4j / pwd AdmPassw0rd)</a:t>
            </a:r>
            <a:endParaRPr lang="en-US" sz="1100"/>
          </a:p>
        </p:txBody>
      </p:sp>
      <p:sp>
        <p:nvSpPr>
          <p:cNvPr id="1753083519"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9">
    <p:bg>
      <p:bgPr shadeToTitle="0">
        <a:solidFill>
          <a:srgbClr val="1A2A52"/>
        </a:solidFill>
      </p:bgPr>
    </p:bg>
    <p:spTree>
      <p:nvGrpSpPr>
        <p:cNvPr id="1" name=""/>
        <p:cNvGrpSpPr/>
        <p:nvPr/>
      </p:nvGrpSpPr>
      <p:grpSpPr bwMode="auto">
        <a:xfrm>
          <a:off x="0" y="0"/>
          <a:ext cx="0" cy="0"/>
          <a:chOff x="0" y="0"/>
          <a:chExt cx="0" cy="0"/>
        </a:xfrm>
      </p:grpSpPr>
      <p:sp>
        <p:nvSpPr>
          <p:cNvPr id="1610999070"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2 — Connect with cypher-shell</a:t>
            </a:r>
            <a:endParaRPr lang="en-US" sz="3000"/>
          </a:p>
        </p:txBody>
      </p:sp>
      <p:sp>
        <p:nvSpPr>
          <p:cNvPr id="1062761889"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635305824"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304991318"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Open an interactive cypher-shell INSIDE the running container</a:t>
            </a:r>
            <a:endParaRPr lang="en-US" sz="1100"/>
          </a:p>
          <a:p>
            <a:pPr marL="0" indent="0">
              <a:buNone/>
              <a:defRPr/>
            </a:pPr>
            <a:r>
              <a:rPr lang="en-US" sz="1100">
                <a:solidFill>
                  <a:srgbClr val="E8EEF7"/>
                </a:solidFill>
                <a:latin typeface="Consolas"/>
                <a:ea typeface="Consolas"/>
                <a:cs typeface="Consolas"/>
              </a:rPr>
              <a:t>docker exec -it neo4j-lab cypher-shell -u neo4j -p AdmPassw0rd</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You should see:</a:t>
            </a:r>
            <a:endParaRPr lang="en-US" sz="1100"/>
          </a:p>
          <a:p>
            <a:pPr marL="0" indent="0">
              <a:buNone/>
              <a:defRPr/>
            </a:pPr>
            <a:r>
              <a:rPr lang="en-US" sz="1100">
                <a:solidFill>
                  <a:srgbClr val="A6B0C0"/>
                </a:solidFill>
                <a:latin typeface="Consolas"/>
                <a:ea typeface="Consolas"/>
                <a:cs typeface="Consolas"/>
              </a:rPr>
              <a:t>#   Connected to Neo4j using Bolt protocol version 5.x at neo4j://...</a:t>
            </a:r>
            <a:endParaRPr lang="en-US" sz="1100"/>
          </a:p>
          <a:p>
            <a:pPr marL="0" indent="0">
              <a:buNone/>
              <a:defRPr/>
            </a:pPr>
            <a:r>
              <a:rPr lang="en-US" sz="1100">
                <a:solidFill>
                  <a:srgbClr val="A6B0C0"/>
                </a:solidFill>
                <a:latin typeface="Consolas"/>
                <a:ea typeface="Consolas"/>
                <a:cs typeface="Consolas"/>
              </a:rPr>
              <a:t>#   Type :help for a list of available commands or :exit to exit the shell.</a:t>
            </a:r>
            <a:endParaRPr lang="en-US" sz="1100"/>
          </a:p>
          <a:p>
            <a:pPr marL="0" indent="0">
              <a:buNone/>
              <a:defRPr/>
            </a:pPr>
            <a:r>
              <a:rPr lang="en-US" sz="1100">
                <a:solidFill>
                  <a:srgbClr val="A6B0C0"/>
                </a:solidFill>
                <a:latin typeface="Consolas"/>
                <a:ea typeface="Consolas"/>
                <a:cs typeface="Consolas"/>
              </a:rPr>
              <a:t>#   neo4j@neo4j&gt;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Confirm the database is healthy</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db.info();</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List all databases (system + neo4j by default)</a:t>
            </a:r>
            <a:endParaRPr lang="en-US" sz="1100"/>
          </a:p>
          <a:p>
            <a:pPr marL="0" indent="0">
              <a:buNone/>
              <a:defRPr/>
            </a:pPr>
            <a:r>
              <a:rPr lang="en-US" sz="1100" b="1">
                <a:solidFill>
                  <a:srgbClr val="8AB4F8"/>
                </a:solidFill>
                <a:latin typeface="Consolas"/>
                <a:ea typeface="Consolas"/>
                <a:cs typeface="Consolas"/>
              </a:rPr>
              <a:t>SHOW</a:t>
            </a:r>
            <a:r>
              <a:rPr lang="en-US" sz="1100">
                <a:solidFill>
                  <a:srgbClr val="E8EEF7"/>
                </a:solidFill>
                <a:latin typeface="Consolas"/>
                <a:ea typeface="Consolas"/>
                <a:cs typeface="Consolas"/>
              </a:rPr>
              <a:t> DATABASES;</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Exit the shell</a:t>
            </a:r>
            <a:endParaRPr lang="en-US" sz="1100"/>
          </a:p>
          <a:p>
            <a:pPr marL="0" indent="0">
              <a:buNone/>
              <a:defRPr/>
            </a:pPr>
            <a:r>
              <a:rPr lang="en-US" sz="1100">
                <a:solidFill>
                  <a:srgbClr val="E8EEF7"/>
                </a:solidFill>
                <a:latin typeface="Consolas"/>
                <a:ea typeface="Consolas"/>
                <a:cs typeface="Consolas"/>
              </a:rPr>
              <a:t>:exit</a:t>
            </a:r>
            <a:endParaRPr lang="en-US" sz="1100"/>
          </a:p>
        </p:txBody>
      </p:sp>
      <p:sp>
        <p:nvSpPr>
          <p:cNvPr id="1247973569"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39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0">
    <p:bg>
      <p:bgPr shadeToTitle="0">
        <a:solidFill>
          <a:srgbClr val="1A2A52"/>
        </a:solidFill>
      </p:bgPr>
    </p:bg>
    <p:spTree>
      <p:nvGrpSpPr>
        <p:cNvPr id="1" name=""/>
        <p:cNvGrpSpPr/>
        <p:nvPr/>
      </p:nvGrpSpPr>
      <p:grpSpPr bwMode="auto">
        <a:xfrm>
          <a:off x="0" y="0"/>
          <a:ext cx="0" cy="0"/>
          <a:chOff x="0" y="0"/>
          <a:chExt cx="0" cy="0"/>
        </a:xfrm>
      </p:grpSpPr>
      <p:sp>
        <p:nvSpPr>
          <p:cNvPr id="39075462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3 — Create the Knowledge Graph Nodes</a:t>
            </a:r>
            <a:endParaRPr lang="en-US" sz="3000"/>
          </a:p>
        </p:txBody>
      </p:sp>
      <p:sp>
        <p:nvSpPr>
          <p:cNvPr id="1061085533"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2007669773"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845239906"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We will model the ECE Department research network</a:t>
            </a:r>
            <a:endParaRPr lang="en-US" sz="1100"/>
          </a:p>
          <a:p>
            <a:pPr marL="0" indent="0">
              <a:buNone/>
              <a:defRPr/>
            </a:pPr>
            <a:r>
              <a:rPr lang="en-US" sz="1100">
                <a:solidFill>
                  <a:srgbClr val="A6B0C0"/>
                </a:solidFill>
                <a:latin typeface="Consolas"/>
                <a:ea typeface="Consolas"/>
                <a:cs typeface="Consolas"/>
              </a:rPr>
              <a:t>// Authors</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(a1:Author { orcid: </a:t>
            </a:r>
            <a:r>
              <a:rPr lang="en-US" sz="1100">
                <a:solidFill>
                  <a:srgbClr val="7DDFC1"/>
                </a:solidFill>
                <a:latin typeface="Consolas"/>
                <a:ea typeface="Consolas"/>
                <a:cs typeface="Consolas"/>
              </a:rPr>
              <a:t>'0000-0001'</a:t>
            </a:r>
            <a:r>
              <a:rPr lang="en-US" sz="1100">
                <a:solidFill>
                  <a:srgbClr val="E8EEF7"/>
                </a:solidFill>
                <a:latin typeface="Consolas"/>
                <a:ea typeface="Consolas"/>
                <a:cs typeface="Consolas"/>
              </a:rPr>
              <a:t>, name: </a:t>
            </a:r>
            <a:r>
              <a:rPr lang="en-US" sz="1100">
                <a:solidFill>
                  <a:srgbClr val="7DDFC1"/>
                </a:solidFill>
                <a:latin typeface="Consolas"/>
                <a:ea typeface="Consolas"/>
                <a:cs typeface="Consolas"/>
              </a:rPr>
              <a:t>'Anna Stavridou'</a:t>
            </a:r>
            <a:r>
              <a:rPr lang="en-US" sz="1100">
                <a:solidFill>
                  <a:srgbClr val="E8EEF7"/>
                </a:solidFill>
                <a:latin typeface="Consolas"/>
                <a:ea typeface="Consolas"/>
                <a:cs typeface="Consolas"/>
              </a:rPr>
              <a:t> }),</a:t>
            </a:r>
            <a:endParaRPr lang="en-US" sz="1100"/>
          </a:p>
          <a:p>
            <a:pPr marL="0" indent="0">
              <a:buNone/>
              <a:defRPr/>
            </a:pPr>
            <a:r>
              <a:rPr lang="en-US" sz="1100">
                <a:solidFill>
                  <a:srgbClr val="E8EEF7"/>
                </a:solidFill>
                <a:latin typeface="Consolas"/>
                <a:ea typeface="Consolas"/>
                <a:cs typeface="Consolas"/>
              </a:rPr>
              <a:t>       (a2:Author { orcid: </a:t>
            </a:r>
            <a:r>
              <a:rPr lang="en-US" sz="1100">
                <a:solidFill>
                  <a:srgbClr val="7DDFC1"/>
                </a:solidFill>
                <a:latin typeface="Consolas"/>
                <a:ea typeface="Consolas"/>
                <a:cs typeface="Consolas"/>
              </a:rPr>
              <a:t>'0000-0002'</a:t>
            </a:r>
            <a:r>
              <a:rPr lang="en-US" sz="1100">
                <a:solidFill>
                  <a:srgbClr val="E8EEF7"/>
                </a:solidFill>
                <a:latin typeface="Consolas"/>
                <a:ea typeface="Consolas"/>
                <a:cs typeface="Consolas"/>
              </a:rPr>
              <a:t>, name: </a:t>
            </a:r>
            <a:r>
              <a:rPr lang="en-US" sz="1100">
                <a:solidFill>
                  <a:srgbClr val="7DDFC1"/>
                </a:solidFill>
                <a:latin typeface="Consolas"/>
                <a:ea typeface="Consolas"/>
                <a:cs typeface="Consolas"/>
              </a:rPr>
              <a:t>'Maria Papadopoulou'</a:t>
            </a:r>
            <a:r>
              <a:rPr lang="en-US" sz="1100">
                <a:solidFill>
                  <a:srgbClr val="E8EEF7"/>
                </a:solidFill>
                <a:latin typeface="Consolas"/>
                <a:ea typeface="Consolas"/>
                <a:cs typeface="Consolas"/>
              </a:rPr>
              <a:t> }),</a:t>
            </a:r>
            <a:endParaRPr lang="en-US" sz="1100"/>
          </a:p>
          <a:p>
            <a:pPr marL="0" indent="0">
              <a:buNone/>
              <a:defRPr/>
            </a:pPr>
            <a:r>
              <a:rPr lang="en-US" sz="1100">
                <a:solidFill>
                  <a:srgbClr val="E8EEF7"/>
                </a:solidFill>
                <a:latin typeface="Consolas"/>
                <a:ea typeface="Consolas"/>
                <a:cs typeface="Consolas"/>
              </a:rPr>
              <a:t>       (a3:Author { orcid: </a:t>
            </a:r>
            <a:r>
              <a:rPr lang="en-US" sz="1100">
                <a:solidFill>
                  <a:srgbClr val="7DDFC1"/>
                </a:solidFill>
                <a:latin typeface="Consolas"/>
                <a:ea typeface="Consolas"/>
                <a:cs typeface="Consolas"/>
              </a:rPr>
              <a:t>'0000-0003'</a:t>
            </a:r>
            <a:r>
              <a:rPr lang="en-US" sz="1100">
                <a:solidFill>
                  <a:srgbClr val="E8EEF7"/>
                </a:solidFill>
                <a:latin typeface="Consolas"/>
                <a:ea typeface="Consolas"/>
                <a:cs typeface="Consolas"/>
              </a:rPr>
              <a:t>, name: </a:t>
            </a:r>
            <a:r>
              <a:rPr lang="en-US" sz="1100">
                <a:solidFill>
                  <a:srgbClr val="7DDFC1"/>
                </a:solidFill>
                <a:latin typeface="Consolas"/>
                <a:ea typeface="Consolas"/>
                <a:cs typeface="Consolas"/>
              </a:rPr>
              <a:t>'Nikos Georgiou'</a:t>
            </a:r>
            <a:r>
              <a:rPr lang="en-US" sz="1100">
                <a:solidFill>
                  <a:srgbClr val="E8EEF7"/>
                </a:solidFill>
                <a:latin typeface="Consolas"/>
                <a:ea typeface="Consolas"/>
                <a:cs typeface="Consolas"/>
              </a:rPr>
              <a:t> });</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Papers</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(p1:Paper { doi: </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 title: </a:t>
            </a:r>
            <a:r>
              <a:rPr lang="en-US" sz="1100">
                <a:solidFill>
                  <a:srgbClr val="7DDFC1"/>
                </a:solidFill>
                <a:latin typeface="Consolas"/>
                <a:ea typeface="Consolas"/>
                <a:cs typeface="Consolas"/>
              </a:rPr>
              <a:t>'FPGA Accelerators'</a:t>
            </a:r>
            <a:r>
              <a:rPr lang="en-US" sz="1100">
                <a:solidFill>
                  <a:srgbClr val="E8EEF7"/>
                </a:solidFill>
                <a:latin typeface="Consolas"/>
                <a:ea typeface="Consolas"/>
                <a:cs typeface="Consolas"/>
              </a:rPr>
              <a:t>, year: 2024 }), </a:t>
            </a:r>
            <a:endParaRPr lang="en-US" sz="1100"/>
          </a:p>
          <a:p>
            <a:pPr marL="0" indent="0">
              <a:buNone/>
              <a:defRPr/>
            </a:pPr>
            <a:r>
              <a:rPr lang="en-US" sz="1100">
                <a:solidFill>
                  <a:srgbClr val="E8EEF7"/>
                </a:solidFill>
                <a:latin typeface="Consolas"/>
                <a:ea typeface="Consolas"/>
                <a:cs typeface="Consolas"/>
              </a:rPr>
              <a:t>       (p2:Paper { doi: </a:t>
            </a:r>
            <a:r>
              <a:rPr lang="en-US" sz="1100">
                <a:solidFill>
                  <a:srgbClr val="7DDFC1"/>
                </a:solidFill>
                <a:latin typeface="Consolas"/>
                <a:ea typeface="Consolas"/>
                <a:cs typeface="Consolas"/>
              </a:rPr>
              <a:t>'10.1109/DEF'</a:t>
            </a:r>
            <a:r>
              <a:rPr lang="en-US" sz="1100">
                <a:solidFill>
                  <a:srgbClr val="E8EEF7"/>
                </a:solidFill>
                <a:latin typeface="Consolas"/>
                <a:ea typeface="Consolas"/>
                <a:cs typeface="Consolas"/>
              </a:rPr>
              <a:t>, title: </a:t>
            </a:r>
            <a:r>
              <a:rPr lang="en-US" sz="1100">
                <a:solidFill>
                  <a:srgbClr val="7DDFC1"/>
                </a:solidFill>
                <a:latin typeface="Consolas"/>
                <a:ea typeface="Consolas"/>
                <a:cs typeface="Consolas"/>
              </a:rPr>
              <a:t>'Edge ML'</a:t>
            </a:r>
            <a:r>
              <a:rPr lang="en-US" sz="1100">
                <a:solidFill>
                  <a:srgbClr val="E8EEF7"/>
                </a:solidFill>
                <a:latin typeface="Consolas"/>
                <a:ea typeface="Consolas"/>
                <a:cs typeface="Consolas"/>
              </a:rPr>
              <a:t>, year: 2023 });</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Topics</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(t1:Topic { name: </a:t>
            </a:r>
            <a:r>
              <a:rPr lang="en-US" sz="1100">
                <a:solidFill>
                  <a:srgbClr val="7DDFC1"/>
                </a:solidFill>
                <a:latin typeface="Consolas"/>
                <a:ea typeface="Consolas"/>
                <a:cs typeface="Consolas"/>
              </a:rPr>
              <a:t>'VLSI Design'</a:t>
            </a:r>
            <a:r>
              <a:rPr lang="en-US" sz="1100">
                <a:solidFill>
                  <a:srgbClr val="E8EEF7"/>
                </a:solidFill>
                <a:latin typeface="Consolas"/>
                <a:ea typeface="Consolas"/>
                <a:cs typeface="Consolas"/>
              </a:rPr>
              <a:t> }), </a:t>
            </a:r>
            <a:endParaRPr lang="en-US" sz="1100"/>
          </a:p>
          <a:p>
            <a:pPr marL="0" indent="0">
              <a:buNone/>
              <a:defRPr/>
            </a:pPr>
            <a:r>
              <a:rPr lang="en-US" sz="1100">
                <a:solidFill>
                  <a:srgbClr val="E8EEF7"/>
                </a:solidFill>
                <a:latin typeface="Consolas"/>
                <a:ea typeface="Consolas"/>
                <a:cs typeface="Consolas"/>
              </a:rPr>
              <a:t>       (t2:Topic { name: </a:t>
            </a:r>
            <a:r>
              <a:rPr lang="en-US" sz="1100">
                <a:solidFill>
                  <a:srgbClr val="7DDFC1"/>
                </a:solidFill>
                <a:latin typeface="Consolas"/>
                <a:ea typeface="Consolas"/>
                <a:cs typeface="Consolas"/>
              </a:rPr>
              <a:t>'Machine Learning'</a:t>
            </a:r>
            <a:r>
              <a:rPr lang="en-US" sz="1100">
                <a:solidFill>
                  <a:srgbClr val="E8EEF7"/>
                </a:solidFill>
                <a:latin typeface="Consolas"/>
                <a:ea typeface="Consolas"/>
                <a:cs typeface="Consolas"/>
              </a:rPr>
              <a:t> });</a:t>
            </a:r>
            <a:endParaRPr lang="en-US" sz="1100"/>
          </a:p>
        </p:txBody>
      </p:sp>
      <p:sp>
        <p:nvSpPr>
          <p:cNvPr id="1429066256"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1">
    <p:bg>
      <p:bgPr shadeToTitle="0">
        <a:solidFill>
          <a:srgbClr val="1A2A52"/>
        </a:solidFill>
      </p:bgPr>
    </p:bg>
    <p:spTree>
      <p:nvGrpSpPr>
        <p:cNvPr id="1" name=""/>
        <p:cNvGrpSpPr/>
        <p:nvPr/>
      </p:nvGrpSpPr>
      <p:grpSpPr bwMode="auto">
        <a:xfrm>
          <a:off x="0" y="0"/>
          <a:ext cx="0" cy="0"/>
          <a:chOff x="0" y="0"/>
          <a:chExt cx="0" cy="0"/>
        </a:xfrm>
      </p:grpSpPr>
      <p:sp>
        <p:nvSpPr>
          <p:cNvPr id="376033578"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4 — Create Typed Relationships (Edges)</a:t>
            </a:r>
            <a:endParaRPr lang="en-US" sz="3000"/>
          </a:p>
        </p:txBody>
      </p:sp>
      <p:sp>
        <p:nvSpPr>
          <p:cNvPr id="116597201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2088338331"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737469509"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Authorship edges — Anna and Maria co-wrote paper p1</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{orcid:</a:t>
            </a:r>
            <a:r>
              <a:rPr lang="en-US" sz="1100">
                <a:solidFill>
                  <a:srgbClr val="7DDFC1"/>
                </a:solidFill>
                <a:latin typeface="Consolas"/>
                <a:ea typeface="Consolas"/>
                <a:cs typeface="Consolas"/>
              </a:rPr>
              <a:t>'0000-0001'</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(a)-[:WROTE { role: </a:t>
            </a:r>
            <a:r>
              <a:rPr lang="en-US" sz="1100">
                <a:solidFill>
                  <a:srgbClr val="7DDFC1"/>
                </a:solidFill>
                <a:latin typeface="Consolas"/>
                <a:ea typeface="Consolas"/>
                <a:cs typeface="Consolas"/>
              </a:rPr>
              <a:t>'first'</a:t>
            </a:r>
            <a:r>
              <a:rPr lang="en-US" sz="1100">
                <a:solidFill>
                  <a:srgbClr val="E8EEF7"/>
                </a:solidFill>
                <a:latin typeface="Consolas"/>
                <a:ea typeface="Consolas"/>
                <a:cs typeface="Consolas"/>
              </a:rPr>
              <a:t> }]-&gt;(p);</a:t>
            </a:r>
            <a:endParaRPr lang="en-US" sz="1100"/>
          </a:p>
          <a:p>
            <a:pPr marL="0" indent="0">
              <a:buNone/>
              <a:defRPr/>
            </a:pP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{orcid:</a:t>
            </a:r>
            <a:r>
              <a:rPr lang="en-US" sz="1100">
                <a:solidFill>
                  <a:srgbClr val="7DDFC1"/>
                </a:solidFill>
                <a:latin typeface="Consolas"/>
                <a:ea typeface="Consolas"/>
                <a:cs typeface="Consolas"/>
              </a:rPr>
              <a:t>'0000-0002'</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(a)-[:WROTE]-&gt;(p);</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Topic edges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 (t:Topic {name:</a:t>
            </a:r>
            <a:r>
              <a:rPr lang="en-US" sz="1100">
                <a:solidFill>
                  <a:srgbClr val="7DDFC1"/>
                </a:solidFill>
                <a:latin typeface="Consolas"/>
                <a:ea typeface="Consolas"/>
                <a:cs typeface="Consolas"/>
              </a:rPr>
              <a:t>'VLSI Design'</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(p)-[:ABOUT]-&gt;(t);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Citation edges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(a:Paper {doi:</a:t>
            </a:r>
            <a:r>
              <a:rPr lang="en-US" sz="1100">
                <a:solidFill>
                  <a:srgbClr val="7DDFC1"/>
                </a:solidFill>
                <a:latin typeface="Consolas"/>
                <a:ea typeface="Consolas"/>
                <a:cs typeface="Consolas"/>
              </a:rPr>
              <a:t>'10.1109/DEF'</a:t>
            </a:r>
            <a:r>
              <a:rPr lang="en-US" sz="1100">
                <a:solidFill>
                  <a:srgbClr val="E8EEF7"/>
                </a:solidFill>
                <a:latin typeface="Consolas"/>
                <a:ea typeface="Consolas"/>
                <a:cs typeface="Consolas"/>
              </a:rPr>
              <a:t>}), </a:t>
            </a:r>
            <a:r>
              <a:rPr lang="en-US" sz="1100">
                <a:solidFill>
                  <a:srgbClr val="E8EEF7"/>
                </a:solidFill>
                <a:latin typeface="Consolas"/>
                <a:ea typeface="Consolas"/>
                <a:cs typeface="Consolas"/>
              </a:rPr>
              <a:t>(b:Paper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CREATE</a:t>
            </a:r>
            <a:r>
              <a:rPr lang="en-US" sz="1100">
                <a:solidFill>
                  <a:srgbClr val="E8EEF7"/>
                </a:solidFill>
                <a:latin typeface="Consolas"/>
                <a:ea typeface="Consolas"/>
                <a:cs typeface="Consolas"/>
              </a:rPr>
              <a:t> (a)-[:CITES { year: 2024 }]-&gt;(b);</a:t>
            </a:r>
            <a:endParaRPr lang="en-US" sz="1100"/>
          </a:p>
        </p:txBody>
      </p:sp>
      <p:sp>
        <p:nvSpPr>
          <p:cNvPr id="1217376699"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2">
    <p:bg>
      <p:bgPr shadeToTitle="0">
        <a:solidFill>
          <a:srgbClr val="1A2A52"/>
        </a:solidFill>
      </p:bgPr>
    </p:bg>
    <p:spTree>
      <p:nvGrpSpPr>
        <p:cNvPr id="1" name=""/>
        <p:cNvGrpSpPr/>
        <p:nvPr/>
      </p:nvGrpSpPr>
      <p:grpSpPr bwMode="auto">
        <a:xfrm>
          <a:off x="0" y="0"/>
          <a:ext cx="0" cy="0"/>
          <a:chOff x="0" y="0"/>
          <a:chExt cx="0" cy="0"/>
        </a:xfrm>
      </p:grpSpPr>
      <p:sp>
        <p:nvSpPr>
          <p:cNvPr id="349210042"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5 — Match, Filter &amp; Aggregate</a:t>
            </a:r>
            <a:endParaRPr lang="en-US" sz="3000"/>
          </a:p>
        </p:txBody>
      </p:sp>
      <p:sp>
        <p:nvSpPr>
          <p:cNvPr id="168645628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415910442"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710476686"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All papers Anna co-authored</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 Stavridou'</a:t>
            </a:r>
            <a:r>
              <a:rPr lang="en-US" sz="1100">
                <a:solidFill>
                  <a:srgbClr val="E8EEF7"/>
                </a:solidFill>
                <a:latin typeface="Consolas"/>
                <a:ea typeface="Consolas"/>
                <a:cs typeface="Consolas"/>
              </a:rPr>
              <a:t>})-[:WROTE]-&gt;(p:Paper)</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p.title, p.year </a:t>
            </a:r>
            <a:r>
              <a:rPr lang="en-US" sz="1100" b="1">
                <a:solidFill>
                  <a:srgbClr val="8AB4F8"/>
                </a:solidFill>
                <a:latin typeface="Consolas"/>
                <a:ea typeface="Consolas"/>
                <a:cs typeface="Consolas"/>
              </a:rPr>
              <a:t>ORDER BY</a:t>
            </a:r>
            <a:r>
              <a:rPr lang="en-US" sz="1100">
                <a:solidFill>
                  <a:srgbClr val="E8EEF7"/>
                </a:solidFill>
                <a:latin typeface="Consolas"/>
                <a:ea typeface="Consolas"/>
                <a:cs typeface="Consolas"/>
              </a:rPr>
              <a:t> p.year DESC;</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Co-author network — who has Anna written WITH?</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 Stavridou'</a:t>
            </a:r>
            <a:r>
              <a:rPr lang="en-US" sz="1100">
                <a:solidFill>
                  <a:srgbClr val="E8EEF7"/>
                </a:solidFill>
                <a:latin typeface="Consolas"/>
                <a:ea typeface="Consolas"/>
                <a:cs typeface="Consolas"/>
              </a:rPr>
              <a:t>})-[:WROTE]-&gt;(p)&lt;-[:WROTE]-(co:Author)</a:t>
            </a:r>
            <a:endParaRPr lang="en-US" sz="1100"/>
          </a:p>
          <a:p>
            <a:pPr marL="0" indent="0">
              <a:buNone/>
              <a:defRPr/>
            </a:pPr>
            <a:r>
              <a:rPr lang="en-US" sz="1100" b="1">
                <a:solidFill>
                  <a:srgbClr val="8AB4F8"/>
                </a:solidFill>
                <a:latin typeface="Consolas"/>
                <a:ea typeface="Consolas"/>
                <a:cs typeface="Consolas"/>
              </a:rPr>
              <a:t>WHERE</a:t>
            </a:r>
            <a:r>
              <a:rPr lang="en-US" sz="1100">
                <a:solidFill>
                  <a:srgbClr val="E8EEF7"/>
                </a:solidFill>
                <a:latin typeface="Consolas"/>
                <a:ea typeface="Consolas"/>
                <a:cs typeface="Consolas"/>
              </a:rPr>
              <a:t> co &lt;&gt; a</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co.name, count(p) AS shared_papers </a:t>
            </a:r>
            <a:r>
              <a:rPr lang="en-US" sz="1100" b="1">
                <a:solidFill>
                  <a:srgbClr val="8AB4F8"/>
                </a:solidFill>
                <a:latin typeface="Consolas"/>
                <a:ea typeface="Consolas"/>
                <a:cs typeface="Consolas"/>
              </a:rPr>
              <a:t>ORDER BY</a:t>
            </a:r>
            <a:r>
              <a:rPr lang="en-US" sz="1100">
                <a:solidFill>
                  <a:srgbClr val="E8EEF7"/>
                </a:solidFill>
                <a:latin typeface="Consolas"/>
                <a:ea typeface="Consolas"/>
                <a:cs typeface="Consolas"/>
              </a:rPr>
              <a:t> shared_papers DESC;</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Aggregate: papers per topic</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(p:Paper)-[:ABOUT]-&gt;(t:Topic)</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t.name AS topic, count(p) AS papers, collect(p.title) AS titles;</a:t>
            </a:r>
            <a:endParaRPr lang="en-US" sz="1100"/>
          </a:p>
        </p:txBody>
      </p:sp>
      <p:sp>
        <p:nvSpPr>
          <p:cNvPr id="466576470"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bg>
      <p:bgPr shadeToTitle="0">
        <a:solidFill>
          <a:srgbClr val="1A2A52"/>
        </a:solidFill>
      </p:bgPr>
    </p:bg>
    <p:spTree>
      <p:nvGrpSpPr>
        <p:cNvPr id="1" name=""/>
        <p:cNvGrpSpPr/>
        <p:nvPr/>
      </p:nvGrpSpPr>
      <p:grpSpPr bwMode="auto">
        <a:xfrm>
          <a:off x="0" y="0"/>
          <a:ext cx="0" cy="0"/>
          <a:chOff x="0" y="0"/>
          <a:chExt cx="0" cy="0"/>
        </a:xfrm>
      </p:grpSpPr>
      <p:sp>
        <p:nvSpPr>
          <p:cNvPr id="100624848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6 — Variable-Length Paths &amp; Shortest Path</a:t>
            </a:r>
            <a:endParaRPr lang="en-US" sz="3000"/>
          </a:p>
        </p:txBody>
      </p:sp>
      <p:sp>
        <p:nvSpPr>
          <p:cNvPr id="1892227171"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787312500"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27073988"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Citation chain — every paper reachable from p1 in 1 to 3 hops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})&lt;-[:CITES*1..3]-(citing:Paper)</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DISTINCT citing.title, citing.year;</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Shortest co-authorship path between two researchers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 Stavridou'</a:t>
            </a:r>
            <a:r>
              <a:rPr lang="en-US" sz="1100">
                <a:solidFill>
                  <a:srgbClr val="E8EEF7"/>
                </a:solidFill>
                <a:latin typeface="Consolas"/>
                <a:ea typeface="Consolas"/>
                <a:cs typeface="Consolas"/>
              </a:rPr>
              <a:t>}), (b:Author {name:</a:t>
            </a:r>
            <a:r>
              <a:rPr lang="en-US" sz="1100">
                <a:solidFill>
                  <a:srgbClr val="7DDFC1"/>
                </a:solidFill>
                <a:latin typeface="Consolas"/>
                <a:ea typeface="Consolas"/>
                <a:cs typeface="Consolas"/>
              </a:rPr>
              <a:t>'Nikos Georgiou'</a:t>
            </a:r>
            <a:r>
              <a:rPr lang="en-US" sz="1100">
                <a:solidFill>
                  <a:srgbClr val="E8EEF7"/>
                </a:solidFill>
                <a:latin typeface="Consolas"/>
                <a:ea typeface="Consolas"/>
                <a:cs typeface="Consolas"/>
              </a:rPr>
              <a:t>}),</a:t>
            </a:r>
            <a:endParaRPr lang="en-US" sz="1100"/>
          </a:p>
          <a:p>
            <a:pPr marL="0" indent="0">
              <a:buNone/>
              <a:defRPr/>
            </a:pPr>
            <a:r>
              <a:rPr lang="en-US" sz="1100">
                <a:solidFill>
                  <a:srgbClr val="E8EEF7"/>
                </a:solidFill>
                <a:latin typeface="Consolas"/>
                <a:ea typeface="Consolas"/>
                <a:cs typeface="Consolas"/>
              </a:rPr>
              <a:t>      path = shortestPath( (a)-[:WROTE*..6]-(b) )</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[n in nodes(path) | coalesce(n.name, n.title)] AS chain,</a:t>
            </a:r>
            <a:endParaRPr lang="en-US" sz="1100"/>
          </a:p>
          <a:p>
            <a:pPr marL="0" indent="0">
              <a:buNone/>
              <a:defRPr/>
            </a:pPr>
            <a:r>
              <a:rPr lang="en-US" sz="1100">
                <a:solidFill>
                  <a:srgbClr val="E8EEF7"/>
                </a:solidFill>
                <a:latin typeface="Consolas"/>
                <a:ea typeface="Consolas"/>
                <a:cs typeface="Consolas"/>
              </a:rPr>
              <a:t>       length(path) AS hops;</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Optional pattern — papers with NO topic assigned (data quality check)</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WHERE NOT</a:t>
            </a:r>
            <a:r>
              <a:rPr lang="en-US" sz="1100">
                <a:solidFill>
                  <a:srgbClr val="E8EEF7"/>
                </a:solidFill>
                <a:latin typeface="Consolas"/>
                <a:ea typeface="Consolas"/>
                <a:cs typeface="Consolas"/>
              </a:rPr>
              <a:t> (p)-[:ABOUT]-&gt;(:Topic)</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p.title;</a:t>
            </a:r>
            <a:endParaRPr lang="en-US" sz="1100"/>
          </a:p>
        </p:txBody>
      </p:sp>
      <p:sp>
        <p:nvSpPr>
          <p:cNvPr id="1242275936"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4">
    <p:bg>
      <p:bgPr shadeToTitle="0">
        <a:solidFill>
          <a:srgbClr val="1A2A52"/>
        </a:solidFill>
      </p:bgPr>
    </p:bg>
    <p:spTree>
      <p:nvGrpSpPr>
        <p:cNvPr id="1" name=""/>
        <p:cNvGrpSpPr/>
        <p:nvPr/>
      </p:nvGrpSpPr>
      <p:grpSpPr bwMode="auto">
        <a:xfrm>
          <a:off x="0" y="0"/>
          <a:ext cx="0" cy="0"/>
          <a:chOff x="0" y="0"/>
          <a:chExt cx="0" cy="0"/>
        </a:xfrm>
      </p:grpSpPr>
      <p:sp>
        <p:nvSpPr>
          <p:cNvPr id="205261618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7 — Indexes, Constraints &amp; Performance</a:t>
            </a:r>
            <a:endParaRPr lang="en-US" sz="3000"/>
          </a:p>
        </p:txBody>
      </p:sp>
      <p:sp>
        <p:nvSpPr>
          <p:cNvPr id="1362395581"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268069043"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960365865"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Make Author.orcid the unique identifier (creates a backing index)</a:t>
            </a:r>
            <a:endParaRPr lang="en-US" sz="1100"/>
          </a:p>
          <a:p>
            <a:pPr marL="0" indent="0">
              <a:buNone/>
              <a:defRPr/>
            </a:pPr>
            <a:r>
              <a:rPr lang="en-US" sz="1100" b="1">
                <a:solidFill>
                  <a:srgbClr val="8AB4F8"/>
                </a:solidFill>
                <a:latin typeface="Consolas"/>
                <a:ea typeface="Consolas"/>
                <a:cs typeface="Consolas"/>
              </a:rPr>
              <a:t>CREATE CONSTRAINT</a:t>
            </a:r>
            <a:r>
              <a:rPr lang="en-US" sz="1100">
                <a:solidFill>
                  <a:srgbClr val="E8EEF7"/>
                </a:solidFill>
                <a:latin typeface="Consolas"/>
                <a:ea typeface="Consolas"/>
                <a:cs typeface="Consolas"/>
              </a:rPr>
              <a:t> author_orcid_unique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(a:Author) </a:t>
            </a:r>
            <a:r>
              <a:rPr lang="en-US" sz="1100" b="1">
                <a:solidFill>
                  <a:srgbClr val="8AB4F8"/>
                </a:solidFill>
                <a:latin typeface="Consolas"/>
                <a:ea typeface="Consolas"/>
                <a:cs typeface="Consolas"/>
              </a:rPr>
              <a:t>REQUIRE</a:t>
            </a:r>
            <a:r>
              <a:rPr lang="en-US" sz="1100">
                <a:solidFill>
                  <a:srgbClr val="E8EEF7"/>
                </a:solidFill>
                <a:latin typeface="Consolas"/>
                <a:ea typeface="Consolas"/>
                <a:cs typeface="Consolas"/>
              </a:rPr>
              <a:t> a.orcid IS UNIQUE;</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Make Paper.doi unique</a:t>
            </a:r>
            <a:endParaRPr lang="en-US" sz="1100"/>
          </a:p>
          <a:p>
            <a:pPr marL="0" indent="0">
              <a:buNone/>
              <a:defRPr/>
            </a:pPr>
            <a:r>
              <a:rPr lang="en-US" sz="1100" b="1">
                <a:solidFill>
                  <a:srgbClr val="8AB4F8"/>
                </a:solidFill>
                <a:latin typeface="Consolas"/>
                <a:ea typeface="Consolas"/>
                <a:cs typeface="Consolas"/>
              </a:rPr>
              <a:t>CREATE CONSTRAINT</a:t>
            </a:r>
            <a:r>
              <a:rPr lang="en-US" sz="1100">
                <a:solidFill>
                  <a:srgbClr val="E8EEF7"/>
                </a:solidFill>
                <a:latin typeface="Consolas"/>
                <a:ea typeface="Consolas"/>
                <a:cs typeface="Consolas"/>
              </a:rPr>
              <a:t> paper_doi_unique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REQUIRE</a:t>
            </a:r>
            <a:r>
              <a:rPr lang="en-US" sz="1100">
                <a:solidFill>
                  <a:srgbClr val="E8EEF7"/>
                </a:solidFill>
                <a:latin typeface="Consolas"/>
                <a:ea typeface="Consolas"/>
                <a:cs typeface="Consolas"/>
              </a:rPr>
              <a:t> p.doi IS UNIQUE;</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Range index for fast year-range filters</a:t>
            </a:r>
            <a:endParaRPr lang="en-US" sz="1100"/>
          </a:p>
          <a:p>
            <a:pPr marL="0" indent="0">
              <a:buNone/>
              <a:defRPr/>
            </a:pPr>
            <a:r>
              <a:rPr lang="en-US" sz="1100" b="1">
                <a:solidFill>
                  <a:srgbClr val="8AB4F8"/>
                </a:solidFill>
                <a:latin typeface="Consolas"/>
                <a:ea typeface="Consolas"/>
                <a:cs typeface="Consolas"/>
              </a:rPr>
              <a:t>CREATE INDEX</a:t>
            </a:r>
            <a:r>
              <a:rPr lang="en-US" sz="1100">
                <a:solidFill>
                  <a:srgbClr val="E8EEF7"/>
                </a:solidFill>
                <a:latin typeface="Consolas"/>
                <a:ea typeface="Consolas"/>
                <a:cs typeface="Consolas"/>
              </a:rPr>
              <a:t> paper_year_idx </a:t>
            </a:r>
            <a:r>
              <a:rPr lang="en-US" sz="1100" b="1">
                <a:solidFill>
                  <a:srgbClr val="8AB4F8"/>
                </a:solidFill>
                <a:latin typeface="Consolas"/>
                <a:ea typeface="Consolas"/>
                <a:cs typeface="Consolas"/>
              </a:rPr>
              <a:t>FOR</a:t>
            </a:r>
            <a:r>
              <a:rPr lang="en-US" sz="1100">
                <a:solidFill>
                  <a:srgbClr val="E8EEF7"/>
                </a:solidFill>
                <a:latin typeface="Consolas"/>
                <a:ea typeface="Consolas"/>
                <a:cs typeface="Consolas"/>
              </a:rPr>
              <a:t> (p:Paper) </a:t>
            </a:r>
            <a:r>
              <a:rPr lang="en-US" sz="1100" b="1">
                <a:solidFill>
                  <a:srgbClr val="8AB4F8"/>
                </a:solidFill>
                <a:latin typeface="Consolas"/>
                <a:ea typeface="Consolas"/>
                <a:cs typeface="Consolas"/>
              </a:rPr>
              <a:t>ON</a:t>
            </a:r>
            <a:r>
              <a:rPr lang="en-US" sz="1100">
                <a:solidFill>
                  <a:srgbClr val="E8EEF7"/>
                </a:solidFill>
                <a:latin typeface="Consolas"/>
                <a:ea typeface="Consolas"/>
                <a:cs typeface="Consolas"/>
              </a:rPr>
              <a:t> (p.year);</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Inspect the catalog</a:t>
            </a:r>
            <a:endParaRPr lang="en-US" sz="1100"/>
          </a:p>
          <a:p>
            <a:pPr marL="0" indent="0">
              <a:buNone/>
              <a:defRPr/>
            </a:pPr>
            <a:r>
              <a:rPr lang="en-US" sz="1100" b="1">
                <a:solidFill>
                  <a:srgbClr val="8AB4F8"/>
                </a:solidFill>
                <a:latin typeface="Consolas"/>
                <a:ea typeface="Consolas"/>
                <a:cs typeface="Consolas"/>
              </a:rPr>
              <a:t>SHOW</a:t>
            </a:r>
            <a:r>
              <a:rPr lang="en-US" sz="1100">
                <a:solidFill>
                  <a:srgbClr val="E8EEF7"/>
                </a:solidFill>
                <a:latin typeface="Consolas"/>
                <a:ea typeface="Consolas"/>
                <a:cs typeface="Consolas"/>
              </a:rPr>
              <a:t> CONSTRAINTS;</a:t>
            </a:r>
            <a:endParaRPr lang="en-US" sz="1100"/>
          </a:p>
          <a:p>
            <a:pPr marL="0" indent="0">
              <a:buNone/>
              <a:defRPr/>
            </a:pPr>
            <a:r>
              <a:rPr lang="en-US" sz="1100" b="1">
                <a:solidFill>
                  <a:srgbClr val="8AB4F8"/>
                </a:solidFill>
                <a:latin typeface="Consolas"/>
                <a:ea typeface="Consolas"/>
                <a:cs typeface="Consolas"/>
              </a:rPr>
              <a:t>SHOW</a:t>
            </a:r>
            <a:r>
              <a:rPr lang="en-US" sz="1100">
                <a:solidFill>
                  <a:srgbClr val="E8EEF7"/>
                </a:solidFill>
                <a:latin typeface="Consolas"/>
                <a:ea typeface="Consolas"/>
                <a:cs typeface="Consolas"/>
              </a:rPr>
              <a:t> INDEXES;</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Inspect a query plan — look for NodeIndexSeek (good) vs AllNodesScan (bad)</a:t>
            </a:r>
            <a:endParaRPr lang="en-US" sz="1100"/>
          </a:p>
          <a:p>
            <a:pPr marL="0" indent="0">
              <a:buNone/>
              <a:defRPr/>
            </a:pPr>
            <a:r>
              <a:rPr lang="en-US" sz="1100" b="1">
                <a:solidFill>
                  <a:srgbClr val="8AB4F8"/>
                </a:solidFill>
                <a:latin typeface="Consolas"/>
                <a:ea typeface="Consolas"/>
                <a:cs typeface="Consolas"/>
              </a:rPr>
              <a:t>EXPLAIN</a:t>
            </a:r>
            <a:r>
              <a:rPr lang="en-US" sz="1100">
                <a:solidFill>
                  <a:srgbClr val="E8EEF7"/>
                </a:solidFill>
                <a:latin typeface="Consolas"/>
                <a:ea typeface="Consolas"/>
                <a:cs typeface="Consolas"/>
              </a:rPr>
              <a:t> MATCH (p:Paper) WHERE p.year &gt;= 2023 RETURN p.title;</a:t>
            </a:r>
            <a:endParaRPr lang="en-US" sz="1100"/>
          </a:p>
        </p:txBody>
      </p:sp>
      <p:sp>
        <p:nvSpPr>
          <p:cNvPr id="2096112712"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5">
    <p:bg>
      <p:bgPr shadeToTitle="0">
        <a:solidFill>
          <a:srgbClr val="1A2A52"/>
        </a:solidFill>
      </p:bgPr>
    </p:bg>
    <p:spTree>
      <p:nvGrpSpPr>
        <p:cNvPr id="1" name=""/>
        <p:cNvGrpSpPr/>
        <p:nvPr/>
      </p:nvGrpSpPr>
      <p:grpSpPr bwMode="auto">
        <a:xfrm>
          <a:off x="0" y="0"/>
          <a:ext cx="0" cy="0"/>
          <a:chOff x="0" y="0"/>
          <a:chExt cx="0" cy="0"/>
        </a:xfrm>
      </p:grpSpPr>
      <p:sp>
        <p:nvSpPr>
          <p:cNvPr id="1501378575"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8 — Graph Data Science (PageRank + Louvain)</a:t>
            </a:r>
            <a:endParaRPr lang="en-US" sz="3000"/>
          </a:p>
        </p:txBody>
      </p:sp>
      <p:sp>
        <p:nvSpPr>
          <p:cNvPr id="307166235"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998679567"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2088821613"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Project an undirected co-authorship graph in memory</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(a:Author)-[:WROTE]-&gt;(p:Paper)&lt;-[:WROTE]-(b:Author)</a:t>
            </a:r>
            <a:endParaRPr lang="en-US" sz="1100"/>
          </a:p>
          <a:p>
            <a:pPr marL="0" indent="0">
              <a:buNone/>
              <a:defRPr/>
            </a:pPr>
            <a:r>
              <a:rPr lang="en-US" sz="1100" b="1">
                <a:solidFill>
                  <a:srgbClr val="8AB4F8"/>
                </a:solidFill>
                <a:latin typeface="Consolas"/>
                <a:ea typeface="Consolas"/>
                <a:cs typeface="Consolas"/>
              </a:rPr>
              <a:t>WHERE</a:t>
            </a:r>
            <a:r>
              <a:rPr lang="en-US" sz="1100">
                <a:solidFill>
                  <a:srgbClr val="E8EEF7"/>
                </a:solidFill>
                <a:latin typeface="Consolas"/>
                <a:ea typeface="Consolas"/>
                <a:cs typeface="Consolas"/>
              </a:rPr>
              <a:t> a &lt;&gt; b</a:t>
            </a:r>
            <a:endParaRPr lang="en-US" sz="1100"/>
          </a:p>
          <a:p>
            <a:pPr marL="0" indent="0">
              <a:buNone/>
              <a:defRPr/>
            </a:pPr>
            <a:r>
              <a:rPr lang="en-US" sz="1100" b="1">
                <a:solidFill>
                  <a:srgbClr val="8AB4F8"/>
                </a:solidFill>
                <a:latin typeface="Consolas"/>
                <a:ea typeface="Consolas"/>
                <a:cs typeface="Consolas"/>
              </a:rPr>
              <a:t>WITH</a:t>
            </a:r>
            <a:r>
              <a:rPr lang="en-US" sz="1100">
                <a:solidFill>
                  <a:srgbClr val="E8EEF7"/>
                </a:solidFill>
                <a:latin typeface="Consolas"/>
                <a:ea typeface="Consolas"/>
                <a:cs typeface="Consolas"/>
              </a:rPr>
              <a:t> gds.graph.project(</a:t>
            </a:r>
            <a:r>
              <a:rPr lang="en-US" sz="1100">
                <a:solidFill>
                  <a:srgbClr val="7DDFC1"/>
                </a:solidFill>
                <a:latin typeface="Consolas"/>
                <a:ea typeface="Consolas"/>
                <a:cs typeface="Consolas"/>
              </a:rPr>
              <a:t>'authorNet'</a:t>
            </a:r>
            <a:r>
              <a:rPr lang="en-US" sz="1100">
                <a:solidFill>
                  <a:srgbClr val="E8EEF7"/>
                </a:solidFill>
                <a:latin typeface="Consolas"/>
                <a:ea typeface="Consolas"/>
                <a:cs typeface="Consolas"/>
              </a:rPr>
              <a:t>, a, b) AS g</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g.graphName, g.nodeCount, g.relationshipCount;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PageRank — most influential authors in the network</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gds.pageRank.stream(</a:t>
            </a:r>
            <a:r>
              <a:rPr lang="en-US" sz="1100">
                <a:solidFill>
                  <a:srgbClr val="7DDFC1"/>
                </a:solidFill>
                <a:latin typeface="Consolas"/>
                <a:ea typeface="Consolas"/>
                <a:cs typeface="Consolas"/>
              </a:rPr>
              <a:t>'authorNet'</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YIELD</a:t>
            </a:r>
            <a:r>
              <a:rPr lang="en-US" sz="1100">
                <a:solidFill>
                  <a:srgbClr val="E8EEF7"/>
                </a:solidFill>
                <a:latin typeface="Consolas"/>
                <a:ea typeface="Consolas"/>
                <a:cs typeface="Consolas"/>
              </a:rPr>
              <a:t> nodeId, score</a:t>
            </a:r>
            <a:endParaRPr lang="en-US" sz="1100"/>
          </a:p>
          <a:p>
            <a:pPr marL="0" indent="0">
              <a:buNone/>
              <a:defRPr/>
            </a:pP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gds.util.asNode(nodeId).name AS author, score </a:t>
            </a:r>
            <a:r>
              <a:rPr lang="en-US" sz="1100" b="1">
                <a:solidFill>
                  <a:srgbClr val="8AB4F8"/>
                </a:solidFill>
                <a:latin typeface="Consolas"/>
                <a:ea typeface="Consolas"/>
                <a:cs typeface="Consolas"/>
              </a:rPr>
              <a:t>ORDER BY</a:t>
            </a:r>
            <a:r>
              <a:rPr lang="en-US" sz="1100">
                <a:solidFill>
                  <a:srgbClr val="E8EEF7"/>
                </a:solidFill>
                <a:latin typeface="Consolas"/>
                <a:ea typeface="Consolas"/>
                <a:cs typeface="Consolas"/>
              </a:rPr>
              <a:t> score DESC;</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Louvain communities — write a 'community' property back on each node</a:t>
            </a:r>
            <a:endParaRPr lang="en-US" sz="1100"/>
          </a:p>
          <a:p>
            <a:pPr marL="0" indent="0">
              <a:buNone/>
              <a:defRPr/>
            </a:pPr>
            <a:r>
              <a:rPr lang="en-US" sz="1100" b="1">
                <a:solidFill>
                  <a:srgbClr val="8AB4F8"/>
                </a:solidFill>
                <a:latin typeface="Consolas"/>
                <a:ea typeface="Consolas"/>
                <a:cs typeface="Consolas"/>
              </a:rPr>
              <a:t>CALL</a:t>
            </a:r>
            <a:r>
              <a:rPr lang="en-US" sz="1100">
                <a:solidFill>
                  <a:srgbClr val="E8EEF7"/>
                </a:solidFill>
                <a:latin typeface="Consolas"/>
                <a:ea typeface="Consolas"/>
                <a:cs typeface="Consolas"/>
              </a:rPr>
              <a:t> gds.louvain.write(</a:t>
            </a:r>
            <a:r>
              <a:rPr lang="en-US" sz="1100">
                <a:solidFill>
                  <a:srgbClr val="7DDFC1"/>
                </a:solidFill>
                <a:latin typeface="Consolas"/>
                <a:ea typeface="Consolas"/>
                <a:cs typeface="Consolas"/>
              </a:rPr>
              <a:t>'authorNet'</a:t>
            </a:r>
            <a:r>
              <a:rPr lang="en-US" sz="1100">
                <a:solidFill>
                  <a:srgbClr val="E8EEF7"/>
                </a:solidFill>
                <a:latin typeface="Consolas"/>
                <a:ea typeface="Consolas"/>
                <a:cs typeface="Consolas"/>
              </a:rPr>
              <a:t>, { writeProperty: </a:t>
            </a:r>
            <a:r>
              <a:rPr lang="en-US" sz="1100">
                <a:solidFill>
                  <a:srgbClr val="7DDFC1"/>
                </a:solidFill>
                <a:latin typeface="Consolas"/>
                <a:ea typeface="Consolas"/>
                <a:cs typeface="Consolas"/>
              </a:rPr>
              <a:t>'community'</a:t>
            </a:r>
            <a:r>
              <a:rPr lang="en-US" sz="1100">
                <a:solidFill>
                  <a:srgbClr val="E8EEF7"/>
                </a:solidFill>
                <a:latin typeface="Consolas"/>
                <a:ea typeface="Consolas"/>
                <a:cs typeface="Consolas"/>
              </a:rPr>
              <a:t> })</a:t>
            </a:r>
            <a:endParaRPr lang="en-US" sz="1100"/>
          </a:p>
          <a:p>
            <a:pPr marL="0" indent="0">
              <a:buNone/>
              <a:defRPr/>
            </a:pPr>
            <a:r>
              <a:rPr lang="en-US" sz="1100" b="1">
                <a:solidFill>
                  <a:srgbClr val="8AB4F8"/>
                </a:solidFill>
                <a:latin typeface="Consolas"/>
                <a:ea typeface="Consolas"/>
                <a:cs typeface="Consolas"/>
              </a:rPr>
              <a:t>YIELD</a:t>
            </a:r>
            <a:r>
              <a:rPr lang="en-US" sz="1100">
                <a:solidFill>
                  <a:srgbClr val="E8EEF7"/>
                </a:solidFill>
                <a:latin typeface="Consolas"/>
                <a:ea typeface="Consolas"/>
                <a:cs typeface="Consolas"/>
              </a:rPr>
              <a:t> communityCount, modularity;</a:t>
            </a:r>
            <a:endParaRPr lang="en-US" sz="1100"/>
          </a:p>
        </p:txBody>
      </p:sp>
      <p:sp>
        <p:nvSpPr>
          <p:cNvPr id="684217953"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6">
    <p:bg>
      <p:bgPr shadeToTitle="0">
        <a:solidFill>
          <a:srgbClr val="1A2A52"/>
        </a:solidFill>
      </p:bgPr>
    </p:bg>
    <p:spTree>
      <p:nvGrpSpPr>
        <p:cNvPr id="1" name=""/>
        <p:cNvGrpSpPr/>
        <p:nvPr/>
      </p:nvGrpSpPr>
      <p:grpSpPr bwMode="auto">
        <a:xfrm>
          <a:off x="0" y="0"/>
          <a:ext cx="0" cy="0"/>
          <a:chOff x="0" y="0"/>
          <a:chExt cx="0" cy="0"/>
        </a:xfrm>
      </p:grpSpPr>
      <p:sp>
        <p:nvSpPr>
          <p:cNvPr id="1127114624"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9 — Update, MERGE &amp; Safe Delete</a:t>
            </a:r>
            <a:endParaRPr lang="en-US" sz="3000"/>
          </a:p>
        </p:txBody>
      </p:sp>
      <p:sp>
        <p:nvSpPr>
          <p:cNvPr id="1483398135"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618644697"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037672537"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Update a property on a node</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'Anna Stavridou'</a:t>
            </a:r>
            <a:r>
              <a:rPr lang="en-US" sz="1100">
                <a:solidFill>
                  <a:srgbClr val="E8EEF7"/>
                </a:solidFill>
                <a:latin typeface="Consolas"/>
                <a:ea typeface="Consolas"/>
                <a:cs typeface="Consolas"/>
              </a:rPr>
              <a:t>})</a:t>
            </a:r>
            <a:endParaRPr lang="en-US" sz="1100"/>
          </a:p>
          <a:p>
            <a:pPr marL="0" indent="0">
              <a:buNone/>
              <a:defRPr/>
            </a:pPr>
            <a:r>
              <a:rPr lang="en-US" sz="1100" b="1">
                <a:solidFill>
                  <a:srgbClr val="8AB4F8"/>
                </a:solidFill>
                <a:latin typeface="Consolas"/>
                <a:ea typeface="Consolas"/>
                <a:cs typeface="Consolas"/>
              </a:rPr>
              <a:t>SET</a:t>
            </a:r>
            <a:r>
              <a:rPr lang="en-US" sz="1100">
                <a:solidFill>
                  <a:srgbClr val="E8EEF7"/>
                </a:solidFill>
                <a:latin typeface="Consolas"/>
                <a:ea typeface="Consolas"/>
                <a:cs typeface="Consolas"/>
              </a:rPr>
              <a:t> a.affiliation = </a:t>
            </a:r>
            <a:r>
              <a:rPr lang="en-US" sz="1100">
                <a:solidFill>
                  <a:srgbClr val="7DDFC1"/>
                </a:solidFill>
                <a:latin typeface="Consolas"/>
                <a:ea typeface="Consolas"/>
                <a:cs typeface="Consolas"/>
              </a:rPr>
              <a:t>'University of Thessaly'</a:t>
            </a:r>
            <a:r>
              <a:rPr lang="en-US" sz="1100">
                <a:solidFill>
                  <a:srgbClr val="E8EEF7"/>
                </a:solidFill>
                <a:latin typeface="Consolas"/>
                <a:ea typeface="Consolas"/>
                <a:cs typeface="Consolas"/>
              </a:rPr>
              <a: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Idempotent insert: MERGE creates only if not present</a:t>
            </a:r>
            <a:endParaRPr lang="en-US" sz="1100"/>
          </a:p>
          <a:p>
            <a:pPr marL="0" indent="0">
              <a:buNone/>
              <a:defRPr/>
            </a:pPr>
            <a:r>
              <a:rPr lang="en-US" sz="1100" b="1">
                <a:solidFill>
                  <a:srgbClr val="8AB4F8"/>
                </a:solidFill>
                <a:latin typeface="Consolas"/>
                <a:ea typeface="Consolas"/>
                <a:cs typeface="Consolas"/>
              </a:rPr>
              <a:t>MERGE</a:t>
            </a:r>
            <a:r>
              <a:rPr lang="en-US" sz="1100">
                <a:solidFill>
                  <a:srgbClr val="E8EEF7"/>
                </a:solidFill>
                <a:latin typeface="Consolas"/>
                <a:ea typeface="Consolas"/>
                <a:cs typeface="Consolas"/>
              </a:rPr>
              <a:t> (t:Topic { name: </a:t>
            </a:r>
            <a:r>
              <a:rPr lang="en-US" sz="1100">
                <a:solidFill>
                  <a:srgbClr val="7DDFC1"/>
                </a:solidFill>
                <a:latin typeface="Consolas"/>
                <a:ea typeface="Consolas"/>
                <a:cs typeface="Consolas"/>
              </a:rPr>
              <a:t>'Embedded Systems'</a:t>
            </a:r>
            <a:r>
              <a:rPr lang="en-US" sz="1100">
                <a:solidFill>
                  <a:srgbClr val="E8EEF7"/>
                </a:solidFill>
                <a:latin typeface="Consolas"/>
                <a:ea typeface="Consolas"/>
                <a:cs typeface="Consolas"/>
              </a:rPr>
              <a:t> })</a:t>
            </a:r>
            <a:endParaRPr lang="en-US" sz="1100"/>
          </a:p>
          <a:p>
            <a:pPr marL="0" indent="0">
              <a:buNone/>
              <a:defRPr/>
            </a:pPr>
            <a:r>
              <a:rPr lang="en-US" sz="1100" b="1">
                <a:solidFill>
                  <a:srgbClr val="8AB4F8"/>
                </a:solidFill>
                <a:latin typeface="Consolas"/>
                <a:ea typeface="Consolas"/>
                <a:cs typeface="Consolas"/>
              </a:rPr>
              <a:t>ON CREATE SET</a:t>
            </a:r>
            <a:r>
              <a:rPr lang="en-US" sz="1100">
                <a:solidFill>
                  <a:srgbClr val="E8EEF7"/>
                </a:solidFill>
                <a:latin typeface="Consolas"/>
                <a:ea typeface="Consolas"/>
                <a:cs typeface="Consolas"/>
              </a:rPr>
              <a:t> t.created = date();</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Delete a single relationship by pattern</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(a:Author {name:</a:t>
            </a:r>
            <a:r>
              <a:rPr lang="en-US" sz="1100">
                <a:solidFill>
                  <a:srgbClr val="7DDFC1"/>
                </a:solidFill>
                <a:latin typeface="Consolas"/>
                <a:ea typeface="Consolas"/>
                <a:cs typeface="Consolas"/>
              </a:rPr>
              <a:t>'Maria Papadopoulou'</a:t>
            </a:r>
            <a:r>
              <a:rPr lang="en-US" sz="1100">
                <a:solidFill>
                  <a:srgbClr val="E8EEF7"/>
                </a:solidFill>
                <a:latin typeface="Consolas"/>
                <a:ea typeface="Consolas"/>
                <a:cs typeface="Consolas"/>
              </a:rPr>
              <a:t>})-[r:WROTE]-&gt;(p:Paper {doi:</a:t>
            </a:r>
            <a:r>
              <a:rPr lang="en-US" sz="1100">
                <a:solidFill>
                  <a:srgbClr val="7DDFC1"/>
                </a:solidFill>
                <a:latin typeface="Consolas"/>
                <a:ea typeface="Consolas"/>
                <a:cs typeface="Consolas"/>
              </a:rPr>
              <a:t>'10.1109/ABC'</a:t>
            </a:r>
            <a:r>
              <a:rPr lang="en-US" sz="1100">
                <a:solidFill>
                  <a:srgbClr val="E8EEF7"/>
                </a:solidFill>
                <a:latin typeface="Consolas"/>
                <a:ea typeface="Consolas"/>
                <a:cs typeface="Consolas"/>
              </a:rPr>
              <a:t>}) </a:t>
            </a:r>
            <a:r>
              <a:rPr lang="en-US" sz="1100" b="1">
                <a:solidFill>
                  <a:srgbClr val="8AB4F8"/>
                </a:solidFill>
                <a:latin typeface="Consolas"/>
                <a:ea typeface="Consolas"/>
                <a:cs typeface="Consolas"/>
              </a:rPr>
              <a:t>DELETE</a:t>
            </a:r>
            <a:r>
              <a:rPr lang="en-US" sz="1100">
                <a:solidFill>
                  <a:srgbClr val="E8EEF7"/>
                </a:solidFill>
                <a:latin typeface="Consolas"/>
                <a:ea typeface="Consolas"/>
                <a:cs typeface="Consolas"/>
              </a:rPr>
              <a:t> r;</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Delete a node AND all its incident edges in one statement (DETACH)</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(p:Paper {doi:</a:t>
            </a:r>
            <a:r>
              <a:rPr lang="en-US" sz="1100">
                <a:solidFill>
                  <a:srgbClr val="7DDFC1"/>
                </a:solidFill>
                <a:latin typeface="Consolas"/>
                <a:ea typeface="Consolas"/>
                <a:cs typeface="Consolas"/>
              </a:rPr>
              <a:t>'10.1109/DEF'</a:t>
            </a:r>
            <a:r>
              <a:rPr lang="en-US" sz="1100">
                <a:solidFill>
                  <a:srgbClr val="E8EEF7"/>
                </a:solidFill>
                <a:latin typeface="Consolas"/>
                <a:ea typeface="Consolas"/>
                <a:cs typeface="Consolas"/>
              </a:rPr>
              <a:t>}) </a:t>
            </a:r>
            <a:r>
              <a:rPr lang="en-US" sz="1100" b="1">
                <a:solidFill>
                  <a:srgbClr val="8AB4F8"/>
                </a:solidFill>
                <a:latin typeface="Consolas"/>
                <a:ea typeface="Consolas"/>
                <a:cs typeface="Consolas"/>
              </a:rPr>
              <a:t>DETACH DELETE</a:t>
            </a:r>
            <a:r>
              <a:rPr lang="en-US" sz="1100">
                <a:solidFill>
                  <a:srgbClr val="E8EEF7"/>
                </a:solidFill>
                <a:latin typeface="Consolas"/>
                <a:ea typeface="Consolas"/>
                <a:cs typeface="Consolas"/>
              </a:rPr>
              <a:t> p;</a:t>
            </a:r>
            <a:endParaRPr lang="en-US" sz="1100"/>
          </a:p>
        </p:txBody>
      </p:sp>
      <p:sp>
        <p:nvSpPr>
          <p:cNvPr id="882405153"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7">
    <p:bg>
      <p:bgPr shadeToTitle="0">
        <a:solidFill>
          <a:srgbClr val="1A2A52"/>
        </a:solidFill>
      </p:bgPr>
    </p:bg>
    <p:spTree>
      <p:nvGrpSpPr>
        <p:cNvPr id="1" name=""/>
        <p:cNvGrpSpPr/>
        <p:nvPr/>
      </p:nvGrpSpPr>
      <p:grpSpPr bwMode="auto">
        <a:xfrm>
          <a:off x="0" y="0"/>
          <a:ext cx="0" cy="0"/>
          <a:chOff x="0" y="0"/>
          <a:chExt cx="0" cy="0"/>
        </a:xfrm>
      </p:grpSpPr>
      <p:sp>
        <p:nvSpPr>
          <p:cNvPr id="201933482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Step 10 — Inspect &amp; Cleanup</a:t>
            </a:r>
            <a:endParaRPr lang="en-US" sz="3000"/>
          </a:p>
        </p:txBody>
      </p:sp>
      <p:sp>
        <p:nvSpPr>
          <p:cNvPr id="637371106"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348284707" name="Shape 2"/>
          <p:cNvSpPr/>
          <p:nvPr/>
        </p:nvSpPr>
        <p:spPr bwMode="auto">
          <a:xfrm>
            <a:off x="457200" y="1097280"/>
            <a:ext cx="8229600" cy="3703320"/>
          </a:xfrm>
          <a:prstGeom prst="rect">
            <a:avLst/>
          </a:prstGeom>
          <a:solidFill>
            <a:srgbClr val="0F1B3A"/>
          </a:solidFill>
          <a:ln w="12700">
            <a:solidFill>
              <a:srgbClr val="4A9FE7"/>
            </a:solidFill>
            <a:prstDash val="solid"/>
          </a:ln>
        </p:spPr>
      </p:sp>
      <p:sp>
        <p:nvSpPr>
          <p:cNvPr id="1753596521" name="Text 3"/>
          <p:cNvSpPr/>
          <p:nvPr/>
        </p:nvSpPr>
        <p:spPr bwMode="auto">
          <a:xfrm>
            <a:off x="621792" y="1207008"/>
            <a:ext cx="7936992" cy="3520440"/>
          </a:xfrm>
          <a:prstGeom prst="rect">
            <a:avLst/>
          </a:prstGeom>
          <a:noFill/>
          <a:ln/>
        </p:spPr>
        <p:txBody>
          <a:bodyPr wrap="square" lIns="0" tIns="0" rIns="0" bIns="0" rtlCol="0" anchor="t"/>
          <a:lstStyle/>
          <a:p>
            <a:pPr marL="0" indent="0">
              <a:buNone/>
              <a:defRPr/>
            </a:pPr>
            <a:r>
              <a:rPr lang="en-US" sz="1100">
                <a:solidFill>
                  <a:srgbClr val="A6B0C0"/>
                </a:solidFill>
                <a:latin typeface="Consolas"/>
                <a:ea typeface="Consolas"/>
                <a:cs typeface="Consolas"/>
              </a:rPr>
              <a:t>// From cypher-shell: count nodes &amp; edges by label</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(n) </a:t>
            </a: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labels(n) AS label, count(*) AS n;</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()-[r]-&gt;() </a:t>
            </a:r>
            <a:r>
              <a:rPr lang="en-US" sz="1100" b="1">
                <a:solidFill>
                  <a:srgbClr val="8AB4F8"/>
                </a:solidFill>
                <a:latin typeface="Consolas"/>
                <a:ea typeface="Consolas"/>
                <a:cs typeface="Consolas"/>
              </a:rPr>
              <a:t>RETURN</a:t>
            </a:r>
            <a:r>
              <a:rPr lang="en-US" sz="1100">
                <a:solidFill>
                  <a:srgbClr val="E8EEF7"/>
                </a:solidFill>
                <a:latin typeface="Consolas"/>
                <a:ea typeface="Consolas"/>
                <a:cs typeface="Consolas"/>
              </a:rPr>
              <a:t> type(r) AS rel, count(*) AS n;</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Wipe the database (all nodes and relationships)</a:t>
            </a:r>
            <a:endParaRPr lang="en-US" sz="1100"/>
          </a:p>
          <a:p>
            <a:pPr marL="0" indent="0">
              <a:buNone/>
              <a:defRPr/>
            </a:pPr>
            <a:r>
              <a:rPr lang="en-US" sz="1100" b="1">
                <a:solidFill>
                  <a:srgbClr val="8AB4F8"/>
                </a:solidFill>
                <a:latin typeface="Consolas"/>
                <a:ea typeface="Consolas"/>
                <a:cs typeface="Consolas"/>
              </a:rPr>
              <a:t>MATCH</a:t>
            </a:r>
            <a:r>
              <a:rPr lang="en-US" sz="1100">
                <a:solidFill>
                  <a:srgbClr val="E8EEF7"/>
                </a:solidFill>
                <a:latin typeface="Consolas"/>
                <a:ea typeface="Consolas"/>
                <a:cs typeface="Consolas"/>
              </a:rPr>
              <a:t> (n) </a:t>
            </a:r>
            <a:r>
              <a:rPr lang="en-US" sz="1100" b="1">
                <a:solidFill>
                  <a:srgbClr val="8AB4F8"/>
                </a:solidFill>
                <a:latin typeface="Consolas"/>
                <a:ea typeface="Consolas"/>
                <a:cs typeface="Consolas"/>
              </a:rPr>
              <a:t>DETACH DELETE</a:t>
            </a:r>
            <a:r>
              <a:rPr lang="en-US" sz="1100">
                <a:solidFill>
                  <a:srgbClr val="E8EEF7"/>
                </a:solidFill>
                <a:latin typeface="Consolas"/>
                <a:ea typeface="Consolas"/>
                <a:cs typeface="Consolas"/>
              </a:rPr>
              <a:t> n;</a:t>
            </a:r>
            <a:endParaRPr lang="en-US" sz="1100"/>
          </a:p>
          <a:p>
            <a:pPr marL="0" indent="0">
              <a:buNone/>
              <a:defRPr/>
            </a:pPr>
            <a:r>
              <a:rPr lang="en-US" sz="1100">
                <a:solidFill>
                  <a:srgbClr val="E8EEF7"/>
                </a:solidFill>
                <a:latin typeface="Consolas"/>
                <a:ea typeface="Consolas"/>
                <a:cs typeface="Consolas"/>
              </a:rPr>
              <a:t>:exit</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Stop and remove the container (back in the Linux terminal)</a:t>
            </a:r>
            <a:endParaRPr lang="en-US" sz="1100"/>
          </a:p>
          <a:p>
            <a:pPr marL="0" indent="0">
              <a:buNone/>
              <a:defRPr/>
            </a:pPr>
            <a:r>
              <a:rPr lang="en-US" sz="1100">
                <a:solidFill>
                  <a:srgbClr val="E8EEF7"/>
                </a:solidFill>
                <a:latin typeface="Consolas"/>
                <a:ea typeface="Consolas"/>
                <a:cs typeface="Consolas"/>
              </a:rPr>
              <a:t>docker stop neo4j-lab</a:t>
            </a:r>
            <a:endParaRPr lang="en-US" sz="1100"/>
          </a:p>
          <a:p>
            <a:pPr marL="0" indent="0">
              <a:buNone/>
              <a:defRPr/>
            </a:pPr>
            <a:r>
              <a:rPr lang="en-US" sz="1100">
                <a:solidFill>
                  <a:srgbClr val="E8EEF7"/>
                </a:solidFill>
                <a:latin typeface="Consolas"/>
                <a:ea typeface="Consolas"/>
                <a:cs typeface="Consolas"/>
              </a:rPr>
              <a:t>docker rm   neo4j-lab</a:t>
            </a:r>
            <a:endParaRPr lang="en-US" sz="1100"/>
          </a:p>
          <a:p>
            <a:pPr marL="0" indent="0">
              <a:buNone/>
              <a:defRPr/>
            </a:pPr>
            <a:endParaRPr lang="en-US" sz="1100"/>
          </a:p>
          <a:p>
            <a:pPr marL="0" indent="0">
              <a:buNone/>
              <a:defRPr/>
            </a:pPr>
            <a:r>
              <a:rPr lang="en-US" sz="1100">
                <a:solidFill>
                  <a:srgbClr val="A6B0C0"/>
                </a:solidFill>
                <a:latin typeface="Consolas"/>
                <a:ea typeface="Consolas"/>
                <a:cs typeface="Consolas"/>
              </a:rPr>
              <a:t># Persist data across runs by mounting a volume next time:</a:t>
            </a:r>
            <a:endParaRPr lang="en-US" sz="1100"/>
          </a:p>
          <a:p>
            <a:pPr marL="0" indent="0">
              <a:buNone/>
              <a:defRPr/>
            </a:pPr>
            <a:r>
              <a:rPr lang="en-US" sz="1100">
                <a:solidFill>
                  <a:srgbClr val="A6B0C0"/>
                </a:solidFill>
                <a:latin typeface="Consolas"/>
                <a:ea typeface="Consolas"/>
                <a:cs typeface="Consolas"/>
              </a:rPr>
              <a:t>#   docker run -d --name neo4j-lab -v $PWD/neo4j-data:/data \</a:t>
            </a:r>
            <a:endParaRPr lang="en-US" sz="1100"/>
          </a:p>
          <a:p>
            <a:pPr marL="0" indent="0">
              <a:buNone/>
              <a:defRPr/>
            </a:pPr>
            <a:r>
              <a:rPr lang="en-US" sz="1100">
                <a:solidFill>
                  <a:srgbClr val="A6B0C0"/>
                </a:solidFill>
                <a:latin typeface="Consolas"/>
                <a:ea typeface="Consolas"/>
                <a:cs typeface="Consolas"/>
              </a:rPr>
              <a:t>#     -p 7474:7474 -p 7687:7687 -e NEO4J_AUTH=neo4j/AdmPassw0rd neo4j:5.20-community</a:t>
            </a:r>
            <a:endParaRPr lang="en-US" sz="1100"/>
          </a:p>
        </p:txBody>
      </p:sp>
      <p:sp>
        <p:nvSpPr>
          <p:cNvPr id="2137199255" name="Text 4"/>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8">
    <p:bg>
      <p:bgPr shadeToTitle="0">
        <a:solidFill>
          <a:srgbClr val="1A2A52"/>
        </a:solidFill>
      </p:bgPr>
    </p:bg>
    <p:spTree>
      <p:nvGrpSpPr>
        <p:cNvPr id="1" name=""/>
        <p:cNvGrpSpPr/>
        <p:nvPr/>
      </p:nvGrpSpPr>
      <p:grpSpPr bwMode="auto">
        <a:xfrm>
          <a:off x="0" y="0"/>
          <a:ext cx="0" cy="0"/>
          <a:chOff x="0" y="0"/>
          <a:chExt cx="0" cy="0"/>
        </a:xfrm>
      </p:grpSpPr>
      <p:sp>
        <p:nvSpPr>
          <p:cNvPr id="157848287"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Common Errors &amp; Troubleshooting</a:t>
            </a:r>
            <a:endParaRPr lang="en-US" sz="3000"/>
          </a:p>
        </p:txBody>
      </p:sp>
      <p:sp>
        <p:nvSpPr>
          <p:cNvPr id="1074618984"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523121252"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200">
                <a:solidFill>
                  <a:srgbClr val="E8EEF7"/>
                </a:solidFill>
              </a:rPr>
              <a:t>ServiceUnavailable: Could not perform discovery — Neo4j not ready yet; wait 20–30 s and retry, or check docker logs</a:t>
            </a:r>
            <a:endParaRPr lang="en-US" sz="1200"/>
          </a:p>
          <a:p>
            <a:pPr marL="342900" indent="-342900">
              <a:spcAft>
                <a:spcPts val="600"/>
              </a:spcAft>
              <a:buSzPct val="100000"/>
              <a:buChar char="▶"/>
              <a:defRPr/>
            </a:pPr>
            <a:r>
              <a:rPr lang="en-US" sz="1200">
                <a:solidFill>
                  <a:srgbClr val="E8EEF7"/>
                </a:solidFill>
              </a:rPr>
              <a:t>Failed to authenticate — first run forces a password change; recreate the container with NEO4J_AUTH or use cypher-shell to update</a:t>
            </a:r>
            <a:endParaRPr lang="en-US" sz="1200"/>
          </a:p>
          <a:p>
            <a:pPr marL="342900" indent="-342900">
              <a:spcAft>
                <a:spcPts val="600"/>
              </a:spcAft>
              <a:buSzPct val="100000"/>
              <a:buChar char="▶"/>
              <a:defRPr/>
            </a:pPr>
            <a:r>
              <a:rPr lang="en-US" sz="1200">
                <a:solidFill>
                  <a:srgbClr val="E8EEF7"/>
                </a:solidFill>
              </a:rPr>
              <a:t>EagerOperator warning in PROFILE — your write query loads data into memory; restructure with WITH or split into two statements</a:t>
            </a:r>
            <a:endParaRPr lang="en-US" sz="1200"/>
          </a:p>
          <a:p>
            <a:pPr marL="342900" indent="-342900">
              <a:spcAft>
                <a:spcPts val="600"/>
              </a:spcAft>
              <a:buSzPct val="100000"/>
              <a:buChar char="▶"/>
              <a:defRPr/>
            </a:pPr>
            <a:r>
              <a:rPr lang="en-US" sz="1200">
                <a:solidFill>
                  <a:srgbClr val="E8EEF7"/>
                </a:solidFill>
              </a:rPr>
              <a:t>Cartesian product warning — you wrote two MATCH patterns without a connecting edge; add a WHERE or join via a shared variable</a:t>
            </a:r>
            <a:endParaRPr lang="en-US" sz="1200"/>
          </a:p>
          <a:p>
            <a:pPr marL="342900" indent="-342900">
              <a:spcAft>
                <a:spcPts val="600"/>
              </a:spcAft>
              <a:buSzPct val="100000"/>
              <a:buChar char="▶"/>
              <a:defRPr/>
            </a:pPr>
            <a:r>
              <a:rPr lang="en-US" sz="1200">
                <a:solidFill>
                  <a:srgbClr val="E8EEF7"/>
                </a:solidFill>
              </a:rPr>
              <a:t>Out of memory on a deep traversal — bound the path length [:REL*1..N], add a starting filter, or project a smaller GDS graph</a:t>
            </a:r>
            <a:endParaRPr lang="en-US" sz="1200"/>
          </a:p>
          <a:p>
            <a:pPr marL="342900" indent="-342900">
              <a:spcAft>
                <a:spcPts val="600"/>
              </a:spcAft>
              <a:buSzPct val="100000"/>
              <a:buChar char="▶"/>
              <a:defRPr/>
            </a:pPr>
            <a:r>
              <a:rPr lang="en-US" sz="1200">
                <a:solidFill>
                  <a:srgbClr val="E8EEF7"/>
                </a:solidFill>
              </a:rPr>
              <a:t>docker: Error response from daemon — port 7474 / 7687 already in use; remap with -p 8474:7474 -p 8687:7687</a:t>
            </a:r>
            <a:endParaRPr lang="en-US" sz="1200"/>
          </a:p>
          <a:p>
            <a:pPr marL="342900" indent="-342900">
              <a:spcAft>
                <a:spcPts val="600"/>
              </a:spcAft>
              <a:buSzPct val="100000"/>
              <a:buChar char="▶"/>
              <a:defRPr/>
            </a:pPr>
            <a:r>
              <a:rPr lang="en-US" sz="1200">
                <a:solidFill>
                  <a:srgbClr val="E8EEF7"/>
                </a:solidFill>
              </a:rPr>
              <a:t>Index not used in plan — run EXPLAIN; the plan must show NodeIndexSeek; check the property type and label match exactly</a:t>
            </a:r>
            <a:endParaRPr lang="en-US" sz="1200"/>
          </a:p>
        </p:txBody>
      </p:sp>
      <p:sp>
        <p:nvSpPr>
          <p:cNvPr id="1727944189"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48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9">
    <p:bg>
      <p:bgPr shadeToTitle="0">
        <a:solidFill>
          <a:srgbClr val="1A2A52"/>
        </a:solidFill>
      </p:bgPr>
    </p:bg>
    <p:spTree>
      <p:nvGrpSpPr>
        <p:cNvPr id="1" name=""/>
        <p:cNvGrpSpPr/>
        <p:nvPr/>
      </p:nvGrpSpPr>
      <p:grpSpPr bwMode="auto">
        <a:xfrm>
          <a:off x="0" y="0"/>
          <a:ext cx="0" cy="0"/>
          <a:chOff x="0" y="0"/>
          <a:chExt cx="0" cy="0"/>
        </a:xfrm>
      </p:grpSpPr>
      <p:sp>
        <p:nvSpPr>
          <p:cNvPr id="233328383"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54532958" name="Text 1"/>
          <p:cNvSpPr/>
          <p:nvPr/>
        </p:nvSpPr>
        <p:spPr bwMode="auto">
          <a:xfrm>
            <a:off x="822960" y="1737360"/>
            <a:ext cx="7315200" cy="868680"/>
          </a:xfrm>
          <a:prstGeom prst="rect">
            <a:avLst/>
          </a:prstGeom>
          <a:noFill/>
          <a:ln/>
        </p:spPr>
        <p:txBody>
          <a:bodyPr wrap="square" lIns="0" tIns="0" rIns="0" bIns="0" rtlCol="0" anchor="ctr"/>
          <a:lstStyle/>
          <a:p>
            <a:pPr marL="0" indent="0">
              <a:buNone/>
              <a:defRPr/>
            </a:pPr>
            <a:r>
              <a:rPr lang="en-US" sz="4800" b="1">
                <a:solidFill>
                  <a:srgbClr val="FFFFFF"/>
                </a:solidFill>
                <a:latin typeface="Calibri"/>
                <a:ea typeface="Calibri"/>
                <a:cs typeface="Calibri"/>
              </a:rPr>
              <a:t>SUMMARY</a:t>
            </a:r>
            <a:endParaRPr lang="en-US" sz="4800"/>
          </a:p>
        </p:txBody>
      </p:sp>
      <p:sp>
        <p:nvSpPr>
          <p:cNvPr id="321958411" name="Text 2"/>
          <p:cNvSpPr/>
          <p:nvPr/>
        </p:nvSpPr>
        <p:spPr bwMode="auto">
          <a:xfrm>
            <a:off x="822960" y="2606040"/>
            <a:ext cx="7315200" cy="457200"/>
          </a:xfrm>
          <a:prstGeom prst="rect">
            <a:avLst/>
          </a:prstGeom>
          <a:noFill/>
          <a:ln/>
        </p:spPr>
        <p:txBody>
          <a:bodyPr wrap="square" lIns="0" tIns="0" rIns="0" bIns="0" rtlCol="0" anchor="ctr"/>
          <a:lstStyle/>
          <a:p>
            <a:pPr marL="0" indent="0">
              <a:buNone/>
              <a:defRPr/>
            </a:pPr>
            <a:r>
              <a:rPr lang="en-US" sz="1800" i="1">
                <a:solidFill>
                  <a:srgbClr val="5BB3F0"/>
                </a:solidFill>
                <a:latin typeface="Calibri"/>
                <a:ea typeface="Calibri"/>
                <a:cs typeface="Calibri"/>
              </a:rPr>
              <a:t>Key Takeaways from Today's Lecture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0">
    <p:bg>
      <p:bgPr shadeToTitle="0">
        <a:solidFill>
          <a:srgbClr val="1A2A52"/>
        </a:solidFill>
      </p:bgPr>
    </p:bg>
    <p:spTree>
      <p:nvGrpSpPr>
        <p:cNvPr id="1" name=""/>
        <p:cNvGrpSpPr/>
        <p:nvPr/>
      </p:nvGrpSpPr>
      <p:grpSpPr bwMode="auto">
        <a:xfrm>
          <a:off x="0" y="0"/>
          <a:ext cx="0" cy="0"/>
          <a:chOff x="0" y="0"/>
          <a:chExt cx="0" cy="0"/>
        </a:xfrm>
      </p:grpSpPr>
      <p:sp>
        <p:nvSpPr>
          <p:cNvPr id="1161664486"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What We Learned Today</a:t>
            </a:r>
            <a:endParaRPr lang="en-US" sz="3000"/>
          </a:p>
        </p:txBody>
      </p:sp>
      <p:sp>
        <p:nvSpPr>
          <p:cNvPr id="331804382"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1969687320" name="Text 2"/>
          <p:cNvSpPr/>
          <p:nvPr/>
        </p:nvSpPr>
        <p:spPr bwMode="auto">
          <a:xfrm>
            <a:off x="548640" y="1143000"/>
            <a:ext cx="8046720" cy="3657600"/>
          </a:xfrm>
          <a:prstGeom prst="rect">
            <a:avLst/>
          </a:prstGeom>
          <a:noFill/>
          <a:ln/>
        </p:spPr>
        <p:txBody>
          <a:bodyPr wrap="square" lIns="0" tIns="0" rIns="0" bIns="0" rtlCol="0" anchor="t"/>
          <a:lstStyle/>
          <a:p>
            <a:pPr marL="342900" indent="-342900">
              <a:spcAft>
                <a:spcPts val="600"/>
              </a:spcAft>
              <a:buSzPct val="100000"/>
              <a:buChar char="▶"/>
              <a:defRPr/>
            </a:pPr>
            <a:r>
              <a:rPr lang="en-US" sz="1200">
                <a:solidFill>
                  <a:srgbClr val="E8EEF7"/>
                </a:solidFill>
              </a:rPr>
              <a:t>Graph databases store NODES + EDGES as first-class citizens — relationships are stored, not computed</a:t>
            </a:r>
            <a:endParaRPr lang="en-US" sz="1200"/>
          </a:p>
          <a:p>
            <a:pPr marL="342900" indent="-342900">
              <a:spcAft>
                <a:spcPts val="600"/>
              </a:spcAft>
              <a:buSzPct val="100000"/>
              <a:buChar char="▶"/>
              <a:defRPr/>
            </a:pPr>
            <a:r>
              <a:rPr lang="en-US" sz="1200">
                <a:solidFill>
                  <a:srgbClr val="E8EEF7"/>
                </a:solidFill>
              </a:rPr>
              <a:t>Two model families: Labelled Property Graphs (Neo4j, TigerGraph) and RDF triple stores (GraphDB, Stardog)</a:t>
            </a:r>
            <a:endParaRPr lang="en-US" sz="1200"/>
          </a:p>
          <a:p>
            <a:pPr marL="342900" indent="-342900">
              <a:spcAft>
                <a:spcPts val="600"/>
              </a:spcAft>
              <a:buSzPct val="100000"/>
              <a:buChar char="▶"/>
              <a:defRPr/>
            </a:pPr>
            <a:r>
              <a:rPr lang="en-US" sz="1200">
                <a:solidFill>
                  <a:srgbClr val="E8EEF7"/>
                </a:solidFill>
              </a:rPr>
              <a:t>Index-Free Adjacency keeps traversal cost O(d^k) — independent of total graph size, unlike SQL JOINs</a:t>
            </a:r>
            <a:endParaRPr lang="en-US" sz="1200"/>
          </a:p>
          <a:p>
            <a:pPr marL="342900" indent="-342900">
              <a:spcAft>
                <a:spcPts val="600"/>
              </a:spcAft>
              <a:buSzPct val="100000"/>
              <a:buChar char="▶"/>
              <a:defRPr/>
            </a:pPr>
            <a:r>
              <a:rPr lang="en-US" sz="1200">
                <a:solidFill>
                  <a:srgbClr val="E8EEF7"/>
                </a:solidFill>
              </a:rPr>
              <a:t>Cypher is the de-facto query language; standardised as ISO/IEC 39075:2024 GQL — a generational shift</a:t>
            </a:r>
            <a:endParaRPr lang="en-US" sz="1200"/>
          </a:p>
          <a:p>
            <a:pPr marL="342900" indent="-342900">
              <a:spcAft>
                <a:spcPts val="600"/>
              </a:spcAft>
              <a:buSzPct val="100000"/>
              <a:buChar char="▶"/>
              <a:defRPr/>
            </a:pPr>
            <a:r>
              <a:rPr lang="en-US" sz="1200">
                <a:solidFill>
                  <a:srgbClr val="E8EEF7"/>
                </a:solidFill>
              </a:rPr>
              <a:t>Neo4j: causal cluster, ACID, GDS library; Neptune: managed multi-model on AWS; Memgraph: streaming low-latency</a:t>
            </a:r>
            <a:endParaRPr lang="en-US" sz="1200"/>
          </a:p>
          <a:p>
            <a:pPr marL="342900" indent="-342900">
              <a:spcAft>
                <a:spcPts val="600"/>
              </a:spcAft>
              <a:buSzPct val="100000"/>
              <a:buChar char="▶"/>
              <a:defRPr/>
            </a:pPr>
            <a:r>
              <a:rPr lang="en-US" sz="1200">
                <a:solidFill>
                  <a:srgbClr val="E8EEF7"/>
                </a:solidFill>
              </a:rPr>
              <a:t>Graph algorithms: pathfinding, centrality (PageRank), community detection (Louvain), embeddings (Node2Vec)</a:t>
            </a:r>
            <a:endParaRPr lang="en-US" sz="1200"/>
          </a:p>
          <a:p>
            <a:pPr marL="342900" indent="-342900">
              <a:spcAft>
                <a:spcPts val="600"/>
              </a:spcAft>
              <a:buSzPct val="100000"/>
              <a:buChar char="▶"/>
              <a:defRPr/>
            </a:pPr>
            <a:r>
              <a:rPr lang="en-US" sz="1200">
                <a:solidFill>
                  <a:srgbClr val="E8EEF7"/>
                </a:solidFill>
              </a:rPr>
              <a:t>Industrial use: fraud rings, recommendations, knowledge graphs, IAM, network ops, GenAI retrieval (GraphRAG)</a:t>
            </a:r>
            <a:endParaRPr lang="en-US" sz="1200"/>
          </a:p>
          <a:p>
            <a:pPr marL="342900" indent="-342900">
              <a:spcAft>
                <a:spcPts val="600"/>
              </a:spcAft>
              <a:buSzPct val="100000"/>
              <a:buChar char="▶"/>
              <a:defRPr/>
            </a:pPr>
            <a:r>
              <a:rPr lang="en-US" sz="1200">
                <a:solidFill>
                  <a:srgbClr val="E8EEF7"/>
                </a:solidFill>
              </a:rPr>
              <a:t>Lab takeaways: docker run neo4j → cypher-shell → CREATE / MATCH / MERGE → GDS algorithms → DETACH DELETE</a:t>
            </a:r>
            <a:endParaRPr lang="en-US" sz="1200"/>
          </a:p>
        </p:txBody>
      </p:sp>
      <p:sp>
        <p:nvSpPr>
          <p:cNvPr id="980942525" name="Text 3"/>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50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1">
    <p:bg>
      <p:bgPr shadeToTitle="0">
        <a:solidFill>
          <a:srgbClr val="1A2A52"/>
        </a:solidFill>
      </p:bgPr>
    </p:bg>
    <p:spTree>
      <p:nvGrpSpPr>
        <p:cNvPr id="1" name=""/>
        <p:cNvGrpSpPr/>
        <p:nvPr/>
      </p:nvGrpSpPr>
      <p:grpSpPr bwMode="auto">
        <a:xfrm>
          <a:off x="0" y="0"/>
          <a:ext cx="0" cy="0"/>
          <a:chOff x="0" y="0"/>
          <a:chExt cx="0" cy="0"/>
        </a:xfrm>
      </p:grpSpPr>
      <p:sp>
        <p:nvSpPr>
          <p:cNvPr id="1395478799" name="Text 0"/>
          <p:cNvSpPr/>
          <p:nvPr/>
        </p:nvSpPr>
        <p:spPr bwMode="auto">
          <a:xfrm>
            <a:off x="457200" y="256032"/>
            <a:ext cx="8229600" cy="594360"/>
          </a:xfrm>
          <a:prstGeom prst="rect">
            <a:avLst/>
          </a:prstGeom>
          <a:noFill/>
          <a:ln/>
        </p:spPr>
        <p:txBody>
          <a:bodyPr wrap="square" lIns="0" tIns="0" rIns="0" bIns="0" rtlCol="0" anchor="ctr"/>
          <a:lstStyle/>
          <a:p>
            <a:pPr marL="0" indent="0">
              <a:buNone/>
              <a:defRPr/>
            </a:pPr>
            <a:r>
              <a:rPr lang="en-US" sz="3000" b="1">
                <a:solidFill>
                  <a:srgbClr val="FFFFFF"/>
                </a:solidFill>
                <a:latin typeface="Calibri"/>
                <a:ea typeface="Calibri"/>
                <a:cs typeface="Calibri"/>
              </a:rPr>
              <a:t>Next Steps, Further Reading &amp; Course Recap</a:t>
            </a:r>
            <a:endParaRPr lang="en-US" sz="3000"/>
          </a:p>
        </p:txBody>
      </p:sp>
      <p:sp>
        <p:nvSpPr>
          <p:cNvPr id="303475648" name="Shape 1"/>
          <p:cNvSpPr/>
          <p:nvPr/>
        </p:nvSpPr>
        <p:spPr bwMode="auto">
          <a:xfrm>
            <a:off x="457200" y="914400"/>
            <a:ext cx="914400" cy="45720"/>
          </a:xfrm>
          <a:prstGeom prst="rect">
            <a:avLst/>
          </a:prstGeom>
          <a:solidFill>
            <a:srgbClr val="4A9FE7"/>
          </a:solidFill>
          <a:ln w="12700">
            <a:solidFill>
              <a:srgbClr val="4A9FE7"/>
            </a:solidFill>
            <a:prstDash val="solid"/>
          </a:ln>
        </p:spPr>
      </p:sp>
      <p:sp>
        <p:nvSpPr>
          <p:cNvPr id="733964058" name="Shape 2"/>
          <p:cNvSpPr/>
          <p:nvPr/>
        </p:nvSpPr>
        <p:spPr bwMode="auto">
          <a:xfrm>
            <a:off x="4572000" y="1143000"/>
            <a:ext cx="22860" cy="3520440"/>
          </a:xfrm>
          <a:prstGeom prst="rect">
            <a:avLst/>
          </a:prstGeom>
          <a:solidFill>
            <a:srgbClr val="5BB3F0"/>
          </a:solidFill>
          <a:ln w="12700">
            <a:solidFill>
              <a:srgbClr val="5BB3F0"/>
            </a:solidFill>
            <a:prstDash val="solid"/>
          </a:ln>
        </p:spPr>
      </p:sp>
      <p:sp>
        <p:nvSpPr>
          <p:cNvPr id="1840958674" name="Text 3"/>
          <p:cNvSpPr/>
          <p:nvPr/>
        </p:nvSpPr>
        <p:spPr bwMode="auto">
          <a:xfrm>
            <a:off x="54864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100">
                <a:solidFill>
                  <a:srgbClr val="E8EEF7"/>
                </a:solidFill>
              </a:rPr>
              <a:t>REQUIRED READING</a:t>
            </a:r>
            <a:endParaRPr lang="en-US" sz="1100"/>
          </a:p>
          <a:p>
            <a:pPr marL="342900" indent="-342900">
              <a:spcAft>
                <a:spcPts val="600"/>
              </a:spcAft>
              <a:buSzPct val="100000"/>
              <a:buChar char="▶"/>
              <a:defRPr/>
            </a:pPr>
            <a:r>
              <a:rPr lang="en-US" sz="1100">
                <a:solidFill>
                  <a:srgbClr val="E8EEF7"/>
                </a:solidFill>
              </a:rPr>
              <a:t>Robinson, Webber &amp; Eifrem — Graph Databases (O'Reilly, 2nd ed., free PDF)</a:t>
            </a:r>
            <a:endParaRPr lang="en-US" sz="1100"/>
          </a:p>
          <a:p>
            <a:pPr marL="342900" indent="-342900">
              <a:spcAft>
                <a:spcPts val="600"/>
              </a:spcAft>
              <a:buSzPct val="100000"/>
              <a:buChar char="▶"/>
              <a:defRPr/>
            </a:pPr>
            <a:r>
              <a:rPr lang="en-US" sz="1100">
                <a:solidFill>
                  <a:srgbClr val="E8EEF7"/>
                </a:solidFill>
              </a:rPr>
              <a:t>ISO/IEC 39075:2024 — GQL Standard overview</a:t>
            </a:r>
            <a:endParaRPr lang="en-US" sz="1100"/>
          </a:p>
          <a:p>
            <a:pPr marL="342900" indent="-342900">
              <a:spcAft>
                <a:spcPts val="600"/>
              </a:spcAft>
              <a:buSzPct val="100000"/>
              <a:buChar char="▶"/>
              <a:defRPr/>
            </a:pPr>
            <a:r>
              <a:rPr lang="en-US" sz="1100">
                <a:solidFill>
                  <a:srgbClr val="E8EEF7"/>
                </a:solidFill>
              </a:rPr>
              <a:t>Neo4j Graph Data Modelling guide (neo4j.com/developer)</a:t>
            </a:r>
            <a:endParaRPr lang="en-US" sz="1100"/>
          </a:p>
          <a:p>
            <a:pPr marL="342900" indent="-342900">
              <a:spcAft>
                <a:spcPts val="600"/>
              </a:spcAft>
              <a:buSzPct val="100000"/>
              <a:buChar char="▶"/>
              <a:defRPr/>
            </a:pPr>
            <a:r>
              <a:rPr lang="en-US" sz="1100">
                <a:solidFill>
                  <a:srgbClr val="E8EEF7"/>
                </a:solidFill>
              </a:rPr>
              <a:t>ICIJ — Panama Papers technical write-up (2016)</a:t>
            </a:r>
            <a:endParaRPr lang="en-US" sz="1100"/>
          </a:p>
          <a:p>
            <a:pPr marL="342900" indent="-342900">
              <a:spcAft>
                <a:spcPts val="600"/>
              </a:spcAft>
              <a:buSzPct val="100000"/>
              <a:buChar char="▶"/>
              <a:defRPr/>
            </a:pPr>
            <a:r>
              <a:rPr lang="en-US" sz="1100">
                <a:solidFill>
                  <a:srgbClr val="E8EEF7"/>
                </a:solidFill>
              </a:rPr>
              <a:t>TOOLS TO EXPLORE</a:t>
            </a:r>
            <a:endParaRPr lang="en-US" sz="1100"/>
          </a:p>
          <a:p>
            <a:pPr marL="342900" indent="-342900">
              <a:spcAft>
                <a:spcPts val="600"/>
              </a:spcAft>
              <a:buSzPct val="100000"/>
              <a:buChar char="▶"/>
              <a:defRPr/>
            </a:pPr>
            <a:r>
              <a:rPr lang="en-US" sz="1100">
                <a:solidFill>
                  <a:srgbClr val="E8EEF7"/>
                </a:solidFill>
              </a:rPr>
              <a:t>Neo4j Aura Free  ·  Neo4j Bloom (visual)</a:t>
            </a:r>
            <a:endParaRPr lang="en-US" sz="1100"/>
          </a:p>
          <a:p>
            <a:pPr marL="342900" indent="-342900">
              <a:spcAft>
                <a:spcPts val="600"/>
              </a:spcAft>
              <a:buSzPct val="100000"/>
              <a:buChar char="▶"/>
              <a:defRPr/>
            </a:pPr>
            <a:r>
              <a:rPr lang="en-US" sz="1100">
                <a:solidFill>
                  <a:srgbClr val="E8EEF7"/>
                </a:solidFill>
              </a:rPr>
              <a:t>Memgraph Lab     ·  GraphDB Free (RDF)</a:t>
            </a:r>
            <a:endParaRPr lang="en-US" sz="1100"/>
          </a:p>
          <a:p>
            <a:pPr marL="342900" indent="-342900">
              <a:spcAft>
                <a:spcPts val="600"/>
              </a:spcAft>
              <a:buSzPct val="100000"/>
              <a:buChar char="▶"/>
              <a:defRPr/>
            </a:pPr>
            <a:r>
              <a:rPr lang="en-US" sz="1100">
                <a:solidFill>
                  <a:srgbClr val="E8EEF7"/>
                </a:solidFill>
              </a:rPr>
              <a:t>Apache TinkerPop Gremlin Console</a:t>
            </a:r>
            <a:endParaRPr lang="en-US" sz="1100"/>
          </a:p>
        </p:txBody>
      </p:sp>
      <p:sp>
        <p:nvSpPr>
          <p:cNvPr id="1039372703" name="Text 4"/>
          <p:cNvSpPr/>
          <p:nvPr/>
        </p:nvSpPr>
        <p:spPr bwMode="auto">
          <a:xfrm>
            <a:off x="4800600" y="1143000"/>
            <a:ext cx="3931920" cy="3520440"/>
          </a:xfrm>
          <a:prstGeom prst="rect">
            <a:avLst/>
          </a:prstGeom>
          <a:noFill/>
          <a:ln/>
        </p:spPr>
        <p:txBody>
          <a:bodyPr wrap="square" lIns="0" tIns="0" rIns="0" bIns="0" rtlCol="0" anchor="t"/>
          <a:lstStyle/>
          <a:p>
            <a:pPr marL="342900" indent="-342900">
              <a:spcAft>
                <a:spcPts val="600"/>
              </a:spcAft>
              <a:buSzPct val="100000"/>
              <a:buChar char="▶"/>
              <a:defRPr/>
            </a:pPr>
            <a:r>
              <a:rPr lang="en-US" sz="1100">
                <a:solidFill>
                  <a:srgbClr val="E8EEF7"/>
                </a:solidFill>
              </a:rPr>
              <a:t>COURSE RECAP — ADVANCED DATA MANAGEMENT</a:t>
            </a:r>
            <a:endParaRPr lang="en-US" sz="1100"/>
          </a:p>
          <a:p>
            <a:pPr marL="342900" indent="-342900">
              <a:spcAft>
                <a:spcPts val="600"/>
              </a:spcAft>
              <a:buSzPct val="100000"/>
              <a:buChar char="▶"/>
              <a:defRPr/>
            </a:pPr>
            <a:r>
              <a:rPr lang="en-US" sz="1100">
                <a:solidFill>
                  <a:srgbClr val="E8EEF7"/>
                </a:solidFill>
              </a:rPr>
              <a:t>Wk 1–2: Distributed systems &amp; CAP theorem</a:t>
            </a:r>
            <a:endParaRPr lang="en-US" sz="1100"/>
          </a:p>
          <a:p>
            <a:pPr marL="342900" indent="-342900">
              <a:spcAft>
                <a:spcPts val="600"/>
              </a:spcAft>
              <a:buSzPct val="100000"/>
              <a:buChar char="▶"/>
              <a:defRPr/>
            </a:pPr>
            <a:r>
              <a:rPr lang="en-US" sz="1100">
                <a:solidFill>
                  <a:srgbClr val="E8EEF7"/>
                </a:solidFill>
              </a:rPr>
              <a:t>Wk 3: Key-value stores (Redis)</a:t>
            </a:r>
            <a:endParaRPr lang="en-US" sz="1100"/>
          </a:p>
          <a:p>
            <a:pPr marL="342900" indent="-342900">
              <a:spcAft>
                <a:spcPts val="600"/>
              </a:spcAft>
              <a:buSzPct val="100000"/>
              <a:buChar char="▶"/>
              <a:defRPr/>
            </a:pPr>
            <a:r>
              <a:rPr lang="en-US" sz="1100">
                <a:solidFill>
                  <a:srgbClr val="E8EEF7"/>
                </a:solidFill>
              </a:rPr>
              <a:t>Wk 4: Document stores (MongoDB, JSONB)</a:t>
            </a:r>
            <a:endParaRPr lang="en-US" sz="1100"/>
          </a:p>
          <a:p>
            <a:pPr marL="342900" indent="-342900">
              <a:spcAft>
                <a:spcPts val="600"/>
              </a:spcAft>
              <a:buSzPct val="100000"/>
              <a:buChar char="▶"/>
              <a:defRPr/>
            </a:pPr>
            <a:r>
              <a:rPr lang="en-US" sz="1100">
                <a:solidFill>
                  <a:srgbClr val="E8EEF7"/>
                </a:solidFill>
              </a:rPr>
              <a:t>Wk 5: Containers, FastAPI, microservices</a:t>
            </a:r>
            <a:endParaRPr lang="en-US" sz="1100"/>
          </a:p>
          <a:p>
            <a:pPr marL="342900" indent="-342900">
              <a:spcAft>
                <a:spcPts val="600"/>
              </a:spcAft>
              <a:buSzPct val="100000"/>
              <a:buChar char="▶"/>
              <a:defRPr/>
            </a:pPr>
            <a:r>
              <a:rPr lang="en-US" sz="1100">
                <a:solidFill>
                  <a:srgbClr val="E8EEF7"/>
                </a:solidFill>
              </a:rPr>
              <a:t>Wk 6: Column-family stores (Cassandra)</a:t>
            </a:r>
            <a:endParaRPr lang="en-US" sz="1100"/>
          </a:p>
          <a:p>
            <a:pPr marL="342900" indent="-342900">
              <a:spcAft>
                <a:spcPts val="600"/>
              </a:spcAft>
              <a:buSzPct val="100000"/>
              <a:buChar char="▶"/>
              <a:defRPr/>
            </a:pPr>
            <a:r>
              <a:rPr lang="en-US" sz="1100">
                <a:solidFill>
                  <a:srgbClr val="E8EEF7"/>
                </a:solidFill>
              </a:rPr>
              <a:t>Wk 7: Graph databases (Neo4j, GQL)  ← TODAY</a:t>
            </a:r>
            <a:endParaRPr lang="en-US" sz="1100"/>
          </a:p>
          <a:p>
            <a:pPr marL="342900" indent="-342900">
              <a:spcAft>
                <a:spcPts val="600"/>
              </a:spcAft>
              <a:buSzPct val="100000"/>
              <a:buChar char="▶"/>
              <a:defRPr/>
            </a:pPr>
            <a:r>
              <a:rPr lang="en-US" sz="1100">
                <a:solidFill>
                  <a:srgbClr val="E8EEF7"/>
                </a:solidFill>
              </a:rPr>
              <a:t>EXAM TOPICS</a:t>
            </a:r>
            <a:endParaRPr lang="en-US" sz="1100"/>
          </a:p>
          <a:p>
            <a:pPr marL="342900" indent="-342900">
              <a:spcAft>
                <a:spcPts val="600"/>
              </a:spcAft>
              <a:buSzPct val="100000"/>
              <a:buChar char="▶"/>
              <a:defRPr/>
            </a:pPr>
            <a:r>
              <a:rPr lang="en-US" sz="1100">
                <a:solidFill>
                  <a:srgbClr val="E8EEF7"/>
                </a:solidFill>
              </a:rPr>
              <a:t>Compare LPG vs RDF; design a Cypher schema for a use case;</a:t>
            </a:r>
            <a:endParaRPr lang="en-US" sz="1100"/>
          </a:p>
          <a:p>
            <a:pPr marL="342900" indent="-342900">
              <a:spcAft>
                <a:spcPts val="600"/>
              </a:spcAft>
              <a:buSzPct val="100000"/>
              <a:buChar char="▶"/>
              <a:defRPr/>
            </a:pPr>
            <a:r>
              <a:rPr lang="en-US" sz="1100">
                <a:solidFill>
                  <a:srgbClr val="E8EEF7"/>
                </a:solidFill>
              </a:rPr>
              <a:t>explain index-free adjacency; pick the right NoSQL family per workload</a:t>
            </a:r>
            <a:endParaRPr lang="en-US" sz="1100"/>
          </a:p>
        </p:txBody>
      </p:sp>
      <p:sp>
        <p:nvSpPr>
          <p:cNvPr id="149460777" name="Text 5"/>
          <p:cNvSpPr/>
          <p:nvPr/>
        </p:nvSpPr>
        <p:spPr bwMode="auto">
          <a:xfrm>
            <a:off x="8503920" y="4823460"/>
            <a:ext cx="365760" cy="182880"/>
          </a:xfrm>
          <a:prstGeom prst="rect">
            <a:avLst/>
          </a:prstGeom>
          <a:noFill/>
          <a:ln/>
        </p:spPr>
        <p:txBody>
          <a:bodyPr wrap="square" lIns="0" tIns="0" rIns="0" bIns="0" rtlCol="0" anchor="ctr"/>
          <a:lstStyle/>
          <a:p>
            <a:pPr marL="0" indent="0" algn="r">
              <a:buNone/>
              <a:defRPr/>
            </a:pPr>
            <a:r>
              <a:rPr lang="en-US" sz="900">
                <a:solidFill>
                  <a:srgbClr val="E8EEF7"/>
                </a:solidFill>
              </a:rPr>
              <a:t>51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2">
    <p:bg>
      <p:bgPr shadeToTitle="0">
        <a:solidFill>
          <a:srgbClr val="1A2A52"/>
        </a:solidFill>
      </p:bgPr>
    </p:bg>
    <p:spTree>
      <p:nvGrpSpPr>
        <p:cNvPr id="1" name=""/>
        <p:cNvGrpSpPr/>
        <p:nvPr/>
      </p:nvGrpSpPr>
      <p:grpSpPr bwMode="auto">
        <a:xfrm>
          <a:off x="0" y="0"/>
          <a:ext cx="0" cy="0"/>
          <a:chOff x="0" y="0"/>
          <a:chExt cx="0" cy="0"/>
        </a:xfrm>
      </p:grpSpPr>
      <p:sp>
        <p:nvSpPr>
          <p:cNvPr id="186441713" name="Shape 0"/>
          <p:cNvSpPr/>
          <p:nvPr/>
        </p:nvSpPr>
        <p:spPr bwMode="auto">
          <a:xfrm>
            <a:off x="0" y="0"/>
            <a:ext cx="164592" cy="5143500"/>
          </a:xfrm>
          <a:prstGeom prst="rect">
            <a:avLst/>
          </a:prstGeom>
          <a:solidFill>
            <a:srgbClr val="5BB3F0"/>
          </a:solidFill>
          <a:ln w="12700">
            <a:solidFill>
              <a:srgbClr val="5BB3F0"/>
            </a:solidFill>
            <a:prstDash val="solid"/>
          </a:ln>
        </p:spPr>
      </p:sp>
      <p:sp>
        <p:nvSpPr>
          <p:cNvPr id="260933965" name="Shape 1"/>
          <p:cNvSpPr/>
          <p:nvPr/>
        </p:nvSpPr>
        <p:spPr bwMode="auto">
          <a:xfrm>
            <a:off x="7772400" y="0"/>
            <a:ext cx="1371600" cy="5143500"/>
          </a:xfrm>
          <a:prstGeom prst="rect">
            <a:avLst/>
          </a:prstGeom>
          <a:solidFill>
            <a:srgbClr val="243C72"/>
          </a:solidFill>
          <a:ln w="12700">
            <a:solidFill>
              <a:srgbClr val="243C72"/>
            </a:solidFill>
            <a:prstDash val="solid"/>
          </a:ln>
        </p:spPr>
      </p:sp>
      <p:sp>
        <p:nvSpPr>
          <p:cNvPr id="993800734" name="Text 2"/>
          <p:cNvSpPr/>
          <p:nvPr/>
        </p:nvSpPr>
        <p:spPr bwMode="auto">
          <a:xfrm>
            <a:off x="640080" y="1645920"/>
            <a:ext cx="7315200" cy="914400"/>
          </a:xfrm>
          <a:prstGeom prst="rect">
            <a:avLst/>
          </a:prstGeom>
          <a:noFill/>
          <a:ln/>
        </p:spPr>
        <p:txBody>
          <a:bodyPr wrap="square" lIns="0" tIns="0" rIns="0" bIns="0" rtlCol="0" anchor="ctr"/>
          <a:lstStyle/>
          <a:p>
            <a:pPr marL="0" indent="0">
              <a:buNone/>
              <a:defRPr/>
            </a:pPr>
            <a:r>
              <a:rPr lang="en-US" sz="6000" b="1">
                <a:solidFill>
                  <a:srgbClr val="FFFFFF"/>
                </a:solidFill>
                <a:latin typeface="Calibri"/>
                <a:ea typeface="Calibri"/>
                <a:cs typeface="Calibri"/>
              </a:rPr>
              <a:t>Thank You</a:t>
            </a:r>
            <a:endParaRPr lang="en-US" sz="6000"/>
          </a:p>
        </p:txBody>
      </p:sp>
      <p:sp>
        <p:nvSpPr>
          <p:cNvPr id="1782065011" name="Text 3"/>
          <p:cNvSpPr/>
          <p:nvPr/>
        </p:nvSpPr>
        <p:spPr bwMode="auto">
          <a:xfrm>
            <a:off x="640080" y="2606040"/>
            <a:ext cx="7315200" cy="457200"/>
          </a:xfrm>
          <a:prstGeom prst="rect">
            <a:avLst/>
          </a:prstGeom>
          <a:noFill/>
          <a:ln/>
        </p:spPr>
        <p:txBody>
          <a:bodyPr wrap="square" lIns="0" tIns="0" rIns="0" bIns="0" rtlCol="0" anchor="ctr"/>
          <a:lstStyle/>
          <a:p>
            <a:pPr marL="0" indent="0">
              <a:buNone/>
              <a:defRPr/>
            </a:pPr>
            <a:r>
              <a:rPr lang="en-US" sz="2200" i="1">
                <a:solidFill>
                  <a:srgbClr val="5BB3F0"/>
                </a:solidFill>
                <a:latin typeface="Calibri"/>
                <a:ea typeface="Calibri"/>
                <a:cs typeface="Calibri"/>
              </a:rPr>
              <a:t>Questions &amp; Discussion</a:t>
            </a:r>
            <a:endParaRPr lang="en-US" sz="2200"/>
          </a:p>
        </p:txBody>
      </p:sp>
      <p:sp>
        <p:nvSpPr>
          <p:cNvPr id="1461629701" name="Text 4"/>
          <p:cNvSpPr/>
          <p:nvPr/>
        </p:nvSpPr>
        <p:spPr bwMode="auto">
          <a:xfrm>
            <a:off x="640080" y="4023360"/>
            <a:ext cx="6858000" cy="640080"/>
          </a:xfrm>
          <a:prstGeom prst="rect">
            <a:avLst/>
          </a:prstGeom>
          <a:noFill/>
          <a:ln/>
        </p:spPr>
        <p:txBody>
          <a:bodyPr wrap="square" lIns="0" tIns="0" rIns="0" bIns="0" rtlCol="0" anchor="t"/>
          <a:lstStyle/>
          <a:p>
            <a:pPr marL="0" indent="0">
              <a:buNone/>
              <a:defRPr/>
            </a:pPr>
            <a:r>
              <a:rPr lang="en-US" sz="1300">
                <a:solidFill>
                  <a:srgbClr val="E8EEF7"/>
                </a:solidFill>
              </a:rPr>
              <a:t>Advanced Data Management — Week 7 (Final Chapter)</a:t>
            </a:r>
            <a:endParaRPr lang="en-US" sz="1300"/>
          </a:p>
          <a:p>
            <a:pPr marL="0" indent="0">
              <a:buNone/>
              <a:defRPr/>
            </a:pPr>
            <a:r>
              <a:rPr lang="en-US" sz="1300">
                <a:solidFill>
                  <a:srgbClr val="E8EEF7"/>
                </a:solidFill>
              </a:rPr>
              <a:t>Bachelor of Electrical &amp; Computer Engineering</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54</Slides>
  <Notes>54</Notes>
  <HiddenSlides>0</HiddenSlides>
  <MMClips>2</MMClips>
  <ScaleCrop>0</ScaleCrop>
  <HeadingPairs>
    <vt:vector size="4" baseType="variant">
      <vt:variant>
        <vt:lpstr>Theme</vt:lpstr>
      </vt:variant>
      <vt:variant>
        <vt:i4>1</vt:i4>
      </vt:variant>
      <vt:variant>
        <vt:lpstr>Slide Titles</vt:lpstr>
      </vt:variant>
      <vt:variant>
        <vt:i4>54</vt:i4>
      </vt:variant>
    </vt:vector>
  </HeadingPairs>
  <TitlesOfParts>
    <vt:vector size="5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 Management — Week 7 — Graph NoSQL Databases</dc:title>
  <dc:subject>PptxGenJS Presentation</dc:subject>
  <dc:creator>Department of Electrical &amp; Computer Engineering</dc:creator>
  <cp:lastModifiedBy/>
  <cp:revision>4</cp:revision>
  <dcterms:created xsi:type="dcterms:W3CDTF">2026-05-09T18:10:33Z</dcterms:created>
  <dcterms:modified xsi:type="dcterms:W3CDTF">2026-05-17T11:46:57Z</dcterms:modified>
</cp:coreProperties>
</file>