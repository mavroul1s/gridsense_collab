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slides/slide36.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3.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15.xml" ContentType="application/vnd.openxmlformats-officedocument.presentationml.slide+xml"/>
  <Override PartName="/ppt/slides/slide40.xml" ContentType="application/vnd.openxmlformats-officedocument.presentationml.slide+xml"/>
  <Override PartName="/ppt/slides/slide24.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s/slide2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slides/slide16.xml" ContentType="application/vnd.openxmlformats-officedocument.presentationml.slide+xml"/>
  <Override PartName="/docProps/core.xml" ContentType="application/vnd.openxmlformats-package.core-properties+xml"/>
  <Override PartName="/ppt/slides/slide25.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notesSlides/notesSlide53.xml" ContentType="application/vnd.openxmlformats-officedocument.presentationml.notesSlide+xml"/>
  <Override PartName="/ppt/slides/slide3.xml" ContentType="application/vnd.openxmlformats-officedocument.presentationml.slide+xml"/>
  <Override PartName="/ppt/notesSlides/notesSlide32.xml" ContentType="application/vnd.openxmlformats-officedocument.presentationml.notesSlide+xml"/>
  <Override PartName="/ppt/theme/theme1.xml" ContentType="application/vnd.openxmlformats-officedocument.theme+xml"/>
  <Override PartName="/ppt/slides/slide28.xml" ContentType="application/vnd.openxmlformats-officedocument.presentationml.slide+xml"/>
  <Override PartName="/ppt/notesSlides/notesSlide15.xml" ContentType="application/vnd.openxmlformats-officedocument.presentationml.notesSlide+xml"/>
  <Override PartName="/ppt/slides/slide13.xml" ContentType="application/vnd.openxmlformats-officedocument.presentationml.slide+xml"/>
  <Override PartName="/ppt/slides/slide38.xml" ContentType="application/vnd.openxmlformats-officedocument.presentationml.slide+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43.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slides/slide52.xml" ContentType="application/vnd.openxmlformats-officedocument.presentationml.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slides/slide8.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slides/slide50.xml" ContentType="application/vnd.openxmlformats-officedocument.presentationml.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slides/slide21.xml" ContentType="application/vnd.openxmlformats-officedocument.presentationml.slide+xml"/>
  <Override PartName="/ppt/presProps.xml" ContentType="application/vnd.openxmlformats-officedocument.presentationml.presProp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slides/slide22.xml" ContentType="application/vnd.openxmlformats-officedocument.presentationml.slide+xml"/>
  <Override PartName="/ppt/notesSlides/notesSlide3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5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notesMaster" Target="notesMasters/notesMaster1.xml"/><Relationship Id="rId58" Type="http://schemas.openxmlformats.org/officeDocument/2006/relationships/presProps" Target="presProps.xml" /><Relationship Id="rId59" Type="http://schemas.openxmlformats.org/officeDocument/2006/relationships/tableStyles" Target="tableStyles.xml" /><Relationship Id="rId6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3571718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049841234"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34573263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67966456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81088392"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26426612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9683041" name="Slide Image Placeholder 1"/>
          <p:cNvSpPr>
            <a:spLocks noChangeAspect="1" noGrp="1" noRot="1"/>
          </p:cNvSpPr>
          <p:nvPr>
            <p:ph type="sldImg"/>
          </p:nvPr>
        </p:nvSpPr>
        <p:spPr bwMode="auto"/>
      </p:sp>
      <p:sp>
        <p:nvSpPr>
          <p:cNvPr id="2009463632" name="Notes Placeholder 2"/>
          <p:cNvSpPr>
            <a:spLocks noGrp="1"/>
          </p:cNvSpPr>
          <p:nvPr>
            <p:ph type="body" idx="1"/>
          </p:nvPr>
        </p:nvSpPr>
        <p:spPr bwMode="auto"/>
        <p:txBody>
          <a:bodyPr/>
          <a:lstStyle/>
          <a:p>
            <a:pPr>
              <a:defRPr/>
            </a:pPr>
            <a:r>
              <a:rPr lang="en-US"/>
              <a:t>Welcome to Week 6 of Advanced Data Management.</a:t>
            </a:r>
            <a:br>
              <a:rPr lang="en-US"/>
            </a:br>
            <a:br>
              <a:rPr lang="en-US"/>
            </a:br>
            <a:r>
              <a:rPr lang="en-US"/>
              <a:t>Today's lecture focuses on one of the four major families of NoSQL databases: Column-Family stores. These are the systems that power some of the world's largest-scale applications — Apple iCloud stores the data of more than one billion users across 75,000 Cassandra nodes; Netflix handles more than 15 million database operations every second using the same technology; and Discord recently migrated its message storage — containing trillions of individual messages — from Apache Cassandra to ScyllaDB, a high-performance C++ rewrite of the same model.</a:t>
            </a:r>
            <a:br>
              <a:rPr lang="en-US"/>
            </a:br>
            <a:br>
              <a:rPr lang="en-US"/>
            </a:br>
            <a:r>
              <a:rPr lang="en-US"/>
              <a:t>By the end of this four-hour session you will understand the theoretical foundations of the column-family data model, you will be familiar with the most important systems in production today, you will know how to write Cassandra Query Language (CQL), and you will have hands-on experience running Apache Cassandra inside Docker on a Linux system.</a:t>
            </a:r>
            <a:br>
              <a:rPr lang="en-US"/>
            </a:br>
            <a:br>
              <a:rPr lang="en-US"/>
            </a:br>
            <a:r>
              <a:rPr lang="en-US"/>
              <a:t>This lecture builds directly on the NoSQL overview from Week 1 and the document database material from Week 5. If you have not yet reviewed the Google Bigtable paper by Chang et al. (2006), please do so before the next session — it is the foundational document that inspired every column-family database you will encounter in your career.</a:t>
            </a:r>
            <a:br>
              <a:rPr lang="en-US"/>
            </a:br>
            <a:br>
              <a:rPr lang="en-US"/>
            </a:br>
            <a:r>
              <a:rPr lang="en-US"/>
              <a:t>The structure of today's lecture is: five theoretical modules covering fundamentals, data modeling, systems, query language, and advanced topics, followed by a one-hour hands-on Linux lab.</a:t>
            </a:r>
            <a:endParaRPr lang="en-US"/>
          </a:p>
        </p:txBody>
      </p:sp>
      <p:sp>
        <p:nvSpPr>
          <p:cNvPr id="161447231"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0156115" name="Slide Image Placeholder 1"/>
          <p:cNvSpPr>
            <a:spLocks noChangeAspect="1" noGrp="1" noRot="1"/>
          </p:cNvSpPr>
          <p:nvPr>
            <p:ph type="sldImg"/>
          </p:nvPr>
        </p:nvSpPr>
        <p:spPr bwMode="auto"/>
      </p:sp>
      <p:sp>
        <p:nvSpPr>
          <p:cNvPr id="573437675" name="Notes Placeholder 2"/>
          <p:cNvSpPr>
            <a:spLocks noGrp="1"/>
          </p:cNvSpPr>
          <p:nvPr>
            <p:ph type="body" idx="1"/>
          </p:nvPr>
        </p:nvSpPr>
        <p:spPr bwMode="auto"/>
        <p:txBody>
          <a:bodyPr/>
          <a:lstStyle/>
          <a:p>
            <a:pPr>
              <a:defRPr/>
            </a:pPr>
            <a:r>
              <a:rPr lang="en-US"/>
              <a:t>Here is the roadmap for the full four hours.</a:t>
            </a:r>
            <a:br>
              <a:rPr lang="en-US"/>
            </a:br>
            <a:br>
              <a:rPr lang="en-US"/>
            </a:br>
            <a:r>
              <a:rPr lang="en-US"/>
              <a:t>Module 1 starts with a brief recap of why the NoSQL movement emerged, positions column-family databases among the four NoSQL families, and establishes the core terminology you will need for everything that follows. This module takes approximately 30 to 40 minutes.</a:t>
            </a:r>
            <a:br>
              <a:rPr lang="en-US"/>
            </a:br>
            <a:br>
              <a:rPr lang="en-US"/>
            </a:br>
            <a:r>
              <a:rPr lang="en-US"/>
              <a:t>Module 2 is the most conceptually dense part of the lecture. We will work through the internal data model in detail — keyspaces, column families, partition keys, clustering keys, and the mechanics of how Cassandra actually reads and writes data on disk. Budget around 45 minutes here; this is the material that separates developers who use Cassandra effectively from those who fight it.</a:t>
            </a:r>
            <a:br>
              <a:rPr lang="en-US"/>
            </a:br>
            <a:br>
              <a:rPr lang="en-US"/>
            </a:br>
            <a:r>
              <a:rPr lang="en-US"/>
              <a:t>Module 3 surveys the state-of-the-art systems. We compare Apache Cassandra, Apache HBase, and ScyllaDB in depth, then briefly cover the cloud-managed equivalents. Approximately 40 minutes.</a:t>
            </a:r>
            <a:br>
              <a:rPr lang="en-US"/>
            </a:br>
            <a:br>
              <a:rPr lang="en-US"/>
            </a:br>
            <a:r>
              <a:rPr lang="en-US"/>
              <a:t>Module 4 covers CQL — the Cassandra Query Language. You will see schema creation, insert, select, update, and delete patterns, and you will learn the fundamental principle of query-driven design that governs all good Cassandra schemas. Approximately 35 minutes.</a:t>
            </a:r>
            <a:br>
              <a:rPr lang="en-US"/>
            </a:br>
            <a:br>
              <a:rPr lang="en-US"/>
            </a:br>
            <a:r>
              <a:rPr lang="en-US"/>
              <a:t>Module 5 covers replication, consistency, compaction strategies, and real-world case studies. Approximately 25 minutes.</a:t>
            </a:r>
            <a:br>
              <a:rPr lang="en-US"/>
            </a:br>
            <a:br>
              <a:rPr lang="en-US"/>
            </a:br>
            <a:r>
              <a:rPr lang="en-US"/>
              <a:t>Module 6 is the practical lab. You will run Apache Cassandra in Docker on Linux, connect with cqlsh, and complete a series of hands-on exercises including an IoT sensor data-modeling task. Approximately 60 minutes.</a:t>
            </a:r>
            <a:br>
              <a:rPr lang="en-US"/>
            </a:br>
            <a:br>
              <a:rPr lang="en-US"/>
            </a:br>
            <a:r>
              <a:rPr lang="en-US"/>
              <a:t>There will be a short break between Module 3 and Module 4.</a:t>
            </a:r>
            <a:endParaRPr lang="en-US"/>
          </a:p>
        </p:txBody>
      </p:sp>
      <p:sp>
        <p:nvSpPr>
          <p:cNvPr id="188552345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7261591" name="Slide Image Placeholder 1"/>
          <p:cNvSpPr>
            <a:spLocks noChangeAspect="1" noGrp="1" noRot="1"/>
          </p:cNvSpPr>
          <p:nvPr>
            <p:ph type="sldImg"/>
          </p:nvPr>
        </p:nvSpPr>
        <p:spPr bwMode="auto"/>
      </p:sp>
      <p:sp>
        <p:nvSpPr>
          <p:cNvPr id="769300515" name="Notes Placeholder 2"/>
          <p:cNvSpPr>
            <a:spLocks noGrp="1"/>
          </p:cNvSpPr>
          <p:nvPr>
            <p:ph type="body" idx="1"/>
          </p:nvPr>
        </p:nvSpPr>
        <p:spPr bwMode="auto"/>
        <p:txBody>
          <a:bodyPr/>
          <a:lstStyle/>
          <a:p>
            <a:pPr>
              <a:defRPr/>
            </a:pPr>
            <a:r>
              <a:rPr lang="en-US"/>
              <a:t>This is the start of Module 1.</a:t>
            </a:r>
            <a:br>
              <a:rPr lang="en-US"/>
            </a:br>
            <a:br>
              <a:rPr lang="en-US"/>
            </a:br>
            <a:r>
              <a:rPr lang="en-US"/>
              <a:t>Before diving into the specifics of column-family databases, we need to establish the broader context: why did NoSQL databases appear, and how do column-family stores fit within the landscape of non-relational data management?</a:t>
            </a:r>
            <a:br>
              <a:rPr lang="en-US"/>
            </a:br>
            <a:br>
              <a:rPr lang="en-US"/>
            </a:br>
            <a:r>
              <a:rPr lang="en-US"/>
              <a:t>Take a moment to think about a question: if relational databases are so well-understood and so widely supported, why would engineers at Google, Facebook, and Amazon invest years of engineering effort building entirely new database systems from scratch? The answer to that question is the motivation for everything we cover today.</a:t>
            </a:r>
            <a:endParaRPr lang="en-US"/>
          </a:p>
        </p:txBody>
      </p:sp>
      <p:sp>
        <p:nvSpPr>
          <p:cNvPr id="1322543953"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2579960" name="Slide Image Placeholder 1"/>
          <p:cNvSpPr>
            <a:spLocks noChangeAspect="1" noGrp="1" noRot="1"/>
          </p:cNvSpPr>
          <p:nvPr>
            <p:ph type="sldImg"/>
          </p:nvPr>
        </p:nvSpPr>
        <p:spPr bwMode="auto"/>
      </p:sp>
      <p:sp>
        <p:nvSpPr>
          <p:cNvPr id="1674778735" name="Notes Placeholder 2"/>
          <p:cNvSpPr>
            <a:spLocks noGrp="1"/>
          </p:cNvSpPr>
          <p:nvPr>
            <p:ph type="body" idx="1"/>
          </p:nvPr>
        </p:nvSpPr>
        <p:spPr bwMode="auto"/>
        <p:txBody>
          <a:bodyPr/>
          <a:lstStyle/>
          <a:p>
            <a:pPr>
              <a:defRPr/>
            </a:pPr>
            <a:r>
              <a:rPr lang="en-US"/>
              <a:t>The NoSQL umbrella covers four fundamentally different data models, each optimised for a different type of problem.</a:t>
            </a:r>
            <a:br>
              <a:rPr lang="en-US"/>
            </a:br>
            <a:br>
              <a:rPr lang="en-US"/>
            </a:br>
            <a:r>
              <a:rPr lang="en-US"/>
              <a:t>Key-value stores, such as Redis and Amazon DynamoDB, are the simplest model: a single key maps to an opaque blob of data. The database has no knowledge of the structure inside the value. This makes key-value stores extremely fast — a lookup is essentially a dictionary operation — but it means the application bears all the responsibility for interpreting and querying the stored data. Key-value stores are ideal for caching, session management, and simple lookup tables.</a:t>
            </a:r>
            <a:br>
              <a:rPr lang="en-US"/>
            </a:br>
            <a:br>
              <a:rPr lang="en-US"/>
            </a:br>
            <a:r>
              <a:rPr lang="en-US"/>
              <a:t>Document stores, such as MongoDB and CouchDB, add structure to the value: instead of an opaque blob, each value is a self-describing document, typically in JSON format. The database understands the structure and can query individual fields within the document. This makes document stores flexible and natural for developers working with object-oriented languages. They are well-suited for content management, user profiles, and any domain where the data shape is document-like.</a:t>
            </a:r>
            <a:br>
              <a:rPr lang="en-US"/>
            </a:br>
            <a:br>
              <a:rPr lang="en-US"/>
            </a:br>
            <a:r>
              <a:rPr lang="en-US"/>
              <a:t>Column-family stores — the subject of today's lecture — organise data in rows, but unlike relational databases, the columns in each row are not fixed. Rows can have completely different sets of columns. Columns are grouped into column families that are physically stored together on disk, enabling highly efficient reads and writes for specific groups of related columns. Column-family stores are optimised for write-heavy workloads, time-series data, and analytical scans over large datasets.</a:t>
            </a:r>
            <a:br>
              <a:rPr lang="en-US"/>
            </a:br>
            <a:br>
              <a:rPr lang="en-US"/>
            </a:br>
            <a:r>
              <a:rPr lang="en-US"/>
              <a:t>Graph databases, such as Neo4j and Amazon Neptune, represent data as nodes and edges in a graph structure. They are optimised for traversing relationships — finding the friends of friends of a user, detecting fraud patterns in a financial transaction network, or navigating a knowledge graph. They are the right tool when the relationships between data entities are as important as the data itself.</a:t>
            </a:r>
            <a:br>
              <a:rPr lang="en-US"/>
            </a:br>
            <a:br>
              <a:rPr lang="en-US"/>
            </a:br>
            <a:r>
              <a:rPr lang="en-US"/>
              <a:t>Today we go deep on column-family stores, because they represent one of the most important tools in the systems engineer's arsenal, particularly for IoT, telecommunications, time-series monitoring, and large-scale event storage.</a:t>
            </a:r>
            <a:endParaRPr lang="en-US"/>
          </a:p>
        </p:txBody>
      </p:sp>
      <p:sp>
        <p:nvSpPr>
          <p:cNvPr id="151165384"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7337425" name="Slide Image Placeholder 1"/>
          <p:cNvSpPr>
            <a:spLocks noChangeAspect="1" noGrp="1" noRot="1"/>
          </p:cNvSpPr>
          <p:nvPr>
            <p:ph type="sldImg"/>
          </p:nvPr>
        </p:nvSpPr>
        <p:spPr bwMode="auto"/>
      </p:sp>
      <p:sp>
        <p:nvSpPr>
          <p:cNvPr id="1970114098" name="Notes Placeholder 2"/>
          <p:cNvSpPr>
            <a:spLocks noGrp="1"/>
          </p:cNvSpPr>
          <p:nvPr>
            <p:ph type="body" idx="1"/>
          </p:nvPr>
        </p:nvSpPr>
        <p:spPr bwMode="auto"/>
        <p:txBody>
          <a:bodyPr/>
          <a:lstStyle/>
          <a:p>
            <a:pPr>
              <a:defRPr/>
            </a:pPr>
            <a:r>
              <a:rPr lang="en-US"/>
              <a:t>At its core, a column-family database is a storage system that organises data by grouping related columns together, rather than grouping related rows together as a relational database does.</a:t>
            </a:r>
            <a:br>
              <a:rPr lang="en-US"/>
            </a:br>
            <a:br>
              <a:rPr lang="en-US"/>
            </a:br>
            <a:r>
              <a:rPr lang="en-US"/>
              <a:t>To understand why this matters, consider what happens when you store data in a traditional relational table with ten columns. Every row occupies a contiguous block of storage containing all ten column values. When you want to compute the average of a single column — say, the average GPA of all students — the database must read every row, loading all ten columns from disk, and then discard nine of them to compute the average of the one column you care about. At a small scale this is acceptable. At billions of rows, this wasted I/O becomes prohibitively expensive.</a:t>
            </a:r>
            <a:br>
              <a:rPr lang="en-US"/>
            </a:br>
            <a:br>
              <a:rPr lang="en-US"/>
            </a:br>
            <a:r>
              <a:rPr lang="en-US"/>
              <a:t>A column-family database solves this by storing columns together. In a column-family database, all the values of the "GPA" column are physically adjacent on disk. Computing the average GPA means reading only the GPA column from disk — you never touch the student names, email addresses, or course enrollments at all.</a:t>
            </a:r>
            <a:br>
              <a:rPr lang="en-US"/>
            </a:br>
            <a:br>
              <a:rPr lang="en-US"/>
            </a:br>
            <a:r>
              <a:rPr lang="en-US"/>
              <a:t>The second key distinction is schema flexibility. In a relational database, every row in a table must have exactly the same set of columns. If student A has enrolled in three courses and student B has enrolled in seven, you need a separate junction table to model this relationship. In a column-family database, different rows can have completely different sets of columns. Student A's row might have three course-related columns; student B's row might have seven. There is no null storage overhead for absent columns — if a column is not present in a row, it simply does not exist on disk.</a:t>
            </a:r>
            <a:br>
              <a:rPr lang="en-US"/>
            </a:br>
            <a:br>
              <a:rPr lang="en-US"/>
            </a:br>
            <a:r>
              <a:rPr lang="en-US"/>
              <a:t>The foundational inspiration for column-family databases is the Google Bigtable paper, published by Chang, Dean, Ghemawat, Hsieh, Wallach, Burrows, Chandra, Fikes, and Gruber in 2006. This paper described the storage system that Google uses internally to power Gmail, Google Maps, Google Search, and YouTube. If you want to understand why column-family databases are designed the way they are, reading that paper is the most valuable hour you can invest.</a:t>
            </a:r>
            <a:endParaRPr lang="en-US"/>
          </a:p>
        </p:txBody>
      </p:sp>
      <p:sp>
        <p:nvSpPr>
          <p:cNvPr id="1017989667"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9473041" name="Slide Image Placeholder 1"/>
          <p:cNvSpPr>
            <a:spLocks noChangeAspect="1" noGrp="1" noRot="1"/>
          </p:cNvSpPr>
          <p:nvPr>
            <p:ph type="sldImg"/>
          </p:nvPr>
        </p:nvSpPr>
        <p:spPr bwMode="auto"/>
      </p:sp>
      <p:sp>
        <p:nvSpPr>
          <p:cNvPr id="91027248" name="Notes Placeholder 2"/>
          <p:cNvSpPr>
            <a:spLocks noGrp="1"/>
          </p:cNvSpPr>
          <p:nvPr>
            <p:ph type="body" idx="1"/>
          </p:nvPr>
        </p:nvSpPr>
        <p:spPr bwMode="auto"/>
        <p:txBody>
          <a:bodyPr/>
          <a:lstStyle/>
          <a:p>
            <a:pPr>
              <a:defRPr/>
            </a:pPr>
            <a:r>
              <a:rPr lang="en-US"/>
              <a:t>Let us make the storage layout difference completely concrete with a specific example.</a:t>
            </a:r>
            <a:br>
              <a:rPr lang="en-US"/>
            </a:br>
            <a:br>
              <a:rPr lang="en-US"/>
            </a:br>
            <a:r>
              <a:rPr lang="en-US"/>
              <a:t>Imagine you have a table of one million student records, each with five columns: student_id, name, email, department, and gpa. In a row-oriented relational database, the physical layout on disk looks like this: all five values for student one are written together, then all five values for student two, and so on. When you read student one's record, you get all five columns in a single disk read — this is efficient for OLTP (online transaction processing) workloads where you frequently need the complete record for a single entity.</a:t>
            </a:r>
            <a:br>
              <a:rPr lang="en-US"/>
            </a:br>
            <a:br>
              <a:rPr lang="en-US"/>
            </a:br>
            <a:r>
              <a:rPr lang="en-US"/>
              <a:t>But when you want to run an analytical query — for example, "what is the average GPA of all students in the ECE department?" — the row-oriented layout forces you to read all five columns for all one million students, even though you only need the gpa and department columns. For one million students, you are reading five million pieces of data to extract two million useful pieces. You are doing more than twice the necessary work.</a:t>
            </a:r>
            <a:br>
              <a:rPr lang="en-US"/>
            </a:br>
            <a:br>
              <a:rPr lang="en-US"/>
            </a:br>
            <a:r>
              <a:rPr lang="en-US"/>
              <a:t>In a column-family layout, the disk layout is organised differently. The gpa values for all one million students are written together in one physical location. The department values for all one million students are written together in a separate physical location. When you run the GPA analysis, you read only the gpa and department columns — you read two million pieces of data to extract two million useful pieces. No wasted I/O.</a:t>
            </a:r>
            <a:br>
              <a:rPr lang="en-US"/>
            </a:br>
            <a:br>
              <a:rPr lang="en-US"/>
            </a:br>
            <a:r>
              <a:rPr lang="en-US"/>
              <a:t>Additionally, because all values in a column are of the same type and often have similar magnitude (GPAs are all floating-point numbers between 0 and 10), column-oriented storage compresses extremely well. Run-length encoding, delta encoding, and dictionary compression all work far better on homogeneous column data than on heterogeneous row data. In practice, column-family databases achieve compression ratios of 3x to 10x compared to row-oriented databases for the same dataset.</a:t>
            </a:r>
            <a:br>
              <a:rPr lang="en-US"/>
            </a:br>
            <a:br>
              <a:rPr lang="en-US"/>
            </a:br>
            <a:r>
              <a:rPr lang="en-US"/>
              <a:t>The trade-off is that writing a single complete row now requires writing to multiple physical locations — one for each column family. This is why column-family databases are sometimes described as read-optimised for analytics and write-optimised for sequential append workloads, but not ideal for workloads that require frequent reads of individual complete rows.</a:t>
            </a:r>
            <a:endParaRPr lang="en-US"/>
          </a:p>
        </p:txBody>
      </p:sp>
      <p:sp>
        <p:nvSpPr>
          <p:cNvPr id="1381665516"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8799595" name="Slide Image Placeholder 1"/>
          <p:cNvSpPr>
            <a:spLocks noChangeAspect="1" noGrp="1" noRot="1"/>
          </p:cNvSpPr>
          <p:nvPr>
            <p:ph type="sldImg"/>
          </p:nvPr>
        </p:nvSpPr>
        <p:spPr bwMode="auto"/>
      </p:sp>
      <p:sp>
        <p:nvSpPr>
          <p:cNvPr id="821785520" name="Notes Placeholder 2"/>
          <p:cNvSpPr>
            <a:spLocks noGrp="1"/>
          </p:cNvSpPr>
          <p:nvPr>
            <p:ph type="body" idx="1"/>
          </p:nvPr>
        </p:nvSpPr>
        <p:spPr bwMode="auto"/>
        <p:txBody>
          <a:bodyPr/>
          <a:lstStyle/>
          <a:p>
            <a:pPr>
              <a:defRPr/>
            </a:pPr>
            <a:r>
              <a:rPr lang="en-US"/>
              <a:t>Before we can discuss the data model and the systems in depth, we need to establish a shared vocabulary. These terms are used throughout the Cassandra and HBase documentation, in job interviews, and in the engineering blog posts that describe real production deployments. Write these down.</a:t>
            </a:r>
            <a:br>
              <a:rPr lang="en-US"/>
            </a:br>
            <a:br>
              <a:rPr lang="en-US"/>
            </a:br>
            <a:r>
              <a:rPr lang="en-US"/>
              <a:t>A keyspace is the top-level organisational container in Cassandra, analogous to a database or schema in a relational system. The keyspace is where you define the replication strategy — how many copies of each piece of data should exist across the cluster, and how those copies should be distributed across datacenters.</a:t>
            </a:r>
            <a:br>
              <a:rPr lang="en-US"/>
            </a:br>
            <a:br>
              <a:rPr lang="en-US"/>
            </a:br>
            <a:r>
              <a:rPr lang="en-US"/>
              <a:t>A column family, also called a table in modern CQL terminology, is the second level of organisation. A column family contains rows. All rows in a column family share the same column family definitions, but individual rows can have different sets of actual columns.</a:t>
            </a:r>
            <a:br>
              <a:rPr lang="en-US"/>
            </a:br>
            <a:br>
              <a:rPr lang="en-US"/>
            </a:br>
            <a:r>
              <a:rPr lang="en-US"/>
              <a:t>The row key, also called the partition key, is the primary identifier for a row. In Cassandra, the partition key has a specific and critically important role: it is hashed to determine which node in the cluster stores that row. All data with the same partition key is guaranteed to reside on the same node, which is what makes partition-level reads efficient.</a:t>
            </a:r>
            <a:br>
              <a:rPr lang="en-US"/>
            </a:br>
            <a:br>
              <a:rPr lang="en-US"/>
            </a:br>
            <a:r>
              <a:rPr lang="en-US"/>
              <a:t>A column is a single key-value pair within a row. Every column in Cassandra has three components: a name, a value, and a timestamp. The timestamp is used for Last-Write-Wins conflict resolution — if two different nodes receive a write to the same column at nearly the same time, the write with the later timestamp wins.</a:t>
            </a:r>
            <a:br>
              <a:rPr lang="en-US"/>
            </a:br>
            <a:br>
              <a:rPr lang="en-US"/>
            </a:br>
            <a:r>
              <a:rPr lang="en-US"/>
              <a:t>The clustering key is a secondary key that determines the physical sort order of rows within a single partition. This is what enables efficient range queries within a partition — for example, "give me all temperature readings for sensor X between 10:00 and 11:00" can be answered with a single sequential disk read if the timestamp is the clustering key.</a:t>
            </a:r>
            <a:br>
              <a:rPr lang="en-US"/>
            </a:br>
            <a:br>
              <a:rPr lang="en-US"/>
            </a:br>
            <a:r>
              <a:rPr lang="en-US"/>
              <a:t>An SSTable, or Sorted String Table, is the immutable on-disk file format that Cassandra uses to persist flushed data. SSTables are never modified after they are written — updates and deletes are handled by writing new SSTables, and the background compaction process periodically merges them together.</a:t>
            </a:r>
            <a:br>
              <a:rPr lang="en-US"/>
            </a:br>
            <a:br>
              <a:rPr lang="en-US"/>
            </a:br>
            <a:r>
              <a:rPr lang="en-US"/>
              <a:t>Compaction is the background process that maintains the health and performance of a Cassandra cluster. It merges multiple SSTables into a single, sorted SSTable, removes outdated versions of overwritten data, and physically deletes data marked for deletion by tombstones.</a:t>
            </a:r>
            <a:endParaRPr lang="en-US"/>
          </a:p>
        </p:txBody>
      </p:sp>
      <p:sp>
        <p:nvSpPr>
          <p:cNvPr id="1951145993"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6954846" name="Slide Image Placeholder 1"/>
          <p:cNvSpPr>
            <a:spLocks noChangeAspect="1" noGrp="1" noRot="1"/>
          </p:cNvSpPr>
          <p:nvPr>
            <p:ph type="sldImg"/>
          </p:nvPr>
        </p:nvSpPr>
        <p:spPr bwMode="auto"/>
      </p:sp>
      <p:sp>
        <p:nvSpPr>
          <p:cNvPr id="1319230982" name="Notes Placeholder 2"/>
          <p:cNvSpPr>
            <a:spLocks noGrp="1"/>
          </p:cNvSpPr>
          <p:nvPr>
            <p:ph type="body" idx="1"/>
          </p:nvPr>
        </p:nvSpPr>
        <p:spPr bwMode="auto"/>
        <p:txBody>
          <a:bodyPr/>
          <a:lstStyle/>
          <a:p>
            <a:pPr>
              <a:defRPr/>
            </a:pPr>
            <a:r>
              <a:rPr lang="en-US"/>
              <a:t>Module 2 is the heart of today's lecture.</a:t>
            </a:r>
            <a:br>
              <a:rPr lang="en-US"/>
            </a:br>
            <a:br>
              <a:rPr lang="en-US"/>
            </a:br>
            <a:r>
              <a:rPr lang="en-US"/>
              <a:t>Everything in Module 3 — understanding why Cassandra, HBase, and ScyllaDB are designed the way they are — and everything in Module 4 — writing correct and efficient CQL — depends on having a solid mental model of the internal data organisation we are about to discuss.</a:t>
            </a:r>
            <a:br>
              <a:rPr lang="en-US"/>
            </a:br>
            <a:br>
              <a:rPr lang="en-US"/>
            </a:br>
            <a:r>
              <a:rPr lang="en-US"/>
              <a:t>The most important concepts in this module are: the relationship between partition keys and data distribution, the role of clustering keys in enabling efficient range queries, the append-only write path, and the multi-level read path with Bloom filters. These concepts appear in technical interviews at every company that uses distributed databases at scale.</a:t>
            </a:r>
            <a:endParaRPr lang="en-US"/>
          </a:p>
        </p:txBody>
      </p:sp>
      <p:sp>
        <p:nvSpPr>
          <p:cNvPr id="1772753800"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9540148" name="Slide Image Placeholder 1"/>
          <p:cNvSpPr>
            <a:spLocks noChangeAspect="1" noGrp="1" noRot="1"/>
          </p:cNvSpPr>
          <p:nvPr>
            <p:ph type="sldImg"/>
          </p:nvPr>
        </p:nvSpPr>
        <p:spPr bwMode="auto"/>
      </p:sp>
      <p:sp>
        <p:nvSpPr>
          <p:cNvPr id="994179630" name="Notes Placeholder 2"/>
          <p:cNvSpPr>
            <a:spLocks noGrp="1"/>
          </p:cNvSpPr>
          <p:nvPr>
            <p:ph type="body" idx="1"/>
          </p:nvPr>
        </p:nvSpPr>
        <p:spPr bwMode="auto"/>
        <p:txBody>
          <a:bodyPr/>
          <a:lstStyle/>
          <a:p>
            <a:pPr>
              <a:defRPr/>
            </a:pPr>
            <a:r>
              <a:rPr lang="en-US"/>
              <a:t>The most useful mental model for a column-family database is a nested sorted map.</a:t>
            </a:r>
            <a:br>
              <a:rPr lang="en-US"/>
            </a:br>
            <a:br>
              <a:rPr lang="en-US"/>
            </a:br>
            <a:r>
              <a:rPr lang="en-US"/>
              <a:t>At the outer level, you have a map keyed by the partition key. Each entry in this outer map is itself a sorted map, keyed by the clustering key (if one exists) or by column name. Each entry in the inner map is a typed value with an associated timestamp.</a:t>
            </a:r>
            <a:br>
              <a:rPr lang="en-US"/>
            </a:br>
            <a:br>
              <a:rPr lang="en-US"/>
            </a:br>
            <a:r>
              <a:rPr lang="en-US"/>
              <a:t>In mathematical notation: Map[PartitionKey → SortedMap[ClusteringKey → Map[ColumnName → (Value, Timestamp)]]].</a:t>
            </a:r>
            <a:br>
              <a:rPr lang="en-US"/>
            </a:br>
            <a:br>
              <a:rPr lang="en-US"/>
            </a:br>
            <a:r>
              <a:rPr lang="en-US"/>
              <a:t>This abstraction explains several important behaviours that confuse developers who approach Cassandra thinking of it as a relational database.</a:t>
            </a:r>
            <a:br>
              <a:rPr lang="en-US"/>
            </a:br>
            <a:br>
              <a:rPr lang="en-US"/>
            </a:br>
            <a:r>
              <a:rPr lang="en-US"/>
              <a:t>First, sparse rows: because the inner maps only contain entries for columns that actually exist, a row with no value for a given column consumes zero storage for that column. There are no null placeholders. If student A has not declared a thesis topic, there is no "thesis" entry in student A's inner map. If student B has declared a thesis topic, there is one. This is different from a relational table, where a null in the thesis column still occupies storage space (or at least a null marker).</a:t>
            </a:r>
            <a:br>
              <a:rPr lang="en-US"/>
            </a:br>
            <a:br>
              <a:rPr lang="en-US"/>
            </a:br>
            <a:r>
              <a:rPr lang="en-US"/>
              <a:t>Second, the Last-Write-Wins conflict resolution: every value in the innermost map carries a timestamp. When Cassandra needs to decide which of two conflicting values for the same column is the authoritative one, it simply takes the value with the higher timestamp. This is why Cassandra nodes must have synchronised clocks — an incorrect system clock can cause old data to overwrite new data.</a:t>
            </a:r>
            <a:br>
              <a:rPr lang="en-US"/>
            </a:br>
            <a:br>
              <a:rPr lang="en-US"/>
            </a:br>
            <a:r>
              <a:rPr lang="en-US"/>
              <a:t>Third, the wide row pattern: because the inner map can hold an effectively unlimited number of entries (Cassandra supports up to two billion columns per partition in theory, though practical limits are far lower), a single partition key can be used to store a very large amount of related data. This is the foundation of the time-series pattern: store all readings from a sensor under the same partition key, with each reading as a separate entry sorted by timestamp in the inner map.</a:t>
            </a:r>
            <a:endParaRPr lang="en-US"/>
          </a:p>
        </p:txBody>
      </p:sp>
      <p:sp>
        <p:nvSpPr>
          <p:cNvPr id="1412771464"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3238803" name="Slide Image Placeholder 1"/>
          <p:cNvSpPr>
            <a:spLocks noChangeAspect="1" noGrp="1" noRot="1"/>
          </p:cNvSpPr>
          <p:nvPr>
            <p:ph type="sldImg"/>
          </p:nvPr>
        </p:nvSpPr>
        <p:spPr bwMode="auto"/>
      </p:sp>
      <p:sp>
        <p:nvSpPr>
          <p:cNvPr id="315361078" name="Notes Placeholder 2"/>
          <p:cNvSpPr>
            <a:spLocks noGrp="1"/>
          </p:cNvSpPr>
          <p:nvPr>
            <p:ph type="body" idx="1"/>
          </p:nvPr>
        </p:nvSpPr>
        <p:spPr bwMode="auto"/>
        <p:txBody>
          <a:bodyPr/>
          <a:lstStyle/>
          <a:p>
            <a:pPr>
              <a:defRPr/>
            </a:pPr>
            <a:r>
              <a:rPr lang="en-US"/>
              <a:t>Let us walk through this diagram carefully from the outside in.</a:t>
            </a:r>
            <a:br>
              <a:rPr lang="en-US"/>
            </a:br>
            <a:br>
              <a:rPr lang="en-US"/>
            </a:br>
            <a:r>
              <a:rPr lang="en-US"/>
              <a:t>The outermost container is the keyspace, named university_db in this example. The keyspace is roughly equivalent to a database in a relational system. It defines the replication strategy and the replication factor — how many copies of each piece of data should exist across the cluster.</a:t>
            </a:r>
            <a:br>
              <a:rPr lang="en-US"/>
            </a:br>
            <a:br>
              <a:rPr lang="en-US"/>
            </a:br>
            <a:r>
              <a:rPr lang="en-US"/>
              <a:t>Inside the keyspace, we have the column family, named students. This is where the actual data rows live.</a:t>
            </a:r>
            <a:br>
              <a:rPr lang="en-US"/>
            </a:br>
            <a:br>
              <a:rPr lang="en-US"/>
            </a:br>
            <a:r>
              <a:rPr lang="en-US"/>
              <a:t>Look at the three rows shown in the diagram.</a:t>
            </a:r>
            <a:br>
              <a:rPr lang="en-US"/>
            </a:br>
            <a:br>
              <a:rPr lang="en-US"/>
            </a:br>
            <a:r>
              <a:rPr lang="en-US"/>
              <a:t>Row S001 has four columns: name, department, gpa, and year. Row S002 has three columns: name, department, and gpa — but no year column. Row S003 has four columns: name, gpa, and thesis — but no department or year column.</a:t>
            </a:r>
            <a:br>
              <a:rPr lang="en-US"/>
            </a:br>
            <a:br>
              <a:rPr lang="en-US"/>
            </a:br>
            <a:r>
              <a:rPr lang="en-US"/>
              <a:t>Notice something important: row S003 has a thesis column that rows S001 and S002 do not have. And row S003 has no department or year columns. In a relational database, adding a thesis column to some students but not others would require a schema migration that touches every row in the table, setting the thesis column to null for rows that do not have a thesis. In a column-family database, there is no migration required, no null storage cost, and no performance impact on rows that do not have the new column.</a:t>
            </a:r>
            <a:br>
              <a:rPr lang="en-US"/>
            </a:br>
            <a:br>
              <a:rPr lang="en-US"/>
            </a:br>
            <a:r>
              <a:rPr lang="en-US"/>
              <a:t>This is what "schema flexibility" means in the column-family context. It does not mean the database is unstructured — the column families, partition keys, and clustering keys must be defined when the table is created. What it means is that individual rows within a column family can have different sets of non-key columns without any overhead.</a:t>
            </a:r>
            <a:br>
              <a:rPr lang="en-US"/>
            </a:br>
            <a:br>
              <a:rPr lang="en-US"/>
            </a:br>
            <a:r>
              <a:rPr lang="en-US"/>
              <a:t>The note at the bottom of the diagram is critical: "Sparse row — no 'dept' or 'year' columns — no NULL penalty." This is the key advantage of the column-family model over the relational model for sparse, heterogeneous data.</a:t>
            </a:r>
            <a:endParaRPr lang="en-US"/>
          </a:p>
        </p:txBody>
      </p:sp>
      <p:sp>
        <p:nvSpPr>
          <p:cNvPr id="1883922618"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4693310" name="Slide Image Placeholder 1"/>
          <p:cNvSpPr>
            <a:spLocks noChangeAspect="1" noGrp="1" noRot="1"/>
          </p:cNvSpPr>
          <p:nvPr>
            <p:ph type="sldImg"/>
          </p:nvPr>
        </p:nvSpPr>
        <p:spPr bwMode="auto"/>
      </p:sp>
      <p:sp>
        <p:nvSpPr>
          <p:cNvPr id="562990482" name="Notes Placeholder 2"/>
          <p:cNvSpPr>
            <a:spLocks noGrp="1"/>
          </p:cNvSpPr>
          <p:nvPr>
            <p:ph type="body" idx="1"/>
          </p:nvPr>
        </p:nvSpPr>
        <p:spPr bwMode="auto"/>
        <p:txBody>
          <a:bodyPr/>
          <a:lstStyle/>
          <a:p>
            <a:pPr>
              <a:defRPr/>
            </a:pPr>
            <a:r>
              <a:rPr lang="en-US"/>
              <a:t>The partition key is the single most important design decision you will make when creating a column-family table. Getting it wrong is the most common cause of performance problems in Cassandra deployments.</a:t>
            </a:r>
            <a:br>
              <a:rPr lang="en-US"/>
            </a:br>
            <a:br>
              <a:rPr lang="en-US"/>
            </a:br>
            <a:r>
              <a:rPr lang="en-US"/>
              <a:t>Here is how it works mechanically. When a client writes a row to Cassandra, the coordinator node (the node that receives the request) computes the hash of the partition key using Murmur3, a fast non-cryptographic hash function. The resulting hash value — called a token — is a 64-bit integer in the range from negative 2^63 to positive 2^63 minus one. This token determines which node in the cluster is responsible for storing that row. Specifically, each node in the Cassandra ring owns a range of token values, and the row is stored on the node whose range includes the row's token.</a:t>
            </a:r>
            <a:br>
              <a:rPr lang="en-US"/>
            </a:br>
            <a:br>
              <a:rPr lang="en-US"/>
            </a:br>
            <a:r>
              <a:rPr lang="en-US"/>
              <a:t>All columns that belong to the same row — all columns with the same partition key — are stored together on the same node. This is what makes partition-level reads efficient: Cassandra only needs to contact one node (or a small set of replicas) to read all the data for a given partition key.</a:t>
            </a:r>
            <a:br>
              <a:rPr lang="en-US"/>
            </a:br>
            <a:br>
              <a:rPr lang="en-US"/>
            </a:br>
            <a:r>
              <a:rPr lang="en-US"/>
              <a:t>The implication for queries is direct: any WHERE clause that does not include the partition key forces Cassandra to contact every node in the cluster, because without the partition key, it has no way to know which node or nodes hold the relevant data. This is called a full cluster scan. Cassandra will either refuse to execute such a query or will require you to explicitly add ALLOW FILTERING to acknowledge that you understand the performance implications.</a:t>
            </a:r>
            <a:br>
              <a:rPr lang="en-US"/>
            </a:br>
            <a:br>
              <a:rPr lang="en-US"/>
            </a:br>
            <a:r>
              <a:rPr lang="en-US"/>
              <a:t>A good partition key must satisfy two criteria. First, it must have high cardinality — many distinct values — so that data is spread evenly across all nodes. If your partition key is a boolean (true/false), every row in the entire table hashes to one of only two tokens, meaning all your data lands on just two nodes while the other nodes sit idle. This is called a hot partition and is a serious operational problem.</a:t>
            </a:r>
            <a:br>
              <a:rPr lang="en-US"/>
            </a:br>
            <a:br>
              <a:rPr lang="en-US"/>
            </a:br>
            <a:r>
              <a:rPr lang="en-US"/>
              <a:t>Second, it must correspond to the most frequent access pattern. The partition key you choose will be the only efficient equality filter in your queries. Design it to match the question your application asks most often.</a:t>
            </a:r>
            <a:endParaRPr lang="en-US"/>
          </a:p>
        </p:txBody>
      </p:sp>
      <p:sp>
        <p:nvSpPr>
          <p:cNvPr id="2129396448"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1212284" name="Slide Image Placeholder 1"/>
          <p:cNvSpPr>
            <a:spLocks noChangeAspect="1" noGrp="1" noRot="1"/>
          </p:cNvSpPr>
          <p:nvPr>
            <p:ph type="sldImg"/>
          </p:nvPr>
        </p:nvSpPr>
        <p:spPr bwMode="auto"/>
      </p:sp>
      <p:sp>
        <p:nvSpPr>
          <p:cNvPr id="1817183226" name="Notes Placeholder 2"/>
          <p:cNvSpPr>
            <a:spLocks noGrp="1"/>
          </p:cNvSpPr>
          <p:nvPr>
            <p:ph type="body" idx="1"/>
          </p:nvPr>
        </p:nvSpPr>
        <p:spPr bwMode="auto"/>
        <p:txBody>
          <a:bodyPr/>
          <a:lstStyle/>
          <a:p>
            <a:pPr>
              <a:defRPr/>
            </a:pPr>
            <a:r>
              <a:rPr lang="en-US"/>
              <a:t>The clustering key is the second component of the primary key, and it determines the physical sort order of rows within a partition.</a:t>
            </a:r>
            <a:br>
              <a:rPr lang="en-US"/>
            </a:br>
            <a:br>
              <a:rPr lang="en-US"/>
            </a:br>
            <a:r>
              <a:rPr lang="en-US"/>
              <a:t>This is best understood through a concrete example. Suppose you are building a system to store temperature readings from IoT sensors. Your most common query is: "give me the last 100 readings from sensor X." The natural design is to use sensor_id as the partition key, so that all readings from the same sensor are stored together on the same node. Within that partition, you want the readings sorted by timestamp in descending order, so that the most recent readings are physically first on disk. You achieve this by declaring reading_time as the clustering key with the CLUSTERING ORDER BY (reading_time DESC) clause.</a:t>
            </a:r>
            <a:br>
              <a:rPr lang="en-US"/>
            </a:br>
            <a:br>
              <a:rPr lang="en-US"/>
            </a:br>
            <a:r>
              <a:rPr lang="en-US"/>
              <a:t>With this design, the query "SELECT * FROM sensor_readings WHERE sensor_id = 'SENSOR_042' LIMIT 100" translates to exactly one disk seek: Cassandra goes to the node that owns the SENSOR_042 partition, seeks to the beginning of that partition on disk, and reads the first 100 rows. Because the data is physically sorted by timestamp descending, these 100 rows are guaranteed to be the 100 most recent readings. The query is O(1) with respect to the total number of rows in the table.</a:t>
            </a:r>
            <a:br>
              <a:rPr lang="en-US"/>
            </a:br>
            <a:br>
              <a:rPr lang="en-US"/>
            </a:br>
            <a:r>
              <a:rPr lang="en-US"/>
              <a:t>Without the clustering key, those 100 readings would be scattered randomly through the partition, and retrieving them would require scanning the entire partition.</a:t>
            </a:r>
            <a:br>
              <a:rPr lang="en-US"/>
            </a:br>
            <a:br>
              <a:rPr lang="en-US"/>
            </a:br>
            <a:r>
              <a:rPr lang="en-US"/>
              <a:t>You can have multiple clustering keys to create compound sort orders. For example, in a table that stores messages in a chat application, you might use (channel_id) as the partition key and (sent_at, message_id) as the clustering key. This stores all messages in a channel together, sorted first by time and then by message ID within the same timestamp, enabling efficient pagination through a message history.</a:t>
            </a:r>
            <a:br>
              <a:rPr lang="en-US"/>
            </a:br>
            <a:br>
              <a:rPr lang="en-US"/>
            </a:br>
            <a:r>
              <a:rPr lang="en-US"/>
              <a:t>The clustering key is also what enables range queries. If your clustering key is a timestamp, you can filter WHERE reading_time &gt;= '2025-01-01' AND reading_time &lt; '2025-02-01' efficiently. This range scan is a sequential read of a contiguous block of disk, which is one of the fastest operations on any storage medium.</a:t>
            </a:r>
            <a:endParaRPr lang="en-US"/>
          </a:p>
        </p:txBody>
      </p:sp>
      <p:sp>
        <p:nvSpPr>
          <p:cNvPr id="375487481"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3240484" name="Slide Image Placeholder 1"/>
          <p:cNvSpPr>
            <a:spLocks noChangeAspect="1" noGrp="1" noRot="1"/>
          </p:cNvSpPr>
          <p:nvPr>
            <p:ph type="sldImg"/>
          </p:nvPr>
        </p:nvSpPr>
        <p:spPr bwMode="auto"/>
      </p:sp>
      <p:sp>
        <p:nvSpPr>
          <p:cNvPr id="1064762855" name="Notes Placeholder 2"/>
          <p:cNvSpPr>
            <a:spLocks noGrp="1"/>
          </p:cNvSpPr>
          <p:nvPr>
            <p:ph type="body" idx="1"/>
          </p:nvPr>
        </p:nvSpPr>
        <p:spPr bwMode="auto"/>
        <p:txBody>
          <a:bodyPr/>
          <a:lstStyle/>
          <a:p>
            <a:pPr>
              <a:defRPr/>
            </a:pPr>
            <a:r>
              <a:rPr lang="en-US"/>
              <a:t>Understanding the write path is essential for explaining two of Cassandra's most important properties: its exceptional write throughput and its eventual consistency model.</a:t>
            </a:r>
            <a:br>
              <a:rPr lang="en-US"/>
            </a:br>
            <a:br>
              <a:rPr lang="en-US"/>
            </a:br>
            <a:r>
              <a:rPr lang="en-US"/>
              <a:t>When a client sends a write request to a Cassandra cluster, the following sequence of events occurs.</a:t>
            </a:r>
            <a:br>
              <a:rPr lang="en-US"/>
            </a:br>
            <a:br>
              <a:rPr lang="en-US"/>
            </a:br>
            <a:r>
              <a:rPr lang="en-US"/>
              <a:t>Step one: the coordinator node receives the write request. The coordinator is the node that the client happened to connect to — in Cassandra's peer-to-peer architecture, any node can serve as a coordinator. The coordinator hashes the partition key to determine which nodes are responsible for the data (the replica nodes), then forwards the write to those replicas.</a:t>
            </a:r>
            <a:br>
              <a:rPr lang="en-US"/>
            </a:br>
            <a:br>
              <a:rPr lang="en-US"/>
            </a:br>
            <a:r>
              <a:rPr lang="en-US"/>
              <a:t>Step two: each replica that receives the write performs two operations simultaneously. First, it appends the write to its Commit Log — a persistent, append-only log stored on disk, similar in concept to the Write-Ahead Log (WAL) used by PostgreSQL and MySQL. The Commit Log is Cassandra's crash-recovery mechanism: if a node crashes before the data reaches its final location, the Commit Log allows the node to reconstruct any writes it had accepted but not yet fully persisted.</a:t>
            </a:r>
            <a:br>
              <a:rPr lang="en-US"/>
            </a:br>
            <a:br>
              <a:rPr lang="en-US"/>
            </a:br>
            <a:r>
              <a:rPr lang="en-US"/>
              <a:t>Second, the replica writes the data to a MemTable — an in-memory sorted data structure. The MemTable is what allows Cassandra to return a write acknowledgment to the client almost immediately: once the Commit Log entry and the MemTable entry are both recorded, the write is considered durable enough to acknowledge.</a:t>
            </a:r>
            <a:br>
              <a:rPr lang="en-US"/>
            </a:br>
            <a:br>
              <a:rPr lang="en-US"/>
            </a:br>
            <a:r>
              <a:rPr lang="en-US"/>
              <a:t>Step three: eventually, when the MemTable fills up — by default this happens when it consumes roughly 32 megabytes of heap memory — Cassandra flushes it to disk as an immutable SSTable file.</a:t>
            </a:r>
            <a:br>
              <a:rPr lang="en-US"/>
            </a:br>
            <a:br>
              <a:rPr lang="en-US"/>
            </a:br>
            <a:r>
              <a:rPr lang="en-US"/>
              <a:t>Step four: over time, multiple SSTable files accumulate. The compaction process periodically merges them, removing outdated versions of overwritten data and physically deleting data marked with tombstones.</a:t>
            </a:r>
            <a:br>
              <a:rPr lang="en-US"/>
            </a:br>
            <a:br>
              <a:rPr lang="en-US"/>
            </a:br>
            <a:r>
              <a:rPr lang="en-US"/>
              <a:t>The critical insight is that all writes in this process are sequential — appending to the Commit Log, appending to the MemTable, and flushing to a new SSTable are all sequential operations. Sequential writes are dramatically faster than random writes on both spinning hard disks and SSDs, because they maximise throughput and minimise seek time. This is why Cassandra can sustain write throughputs of hundreds of thousands of operations per second on modest hardware.</a:t>
            </a:r>
            <a:endParaRPr lang="en-US"/>
          </a:p>
        </p:txBody>
      </p:sp>
      <p:sp>
        <p:nvSpPr>
          <p:cNvPr id="1938079855"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6900977" name="Slide Image Placeholder 1"/>
          <p:cNvSpPr>
            <a:spLocks noChangeAspect="1" noGrp="1" noRot="1"/>
          </p:cNvSpPr>
          <p:nvPr>
            <p:ph type="sldImg"/>
          </p:nvPr>
        </p:nvSpPr>
        <p:spPr bwMode="auto"/>
      </p:sp>
      <p:sp>
        <p:nvSpPr>
          <p:cNvPr id="1032389538" name="Notes Placeholder 2"/>
          <p:cNvSpPr>
            <a:spLocks noGrp="1"/>
          </p:cNvSpPr>
          <p:nvPr>
            <p:ph type="body" idx="1"/>
          </p:nvPr>
        </p:nvSpPr>
        <p:spPr bwMode="auto"/>
        <p:txBody>
          <a:bodyPr/>
          <a:lstStyle/>
          <a:p>
            <a:pPr>
              <a:defRPr/>
            </a:pPr>
            <a:r>
              <a:rPr lang="en-US"/>
              <a:t>The read path in Cassandra is more complex than the write path, because data for a given row may be spread across multiple locations: the MemTable (in memory), and one or more SSTable files on disk. Cassandra must merge data from all of these sources and return the most current value for each column.</a:t>
            </a:r>
            <a:br>
              <a:rPr lang="en-US"/>
            </a:br>
            <a:br>
              <a:rPr lang="en-US"/>
            </a:br>
            <a:r>
              <a:rPr lang="en-US"/>
              <a:t>Here is the complete read path.</a:t>
            </a:r>
            <a:br>
              <a:rPr lang="en-US"/>
            </a:br>
            <a:br>
              <a:rPr lang="en-US"/>
            </a:br>
            <a:r>
              <a:rPr lang="en-US"/>
              <a:t>First, Cassandra checks the MemTable. If the requested row or columns are present in the MemTable — because they were written recently and not yet flushed to disk — they are included in the result.</a:t>
            </a:r>
            <a:br>
              <a:rPr lang="en-US"/>
            </a:br>
            <a:br>
              <a:rPr lang="en-US"/>
            </a:br>
            <a:r>
              <a:rPr lang="en-US"/>
              <a:t>Second, Cassandra checks the Row Cache, if it is enabled. The Row Cache stores complete rows in memory. If the requested row is in the Row Cache, Cassandra can return it immediately without touching any SSTable files. The Row Cache is useful for hot rows that are read very frequently, but it is disabled by default because it can consume large amounts of heap memory.</a:t>
            </a:r>
            <a:br>
              <a:rPr lang="en-US"/>
            </a:br>
            <a:br>
              <a:rPr lang="en-US"/>
            </a:br>
            <a:r>
              <a:rPr lang="en-US"/>
              <a:t>Third, and this is the most interesting part, Cassandra checks the Bloom Filter for each SSTable file. A Bloom Filter is a probabilistic data structure that answers the question "is this key definitely NOT in this file, or might it be?" If the Bloom Filter says the key is definitely not in a particular SSTable, Cassandra skips that file entirely without reading it from disk. If the Bloom Filter says the key might be in the file, Cassandra reads the file's index to find the exact disk offset and then reads the data.</a:t>
            </a:r>
            <a:br>
              <a:rPr lang="en-US"/>
            </a:br>
            <a:br>
              <a:rPr lang="en-US"/>
            </a:br>
            <a:r>
              <a:rPr lang="en-US"/>
              <a:t>The Bloom Filter is a beautiful application of probabilistic algorithms to a practical performance problem. By using a small amount of memory (Cassandra uses roughly 1 to 2 kilobytes per SSTable for the Bloom Filter), it can eliminate the vast majority of unnecessary disk reads. The default configuration in Cassandra targets a 1% false positive rate — meaning that on average, only 1 in 100 SSTable files that the Bloom Filter says "might contain the key" will actually not contain it. False negatives — where the Bloom Filter says the key is not in a file when it actually is — are mathematically impossible.</a:t>
            </a:r>
            <a:br>
              <a:rPr lang="en-US"/>
            </a:br>
            <a:br>
              <a:rPr lang="en-US"/>
            </a:br>
            <a:r>
              <a:rPr lang="en-US"/>
              <a:t>Finally, Cassandra merges the data from all sources, applying the Last-Write-Wins rule based on timestamps, and returns the unified result to the client.</a:t>
            </a:r>
            <a:endParaRPr lang="en-US"/>
          </a:p>
        </p:txBody>
      </p:sp>
      <p:sp>
        <p:nvSpPr>
          <p:cNvPr id="1521299760"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2512981" name="Slide Image Placeholder 1"/>
          <p:cNvSpPr>
            <a:spLocks noChangeAspect="1" noGrp="1" noRot="1"/>
          </p:cNvSpPr>
          <p:nvPr>
            <p:ph type="sldImg"/>
          </p:nvPr>
        </p:nvSpPr>
        <p:spPr bwMode="auto"/>
      </p:sp>
      <p:sp>
        <p:nvSpPr>
          <p:cNvPr id="582369460" name="Notes Placeholder 2"/>
          <p:cNvSpPr>
            <a:spLocks noGrp="1"/>
          </p:cNvSpPr>
          <p:nvPr>
            <p:ph type="body" idx="1"/>
          </p:nvPr>
        </p:nvSpPr>
        <p:spPr bwMode="auto"/>
        <p:txBody>
          <a:bodyPr/>
          <a:lstStyle/>
          <a:p>
            <a:pPr>
              <a:defRPr/>
            </a:pPr>
            <a:r>
              <a:rPr lang="en-US"/>
              <a:t>Module 3 surveys the systems landscape.</a:t>
            </a:r>
            <a:br>
              <a:rPr lang="en-US"/>
            </a:br>
            <a:br>
              <a:rPr lang="en-US"/>
            </a:br>
            <a:r>
              <a:rPr lang="en-US"/>
              <a:t>At this point you understand the fundamental model: sparse rows, column families, partition keys, clustering keys, the append-only write path, and the Bloom Filter-based read path. Now we can look at the major implementations of this model and understand how they differ in architecture, consistency guarantees, performance characteristics, and appropriate use cases.</a:t>
            </a:r>
            <a:br>
              <a:rPr lang="en-US"/>
            </a:br>
            <a:br>
              <a:rPr lang="en-US"/>
            </a:br>
            <a:r>
              <a:rPr lang="en-US"/>
              <a:t>The three open-source systems we cover in depth are Apache Cassandra, Apache HBase, and ScyllaDB. We will also briefly examine the cloud-managed variants: Google Bigtable, Amazon Keyspaces, and Azure Cosmos DB's Cassandra API.</a:t>
            </a:r>
            <a:br>
              <a:rPr lang="en-US"/>
            </a:br>
            <a:br>
              <a:rPr lang="en-US"/>
            </a:br>
            <a:r>
              <a:rPr lang="en-US"/>
              <a:t>Pay attention to the architectural differences between these systems — specifically the distinction between peer-to-peer architectures (Cassandra and ScyllaDB) and master-based architectures (HBase). This distinction has direct implications for availability, operational complexity, and failure modes.</a:t>
            </a:r>
            <a:endParaRPr lang="en-US"/>
          </a:p>
        </p:txBody>
      </p:sp>
      <p:sp>
        <p:nvSpPr>
          <p:cNvPr id="1847586845"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7773975" name="Slide Image Placeholder 1"/>
          <p:cNvSpPr>
            <a:spLocks noChangeAspect="1" noGrp="1" noRot="1"/>
          </p:cNvSpPr>
          <p:nvPr>
            <p:ph type="sldImg"/>
          </p:nvPr>
        </p:nvSpPr>
        <p:spPr bwMode="auto"/>
      </p:sp>
      <p:sp>
        <p:nvSpPr>
          <p:cNvPr id="1033777923" name="Notes Placeholder 2"/>
          <p:cNvSpPr>
            <a:spLocks noGrp="1"/>
          </p:cNvSpPr>
          <p:nvPr>
            <p:ph type="body" idx="1"/>
          </p:nvPr>
        </p:nvSpPr>
        <p:spPr bwMode="auto"/>
        <p:txBody>
          <a:bodyPr/>
          <a:lstStyle/>
          <a:p>
            <a:pPr>
              <a:defRPr/>
            </a:pPr>
            <a:r>
              <a:rPr lang="en-US"/>
              <a:t>Apache Cassandra was created at Facebook in 2007 and 2008 to solve the problem of inbox search — Facebook needed a database that could handle the enormous write traffic of billions of messages while remaining available across multiple geographically distributed datacenters. Facebook's engineering team drew directly on the ideas in both the Google Bigtable paper (for the data model) and the Amazon Dynamo paper (for the distributed architecture).</a:t>
            </a:r>
            <a:br>
              <a:rPr lang="en-US"/>
            </a:br>
            <a:br>
              <a:rPr lang="en-US"/>
            </a:br>
            <a:r>
              <a:rPr lang="en-US"/>
              <a:t>Facebook open-sourced Cassandra in 2008, and it became an Apache top-level project in 2010. The current major version is Cassandra 5.x, which introduced significant improvements including vector search capabilities, a new storage engine, and improved CQL features.</a:t>
            </a:r>
            <a:br>
              <a:rPr lang="en-US"/>
            </a:br>
            <a:br>
              <a:rPr lang="en-US"/>
            </a:br>
            <a:r>
              <a:rPr lang="en-US"/>
              <a:t>The defining architectural choice of Cassandra is its peer-to-peer topology. There is no master node, no primary, no special coordinator — every node in a Cassandra cluster is exactly equal in capability and responsibility. Any node can accept reads and writes, and any node can serve as the coordinator for any request. This design eliminates the single point of failure that plagues master-based systems: when the master of a MySQL replica set fails, you have a period of unavailability while the system elects a new master. In Cassandra, there is no master to fail.</a:t>
            </a:r>
            <a:br>
              <a:rPr lang="en-US"/>
            </a:br>
            <a:br>
              <a:rPr lang="en-US"/>
            </a:br>
            <a:r>
              <a:rPr lang="en-US"/>
              <a:t>Nodes discover each other and maintain membership information through the Gossip protocol — a technique modelled on how gossip spreads through a social network. Each node periodically exchanges state information with a small random set of other nodes. Within a few seconds, any change in cluster membership — a new node joining, an existing node failing — has propagated to every other node in the cluster.</a:t>
            </a:r>
            <a:br>
              <a:rPr lang="en-US"/>
            </a:br>
            <a:br>
              <a:rPr lang="en-US"/>
            </a:br>
            <a:r>
              <a:rPr lang="en-US"/>
              <a:t>Data is distributed using consistent hashing. The token space is divided among nodes, and as the cluster grows or shrinks, only the token ranges of adjacent nodes need to be adjusted. There is no need to rehash and redistribute the entire dataset when you add a new node.</a:t>
            </a:r>
            <a:br>
              <a:rPr lang="en-US"/>
            </a:br>
            <a:br>
              <a:rPr lang="en-US"/>
            </a:br>
            <a:r>
              <a:rPr lang="en-US"/>
              <a:t>The production deployments of Cassandra are staggering in scale: Apple operates more than 75,000 Cassandra nodes storing over 10 petabytes of data. Netflix handles more than 15 million database operations per second. Discord stores trillions of messages. These numbers make Cassandra the most battle-tested column-family system in existence.</a:t>
            </a:r>
            <a:endParaRPr lang="en-US"/>
          </a:p>
        </p:txBody>
      </p:sp>
      <p:sp>
        <p:nvSpPr>
          <p:cNvPr id="1680751489"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5105229" name="Slide Image Placeholder 1"/>
          <p:cNvSpPr>
            <a:spLocks noChangeAspect="1" noGrp="1" noRot="1"/>
          </p:cNvSpPr>
          <p:nvPr>
            <p:ph type="sldImg"/>
          </p:nvPr>
        </p:nvSpPr>
        <p:spPr bwMode="auto"/>
      </p:sp>
      <p:sp>
        <p:nvSpPr>
          <p:cNvPr id="533002552" name="Notes Placeholder 2"/>
          <p:cNvSpPr>
            <a:spLocks noGrp="1"/>
          </p:cNvSpPr>
          <p:nvPr>
            <p:ph type="body" idx="1"/>
          </p:nvPr>
        </p:nvSpPr>
        <p:spPr bwMode="auto"/>
        <p:txBody>
          <a:bodyPr/>
          <a:lstStyle/>
          <a:p>
            <a:pPr>
              <a:defRPr/>
            </a:pPr>
            <a:r>
              <a:rPr lang="en-US"/>
              <a:t>This diagram illustrates the consistent hashing ring that is central to Cassandra's architecture. Let us work through it carefully.</a:t>
            </a:r>
            <a:br>
              <a:rPr lang="en-US"/>
            </a:br>
            <a:br>
              <a:rPr lang="en-US"/>
            </a:br>
            <a:r>
              <a:rPr lang="en-US"/>
              <a:t>Imagine the token space — all possible output values of the Murmur3 hash function — arranged in a circle. This circle represents all possible hash values from negative 2^63 to positive 2^63 minus one. The nodes in the cluster divide ownership of this circle among themselves.</a:t>
            </a:r>
            <a:br>
              <a:rPr lang="en-US"/>
            </a:br>
            <a:br>
              <a:rPr lang="en-US"/>
            </a:br>
            <a:r>
              <a:rPr lang="en-US"/>
              <a:t>In the diagram, Node A owns tokens starting at 0, Node B owns tokens starting at 85, Node C owns tokens starting at 170, Node D owns tokens starting at 255, and Node E owns tokens starting at 340. When a write arrives for a row with partition key "maria@example.com", Cassandra hashes that key with Murmur3, obtaining a token value — say, 120. Token 120 falls in the range owned by Node B (between 85 and 170), so Node B is the primary replica for this row.</a:t>
            </a:r>
            <a:br>
              <a:rPr lang="en-US"/>
            </a:br>
            <a:br>
              <a:rPr lang="en-US"/>
            </a:br>
            <a:r>
              <a:rPr lang="en-US"/>
              <a:t>With replication factor 3, Cassandra also stores copies on the next two nodes clockwise: Node C and Node D. This means the data is replicated to three of the five nodes. If Node B fails entirely, reads and writes can still be served by Node C or Node D, without any reconfiguration or failover procedure.</a:t>
            </a:r>
            <a:br>
              <a:rPr lang="en-US"/>
            </a:br>
            <a:br>
              <a:rPr lang="en-US"/>
            </a:br>
            <a:r>
              <a:rPr lang="en-US"/>
              <a:t>When a new node joins the cluster, it announces a new token value and takes ownership of a portion of the range previously owned by its neighbours. Only the data in that range needs to be streamed to the new node. The rest of the cluster is completely unaffected. This is why Cassandra can scale horizontally with zero downtime and minimal disruption — adding nodes is a routine operational procedure, not a risky maintenance event.</a:t>
            </a:r>
            <a:br>
              <a:rPr lang="en-US"/>
            </a:br>
            <a:br>
              <a:rPr lang="en-US"/>
            </a:br>
            <a:r>
              <a:rPr lang="en-US"/>
              <a:t>The gossip protocol ensures that every node in the cluster maintains an up-to-date view of the ring — which nodes exist, which token ranges they own, and whether each node is currently alive. If a node fails, gossip propagates this information within seconds, and client requests that would have gone to the failed node are automatically redirected to replicas.</a:t>
            </a:r>
            <a:endParaRPr lang="en-US"/>
          </a:p>
        </p:txBody>
      </p:sp>
      <p:sp>
        <p:nvSpPr>
          <p:cNvPr id="1837276990"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3654968" name="Slide Image Placeholder 1"/>
          <p:cNvSpPr>
            <a:spLocks noChangeAspect="1" noGrp="1" noRot="1"/>
          </p:cNvSpPr>
          <p:nvPr>
            <p:ph type="sldImg"/>
          </p:nvPr>
        </p:nvSpPr>
        <p:spPr bwMode="auto"/>
      </p:sp>
      <p:sp>
        <p:nvSpPr>
          <p:cNvPr id="230337371" name="Notes Placeholder 2"/>
          <p:cNvSpPr>
            <a:spLocks noGrp="1"/>
          </p:cNvSpPr>
          <p:nvPr>
            <p:ph type="body" idx="1"/>
          </p:nvPr>
        </p:nvSpPr>
        <p:spPr bwMode="auto"/>
        <p:txBody>
          <a:bodyPr/>
          <a:lstStyle/>
          <a:p>
            <a:pPr>
              <a:defRPr/>
            </a:pPr>
            <a:r>
              <a:rPr lang="en-US"/>
              <a:t>Cassandra's tunable consistency model is one of its most powerful and most misunderstood features. Let us understand it precisely.</a:t>
            </a:r>
            <a:br>
              <a:rPr lang="en-US"/>
            </a:br>
            <a:br>
              <a:rPr lang="en-US"/>
            </a:br>
            <a:r>
              <a:rPr lang="en-US"/>
              <a:t>In a distributed system with replication factor RF, each write is sent to RF replica nodes. The consistency level specifies how many of those replicas must acknowledge the write before Cassandra returns a success response to the client. Similarly for reads, the consistency level specifies how many replicas must respond before Cassandra returns a result.</a:t>
            </a:r>
            <a:br>
              <a:rPr lang="en-US"/>
            </a:br>
            <a:br>
              <a:rPr lang="en-US"/>
            </a:br>
            <a:r>
              <a:rPr lang="en-US"/>
              <a:t>CONSISTENCY ONE means that only one replica needs to respond. This gives the fastest possible response time and the highest availability — even if RF minus one nodes are down, a read or write can still succeed. The trade-off is that you might read stale data: if you write to node A with consistency ONE and then immediately read from node B with consistency ONE, and node B has not yet received the update through background replication, you will receive the old value.</a:t>
            </a:r>
            <a:br>
              <a:rPr lang="en-US"/>
            </a:br>
            <a:br>
              <a:rPr lang="en-US"/>
            </a:br>
            <a:r>
              <a:rPr lang="en-US"/>
              <a:t>CONSISTENCY QUORUM means that a majority of replicas must respond — specifically, floor(RF/2) + 1 replicas. With RF=3, this means 2 replicas must respond. Quorum provides a strong correctness guarantee: if both your writes and your reads use QUORUM, you are mathematically guaranteed to always read the most recent write. This is because the write quorum and the read quorum overlap — there is always at least one node that has the latest write and responds to the read.</a:t>
            </a:r>
            <a:br>
              <a:rPr lang="en-US"/>
            </a:br>
            <a:br>
              <a:rPr lang="en-US"/>
            </a:br>
            <a:r>
              <a:rPr lang="en-US"/>
              <a:t>CONSISTENCY ALL means every replica must respond. This gives the strongest possible consistency but the lowest availability — a single replica failure causes the operation to fail.</a:t>
            </a:r>
            <a:br>
              <a:rPr lang="en-US"/>
            </a:br>
            <a:br>
              <a:rPr lang="en-US"/>
            </a:br>
            <a:r>
              <a:rPr lang="en-US"/>
              <a:t>LOCAL_QUORUM is a variant designed for multi-datacenter deployments. Instead of requiring a quorum across all datacenters, it requires a quorum only within the local datacenter. This avoids the latency of cross-datacenter round trips while still providing strong consistency for single-datacenter access patterns.</a:t>
            </a:r>
            <a:br>
              <a:rPr lang="en-US"/>
            </a:br>
            <a:br>
              <a:rPr lang="en-US"/>
            </a:br>
            <a:r>
              <a:rPr lang="en-US"/>
              <a:t>The fundamental formula for strong consistency is: write_consistency_level + read_consistency_level &gt; replication_factor. With RF=3, writes at QUORUM (2) and reads at QUORUM (2): 2 + 2 = 4 &gt; 3. This guarantees that the read quorum always includes at least one node that has the latest write.</a:t>
            </a:r>
            <a:endParaRPr lang="en-US"/>
          </a:p>
        </p:txBody>
      </p:sp>
      <p:sp>
        <p:nvSpPr>
          <p:cNvPr id="1445937498"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548219" name="Slide Image Placeholder 1"/>
          <p:cNvSpPr>
            <a:spLocks noChangeAspect="1" noGrp="1" noRot="1"/>
          </p:cNvSpPr>
          <p:nvPr>
            <p:ph type="sldImg"/>
          </p:nvPr>
        </p:nvSpPr>
        <p:spPr bwMode="auto"/>
      </p:sp>
      <p:sp>
        <p:nvSpPr>
          <p:cNvPr id="885358873" name="Notes Placeholder 2"/>
          <p:cNvSpPr>
            <a:spLocks noGrp="1"/>
          </p:cNvSpPr>
          <p:nvPr>
            <p:ph type="body" idx="1"/>
          </p:nvPr>
        </p:nvSpPr>
        <p:spPr bwMode="auto"/>
        <p:txBody>
          <a:bodyPr/>
          <a:lstStyle/>
          <a:p>
            <a:pPr>
              <a:defRPr/>
            </a:pPr>
            <a:r>
              <a:rPr lang="en-US"/>
              <a:t>Apache HBase takes a fundamentally different architectural approach from Cassandra. Where Cassandra uses a peer-to-peer ring with no special nodes, HBase uses a traditional master-worker architecture reminiscent of the Google Bigtable design it is modelled on.</a:t>
            </a:r>
            <a:br>
              <a:rPr lang="en-US"/>
            </a:br>
            <a:br>
              <a:rPr lang="en-US"/>
            </a:br>
            <a:r>
              <a:rPr lang="en-US"/>
              <a:t>HBase has three main components. The HMaster is the master node responsible for coordinating the cluster: it assigns regions (data shards) to RegionServers, handles load balancing, and manages schema changes. The RegionServers are the worker nodes that actually store and serve data. ZooKeeper is a distributed coordination service that maintains cluster state, performs leader election if the HMaster fails, and provides a central location for configuration information.</a:t>
            </a:r>
            <a:br>
              <a:rPr lang="en-US"/>
            </a:br>
            <a:br>
              <a:rPr lang="en-US"/>
            </a:br>
            <a:r>
              <a:rPr lang="en-US"/>
              <a:t>HBase stores its data in HDFS — the Hadoop Distributed File System. This deep integration with the Hadoop ecosystem is both HBase's greatest strength and its greatest operational challenge. It means HBase data can be processed directly by MapReduce jobs, Spark, Hive, and other Hadoop-ecosystem tools without any data movement. But it also means that operating HBase requires operating HDFS and ZooKeeper, adding significant infrastructure complexity.</a:t>
            </a:r>
            <a:br>
              <a:rPr lang="en-US"/>
            </a:br>
            <a:br>
              <a:rPr lang="en-US"/>
            </a:br>
            <a:r>
              <a:rPr lang="en-US"/>
              <a:t>The key architectural distinction is consistency: HBase is a CP system under the CAP theorem. It provides strong consistency guarantees — if you write to HBase and then immediately read the same key, you will always see your write. This is possible because HBase uses a single RegionServer as the authoritative source for each piece of data, and all reads and writes for a given key go through that RegionServer. Cassandra, by contrast, is an AP system by default — it prioritises availability and partition tolerance over strong consistency.</a:t>
            </a:r>
            <a:br>
              <a:rPr lang="en-US"/>
            </a:br>
            <a:br>
              <a:rPr lang="en-US"/>
            </a:br>
            <a:r>
              <a:rPr lang="en-US"/>
              <a:t>HBase's strong consistency makes it appropriate for applications that require strict read-after-write guarantees. Its tight Hadoop integration makes it natural for organisations that are already running Hadoop infrastructure for batch analytics. But the operational complexity of maintaining HBase, HDFS, and ZooKeeper together is substantially higher than operating a Cassandra cluster.</a:t>
            </a:r>
            <a:endParaRPr lang="en-US"/>
          </a:p>
        </p:txBody>
      </p:sp>
      <p:sp>
        <p:nvSpPr>
          <p:cNvPr id="730193540"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9019892" name="Slide Image Placeholder 1"/>
          <p:cNvSpPr>
            <a:spLocks noChangeAspect="1" noGrp="1" noRot="1"/>
          </p:cNvSpPr>
          <p:nvPr>
            <p:ph type="sldImg"/>
          </p:nvPr>
        </p:nvSpPr>
        <p:spPr bwMode="auto"/>
      </p:sp>
      <p:sp>
        <p:nvSpPr>
          <p:cNvPr id="151635416" name="Notes Placeholder 2"/>
          <p:cNvSpPr>
            <a:spLocks noGrp="1"/>
          </p:cNvSpPr>
          <p:nvPr>
            <p:ph type="body" idx="1"/>
          </p:nvPr>
        </p:nvSpPr>
        <p:spPr bwMode="auto"/>
        <p:txBody>
          <a:bodyPr/>
          <a:lstStyle/>
          <a:p>
            <a:pPr>
              <a:defRPr/>
            </a:pPr>
            <a:r>
              <a:rPr lang="en-US"/>
              <a:t>ScyllaDB represents the most significant development in the column-family database space in the past decade. To understand why it was created, you need to understand a fundamental limitation of Apache Cassandra.</a:t>
            </a:r>
            <a:br>
              <a:rPr lang="en-US"/>
            </a:br>
            <a:br>
              <a:rPr lang="en-US"/>
            </a:br>
            <a:r>
              <a:rPr lang="en-US"/>
              <a:t>Cassandra is written in Java and runs on the Java Virtual Machine. The JVM is a sophisticated platform with excellent tooling and a mature ecosystem, but it has one characteristic that is deeply problematic for latency-sensitive database workloads: garbage collection pauses. The JVM periodically stops all running threads to reclaim memory that is no longer needed. These stop-the-world garbage collection pauses can last from a few milliseconds to several seconds, and during a pause, the entire Cassandra node becomes unresponsive. For a database serving thousands of requests per second, even a 100-millisecond pause causes a visible latency spike in the tail percentiles (p99, p99.9).</a:t>
            </a:r>
            <a:br>
              <a:rPr lang="en-US"/>
            </a:br>
            <a:br>
              <a:rPr lang="en-US"/>
            </a:br>
            <a:r>
              <a:rPr lang="en-US"/>
              <a:t>ScyllaDB was created to solve this problem. In December 2014, Avi Kivity — one of the original creators of KVM, the Linux kernel virtualisation system — and Dor Laor founded a startup with the goal of rewriting Cassandra in C++. The goal was to create a system that is wire-compatible with Cassandra (supporting the same CQL protocol, the same SSTable file format, and the same data model) but eliminates all JVM-related overhead.</a:t>
            </a:r>
            <a:br>
              <a:rPr lang="en-US"/>
            </a:br>
            <a:br>
              <a:rPr lang="en-US"/>
            </a:br>
            <a:r>
              <a:rPr lang="en-US"/>
              <a:t>The key architectural innovation in ScyllaDB is the Seastar framework, which ScyllaDB itself developed and open-sourced. Seastar implements a shard-per-core, shared-nothing architecture. Each CPU core in the system gets its own dedicated thread, its own memory pool, and its own subset of data. Cores never share data — they communicate only through explicit asynchronous message passing. This eliminates all lock contention and context switching between cores. When a request arrives, it is processed entirely on one core from start to finish, with no coordination overhead.</a:t>
            </a:r>
            <a:br>
              <a:rPr lang="en-US"/>
            </a:br>
            <a:br>
              <a:rPr lang="en-US"/>
            </a:br>
            <a:r>
              <a:rPr lang="en-US"/>
              <a:t>The performance results are compelling: ScyllaDB consistently demonstrates 2x to 5x higher throughput than equivalent Cassandra deployments in independent benchmarks, with significantly lower and more predictable tail latency. Samsung's benchmark observed 10x to 37x speedups on high-end multi-core hardware. Discord's engineering team reports that after migrating from Cassandra to ScyllaDB, their p99 read latency dropped from over 40 milliseconds to under 15 milliseconds.</a:t>
            </a:r>
            <a:endParaRPr lang="en-US"/>
          </a:p>
        </p:txBody>
      </p:sp>
      <p:sp>
        <p:nvSpPr>
          <p:cNvPr id="1782229419"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3609505" name="Slide Image Placeholder 1"/>
          <p:cNvSpPr>
            <a:spLocks noChangeAspect="1" noGrp="1" noRot="1"/>
          </p:cNvSpPr>
          <p:nvPr>
            <p:ph type="sldImg"/>
          </p:nvPr>
        </p:nvSpPr>
        <p:spPr bwMode="auto"/>
      </p:sp>
      <p:sp>
        <p:nvSpPr>
          <p:cNvPr id="729050833" name="Notes Placeholder 2"/>
          <p:cNvSpPr>
            <a:spLocks noGrp="1"/>
          </p:cNvSpPr>
          <p:nvPr>
            <p:ph type="body" idx="1"/>
          </p:nvPr>
        </p:nvSpPr>
        <p:spPr bwMode="auto"/>
        <p:txBody>
          <a:bodyPr/>
          <a:lstStyle/>
          <a:p>
            <a:pPr>
              <a:defRPr/>
            </a:pPr>
            <a:r>
              <a:rPr lang="en-US"/>
              <a:t>All major cloud providers now offer managed column-family database services that eliminate the operational burden of running these systems yourself. Understanding these offerings is practically important for engineers who will be making architecture decisions in their careers.</a:t>
            </a:r>
            <a:br>
              <a:rPr lang="en-US"/>
            </a:br>
            <a:br>
              <a:rPr lang="en-US"/>
            </a:br>
            <a:r>
              <a:rPr lang="en-US"/>
              <a:t>Amazon Keyspaces, formerly called Amazon Managed Apache Cassandra Service, provides a fully managed, serverless Cassandra-compatible database. You interact with it using standard CQL, and existing applications that use the Cassandra driver can often migrate to Keyspaces with minimal code changes. The serverless model means you do not provision nodes or manage a cluster — Amazon automatically scales the capacity based on your usage. For teams that need Cassandra semantics but want to avoid the operational complexity, Keyspaces is an attractive option.</a:t>
            </a:r>
            <a:br>
              <a:rPr lang="en-US"/>
            </a:br>
            <a:br>
              <a:rPr lang="en-US"/>
            </a:br>
            <a:r>
              <a:rPr lang="en-US"/>
              <a:t>Google Cloud Bigtable is the managed service built on the same infrastructure as the original Google Bigtable described in the 2006 paper. It is a strong-consistency CP system that scales to petabytes. It powers many of Google's own products — Gmail, Google Search, and Google Maps all use Bigtable internally. The HBase API is compatible with Bigtable, so HBase applications can be migrated.</a:t>
            </a:r>
            <a:br>
              <a:rPr lang="en-US"/>
            </a:br>
            <a:br>
              <a:rPr lang="en-US"/>
            </a:br>
            <a:r>
              <a:rPr lang="en-US"/>
              <a:t>Azure Cosmos DB offers a Cassandra API alongside several other data model APIs (document, key-value, graph, and table). A single Cosmos DB account can be accessed as if it were Cassandra, MongoDB, or a table store, which is useful for organisations that need to store different types of data with a single managed service. Cosmos DB provides a 99.999% availability SLA and global distribution with a few clicks.</a:t>
            </a:r>
            <a:br>
              <a:rPr lang="en-US"/>
            </a:br>
            <a:br>
              <a:rPr lang="en-US"/>
            </a:br>
            <a:r>
              <a:rPr lang="en-US"/>
              <a:t>DataStax Astra DB is a managed Cassandra service built by DataStax, the leading commercial company behind Apache Cassandra. Astra runs on any of the three major clouds and offers additional features including a REST API, a GraphQL API, and, as of 2024, vector search capabilities for AI applications.</a:t>
            </a:r>
            <a:br>
              <a:rPr lang="en-US"/>
            </a:br>
            <a:br>
              <a:rPr lang="en-US"/>
            </a:br>
            <a:r>
              <a:rPr lang="en-US"/>
              <a:t>The general trend is clear: the operational complexity of running column-family databases at scale has led most organisations to adopt managed cloud services, while the underlying data model and query patterns remain unchanged.</a:t>
            </a:r>
            <a:endParaRPr lang="en-US"/>
          </a:p>
        </p:txBody>
      </p:sp>
      <p:sp>
        <p:nvSpPr>
          <p:cNvPr id="1151309252"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9964451" name="Slide Image Placeholder 1"/>
          <p:cNvSpPr>
            <a:spLocks noChangeAspect="1" noGrp="1" noRot="1"/>
          </p:cNvSpPr>
          <p:nvPr>
            <p:ph type="sldImg"/>
          </p:nvPr>
        </p:nvSpPr>
        <p:spPr bwMode="auto"/>
      </p:sp>
      <p:sp>
        <p:nvSpPr>
          <p:cNvPr id="299612742" name="Notes Placeholder 2"/>
          <p:cNvSpPr>
            <a:spLocks noGrp="1"/>
          </p:cNvSpPr>
          <p:nvPr>
            <p:ph type="body" idx="1"/>
          </p:nvPr>
        </p:nvSpPr>
        <p:spPr bwMode="auto"/>
        <p:txBody>
          <a:bodyPr/>
          <a:lstStyle/>
          <a:p>
            <a:pPr>
              <a:defRPr/>
            </a:pPr>
            <a:r>
              <a:rPr lang="en-US"/>
              <a:t>This table summarises the key dimensions of comparison across the major column-family systems. Study it carefully — it encapsulates the most important decision-making information for an engineer choosing between these systems.</a:t>
            </a:r>
            <a:br>
              <a:rPr lang="en-US"/>
            </a:br>
            <a:br>
              <a:rPr lang="en-US"/>
            </a:br>
            <a:r>
              <a:rPr lang="en-US"/>
              <a:t>Apache Cassandra provides tunable consistency — you choose the consistency level per operation, from ONE to ALL. It is implemented in Java, which means JVM startup overhead and garbage collection pauses. Its peer-to-peer ring architecture means there is no single point of failure. It is the best choice for applications that need high availability and can tolerate eventual consistency, especially for globally distributed deployments.</a:t>
            </a:r>
            <a:br>
              <a:rPr lang="en-US"/>
            </a:br>
            <a:br>
              <a:rPr lang="en-US"/>
            </a:br>
            <a:r>
              <a:rPr lang="en-US"/>
              <a:t>Apache HBase provides strong consistency — reads always reflect the latest write. Like Cassandra, it is implemented in Java. Its master-RegionServer architecture provides strong consistency guarantees but introduces a potential single point of failure at the HMaster (mitigated by ZooKeeper-based failover). It is best suited for Hadoop-centric analytics environments where strong consistency is required and the operational overhead of HDFS and ZooKeeper is acceptable.</a:t>
            </a:r>
            <a:br>
              <a:rPr lang="en-US"/>
            </a:br>
            <a:br>
              <a:rPr lang="en-US"/>
            </a:br>
            <a:r>
              <a:rPr lang="en-US"/>
              <a:t>ScyllaDB also provides tunable consistency, identical in semantics to Cassandra because it is designed to be a drop-in replacement. It is implemented in C++20 with the Seastar framework, eliminating all JVM overhead. Its shard-per-core ring architecture delivers dramatically lower and more predictable latency. It is the best choice when Cassandra semantics are required but latency and throughput requirements are too demanding for the JVM.</a:t>
            </a:r>
            <a:br>
              <a:rPr lang="en-US"/>
            </a:br>
            <a:br>
              <a:rPr lang="en-US"/>
            </a:br>
            <a:r>
              <a:rPr lang="en-US"/>
              <a:t>Google Bigtable provides strong consistency. It is a fully managed, proprietary service on Google Cloud Platform. It is the original inspiration for all other column-family databases and is the right choice for organisations already using GCP who need petabyte-scale analytics.</a:t>
            </a:r>
            <a:br>
              <a:rPr lang="en-US"/>
            </a:br>
            <a:br>
              <a:rPr lang="en-US"/>
            </a:br>
            <a:r>
              <a:rPr lang="en-US"/>
              <a:t>Amazon Keyspaces provides tunable consistency and is fully serverless. There is no cluster to manage. It is the natural choice for AWS-native teams who need Cassandra-compatible CQL without operational overhead.</a:t>
            </a:r>
            <a:endParaRPr lang="en-US"/>
          </a:p>
        </p:txBody>
      </p:sp>
      <p:sp>
        <p:nvSpPr>
          <p:cNvPr id="2001396365"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7907422" name="Slide Image Placeholder 1"/>
          <p:cNvSpPr>
            <a:spLocks noChangeAspect="1" noGrp="1" noRot="1"/>
          </p:cNvSpPr>
          <p:nvPr>
            <p:ph type="sldImg"/>
          </p:nvPr>
        </p:nvSpPr>
        <p:spPr bwMode="auto"/>
      </p:sp>
      <p:sp>
        <p:nvSpPr>
          <p:cNvPr id="2116441852" name="Notes Placeholder 2"/>
          <p:cNvSpPr>
            <a:spLocks noGrp="1"/>
          </p:cNvSpPr>
          <p:nvPr>
            <p:ph type="body" idx="1"/>
          </p:nvPr>
        </p:nvSpPr>
        <p:spPr bwMode="auto"/>
        <p:txBody>
          <a:bodyPr/>
          <a:lstStyle/>
          <a:p>
            <a:pPr>
              <a:defRPr/>
            </a:pPr>
            <a:r>
              <a:rPr lang="en-US"/>
              <a:t>Module 4 puts theory into practice with CQL — the Cassandra Query Language.</a:t>
            </a:r>
            <a:br>
              <a:rPr lang="en-US"/>
            </a:br>
            <a:br>
              <a:rPr lang="en-US"/>
            </a:br>
            <a:r>
              <a:rPr lang="en-US"/>
              <a:t>CQL is deliberately designed to look similar to SQL, which reduces the learning curve for developers who already know relational databases. The syntax for creating tables, inserting data, and running queries will look familiar. However, the semantics are fundamentally different, and understanding those differences is what separates a developer who uses Cassandra effectively from one who writes queries that bring a cluster to its knees.</a:t>
            </a:r>
            <a:br>
              <a:rPr lang="en-US"/>
            </a:br>
            <a:br>
              <a:rPr lang="en-US"/>
            </a:br>
            <a:r>
              <a:rPr lang="en-US"/>
              <a:t>The most important principle of CQL — and of column-family data modeling in general — is query-driven design. In a relational database, you design the schema to represent your entities accurately, and then you use SQL's join and filtering capabilities to answer whatever questions your application needs. In Cassandra, the query language is intentionally restricted to prevent you from asking questions that the underlying data model cannot answer efficiently. If you try to filter on a non-key column, Cassandra will refuse or warn you. This is not a limitation — it is a design decision that forces you to think about access patterns at schema design time, rather than discovering performance problems in production.</a:t>
            </a:r>
            <a:endParaRPr lang="en-US"/>
          </a:p>
        </p:txBody>
      </p:sp>
      <p:sp>
        <p:nvSpPr>
          <p:cNvPr id="306224886"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625990" name="Slide Image Placeholder 1"/>
          <p:cNvSpPr>
            <a:spLocks noChangeAspect="1" noGrp="1" noRot="1"/>
          </p:cNvSpPr>
          <p:nvPr>
            <p:ph type="sldImg"/>
          </p:nvPr>
        </p:nvSpPr>
        <p:spPr bwMode="auto"/>
      </p:sp>
      <p:sp>
        <p:nvSpPr>
          <p:cNvPr id="1103681396" name="Notes Placeholder 2"/>
          <p:cNvSpPr>
            <a:spLocks noGrp="1"/>
          </p:cNvSpPr>
          <p:nvPr>
            <p:ph type="body" idx="1"/>
          </p:nvPr>
        </p:nvSpPr>
        <p:spPr bwMode="auto"/>
        <p:txBody>
          <a:bodyPr/>
          <a:lstStyle/>
          <a:p>
            <a:pPr>
              <a:defRPr/>
            </a:pPr>
            <a:r>
              <a:rPr lang="en-US"/>
              <a:t>CQL, the Cassandra Query Language, shares its syntax with SQL but differs fundamentally in its semantics. Understanding the differences is the key to writing effective Cassandra applications.</a:t>
            </a:r>
            <a:br>
              <a:rPr lang="en-US"/>
            </a:br>
            <a:br>
              <a:rPr lang="en-US"/>
            </a:br>
            <a:r>
              <a:rPr lang="en-US"/>
              <a:t>Syntactically, CQL supports the most common SQL operations: CREATE TABLE, INSERT INTO, SELECT, UPDATE, and DELETE. The column type system is rich — text, int, float, boolean, timestamp, uuid, and collection types like list, set, and map. If you know SQL, you can read CQL immediately.</a:t>
            </a:r>
            <a:br>
              <a:rPr lang="en-US"/>
            </a:br>
            <a:br>
              <a:rPr lang="en-US"/>
            </a:br>
            <a:r>
              <a:rPr lang="en-US"/>
              <a:t>The semantic differences are where CQL departs from SQL, and they all flow from the underlying data model.</a:t>
            </a:r>
            <a:br>
              <a:rPr lang="en-US"/>
            </a:br>
            <a:br>
              <a:rPr lang="en-US"/>
            </a:br>
            <a:r>
              <a:rPr lang="en-US"/>
              <a:t>First, there are no JOINs. In a relational database, normalisation separates data into multiple tables, and JOINs reconstruct the complete view at query time. In Cassandra, the cost of a JOIN — which would require reading from multiple partitions, potentially on different nodes — is unacceptable at the scales Cassandra is designed for. Instead, you denormalise: you store the data in the shape that your queries need, even if this means duplicating data across multiple tables.</a:t>
            </a:r>
            <a:br>
              <a:rPr lang="en-US"/>
            </a:br>
            <a:br>
              <a:rPr lang="en-US"/>
            </a:br>
            <a:r>
              <a:rPr lang="en-US"/>
              <a:t>Second, there are no arbitrary WHERE clauses. In SQL, you can filter on any column, and the database will find a way to execute the query (perhaps inefficiently, perhaps using a full table scan). In CQL, filtering is restricted to columns that are part of the primary key. If you attempt to filter on a non-key column, Cassandra will return an error or require you to add ALLOW FILTERING — an explicit acknowledgment that you understand you are requesting a potentially expensive operation.</a:t>
            </a:r>
            <a:br>
              <a:rPr lang="en-US"/>
            </a:br>
            <a:br>
              <a:rPr lang="en-US"/>
            </a:br>
            <a:r>
              <a:rPr lang="en-US"/>
              <a:t>Third, there are no subqueries. All the complexity that you might express with a subquery in SQL must be encoded into the table structure in CQL. This is a constraint that forces good design at schema creation time rather than allowing complexity to accumulate in query logic.</a:t>
            </a:r>
            <a:br>
              <a:rPr lang="en-US"/>
            </a:br>
            <a:br>
              <a:rPr lang="en-US"/>
            </a:br>
            <a:r>
              <a:rPr lang="en-US"/>
              <a:t>The tool for interacting with Cassandra is cqlsh — the CQL shell. It provides an interactive command line for running CQL statements, similar to psql for PostgreSQL or mysql for MySQL. Today's lab uses cqlsh inside a Docker container.</a:t>
            </a:r>
            <a:endParaRPr lang="en-US"/>
          </a:p>
        </p:txBody>
      </p:sp>
      <p:sp>
        <p:nvSpPr>
          <p:cNvPr id="527833709" name="Slide Number Placeholder 3"/>
          <p:cNvSpPr>
            <a:spLocks noGrp="1"/>
          </p:cNvSpPr>
          <p:nvPr>
            <p:ph type="sldNum" sz="quarter" idx="10"/>
          </p:nvPr>
        </p:nvSpPr>
        <p:spPr bwMode="auto"/>
        <p:txBody>
          <a:bodyPr/>
          <a:lstStyle/>
          <a:p>
            <a:pPr>
              <a:defRPr/>
            </a:pPr>
            <a:fld id="{F7021451-1387-4CA6-816F-3879F97B5CBC}" type="slidenum">
              <a:rPr lang="en-US"/>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0824741" name="Slide Image Placeholder 1"/>
          <p:cNvSpPr>
            <a:spLocks noChangeAspect="1" noGrp="1" noRot="1"/>
          </p:cNvSpPr>
          <p:nvPr>
            <p:ph type="sldImg"/>
          </p:nvPr>
        </p:nvSpPr>
        <p:spPr bwMode="auto"/>
      </p:sp>
      <p:sp>
        <p:nvSpPr>
          <p:cNvPr id="2068648121" name="Notes Placeholder 2"/>
          <p:cNvSpPr>
            <a:spLocks noGrp="1"/>
          </p:cNvSpPr>
          <p:nvPr>
            <p:ph type="body" idx="1"/>
          </p:nvPr>
        </p:nvSpPr>
        <p:spPr bwMode="auto"/>
        <p:txBody>
          <a:bodyPr/>
          <a:lstStyle/>
          <a:p>
            <a:pPr>
              <a:defRPr/>
            </a:pPr>
            <a:r>
              <a:rPr lang="en-US"/>
              <a:t>Let us walk through this CQL schema definition line by line.</a:t>
            </a:r>
            <a:br>
              <a:rPr lang="en-US"/>
            </a:br>
            <a:br>
              <a:rPr lang="en-US"/>
            </a:br>
            <a:r>
              <a:rPr lang="en-US"/>
              <a:t>The CREATE KEYSPACE statement creates the top-level namespace. The name is university. The WITH replication clause is mandatory and specifies the replication strategy and replication factor. We are using NetworkTopologyStrategy with a replication factor of 3 for datacenter1. NetworkTopologyStrategy is the recommended strategy for any production deployment — it allows you to specify different replication factors for different datacenters, enabling multi-datacenter deployments where each datacenter can independently serve all read and write requests. SimpleStrategy is only appropriate for single-datacenter development environments. The AND durable_writes = true clause tells Cassandra to always write to the Commit Log for this keyspace. Setting this to false would improve write performance slightly but would mean that data accepted into the MemTable but not yet flushed to an SSTable could be lost on a crash. Never set durable_writes to false in production.</a:t>
            </a:r>
            <a:br>
              <a:rPr lang="en-US"/>
            </a:br>
            <a:br>
              <a:rPr lang="en-US"/>
            </a:br>
            <a:r>
              <a:rPr lang="en-US"/>
              <a:t>The USE university statement switches the active keyspace, similar to the USE command in MySQL.</a:t>
            </a:r>
            <a:br>
              <a:rPr lang="en-US"/>
            </a:br>
            <a:br>
              <a:rPr lang="en-US"/>
            </a:br>
            <a:r>
              <a:rPr lang="en-US"/>
              <a:t>The CREATE TABLE statement creates the column family. The columns are student_id (TEXT), enrolled_year (INT), name (TEXT), department (TEXT), and gpa (FLOAT). Notice that courses is declared as SET&lt;TEXT&gt; — a collection type that stores an unordered set of unique text values. This allows us to store a student's enrolled courses directly in the student row, avoiding the need for a separate enrollment table.</a:t>
            </a:r>
            <a:br>
              <a:rPr lang="en-US"/>
            </a:br>
            <a:br>
              <a:rPr lang="en-US"/>
            </a:br>
            <a:r>
              <a:rPr lang="en-US"/>
              <a:t>The PRIMARY KEY declaration is the most important part. The syntax ((student_id), enrolled_year) means: student_id is the partition key (indicated by the inner parentheses), and enrolled_year is the clustering key. Every row with the same student_id is stored together on the same node, and within that group, rows are sorted by enrolled_year.</a:t>
            </a:r>
            <a:br>
              <a:rPr lang="en-US"/>
            </a:br>
            <a:br>
              <a:rPr lang="en-US"/>
            </a:br>
            <a:r>
              <a:rPr lang="en-US"/>
              <a:t>The CLUSTERING ORDER BY (enrolled_year DESC) clause specifies that within each partition, rows should be stored in descending order of enrolled_year — meaning the most recently enrolled year appears first on disk. This optimises the common query pattern of getting the most recent enrollment record for student X.</a:t>
            </a:r>
            <a:endParaRPr lang="en-US"/>
          </a:p>
        </p:txBody>
      </p:sp>
      <p:sp>
        <p:nvSpPr>
          <p:cNvPr id="1322747544" name="Slide Number Placeholder 3"/>
          <p:cNvSpPr>
            <a:spLocks noGrp="1"/>
          </p:cNvSpPr>
          <p:nvPr>
            <p:ph type="sldNum" sz="quarter" idx="10"/>
          </p:nvPr>
        </p:nvSpPr>
        <p:spPr bwMode="auto"/>
        <p:txBody>
          <a:bodyPr/>
          <a:lstStyle/>
          <a:p>
            <a:pPr>
              <a:defRPr/>
            </a:pPr>
            <a:fld id="{F7021451-1387-4CA6-816F-3879F97B5CBC}" type="slidenum">
              <a:rPr lang="en-US"/>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7091088" name="Slide Image Placeholder 1"/>
          <p:cNvSpPr>
            <a:spLocks noChangeAspect="1" noGrp="1" noRot="1"/>
          </p:cNvSpPr>
          <p:nvPr>
            <p:ph type="sldImg"/>
          </p:nvPr>
        </p:nvSpPr>
        <p:spPr bwMode="auto"/>
      </p:sp>
      <p:sp>
        <p:nvSpPr>
          <p:cNvPr id="265935286" name="Notes Placeholder 2"/>
          <p:cNvSpPr>
            <a:spLocks noGrp="1"/>
          </p:cNvSpPr>
          <p:nvPr>
            <p:ph type="body" idx="1"/>
          </p:nvPr>
        </p:nvSpPr>
        <p:spPr bwMode="auto"/>
        <p:txBody>
          <a:bodyPr/>
          <a:lstStyle/>
          <a:p>
            <a:pPr>
              <a:defRPr/>
            </a:pPr>
            <a:r>
              <a:rPr lang="en-US"/>
              <a:t>Now let us look at how to write and query data.</a:t>
            </a:r>
            <a:br>
              <a:rPr lang="en-US"/>
            </a:br>
            <a:br>
              <a:rPr lang="en-US"/>
            </a:br>
            <a:r>
              <a:rPr lang="en-US"/>
              <a:t>The INSERT INTO statement follows familiar SQL syntax: specify the table name, list the columns, and provide the VALUES. Notice that the courses column receives a set literal — the curly brace syntax {value1, value2, value3} creates a CQL SET. Cassandra stores these values unordered and deduplicated, meaning if you insert the same course name twice, it will only appear once.</a:t>
            </a:r>
            <a:br>
              <a:rPr lang="en-US"/>
            </a:br>
            <a:br>
              <a:rPr lang="en-US"/>
            </a:br>
            <a:r>
              <a:rPr lang="en-US"/>
              <a:t>One important difference from SQL INSERT: Cassandra's INSERT is actually an "upsert" — if a row with the same primary key already exists, the INSERT will update the non-key column values rather than raising a duplicate key error. This is consistent with the append-only, Last-Write-Wins philosophy: there is no concept of a uniqueness violation at the row level (only at the partition key + clustering key combination level).</a:t>
            </a:r>
            <a:br>
              <a:rPr lang="en-US"/>
            </a:br>
            <a:br>
              <a:rPr lang="en-US"/>
            </a:br>
            <a:r>
              <a:rPr lang="en-US"/>
              <a:t>The first SELECT statement uses the partition key in the WHERE clause: WHERE student_id = 'S001'. This is an efficient query — Cassandra hashes 'S001', finds the node that owns that token, and retrieves all rows with that partition key. The response time is typically in single-digit milliseconds even on large clusters.</a:t>
            </a:r>
            <a:br>
              <a:rPr lang="en-US"/>
            </a:br>
            <a:br>
              <a:rPr lang="en-US"/>
            </a:br>
            <a:r>
              <a:rPr lang="en-US"/>
              <a:t>The second SELECT adds a clustering key range filter: WHERE student_id = 'S001' AND enrolled_year &gt;= 2022. This is also efficient — Cassandra reads only the rows within the specified clustering key range from the partition, which is a sequential scan of a contiguous block on disk.</a:t>
            </a:r>
            <a:br>
              <a:rPr lang="en-US"/>
            </a:br>
            <a:br>
              <a:rPr lang="en-US"/>
            </a:br>
            <a:r>
              <a:rPr lang="en-US"/>
              <a:t>The third query — SELECT * FROM students WHERE gpa &gt; 9.0 ALLOW FILTERING — is the dangerous one. This query requires Cassandra to scan every row in every partition on every node to find rows where gpa exceeds 9.0. On a large table, this will be slow and will put load on every node in the cluster. The ALLOW FILTERING keyword is Cassandra's way of requiring you to explicitly acknowledge that you understand the performance implications. In production systems, you should never use ALLOW FILTERING on tables with significant data volume. Instead, design a separate lookup table with the appropriate partition key for this access pattern.</a:t>
            </a:r>
            <a:endParaRPr lang="en-US"/>
          </a:p>
        </p:txBody>
      </p:sp>
      <p:sp>
        <p:nvSpPr>
          <p:cNvPr id="1922040182" name="Slide Number Placeholder 3"/>
          <p:cNvSpPr>
            <a:spLocks noGrp="1"/>
          </p:cNvSpPr>
          <p:nvPr>
            <p:ph type="sldNum" sz="quarter" idx="10"/>
          </p:nvPr>
        </p:nvSpPr>
        <p:spPr bwMode="auto"/>
        <p:txBody>
          <a:bodyPr/>
          <a:lstStyle/>
          <a:p>
            <a:pPr>
              <a:defRPr/>
            </a:pPr>
            <a:fld id="{F7021451-1387-4CA6-816F-3879F97B5CBC}" type="slidenum">
              <a:rPr lang="en-US"/>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0066825" name="Slide Image Placeholder 1"/>
          <p:cNvSpPr>
            <a:spLocks noChangeAspect="1" noGrp="1" noRot="1"/>
          </p:cNvSpPr>
          <p:nvPr>
            <p:ph type="sldImg"/>
          </p:nvPr>
        </p:nvSpPr>
        <p:spPr bwMode="auto"/>
      </p:sp>
      <p:sp>
        <p:nvSpPr>
          <p:cNvPr id="1380966195" name="Notes Placeholder 2"/>
          <p:cNvSpPr>
            <a:spLocks noGrp="1"/>
          </p:cNvSpPr>
          <p:nvPr>
            <p:ph type="body" idx="1"/>
          </p:nvPr>
        </p:nvSpPr>
        <p:spPr bwMode="auto"/>
        <p:txBody>
          <a:bodyPr/>
          <a:lstStyle/>
          <a:p>
            <a:pPr>
              <a:defRPr/>
            </a:pPr>
            <a:r>
              <a:rPr lang="en-US"/>
              <a:t>Query-driven design is the single most important concept in Cassandra data modeling, and it represents a fundamental inversion of the relational database design process.</a:t>
            </a:r>
            <a:br>
              <a:rPr lang="en-US"/>
            </a:br>
            <a:br>
              <a:rPr lang="en-US"/>
            </a:br>
            <a:r>
              <a:rPr lang="en-US"/>
              <a:t>In relational database design, you start by identifying your domain entities — students, courses, enrollments, grades — and model them as tables, normalising to third normal form to eliminate redundancy. You create foreign keys to represent relationships. The query language — SQL with its JOIN capability — handles the task of reassembling the normalised data into the shape your application needs at query time. This approach works well because SQL's optimizer can make intelligent decisions about how to execute arbitrary queries, and the relational engine is designed to handle complex multi-table reads efficiently.</a:t>
            </a:r>
            <a:br>
              <a:rPr lang="en-US"/>
            </a:br>
            <a:br>
              <a:rPr lang="en-US"/>
            </a:br>
            <a:r>
              <a:rPr lang="en-US"/>
              <a:t>In Cassandra, the query optimizer is intentionally minimal, and multi-partition reads are expensive. This means the data must already be in the shape that the queries need. If your application needs to display a user's profile page showing their name, department, GPA, and list of enrolled courses, you should have a table whose partition key is user_id and whose columns include name, department, gpa, and courses — exactly the data needed for that page, requiring exactly one partition read.</a:t>
            </a:r>
            <a:br>
              <a:rPr lang="en-US"/>
            </a:br>
            <a:br>
              <a:rPr lang="en-US"/>
            </a:br>
            <a:r>
              <a:rPr lang="en-US"/>
              <a:t>The practical process for Cassandra data modeling is as follows: first, list every query that your application will execute, in order of frequency. Second, for each query, determine what the WHERE clause will be — this becomes the primary key structure (partition key for equality filters, clustering key for range filters and sort orders). Third, create a table for each distinct access pattern, even if this means storing the same piece of data in multiple tables. Denormalisation is not a design flaw in Cassandra — it is the correct approach.</a:t>
            </a:r>
            <a:br>
              <a:rPr lang="en-US"/>
            </a:br>
            <a:br>
              <a:rPr lang="en-US"/>
            </a:br>
            <a:r>
              <a:rPr lang="en-US"/>
              <a:t>The trade-off is obvious: if the same data lives in multiple tables, writes must update all of them. Cassandra supports BATCH statements to atomically write to multiple tables, which partially addresses this concern. But the fundamental point remains: in Cassandra, write amplification (writing the same data multiple times) is the accepted cost of eliminating read complexity (reading from multiple partitions).</a:t>
            </a:r>
            <a:endParaRPr lang="en-US"/>
          </a:p>
        </p:txBody>
      </p:sp>
      <p:sp>
        <p:nvSpPr>
          <p:cNvPr id="1428673008" name="Slide Number Placeholder 3"/>
          <p:cNvSpPr>
            <a:spLocks noGrp="1"/>
          </p:cNvSpPr>
          <p:nvPr>
            <p:ph type="sldNum" sz="quarter" idx="10"/>
          </p:nvPr>
        </p:nvSpPr>
        <p:spPr bwMode="auto"/>
        <p:txBody>
          <a:bodyPr/>
          <a:lstStyle/>
          <a:p>
            <a:pPr>
              <a:defRPr/>
            </a:pPr>
            <a:fld id="{F7021451-1387-4CA6-816F-3879F97B5CBC}" type="slidenum">
              <a:rPr lang="en-US"/>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4255867" name="Slide Image Placeholder 1"/>
          <p:cNvSpPr>
            <a:spLocks noChangeAspect="1" noGrp="1" noRot="1"/>
          </p:cNvSpPr>
          <p:nvPr>
            <p:ph type="sldImg"/>
          </p:nvPr>
        </p:nvSpPr>
        <p:spPr bwMode="auto"/>
      </p:sp>
      <p:sp>
        <p:nvSpPr>
          <p:cNvPr id="1882480781" name="Notes Placeholder 2"/>
          <p:cNvSpPr>
            <a:spLocks noGrp="1"/>
          </p:cNvSpPr>
          <p:nvPr>
            <p:ph type="body" idx="1"/>
          </p:nvPr>
        </p:nvSpPr>
        <p:spPr bwMode="auto"/>
        <p:txBody>
          <a:bodyPr/>
          <a:lstStyle/>
          <a:p>
            <a:pPr>
              <a:defRPr/>
            </a:pPr>
            <a:r>
              <a:rPr lang="en-US"/>
              <a:t>This example demonstrates the archetypal Cassandra use case: time-series data from IoT sensors. It is worth spending significant time on this example because it directly applies to the kinds of systems that Electrical and Computer Engineering graduates are likely to build.</a:t>
            </a:r>
            <a:br>
              <a:rPr lang="en-US"/>
            </a:br>
            <a:br>
              <a:rPr lang="en-US"/>
            </a:br>
            <a:r>
              <a:rPr lang="en-US"/>
              <a:t>Consider a smart building management system that collects temperature, humidity, and pressure readings from thousands of sensors, each reporting once per second. In a single day, a building with 1,000 sensors generates 86.4 million readings. Over a year, that is more than 31 billion readings. This is exactly the scale at which relational databases struggle and column-family databases excel.</a:t>
            </a:r>
            <a:br>
              <a:rPr lang="en-US"/>
            </a:br>
            <a:br>
              <a:rPr lang="en-US"/>
            </a:br>
            <a:r>
              <a:rPr lang="en-US"/>
              <a:t>The table design shown here uses sensor_id as the partition key and reading_time as the clustering key with CLUSTERING ORDER BY (reading_time DESC). This design encodes the most critical access pattern directly into the schema: "give me the most recent N readings for sensor X" translates to "read the first N rows of the sensor_id partition" — a single disk seek followed by a sequential read.</a:t>
            </a:r>
            <a:br>
              <a:rPr lang="en-US"/>
            </a:br>
            <a:br>
              <a:rPr lang="en-US"/>
            </a:br>
            <a:r>
              <a:rPr lang="en-US"/>
              <a:t>The WITH CLUSTERING ORDER BY (reading_time DESC) clause is essential. Without it, readings within a partition would be stored in ascending time order, and retrieving the most recent reading would require seeking to the end of the partition rather than the beginning. By storing in descending order, the newest readings are physically first, and a LIMIT 10 query reads only the first 10 rows from the partition.</a:t>
            </a:r>
            <a:br>
              <a:rPr lang="en-US"/>
            </a:br>
            <a:br>
              <a:rPr lang="en-US"/>
            </a:br>
            <a:r>
              <a:rPr lang="en-US"/>
              <a:t>The default_time_to_live = 2592000 setting specifies that all rows in this table automatically expire after 30 days (2,592,000 seconds). This is a powerful feature for IoT data, where you typically want to retain recent data for real-time dashboards and alerts, but you do not want to pay indefinitely growing storage costs for historical data that has been aggregated and stored elsewhere. When a row's TTL expires, Cassandra writes a tombstone marker, and the row is physically deleted during the next compaction cycle.</a:t>
            </a:r>
            <a:endParaRPr lang="en-US"/>
          </a:p>
        </p:txBody>
      </p:sp>
      <p:sp>
        <p:nvSpPr>
          <p:cNvPr id="1981528000" name="Slide Number Placeholder 3"/>
          <p:cNvSpPr>
            <a:spLocks noGrp="1"/>
          </p:cNvSpPr>
          <p:nvPr>
            <p:ph type="sldNum" sz="quarter" idx="10"/>
          </p:nvPr>
        </p:nvSpPr>
        <p:spPr bwMode="auto"/>
        <p:txBody>
          <a:bodyPr/>
          <a:lstStyle/>
          <a:p>
            <a:pPr>
              <a:defRPr/>
            </a:pPr>
            <a:fld id="{F7021451-1387-4CA6-816F-3879F97B5CBC}" type="slidenum">
              <a:rPr lang="en-US"/>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0622308" name="Slide Image Placeholder 1"/>
          <p:cNvSpPr>
            <a:spLocks noChangeAspect="1" noGrp="1" noRot="1"/>
          </p:cNvSpPr>
          <p:nvPr>
            <p:ph type="sldImg"/>
          </p:nvPr>
        </p:nvSpPr>
        <p:spPr bwMode="auto"/>
      </p:sp>
      <p:sp>
        <p:nvSpPr>
          <p:cNvPr id="174556149" name="Notes Placeholder 2"/>
          <p:cNvSpPr>
            <a:spLocks noGrp="1"/>
          </p:cNvSpPr>
          <p:nvPr>
            <p:ph type="body" idx="1"/>
          </p:nvPr>
        </p:nvSpPr>
        <p:spPr bwMode="auto"/>
        <p:txBody>
          <a:bodyPr/>
          <a:lstStyle/>
          <a:p>
            <a:pPr>
              <a:defRPr/>
            </a:pPr>
            <a:r>
              <a:rPr lang="en-US"/>
              <a:t>Secondary indexes and materialized views are mechanisms for querying Cassandra tables on columns other than the primary key. Understanding their limitations and trade-offs is important for designing real applications.</a:t>
            </a:r>
            <a:br>
              <a:rPr lang="en-US"/>
            </a:br>
            <a:br>
              <a:rPr lang="en-US"/>
            </a:br>
            <a:r>
              <a:rPr lang="en-US"/>
              <a:t>A secondary index in Cassandra works very differently from a secondary index in a relational database. In PostgreSQL or MySQL, a secondary index is a B-tree structure that allows the database to efficiently locate rows with a given column value anywhere in the table. In Cassandra, a secondary index is a separate hidden table maintained on each node, storing the indexed column values and their corresponding partition keys. When you query on an indexed column, Cassandra must scatter-gather: it sends the query to every node, each node searches its local secondary index, and the results are collected and merged by the coordinator. This scatter-gather pattern means the cost scales linearly with the number of nodes, not the number of matching rows. For large clusters, this can be very expensive.</a:t>
            </a:r>
            <a:br>
              <a:rPr lang="en-US"/>
            </a:br>
            <a:br>
              <a:rPr lang="en-US"/>
            </a:br>
            <a:r>
              <a:rPr lang="en-US"/>
              <a:t>Secondary indexes are appropriate only for low-cardinality columns on tables that will not be scanned frequently — for example, an "account_status" column with values like "active", "suspended", or "closed" on a customers table. For high-cardinality columns like email addresses or timestamps, secondary indexes are harmful to performance.</a:t>
            </a:r>
            <a:br>
              <a:rPr lang="en-US"/>
            </a:br>
            <a:br>
              <a:rPr lang="en-US"/>
            </a:br>
            <a:r>
              <a:rPr lang="en-US"/>
              <a:t>Materialized views automate the pattern of maintaining a "lookup table" — a separate table with a different primary key structure that contains the same data. When you write to the base table, Cassandra automatically synchronises the write to all materialized views. The example shown creates a view partitioned by department instead of student_id. Queries on department now go to the materialised view and are efficient: they read from a single partition containing all students in a given department.</a:t>
            </a:r>
            <a:br>
              <a:rPr lang="en-US"/>
            </a:br>
            <a:br>
              <a:rPr lang="en-US"/>
            </a:br>
            <a:r>
              <a:rPr lang="en-US"/>
              <a:t>The general guidance for Cassandra data modeling is: if you have a frequent query pattern that does not match your primary key, create a separate lookup table (either manually or as a materialized view) rather than using a secondary index.</a:t>
            </a:r>
            <a:endParaRPr lang="en-US"/>
          </a:p>
        </p:txBody>
      </p:sp>
      <p:sp>
        <p:nvSpPr>
          <p:cNvPr id="577659335" name="Slide Number Placeholder 3"/>
          <p:cNvSpPr>
            <a:spLocks noGrp="1"/>
          </p:cNvSpPr>
          <p:nvPr>
            <p:ph type="sldNum" sz="quarter" idx="10"/>
          </p:nvPr>
        </p:nvSpPr>
        <p:spPr bwMode="auto"/>
        <p:txBody>
          <a:bodyPr/>
          <a:lstStyle/>
          <a:p>
            <a:pPr>
              <a:defRPr/>
            </a:pPr>
            <a:fld id="{F7021451-1387-4CA6-816F-3879F97B5CBC}" type="slidenum">
              <a:rPr lang="en-US"/>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5350705" name="Slide Image Placeholder 1"/>
          <p:cNvSpPr>
            <a:spLocks noChangeAspect="1" noGrp="1" noRot="1"/>
          </p:cNvSpPr>
          <p:nvPr>
            <p:ph type="sldImg"/>
          </p:nvPr>
        </p:nvSpPr>
        <p:spPr bwMode="auto"/>
      </p:sp>
      <p:sp>
        <p:nvSpPr>
          <p:cNvPr id="182726883" name="Notes Placeholder 2"/>
          <p:cNvSpPr>
            <a:spLocks noGrp="1"/>
          </p:cNvSpPr>
          <p:nvPr>
            <p:ph type="body" idx="1"/>
          </p:nvPr>
        </p:nvSpPr>
        <p:spPr bwMode="auto"/>
        <p:txBody>
          <a:bodyPr/>
          <a:lstStyle/>
          <a:p>
            <a:pPr>
              <a:defRPr/>
            </a:pPr>
            <a:r>
              <a:rPr lang="en-US"/>
              <a:t>CQL provides a rich type system that covers most common data representation needs. Let us go through the most important types and the guidelines for choosing between them.</a:t>
            </a:r>
            <a:br>
              <a:rPr lang="en-US"/>
            </a:br>
            <a:br>
              <a:rPr lang="en-US"/>
            </a:br>
            <a:r>
              <a:rPr lang="en-US"/>
              <a:t>TEXT and VARCHAR are equivalent in CQL — both store arbitrary UTF-8 strings. Use TEXT for all human-readable string data: names, email addresses, descriptive labels, JSON-encoded payloads.</a:t>
            </a:r>
            <a:br>
              <a:rPr lang="en-US"/>
            </a:br>
            <a:br>
              <a:rPr lang="en-US"/>
            </a:br>
            <a:r>
              <a:rPr lang="en-US"/>
              <a:t>UUID is a 128-bit universally unique identifier, generated according to RFC 4122. TIMEUUID is a variant of UUID (specifically UUID version 1) that embeds the current timestamp in the first 8 bytes. Because TIMEUUIDs are generated with the current time, they can be sorted chronologically, which makes them useful as clustering keys for time-ordered data. They also guarantee uniqueness even when generated concurrently on different nodes, making them superior to auto-incrementing integers for distributed systems.</a:t>
            </a:r>
            <a:br>
              <a:rPr lang="en-US"/>
            </a:br>
            <a:br>
              <a:rPr lang="en-US"/>
            </a:br>
            <a:r>
              <a:rPr lang="en-US"/>
              <a:t>TIMESTAMP stores a date and time with millisecond precision, as a signed 64-bit integer counting milliseconds since the Unix epoch. Always store timestamps in UTC — displaying them in local time is the application's responsibility, not the database's. Cassandra does not perform any timezone conversion.</a:t>
            </a:r>
            <a:br>
              <a:rPr lang="en-US"/>
            </a:br>
            <a:br>
              <a:rPr lang="en-US"/>
            </a:br>
            <a:r>
              <a:rPr lang="en-US"/>
              <a:t>For numeric types, use INT for values that fit in 32 bits (up to approximately 2.1 billion), BIGINT for larger integers and for storing epoch milliseconds. FLOAT is a 32-bit IEEE 754 floating-point number; DOUBLE is 64-bit. For financial calculations where floating-point precision errors are unacceptable, use the DECIMAL type, which provides arbitrary-precision arithmetic.</a:t>
            </a:r>
            <a:br>
              <a:rPr lang="en-US"/>
            </a:br>
            <a:br>
              <a:rPr lang="en-US"/>
            </a:br>
            <a:r>
              <a:rPr lang="en-US"/>
              <a:t>The collection types — LIST, SET, and MAP — are particularly powerful. A LIST&lt;TEXT&gt; stores an ordered sequence of strings (e.g., a list of historical status values in order). A SET&lt;TEXT&gt; stores an unordered collection of unique strings (e.g., a student's enrolled courses — a SET automatically prevents duplicates). A MAP&lt;TEXT, TEXT&gt; stores key-value pairs (e.g., arbitrary metadata associated with a record).</a:t>
            </a:r>
            <a:br>
              <a:rPr lang="en-US"/>
            </a:br>
            <a:br>
              <a:rPr lang="en-US"/>
            </a:br>
            <a:r>
              <a:rPr lang="en-US"/>
              <a:t>The COUNTER type is special: it represents a distributed atomic counter. COUNTER columns can only be incremented or decremented, never set to an arbitrary value. A table that contains a COUNTER column cannot contain any other type of column except partition and clustering keys.</a:t>
            </a:r>
            <a:endParaRPr lang="en-US"/>
          </a:p>
        </p:txBody>
      </p:sp>
      <p:sp>
        <p:nvSpPr>
          <p:cNvPr id="1183827715" name="Slide Number Placeholder 3"/>
          <p:cNvSpPr>
            <a:spLocks noGrp="1"/>
          </p:cNvSpPr>
          <p:nvPr>
            <p:ph type="sldNum" sz="quarter" idx="10"/>
          </p:nvPr>
        </p:nvSpPr>
        <p:spPr bwMode="auto"/>
        <p:txBody>
          <a:bodyPr/>
          <a:lstStyle/>
          <a:p>
            <a:pPr>
              <a:defRPr/>
            </a:pPr>
            <a:fld id="{F7021451-1387-4CA6-816F-3879F97B5CBC}" type="slidenum">
              <a:rPr lang="en-US"/>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2822836" name="Slide Image Placeholder 1"/>
          <p:cNvSpPr>
            <a:spLocks noChangeAspect="1" noGrp="1" noRot="1"/>
          </p:cNvSpPr>
          <p:nvPr>
            <p:ph type="sldImg"/>
          </p:nvPr>
        </p:nvSpPr>
        <p:spPr bwMode="auto"/>
      </p:sp>
      <p:sp>
        <p:nvSpPr>
          <p:cNvPr id="1392339397" name="Notes Placeholder 2"/>
          <p:cNvSpPr>
            <a:spLocks noGrp="1"/>
          </p:cNvSpPr>
          <p:nvPr>
            <p:ph type="body" idx="1"/>
          </p:nvPr>
        </p:nvSpPr>
        <p:spPr bwMode="auto"/>
        <p:txBody>
          <a:bodyPr/>
          <a:lstStyle/>
          <a:p>
            <a:pPr>
              <a:defRPr/>
            </a:pPr>
            <a:r>
              <a:rPr lang="en-US"/>
              <a:t>Module 5 covers the operational and architectural aspects of column-family databases that bridge theory and practice.</a:t>
            </a:r>
            <a:br>
              <a:rPr lang="en-US"/>
            </a:br>
            <a:br>
              <a:rPr lang="en-US"/>
            </a:br>
            <a:r>
              <a:rPr lang="en-US"/>
              <a:t>We have discussed the data model and the query language. Now we need to address the questions that matter most in a production environment: how does data stay safe when nodes fail (replication), how do we reason about correctness guarantees in a distributed system (CAP theorem and consistency), how does Cassandra maintain performance as data accumulates (compaction), and what does the successful use of column-family databases look like in practice (case studies).</a:t>
            </a:r>
            <a:br>
              <a:rPr lang="en-US"/>
            </a:br>
            <a:br>
              <a:rPr lang="en-US"/>
            </a:br>
            <a:r>
              <a:rPr lang="en-US"/>
              <a:t>These topics are directly relevant to the kinds of decisions you will make as engineers — choosing between systems, designing replication topologies, selecting compaction strategies for specific workloads, and understanding the operational implications of your architectural choices.</a:t>
            </a:r>
            <a:endParaRPr lang="en-US"/>
          </a:p>
        </p:txBody>
      </p:sp>
      <p:sp>
        <p:nvSpPr>
          <p:cNvPr id="1723975718" name="Slide Number Placeholder 3"/>
          <p:cNvSpPr>
            <a:spLocks noGrp="1"/>
          </p:cNvSpPr>
          <p:nvPr>
            <p:ph type="sldNum" sz="quarter" idx="10"/>
          </p:nvPr>
        </p:nvSpPr>
        <p:spPr bwMode="auto"/>
        <p:txBody>
          <a:bodyPr/>
          <a:lstStyle/>
          <a:p>
            <a:pPr>
              <a:defRPr/>
            </a:pPr>
            <a:fld id="{F7021451-1387-4CA6-816F-3879F97B5CBC}" type="slidenum">
              <a:rPr lang="en-US"/>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2707456" name="Slide Image Placeholder 1"/>
          <p:cNvSpPr>
            <a:spLocks noChangeAspect="1" noGrp="1" noRot="1"/>
          </p:cNvSpPr>
          <p:nvPr>
            <p:ph type="sldImg"/>
          </p:nvPr>
        </p:nvSpPr>
        <p:spPr bwMode="auto"/>
      </p:sp>
      <p:sp>
        <p:nvSpPr>
          <p:cNvPr id="261562433" name="Notes Placeholder 2"/>
          <p:cNvSpPr>
            <a:spLocks noGrp="1"/>
          </p:cNvSpPr>
          <p:nvPr>
            <p:ph type="body" idx="1"/>
          </p:nvPr>
        </p:nvSpPr>
        <p:spPr bwMode="auto"/>
        <p:txBody>
          <a:bodyPr/>
          <a:lstStyle/>
          <a:p>
            <a:pPr>
              <a:defRPr/>
            </a:pPr>
            <a:r>
              <a:rPr lang="en-US"/>
              <a:t>Replication is the mechanism by which Cassandra provides fault tolerance and high availability. Without replication, the failure of a single node would cause all data stored on that node to become temporarily or permanently unavailable. With replication, every piece of data exists on multiple nodes, so the failure of any individual node is transparent to the client.</a:t>
            </a:r>
            <a:br>
              <a:rPr lang="en-US"/>
            </a:br>
            <a:br>
              <a:rPr lang="en-US"/>
            </a:br>
            <a:r>
              <a:rPr lang="en-US"/>
              <a:t>SimpleStrategy places replicas on the next N nodes clockwise in the ring, without any awareness of physical topology. Node A's replicas go to Node B and Node C, regardless of whether those nodes are in the same rack, the same datacenter, or the same physical building. This is acceptable for single-datacenter deployments where rack awareness is not critical, but it is explicitly discouraged for production multi-datacenter environments.</a:t>
            </a:r>
            <a:br>
              <a:rPr lang="en-US"/>
            </a:br>
            <a:br>
              <a:rPr lang="en-US"/>
            </a:br>
            <a:r>
              <a:rPr lang="en-US"/>
              <a:t>NetworkTopologyStrategy is the recommended strategy for all production deployments. It allows you to specify different replication factors for different datacenters: you might configure RF=3 in your primary datacenter (tolerating one node failure) and RF=2 in a secondary datacenter (for read serving only). Within each datacenter, NetworkTopologyStrategy is also rack-aware — it places replicas in different racks to protect against rack-level failures.</a:t>
            </a:r>
            <a:br>
              <a:rPr lang="en-US"/>
            </a:br>
            <a:br>
              <a:rPr lang="en-US"/>
            </a:br>
            <a:r>
              <a:rPr lang="en-US"/>
              <a:t>The replication factor determines the fault tolerance of your cluster. With RF=1, there is no redundancy — if the node storing a partition fails, that partition is inaccessible until the node recovers. With RF=3, the cluster can tolerate the complete failure of one replica while still serving reads and writes at QUORUM consistency. With RF=5, the cluster can tolerate the failure of two replicas simultaneously.</a:t>
            </a:r>
            <a:br>
              <a:rPr lang="en-US"/>
            </a:br>
            <a:br>
              <a:rPr lang="en-US"/>
            </a:br>
            <a:r>
              <a:rPr lang="en-US"/>
              <a:t>Think of the replication factor as analogous to RAID in a single-machine storage system. RF=1 is like RAID 0 — maximum storage efficiency, zero redundancy. RF=3 is like RAID 1 across three machines — every piece of data exists in three copies, providing two levels of redundancy.</a:t>
            </a:r>
            <a:br>
              <a:rPr lang="en-US"/>
            </a:br>
            <a:br>
              <a:rPr lang="en-US"/>
            </a:br>
            <a:r>
              <a:rPr lang="en-US"/>
              <a:t>An important additional benefit of replication is read throughput. Because any replica can serve a read request, a higher replication factor means more nodes can serve reads in parallel, effectively multiplying the cluster's read capacity.</a:t>
            </a:r>
            <a:endParaRPr lang="en-US"/>
          </a:p>
        </p:txBody>
      </p:sp>
      <p:sp>
        <p:nvSpPr>
          <p:cNvPr id="1938488149" name="Slide Number Placeholder 3"/>
          <p:cNvSpPr>
            <a:spLocks noGrp="1"/>
          </p:cNvSpPr>
          <p:nvPr>
            <p:ph type="sldNum" sz="quarter" idx="10"/>
          </p:nvPr>
        </p:nvSpPr>
        <p:spPr bwMode="auto"/>
        <p:txBody>
          <a:bodyPr/>
          <a:lstStyle/>
          <a:p>
            <a:pPr>
              <a:defRPr/>
            </a:pPr>
            <a:fld id="{F7021451-1387-4CA6-816F-3879F97B5CBC}" type="slidenum">
              <a:rPr lang="en-US"/>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6890413" name="Slide Image Placeholder 1"/>
          <p:cNvSpPr>
            <a:spLocks noChangeAspect="1" noGrp="1" noRot="1"/>
          </p:cNvSpPr>
          <p:nvPr>
            <p:ph type="sldImg"/>
          </p:nvPr>
        </p:nvSpPr>
        <p:spPr bwMode="auto"/>
      </p:sp>
      <p:sp>
        <p:nvSpPr>
          <p:cNvPr id="148249172" name="Notes Placeholder 2"/>
          <p:cNvSpPr>
            <a:spLocks noGrp="1"/>
          </p:cNvSpPr>
          <p:nvPr>
            <p:ph type="body" idx="1"/>
          </p:nvPr>
        </p:nvSpPr>
        <p:spPr bwMode="auto"/>
        <p:txBody>
          <a:bodyPr/>
          <a:lstStyle/>
          <a:p>
            <a:pPr>
              <a:defRPr/>
            </a:pPr>
            <a:r>
              <a:rPr lang="en-US"/>
              <a:t>The CAP theorem, proved by Eric Brewer in 2000 and formally proved by Gilbert and Lynch in 2002, is one of the most important theoretical results in distributed systems. Understanding it is essential for reasoning about the trade-offs in any distributed database system.</a:t>
            </a:r>
            <a:br>
              <a:rPr lang="en-US"/>
            </a:br>
            <a:br>
              <a:rPr lang="en-US"/>
            </a:br>
            <a:r>
              <a:rPr lang="en-US"/>
              <a:t>The theorem states that a distributed data store can provide at most two of three guarantees simultaneously: consistency, availability, and partition tolerance.</a:t>
            </a:r>
            <a:br>
              <a:rPr lang="en-US"/>
            </a:br>
            <a:br>
              <a:rPr lang="en-US"/>
            </a:br>
            <a:r>
              <a:rPr lang="en-US"/>
              <a:t>Consistency, in the CAP sense, means that every read receives the most recent write or an error. Note that this is a specific type of consistency — linearisability — that is stronger than the eventual consistency that Cassandra provides by default.</a:t>
            </a:r>
            <a:br>
              <a:rPr lang="en-US"/>
            </a:br>
            <a:br>
              <a:rPr lang="en-US"/>
            </a:br>
            <a:r>
              <a:rPr lang="en-US"/>
              <a:t>Availability means that every request receives a non-error response, though the response may not contain the most recent write. An available system never refuses to answer a question; it may sometimes give an outdated answer.</a:t>
            </a:r>
            <a:br>
              <a:rPr lang="en-US"/>
            </a:br>
            <a:br>
              <a:rPr lang="en-US"/>
            </a:br>
            <a:r>
              <a:rPr lang="en-US"/>
              <a:t>Partition tolerance means that the system continues to operate even when some nodes cannot communicate with each other due to a network partition. In a real-world distributed system spanning multiple servers, network failures are a fact of life. Designing a distributed system that cannot tolerate network partitions would make it fundamentally unreliable, so partition tolerance is essentially non-negotiable.</a:t>
            </a:r>
            <a:br>
              <a:rPr lang="en-US"/>
            </a:br>
            <a:br>
              <a:rPr lang="en-US"/>
            </a:br>
            <a:r>
              <a:rPr lang="en-US"/>
              <a:t>Because partition tolerance is always required, the real choice is between consistency and availability when a network partition occurs.</a:t>
            </a:r>
            <a:br>
              <a:rPr lang="en-US"/>
            </a:br>
            <a:br>
              <a:rPr lang="en-US"/>
            </a:br>
            <a:r>
              <a:rPr lang="en-US"/>
              <a:t>Apache Cassandra and ScyllaDB are AP systems: they choose availability over consistency during a network partition. When nodes cannot communicate with each other, Cassandra continues to accept reads and writes, potentially allowing different parts of the cluster to diverge temporarily. When the partition heals, the systems reconcile using Last-Write-Wins.</a:t>
            </a:r>
            <a:br>
              <a:rPr lang="en-US"/>
            </a:br>
            <a:br>
              <a:rPr lang="en-US"/>
            </a:br>
            <a:r>
              <a:rPr lang="en-US"/>
              <a:t>Apache HBase and Google Bigtable are CP systems: they choose consistency over availability during a network partition. If the RegionServer responsible for a piece of data cannot be reached, HBase will refuse to serve reads or writes for that data rather than risk returning stale information.</a:t>
            </a:r>
            <a:br>
              <a:rPr lang="en-US"/>
            </a:br>
            <a:br>
              <a:rPr lang="en-US"/>
            </a:br>
            <a:r>
              <a:rPr lang="en-US"/>
              <a:t>The PACELC model, proposed by Daniel Abadi in 2012, extends CAP to also consider the latency-consistency trade-off in the absence of a partition — it provides a more nuanced framework for comparing database systems in real-world conditions where partitions are rare.</a:t>
            </a:r>
            <a:endParaRPr lang="en-US"/>
          </a:p>
        </p:txBody>
      </p:sp>
      <p:sp>
        <p:nvSpPr>
          <p:cNvPr id="1687799391" name="Slide Number Placeholder 3"/>
          <p:cNvSpPr>
            <a:spLocks noGrp="1"/>
          </p:cNvSpPr>
          <p:nvPr>
            <p:ph type="sldNum" sz="quarter" idx="10"/>
          </p:nvPr>
        </p:nvSpPr>
        <p:spPr bwMode="auto"/>
        <p:txBody>
          <a:bodyPr/>
          <a:lstStyle/>
          <a:p>
            <a:pPr>
              <a:defRPr/>
            </a:pPr>
            <a:fld id="{F7021451-1387-4CA6-816F-3879F97B5CBC}" type="slidenum">
              <a:rPr lang="en-US"/>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8204418" name="Slide Image Placeholder 1"/>
          <p:cNvSpPr>
            <a:spLocks noChangeAspect="1" noGrp="1" noRot="1"/>
          </p:cNvSpPr>
          <p:nvPr>
            <p:ph type="sldImg"/>
          </p:nvPr>
        </p:nvSpPr>
        <p:spPr bwMode="auto"/>
      </p:sp>
      <p:sp>
        <p:nvSpPr>
          <p:cNvPr id="1249820719" name="Notes Placeholder 2"/>
          <p:cNvSpPr>
            <a:spLocks noGrp="1"/>
          </p:cNvSpPr>
          <p:nvPr>
            <p:ph type="body" idx="1"/>
          </p:nvPr>
        </p:nvSpPr>
        <p:spPr bwMode="auto"/>
        <p:txBody>
          <a:bodyPr/>
          <a:lstStyle/>
          <a:p>
            <a:pPr>
              <a:defRPr/>
            </a:pPr>
            <a:r>
              <a:rPr lang="en-US"/>
              <a:t>Compaction is the background maintenance process that keeps Cassandra healthy and performant over time. Without compaction, the number of SSTable files would grow without bound, reads would become progressively slower (more files to check), and deleted data would never be physically removed from disk.</a:t>
            </a:r>
            <a:br>
              <a:rPr lang="en-US"/>
            </a:br>
            <a:br>
              <a:rPr lang="en-US"/>
            </a:br>
            <a:r>
              <a:rPr lang="en-US"/>
              <a:t>To understand why compaction is necessary, recall the write path: every flush of a MemTable creates a new immutable SSTable file. If a key is updated 100 times between flushes, the same key may appear in 100 different SSTable files, each containing a different version of the data. When reading that key, Cassandra must check all 100 files and select the version with the highest timestamp. Compaction solves this by merging SSTable files together, keeping only the most recent version of each key.</a:t>
            </a:r>
            <a:br>
              <a:rPr lang="en-US"/>
            </a:br>
            <a:br>
              <a:rPr lang="en-US"/>
            </a:br>
            <a:r>
              <a:rPr lang="en-US"/>
              <a:t>The three main compaction strategies serve different workload profiles.</a:t>
            </a:r>
            <a:br>
              <a:rPr lang="en-US"/>
            </a:br>
            <a:br>
              <a:rPr lang="en-US"/>
            </a:br>
            <a:r>
              <a:rPr lang="en-US"/>
              <a:t>Size-Tiered Compaction Strategy (STCS) is the default strategy. It groups SSTables by size and merges groups of similarly-sized files together. STCS works well for write-heavy workloads because it minimises the write amplification — the ratio of actual disk writes to logical data writes. The trade-off is that it can produce very large SSTable files and temporarily increase disk space usage during compaction (because the merged file is written before the originals are deleted).</a:t>
            </a:r>
            <a:br>
              <a:rPr lang="en-US"/>
            </a:br>
            <a:br>
              <a:rPr lang="en-US"/>
            </a:br>
            <a:r>
              <a:rPr lang="en-US"/>
              <a:t>Leveled Compaction Strategy (LCS) maintains a tiered structure of fixed-size SSTable files, ensuring that each key appears in exactly one SSTable at any given time (except during compaction). This dramatically improves read performance because at most one SSTable file per level needs to be checked for any given key. The trade-off is higher write amplification — data is rewritten multiple times as it moves between levels. LCS is best for read-heavy workloads with frequent updates to the same keys.</a:t>
            </a:r>
            <a:br>
              <a:rPr lang="en-US"/>
            </a:br>
            <a:br>
              <a:rPr lang="en-US"/>
            </a:br>
            <a:r>
              <a:rPr lang="en-US"/>
              <a:t>Time-Window Compaction Strategy (TWCS) is specifically designed for time-series data. It groups data into time windows — for example, one window per day — and compacts data within the same window together. Once a time window closes (the day ends), that window's data is compacted into a single SSTable and never touched again. This is extremely efficient for IoT and metrics data, where old data is never updated and can be expired or archived en masse.</a:t>
            </a:r>
            <a:endParaRPr lang="en-US"/>
          </a:p>
        </p:txBody>
      </p:sp>
      <p:sp>
        <p:nvSpPr>
          <p:cNvPr id="1522049655" name="Slide Number Placeholder 3"/>
          <p:cNvSpPr>
            <a:spLocks noGrp="1"/>
          </p:cNvSpPr>
          <p:nvPr>
            <p:ph type="sldNum" sz="quarter" idx="10"/>
          </p:nvPr>
        </p:nvSpPr>
        <p:spPr bwMode="auto"/>
        <p:txBody>
          <a:bodyPr/>
          <a:lstStyle/>
          <a:p>
            <a:pPr>
              <a:defRPr/>
            </a:pPr>
            <a:fld id="{F7021451-1387-4CA6-816F-3879F97B5CBC}" type="slidenum">
              <a:rPr lang="en-US"/>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3290282" name="Slide Image Placeholder 1"/>
          <p:cNvSpPr>
            <a:spLocks noChangeAspect="1" noGrp="1" noRot="1"/>
          </p:cNvSpPr>
          <p:nvPr>
            <p:ph type="sldImg"/>
          </p:nvPr>
        </p:nvSpPr>
        <p:spPr bwMode="auto"/>
      </p:sp>
      <p:sp>
        <p:nvSpPr>
          <p:cNvPr id="943732558" name="Notes Placeholder 2"/>
          <p:cNvSpPr>
            <a:spLocks noGrp="1"/>
          </p:cNvSpPr>
          <p:nvPr>
            <p:ph type="body" idx="1"/>
          </p:nvPr>
        </p:nvSpPr>
        <p:spPr bwMode="auto"/>
        <p:txBody>
          <a:bodyPr/>
          <a:lstStyle/>
          <a:p>
            <a:pPr>
              <a:defRPr/>
            </a:pPr>
            <a:r>
              <a:rPr lang="en-US"/>
              <a:t>Column-family databases are not academic curiosities — they are the operational foundation of some of the world's most important and demanding digital services. Let us look at the specific use cases that demonstrate why column-family databases are the right tool for certain classes of problems.</a:t>
            </a:r>
            <a:br>
              <a:rPr lang="en-US"/>
            </a:br>
            <a:br>
              <a:rPr lang="en-US"/>
            </a:br>
            <a:r>
              <a:rPr lang="en-US"/>
              <a:t>Netflix uses Apache Cassandra to store viewing history, recommendation metadata, and session data. At peak hours, Netflix serves more than 15 million database operations per second, across a globally distributed user base. The access pattern is almost entirely driven by a single key — the user's account identifier — which maps naturally to a partition key in Cassandra. Reads are always for a specific user's data, and the consistency requirement is relaxed: if a newly watched episode appears in your history a few seconds late, the user experience is acceptable.</a:t>
            </a:r>
            <a:br>
              <a:rPr lang="en-US"/>
            </a:br>
            <a:br>
              <a:rPr lang="en-US"/>
            </a:br>
            <a:r>
              <a:rPr lang="en-US"/>
              <a:t>Discord switched from Apache Cassandra to ScyllaDB in 2023 and documented the migration in a widely-read engineering blog post. Discord needed to store trillions of messages with the ability to efficiently retrieve a user's message history for any channel. The access pattern — "give me the most recent N messages in channel X" — maps directly to a Cassandra partition key (channel_id) and clustering key (message_id or timestamp). The migration to ScyllaDB was driven by latency requirements that Cassandra's JVM could not reliably meet.</a:t>
            </a:r>
            <a:br>
              <a:rPr lang="en-US"/>
            </a:br>
            <a:br>
              <a:rPr lang="en-US"/>
            </a:br>
            <a:r>
              <a:rPr lang="en-US"/>
              <a:t>Apple iCloud uses more than 75,000 Cassandra nodes to store contacts, calendar events, notes, and other user data for more than one billion Apple device users. The scale is extraordinary, and the access pattern is ideal for Cassandra: reads and writes are always scoped to a specific user's data.</a:t>
            </a:r>
            <a:br>
              <a:rPr lang="en-US"/>
            </a:br>
            <a:br>
              <a:rPr lang="en-US"/>
            </a:br>
            <a:r>
              <a:rPr lang="en-US"/>
              <a:t>For IoT and telecommunications: a smart electricity grid with 10 million smart meters, each reporting power consumption once per minute, generates 10 million writes per minute. The time-series nature of this data, the write-heavy access pattern, and the need to efficiently retrieve recent readings for specific meters all make column-family databases the natural choice.</a:t>
            </a:r>
            <a:br>
              <a:rPr lang="en-US"/>
            </a:br>
            <a:br>
              <a:rPr lang="en-US"/>
            </a:br>
            <a:r>
              <a:rPr lang="en-US"/>
              <a:t>Financial services firms use column-family databases to store tick data — the stream of every price change for every traded instrument. Markets generate millions of ticks per second during trading hours, and traders need to efficiently query recent tick data for specific instruments. The instrument symbol is the natural partition key; the timestamp is the natural clustering key.</a:t>
            </a:r>
            <a:endParaRPr lang="en-US"/>
          </a:p>
        </p:txBody>
      </p:sp>
      <p:sp>
        <p:nvSpPr>
          <p:cNvPr id="154647523" name="Slide Number Placeholder 3"/>
          <p:cNvSpPr>
            <a:spLocks noGrp="1"/>
          </p:cNvSpPr>
          <p:nvPr>
            <p:ph type="sldNum" sz="quarter" idx="10"/>
          </p:nvPr>
        </p:nvSpPr>
        <p:spPr bwMode="auto"/>
        <p:txBody>
          <a:bodyPr/>
          <a:lstStyle/>
          <a:p>
            <a:pPr>
              <a:defRPr/>
            </a:pPr>
            <a:fld id="{F7021451-1387-4CA6-816F-3879F97B5CBC}" type="slidenum">
              <a:rPr lang="en-US"/>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0818615" name="Slide Image Placeholder 1"/>
          <p:cNvSpPr>
            <a:spLocks noChangeAspect="1" noGrp="1" noRot="1"/>
          </p:cNvSpPr>
          <p:nvPr>
            <p:ph type="sldImg"/>
          </p:nvPr>
        </p:nvSpPr>
        <p:spPr bwMode="auto"/>
      </p:sp>
      <p:sp>
        <p:nvSpPr>
          <p:cNvPr id="1415612429" name="Notes Placeholder 2"/>
          <p:cNvSpPr>
            <a:spLocks noGrp="1"/>
          </p:cNvSpPr>
          <p:nvPr>
            <p:ph type="body" idx="1"/>
          </p:nvPr>
        </p:nvSpPr>
        <p:spPr bwMode="auto"/>
        <p:txBody>
          <a:bodyPr/>
          <a:lstStyle/>
          <a:p>
            <a:pPr>
              <a:defRPr/>
            </a:pPr>
            <a:r>
              <a:rPr lang="en-US"/>
              <a:t>Discord's migration from Apache Cassandra to ScyllaDB is one of the most instructive case studies in distributed database engineering in recent years. It illustrates the practical limits of Java-based systems at extreme scale, and it demonstrates how a theoretically equivalent C++ implementation can resolve problems that are fundamentally architectural rather than operational.</a:t>
            </a:r>
            <a:br>
              <a:rPr lang="en-US"/>
            </a:br>
            <a:br>
              <a:rPr lang="en-US"/>
            </a:br>
            <a:r>
              <a:rPr lang="en-US"/>
              <a:t>Before the migration, Discord was running Apache Cassandra to store message histories for hundreds of millions of users across tens of millions of Discord servers. The system was working, but showing stress in several areas.</a:t>
            </a:r>
            <a:br>
              <a:rPr lang="en-US"/>
            </a:br>
            <a:br>
              <a:rPr lang="en-US"/>
            </a:br>
            <a:r>
              <a:rPr lang="en-US"/>
              <a:t>The most significant problem was latency predictability. Cassandra's JVM garbage collector was causing stop-the-world pauses that manifested as latency spikes in the tail percentiles — specifically p99 and p999 latencies were far higher than the median latency. This is a well-known JVM problem that has improved with each Java version but has never been completely eliminated. For Discord's interactive real-time messaging product, even occasional latency spikes of 40 to 125 milliseconds were noticeable and disruptive to the user experience.</a:t>
            </a:r>
            <a:br>
              <a:rPr lang="en-US"/>
            </a:br>
            <a:br>
              <a:rPr lang="en-US"/>
            </a:br>
            <a:r>
              <a:rPr lang="en-US"/>
              <a:t>The second problem was hot partitions. Some Discord channels — channels in very large, active communities — contained enormous numbers of messages. When these large partitions received high read traffic simultaneously, the Cassandra nodes storing them became CPU-bound, causing uneven performance across the cluster.</a:t>
            </a:r>
            <a:br>
              <a:rPr lang="en-US"/>
            </a:br>
            <a:br>
              <a:rPr lang="en-US"/>
            </a:br>
            <a:r>
              <a:rPr lang="en-US"/>
              <a:t>After migrating to ScyllaDB, Discord observed dramatic improvements. The shard-per-core architecture eliminated cross-core resource contention, distributing the load of hot partitions more evenly. The C++ runtime eliminated all GC pauses. The p99 read latency dropped from over 40 milliseconds to under 15 milliseconds. Discord reports that the migration required minimal code changes — because ScyllaDB is CQL-compatible, the application code that queried Cassandra worked without modification against ScyllaDB.</a:t>
            </a:r>
            <a:br>
              <a:rPr lang="en-US"/>
            </a:br>
            <a:br>
              <a:rPr lang="en-US"/>
            </a:br>
            <a:r>
              <a:rPr lang="en-US"/>
              <a:t>The key lesson from this case study is that the choice between Cassandra and ScyllaDB is not about data model or query language — both systems speak the same language. It is about whether the JVM's characteristics are acceptable for your latency requirements and your specific workload. If you need sub-10-millisecond p99 latencies at high throughput, ScyllaDB is the appropriate choice.</a:t>
            </a:r>
            <a:endParaRPr lang="en-US"/>
          </a:p>
        </p:txBody>
      </p:sp>
      <p:sp>
        <p:nvSpPr>
          <p:cNvPr id="1614299250" name="Slide Number Placeholder 3"/>
          <p:cNvSpPr>
            <a:spLocks noGrp="1"/>
          </p:cNvSpPr>
          <p:nvPr>
            <p:ph type="sldNum" sz="quarter" idx="10"/>
          </p:nvPr>
        </p:nvSpPr>
        <p:spPr bwMode="auto"/>
        <p:txBody>
          <a:bodyPr/>
          <a:lstStyle/>
          <a:p>
            <a:pPr>
              <a:defRPr/>
            </a:pPr>
            <a:fld id="{F7021451-1387-4CA6-816F-3879F97B5CBC}" type="slidenum">
              <a:rPr lang="en-US"/>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9889072" name="Slide Image Placeholder 1"/>
          <p:cNvSpPr>
            <a:spLocks noChangeAspect="1" noGrp="1" noRot="1"/>
          </p:cNvSpPr>
          <p:nvPr>
            <p:ph type="sldImg"/>
          </p:nvPr>
        </p:nvSpPr>
        <p:spPr bwMode="auto"/>
      </p:sp>
      <p:sp>
        <p:nvSpPr>
          <p:cNvPr id="1772863734" name="Notes Placeholder 2"/>
          <p:cNvSpPr>
            <a:spLocks noGrp="1"/>
          </p:cNvSpPr>
          <p:nvPr>
            <p:ph type="body" idx="1"/>
          </p:nvPr>
        </p:nvSpPr>
        <p:spPr bwMode="auto"/>
        <p:txBody>
          <a:bodyPr/>
          <a:lstStyle/>
          <a:p>
            <a:pPr>
              <a:defRPr/>
            </a:pPr>
            <a:r>
              <a:rPr lang="en-US"/>
              <a:t>Welcome to Module 6 — the practical lab.</a:t>
            </a:r>
            <a:br>
              <a:rPr lang="en-US"/>
            </a:br>
            <a:br>
              <a:rPr lang="en-US"/>
            </a:br>
            <a:r>
              <a:rPr lang="en-US"/>
              <a:t>For the next 60 minutes, you will work hands-on with Apache Cassandra running in Docker on a Linux system. The lab is designed to reinforce the theoretical concepts from Modules 1 through 5 through direct interaction with a real Cassandra instance.</a:t>
            </a:r>
            <a:br>
              <a:rPr lang="en-US"/>
            </a:br>
            <a:br>
              <a:rPr lang="en-US"/>
            </a:br>
            <a:r>
              <a:rPr lang="en-US"/>
              <a:t>The lab is structured as a sequence of 11 steps. Steps 1 through 3 cover environment setup: installing Docker if needed, pulling the Cassandra image, and connecting with cqlsh. Steps 4 through 8 cover the core CQL operations: creating a keyspace and table, inserting data, querying, updating, and deleting. Step 9 is a bonus task that applies the time-series data modeling pattern to an IoT sensor scenario — this is the step most directly relevant to your work as electrical or computer engineers. Steps 10 and 11 cover cluster inspection and the nodetool administration utility.</a:t>
            </a:r>
            <a:br>
              <a:rPr lang="en-US"/>
            </a:br>
            <a:br>
              <a:rPr lang="en-US"/>
            </a:br>
            <a:r>
              <a:rPr lang="en-US"/>
              <a:t>Please work through the steps in order. Each step builds on the previous one. If you get stuck, the troubleshooting slide at the end of the lab section lists the most common errors and their solutions. Do not hesitate to ask for help if you cannot resolve an error after checking the troubleshooting guide.</a:t>
            </a:r>
            <a:endParaRPr lang="en-US"/>
          </a:p>
        </p:txBody>
      </p:sp>
      <p:sp>
        <p:nvSpPr>
          <p:cNvPr id="312094599" name="Slide Number Placeholder 3"/>
          <p:cNvSpPr>
            <a:spLocks noGrp="1"/>
          </p:cNvSpPr>
          <p:nvPr>
            <p:ph type="sldNum" sz="quarter" idx="10"/>
          </p:nvPr>
        </p:nvSpPr>
        <p:spPr bwMode="auto"/>
        <p:txBody>
          <a:bodyPr/>
          <a:lstStyle/>
          <a:p>
            <a:pPr>
              <a:defRPr/>
            </a:pPr>
            <a:fld id="{F7021451-1387-4CA6-816F-3879F97B5CBC}" type="slidenum">
              <a:rPr lang="en-US"/>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7889577" name="Slide Image Placeholder 1"/>
          <p:cNvSpPr>
            <a:spLocks noChangeAspect="1" noGrp="1" noRot="1"/>
          </p:cNvSpPr>
          <p:nvPr>
            <p:ph type="sldImg"/>
          </p:nvPr>
        </p:nvSpPr>
        <p:spPr bwMode="auto"/>
      </p:sp>
      <p:sp>
        <p:nvSpPr>
          <p:cNvPr id="1310272603" name="Notes Placeholder 2"/>
          <p:cNvSpPr>
            <a:spLocks noGrp="1"/>
          </p:cNvSpPr>
          <p:nvPr>
            <p:ph type="body" idx="1"/>
          </p:nvPr>
        </p:nvSpPr>
        <p:spPr bwMode="auto"/>
        <p:txBody>
          <a:bodyPr/>
          <a:lstStyle/>
          <a:p>
            <a:pPr>
              <a:defRPr/>
            </a:pPr>
            <a:r>
              <a:rPr lang="en-US"/>
              <a:t>Before starting, verify that you meet the prerequisites.</a:t>
            </a:r>
            <a:br>
              <a:rPr lang="en-US"/>
            </a:br>
            <a:br>
              <a:rPr lang="en-US"/>
            </a:br>
            <a:r>
              <a:rPr lang="en-US"/>
              <a:t>Run the command "docker --version" in your terminal. You should see output like "Docker version 24.0.x" or newer. If Docker is not installed, proceed to Step 1. If it is installed, skip Step 1 and go directly to Step 2.</a:t>
            </a:r>
            <a:br>
              <a:rPr lang="en-US"/>
            </a:br>
            <a:br>
              <a:rPr lang="en-US"/>
            </a:br>
            <a:r>
              <a:rPr lang="en-US"/>
              <a:t>The Docker image we will use is the official Apache Cassandra 4.1 image from Docker Hub. This image is approximately 400 megabytes, so if your internet connection is slow, start the pull command early.</a:t>
            </a:r>
            <a:br>
              <a:rPr lang="en-US"/>
            </a:br>
            <a:br>
              <a:rPr lang="en-US"/>
            </a:br>
            <a:r>
              <a:rPr lang="en-US"/>
              <a:t>The lab exercises are all performed using cqlsh — the Cassandra Query Language shell — running inside the Docker container. You do not need to install any additional software on your host system. Everything is self-contained within the Docker container.</a:t>
            </a:r>
            <a:br>
              <a:rPr lang="en-US"/>
            </a:br>
            <a:br>
              <a:rPr lang="en-US"/>
            </a:br>
            <a:r>
              <a:rPr lang="en-US"/>
              <a:t>By the end of the lab, you will have: created a keyspace called university, created a students table with partition and clustering keys, inserted, queried, updated, and deleted rows, explored collection types (SET&lt;TEXT&gt;), worked with TTL (Time-to-Live), built a time-series IoT sensor table, and explored Cassandra's internal metadata through the system keyspace.</a:t>
            </a:r>
            <a:br>
              <a:rPr lang="en-US"/>
            </a:br>
            <a:br>
              <a:rPr lang="en-US"/>
            </a:br>
            <a:r>
              <a:rPr lang="en-US"/>
              <a:t>The deliverable for assessment is a screenshot of your terminal showing the output of "SELECT * FROM sensor_readings WHERE sensor_id = 'SENSOR_ECE_01';" after inserting at least five readings. Paste the screenshot into the lab submission form before the end of the lab session.</a:t>
            </a:r>
            <a:endParaRPr lang="en-US"/>
          </a:p>
        </p:txBody>
      </p:sp>
      <p:sp>
        <p:nvSpPr>
          <p:cNvPr id="647937472" name="Slide Number Placeholder 3"/>
          <p:cNvSpPr>
            <a:spLocks noGrp="1"/>
          </p:cNvSpPr>
          <p:nvPr>
            <p:ph type="sldNum" sz="quarter" idx="10"/>
          </p:nvPr>
        </p:nvSpPr>
        <p:spPr bwMode="auto"/>
        <p:txBody>
          <a:bodyPr/>
          <a:lstStyle/>
          <a:p>
            <a:pPr>
              <a:defRPr/>
            </a:pPr>
            <a:fld id="{F7021451-1387-4CA6-816F-3879F97B5CBC}" type="slidenum">
              <a:rPr lang="en-US"/>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6738289" name="Slide Image Placeholder 1"/>
          <p:cNvSpPr>
            <a:spLocks noChangeAspect="1" noGrp="1" noRot="1"/>
          </p:cNvSpPr>
          <p:nvPr>
            <p:ph type="sldImg"/>
          </p:nvPr>
        </p:nvSpPr>
        <p:spPr bwMode="auto"/>
      </p:sp>
      <p:sp>
        <p:nvSpPr>
          <p:cNvPr id="1673540123" name="Notes Placeholder 2"/>
          <p:cNvSpPr>
            <a:spLocks noGrp="1"/>
          </p:cNvSpPr>
          <p:nvPr>
            <p:ph type="body" idx="1"/>
          </p:nvPr>
        </p:nvSpPr>
        <p:spPr bwMode="auto"/>
        <p:txBody>
          <a:bodyPr/>
          <a:lstStyle/>
          <a:p>
            <a:pPr>
              <a:defRPr/>
            </a:pPr>
            <a:r>
              <a:rPr lang="en-US"/>
              <a:t>Step 1 covers Docker installation on Ubuntu or Debian Linux. If you are in a university lab with Docker already installed, you can skip this step and go directly to Step 2.</a:t>
            </a:r>
            <a:br>
              <a:rPr lang="en-US"/>
            </a:br>
            <a:br>
              <a:rPr lang="en-US"/>
            </a:br>
            <a:r>
              <a:rPr lang="en-US"/>
              <a:t>The first command, "sudo apt update", synchronises the local package index with the remote repositories. This ensures you install the latest available version of Docker, not a stale version from an outdated cache.</a:t>
            </a:r>
            <a:br>
              <a:rPr lang="en-US"/>
            </a:br>
            <a:br>
              <a:rPr lang="en-US"/>
            </a:br>
            <a:r>
              <a:rPr lang="en-US"/>
              <a:t>The second command, "sudo apt install -y docker.io", installs the Docker Engine package. The -y flag automatically answers "yes" to the installation prompt, so the installation proceeds without requiring keyboard input. On some Ubuntu systems, you may prefer to install from Docker's official repository rather than the Ubuntu package repository, as Docker's repository tends to have more recent versions. However, for this lab, the Ubuntu repository version is sufficient.</a:t>
            </a:r>
            <a:br>
              <a:rPr lang="en-US"/>
            </a:br>
            <a:br>
              <a:rPr lang="en-US"/>
            </a:br>
            <a:r>
              <a:rPr lang="en-US"/>
              <a:t>The third and fourth commands start the Docker service and configure it to start automatically at boot. "sudo systemctl start docker" starts the service immediately. "sudo systemctl enable docker" creates the appropriate systemd service links so Docker starts when the system boots.</a:t>
            </a:r>
            <a:br>
              <a:rPr lang="en-US"/>
            </a:br>
            <a:br>
              <a:rPr lang="en-US"/>
            </a:br>
            <a:r>
              <a:rPr lang="en-US"/>
              <a:t>The fifth command, "sudo usermod -aG docker $USER", adds your current user account to the docker group. This allows you to run Docker commands without sudo. Important: this change only takes effect after you log out and log back in, or after you run the command "newgrp docker" in your current terminal session. If you continue without doing this, you will need to prefix every Docker command with sudo.</a:t>
            </a:r>
            <a:br>
              <a:rPr lang="en-US"/>
            </a:br>
            <a:br>
              <a:rPr lang="en-US"/>
            </a:br>
            <a:r>
              <a:rPr lang="en-US"/>
              <a:t>The final command, "docker --version", verifies that the installation succeeded. If you see a version number, Docker is installed correctly and you can proceed to Step 2.</a:t>
            </a:r>
            <a:endParaRPr lang="en-US"/>
          </a:p>
        </p:txBody>
      </p:sp>
      <p:sp>
        <p:nvSpPr>
          <p:cNvPr id="229968717" name="Slide Number Placeholder 3"/>
          <p:cNvSpPr>
            <a:spLocks noGrp="1"/>
          </p:cNvSpPr>
          <p:nvPr>
            <p:ph type="sldNum" sz="quarter" idx="10"/>
          </p:nvPr>
        </p:nvSpPr>
        <p:spPr bwMode="auto"/>
        <p:txBody>
          <a:bodyPr/>
          <a:lstStyle/>
          <a:p>
            <a:pPr>
              <a:defRPr/>
            </a:pPr>
            <a:fld id="{F7021451-1387-4CA6-816F-3879F97B5CBC}" type="slidenum">
              <a:rPr lang="en-US"/>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3090796" name="Slide Image Placeholder 1"/>
          <p:cNvSpPr>
            <a:spLocks noChangeAspect="1" noGrp="1" noRot="1"/>
          </p:cNvSpPr>
          <p:nvPr>
            <p:ph type="sldImg"/>
          </p:nvPr>
        </p:nvSpPr>
        <p:spPr bwMode="auto"/>
      </p:sp>
      <p:sp>
        <p:nvSpPr>
          <p:cNvPr id="199767439" name="Notes Placeholder 2"/>
          <p:cNvSpPr>
            <a:spLocks noGrp="1"/>
          </p:cNvSpPr>
          <p:nvPr>
            <p:ph type="body" idx="1"/>
          </p:nvPr>
        </p:nvSpPr>
        <p:spPr bwMode="auto"/>
        <p:txBody>
          <a:bodyPr/>
          <a:lstStyle/>
          <a:p>
            <a:pPr>
              <a:defRPr/>
            </a:pPr>
            <a:r>
              <a:rPr lang="en-US"/>
              <a:t>Step 2 pulls the Apache Cassandra Docker image and starts the database server.</a:t>
            </a:r>
            <a:br>
              <a:rPr lang="en-US"/>
            </a:br>
            <a:br>
              <a:rPr lang="en-US"/>
            </a:br>
            <a:r>
              <a:rPr lang="en-US"/>
              <a:t>The first command, "docker pull cassandra:4.1", downloads the official Cassandra 4.1 image from Docker Hub. Version 4.1 is a Long Term Support release with a mature feature set and wide production adoption. The download is approximately 400 megabytes. While the image downloads, you can review the CQL syntax slides for Steps 4 through 8.</a:t>
            </a:r>
            <a:br>
              <a:rPr lang="en-US"/>
            </a:br>
            <a:br>
              <a:rPr lang="en-US"/>
            </a:br>
            <a:r>
              <a:rPr lang="en-US"/>
              <a:t>The "docker run" command starts a new container from the downloaded image. Let us examine each flag.</a:t>
            </a:r>
            <a:br>
              <a:rPr lang="en-US"/>
            </a:br>
            <a:br>
              <a:rPr lang="en-US"/>
            </a:br>
            <a:r>
              <a:rPr lang="en-US"/>
              <a:t>The -d flag runs the container in detached mode — in the background. Without -d, the container's output would stream to your terminal and you would need to open a separate terminal for subsequent commands.</a:t>
            </a:r>
            <a:br>
              <a:rPr lang="en-US"/>
            </a:br>
            <a:br>
              <a:rPr lang="en-US"/>
            </a:br>
            <a:r>
              <a:rPr lang="en-US"/>
              <a:t>The --name cassandra-lab flag assigns a human-readable name to the container. Without this flag, Docker assigns a randomly generated name. Using --name means you can refer to the container as "cassandra-lab" in subsequent commands rather than needing to look up its auto-generated ID.</a:t>
            </a:r>
            <a:br>
              <a:rPr lang="en-US"/>
            </a:br>
            <a:br>
              <a:rPr lang="en-US"/>
            </a:br>
            <a:r>
              <a:rPr lang="en-US"/>
              <a:t>The -p 9042:9042 flag maps port 9042 on your host machine to port 9042 inside the container. Port 9042 is the Cassandra native transport port — the port that cqlsh and all Cassandra client drivers connect to. The format is host_port:container_port.</a:t>
            </a:r>
            <a:br>
              <a:rPr lang="en-US"/>
            </a:br>
            <a:br>
              <a:rPr lang="en-US"/>
            </a:br>
            <a:r>
              <a:rPr lang="en-US"/>
              <a:t>After running the docker run command, Cassandra needs approximately 20 to 30 seconds to initialise. During this time, it starts the JVM, loads configuration, initialises the storage engine, and begins listening for connections. If you try to connect with cqlsh before Cassandra has finished starting, you will receive a "NoHostAvailable" error. Run "docker ps" to verify the container is running (STATUS should show "Up"), then wait 30 seconds before attempting to connect.</a:t>
            </a:r>
            <a:br>
              <a:rPr lang="en-US"/>
            </a:br>
            <a:br>
              <a:rPr lang="en-US"/>
            </a:br>
            <a:r>
              <a:rPr lang="en-US"/>
              <a:t>The "docker logs cassandra-lab | tail -20" command shows the last 20 lines of the container's startup log. Look for the message "Starting listening for CQL clients on /0.0.0.0:9042" — this confirms that Cassandra is ready to accept connections.</a:t>
            </a:r>
            <a:endParaRPr lang="en-US"/>
          </a:p>
        </p:txBody>
      </p:sp>
      <p:sp>
        <p:nvSpPr>
          <p:cNvPr id="35005427" name="Slide Number Placeholder 3"/>
          <p:cNvSpPr>
            <a:spLocks noGrp="1"/>
          </p:cNvSpPr>
          <p:nvPr>
            <p:ph type="sldNum" sz="quarter" idx="10"/>
          </p:nvPr>
        </p:nvSpPr>
        <p:spPr bwMode="auto"/>
        <p:txBody>
          <a:bodyPr/>
          <a:lstStyle/>
          <a:p>
            <a:pPr>
              <a:defRPr/>
            </a:pPr>
            <a:fld id="{F7021451-1387-4CA6-816F-3879F97B5CBC}" type="slidenum">
              <a:rPr lang="en-US"/>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4579894" name="Slide Image Placeholder 1"/>
          <p:cNvSpPr>
            <a:spLocks noChangeAspect="1" noGrp="1" noRot="1"/>
          </p:cNvSpPr>
          <p:nvPr>
            <p:ph type="sldImg"/>
          </p:nvPr>
        </p:nvSpPr>
        <p:spPr bwMode="auto"/>
      </p:sp>
      <p:sp>
        <p:nvSpPr>
          <p:cNvPr id="805322196" name="Notes Placeholder 2"/>
          <p:cNvSpPr>
            <a:spLocks noGrp="1"/>
          </p:cNvSpPr>
          <p:nvPr>
            <p:ph type="body" idx="1"/>
          </p:nvPr>
        </p:nvSpPr>
        <p:spPr bwMode="auto"/>
        <p:txBody>
          <a:bodyPr/>
          <a:lstStyle/>
          <a:p>
            <a:pPr>
              <a:defRPr/>
            </a:pPr>
            <a:r>
              <a:rPr lang="en-US"/>
              <a:t>Step 3 opens the Cassandra Query Language shell and performs your first interaction with the database.</a:t>
            </a:r>
            <a:br>
              <a:rPr lang="en-US"/>
            </a:br>
            <a:br>
              <a:rPr lang="en-US"/>
            </a:br>
            <a:r>
              <a:rPr lang="en-US"/>
              <a:t>The command "docker exec -it cassandra-lab cqlsh" runs the cqlsh program inside the running cassandra-lab container. Let us break down the flags.</a:t>
            </a:r>
            <a:br>
              <a:rPr lang="en-US"/>
            </a:br>
            <a:br>
              <a:rPr lang="en-US"/>
            </a:br>
            <a:r>
              <a:rPr lang="en-US"/>
              <a:t>"docker exec" runs a command inside an already-running container, as opposed to "docker run" which starts a new container. This is the correct way to interact with the Cassandra container we started in Step 2.</a:t>
            </a:r>
            <a:br>
              <a:rPr lang="en-US"/>
            </a:br>
            <a:br>
              <a:rPr lang="en-US"/>
            </a:br>
            <a:r>
              <a:rPr lang="en-US"/>
              <a:t>The -it flags combine -i (interactive — keep STDIN open) and -t (allocate a pseudo-TTY). Together, they enable an interactive terminal session. Without these flags, cqlsh would start but you would have no way to type commands.</a:t>
            </a:r>
            <a:br>
              <a:rPr lang="en-US"/>
            </a:br>
            <a:br>
              <a:rPr lang="en-US"/>
            </a:br>
            <a:r>
              <a:rPr lang="en-US"/>
              <a:t>"cassandra-lab" is the name of the container we started in Step 2. "cqlsh" is the CQL shell command to run inside the container.</a:t>
            </a:r>
            <a:br>
              <a:rPr lang="en-US"/>
            </a:br>
            <a:br>
              <a:rPr lang="en-US"/>
            </a:br>
            <a:r>
              <a:rPr lang="en-US"/>
              <a:t>When cqlsh connects successfully, you will see a welcome banner: "Connected to Test Cluster at 127.0.0.1:9042" followed by version information and the cqlsh prompt. The prompt "cqlsh&gt;" indicates that cqlsh is ready for CQL commands.</a:t>
            </a:r>
            <a:br>
              <a:rPr lang="en-US"/>
            </a:br>
            <a:br>
              <a:rPr lang="en-US"/>
            </a:br>
            <a:r>
              <a:rPr lang="en-US"/>
              <a:t>The "DESCRIBE KEYSPACES;" command lists all keyspaces currently defined in the cluster. Initially, you will see three system keyspaces: system, system_auth, and system_schema. These are internal Cassandra keyspaces that store cluster metadata, authentication information, and schema definitions respectively. You should never modify these directly.</a:t>
            </a:r>
            <a:br>
              <a:rPr lang="en-US"/>
            </a:br>
            <a:br>
              <a:rPr lang="en-US"/>
            </a:br>
            <a:r>
              <a:rPr lang="en-US"/>
              <a:t>The "EXIT;" command (or pressing Ctrl+D) closes the cqlsh session and returns you to the Linux shell.</a:t>
            </a:r>
            <a:br>
              <a:rPr lang="en-US"/>
            </a:br>
            <a:br>
              <a:rPr lang="en-US"/>
            </a:br>
            <a:r>
              <a:rPr lang="en-US"/>
              <a:t>If you receive a "Connection refused" or "NoHostAvailable" error when running cqlsh, it means Cassandra has not finished starting. Wait 15 to 20 more seconds and try again. If the error persists after two minutes, check the container logs with "docker logs cassandra-lab" and look for error messages during startup.</a:t>
            </a:r>
            <a:endParaRPr lang="en-US"/>
          </a:p>
        </p:txBody>
      </p:sp>
      <p:sp>
        <p:nvSpPr>
          <p:cNvPr id="736146108" name="Slide Number Placeholder 3"/>
          <p:cNvSpPr>
            <a:spLocks noGrp="1"/>
          </p:cNvSpPr>
          <p:nvPr>
            <p:ph type="sldNum" sz="quarter" idx="10"/>
          </p:nvPr>
        </p:nvSpPr>
        <p:spPr bwMode="auto"/>
        <p:txBody>
          <a:bodyPr/>
          <a:lstStyle/>
          <a:p>
            <a:pPr>
              <a:defRPr/>
            </a:pPr>
            <a:fld id="{F7021451-1387-4CA6-816F-3879F97B5CBC}" type="slidenum">
              <a:rPr lang="en-US"/>
              <a:t>42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04017" name="Slide Image Placeholder 1"/>
          <p:cNvSpPr>
            <a:spLocks noChangeAspect="1" noGrp="1" noRot="1"/>
          </p:cNvSpPr>
          <p:nvPr>
            <p:ph type="sldImg"/>
          </p:nvPr>
        </p:nvSpPr>
        <p:spPr bwMode="auto"/>
      </p:sp>
      <p:sp>
        <p:nvSpPr>
          <p:cNvPr id="1432712360" name="Notes Placeholder 2"/>
          <p:cNvSpPr>
            <a:spLocks noGrp="1"/>
          </p:cNvSpPr>
          <p:nvPr>
            <p:ph type="body" idx="1"/>
          </p:nvPr>
        </p:nvSpPr>
        <p:spPr bwMode="auto"/>
        <p:txBody>
          <a:bodyPr/>
          <a:lstStyle/>
          <a:p>
            <a:pPr>
              <a:defRPr/>
            </a:pPr>
            <a:r>
              <a:rPr lang="en-US"/>
              <a:t>Step 4 creates the keyspace that will contain our university database tables.</a:t>
            </a:r>
            <a:br>
              <a:rPr lang="en-US"/>
            </a:br>
            <a:br>
              <a:rPr lang="en-US"/>
            </a:br>
            <a:r>
              <a:rPr lang="en-US"/>
              <a:t>Start by connecting to cqlsh as shown in Step 3: "docker exec -it cassandra-lab cqlsh".</a:t>
            </a:r>
            <a:br>
              <a:rPr lang="en-US"/>
            </a:br>
            <a:br>
              <a:rPr lang="en-US"/>
            </a:br>
            <a:r>
              <a:rPr lang="en-US"/>
              <a:t>The CREATE KEYSPACE statement creates a new keyspace named university. The IF NOT EXISTS clause prevents an error if the keyspace already exists — the statement simply does nothing if university already exists. This is a good practice for schema management.</a:t>
            </a:r>
            <a:br>
              <a:rPr lang="en-US"/>
            </a:br>
            <a:br>
              <a:rPr lang="en-US"/>
            </a:br>
            <a:r>
              <a:rPr lang="en-US"/>
              <a:t>We are using SimpleStrategy with a replication_factor of 1. For this single-node development environment, SimpleStrategy is appropriate — we are not dealing with multiple datacenters, and RF=1 is sufficient because there are no other nodes to replicate to. In a production environment, you would use NetworkTopologyStrategy and RF=3 or higher.</a:t>
            </a:r>
            <a:br>
              <a:rPr lang="en-US"/>
            </a:br>
            <a:br>
              <a:rPr lang="en-US"/>
            </a:br>
            <a:r>
              <a:rPr lang="en-US"/>
              <a:t>The durable_writes option is set to true by default and does not need to be specified explicitly. It tells Cassandra to write to the Commit Log before acknowledging writes to clients. Setting it to false would skip the Commit Log, making writes faster but losing the crash-recovery guarantee. Never set durable_writes to false in any environment where data durability matters.</a:t>
            </a:r>
            <a:br>
              <a:rPr lang="en-US"/>
            </a:br>
            <a:br>
              <a:rPr lang="en-US"/>
            </a:br>
            <a:r>
              <a:rPr lang="en-US"/>
              <a:t>The USE university; statement switches the active keyspace. After this command, the cqlsh prompt changes from "cqlsh&gt;" to "cqlsh:university&gt;", confirming that all subsequent commands will operate in the university keyspace.</a:t>
            </a:r>
            <a:br>
              <a:rPr lang="en-US"/>
            </a:br>
            <a:br>
              <a:rPr lang="en-US"/>
            </a:br>
            <a:r>
              <a:rPr lang="en-US"/>
              <a:t>The DESCRIBE KEYSPACE university; command displays the complete CQL definition of the keyspace. The output shows the CREATE KEYSPACE statement with all its options, exactly as Cassandra stores it internally. This is useful for verifying that the keyspace was created with the correct settings and for understanding how to replicate the configuration in another environment.</a:t>
            </a:r>
            <a:endParaRPr lang="en-US"/>
          </a:p>
        </p:txBody>
      </p:sp>
      <p:sp>
        <p:nvSpPr>
          <p:cNvPr id="390636343" name="Slide Number Placeholder 3"/>
          <p:cNvSpPr>
            <a:spLocks noGrp="1"/>
          </p:cNvSpPr>
          <p:nvPr>
            <p:ph type="sldNum" sz="quarter" idx="10"/>
          </p:nvPr>
        </p:nvSpPr>
        <p:spPr bwMode="auto"/>
        <p:txBody>
          <a:bodyPr/>
          <a:lstStyle/>
          <a:p>
            <a:pPr>
              <a:defRPr/>
            </a:pPr>
            <a:fld id="{F7021451-1387-4CA6-816F-3879F97B5CBC}" type="slidenum">
              <a:rPr lang="en-US"/>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9270625" name="Slide Image Placeholder 1"/>
          <p:cNvSpPr>
            <a:spLocks noChangeAspect="1" noGrp="1" noRot="1"/>
          </p:cNvSpPr>
          <p:nvPr>
            <p:ph type="sldImg"/>
          </p:nvPr>
        </p:nvSpPr>
        <p:spPr bwMode="auto"/>
      </p:sp>
      <p:sp>
        <p:nvSpPr>
          <p:cNvPr id="697996502" name="Notes Placeholder 2"/>
          <p:cNvSpPr>
            <a:spLocks noGrp="1"/>
          </p:cNvSpPr>
          <p:nvPr>
            <p:ph type="body" idx="1"/>
          </p:nvPr>
        </p:nvSpPr>
        <p:spPr bwMode="auto"/>
        <p:txBody>
          <a:bodyPr/>
          <a:lstStyle/>
          <a:p>
            <a:pPr>
              <a:defRPr/>
            </a:pPr>
            <a:r>
              <a:rPr lang="en-US"/>
              <a:t>Step 5 creates the students table — the primary data structure for our university application.</a:t>
            </a:r>
            <a:br>
              <a:rPr lang="en-US"/>
            </a:br>
            <a:br>
              <a:rPr lang="en-US"/>
            </a:br>
            <a:r>
              <a:rPr lang="en-US"/>
              <a:t>Ensure you are connected to cqlsh and have run "USE university;" so that your prompt shows "cqlsh:university&gt;".</a:t>
            </a:r>
            <a:br>
              <a:rPr lang="en-US"/>
            </a:br>
            <a:br>
              <a:rPr lang="en-US"/>
            </a:br>
            <a:r>
              <a:rPr lang="en-US"/>
              <a:t>The CREATE TABLE statement defines the column family. Let us examine each column and the primary key declaration.</a:t>
            </a:r>
            <a:br>
              <a:rPr lang="en-US"/>
            </a:br>
            <a:br>
              <a:rPr lang="en-US"/>
            </a:br>
            <a:r>
              <a:rPr lang="en-US"/>
              <a:t>student_id is declared as TEXT. In Cassandra, UUIDs are often preferred for IDs in production systems (they are globally unique and can be generated without coordination), but TEXT is perfectly valid and easier to work with in a lab environment.</a:t>
            </a:r>
            <a:br>
              <a:rPr lang="en-US"/>
            </a:br>
            <a:br>
              <a:rPr lang="en-US"/>
            </a:br>
            <a:r>
              <a:rPr lang="en-US"/>
              <a:t>enrolled_year is declared as INT. This will be our clustering key, allowing us to sort and range-query enrollment records by year.</a:t>
            </a:r>
            <a:br>
              <a:rPr lang="en-US"/>
            </a:br>
            <a:br>
              <a:rPr lang="en-US"/>
            </a:br>
            <a:r>
              <a:rPr lang="en-US"/>
              <a:t>name and department are TEXT columns — straightforward string data.</a:t>
            </a:r>
            <a:br>
              <a:rPr lang="en-US"/>
            </a:br>
            <a:br>
              <a:rPr lang="en-US"/>
            </a:br>
            <a:r>
              <a:rPr lang="en-US"/>
              <a:t>gpa is declared as FLOAT — a 32-bit floating-point number. For academic GPA values between 0 and 10, this provides more than sufficient precision.</a:t>
            </a:r>
            <a:br>
              <a:rPr lang="en-US"/>
            </a:br>
            <a:br>
              <a:rPr lang="en-US"/>
            </a:br>
            <a:r>
              <a:rPr lang="en-US"/>
              <a:t>courses is declared as SET&lt;TEXT&gt;. A SET in CQL is an unordered collection of unique values. This allows a single student row to contain all of that student's enrolled courses without requiring a separate enrollment table. When you add a course to the SET using "courses = courses + {'new_course'}", Cassandra automatically deduplicates — if the course is already in the set, it is not added again.</a:t>
            </a:r>
            <a:br>
              <a:rPr lang="en-US"/>
            </a:br>
            <a:br>
              <a:rPr lang="en-US"/>
            </a:br>
            <a:r>
              <a:rPr lang="en-US"/>
              <a:t>The PRIMARY KEY declaration ((student_id), enrolled_year) uses the Cassandra composite primary key syntax. The outer parentheses indicate that this is a composite primary key. The inner parentheses around student_id indicate that it is the partition key. enrolled_year, listed after the inner parentheses, is the clustering key.</a:t>
            </a:r>
            <a:br>
              <a:rPr lang="en-US"/>
            </a:br>
            <a:br>
              <a:rPr lang="en-US"/>
            </a:br>
            <a:r>
              <a:rPr lang="en-US"/>
              <a:t>The CLUSTERING ORDER BY (enrolled_year DESC) clause stores rows within each partition in descending year order. This means that if you select all rows for a given student_id, the most recently enrolled year appears first.</a:t>
            </a:r>
            <a:br>
              <a:rPr lang="en-US"/>
            </a:br>
            <a:br>
              <a:rPr lang="en-US"/>
            </a:br>
            <a:r>
              <a:rPr lang="en-US"/>
              <a:t>DESCRIBE TABLE students; shows you the complete schema including the default options that Cassandra adds automatically, such as the compaction strategy and compression settings.</a:t>
            </a:r>
            <a:endParaRPr lang="en-US"/>
          </a:p>
        </p:txBody>
      </p:sp>
      <p:sp>
        <p:nvSpPr>
          <p:cNvPr id="383277592" name="Slide Number Placeholder 3"/>
          <p:cNvSpPr>
            <a:spLocks noGrp="1"/>
          </p:cNvSpPr>
          <p:nvPr>
            <p:ph type="sldNum" sz="quarter" idx="10"/>
          </p:nvPr>
        </p:nvSpPr>
        <p:spPr bwMode="auto"/>
        <p:txBody>
          <a:bodyPr/>
          <a:lstStyle/>
          <a:p>
            <a:pPr>
              <a:defRPr/>
            </a:pPr>
            <a:fld id="{F7021451-1387-4CA6-816F-3879F97B5CBC}" type="slidenum">
              <a:rPr lang="en-US"/>
              <a:t>44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9466155" name="Slide Image Placeholder 1"/>
          <p:cNvSpPr>
            <a:spLocks noChangeAspect="1" noGrp="1" noRot="1"/>
          </p:cNvSpPr>
          <p:nvPr>
            <p:ph type="sldImg"/>
          </p:nvPr>
        </p:nvSpPr>
        <p:spPr bwMode="auto"/>
      </p:sp>
      <p:sp>
        <p:nvSpPr>
          <p:cNvPr id="276476778" name="Notes Placeholder 2"/>
          <p:cNvSpPr>
            <a:spLocks noGrp="1"/>
          </p:cNvSpPr>
          <p:nvPr>
            <p:ph type="body" idx="1"/>
          </p:nvPr>
        </p:nvSpPr>
        <p:spPr bwMode="auto"/>
        <p:txBody>
          <a:bodyPr/>
          <a:lstStyle/>
          <a:p>
            <a:pPr>
              <a:defRPr/>
            </a:pPr>
            <a:r>
              <a:rPr lang="en-US"/>
              <a:t>Step 6 populates the students table with three sample records.</a:t>
            </a:r>
            <a:br>
              <a:rPr lang="en-US"/>
            </a:br>
            <a:br>
              <a:rPr lang="en-US"/>
            </a:br>
            <a:r>
              <a:rPr lang="en-US"/>
              <a:t>Each INSERT INTO statement follows the same structure: specify the table name, list all columns in parentheses, and provide the corresponding values in the VALUES clause. The order of column names and values must match.</a:t>
            </a:r>
            <a:br>
              <a:rPr lang="en-US"/>
            </a:br>
            <a:br>
              <a:rPr lang="en-US"/>
            </a:br>
            <a:r>
              <a:rPr lang="en-US"/>
              <a:t>Notice the SET literal syntax for the courses column: the curly braces {value1, value2, value3} create a CQL SET. The values inside are unordered and deduplicated. If you insert the same course name twice in the same SET literal, it will only appear once in the stored value.</a:t>
            </a:r>
            <a:br>
              <a:rPr lang="en-US"/>
            </a:br>
            <a:br>
              <a:rPr lang="en-US"/>
            </a:br>
            <a:r>
              <a:rPr lang="en-US"/>
              <a:t>After running all three INSERT statements, execute "SELECT * FROM students;" to retrieve all rows. You should see three rows displayed in a tabular format.</a:t>
            </a:r>
            <a:br>
              <a:rPr lang="en-US"/>
            </a:br>
            <a:br>
              <a:rPr lang="en-US"/>
            </a:br>
            <a:r>
              <a:rPr lang="en-US"/>
              <a:t>One important observation about the SELECT * output: the rows are not returned in the order you inserted them. In Cassandra, rows are stored and returned in token order — the order is determined by the hash of the partition key, not by insertion time. This surprises many developers coming from relational databases where rows often (though not always) appear in insertion order. In Cassandra, there is no guaranteed ordering of rows across partitions. Ordering within a partition is determined by the clustering key.</a:t>
            </a:r>
            <a:br>
              <a:rPr lang="en-US"/>
            </a:br>
            <a:br>
              <a:rPr lang="en-US"/>
            </a:br>
            <a:r>
              <a:rPr lang="en-US"/>
              <a:t>You will also notice that the courses column displays as a set in curly braces, exactly as you inserted it.</a:t>
            </a:r>
            <a:br>
              <a:rPr lang="en-US"/>
            </a:br>
            <a:br>
              <a:rPr lang="en-US"/>
            </a:br>
            <a:r>
              <a:rPr lang="en-US"/>
              <a:t>A subtle but important point: each INSERT in Cassandra is actually an upsert. If you run the same INSERT statement twice with the same student_id and enrolled_year (the complete primary key), the second INSERT will overwrite the values of all non-key columns with the new values. Unlike a relational database, there is no error for duplicate primary keys — the later write simply wins.</a:t>
            </a:r>
            <a:endParaRPr lang="en-US"/>
          </a:p>
        </p:txBody>
      </p:sp>
      <p:sp>
        <p:nvSpPr>
          <p:cNvPr id="1244815786" name="Slide Number Placeholder 3"/>
          <p:cNvSpPr>
            <a:spLocks noGrp="1"/>
          </p:cNvSpPr>
          <p:nvPr>
            <p:ph type="sldNum" sz="quarter" idx="10"/>
          </p:nvPr>
        </p:nvSpPr>
        <p:spPr bwMode="auto"/>
        <p:txBody>
          <a:bodyPr/>
          <a:lstStyle/>
          <a:p>
            <a:pPr>
              <a:defRPr/>
            </a:pPr>
            <a:fld id="{F7021451-1387-4CA6-816F-3879F97B5CBC}" type="slidenum">
              <a:rPr lang="en-US"/>
              <a:t>45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8368185" name="Slide Image Placeholder 1"/>
          <p:cNvSpPr>
            <a:spLocks noChangeAspect="1" noGrp="1" noRot="1"/>
          </p:cNvSpPr>
          <p:nvPr>
            <p:ph type="sldImg"/>
          </p:nvPr>
        </p:nvSpPr>
        <p:spPr bwMode="auto"/>
      </p:sp>
      <p:sp>
        <p:nvSpPr>
          <p:cNvPr id="200683156" name="Notes Placeholder 2"/>
          <p:cNvSpPr>
            <a:spLocks noGrp="1"/>
          </p:cNvSpPr>
          <p:nvPr>
            <p:ph type="body" idx="1"/>
          </p:nvPr>
        </p:nvSpPr>
        <p:spPr bwMode="auto"/>
        <p:txBody>
          <a:bodyPr/>
          <a:lstStyle/>
          <a:p>
            <a:pPr>
              <a:defRPr/>
            </a:pPr>
            <a:r>
              <a:rPr lang="en-US"/>
              <a:t>Step 7 demonstrates the range of query patterns supported by CQL.</a:t>
            </a:r>
            <a:br>
              <a:rPr lang="en-US"/>
            </a:br>
            <a:br>
              <a:rPr lang="en-US"/>
            </a:br>
            <a:r>
              <a:rPr lang="en-US"/>
              <a:t>The first query — SELECT * FROM students WHERE student_id = 'S001'; — is the most fundamental Cassandra query pattern: equality filter on the partition key. This is the fastest possible query in Cassandra. The coordinator hashes 'S001', identifies the node that owns that token, sends the read request to that node, and the node returns all rows in the S001 partition. The response time is dominated by network latency and disk I/O for a single partition, typically single-digit milliseconds even under load.</a:t>
            </a:r>
            <a:br>
              <a:rPr lang="en-US"/>
            </a:br>
            <a:br>
              <a:rPr lang="en-US"/>
            </a:br>
            <a:r>
              <a:rPr lang="en-US"/>
              <a:t>The second query adds a clustering key range filter: WHERE student_id = 'S001' AND enrolled_year &gt;= 2021. This is also efficient — it reads only the portion of the S001 partition where enrolled_year is greater than or equal to 2021. Because the clustering key ordering on disk matches the query filter direction, Cassandra can find the start of the range with a single seek and then read sequentially until it reaches the end of the range.</a:t>
            </a:r>
            <a:br>
              <a:rPr lang="en-US"/>
            </a:br>
            <a:br>
              <a:rPr lang="en-US"/>
            </a:br>
            <a:r>
              <a:rPr lang="en-US"/>
              <a:t>The COUNT query — SELECT COUNT(*) FROM students WHERE student_id = 'S001'; — counts all rows in the specified partition. This is efficient for single-partition counts but should not be used to count rows across the entire table without a partition key filter.</a:t>
            </a:r>
            <a:br>
              <a:rPr lang="en-US"/>
            </a:br>
            <a:br>
              <a:rPr lang="en-US"/>
            </a:br>
            <a:r>
              <a:rPr lang="en-US"/>
              <a:t>The TTL example demonstrates one of Cassandra's most useful features for time-sensitive data. By adding USING TTL 86400 to an INSERT statement, you are telling Cassandra that this row should automatically expire and be deleted after 86,400 seconds (one day). When the TTL expires, Cassandra writes a tombstone marker. The row is no longer visible to queries. The physical storage is reclaimed during the next compaction cycle.</a:t>
            </a:r>
            <a:br>
              <a:rPr lang="en-US"/>
            </a:br>
            <a:br>
              <a:rPr lang="en-US"/>
            </a:br>
            <a:r>
              <a:rPr lang="en-US"/>
              <a:t>The SELECT TTL(name) query shows the remaining time-to-live in seconds for the name column of the TEMP01 row. Each column can have its own TTL, and this query returns the remaining TTL for the specified column.</a:t>
            </a:r>
            <a:endParaRPr lang="en-US"/>
          </a:p>
        </p:txBody>
      </p:sp>
      <p:sp>
        <p:nvSpPr>
          <p:cNvPr id="924924999" name="Slide Number Placeholder 3"/>
          <p:cNvSpPr>
            <a:spLocks noGrp="1"/>
          </p:cNvSpPr>
          <p:nvPr>
            <p:ph type="sldNum" sz="quarter" idx="10"/>
          </p:nvPr>
        </p:nvSpPr>
        <p:spPr bwMode="auto"/>
        <p:txBody>
          <a:bodyPr/>
          <a:lstStyle/>
          <a:p>
            <a:pPr>
              <a:defRPr/>
            </a:pPr>
            <a:fld id="{F7021451-1387-4CA6-816F-3879F97B5CBC}" type="slidenum">
              <a:rPr lang="en-US"/>
              <a:t>46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1928266" name="Slide Image Placeholder 1"/>
          <p:cNvSpPr>
            <a:spLocks noChangeAspect="1" noGrp="1" noRot="1"/>
          </p:cNvSpPr>
          <p:nvPr>
            <p:ph type="sldImg"/>
          </p:nvPr>
        </p:nvSpPr>
        <p:spPr bwMode="auto"/>
      </p:sp>
      <p:sp>
        <p:nvSpPr>
          <p:cNvPr id="1312708095" name="Notes Placeholder 2"/>
          <p:cNvSpPr>
            <a:spLocks noGrp="1"/>
          </p:cNvSpPr>
          <p:nvPr>
            <p:ph type="body" idx="1"/>
          </p:nvPr>
        </p:nvSpPr>
        <p:spPr bwMode="auto"/>
        <p:txBody>
          <a:bodyPr/>
          <a:lstStyle/>
          <a:p>
            <a:pPr>
              <a:defRPr/>
            </a:pPr>
            <a:r>
              <a:rPr lang="en-US"/>
              <a:t>Step 8 covers data modification and deletion operations.</a:t>
            </a:r>
            <a:br>
              <a:rPr lang="en-US"/>
            </a:br>
            <a:br>
              <a:rPr lang="en-US"/>
            </a:br>
            <a:r>
              <a:rPr lang="en-US"/>
              <a:t>The first UPDATE statement changes the GPA of student S001's 2022 enrollment record. The syntax is familiar from SQL: UPDATE table_name SET column = value WHERE primary_key_conditions. In Cassandra, the WHERE clause of an UPDATE must specify the complete primary key — both the partition key and the clustering key if one exists. Partial key specifications are not allowed.</a:t>
            </a:r>
            <a:br>
              <a:rPr lang="en-US"/>
            </a:br>
            <a:br>
              <a:rPr lang="en-US"/>
            </a:br>
            <a:r>
              <a:rPr lang="en-US"/>
              <a:t>Important: Cassandra's UPDATE, like its INSERT, creates a new version of the data rather than modifying data in place. The old value of gpa for S001's 2022 record is marked with a tombstone, and the new value is written to the MemTable. During compaction, the old version is discarded and only the most recent version is retained.</a:t>
            </a:r>
            <a:br>
              <a:rPr lang="en-US"/>
            </a:br>
            <a:br>
              <a:rPr lang="en-US"/>
            </a:br>
            <a:r>
              <a:rPr lang="en-US"/>
              <a:t>The SET operations on the courses collection demonstrate how CQL handles collection updates. The expression "SET courses = courses + {'Wireless_Communications'}" adds a new element to the existing set. Cassandra merges this with the stored set at read time. The expression "SET courses = courses - {'VLSI_Design'}" removes a specific element from the set. These set operations are atomic — there is no risk of a partial update.</a:t>
            </a:r>
            <a:br>
              <a:rPr lang="en-US"/>
            </a:br>
            <a:br>
              <a:rPr lang="en-US"/>
            </a:br>
            <a:r>
              <a:rPr lang="en-US"/>
              <a:t>The DELETE gpa FROM students WHERE... statement deletes a single column from a specific row, leaving the rest of the row intact. After this operation, the gpa column for S002's 2023 record will be absent — it will not appear in SELECT * results. This is different from setting gpa to null: in Cassandra, there is no null — absent columns simply do not exist in the sparse row model.</a:t>
            </a:r>
            <a:br>
              <a:rPr lang="en-US"/>
            </a:br>
            <a:br>
              <a:rPr lang="en-US"/>
            </a:br>
            <a:r>
              <a:rPr lang="en-US"/>
              <a:t>The DELETE FROM students WHERE... statement deletes an entire row. This operation writes a tombstone marker that tells Cassandra "all columns in this row are deleted as of this timestamp." The actual storage is reclaimed during compaction.</a:t>
            </a:r>
            <a:br>
              <a:rPr lang="en-US"/>
            </a:br>
            <a:br>
              <a:rPr lang="en-US"/>
            </a:br>
            <a:r>
              <a:rPr lang="en-US"/>
              <a:t>After performing these operations, run SELECT * FROM students WHERE student_id = 'S001'; to verify that the GPA was updated and the courses set was modified correctly.</a:t>
            </a:r>
            <a:endParaRPr lang="en-US"/>
          </a:p>
        </p:txBody>
      </p:sp>
      <p:sp>
        <p:nvSpPr>
          <p:cNvPr id="1631099810" name="Slide Number Placeholder 3"/>
          <p:cNvSpPr>
            <a:spLocks noGrp="1"/>
          </p:cNvSpPr>
          <p:nvPr>
            <p:ph type="sldNum" sz="quarter" idx="10"/>
          </p:nvPr>
        </p:nvSpPr>
        <p:spPr bwMode="auto"/>
        <p:txBody>
          <a:bodyPr/>
          <a:lstStyle/>
          <a:p>
            <a:pPr>
              <a:defRPr/>
            </a:pPr>
            <a:fld id="{F7021451-1387-4CA6-816F-3879F97B5CBC}" type="slidenum">
              <a:rPr lang="en-US"/>
              <a:t>47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0499593" name="Slide Image Placeholder 1"/>
          <p:cNvSpPr>
            <a:spLocks noChangeAspect="1" noGrp="1" noRot="1"/>
          </p:cNvSpPr>
          <p:nvPr>
            <p:ph type="sldImg"/>
          </p:nvPr>
        </p:nvSpPr>
        <p:spPr bwMode="auto"/>
      </p:sp>
      <p:sp>
        <p:nvSpPr>
          <p:cNvPr id="837917474" name="Notes Placeholder 2"/>
          <p:cNvSpPr>
            <a:spLocks noGrp="1"/>
          </p:cNvSpPr>
          <p:nvPr>
            <p:ph type="body" idx="1"/>
          </p:nvPr>
        </p:nvSpPr>
        <p:spPr bwMode="auto"/>
        <p:txBody>
          <a:bodyPr/>
          <a:lstStyle/>
          <a:p>
            <a:pPr>
              <a:defRPr/>
            </a:pPr>
            <a:r>
              <a:rPr lang="en-US"/>
              <a:t>Step 9 is the bonus task that applies everything you have learned to a real-world engineering scenario.</a:t>
            </a:r>
            <a:br>
              <a:rPr lang="en-US"/>
            </a:br>
            <a:br>
              <a:rPr lang="en-US"/>
            </a:br>
            <a:r>
              <a:rPr lang="en-US"/>
              <a:t>As electrical and computer engineers, you will frequently encounter systems that generate continuous streams of time-stamped measurements: power grid monitoring systems, industrial process control systems, environmental monitoring networks, telecommunications infrastructure, and IoT platforms of all kinds. The pattern of storing and querying this data efficiently is one of the most valuable skills a database-literate engineer can have.</a:t>
            </a:r>
            <a:br>
              <a:rPr lang="en-US"/>
            </a:br>
            <a:br>
              <a:rPr lang="en-US"/>
            </a:br>
            <a:r>
              <a:rPr lang="en-US"/>
              <a:t>The table schema shown here is specifically designed for time-series IoT sensor data. Let us examine each decision.</a:t>
            </a:r>
            <a:br>
              <a:rPr lang="en-US"/>
            </a:br>
            <a:br>
              <a:rPr lang="en-US"/>
            </a:br>
            <a:r>
              <a:rPr lang="en-US"/>
              <a:t>The partition key is sensor_id — a text identifier for a specific sensor. All readings from the same sensor are stored together on the same Cassandra node. This is correct because the most common query — "give me recent readings from sensor X" — always specifies a sensor.</a:t>
            </a:r>
            <a:br>
              <a:rPr lang="en-US"/>
            </a:br>
            <a:br>
              <a:rPr lang="en-US"/>
            </a:br>
            <a:r>
              <a:rPr lang="en-US"/>
              <a:t>The clustering key is reading_time, ordered DESC. All readings for a sensor are sorted in reverse chronological order on disk, so the most recent readings are physically first. A query with LIMIT 10 reads the first 10 rows of the partition — exactly the 10 most recent readings — without scanning any older data.</a:t>
            </a:r>
            <a:br>
              <a:rPr lang="en-US"/>
            </a:br>
            <a:br>
              <a:rPr lang="en-US"/>
            </a:br>
            <a:r>
              <a:rPr lang="en-US"/>
              <a:t>The default_time_to_live = 2592000 setting automatically expires all rows after 30 days. This is essential for IoT deployments: you want immediate access to recent data for real-time dashboards and alerting, but you do not want to pay for indefinitely growing storage. Historical data can be archived to cheaper storage (S3, HDFS) after the 30-day window.</a:t>
            </a:r>
            <a:br>
              <a:rPr lang="en-US"/>
            </a:br>
            <a:br>
              <a:rPr lang="en-US"/>
            </a:br>
            <a:r>
              <a:rPr lang="en-US"/>
              <a:t>Practice the queries: insert at least five readings for SENSOR_ECE_01 with different timestamps and temperature values, then run SELECT * FROM sensor_readings WHERE sensor_id = 'SENSOR_ECE_01' LIMIT 5; and verify that the five most recent readings appear in descending timestamp order.</a:t>
            </a:r>
            <a:endParaRPr lang="en-US"/>
          </a:p>
        </p:txBody>
      </p:sp>
      <p:sp>
        <p:nvSpPr>
          <p:cNvPr id="1171184190" name="Slide Number Placeholder 3"/>
          <p:cNvSpPr>
            <a:spLocks noGrp="1"/>
          </p:cNvSpPr>
          <p:nvPr>
            <p:ph type="sldNum" sz="quarter" idx="10"/>
          </p:nvPr>
        </p:nvSpPr>
        <p:spPr bwMode="auto"/>
        <p:txBody>
          <a:bodyPr/>
          <a:lstStyle/>
          <a:p>
            <a:pPr>
              <a:defRPr/>
            </a:pPr>
            <a:fld id="{F7021451-1387-4CA6-816F-3879F97B5CBC}" type="slidenum">
              <a:rPr lang="en-US"/>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5411690" name="Slide Image Placeholder 1"/>
          <p:cNvSpPr>
            <a:spLocks noChangeAspect="1" noGrp="1" noRot="1"/>
          </p:cNvSpPr>
          <p:nvPr>
            <p:ph type="sldImg"/>
          </p:nvPr>
        </p:nvSpPr>
        <p:spPr bwMode="auto"/>
      </p:sp>
      <p:sp>
        <p:nvSpPr>
          <p:cNvPr id="1450780474" name="Notes Placeholder 2"/>
          <p:cNvSpPr>
            <a:spLocks noGrp="1"/>
          </p:cNvSpPr>
          <p:nvPr>
            <p:ph type="body" idx="1"/>
          </p:nvPr>
        </p:nvSpPr>
        <p:spPr bwMode="auto"/>
        <p:txBody>
          <a:bodyPr/>
          <a:lstStyle/>
          <a:p>
            <a:pPr>
              <a:defRPr/>
            </a:pPr>
            <a:r>
              <a:rPr lang="en-US"/>
              <a:t>Step 10 teaches you to inspect the internal state of your Cassandra cluster and perform a clean shutdown.</a:t>
            </a:r>
            <a:br>
              <a:rPr lang="en-US"/>
            </a:br>
            <a:br>
              <a:rPr lang="en-US"/>
            </a:br>
            <a:r>
              <a:rPr lang="en-US"/>
              <a:t>Cassandra maintains several internal system keyspaces that store cluster metadata. The most important is system, which contains information about the local node and its peers.</a:t>
            </a:r>
            <a:br>
              <a:rPr lang="en-US"/>
            </a:br>
            <a:br>
              <a:rPr lang="en-US"/>
            </a:br>
            <a:r>
              <a:rPr lang="en-US"/>
              <a:t>The query "SELECT cluster_name, data_center, rack FROM system.local;" retrieves information about the node you are connected to. The cluster_name is "Test Cluster" for development installations. The data_center and rack values show the topology labels for the current node — in a single-node development setup, these are typically "datacenter1" and "rack1".</a:t>
            </a:r>
            <a:br>
              <a:rPr lang="en-US"/>
            </a:br>
            <a:br>
              <a:rPr lang="en-US"/>
            </a:br>
            <a:r>
              <a:rPr lang="en-US"/>
              <a:t>The query against system.peers would show information about other nodes in the cluster in a multi-node deployment. On our single-node development setup, this table is empty, which is correct — there are no peers.</a:t>
            </a:r>
            <a:br>
              <a:rPr lang="en-US"/>
            </a:br>
            <a:br>
              <a:rPr lang="en-US"/>
            </a:br>
            <a:r>
              <a:rPr lang="en-US"/>
              <a:t>The system.local.tokens query retrieves the token ranges owned by the local node. In a single-node cluster, the node owns all tokens (the entire token space). In a multi-node cluster, each node would show a different set of token ranges.</a:t>
            </a:r>
            <a:br>
              <a:rPr lang="en-US"/>
            </a:br>
            <a:br>
              <a:rPr lang="en-US"/>
            </a:br>
            <a:r>
              <a:rPr lang="en-US"/>
              <a:t>The DROP KEYSPACE IF EXISTS university; command deletes the entire keyspace and all the tables it contains, including all the data. This is permanent and cannot be undone. In production, this would be an extremely destructive command — treat it with the same caution you would give to "rm -rf" on a critical directory.</a:t>
            </a:r>
            <a:br>
              <a:rPr lang="en-US"/>
            </a:br>
            <a:br>
              <a:rPr lang="en-US"/>
            </a:br>
            <a:r>
              <a:rPr lang="en-US"/>
              <a:t>After exiting cqlsh, the "docker stop cassandra-lab" command sends a SIGTERM signal to the Cassandra process inside the container, allowing Cassandra to perform a clean shutdown. "docker rm cassandra-lab" then removes the stopped container. Note that this also removes all data stored in the container, since we did not configure a persistent volume. In production, you would always mount a persistent volume so that data survives container restarts.</a:t>
            </a:r>
            <a:endParaRPr lang="en-US"/>
          </a:p>
        </p:txBody>
      </p:sp>
      <p:sp>
        <p:nvSpPr>
          <p:cNvPr id="251397935" name="Slide Number Placeholder 3"/>
          <p:cNvSpPr>
            <a:spLocks noGrp="1"/>
          </p:cNvSpPr>
          <p:nvPr>
            <p:ph type="sldNum" sz="quarter" idx="10"/>
          </p:nvPr>
        </p:nvSpPr>
        <p:spPr bwMode="auto"/>
        <p:txBody>
          <a:bodyPr/>
          <a:lstStyle/>
          <a:p>
            <a:pPr>
              <a:defRPr/>
            </a:pPr>
            <a:fld id="{F7021451-1387-4CA6-816F-3879F97B5CBC}" type="slidenum">
              <a:rPr lang="en-US"/>
              <a:t>49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0340722" name="Slide Image Placeholder 1"/>
          <p:cNvSpPr>
            <a:spLocks noChangeAspect="1" noGrp="1" noRot="1"/>
          </p:cNvSpPr>
          <p:nvPr>
            <p:ph type="sldImg"/>
          </p:nvPr>
        </p:nvSpPr>
        <p:spPr bwMode="auto"/>
      </p:sp>
      <p:sp>
        <p:nvSpPr>
          <p:cNvPr id="967180826" name="Notes Placeholder 2"/>
          <p:cNvSpPr>
            <a:spLocks noGrp="1"/>
          </p:cNvSpPr>
          <p:nvPr>
            <p:ph type="body" idx="1"/>
          </p:nvPr>
        </p:nvSpPr>
        <p:spPr bwMode="auto"/>
        <p:txBody>
          <a:bodyPr/>
          <a:lstStyle/>
          <a:p>
            <a:pPr>
              <a:defRPr/>
            </a:pPr>
            <a:r>
              <a:rPr lang="en-US"/>
              <a:t>Step 11 introduces nodetool, the command-line administration tool for Apache Cassandra.</a:t>
            </a:r>
            <a:br>
              <a:rPr lang="en-US"/>
            </a:br>
            <a:br>
              <a:rPr lang="en-US"/>
            </a:br>
            <a:r>
              <a:rPr lang="en-US"/>
              <a:t>nodetool is to Cassandra what psql's administration commands are to PostgreSQL or mysqladmin is to MySQL. It provides operational visibility into the cluster's health, data distribution, and background processes. In a production environment, you would run nodetool commands regularly as part of cluster monitoring and maintenance.</a:t>
            </a:r>
            <a:br>
              <a:rPr lang="en-US"/>
            </a:br>
            <a:br>
              <a:rPr lang="en-US"/>
            </a:br>
            <a:r>
              <a:rPr lang="en-US"/>
              <a:t>The most important nodetool command is "nodetool status". Its output shows a row for each node in the cluster with several key fields.</a:t>
            </a:r>
            <a:br>
              <a:rPr lang="en-US"/>
            </a:br>
            <a:br>
              <a:rPr lang="en-US"/>
            </a:br>
            <a:r>
              <a:rPr lang="en-US"/>
              <a:t>The status field shows Up (U) or Down (D) for each node. A status of "UN" means Up and Normal — the node is running and part of the cluster in its expected state. Other states include UJ (Up, Joining — a new node is streaming data to join the cluster), UL (Up, Leaving — a node is being decommissioned), and DN (Down — the node is not responding to gossip).</a:t>
            </a:r>
            <a:br>
              <a:rPr lang="en-US"/>
            </a:br>
            <a:br>
              <a:rPr lang="en-US"/>
            </a:br>
            <a:r>
              <a:rPr lang="en-US"/>
              <a:t>The Load field shows how much data the node is storing. In our single-node cluster, it will be a small value since we only inserted a few rows. In production clusters, you want the load to be roughly equal across all nodes — significant imbalances indicate a problem with the partition key design (hot partitions) or a need to rebalance the cluster.</a:t>
            </a:r>
            <a:br>
              <a:rPr lang="en-US"/>
            </a:br>
            <a:br>
              <a:rPr lang="en-US"/>
            </a:br>
            <a:r>
              <a:rPr lang="en-US"/>
              <a:t>The Tokens field shows how many virtual token ranges this node owns. The default in Cassandra 4.x is 256 virtual nodes (vnodes) per node. Using many small token ranges instead of a single large range makes data distribution more even and makes adding or removing nodes faster, since only a fraction of the data needs to be moved.</a:t>
            </a:r>
            <a:br>
              <a:rPr lang="en-US"/>
            </a:br>
            <a:br>
              <a:rPr lang="en-US"/>
            </a:br>
            <a:r>
              <a:rPr lang="en-US"/>
              <a:t>The Owns field shows what percentage of the token space this node is responsible for. In a single-node cluster, the node owns 100% of the data.</a:t>
            </a:r>
            <a:br>
              <a:rPr lang="en-US"/>
            </a:br>
            <a:br>
              <a:rPr lang="en-US"/>
            </a:br>
            <a:r>
              <a:rPr lang="en-US"/>
              <a:t>The "nodetool compact university" command triggers a manual compaction of the university keyspace, merging all SSTables and removing tombstones. In production, compaction runs automatically in the background, but triggering it manually can be useful after performing a large number of deletes.</a:t>
            </a:r>
            <a:endParaRPr lang="en-US"/>
          </a:p>
        </p:txBody>
      </p:sp>
      <p:sp>
        <p:nvSpPr>
          <p:cNvPr id="1731841950" name="Slide Number Placeholder 3"/>
          <p:cNvSpPr>
            <a:spLocks noGrp="1"/>
          </p:cNvSpPr>
          <p:nvPr>
            <p:ph type="sldNum" sz="quarter" idx="10"/>
          </p:nvPr>
        </p:nvSpPr>
        <p:spPr bwMode="auto"/>
        <p:txBody>
          <a:bodyPr/>
          <a:lstStyle/>
          <a:p>
            <a:pPr>
              <a:defRPr/>
            </a:pPr>
            <a:fld id="{F7021451-1387-4CA6-816F-3879F97B5CBC}" type="slidenum">
              <a:rPr lang="en-US"/>
              <a:t>50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8838165" name="Slide Image Placeholder 1"/>
          <p:cNvSpPr>
            <a:spLocks noChangeAspect="1" noGrp="1" noRot="1"/>
          </p:cNvSpPr>
          <p:nvPr>
            <p:ph type="sldImg"/>
          </p:nvPr>
        </p:nvSpPr>
        <p:spPr bwMode="auto"/>
      </p:sp>
      <p:sp>
        <p:nvSpPr>
          <p:cNvPr id="575124838" name="Notes Placeholder 2"/>
          <p:cNvSpPr>
            <a:spLocks noGrp="1"/>
          </p:cNvSpPr>
          <p:nvPr>
            <p:ph type="body" idx="1"/>
          </p:nvPr>
        </p:nvSpPr>
        <p:spPr bwMode="auto"/>
        <p:txBody>
          <a:bodyPr/>
          <a:lstStyle/>
          <a:p>
            <a:pPr>
              <a:defRPr/>
            </a:pPr>
            <a:r>
              <a:rPr lang="en-US"/>
              <a:t>This slide documents the most common errors you will encounter during the lab and their solutions. Keep it visible while working through the exercises.</a:t>
            </a:r>
            <a:br>
              <a:rPr lang="en-US"/>
            </a:br>
            <a:br>
              <a:rPr lang="en-US"/>
            </a:br>
            <a:r>
              <a:rPr lang="en-US"/>
              <a:t>The most frequent error is "NoHostAvailable" when running cqlsh. This error occurs when cqlsh cannot establish a connection to the Cassandra server. The most common cause is impatience — Cassandra takes 20 to 30 seconds to start after the Docker container launches. The solution is to wait and retry. If the error persists after two minutes, run "docker logs cassandra-lab | tail -30" and look for error messages in the startup log. The log should eventually contain the line "Starting listening for CQL clients on /0.0.0.0:9042" — this is the confirmation that Cassandra is ready.</a:t>
            </a:r>
            <a:br>
              <a:rPr lang="en-US"/>
            </a:br>
            <a:br>
              <a:rPr lang="en-US"/>
            </a:br>
            <a:r>
              <a:rPr lang="en-US"/>
              <a:t>The "might involve data filtering" error occurs when you try to filter on a column that is not part of the primary key. This is Cassandra telling you that executing this query would require a full cluster scan. You have two options: add ALLOW FILTERING to the query to acknowledge the performance implications, or redesign the schema to add the filtering column to the primary key or create a lookup table.</a:t>
            </a:r>
            <a:br>
              <a:rPr lang="en-US"/>
            </a:br>
            <a:br>
              <a:rPr lang="en-US"/>
            </a:br>
            <a:r>
              <a:rPr lang="en-US"/>
              <a:t>The "Non PRIMARY KEY columns found in where clause" error is similar but occurs when you use a non-key column in a WHERE clause without ALLOW FILTERING. The solution is the same.</a:t>
            </a:r>
            <a:br>
              <a:rPr lang="en-US"/>
            </a:br>
            <a:br>
              <a:rPr lang="en-US"/>
            </a:br>
            <a:r>
              <a:rPr lang="en-US"/>
              <a:t>"Write timeout" errors in a development cluster usually indicate a mismatch between the consistency level you are using and the replication factor. On a single-node cluster with RF=1, always use consistency level ONE. If you accidentally set a higher consistency level, connections will time out because there are not enough replicas to satisfy the requirement.</a:t>
            </a:r>
            <a:br>
              <a:rPr lang="en-US"/>
            </a:br>
            <a:br>
              <a:rPr lang="en-US"/>
            </a:br>
            <a:r>
              <a:rPr lang="en-US"/>
              <a:t>"Column family does not exist" errors occur when you forget to switch to the university keyspace before running queries. Always run "USE university;" after connecting with cqlsh.</a:t>
            </a:r>
            <a:br>
              <a:rPr lang="en-US"/>
            </a:br>
            <a:br>
              <a:rPr lang="en-US"/>
            </a:br>
            <a:r>
              <a:rPr lang="en-US"/>
              <a:t>The "port is already allocated" error from Docker means port 9042 is already in use on your host machine — perhaps from a previous Cassandra container that was not properly removed. Run "docker ps -a" to see all containers including stopped ones, then "docker rm" the conflicting container, or use a different host port by changing the -p flag in the docker run command.</a:t>
            </a:r>
            <a:endParaRPr lang="en-US"/>
          </a:p>
        </p:txBody>
      </p:sp>
      <p:sp>
        <p:nvSpPr>
          <p:cNvPr id="1060858390" name="Slide Number Placeholder 3"/>
          <p:cNvSpPr>
            <a:spLocks noGrp="1"/>
          </p:cNvSpPr>
          <p:nvPr>
            <p:ph type="sldNum" sz="quarter" idx="10"/>
          </p:nvPr>
        </p:nvSpPr>
        <p:spPr bwMode="auto"/>
        <p:txBody>
          <a:bodyPr/>
          <a:lstStyle/>
          <a:p>
            <a:pPr>
              <a:defRPr/>
            </a:pPr>
            <a:fld id="{F7021451-1387-4CA6-816F-3879F97B5CBC}" type="slidenum">
              <a:rPr lang="en-US"/>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1596312" name="Slide Image Placeholder 1"/>
          <p:cNvSpPr>
            <a:spLocks noChangeAspect="1" noGrp="1" noRot="1"/>
          </p:cNvSpPr>
          <p:nvPr>
            <p:ph type="sldImg"/>
          </p:nvPr>
        </p:nvSpPr>
        <p:spPr bwMode="auto"/>
      </p:sp>
      <p:sp>
        <p:nvSpPr>
          <p:cNvPr id="1860414630" name="Notes Placeholder 2"/>
          <p:cNvSpPr>
            <a:spLocks noGrp="1"/>
          </p:cNvSpPr>
          <p:nvPr>
            <p:ph type="body" idx="1"/>
          </p:nvPr>
        </p:nvSpPr>
        <p:spPr bwMode="auto"/>
        <p:txBody>
          <a:bodyPr/>
          <a:lstStyle/>
          <a:p>
            <a:pPr>
              <a:defRPr/>
            </a:pPr>
            <a:r>
              <a:rPr lang="en-US"/>
              <a:t>We have now completed all five theory modules and the hands-on lab.</a:t>
            </a:r>
            <a:br>
              <a:rPr lang="en-US"/>
            </a:br>
            <a:br>
              <a:rPr lang="en-US"/>
            </a:br>
            <a:r>
              <a:rPr lang="en-US"/>
              <a:t>Before we open for questions, let us take a few minutes to consolidate the key ideas from today's four-hour session. Close your laptops and try to recall the main concepts from each module before looking at the next slide.</a:t>
            </a:r>
            <a:br>
              <a:rPr lang="en-US"/>
            </a:br>
            <a:br>
              <a:rPr lang="en-US"/>
            </a:br>
            <a:r>
              <a:rPr lang="en-US"/>
              <a:t>Can you answer these questions without looking at your notes?</a:t>
            </a:r>
            <a:br>
              <a:rPr lang="en-US"/>
            </a:br>
            <a:br>
              <a:rPr lang="en-US"/>
            </a:br>
            <a:r>
              <a:rPr lang="en-US"/>
              <a:t>What is the difference between a partition key and a clustering key? When a Cassandra node receives a read request, what sequence of locations does it check and in what order? What is the fundamental architectural difference between Apache Cassandra and Apache HBase? What does it mean for Cassandra to be an AP system, and under what circumstances might you prefer an HBase-style CP system? What is the first step in designing a Cassandra data model?</a:t>
            </a:r>
            <a:endParaRPr lang="en-US"/>
          </a:p>
        </p:txBody>
      </p:sp>
      <p:sp>
        <p:nvSpPr>
          <p:cNvPr id="103411209" name="Slide Number Placeholder 3"/>
          <p:cNvSpPr>
            <a:spLocks noGrp="1"/>
          </p:cNvSpPr>
          <p:nvPr>
            <p:ph type="sldNum" sz="quarter" idx="10"/>
          </p:nvPr>
        </p:nvSpPr>
        <p:spPr bwMode="auto"/>
        <p:txBody>
          <a:bodyPr/>
          <a:lstStyle/>
          <a:p>
            <a:pPr>
              <a:defRPr/>
            </a:pPr>
            <a:fld id="{F7021451-1387-4CA6-816F-3879F97B5CBC}" type="slidenum">
              <a:rPr lang="en-US"/>
              <a:t>52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1096134" name="Slide Image Placeholder 1"/>
          <p:cNvSpPr>
            <a:spLocks noChangeAspect="1" noGrp="1" noRot="1"/>
          </p:cNvSpPr>
          <p:nvPr>
            <p:ph type="sldImg"/>
          </p:nvPr>
        </p:nvSpPr>
        <p:spPr bwMode="auto"/>
      </p:sp>
      <p:sp>
        <p:nvSpPr>
          <p:cNvPr id="1264965456" name="Notes Placeholder 2"/>
          <p:cNvSpPr>
            <a:spLocks noGrp="1"/>
          </p:cNvSpPr>
          <p:nvPr>
            <p:ph type="body" idx="1"/>
          </p:nvPr>
        </p:nvSpPr>
        <p:spPr bwMode="auto"/>
        <p:txBody>
          <a:bodyPr/>
          <a:lstStyle/>
          <a:p>
            <a:pPr>
              <a:defRPr/>
            </a:pPr>
            <a:r>
              <a:rPr lang="en-US"/>
              <a:t>Let us review the key takeaways from today's lecture.</a:t>
            </a:r>
            <a:br>
              <a:rPr lang="en-US"/>
            </a:br>
            <a:br>
              <a:rPr lang="en-US"/>
            </a:br>
            <a:r>
              <a:rPr lang="en-US"/>
              <a:t>Column-family databases store data in sparse rows within column families. Unlike relational databases where every row in a table has exactly the same set of columns, each row in a column-family database can have a completely different set of columns, with no null storage penalty for absent columns. This model is inspired directly by Google's Bigtable paper from 2006, which remains the foundational reference for this entire category of systems.</a:t>
            </a:r>
            <a:br>
              <a:rPr lang="en-US"/>
            </a:br>
            <a:br>
              <a:rPr lang="en-US"/>
            </a:br>
            <a:r>
              <a:rPr lang="en-US"/>
              <a:t>The data model hierarchy is: keyspace — the top-level namespace with replication configuration; column family or table — the container for rows; partition key — the column or columns used to distribute data across nodes and to scope efficient queries; clustering key — the secondary key that determines physical sort order within a partition; and columns — the individual data fields, which can vary per row.</a:t>
            </a:r>
            <a:br>
              <a:rPr lang="en-US"/>
            </a:br>
            <a:br>
              <a:rPr lang="en-US"/>
            </a:br>
            <a:r>
              <a:rPr lang="en-US"/>
              <a:t>The write path is central to understanding Cassandra's performance characteristics. Every write goes first to the Commit Log for durability, then to the MemTable for fast in-memory access. When the MemTable fills, it is flushed to an immutable SSTable on disk. All writes are sequential — there are no in-place updates. Compaction periodically merges SSTables and removes stale data.</a:t>
            </a:r>
            <a:br>
              <a:rPr lang="en-US"/>
            </a:br>
            <a:br>
              <a:rPr lang="en-US"/>
            </a:br>
            <a:r>
              <a:rPr lang="en-US"/>
              <a:t>Apache Cassandra, with its peer-to-peer ring architecture and tunable consistency, is the industry standard for high-availability, write-heavy, and globally-distributed workloads. Apache HBase provides strong CP consistency within the Hadoop ecosystem. ScyllaDB is a C++20 reimplementation of Cassandra that eliminates JVM overhead and delivers dramatically lower latency at the same or higher throughput.</a:t>
            </a:r>
            <a:br>
              <a:rPr lang="en-US"/>
            </a:br>
            <a:br>
              <a:rPr lang="en-US"/>
            </a:br>
            <a:r>
              <a:rPr lang="en-US"/>
              <a:t>CQL enforces query-driven design: you cannot efficiently filter on non-key columns, and you must design your schema around the queries your application will execute, not around entity relationships.</a:t>
            </a:r>
            <a:br>
              <a:rPr lang="en-US"/>
            </a:br>
            <a:br>
              <a:rPr lang="en-US"/>
            </a:br>
            <a:r>
              <a:rPr lang="en-US"/>
              <a:t>The real-world applications — Netflix, Apple iCloud, Discord, IoT platforms, telecommunications CDR storage — demonstrate that column-family databases are the right tool for a specific and important class of problems: high-throughput, time-ordered, write-heavy workloads where horizontal scalability and high availability are non-negotiable requirements.</a:t>
            </a:r>
            <a:endParaRPr lang="en-US"/>
          </a:p>
        </p:txBody>
      </p:sp>
      <p:sp>
        <p:nvSpPr>
          <p:cNvPr id="469858732" name="Slide Number Placeholder 3"/>
          <p:cNvSpPr>
            <a:spLocks noGrp="1"/>
          </p:cNvSpPr>
          <p:nvPr>
            <p:ph type="sldNum" sz="quarter" idx="10"/>
          </p:nvPr>
        </p:nvSpPr>
        <p:spPr bwMode="auto"/>
        <p:txBody>
          <a:bodyPr/>
          <a:lstStyle/>
          <a:p>
            <a:pPr>
              <a:defRPr/>
            </a:pPr>
            <a:fld id="{F7021451-1387-4CA6-816F-3879F97B5CBC}" type="slidenum">
              <a:rPr lang="en-US"/>
              <a:t>53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4651722" name="Slide Image Placeholder 1"/>
          <p:cNvSpPr>
            <a:spLocks noChangeAspect="1" noGrp="1" noRot="1"/>
          </p:cNvSpPr>
          <p:nvPr>
            <p:ph type="sldImg"/>
          </p:nvPr>
        </p:nvSpPr>
        <p:spPr bwMode="auto"/>
      </p:sp>
      <p:sp>
        <p:nvSpPr>
          <p:cNvPr id="145809644" name="Notes Placeholder 2"/>
          <p:cNvSpPr>
            <a:spLocks noGrp="1"/>
          </p:cNvSpPr>
          <p:nvPr>
            <p:ph type="body" idx="1"/>
          </p:nvPr>
        </p:nvSpPr>
        <p:spPr bwMode="auto"/>
        <p:txBody>
          <a:bodyPr/>
          <a:lstStyle/>
          <a:p>
            <a:pPr>
              <a:defRPr/>
            </a:pPr>
            <a:r>
              <a:rPr lang="en-US"/>
              <a:t>For further study, the following resources are strongly recommended.</a:t>
            </a:r>
            <a:br>
              <a:rPr lang="en-US"/>
            </a:br>
            <a:br>
              <a:rPr lang="en-US"/>
            </a:br>
            <a:r>
              <a:rPr lang="en-US"/>
              <a:t>The most important piece of required reading is the original Google Bigtable paper: "Bigtable: A Distributed Storage System for Structured Data" by Chang, Dean, Ghemawat, Hsieh, Wallach, Burrows, Chandra, Fikes, and Gruber, published at OSDI 2006. This paper is freely available online. Reading it will give you the authoritative explanation of the design decisions that underpin HBase, Cassandra, and ScyllaDB.</a:t>
            </a:r>
            <a:br>
              <a:rPr lang="en-US"/>
            </a:br>
            <a:br>
              <a:rPr lang="en-US"/>
            </a:br>
            <a:r>
              <a:rPr lang="en-US"/>
              <a:t>Discord's engineering blog post describing their migration from Cassandra to ScyllaDB is an excellent case study in real-world distributed systems engineering. Search for "How Discord Stores Trillions of Messages" on the Discord engineering blog. Pay attention to the specific performance metrics they cite and the architectural reasons for the improvement.</a:t>
            </a:r>
            <a:br>
              <a:rPr lang="en-US"/>
            </a:br>
            <a:br>
              <a:rPr lang="en-US"/>
            </a:br>
            <a:r>
              <a:rPr lang="en-US"/>
              <a:t>DataStax, the leading commercial company behind Apache Cassandra, provides excellent free learning resources at datastax.com/learn. Their data modeling guide is particularly valuable — it covers the query-driven design methodology in depth with many worked examples.</a:t>
            </a:r>
            <a:br>
              <a:rPr lang="en-US"/>
            </a:br>
            <a:br>
              <a:rPr lang="en-US"/>
            </a:br>
            <a:r>
              <a:rPr lang="en-US"/>
              <a:t>ScyllaDB University (university.scylladb.com) offers free online courses on both Cassandra and ScyllaDB, covering everything from the basics to advanced performance tuning. These courses are production-oriented and taught by engineers who run ScyllaDB at scale.</a:t>
            </a:r>
            <a:br>
              <a:rPr lang="en-US"/>
            </a:br>
            <a:br>
              <a:rPr lang="en-US"/>
            </a:br>
            <a:r>
              <a:rPr lang="en-US"/>
              <a:t>For hands-on practice beyond today's lab, sign up for a free account on DataStax Astra DB — the managed cloud Cassandra service. You can create a free cluster, explore the web-based CQL console, and try more complex data modeling exercises without any infrastructure setup.</a:t>
            </a:r>
            <a:br>
              <a:rPr lang="en-US"/>
            </a:br>
            <a:br>
              <a:rPr lang="en-US"/>
            </a:br>
            <a:r>
              <a:rPr lang="en-US"/>
              <a:t>Next week's lecture covers Graph Databases — specifically Neo4j and the Cypher query language. We will look at how the graph data model represents connected data (social networks, knowledge graphs, fraud detection networks), how the property graph model differs from both relational and column-family models, and how Cypher's pattern-matching query language enables the traversal of complex relationships that would require many JOINs in SQL. Please review the introductory material on graph theory before next week's session.</a:t>
            </a:r>
            <a:endParaRPr lang="en-US"/>
          </a:p>
        </p:txBody>
      </p:sp>
      <p:sp>
        <p:nvSpPr>
          <p:cNvPr id="2118692236" name="Slide Number Placeholder 3"/>
          <p:cNvSpPr>
            <a:spLocks noGrp="1"/>
          </p:cNvSpPr>
          <p:nvPr>
            <p:ph type="sldNum" sz="quarter" idx="10"/>
          </p:nvPr>
        </p:nvSpPr>
        <p:spPr bwMode="auto"/>
        <p:txBody>
          <a:bodyPr/>
          <a:lstStyle/>
          <a:p>
            <a:pPr>
              <a:defRPr/>
            </a:pPr>
            <a:fld id="{F7021451-1387-4CA6-816F-3879F97B5CBC}" type="slidenum">
              <a:rPr lang="en-US"/>
              <a:t>54</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8348879" name="Slide Image Placeholder 1"/>
          <p:cNvSpPr>
            <a:spLocks noChangeAspect="1" noGrp="1" noRot="1"/>
          </p:cNvSpPr>
          <p:nvPr>
            <p:ph type="sldImg"/>
          </p:nvPr>
        </p:nvSpPr>
        <p:spPr bwMode="auto"/>
      </p:sp>
      <p:sp>
        <p:nvSpPr>
          <p:cNvPr id="1755764487" name="Notes Placeholder 2"/>
          <p:cNvSpPr>
            <a:spLocks noGrp="1"/>
          </p:cNvSpPr>
          <p:nvPr>
            <p:ph type="body" idx="1"/>
          </p:nvPr>
        </p:nvSpPr>
        <p:spPr bwMode="auto"/>
        <p:txBody>
          <a:bodyPr/>
          <a:lstStyle/>
          <a:p>
            <a:pPr>
              <a:defRPr/>
            </a:pPr>
            <a:r>
              <a:rPr lang="en-US"/>
              <a:t>Thank you for your attention and participation today.</a:t>
            </a:r>
            <a:br>
              <a:rPr lang="en-US"/>
            </a:br>
            <a:br>
              <a:rPr lang="en-US"/>
            </a:br>
            <a:r>
              <a:rPr lang="en-US"/>
              <a:t>We have covered an enormous amount of material in four hours — from the theoretical foundations of the column-family data model, through the architectural details of Cassandra, HBase, and ScyllaDB, to practical CQL schema design and a hands-on Linux lab.</a:t>
            </a:r>
            <a:br>
              <a:rPr lang="en-US"/>
            </a:br>
            <a:br>
              <a:rPr lang="en-US"/>
            </a:br>
            <a:r>
              <a:rPr lang="en-US"/>
              <a:t>The most important things to take away from today are: always design Cassandra schemas starting from the queries, not the entities; the partition key determines data distribution and the scope of efficient queries; the clustering key determines the on-disk sort order within a partition and enables range queries; and the choice between Cassandra, HBase, and ScyllaDB depends primarily on your consistency requirements, your ecosystem (Hadoop vs standalone), and your latency budget.</a:t>
            </a:r>
            <a:br>
              <a:rPr lang="en-US"/>
            </a:br>
            <a:br>
              <a:rPr lang="en-US"/>
            </a:br>
            <a:r>
              <a:rPr lang="en-US"/>
              <a:t>For your lab submission: you have until the end of the week to submit your screenshot showing the IoT sensor readings query output. Log in to the course portal and upload it to the Week 6 Lab Submission form.</a:t>
            </a:r>
            <a:br>
              <a:rPr lang="en-US"/>
            </a:br>
            <a:br>
              <a:rPr lang="en-US"/>
            </a:br>
            <a:r>
              <a:rPr lang="en-US"/>
              <a:t>If you have questions that we do not have time to address today, please post them in the course discussion forum. I check it daily and will respond within 24 hours.</a:t>
            </a:r>
            <a:br>
              <a:rPr lang="en-US"/>
            </a:br>
            <a:br>
              <a:rPr lang="en-US"/>
            </a:br>
            <a:r>
              <a:rPr lang="en-US"/>
              <a:t>A suggested discussion question to think about before next week: if you were designing the data storage layer for a smart power grid system that collects voltage, current, and power factor readings from 50,000 smart meters every 10 seconds, which column-family database would you choose, how would you design the schema, and how would you handle the requirement to retain raw readings for 30 days and aggregated hourly summaries for five years? Think through the partition key, clustering key, TTL, and compaction strategy choices.</a:t>
            </a:r>
            <a:endParaRPr lang="en-US"/>
          </a:p>
        </p:txBody>
      </p:sp>
      <p:sp>
        <p:nvSpPr>
          <p:cNvPr id="167055295" name="Slide Number Placeholder 3"/>
          <p:cNvSpPr>
            <a:spLocks noGrp="1"/>
          </p:cNvSpPr>
          <p:nvPr>
            <p:ph type="sldNum" sz="quarter" idx="10"/>
          </p:nvPr>
        </p:nvSpPr>
        <p:spPr bwMode="auto"/>
        <p:txBody>
          <a:bodyPr/>
          <a:lstStyle/>
          <a:p>
            <a:pPr>
              <a:defRPr/>
            </a:pPr>
            <a:fld id="{F7021451-1387-4CA6-816F-3879F97B5CBC}" type="slidenum">
              <a:rPr lang="en-US"/>
              <a:t>55</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E2761"/>
        </a:solidFill>
      </p:bgPr>
    </p:bg>
    <p:spTree>
      <p:nvGrpSpPr>
        <p:cNvPr id="1" name=""/>
        <p:cNvGrpSpPr/>
        <p:nvPr/>
      </p:nvGrpSpPr>
      <p:grpSpPr bwMode="auto">
        <a:xfrm>
          <a:off x="0" y="0"/>
          <a:ext cx="0" cy="0"/>
          <a:chOff x="0" y="0"/>
          <a:chExt cx="0" cy="0"/>
        </a:xfrm>
      </p:grpSpPr>
      <p:sp>
        <p:nvSpPr>
          <p:cNvPr id="330340878"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2128200019" name="Shape 1"/>
          <p:cNvSpPr/>
          <p:nvPr/>
        </p:nvSpPr>
        <p:spPr bwMode="auto">
          <a:xfrm>
            <a:off x="5943600" y="0"/>
            <a:ext cx="3200400" cy="5143500"/>
          </a:xfrm>
          <a:prstGeom prst="rect">
            <a:avLst/>
          </a:prstGeom>
          <a:solidFill>
            <a:srgbClr val="253080">
              <a:alpha val="70000"/>
            </a:srgbClr>
          </a:solidFill>
          <a:ln w="12700">
            <a:solidFill>
              <a:srgbClr val="253080"/>
            </a:solidFill>
            <a:prstDash val="solid"/>
          </a:ln>
        </p:spPr>
      </p:sp>
      <p:sp>
        <p:nvSpPr>
          <p:cNvPr id="1330138257" name="Text 2"/>
          <p:cNvSpPr/>
          <p:nvPr/>
        </p:nvSpPr>
        <p:spPr bwMode="auto">
          <a:xfrm>
            <a:off x="457200" y="914400"/>
            <a:ext cx="7772400" cy="548640"/>
          </a:xfrm>
          <a:prstGeom prst="rect">
            <a:avLst/>
          </a:prstGeom>
          <a:noFill/>
          <a:ln/>
        </p:spPr>
        <p:txBody>
          <a:bodyPr wrap="square" rtlCol="0" anchor="ctr"/>
          <a:lstStyle/>
          <a:p>
            <a:pPr marL="0" indent="0">
              <a:buNone/>
              <a:defRPr/>
            </a:pPr>
            <a:r>
              <a:rPr lang="en-US" sz="2000" i="1">
                <a:solidFill>
                  <a:srgbClr val="4FC3F7"/>
                </a:solidFill>
                <a:latin typeface="Calibri"/>
                <a:ea typeface="Calibri"/>
                <a:cs typeface="Calibri"/>
              </a:rPr>
              <a:t>Advanced Data Management</a:t>
            </a:r>
            <a:endParaRPr lang="en-US" sz="2000"/>
          </a:p>
        </p:txBody>
      </p:sp>
      <p:sp>
        <p:nvSpPr>
          <p:cNvPr id="507999414" name="Text 3"/>
          <p:cNvSpPr/>
          <p:nvPr/>
        </p:nvSpPr>
        <p:spPr bwMode="auto">
          <a:xfrm>
            <a:off x="457200" y="1463040"/>
            <a:ext cx="7315200" cy="1645920"/>
          </a:xfrm>
          <a:prstGeom prst="rect">
            <a:avLst/>
          </a:prstGeom>
          <a:noFill/>
          <a:ln/>
        </p:spPr>
        <p:txBody>
          <a:bodyPr wrap="square" rtlCol="0" anchor="ctr"/>
          <a:lstStyle/>
          <a:p>
            <a:pPr marL="0" indent="0">
              <a:buNone/>
              <a:defRPr/>
            </a:pPr>
            <a:r>
              <a:rPr lang="en-US" sz="4000" b="1">
                <a:solidFill>
                  <a:srgbClr val="FFFFFF"/>
                </a:solidFill>
                <a:latin typeface="Trebuchet MS"/>
                <a:ea typeface="Trebuchet MS"/>
                <a:cs typeface="Trebuchet MS"/>
              </a:rPr>
              <a:t>Column-Family</a:t>
            </a:r>
            <a:endParaRPr lang="en-US" sz="4000"/>
          </a:p>
          <a:p>
            <a:pPr marL="0" indent="0">
              <a:buNone/>
              <a:defRPr/>
            </a:pPr>
            <a:r>
              <a:rPr lang="en-US" sz="4000" b="1">
                <a:solidFill>
                  <a:srgbClr val="FFFFFF"/>
                </a:solidFill>
                <a:latin typeface="Trebuchet MS"/>
                <a:ea typeface="Trebuchet MS"/>
                <a:cs typeface="Trebuchet MS"/>
              </a:rPr>
              <a:t>NoSQL Databases</a:t>
            </a:r>
            <a:endParaRPr lang="en-US" sz="4000"/>
          </a:p>
        </p:txBody>
      </p:sp>
      <p:sp>
        <p:nvSpPr>
          <p:cNvPr id="1498732298" name="Text 4"/>
          <p:cNvSpPr/>
          <p:nvPr/>
        </p:nvSpPr>
        <p:spPr bwMode="auto">
          <a:xfrm>
            <a:off x="457200" y="3200400"/>
            <a:ext cx="7315200" cy="822960"/>
          </a:xfrm>
          <a:prstGeom prst="rect">
            <a:avLst/>
          </a:prstGeom>
          <a:noFill/>
          <a:ln/>
        </p:spPr>
        <p:txBody>
          <a:bodyPr wrap="square" rtlCol="0" anchor="ctr"/>
          <a:lstStyle/>
          <a:p>
            <a:pPr marL="0" indent="0">
              <a:buNone/>
              <a:defRPr/>
            </a:pPr>
            <a:r>
              <a:rPr lang="en-US" sz="1500">
                <a:solidFill>
                  <a:srgbClr val="CADCFC"/>
                </a:solidFill>
                <a:latin typeface="Calibri"/>
                <a:ea typeface="Calibri"/>
                <a:cs typeface="Calibri"/>
              </a:rPr>
              <a:t>Week 6: Architecture, Data Modeling &amp; Hands-On Lab</a:t>
            </a:r>
            <a:endParaRPr lang="en-US" sz="1500"/>
          </a:p>
          <a:p>
            <a:pPr marL="0" indent="0">
              <a:buNone/>
              <a:defRPr/>
            </a:pPr>
            <a:r>
              <a:rPr lang="en-US" sz="1500">
                <a:solidFill>
                  <a:srgbClr val="CADCFC"/>
                </a:solidFill>
                <a:latin typeface="Calibri"/>
                <a:ea typeface="Calibri"/>
                <a:cs typeface="Calibri"/>
              </a:rPr>
              <a:t>Bachelor of Electrical &amp; Computer Engineering · 4-Hour Lecture</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1E2761"/>
        </a:solidFill>
      </p:bgPr>
    </p:bg>
    <p:spTree>
      <p:nvGrpSpPr>
        <p:cNvPr id="1" name=""/>
        <p:cNvGrpSpPr/>
        <p:nvPr/>
      </p:nvGrpSpPr>
      <p:grpSpPr bwMode="auto">
        <a:xfrm>
          <a:off x="0" y="0"/>
          <a:ext cx="0" cy="0"/>
          <a:chOff x="0" y="0"/>
          <a:chExt cx="0" cy="0"/>
        </a:xfrm>
      </p:grpSpPr>
      <p:sp>
        <p:nvSpPr>
          <p:cNvPr id="1502966151"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182543228"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Agenda — What We Cover Today</a:t>
            </a:r>
            <a:endParaRPr lang="en-US" sz="2600"/>
          </a:p>
        </p:txBody>
      </p:sp>
      <p:sp>
        <p:nvSpPr>
          <p:cNvPr id="1738533871" name="Text 2"/>
          <p:cNvSpPr/>
          <p:nvPr/>
        </p:nvSpPr>
        <p:spPr bwMode="auto">
          <a:xfrm>
            <a:off x="548640" y="914400"/>
            <a:ext cx="8229600" cy="502920"/>
          </a:xfrm>
          <a:prstGeom prst="rect">
            <a:avLst/>
          </a:prstGeom>
          <a:noFill/>
          <a:ln/>
        </p:spPr>
        <p:txBody>
          <a:bodyPr wrap="square" rtlCol="0" anchor="ctr"/>
          <a:lstStyle/>
          <a:p>
            <a:pPr marL="0" indent="0">
              <a:buNone/>
              <a:defRPr/>
            </a:pPr>
            <a:r>
              <a:rPr lang="en-US" sz="1400" b="1">
                <a:solidFill>
                  <a:srgbClr val="4FC3F7"/>
                </a:solidFill>
                <a:latin typeface="Trebuchet MS"/>
                <a:ea typeface="Trebuchet MS"/>
                <a:cs typeface="Trebuchet MS"/>
              </a:rPr>
              <a:t>MODULE 1</a:t>
            </a:r>
            <a:r>
              <a:rPr lang="en-US" sz="1400">
                <a:solidFill>
                  <a:srgbClr val="FFFFFF"/>
                </a:solidFill>
                <a:latin typeface="Calibri"/>
                <a:ea typeface="Calibri"/>
                <a:cs typeface="Calibri"/>
              </a:rPr>
              <a:t>— NoSQL Recap &amp; Column-Family Fundamentals</a:t>
            </a:r>
            <a:endParaRPr lang="en-US" sz="1400"/>
          </a:p>
        </p:txBody>
      </p:sp>
      <p:sp>
        <p:nvSpPr>
          <p:cNvPr id="1837248926" name="Text 3"/>
          <p:cNvSpPr/>
          <p:nvPr/>
        </p:nvSpPr>
        <p:spPr bwMode="auto">
          <a:xfrm>
            <a:off x="548640" y="1536192"/>
            <a:ext cx="8229600" cy="502920"/>
          </a:xfrm>
          <a:prstGeom prst="rect">
            <a:avLst/>
          </a:prstGeom>
          <a:noFill/>
          <a:ln/>
        </p:spPr>
        <p:txBody>
          <a:bodyPr wrap="square" rtlCol="0" anchor="ctr"/>
          <a:lstStyle/>
          <a:p>
            <a:pPr marL="0" indent="0">
              <a:buNone/>
              <a:defRPr/>
            </a:pPr>
            <a:r>
              <a:rPr lang="en-US" sz="1400" b="1">
                <a:solidFill>
                  <a:srgbClr val="4FC3F7"/>
                </a:solidFill>
                <a:latin typeface="Trebuchet MS"/>
                <a:ea typeface="Trebuchet MS"/>
                <a:cs typeface="Trebuchet MS"/>
              </a:rPr>
              <a:t>MODULE 2</a:t>
            </a:r>
            <a:r>
              <a:rPr lang="en-US" sz="1400">
                <a:solidFill>
                  <a:srgbClr val="FFFFFF"/>
                </a:solidFill>
                <a:latin typeface="Calibri"/>
                <a:ea typeface="Calibri"/>
                <a:cs typeface="Calibri"/>
              </a:rPr>
              <a:t>— The Column-Family Data Model: Rows, Columns, Families &amp; Partitions</a:t>
            </a:r>
            <a:endParaRPr lang="en-US" sz="1400"/>
          </a:p>
        </p:txBody>
      </p:sp>
      <p:sp>
        <p:nvSpPr>
          <p:cNvPr id="1147242047" name="Text 4"/>
          <p:cNvSpPr/>
          <p:nvPr/>
        </p:nvSpPr>
        <p:spPr bwMode="auto">
          <a:xfrm>
            <a:off x="548640" y="2157984"/>
            <a:ext cx="8229600" cy="502920"/>
          </a:xfrm>
          <a:prstGeom prst="rect">
            <a:avLst/>
          </a:prstGeom>
          <a:noFill/>
          <a:ln/>
        </p:spPr>
        <p:txBody>
          <a:bodyPr wrap="square" rtlCol="0" anchor="ctr"/>
          <a:lstStyle/>
          <a:p>
            <a:pPr marL="0" indent="0">
              <a:buNone/>
              <a:defRPr/>
            </a:pPr>
            <a:r>
              <a:rPr lang="en-US" sz="1400" b="1">
                <a:solidFill>
                  <a:srgbClr val="4FC3F7"/>
                </a:solidFill>
                <a:latin typeface="Trebuchet MS"/>
                <a:ea typeface="Trebuchet MS"/>
                <a:cs typeface="Trebuchet MS"/>
              </a:rPr>
              <a:t>MODULE 3</a:t>
            </a:r>
            <a:r>
              <a:rPr lang="en-US" sz="1400">
                <a:solidFill>
                  <a:srgbClr val="FFFFFF"/>
                </a:solidFill>
                <a:latin typeface="Calibri"/>
                <a:ea typeface="Calibri"/>
                <a:cs typeface="Calibri"/>
              </a:rPr>
              <a:t>— State-of-the-Art Systems: Cassandra, HBase, ScyllaDB &amp; Cloud Variants</a:t>
            </a:r>
            <a:endParaRPr lang="en-US" sz="1400"/>
          </a:p>
        </p:txBody>
      </p:sp>
      <p:sp>
        <p:nvSpPr>
          <p:cNvPr id="441500758" name="Text 5"/>
          <p:cNvSpPr/>
          <p:nvPr/>
        </p:nvSpPr>
        <p:spPr bwMode="auto">
          <a:xfrm>
            <a:off x="548640" y="2779776"/>
            <a:ext cx="8229600" cy="502920"/>
          </a:xfrm>
          <a:prstGeom prst="rect">
            <a:avLst/>
          </a:prstGeom>
          <a:noFill/>
          <a:ln/>
        </p:spPr>
        <p:txBody>
          <a:bodyPr wrap="square" rtlCol="0" anchor="ctr"/>
          <a:lstStyle/>
          <a:p>
            <a:pPr marL="0" indent="0">
              <a:buNone/>
              <a:defRPr/>
            </a:pPr>
            <a:r>
              <a:rPr lang="en-US" sz="1400" b="1">
                <a:solidFill>
                  <a:srgbClr val="4FC3F7"/>
                </a:solidFill>
                <a:latin typeface="Trebuchet MS"/>
                <a:ea typeface="Trebuchet MS"/>
                <a:cs typeface="Trebuchet MS"/>
              </a:rPr>
              <a:t>MODULE 4</a:t>
            </a:r>
            <a:r>
              <a:rPr lang="en-US" sz="1400">
                <a:solidFill>
                  <a:srgbClr val="FFFFFF"/>
                </a:solidFill>
                <a:latin typeface="Calibri"/>
                <a:ea typeface="Calibri"/>
                <a:cs typeface="Calibri"/>
              </a:rPr>
              <a:t>— CQL: Cassandra Query Language &amp; Schema Design</a:t>
            </a:r>
            <a:endParaRPr lang="en-US" sz="1400"/>
          </a:p>
        </p:txBody>
      </p:sp>
      <p:sp>
        <p:nvSpPr>
          <p:cNvPr id="318077520" name="Text 6"/>
          <p:cNvSpPr/>
          <p:nvPr/>
        </p:nvSpPr>
        <p:spPr bwMode="auto">
          <a:xfrm>
            <a:off x="548640" y="3401568"/>
            <a:ext cx="8229600" cy="502920"/>
          </a:xfrm>
          <a:prstGeom prst="rect">
            <a:avLst/>
          </a:prstGeom>
          <a:noFill/>
          <a:ln/>
        </p:spPr>
        <p:txBody>
          <a:bodyPr wrap="square" rtlCol="0" anchor="ctr"/>
          <a:lstStyle/>
          <a:p>
            <a:pPr marL="0" indent="0">
              <a:buNone/>
              <a:defRPr/>
            </a:pPr>
            <a:r>
              <a:rPr lang="en-US" sz="1400" b="1">
                <a:solidFill>
                  <a:srgbClr val="4FC3F7"/>
                </a:solidFill>
                <a:latin typeface="Trebuchet MS"/>
                <a:ea typeface="Trebuchet MS"/>
                <a:cs typeface="Trebuchet MS"/>
              </a:rPr>
              <a:t>MODULE 5</a:t>
            </a:r>
            <a:r>
              <a:rPr lang="en-US" sz="1400">
                <a:solidFill>
                  <a:srgbClr val="FFFFFF"/>
                </a:solidFill>
                <a:latin typeface="Calibri"/>
                <a:ea typeface="Calibri"/>
                <a:cs typeface="Calibri"/>
              </a:rPr>
              <a:t>— Replication, Consistency, Compaction &amp; Real-World Use Cases</a:t>
            </a:r>
            <a:endParaRPr lang="en-US" sz="1400"/>
          </a:p>
        </p:txBody>
      </p:sp>
      <p:sp>
        <p:nvSpPr>
          <p:cNvPr id="1830785130" name="Text 7"/>
          <p:cNvSpPr/>
          <p:nvPr/>
        </p:nvSpPr>
        <p:spPr bwMode="auto">
          <a:xfrm>
            <a:off x="548640" y="4023360"/>
            <a:ext cx="8229600" cy="502920"/>
          </a:xfrm>
          <a:prstGeom prst="rect">
            <a:avLst/>
          </a:prstGeom>
          <a:noFill/>
          <a:ln/>
        </p:spPr>
        <p:txBody>
          <a:bodyPr wrap="square" rtlCol="0" anchor="ctr"/>
          <a:lstStyle/>
          <a:p>
            <a:pPr marL="0" indent="0">
              <a:buNone/>
              <a:defRPr/>
            </a:pPr>
            <a:r>
              <a:rPr lang="en-US" sz="1400" b="1">
                <a:solidFill>
                  <a:srgbClr val="4FC3F7"/>
                </a:solidFill>
                <a:latin typeface="Trebuchet MS"/>
                <a:ea typeface="Trebuchet MS"/>
                <a:cs typeface="Trebuchet MS"/>
              </a:rPr>
              <a:t>MODULE 6</a:t>
            </a:r>
            <a:r>
              <a:rPr lang="en-US" sz="1400">
                <a:solidFill>
                  <a:srgbClr val="FFFFFF"/>
                </a:solidFill>
                <a:latin typeface="Calibri"/>
                <a:ea typeface="Calibri"/>
                <a:cs typeface="Calibri"/>
              </a:rPr>
              <a:t>— LAB: Apache Cassandra on Linux (Docker + cqlsh)</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1E2761"/>
        </a:solidFill>
      </p:bgPr>
    </p:bg>
    <p:spTree>
      <p:nvGrpSpPr>
        <p:cNvPr id="1" name=""/>
        <p:cNvGrpSpPr/>
        <p:nvPr/>
      </p:nvGrpSpPr>
      <p:grpSpPr bwMode="auto">
        <a:xfrm>
          <a:off x="0" y="0"/>
          <a:ext cx="0" cy="0"/>
          <a:chOff x="0" y="0"/>
          <a:chExt cx="0" cy="0"/>
        </a:xfrm>
      </p:grpSpPr>
      <p:sp>
        <p:nvSpPr>
          <p:cNvPr id="1814850210"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262628046" name="Text 1"/>
          <p:cNvSpPr/>
          <p:nvPr/>
        </p:nvSpPr>
        <p:spPr bwMode="auto">
          <a:xfrm>
            <a:off x="457200" y="1645920"/>
            <a:ext cx="8229600" cy="731520"/>
          </a:xfrm>
          <a:prstGeom prst="rect">
            <a:avLst/>
          </a:prstGeom>
          <a:noFill/>
          <a:ln/>
        </p:spPr>
        <p:txBody>
          <a:bodyPr wrap="square" rtlCol="0" anchor="ctr"/>
          <a:lstStyle/>
          <a:p>
            <a:pPr marL="0" indent="0">
              <a:buNone/>
              <a:defRPr/>
            </a:pPr>
            <a:r>
              <a:rPr lang="en-US" sz="3200" b="1">
                <a:solidFill>
                  <a:srgbClr val="FFFFFF"/>
                </a:solidFill>
                <a:latin typeface="Trebuchet MS"/>
                <a:ea typeface="Trebuchet MS"/>
                <a:cs typeface="Trebuchet MS"/>
              </a:rPr>
              <a:t>MODULE 1</a:t>
            </a:r>
            <a:endParaRPr lang="en-US" sz="3200"/>
          </a:p>
        </p:txBody>
      </p:sp>
      <p:sp>
        <p:nvSpPr>
          <p:cNvPr id="2017568635" name="Text 2"/>
          <p:cNvSpPr/>
          <p:nvPr/>
        </p:nvSpPr>
        <p:spPr bwMode="auto">
          <a:xfrm>
            <a:off x="457200" y="2468880"/>
            <a:ext cx="8229600" cy="548640"/>
          </a:xfrm>
          <a:prstGeom prst="rect">
            <a:avLst/>
          </a:prstGeom>
          <a:noFill/>
          <a:ln/>
        </p:spPr>
        <p:txBody>
          <a:bodyPr wrap="square" rtlCol="0" anchor="ctr"/>
          <a:lstStyle/>
          <a:p>
            <a:pPr marL="0" indent="0">
              <a:buNone/>
              <a:defRPr/>
            </a:pPr>
            <a:r>
              <a:rPr lang="en-US" sz="1800" i="1">
                <a:solidFill>
                  <a:srgbClr val="4FC3F7"/>
                </a:solidFill>
                <a:latin typeface="Calibri"/>
                <a:ea typeface="Calibri"/>
                <a:cs typeface="Calibri"/>
              </a:rPr>
              <a:t>NoSQL Recap &amp; Column-Family Fundamentals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1E2761"/>
        </a:solidFill>
      </p:bgPr>
    </p:bg>
    <p:spTree>
      <p:nvGrpSpPr>
        <p:cNvPr id="1" name=""/>
        <p:cNvGrpSpPr/>
        <p:nvPr/>
      </p:nvGrpSpPr>
      <p:grpSpPr bwMode="auto">
        <a:xfrm>
          <a:off x="0" y="0"/>
          <a:ext cx="0" cy="0"/>
          <a:chOff x="0" y="0"/>
          <a:chExt cx="0" cy="0"/>
        </a:xfrm>
      </p:grpSpPr>
      <p:sp>
        <p:nvSpPr>
          <p:cNvPr id="720758975"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96166098"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The Four NoSQL Families</a:t>
            </a:r>
            <a:endParaRPr lang="en-US" sz="2600"/>
          </a:p>
        </p:txBody>
      </p:sp>
      <p:sp>
        <p:nvSpPr>
          <p:cNvPr id="1184833143"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1755803357"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KEY-VALUE STORES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Redis, DynamoDB</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Dictionary-like: one key → one blob</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Fastest read/write; no structure</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DOCUMENT STORES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MongoDB, CouchDB</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Self-contained JSON documents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Rich queries on nested fields</a:t>
            </a:r>
            <a:endParaRPr lang="en-US" sz="1400"/>
          </a:p>
        </p:txBody>
      </p:sp>
      <p:sp>
        <p:nvSpPr>
          <p:cNvPr id="494809413"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COLUMN-FAMILY STORES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Cassandra, HBase, ScyllaDB</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Rows with dynamic column sets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Best for time-series &amp; analytics</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GRAPH DATABASES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Neo4j, Amazon Neptune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Nodes and edges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Social networks, fraud detection</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1E2761"/>
        </a:solidFill>
      </p:bgPr>
    </p:bg>
    <p:spTree>
      <p:nvGrpSpPr>
        <p:cNvPr id="1" name=""/>
        <p:cNvGrpSpPr/>
        <p:nvPr/>
      </p:nvGrpSpPr>
      <p:grpSpPr bwMode="auto">
        <a:xfrm>
          <a:off x="0" y="0"/>
          <a:ext cx="0" cy="0"/>
          <a:chOff x="0" y="0"/>
          <a:chExt cx="0" cy="0"/>
        </a:xfrm>
      </p:grpSpPr>
      <p:sp>
        <p:nvSpPr>
          <p:cNvPr id="136808982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89239768"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What Is a Column-Family Database?</a:t>
            </a:r>
            <a:endParaRPr lang="en-US" sz="2600"/>
          </a:p>
        </p:txBody>
      </p:sp>
      <p:sp>
        <p:nvSpPr>
          <p:cNvPr id="1605753847"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Stores data in rows, but each row can have a DIFFERENT set of columns — no fixed schema per row</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Columns are grouped into Column Families — physically stored together on disk</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Inspired by Google's Bigtable paper (Chang et al., 2006) — the blueprint for large-scale storage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A keyspace contains column families; a column family contains rows; a row contains columns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Core idea: model your data around your QUERIES, not around normalisation rules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Optimised for: write-heavy workloads, time-series data, wide tables, analytical scans</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1E2761"/>
        </a:solidFill>
      </p:bgPr>
    </p:bg>
    <p:spTree>
      <p:nvGrpSpPr>
        <p:cNvPr id="1" name=""/>
        <p:cNvGrpSpPr/>
        <p:nvPr/>
      </p:nvGrpSpPr>
      <p:grpSpPr bwMode="auto">
        <a:xfrm>
          <a:off x="0" y="0"/>
          <a:ext cx="0" cy="0"/>
          <a:chOff x="0" y="0"/>
          <a:chExt cx="0" cy="0"/>
        </a:xfrm>
      </p:grpSpPr>
      <p:sp>
        <p:nvSpPr>
          <p:cNvPr id="78722421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79719451"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Row-Oriented vs Column-Oriented Storage</a:t>
            </a:r>
            <a:endParaRPr lang="en-US" sz="2600"/>
          </a:p>
        </p:txBody>
      </p:sp>
      <p:sp>
        <p:nvSpPr>
          <p:cNvPr id="1816748830"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189199440"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ROW-ORIENTED (RDBMS)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Row 1: [id, name, email, age, score]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Row 2: [id, name, email, age, score]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Entire row written and read together</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Great for OLTP: fetch one complete record</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Poor for analytics: reads unused columns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Cache is polluted with irrelevant data</a:t>
            </a:r>
            <a:endParaRPr lang="en-US" sz="1400"/>
          </a:p>
        </p:txBody>
      </p:sp>
      <p:sp>
        <p:nvSpPr>
          <p:cNvPr id="599626617"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COLUMN-FAMILY (NoSQL)</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CF 'PersonalInfo': id, name, email</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CF 'Metrics': id, age, score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Related columns stored physically together</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Scan 10M scores without touching emails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Perfect for OLAP and time-series analytics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Compresses similar data in same column well</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1E2761"/>
        </a:solidFill>
      </p:bgPr>
    </p:bg>
    <p:spTree>
      <p:nvGrpSpPr>
        <p:cNvPr id="1" name=""/>
        <p:cNvGrpSpPr/>
        <p:nvPr/>
      </p:nvGrpSpPr>
      <p:grpSpPr bwMode="auto">
        <a:xfrm>
          <a:off x="0" y="0"/>
          <a:ext cx="0" cy="0"/>
          <a:chOff x="0" y="0"/>
          <a:chExt cx="0" cy="0"/>
        </a:xfrm>
      </p:grpSpPr>
      <p:sp>
        <p:nvSpPr>
          <p:cNvPr id="557836837"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73611491"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Key Terminology — Glossary</a:t>
            </a:r>
            <a:endParaRPr lang="en-US" sz="2600"/>
          </a:p>
        </p:txBody>
      </p:sp>
      <p:sp>
        <p:nvSpPr>
          <p:cNvPr id="382035067"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KEYSPACE: top-level namespace (like a 'database' in SQL); defines replication strategy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COLUMN FAMILY / TABLE: a set of rows sharing related column families (like a 'table' in SQL)</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ROW KEY / PARTITION KEY: uniquely identifies a row; determines which node stores the data</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COLUMN: a key-value pair inside a row — { name: value, timestamp }; rows can have different columns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CLUSTERING KEY: secondary key that sorts rows within the same partition</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COMPACTION: background process that merges SSTables and removes deleted/overwritten data</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SSTable (Sorted String Table): immutable on-disk file format used by Cassandra and HBase</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1E2761"/>
        </a:solidFill>
      </p:bgPr>
    </p:bg>
    <p:spTree>
      <p:nvGrpSpPr>
        <p:cNvPr id="1" name=""/>
        <p:cNvGrpSpPr/>
        <p:nvPr/>
      </p:nvGrpSpPr>
      <p:grpSpPr bwMode="auto">
        <a:xfrm>
          <a:off x="0" y="0"/>
          <a:ext cx="0" cy="0"/>
          <a:chOff x="0" y="0"/>
          <a:chExt cx="0" cy="0"/>
        </a:xfrm>
      </p:grpSpPr>
      <p:sp>
        <p:nvSpPr>
          <p:cNvPr id="1408284610"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1916208510" name="Text 1"/>
          <p:cNvSpPr/>
          <p:nvPr/>
        </p:nvSpPr>
        <p:spPr bwMode="auto">
          <a:xfrm>
            <a:off x="457200" y="1645920"/>
            <a:ext cx="8229600" cy="731520"/>
          </a:xfrm>
          <a:prstGeom prst="rect">
            <a:avLst/>
          </a:prstGeom>
          <a:noFill/>
          <a:ln/>
        </p:spPr>
        <p:txBody>
          <a:bodyPr wrap="square" rtlCol="0" anchor="ctr"/>
          <a:lstStyle/>
          <a:p>
            <a:pPr marL="0" indent="0">
              <a:buNone/>
              <a:defRPr/>
            </a:pPr>
            <a:r>
              <a:rPr lang="en-US" sz="3200" b="1">
                <a:solidFill>
                  <a:srgbClr val="FFFFFF"/>
                </a:solidFill>
                <a:latin typeface="Trebuchet MS"/>
                <a:ea typeface="Trebuchet MS"/>
                <a:cs typeface="Trebuchet MS"/>
              </a:rPr>
              <a:t>MODULE 2</a:t>
            </a:r>
            <a:endParaRPr lang="en-US" sz="3200"/>
          </a:p>
        </p:txBody>
      </p:sp>
      <p:sp>
        <p:nvSpPr>
          <p:cNvPr id="1322669458" name="Text 2"/>
          <p:cNvSpPr/>
          <p:nvPr/>
        </p:nvSpPr>
        <p:spPr bwMode="auto">
          <a:xfrm>
            <a:off x="457200" y="2468880"/>
            <a:ext cx="8229600" cy="548640"/>
          </a:xfrm>
          <a:prstGeom prst="rect">
            <a:avLst/>
          </a:prstGeom>
          <a:noFill/>
          <a:ln/>
        </p:spPr>
        <p:txBody>
          <a:bodyPr wrap="square" rtlCol="0" anchor="ctr"/>
          <a:lstStyle/>
          <a:p>
            <a:pPr marL="0" indent="0">
              <a:buNone/>
              <a:defRPr/>
            </a:pPr>
            <a:r>
              <a:rPr lang="en-US" sz="1800" i="1">
                <a:solidFill>
                  <a:srgbClr val="4FC3F7"/>
                </a:solidFill>
                <a:latin typeface="Calibri"/>
                <a:ea typeface="Calibri"/>
                <a:cs typeface="Calibri"/>
              </a:rPr>
              <a:t>The Column-Family Data Model</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1E2761"/>
        </a:solidFill>
      </p:bgPr>
    </p:bg>
    <p:spTree>
      <p:nvGrpSpPr>
        <p:cNvPr id="1" name=""/>
        <p:cNvGrpSpPr/>
        <p:nvPr/>
      </p:nvGrpSpPr>
      <p:grpSpPr bwMode="auto">
        <a:xfrm>
          <a:off x="0" y="0"/>
          <a:ext cx="0" cy="0"/>
          <a:chOff x="0" y="0"/>
          <a:chExt cx="0" cy="0"/>
        </a:xfrm>
      </p:grpSpPr>
      <p:sp>
        <p:nvSpPr>
          <p:cNvPr id="1526302851"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096156441"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The Logical Data Model</a:t>
            </a:r>
            <a:endParaRPr lang="en-US" sz="2600"/>
          </a:p>
        </p:txBody>
      </p:sp>
      <p:sp>
        <p:nvSpPr>
          <p:cNvPr id="1059039551"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Think of a column-family table as a SORTED MAP OF SORTED MAPS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Outer map key = Row/Partition Key   →   inner map = { column: value }</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Rows are sorted by partition key; columns within a row are sorted by clustering key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Sparse rows: row A can have 3 columns, row B can have 300 — storage cost proportional to data</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Wide rows: a single partition can hold millions of column entries (e.g., all tweets of a user)</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The timestamp on each cell enables Last-Write-Wins conflict resolution automatically</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1E2761"/>
        </a:solidFill>
      </p:bgPr>
    </p:bg>
    <p:spTree>
      <p:nvGrpSpPr>
        <p:cNvPr id="1" name=""/>
        <p:cNvGrpSpPr/>
        <p:nvPr/>
      </p:nvGrpSpPr>
      <p:grpSpPr bwMode="auto">
        <a:xfrm>
          <a:off x="0" y="0"/>
          <a:ext cx="0" cy="0"/>
          <a:chOff x="0" y="0"/>
          <a:chExt cx="0" cy="0"/>
        </a:xfrm>
      </p:grpSpPr>
      <p:sp>
        <p:nvSpPr>
          <p:cNvPr id="135073003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55309357"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Data Model: Partition → Row → Column</a:t>
            </a:r>
            <a:endParaRPr lang="en-US" sz="2600"/>
          </a:p>
        </p:txBody>
      </p:sp>
      <p:sp>
        <p:nvSpPr>
          <p:cNvPr id="1381513318" name="Shape 2"/>
          <p:cNvSpPr/>
          <p:nvPr/>
        </p:nvSpPr>
        <p:spPr bwMode="auto">
          <a:xfrm>
            <a:off x="365760" y="914400"/>
            <a:ext cx="8412480" cy="3474720"/>
          </a:xfrm>
          <a:prstGeom prst="rect">
            <a:avLst/>
          </a:prstGeom>
          <a:solidFill>
            <a:srgbClr val="253080"/>
          </a:solidFill>
          <a:ln w="12700">
            <a:solidFill>
              <a:srgbClr val="4FC3F7"/>
            </a:solidFill>
            <a:prstDash val="solid"/>
          </a:ln>
        </p:spPr>
      </p:sp>
      <p:sp>
        <p:nvSpPr>
          <p:cNvPr id="336945533" name="Text 3"/>
          <p:cNvSpPr/>
          <p:nvPr/>
        </p:nvSpPr>
        <p:spPr bwMode="auto">
          <a:xfrm>
            <a:off x="640080" y="960120"/>
            <a:ext cx="3657600" cy="320040"/>
          </a:xfrm>
          <a:prstGeom prst="rect">
            <a:avLst/>
          </a:prstGeom>
          <a:noFill/>
          <a:ln/>
        </p:spPr>
        <p:txBody>
          <a:bodyPr wrap="square" lIns="0" tIns="0" rIns="0" bIns="0" rtlCol="0" anchor="ctr"/>
          <a:lstStyle/>
          <a:p>
            <a:pPr marL="0" indent="0">
              <a:buNone/>
              <a:defRPr/>
            </a:pPr>
            <a:r>
              <a:rPr lang="en-US" sz="1100" b="1">
                <a:solidFill>
                  <a:srgbClr val="4FC3F7"/>
                </a:solidFill>
                <a:latin typeface="Consolas"/>
                <a:ea typeface="Consolas"/>
                <a:cs typeface="Consolas"/>
              </a:rPr>
              <a:t>KEYSPACE: university_db</a:t>
            </a:r>
            <a:endParaRPr lang="en-US" sz="1100"/>
          </a:p>
        </p:txBody>
      </p:sp>
      <p:sp>
        <p:nvSpPr>
          <p:cNvPr id="1826227110" name="Shape 4"/>
          <p:cNvSpPr/>
          <p:nvPr/>
        </p:nvSpPr>
        <p:spPr bwMode="auto">
          <a:xfrm>
            <a:off x="640080" y="1325880"/>
            <a:ext cx="7863840" cy="2743200"/>
          </a:xfrm>
          <a:prstGeom prst="rect">
            <a:avLst/>
          </a:prstGeom>
          <a:solidFill>
            <a:srgbClr val="1A2354"/>
          </a:solidFill>
          <a:ln w="12700">
            <a:solidFill>
              <a:srgbClr val="4FC3F7"/>
            </a:solidFill>
            <a:prstDash val="solid"/>
          </a:ln>
        </p:spPr>
      </p:sp>
      <p:sp>
        <p:nvSpPr>
          <p:cNvPr id="1213724387" name="Text 5"/>
          <p:cNvSpPr/>
          <p:nvPr/>
        </p:nvSpPr>
        <p:spPr bwMode="auto">
          <a:xfrm>
            <a:off x="914400" y="1371600"/>
            <a:ext cx="3657600" cy="274320"/>
          </a:xfrm>
          <a:prstGeom prst="rect">
            <a:avLst/>
          </a:prstGeom>
          <a:noFill/>
          <a:ln/>
        </p:spPr>
        <p:txBody>
          <a:bodyPr wrap="square" lIns="0" tIns="0" rIns="0" bIns="0" rtlCol="0" anchor="ctr"/>
          <a:lstStyle/>
          <a:p>
            <a:pPr marL="0" indent="0">
              <a:buNone/>
              <a:defRPr/>
            </a:pPr>
            <a:r>
              <a:rPr lang="en-US" sz="1100" b="1">
                <a:solidFill>
                  <a:srgbClr val="CADCFC"/>
                </a:solidFill>
                <a:latin typeface="Consolas"/>
                <a:ea typeface="Consolas"/>
                <a:cs typeface="Consolas"/>
              </a:rPr>
              <a:t>COLUMN FAMILY: students</a:t>
            </a:r>
            <a:endParaRPr lang="en-US" sz="1100"/>
          </a:p>
        </p:txBody>
      </p:sp>
      <p:sp>
        <p:nvSpPr>
          <p:cNvPr id="1487273952" name="Shape 6"/>
          <p:cNvSpPr/>
          <p:nvPr/>
        </p:nvSpPr>
        <p:spPr bwMode="auto">
          <a:xfrm>
            <a:off x="914400" y="1691640"/>
            <a:ext cx="7132320" cy="502920"/>
          </a:xfrm>
          <a:prstGeom prst="rect">
            <a:avLst/>
          </a:prstGeom>
          <a:solidFill>
            <a:srgbClr val="0D1117"/>
          </a:solidFill>
          <a:ln w="12700">
            <a:solidFill>
              <a:srgbClr val="4FC3F7"/>
            </a:solidFill>
            <a:prstDash val="solid"/>
          </a:ln>
        </p:spPr>
      </p:sp>
      <p:sp>
        <p:nvSpPr>
          <p:cNvPr id="453645061" name="Text 7"/>
          <p:cNvSpPr/>
          <p:nvPr/>
        </p:nvSpPr>
        <p:spPr bwMode="auto">
          <a:xfrm>
            <a:off x="1005840" y="1737360"/>
            <a:ext cx="6858000" cy="365760"/>
          </a:xfrm>
          <a:prstGeom prst="rect">
            <a:avLst/>
          </a:prstGeom>
          <a:noFill/>
          <a:ln/>
        </p:spPr>
        <p:txBody>
          <a:bodyPr wrap="square" lIns="0" tIns="0" rIns="0" bIns="0" rtlCol="0" anchor="ctr"/>
          <a:lstStyle/>
          <a:p>
            <a:pPr marL="0" indent="0">
              <a:buNone/>
              <a:defRPr/>
            </a:pPr>
            <a:r>
              <a:rPr lang="en-US" sz="1100">
                <a:solidFill>
                  <a:srgbClr val="D4D4D4"/>
                </a:solidFill>
                <a:latin typeface="Consolas"/>
                <a:ea typeface="Consolas"/>
                <a:cs typeface="Consolas"/>
              </a:rPr>
              <a:t>PARTITION KEY: 'S001'  |  name: 'Maria'  |  dept: 'ECE'  |  gpa: 9.2  |  year: 3</a:t>
            </a:r>
            <a:endParaRPr lang="en-US" sz="1100"/>
          </a:p>
        </p:txBody>
      </p:sp>
      <p:sp>
        <p:nvSpPr>
          <p:cNvPr id="67687834" name="Shape 8"/>
          <p:cNvSpPr/>
          <p:nvPr/>
        </p:nvSpPr>
        <p:spPr bwMode="auto">
          <a:xfrm>
            <a:off x="914400" y="2267712"/>
            <a:ext cx="7132320" cy="502920"/>
          </a:xfrm>
          <a:prstGeom prst="rect">
            <a:avLst/>
          </a:prstGeom>
          <a:solidFill>
            <a:srgbClr val="0D1117"/>
          </a:solidFill>
          <a:ln w="12700">
            <a:solidFill>
              <a:srgbClr val="4FC3F7"/>
            </a:solidFill>
            <a:prstDash val="solid"/>
          </a:ln>
        </p:spPr>
      </p:sp>
      <p:sp>
        <p:nvSpPr>
          <p:cNvPr id="1192714562" name="Text 9"/>
          <p:cNvSpPr/>
          <p:nvPr/>
        </p:nvSpPr>
        <p:spPr bwMode="auto">
          <a:xfrm>
            <a:off x="1005840" y="2313432"/>
            <a:ext cx="6858000" cy="365760"/>
          </a:xfrm>
          <a:prstGeom prst="rect">
            <a:avLst/>
          </a:prstGeom>
          <a:noFill/>
          <a:ln/>
        </p:spPr>
        <p:txBody>
          <a:bodyPr wrap="square" lIns="0" tIns="0" rIns="0" bIns="0" rtlCol="0" anchor="ctr"/>
          <a:lstStyle/>
          <a:p>
            <a:pPr marL="0" indent="0">
              <a:buNone/>
              <a:defRPr/>
            </a:pPr>
            <a:r>
              <a:rPr lang="en-US" sz="1100">
                <a:solidFill>
                  <a:srgbClr val="D4D4D4"/>
                </a:solidFill>
                <a:latin typeface="Consolas"/>
                <a:ea typeface="Consolas"/>
                <a:cs typeface="Consolas"/>
              </a:rPr>
              <a:t>PARTITION KEY: 'S002'  |  name: 'Nikos'  |  dept: 'EE'   |  gpa: 8.7</a:t>
            </a:r>
            <a:endParaRPr lang="en-US" sz="1100"/>
          </a:p>
        </p:txBody>
      </p:sp>
      <p:sp>
        <p:nvSpPr>
          <p:cNvPr id="152133584" name="Shape 10"/>
          <p:cNvSpPr/>
          <p:nvPr/>
        </p:nvSpPr>
        <p:spPr bwMode="auto">
          <a:xfrm>
            <a:off x="914400" y="2843784"/>
            <a:ext cx="7132320" cy="502920"/>
          </a:xfrm>
          <a:prstGeom prst="rect">
            <a:avLst/>
          </a:prstGeom>
          <a:solidFill>
            <a:srgbClr val="0D1117"/>
          </a:solidFill>
          <a:ln w="12700">
            <a:solidFill>
              <a:srgbClr val="4FC3F7"/>
            </a:solidFill>
            <a:prstDash val="solid"/>
          </a:ln>
        </p:spPr>
      </p:sp>
      <p:sp>
        <p:nvSpPr>
          <p:cNvPr id="821816510" name="Text 11"/>
          <p:cNvSpPr/>
          <p:nvPr/>
        </p:nvSpPr>
        <p:spPr bwMode="auto">
          <a:xfrm>
            <a:off x="1005840" y="2889504"/>
            <a:ext cx="6858000" cy="365760"/>
          </a:xfrm>
          <a:prstGeom prst="rect">
            <a:avLst/>
          </a:prstGeom>
          <a:noFill/>
          <a:ln/>
        </p:spPr>
        <p:txBody>
          <a:bodyPr wrap="square" lIns="0" tIns="0" rIns="0" bIns="0" rtlCol="0" anchor="ctr"/>
          <a:lstStyle/>
          <a:p>
            <a:pPr marL="0" indent="0">
              <a:buNone/>
              <a:defRPr/>
            </a:pPr>
            <a:r>
              <a:rPr lang="en-US" sz="1100">
                <a:solidFill>
                  <a:srgbClr val="D4D4D4"/>
                </a:solidFill>
                <a:latin typeface="Consolas"/>
                <a:ea typeface="Consolas"/>
                <a:cs typeface="Consolas"/>
              </a:rPr>
              <a:t>PARTITION KEY: 'S003'  |  name: 'Anna'   |  gpa: 9.8  |  thesis: 'FPGA Accelerators'</a:t>
            </a:r>
            <a:endParaRPr lang="en-US" sz="1100"/>
          </a:p>
        </p:txBody>
      </p:sp>
      <p:sp>
        <p:nvSpPr>
          <p:cNvPr id="34082319" name="Text 12"/>
          <p:cNvSpPr/>
          <p:nvPr/>
        </p:nvSpPr>
        <p:spPr bwMode="auto">
          <a:xfrm>
            <a:off x="914400" y="3401568"/>
            <a:ext cx="6858000" cy="320040"/>
          </a:xfrm>
          <a:prstGeom prst="rect">
            <a:avLst/>
          </a:prstGeom>
          <a:noFill/>
          <a:ln/>
        </p:spPr>
        <p:txBody>
          <a:bodyPr wrap="square" lIns="0" tIns="0" rIns="0" bIns="0" rtlCol="0" anchor="ctr"/>
          <a:lstStyle/>
          <a:p>
            <a:pPr marL="0" indent="0">
              <a:buNone/>
              <a:defRPr/>
            </a:pPr>
            <a:r>
              <a:rPr lang="en-US" sz="1100" i="1">
                <a:solidFill>
                  <a:srgbClr val="4FC3F7"/>
                </a:solidFill>
                <a:latin typeface="Calibri"/>
                <a:ea typeface="Calibri"/>
                <a:cs typeface="Calibri"/>
              </a:rPr>
              <a:t>↑ Sparse row — no 'dept' or 'year' columns — no NULL penalty</a:t>
            </a:r>
            <a:endParaRPr lang="en-US"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1E2761"/>
        </a:solidFill>
      </p:bgPr>
    </p:bg>
    <p:spTree>
      <p:nvGrpSpPr>
        <p:cNvPr id="1" name=""/>
        <p:cNvGrpSpPr/>
        <p:nvPr/>
      </p:nvGrpSpPr>
      <p:grpSpPr bwMode="auto">
        <a:xfrm>
          <a:off x="0" y="0"/>
          <a:ext cx="0" cy="0"/>
          <a:chOff x="0" y="0"/>
          <a:chExt cx="0" cy="0"/>
        </a:xfrm>
      </p:grpSpPr>
      <p:sp>
        <p:nvSpPr>
          <p:cNvPr id="1019391075"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09296066"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Partition Key — The Distribution Mechanism</a:t>
            </a:r>
            <a:endParaRPr lang="en-US" sz="2600"/>
          </a:p>
        </p:txBody>
      </p:sp>
      <p:sp>
        <p:nvSpPr>
          <p:cNvPr id="1343509734"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The partition key is hashed using a consistent hashing function (Murmur3 in Cassandra)</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The hash value determines which node(s) in the cluster are responsible for that row</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All columns in the same partition are stored on the SAME node — efficient reads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Query without the partition key = full cluster scan (expensive!) — always use it in WHERE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GOOD partition key: uniformly distributes data; no single node stores disproportionate rows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BAD partition key: low cardinality (e.g., 'country') creates hot partitions and bottlenecks</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1E2761"/>
        </a:solidFill>
      </p:bgPr>
    </p:bg>
    <p:spTree>
      <p:nvGrpSpPr>
        <p:cNvPr id="1" name=""/>
        <p:cNvGrpSpPr/>
        <p:nvPr/>
      </p:nvGrpSpPr>
      <p:grpSpPr bwMode="auto">
        <a:xfrm>
          <a:off x="0" y="0"/>
          <a:ext cx="0" cy="0"/>
          <a:chOff x="0" y="0"/>
          <a:chExt cx="0" cy="0"/>
        </a:xfrm>
      </p:grpSpPr>
      <p:sp>
        <p:nvSpPr>
          <p:cNvPr id="78807808"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3621301"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Clustering Keys — Ordering Within a Partition</a:t>
            </a:r>
            <a:endParaRPr lang="en-US" sz="2600"/>
          </a:p>
        </p:txBody>
      </p:sp>
      <p:sp>
        <p:nvSpPr>
          <p:cNvPr id="1899236943"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1670151652"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CLUSTERING KEY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Secondary key within a partition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Physically orders rows on disk</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Enables efficient range queries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Example: sensor_id (partition) +</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timestamp (clustering)</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Fetch last 100 readings = one seek</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No full scan needed</a:t>
            </a:r>
            <a:endParaRPr lang="en-US" sz="1400"/>
          </a:p>
        </p:txBody>
      </p:sp>
      <p:sp>
        <p:nvSpPr>
          <p:cNvPr id="1712556986"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PRACTICAL EXAMPLE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Table: temperature_readings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Partition Key: sensor_id</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Clustering Key: reading_time DESC</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SELECT * FROM temperature_readings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WHERE sensor_id = 'SENSOR_042'</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ORDER BY reading_time DESC LIMIT 10</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1E2761"/>
        </a:solidFill>
      </p:bgPr>
    </p:bg>
    <p:spTree>
      <p:nvGrpSpPr>
        <p:cNvPr id="1" name=""/>
        <p:cNvGrpSpPr/>
        <p:nvPr/>
      </p:nvGrpSpPr>
      <p:grpSpPr bwMode="auto">
        <a:xfrm>
          <a:off x="0" y="0"/>
          <a:ext cx="0" cy="0"/>
          <a:chOff x="0" y="0"/>
          <a:chExt cx="0" cy="0"/>
        </a:xfrm>
      </p:grpSpPr>
      <p:sp>
        <p:nvSpPr>
          <p:cNvPr id="1017049258"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94479433"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Write Path: How Data Is Written</a:t>
            </a:r>
            <a:endParaRPr lang="en-US" sz="2600"/>
          </a:p>
        </p:txBody>
      </p:sp>
      <p:sp>
        <p:nvSpPr>
          <p:cNvPr id="271962204"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1. COMMIT LOG: every write is first appended to a persistent commit log (WAL) — crash safety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2. MEMTABLE: write is also stored in an in-memory structure called a MemTable (fast acknowledgment)</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3. Cassandra returns SUCCESS to the client as soon as CommitLog + MemTable are written</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4. FLUSH: when MemTable is full, it is flushed to disk as an immutable SSTable file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5. COMPACTION: background process merges SSTables, removes tombstones (deletes), optimises reads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Key insight: Cassandra NEVER updates data in-place — all writes are sequential appends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Sequential writes are orders of magnitude faster than random writes on both HDD and SSD</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1E2761"/>
        </a:solidFill>
      </p:bgPr>
    </p:bg>
    <p:spTree>
      <p:nvGrpSpPr>
        <p:cNvPr id="1" name=""/>
        <p:cNvGrpSpPr/>
        <p:nvPr/>
      </p:nvGrpSpPr>
      <p:grpSpPr bwMode="auto">
        <a:xfrm>
          <a:off x="0" y="0"/>
          <a:ext cx="0" cy="0"/>
          <a:chOff x="0" y="0"/>
          <a:chExt cx="0" cy="0"/>
        </a:xfrm>
      </p:grpSpPr>
      <p:sp>
        <p:nvSpPr>
          <p:cNvPr id="578784988"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494862858"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Read Path: How Data Is Read</a:t>
            </a:r>
            <a:endParaRPr lang="en-US" sz="2600"/>
          </a:p>
        </p:txBody>
      </p:sp>
      <p:sp>
        <p:nvSpPr>
          <p:cNvPr id="1159293296"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1144499773"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READ REQUEST ARRIVES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Check MemTable first (newest data)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Check Row Cache (if enabled)</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Check Bloom Filters per SSTable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 Probabilistic: 'is key in file?'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 Avoids reading irrelevant SSTables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Check Key Cache for SSTable offset</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Read SSTable from disk if needed</a:t>
            </a:r>
            <a:endParaRPr lang="en-US" sz="1400"/>
          </a:p>
        </p:txBody>
      </p:sp>
      <p:sp>
        <p:nvSpPr>
          <p:cNvPr id="2021189783"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BLOOM FILTER</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Space-efficient probabilistic structure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False positives possible (read an extra file)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False negatives IMPOSSIBLE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Default: 1% false positive rate in Cassandra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Dramatically reduces disk I/O</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Result: merge data from all sources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Return most recent version to client</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1E2761"/>
        </a:solidFill>
      </p:bgPr>
    </p:bg>
    <p:spTree>
      <p:nvGrpSpPr>
        <p:cNvPr id="1" name=""/>
        <p:cNvGrpSpPr/>
        <p:nvPr/>
      </p:nvGrpSpPr>
      <p:grpSpPr bwMode="auto">
        <a:xfrm>
          <a:off x="0" y="0"/>
          <a:ext cx="0" cy="0"/>
          <a:chOff x="0" y="0"/>
          <a:chExt cx="0" cy="0"/>
        </a:xfrm>
      </p:grpSpPr>
      <p:sp>
        <p:nvSpPr>
          <p:cNvPr id="1684097989"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642594621" name="Text 1"/>
          <p:cNvSpPr/>
          <p:nvPr/>
        </p:nvSpPr>
        <p:spPr bwMode="auto">
          <a:xfrm>
            <a:off x="457200" y="1645920"/>
            <a:ext cx="8229600" cy="731520"/>
          </a:xfrm>
          <a:prstGeom prst="rect">
            <a:avLst/>
          </a:prstGeom>
          <a:noFill/>
          <a:ln/>
        </p:spPr>
        <p:txBody>
          <a:bodyPr wrap="square" rtlCol="0" anchor="ctr"/>
          <a:lstStyle/>
          <a:p>
            <a:pPr marL="0" indent="0">
              <a:buNone/>
              <a:defRPr/>
            </a:pPr>
            <a:r>
              <a:rPr lang="en-US" sz="3200" b="1">
                <a:solidFill>
                  <a:srgbClr val="FFFFFF"/>
                </a:solidFill>
                <a:latin typeface="Trebuchet MS"/>
                <a:ea typeface="Trebuchet MS"/>
                <a:cs typeface="Trebuchet MS"/>
              </a:rPr>
              <a:t>MODULE 3</a:t>
            </a:r>
            <a:endParaRPr lang="en-US" sz="3200"/>
          </a:p>
        </p:txBody>
      </p:sp>
      <p:sp>
        <p:nvSpPr>
          <p:cNvPr id="2088035552" name="Text 2"/>
          <p:cNvSpPr/>
          <p:nvPr/>
        </p:nvSpPr>
        <p:spPr bwMode="auto">
          <a:xfrm>
            <a:off x="457200" y="2468880"/>
            <a:ext cx="8229600" cy="548640"/>
          </a:xfrm>
          <a:prstGeom prst="rect">
            <a:avLst/>
          </a:prstGeom>
          <a:noFill/>
          <a:ln/>
        </p:spPr>
        <p:txBody>
          <a:bodyPr wrap="square" rtlCol="0" anchor="ctr"/>
          <a:lstStyle/>
          <a:p>
            <a:pPr marL="0" indent="0">
              <a:buNone/>
              <a:defRPr/>
            </a:pPr>
            <a:r>
              <a:rPr lang="en-US" sz="1800" i="1">
                <a:solidFill>
                  <a:srgbClr val="4FC3F7"/>
                </a:solidFill>
                <a:latin typeface="Calibri"/>
                <a:ea typeface="Calibri"/>
                <a:cs typeface="Calibri"/>
              </a:rPr>
              <a:t>State-of-the-Art Column-Family Systems</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1E2761"/>
        </a:solidFill>
      </p:bgPr>
    </p:bg>
    <p:spTree>
      <p:nvGrpSpPr>
        <p:cNvPr id="1" name=""/>
        <p:cNvGrpSpPr/>
        <p:nvPr/>
      </p:nvGrpSpPr>
      <p:grpSpPr bwMode="auto">
        <a:xfrm>
          <a:off x="0" y="0"/>
          <a:ext cx="0" cy="0"/>
          <a:chOff x="0" y="0"/>
          <a:chExt cx="0" cy="0"/>
        </a:xfrm>
      </p:grpSpPr>
      <p:sp>
        <p:nvSpPr>
          <p:cNvPr id="1891808211"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257609166"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Apache Cassandra — Overview</a:t>
            </a:r>
            <a:endParaRPr lang="en-US" sz="2600"/>
          </a:p>
        </p:txBody>
      </p:sp>
      <p:sp>
        <p:nvSpPr>
          <p:cNvPr id="642706976"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242487703"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ORIGIN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Created at Facebook (2007-2008)</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Released open-source 2008</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Apache top-level project since 2010</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Current: Cassandra 5.x (2024)</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ARCHITECTURE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Peer-to-peer — NO single master</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Every node is equal (ring topology)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Gossip protocol for node discovery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Consistent hashing for data placement</a:t>
            </a:r>
            <a:endParaRPr lang="en-US" sz="1400"/>
          </a:p>
        </p:txBody>
      </p:sp>
      <p:sp>
        <p:nvSpPr>
          <p:cNvPr id="1495432231"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KEY STRENGTHS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Linear horizontal scalability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Multi-datacenter replication built-in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Tunable consistency (ONE to ALL)</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CQL — SQL-like query language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Excellent write throughput</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REAL-WORLD USERS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Apple: 75,000+ nodes, 10PB+ data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Netflix: global streaming metadata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Discord: trillions of messages stored</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bg>
      <p:bgPr shadeToTitle="0">
        <a:solidFill>
          <a:srgbClr val="1E2761"/>
        </a:solidFill>
      </p:bgPr>
    </p:bg>
    <p:spTree>
      <p:nvGrpSpPr>
        <p:cNvPr id="1" name=""/>
        <p:cNvGrpSpPr/>
        <p:nvPr/>
      </p:nvGrpSpPr>
      <p:grpSpPr bwMode="auto">
        <a:xfrm>
          <a:off x="0" y="0"/>
          <a:ext cx="0" cy="0"/>
          <a:chOff x="0" y="0"/>
          <a:chExt cx="0" cy="0"/>
        </a:xfrm>
      </p:grpSpPr>
      <p:sp>
        <p:nvSpPr>
          <p:cNvPr id="221753212"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332235903"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Cassandra Ring Architecture</a:t>
            </a:r>
            <a:endParaRPr lang="en-US" sz="2600"/>
          </a:p>
        </p:txBody>
      </p:sp>
      <p:sp>
        <p:nvSpPr>
          <p:cNvPr id="708962441" name="Shape 2"/>
          <p:cNvSpPr/>
          <p:nvPr/>
        </p:nvSpPr>
        <p:spPr bwMode="auto">
          <a:xfrm>
            <a:off x="3108960" y="1280160"/>
            <a:ext cx="2926080" cy="2926080"/>
          </a:xfrm>
          <a:prstGeom prst="ellipse">
            <a:avLst/>
          </a:prstGeom>
          <a:solidFill>
            <a:srgbClr val="253080">
              <a:alpha val="50000"/>
            </a:srgbClr>
          </a:solidFill>
          <a:ln w="25400">
            <a:solidFill>
              <a:srgbClr val="4FC3F7"/>
            </a:solidFill>
            <a:prstDash val="solid"/>
          </a:ln>
        </p:spPr>
      </p:sp>
      <p:sp>
        <p:nvSpPr>
          <p:cNvPr id="1380962038" name="Shape 3"/>
          <p:cNvSpPr/>
          <p:nvPr/>
        </p:nvSpPr>
        <p:spPr bwMode="auto">
          <a:xfrm>
            <a:off x="4069080" y="960120"/>
            <a:ext cx="1005840" cy="640080"/>
          </a:xfrm>
          <a:prstGeom prst="ellipse">
            <a:avLst/>
          </a:prstGeom>
          <a:solidFill>
            <a:srgbClr val="4FC3F7"/>
          </a:solidFill>
          <a:ln w="12700">
            <a:solidFill>
              <a:srgbClr val="4FC3F7"/>
            </a:solidFill>
            <a:prstDash val="solid"/>
          </a:ln>
        </p:spPr>
      </p:sp>
      <p:sp>
        <p:nvSpPr>
          <p:cNvPr id="401515652" name="Text 4"/>
          <p:cNvSpPr/>
          <p:nvPr/>
        </p:nvSpPr>
        <p:spPr bwMode="auto">
          <a:xfrm>
            <a:off x="4069080" y="960120"/>
            <a:ext cx="1005840" cy="640080"/>
          </a:xfrm>
          <a:prstGeom prst="rect">
            <a:avLst/>
          </a:prstGeom>
          <a:noFill/>
          <a:ln/>
        </p:spPr>
        <p:txBody>
          <a:bodyPr wrap="square" lIns="0" tIns="0" rIns="0" bIns="0" rtlCol="0" anchor="ctr"/>
          <a:lstStyle/>
          <a:p>
            <a:pPr marL="0" indent="0" algn="ctr">
              <a:buNone/>
              <a:defRPr/>
            </a:pPr>
            <a:r>
              <a:rPr lang="en-US" sz="900" b="1">
                <a:solidFill>
                  <a:srgbClr val="1E2761"/>
                </a:solidFill>
                <a:latin typeface="Calibri"/>
                <a:ea typeface="Calibri"/>
                <a:cs typeface="Calibri"/>
              </a:rPr>
              <a:t>Node A</a:t>
            </a:r>
            <a:endParaRPr lang="en-US" sz="900"/>
          </a:p>
          <a:p>
            <a:pPr marL="0" indent="0" algn="ctr">
              <a:buNone/>
              <a:defRPr/>
            </a:pPr>
            <a:r>
              <a:rPr lang="en-US" sz="900" b="1">
                <a:solidFill>
                  <a:srgbClr val="1E2761"/>
                </a:solidFill>
                <a:latin typeface="Calibri"/>
                <a:ea typeface="Calibri"/>
                <a:cs typeface="Calibri"/>
              </a:rPr>
              <a:t>Token 0</a:t>
            </a:r>
            <a:endParaRPr lang="en-US" sz="900"/>
          </a:p>
        </p:txBody>
      </p:sp>
      <p:sp>
        <p:nvSpPr>
          <p:cNvPr id="2031897433" name="Shape 5"/>
          <p:cNvSpPr/>
          <p:nvPr/>
        </p:nvSpPr>
        <p:spPr bwMode="auto">
          <a:xfrm>
            <a:off x="5460514" y="1971056"/>
            <a:ext cx="1005840" cy="640080"/>
          </a:xfrm>
          <a:prstGeom prst="ellipse">
            <a:avLst/>
          </a:prstGeom>
          <a:solidFill>
            <a:srgbClr val="4FC3F7"/>
          </a:solidFill>
          <a:ln w="12700">
            <a:solidFill>
              <a:srgbClr val="4FC3F7"/>
            </a:solidFill>
            <a:prstDash val="solid"/>
          </a:ln>
        </p:spPr>
      </p:sp>
      <p:sp>
        <p:nvSpPr>
          <p:cNvPr id="837041070" name="Text 6"/>
          <p:cNvSpPr/>
          <p:nvPr/>
        </p:nvSpPr>
        <p:spPr bwMode="auto">
          <a:xfrm>
            <a:off x="5460514" y="1971056"/>
            <a:ext cx="1005840" cy="640080"/>
          </a:xfrm>
          <a:prstGeom prst="rect">
            <a:avLst/>
          </a:prstGeom>
          <a:noFill/>
          <a:ln/>
        </p:spPr>
        <p:txBody>
          <a:bodyPr wrap="square" lIns="0" tIns="0" rIns="0" bIns="0" rtlCol="0" anchor="ctr"/>
          <a:lstStyle/>
          <a:p>
            <a:pPr marL="0" indent="0" algn="ctr">
              <a:buNone/>
              <a:defRPr/>
            </a:pPr>
            <a:r>
              <a:rPr lang="en-US" sz="900" b="1">
                <a:solidFill>
                  <a:srgbClr val="1E2761"/>
                </a:solidFill>
                <a:latin typeface="Calibri"/>
                <a:ea typeface="Calibri"/>
                <a:cs typeface="Calibri"/>
              </a:rPr>
              <a:t>Node B</a:t>
            </a:r>
            <a:endParaRPr lang="en-US" sz="900"/>
          </a:p>
          <a:p>
            <a:pPr marL="0" indent="0" algn="ctr">
              <a:buNone/>
              <a:defRPr/>
            </a:pPr>
            <a:r>
              <a:rPr lang="en-US" sz="900" b="1">
                <a:solidFill>
                  <a:srgbClr val="1E2761"/>
                </a:solidFill>
                <a:latin typeface="Calibri"/>
                <a:ea typeface="Calibri"/>
                <a:cs typeface="Calibri"/>
              </a:rPr>
              <a:t>Token 85</a:t>
            </a:r>
            <a:endParaRPr lang="en-US" sz="900"/>
          </a:p>
        </p:txBody>
      </p:sp>
      <p:sp>
        <p:nvSpPr>
          <p:cNvPr id="618229773" name="Shape 7"/>
          <p:cNvSpPr/>
          <p:nvPr/>
        </p:nvSpPr>
        <p:spPr bwMode="auto">
          <a:xfrm>
            <a:off x="4929033" y="3606784"/>
            <a:ext cx="1005840" cy="640080"/>
          </a:xfrm>
          <a:prstGeom prst="ellipse">
            <a:avLst/>
          </a:prstGeom>
          <a:solidFill>
            <a:srgbClr val="4FC3F7"/>
          </a:solidFill>
          <a:ln w="12700">
            <a:solidFill>
              <a:srgbClr val="4FC3F7"/>
            </a:solidFill>
            <a:prstDash val="solid"/>
          </a:ln>
        </p:spPr>
      </p:sp>
      <p:sp>
        <p:nvSpPr>
          <p:cNvPr id="1687492914" name="Text 8"/>
          <p:cNvSpPr/>
          <p:nvPr/>
        </p:nvSpPr>
        <p:spPr bwMode="auto">
          <a:xfrm>
            <a:off x="4929033" y="3606784"/>
            <a:ext cx="1005840" cy="640080"/>
          </a:xfrm>
          <a:prstGeom prst="rect">
            <a:avLst/>
          </a:prstGeom>
          <a:noFill/>
          <a:ln/>
        </p:spPr>
        <p:txBody>
          <a:bodyPr wrap="square" lIns="0" tIns="0" rIns="0" bIns="0" rtlCol="0" anchor="ctr"/>
          <a:lstStyle/>
          <a:p>
            <a:pPr marL="0" indent="0" algn="ctr">
              <a:buNone/>
              <a:defRPr/>
            </a:pPr>
            <a:r>
              <a:rPr lang="en-US" sz="900" b="1">
                <a:solidFill>
                  <a:srgbClr val="1E2761"/>
                </a:solidFill>
                <a:latin typeface="Calibri"/>
                <a:ea typeface="Calibri"/>
                <a:cs typeface="Calibri"/>
              </a:rPr>
              <a:t>Node C</a:t>
            </a:r>
            <a:endParaRPr lang="en-US" sz="900"/>
          </a:p>
          <a:p>
            <a:pPr marL="0" indent="0" algn="ctr">
              <a:buNone/>
              <a:defRPr/>
            </a:pPr>
            <a:r>
              <a:rPr lang="en-US" sz="900" b="1">
                <a:solidFill>
                  <a:srgbClr val="1E2761"/>
                </a:solidFill>
                <a:latin typeface="Calibri"/>
                <a:ea typeface="Calibri"/>
                <a:cs typeface="Calibri"/>
              </a:rPr>
              <a:t>Token 170</a:t>
            </a:r>
            <a:endParaRPr lang="en-US" sz="900"/>
          </a:p>
        </p:txBody>
      </p:sp>
      <p:sp>
        <p:nvSpPr>
          <p:cNvPr id="1254111306" name="Shape 9"/>
          <p:cNvSpPr/>
          <p:nvPr/>
        </p:nvSpPr>
        <p:spPr bwMode="auto">
          <a:xfrm>
            <a:off x="3209127" y="3606784"/>
            <a:ext cx="1005840" cy="640080"/>
          </a:xfrm>
          <a:prstGeom prst="ellipse">
            <a:avLst/>
          </a:prstGeom>
          <a:solidFill>
            <a:srgbClr val="4FC3F7"/>
          </a:solidFill>
          <a:ln w="12700">
            <a:solidFill>
              <a:srgbClr val="4FC3F7"/>
            </a:solidFill>
            <a:prstDash val="solid"/>
          </a:ln>
        </p:spPr>
      </p:sp>
      <p:sp>
        <p:nvSpPr>
          <p:cNvPr id="1491629087" name="Text 10"/>
          <p:cNvSpPr/>
          <p:nvPr/>
        </p:nvSpPr>
        <p:spPr bwMode="auto">
          <a:xfrm>
            <a:off x="3209127" y="3606784"/>
            <a:ext cx="1005840" cy="640080"/>
          </a:xfrm>
          <a:prstGeom prst="rect">
            <a:avLst/>
          </a:prstGeom>
          <a:noFill/>
          <a:ln/>
        </p:spPr>
        <p:txBody>
          <a:bodyPr wrap="square" lIns="0" tIns="0" rIns="0" bIns="0" rtlCol="0" anchor="ctr"/>
          <a:lstStyle/>
          <a:p>
            <a:pPr marL="0" indent="0" algn="ctr">
              <a:buNone/>
              <a:defRPr/>
            </a:pPr>
            <a:r>
              <a:rPr lang="en-US" sz="900" b="1">
                <a:solidFill>
                  <a:srgbClr val="1E2761"/>
                </a:solidFill>
                <a:latin typeface="Calibri"/>
                <a:ea typeface="Calibri"/>
                <a:cs typeface="Calibri"/>
              </a:rPr>
              <a:t>Node D</a:t>
            </a:r>
            <a:endParaRPr lang="en-US" sz="900"/>
          </a:p>
          <a:p>
            <a:pPr marL="0" indent="0" algn="ctr">
              <a:buNone/>
              <a:defRPr/>
            </a:pPr>
            <a:r>
              <a:rPr lang="en-US" sz="900" b="1">
                <a:solidFill>
                  <a:srgbClr val="1E2761"/>
                </a:solidFill>
                <a:latin typeface="Calibri"/>
                <a:ea typeface="Calibri"/>
                <a:cs typeface="Calibri"/>
              </a:rPr>
              <a:t>Token 255</a:t>
            </a:r>
            <a:endParaRPr lang="en-US" sz="900"/>
          </a:p>
        </p:txBody>
      </p:sp>
      <p:sp>
        <p:nvSpPr>
          <p:cNvPr id="226758723" name="Shape 11"/>
          <p:cNvSpPr/>
          <p:nvPr/>
        </p:nvSpPr>
        <p:spPr bwMode="auto">
          <a:xfrm>
            <a:off x="2677646" y="1971056"/>
            <a:ext cx="1005840" cy="640080"/>
          </a:xfrm>
          <a:prstGeom prst="ellipse">
            <a:avLst/>
          </a:prstGeom>
          <a:solidFill>
            <a:srgbClr val="4FC3F7"/>
          </a:solidFill>
          <a:ln w="12700">
            <a:solidFill>
              <a:srgbClr val="4FC3F7"/>
            </a:solidFill>
            <a:prstDash val="solid"/>
          </a:ln>
        </p:spPr>
      </p:sp>
      <p:sp>
        <p:nvSpPr>
          <p:cNvPr id="1923491355" name="Text 12"/>
          <p:cNvSpPr/>
          <p:nvPr/>
        </p:nvSpPr>
        <p:spPr bwMode="auto">
          <a:xfrm>
            <a:off x="2677646" y="1971056"/>
            <a:ext cx="1005840" cy="640080"/>
          </a:xfrm>
          <a:prstGeom prst="rect">
            <a:avLst/>
          </a:prstGeom>
          <a:noFill/>
          <a:ln/>
        </p:spPr>
        <p:txBody>
          <a:bodyPr wrap="square" lIns="0" tIns="0" rIns="0" bIns="0" rtlCol="0" anchor="ctr"/>
          <a:lstStyle/>
          <a:p>
            <a:pPr marL="0" indent="0" algn="ctr">
              <a:buNone/>
              <a:defRPr/>
            </a:pPr>
            <a:r>
              <a:rPr lang="en-US" sz="900" b="1">
                <a:solidFill>
                  <a:srgbClr val="1E2761"/>
                </a:solidFill>
                <a:latin typeface="Calibri"/>
                <a:ea typeface="Calibri"/>
                <a:cs typeface="Calibri"/>
              </a:rPr>
              <a:t>Node E</a:t>
            </a:r>
            <a:endParaRPr lang="en-US" sz="900"/>
          </a:p>
          <a:p>
            <a:pPr marL="0" indent="0" algn="ctr">
              <a:buNone/>
              <a:defRPr/>
            </a:pPr>
            <a:r>
              <a:rPr lang="en-US" sz="900" b="1">
                <a:solidFill>
                  <a:srgbClr val="1E2761"/>
                </a:solidFill>
                <a:latin typeface="Calibri"/>
                <a:ea typeface="Calibri"/>
                <a:cs typeface="Calibri"/>
              </a:rPr>
              <a:t>Token 340</a:t>
            </a:r>
            <a:endParaRPr lang="en-US" sz="900"/>
          </a:p>
        </p:txBody>
      </p:sp>
      <p:sp>
        <p:nvSpPr>
          <p:cNvPr id="1468232639" name="Text 13"/>
          <p:cNvSpPr/>
          <p:nvPr/>
        </p:nvSpPr>
        <p:spPr bwMode="auto">
          <a:xfrm>
            <a:off x="3840480" y="2468880"/>
            <a:ext cx="1554480" cy="365760"/>
          </a:xfrm>
          <a:prstGeom prst="rect">
            <a:avLst/>
          </a:prstGeom>
          <a:noFill/>
          <a:ln/>
        </p:spPr>
        <p:txBody>
          <a:bodyPr wrap="square" rtlCol="0" anchor="ctr"/>
          <a:lstStyle/>
          <a:p>
            <a:pPr marL="0" indent="0" algn="ctr">
              <a:buNone/>
              <a:defRPr/>
            </a:pPr>
            <a:r>
              <a:rPr lang="en-US" sz="1000">
                <a:solidFill>
                  <a:srgbClr val="FFFFFF"/>
                </a:solidFill>
                <a:latin typeface="Calibri"/>
                <a:ea typeface="Calibri"/>
                <a:cs typeface="Calibri"/>
              </a:rPr>
              <a:t>Consistent Hashing Ring</a:t>
            </a:r>
            <a:endParaRPr lang="en-US" sz="1000"/>
          </a:p>
        </p:txBody>
      </p:sp>
      <p:sp>
        <p:nvSpPr>
          <p:cNvPr id="1250383441" name="Text 14"/>
          <p:cNvSpPr/>
          <p:nvPr/>
        </p:nvSpPr>
        <p:spPr bwMode="auto">
          <a:xfrm>
            <a:off x="365760" y="1005840"/>
            <a:ext cx="3657600" cy="3657600"/>
          </a:xfrm>
          <a:prstGeom prst="rect">
            <a:avLst/>
          </a:prstGeom>
          <a:noFill/>
          <a:ln/>
        </p:spPr>
        <p:txBody>
          <a:bodyPr wrap="square" rtlCol="0" anchor="ctr"/>
          <a:lstStyle/>
          <a:p>
            <a:pPr marL="342900" indent="-342900">
              <a:spcAft>
                <a:spcPts val="500"/>
              </a:spcAft>
              <a:buSzPct val="100000"/>
              <a:buChar char="►"/>
              <a:defRPr/>
            </a:pPr>
            <a:r>
              <a:rPr lang="en-US" sz="1300">
                <a:solidFill>
                  <a:srgbClr val="FFFFFF"/>
                </a:solidFill>
                <a:latin typeface="Calibri"/>
                <a:ea typeface="Calibri"/>
                <a:cs typeface="Calibri"/>
              </a:rPr>
              <a:t>Each node owns a token range</a:t>
            </a:r>
            <a:endParaRPr lang="en-US" sz="1300"/>
          </a:p>
          <a:p>
            <a:pPr marL="342900" indent="-342900">
              <a:spcAft>
                <a:spcPts val="500"/>
              </a:spcAft>
              <a:buSzPct val="100000"/>
              <a:buChar char="►"/>
              <a:defRPr/>
            </a:pPr>
            <a:r>
              <a:rPr lang="en-US" sz="1300">
                <a:solidFill>
                  <a:srgbClr val="FFFFFF"/>
                </a:solidFill>
                <a:latin typeface="Calibri"/>
                <a:ea typeface="Calibri"/>
                <a:cs typeface="Calibri"/>
              </a:rPr>
              <a:t>Partition key → hash → token → node</a:t>
            </a:r>
            <a:endParaRPr lang="en-US" sz="1300"/>
          </a:p>
          <a:p>
            <a:pPr marL="342900" indent="-342900">
              <a:spcAft>
                <a:spcPts val="500"/>
              </a:spcAft>
              <a:buSzPct val="100000"/>
              <a:buChar char="►"/>
              <a:defRPr/>
            </a:pPr>
            <a:r>
              <a:rPr lang="en-US" sz="1300">
                <a:solidFill>
                  <a:srgbClr val="FFFFFF"/>
                </a:solidFill>
                <a:latin typeface="Calibri"/>
                <a:ea typeface="Calibri"/>
                <a:cs typeface="Calibri"/>
              </a:rPr>
              <a:t>Replication: each row copies to N nodes</a:t>
            </a:r>
            <a:endParaRPr lang="en-US" sz="1300"/>
          </a:p>
          <a:p>
            <a:pPr marL="342900" indent="-342900">
              <a:spcAft>
                <a:spcPts val="500"/>
              </a:spcAft>
              <a:buSzPct val="100000"/>
              <a:buChar char="►"/>
              <a:defRPr/>
            </a:pPr>
            <a:r>
              <a:rPr lang="en-US" sz="1300">
                <a:solidFill>
                  <a:srgbClr val="FFFFFF"/>
                </a:solidFill>
                <a:latin typeface="Calibri"/>
                <a:ea typeface="Calibri"/>
                <a:cs typeface="Calibri"/>
              </a:rPr>
              <a:t>Node failure: replicas serve requests</a:t>
            </a:r>
            <a:endParaRPr lang="en-US" sz="1300"/>
          </a:p>
          <a:p>
            <a:pPr marL="342900" indent="-342900">
              <a:spcAft>
                <a:spcPts val="500"/>
              </a:spcAft>
              <a:buSzPct val="100000"/>
              <a:buChar char="►"/>
              <a:defRPr/>
            </a:pPr>
            <a:r>
              <a:rPr lang="en-US" sz="1300">
                <a:solidFill>
                  <a:srgbClr val="FFFFFF"/>
                </a:solidFill>
                <a:latin typeface="Calibri"/>
                <a:ea typeface="Calibri"/>
                <a:cs typeface="Calibri"/>
              </a:rPr>
              <a:t>New node joins: rebalances automatically</a:t>
            </a:r>
            <a:endParaRPr lang="en-US" sz="1300"/>
          </a:p>
          <a:p>
            <a:pPr marL="342900" indent="-342900">
              <a:spcAft>
                <a:spcPts val="500"/>
              </a:spcAft>
              <a:buSzPct val="100000"/>
              <a:buChar char="►"/>
              <a:defRPr/>
            </a:pPr>
            <a:r>
              <a:rPr lang="en-US" sz="1300">
                <a:solidFill>
                  <a:srgbClr val="FFFFFF"/>
                </a:solidFill>
                <a:latin typeface="Calibri"/>
                <a:ea typeface="Calibri"/>
                <a:cs typeface="Calibri"/>
              </a:rPr>
              <a:t>No master — all nodes equal (AP system)</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1E2761"/>
        </a:solidFill>
      </p:bgPr>
    </p:bg>
    <p:spTree>
      <p:nvGrpSpPr>
        <p:cNvPr id="1" name=""/>
        <p:cNvGrpSpPr/>
        <p:nvPr/>
      </p:nvGrpSpPr>
      <p:grpSpPr bwMode="auto">
        <a:xfrm>
          <a:off x="0" y="0"/>
          <a:ext cx="0" cy="0"/>
          <a:chOff x="0" y="0"/>
          <a:chExt cx="0" cy="0"/>
        </a:xfrm>
      </p:grpSpPr>
      <p:sp>
        <p:nvSpPr>
          <p:cNvPr id="1024307609"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116088755"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Cassandra Consistency Levels — Tunable CAP</a:t>
            </a:r>
            <a:endParaRPr lang="en-US" sz="2600"/>
          </a:p>
        </p:txBody>
      </p:sp>
      <p:sp>
        <p:nvSpPr>
          <p:cNvPr id="2021045743"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Cassandra lets you choose consistency per read AND per write operation — unique flexibility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ONE: fastest; returns after 1 replica responds — highest availability, lowest consistency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QUORUM: majority of replicas must agree — balanced; ensures no stale read after a write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ALL: every replica must respond — strongest consistency, lowest availability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LOCAL_QUORUM: quorum within the local datacenter only — ideal for multi-DC deployments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Rule of thumb: if write_CL + read_CL &gt; replication_factor → STRONG CONSISTENCY guaranteed</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Example: RF=3, write=QUORUM(2), read=QUORUM(2) → 2+2&gt;3 → always reads latest write</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1E2761"/>
        </a:solidFill>
      </p:bgPr>
    </p:bg>
    <p:spTree>
      <p:nvGrpSpPr>
        <p:cNvPr id="1" name=""/>
        <p:cNvGrpSpPr/>
        <p:nvPr/>
      </p:nvGrpSpPr>
      <p:grpSpPr bwMode="auto">
        <a:xfrm>
          <a:off x="0" y="0"/>
          <a:ext cx="0" cy="0"/>
          <a:chOff x="0" y="0"/>
          <a:chExt cx="0" cy="0"/>
        </a:xfrm>
      </p:grpSpPr>
      <p:sp>
        <p:nvSpPr>
          <p:cNvPr id="1033332922"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947725955"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Apache HBase — Overview</a:t>
            </a:r>
            <a:endParaRPr lang="en-US" sz="2600"/>
          </a:p>
        </p:txBody>
      </p:sp>
      <p:sp>
        <p:nvSpPr>
          <p:cNvPr id="246865382"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682795151"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ORIGIN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Based on Google Bigtable paper (2006)</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Part of Apache Hadoop ecosystem</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First release: 2007; v2.x currently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Tight integration with HDFS and MapReduce</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ARCHITECTURE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Master-RegionServer model</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HMaster: coordinates, manages metadata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RegionServers: serve read/write requests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ZooKeeper: distributed coordination</a:t>
            </a:r>
            <a:endParaRPr lang="en-US" sz="1400"/>
          </a:p>
        </p:txBody>
      </p:sp>
      <p:sp>
        <p:nvSpPr>
          <p:cNvPr id="603116695"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KEY STRENGTHS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Strong consistency (CP system)</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Co-location with HDFS data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Efficient range scans over sorted keys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Billions of rows × millions of columns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Versioned cells: keep N versions per cell</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REAL-WORLD USERS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Facebook Messenger (originally)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Yahoo! — hundreds of PB</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Adobe, Twitter/X analytics</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1E2761"/>
        </a:solidFill>
      </p:bgPr>
    </p:bg>
    <p:spTree>
      <p:nvGrpSpPr>
        <p:cNvPr id="1" name=""/>
        <p:cNvGrpSpPr/>
        <p:nvPr/>
      </p:nvGrpSpPr>
      <p:grpSpPr bwMode="auto">
        <a:xfrm>
          <a:off x="0" y="0"/>
          <a:ext cx="0" cy="0"/>
          <a:chOff x="0" y="0"/>
          <a:chExt cx="0" cy="0"/>
        </a:xfrm>
      </p:grpSpPr>
      <p:sp>
        <p:nvSpPr>
          <p:cNvPr id="31845462"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840499731"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ScyllaDB — The C++ Replacement</a:t>
            </a:r>
            <a:endParaRPr lang="en-US" sz="2600"/>
          </a:p>
        </p:txBody>
      </p:sp>
      <p:sp>
        <p:nvSpPr>
          <p:cNvPr id="1885310504"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2143533340"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ORIGIN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Founded 2014 by Avi Kivity (KVM creator)</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C++20 rewrite of Apache Cassandra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Cassandra-compatible: same CQL, SSTables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Open source; ScyllaDB Cloud (DBaaS)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Latest: ScyllaDB 6.x (2024-2025)</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TECHNOLOGY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Seastar async framework (no threads)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Shard-per-core: each CPU core owns its data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Zero-copy I/O, huge pages, DPDK networking</a:t>
            </a:r>
            <a:endParaRPr lang="en-US" sz="1400"/>
          </a:p>
        </p:txBody>
      </p:sp>
      <p:sp>
        <p:nvSpPr>
          <p:cNvPr id="1977637404"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PERFORMANCE CLAIMS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Up to 2M requests/sec on 1 machine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10× Cassandra throughput per node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Consistent sub-millisecond p99 latency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Samsung benchmark: 10–37× speedup</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Independent tests: 2–5× typical</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REAL-WORLD USERS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Discord: switched from Cassandra 2023</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Grab (ride-sharing SEA)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AppNexus, Strava, Zillow</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bg>
      <p:bgPr shadeToTitle="0">
        <a:solidFill>
          <a:srgbClr val="1E2761"/>
        </a:solidFill>
      </p:bgPr>
    </p:bg>
    <p:spTree>
      <p:nvGrpSpPr>
        <p:cNvPr id="1" name=""/>
        <p:cNvGrpSpPr/>
        <p:nvPr/>
      </p:nvGrpSpPr>
      <p:grpSpPr bwMode="auto">
        <a:xfrm>
          <a:off x="0" y="0"/>
          <a:ext cx="0" cy="0"/>
          <a:chOff x="0" y="0"/>
          <a:chExt cx="0" cy="0"/>
        </a:xfrm>
      </p:grpSpPr>
      <p:sp>
        <p:nvSpPr>
          <p:cNvPr id="1577323841"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38897880"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Cloud-Native Column-Family Services</a:t>
            </a:r>
            <a:endParaRPr lang="en-US" sz="2600"/>
          </a:p>
        </p:txBody>
      </p:sp>
      <p:sp>
        <p:nvSpPr>
          <p:cNvPr id="1327082312"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1832893366"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AMAZON KEYSPACES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Managed Cassandra-compatible service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Serverless: auto-scales capacity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No cluster management needed</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CQL-compatible — easy migration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Strong consistency mode available</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GOOGLE BIGTABLE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The original inspiration for all CFDBs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Managed, fully serverless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Powers Gmail, Google Search, Maps</a:t>
            </a:r>
            <a:endParaRPr lang="en-US" sz="1400"/>
          </a:p>
        </p:txBody>
      </p:sp>
      <p:sp>
        <p:nvSpPr>
          <p:cNvPr id="178715847"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AZURE COSMOS DB (Cassandra API)</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Multi-model: also JSON, Gremlin, Table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Global distribution in minutes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99.999% SLA</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DATASTAX ASTRA DB</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Managed Cassandra on any cloud</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Vector search support (2024)</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REST and GraphQL APIs built-in</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TREND: all major clouds now offer</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managed column-family as a service</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1E2761"/>
        </a:solidFill>
      </p:bgPr>
    </p:bg>
    <p:spTree>
      <p:nvGrpSpPr>
        <p:cNvPr id="1" name=""/>
        <p:cNvGrpSpPr/>
        <p:nvPr/>
      </p:nvGrpSpPr>
      <p:grpSpPr bwMode="auto">
        <a:xfrm>
          <a:off x="0" y="0"/>
          <a:ext cx="0" cy="0"/>
          <a:chOff x="0" y="0"/>
          <a:chExt cx="0" cy="0"/>
        </a:xfrm>
      </p:grpSpPr>
      <p:sp>
        <p:nvSpPr>
          <p:cNvPr id="1396877468"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099094680"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System Comparison at a Glance</a:t>
            </a:r>
            <a:endParaRPr lang="en-US" sz="2600"/>
          </a:p>
        </p:txBody>
      </p:sp>
      <p:graphicFrame>
        <p:nvGraphicFramePr>
          <p:cNvPr id="675037340" name="Table 0"/>
          <p:cNvGraphicFramePr>
            <a:graphicFrameLocks xmlns:a="http://schemas.openxmlformats.org/drawingml/2006/main" noGrp="1"/>
          </p:cNvGraphicFramePr>
          <p:nvPr/>
        </p:nvGraphicFramePr>
        <p:xfrm rot="0">
          <a:off x="365760" y="960120"/>
          <a:ext cx="8412480" cy="3566160"/>
        </p:xfrm>
        <a:graphic>
          <a:graphicData uri="http://schemas.openxmlformats.org/drawingml/2006/table">
            <a:tbl>
              <a:tblPr firstRow="0" firstCol="0" lastRow="0" lastCol="0" bandRow="0" bandCol="0"/>
              <a:tblGrid>
                <a:gridCol w="1737360"/>
                <a:gridCol w="1188720"/>
                <a:gridCol w="1005840"/>
                <a:gridCol w="1645920"/>
                <a:gridCol w="2834640"/>
              </a:tblGrid>
              <a:tr h="594360">
                <a:tc>
                  <a:txBody>
                    <a:bodyPr/>
                    <a:p>
                      <a:pPr marL="0" indent="0">
                        <a:buNone/>
                        <a:defRPr/>
                      </a:pPr>
                      <a:r>
                        <a:rPr lang="en-US" sz="1200" b="1">
                          <a:solidFill>
                            <a:srgbClr val="1E2761"/>
                          </a:solidFill>
                          <a:latin typeface="Trebuchet MS"/>
                          <a:ea typeface="Trebuchet MS"/>
                          <a:cs typeface="Trebuchet MS"/>
                        </a:rPr>
                        <a:t>System</a:t>
                      </a:r>
                      <a:endParaRPr lang="en-US" sz="1200">
                        <a:latin typeface="Trebuchet MS"/>
                        <a:ea typeface="Trebuchet MS"/>
                        <a:cs typeface="Trebuchet MS"/>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4FC3F7"/>
                    </a:solidFill>
                  </a:tcPr>
                </a:tc>
                <a:tc>
                  <a:txBody>
                    <a:bodyPr/>
                    <a:p>
                      <a:pPr marL="0" indent="0">
                        <a:buNone/>
                        <a:defRPr/>
                      </a:pPr>
                      <a:r>
                        <a:rPr lang="en-US" sz="1200" b="1">
                          <a:solidFill>
                            <a:srgbClr val="1E2761"/>
                          </a:solidFill>
                          <a:latin typeface="Trebuchet MS"/>
                          <a:ea typeface="Trebuchet MS"/>
                          <a:cs typeface="Trebuchet MS"/>
                        </a:rPr>
                        <a:t>Consistency</a:t>
                      </a:r>
                      <a:endParaRPr lang="en-US" sz="1200">
                        <a:latin typeface="Trebuchet MS"/>
                        <a:ea typeface="Trebuchet MS"/>
                        <a:cs typeface="Trebuchet MS"/>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4FC3F7"/>
                    </a:solidFill>
                  </a:tcPr>
                </a:tc>
                <a:tc>
                  <a:txBody>
                    <a:bodyPr/>
                    <a:p>
                      <a:pPr marL="0" indent="0">
                        <a:buNone/>
                        <a:defRPr/>
                      </a:pPr>
                      <a:r>
                        <a:rPr lang="en-US" sz="1200" b="1">
                          <a:solidFill>
                            <a:srgbClr val="1E2761"/>
                          </a:solidFill>
                          <a:latin typeface="Trebuchet MS"/>
                          <a:ea typeface="Trebuchet MS"/>
                          <a:cs typeface="Trebuchet MS"/>
                        </a:rPr>
                        <a:t>Language</a:t>
                      </a:r>
                      <a:endParaRPr lang="en-US" sz="1200">
                        <a:latin typeface="Trebuchet MS"/>
                        <a:ea typeface="Trebuchet MS"/>
                        <a:cs typeface="Trebuchet MS"/>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4FC3F7"/>
                    </a:solidFill>
                  </a:tcPr>
                </a:tc>
                <a:tc>
                  <a:txBody>
                    <a:bodyPr/>
                    <a:p>
                      <a:pPr marL="0" indent="0">
                        <a:buNone/>
                        <a:defRPr/>
                      </a:pPr>
                      <a:r>
                        <a:rPr lang="en-US" sz="1200" b="1">
                          <a:solidFill>
                            <a:srgbClr val="1E2761"/>
                          </a:solidFill>
                          <a:latin typeface="Trebuchet MS"/>
                          <a:ea typeface="Trebuchet MS"/>
                          <a:cs typeface="Trebuchet MS"/>
                        </a:rPr>
                        <a:t>Architecture</a:t>
                      </a:r>
                      <a:endParaRPr lang="en-US" sz="1200">
                        <a:latin typeface="Trebuchet MS"/>
                        <a:ea typeface="Trebuchet MS"/>
                        <a:cs typeface="Trebuchet MS"/>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4FC3F7"/>
                    </a:solidFill>
                  </a:tcPr>
                </a:tc>
                <a:tc>
                  <a:txBody>
                    <a:bodyPr/>
                    <a:p>
                      <a:pPr marL="0" indent="0">
                        <a:buNone/>
                        <a:defRPr/>
                      </a:pPr>
                      <a:r>
                        <a:rPr lang="en-US" sz="1200" b="1">
                          <a:solidFill>
                            <a:srgbClr val="1E2761"/>
                          </a:solidFill>
                          <a:latin typeface="Trebuchet MS"/>
                          <a:ea typeface="Trebuchet MS"/>
                          <a:cs typeface="Trebuchet MS"/>
                        </a:rPr>
                        <a:t>Best For</a:t>
                      </a:r>
                      <a:endParaRPr lang="en-US" sz="1200">
                        <a:latin typeface="Trebuchet MS"/>
                        <a:ea typeface="Trebuchet MS"/>
                        <a:cs typeface="Trebuchet MS"/>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4FC3F7"/>
                    </a:solidFill>
                  </a:tcPr>
                </a:tc>
              </a:tr>
              <a:tr h="594360">
                <a:tc>
                  <a:txBody>
                    <a:bodyPr/>
                    <a:p>
                      <a:pPr marL="0" indent="0">
                        <a:buNone/>
                        <a:defRPr/>
                      </a:pPr>
                      <a:r>
                        <a:rPr lang="en-US" sz="1100">
                          <a:solidFill>
                            <a:srgbClr val="FFFFFF"/>
                          </a:solidFill>
                          <a:latin typeface="Calibri"/>
                          <a:ea typeface="Calibri"/>
                          <a:cs typeface="Calibri"/>
                        </a:rPr>
                        <a:t>Apache Cassandra</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Tunable (AP)</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Java</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Peer-to-peer ring</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High availability, geo-distributed</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r>
              <a:tr h="594360">
                <a:tc>
                  <a:txBody>
                    <a:bodyPr/>
                    <a:p>
                      <a:pPr marL="0" indent="0">
                        <a:buNone/>
                        <a:defRPr/>
                      </a:pPr>
                      <a:r>
                        <a:rPr lang="en-US" sz="1100">
                          <a:solidFill>
                            <a:srgbClr val="FFFFFF"/>
                          </a:solidFill>
                          <a:latin typeface="Calibri"/>
                          <a:ea typeface="Calibri"/>
                          <a:cs typeface="Calibri"/>
                        </a:rPr>
                        <a:t>Apache HBase</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Strong (CP)</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Java</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Master-RegionServer</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Hadoop analytics, range scans</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r>
              <a:tr h="594360">
                <a:tc>
                  <a:txBody>
                    <a:bodyPr/>
                    <a:p>
                      <a:pPr marL="0" indent="0">
                        <a:buNone/>
                        <a:defRPr/>
                      </a:pPr>
                      <a:r>
                        <a:rPr lang="en-US" sz="1100">
                          <a:solidFill>
                            <a:srgbClr val="FFFFFF"/>
                          </a:solidFill>
                          <a:latin typeface="Calibri"/>
                          <a:ea typeface="Calibri"/>
                          <a:cs typeface="Calibri"/>
                        </a:rPr>
                        <a:t>ScyllaDB</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Tunable (AP)</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C++20</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Shard-per-core ring</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Ultra-low latency, IoT, finance</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r>
              <a:tr h="594360">
                <a:tc>
                  <a:txBody>
                    <a:bodyPr/>
                    <a:p>
                      <a:pPr marL="0" indent="0">
                        <a:buNone/>
                        <a:defRPr/>
                      </a:pPr>
                      <a:r>
                        <a:rPr lang="en-US" sz="1100">
                          <a:solidFill>
                            <a:srgbClr val="FFFFFF"/>
                          </a:solidFill>
                          <a:latin typeface="Calibri"/>
                          <a:ea typeface="Calibri"/>
                          <a:cs typeface="Calibri"/>
                        </a:rPr>
                        <a:t>Google Bigtable</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Strong (CP)</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Managed</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Proprietary cloud</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c>
                  <a:txBody>
                    <a:bodyPr/>
                    <a:p>
                      <a:pPr marL="0" indent="0">
                        <a:buNone/>
                        <a:defRPr/>
                      </a:pPr>
                      <a:r>
                        <a:rPr lang="en-US" sz="1100">
                          <a:solidFill>
                            <a:srgbClr val="FFFFFF"/>
                          </a:solidFill>
                          <a:latin typeface="Calibri"/>
                          <a:ea typeface="Calibri"/>
                          <a:cs typeface="Calibri"/>
                        </a:rPr>
                        <a:t>GCP analytics, petabyte scale</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1E2761"/>
                    </a:solidFill>
                  </a:tcPr>
                </a:tc>
              </a:tr>
              <a:tr h="594360">
                <a:tc>
                  <a:txBody>
                    <a:bodyPr/>
                    <a:p>
                      <a:pPr marL="0" indent="0">
                        <a:buNone/>
                        <a:defRPr/>
                      </a:pPr>
                      <a:r>
                        <a:rPr lang="en-US" sz="1100">
                          <a:solidFill>
                            <a:srgbClr val="FFFFFF"/>
                          </a:solidFill>
                          <a:latin typeface="Calibri"/>
                          <a:ea typeface="Calibri"/>
                          <a:cs typeface="Calibri"/>
                        </a:rPr>
                        <a:t>Amazon Keyspaces</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Tunable</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Managed</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Serverless</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c>
                  <a:txBody>
                    <a:bodyPr/>
                    <a:p>
                      <a:pPr marL="0" indent="0">
                        <a:buNone/>
                        <a:defRPr/>
                      </a:pPr>
                      <a:r>
                        <a:rPr lang="en-US" sz="1100">
                          <a:solidFill>
                            <a:srgbClr val="FFFFFF"/>
                          </a:solidFill>
                          <a:latin typeface="Calibri"/>
                          <a:ea typeface="Calibri"/>
                          <a:cs typeface="Calibri"/>
                        </a:rPr>
                        <a:t>AWS-native, CQL migration</a:t>
                      </a:r>
                      <a:endParaRPr lang="en-US" sz="1100">
                        <a:latin typeface="Calibri"/>
                        <a:ea typeface="Calibri"/>
                        <a:cs typeface="Calibri"/>
                      </a:endParaRPr>
                    </a:p>
                  </a:txBody>
                  <a:tcPr marL="91440" marR="91440" marT="45720" marB="45720">
                    <a:lnL w="12700" algn="ctr">
                      <a:solidFill>
                        <a:srgbClr val="4FC3F7"/>
                      </a:solidFill>
                    </a:lnL>
                    <a:lnR w="12700" algn="ctr">
                      <a:solidFill>
                        <a:srgbClr val="4FC3F7"/>
                      </a:solidFill>
                    </a:lnR>
                    <a:lnT w="12700" algn="ctr">
                      <a:solidFill>
                        <a:srgbClr val="4FC3F7"/>
                      </a:solidFill>
                    </a:lnT>
                    <a:lnB w="12700" algn="ctr">
                      <a:solidFill>
                        <a:srgbClr val="4FC3F7"/>
                      </a:solidFill>
                    </a:lnB>
                    <a:solidFill>
                      <a:srgbClr val="253080"/>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bg>
      <p:bgPr shadeToTitle="0">
        <a:solidFill>
          <a:srgbClr val="1E2761"/>
        </a:solidFill>
      </p:bgPr>
    </p:bg>
    <p:spTree>
      <p:nvGrpSpPr>
        <p:cNvPr id="1" name=""/>
        <p:cNvGrpSpPr/>
        <p:nvPr/>
      </p:nvGrpSpPr>
      <p:grpSpPr bwMode="auto">
        <a:xfrm>
          <a:off x="0" y="0"/>
          <a:ext cx="0" cy="0"/>
          <a:chOff x="0" y="0"/>
          <a:chExt cx="0" cy="0"/>
        </a:xfrm>
      </p:grpSpPr>
      <p:sp>
        <p:nvSpPr>
          <p:cNvPr id="980686276"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1519516593" name="Text 1"/>
          <p:cNvSpPr/>
          <p:nvPr/>
        </p:nvSpPr>
        <p:spPr bwMode="auto">
          <a:xfrm>
            <a:off x="457200" y="1645920"/>
            <a:ext cx="8229600" cy="731520"/>
          </a:xfrm>
          <a:prstGeom prst="rect">
            <a:avLst/>
          </a:prstGeom>
          <a:noFill/>
          <a:ln/>
        </p:spPr>
        <p:txBody>
          <a:bodyPr wrap="square" rtlCol="0" anchor="ctr"/>
          <a:lstStyle/>
          <a:p>
            <a:pPr marL="0" indent="0">
              <a:buNone/>
              <a:defRPr/>
            </a:pPr>
            <a:r>
              <a:rPr lang="en-US" sz="3200" b="1">
                <a:solidFill>
                  <a:srgbClr val="FFFFFF"/>
                </a:solidFill>
                <a:latin typeface="Trebuchet MS"/>
                <a:ea typeface="Trebuchet MS"/>
                <a:cs typeface="Trebuchet MS"/>
              </a:rPr>
              <a:t>MODULE 4</a:t>
            </a:r>
            <a:endParaRPr lang="en-US" sz="3200"/>
          </a:p>
        </p:txBody>
      </p:sp>
      <p:sp>
        <p:nvSpPr>
          <p:cNvPr id="189336206" name="Text 2"/>
          <p:cNvSpPr/>
          <p:nvPr/>
        </p:nvSpPr>
        <p:spPr bwMode="auto">
          <a:xfrm>
            <a:off x="457200" y="2468880"/>
            <a:ext cx="8229600" cy="548640"/>
          </a:xfrm>
          <a:prstGeom prst="rect">
            <a:avLst/>
          </a:prstGeom>
          <a:noFill/>
          <a:ln/>
        </p:spPr>
        <p:txBody>
          <a:bodyPr wrap="square" rtlCol="0" anchor="ctr"/>
          <a:lstStyle/>
          <a:p>
            <a:pPr marL="0" indent="0">
              <a:buNone/>
              <a:defRPr/>
            </a:pPr>
            <a:r>
              <a:rPr lang="en-US" sz="1800" i="1">
                <a:solidFill>
                  <a:srgbClr val="4FC3F7"/>
                </a:solidFill>
                <a:latin typeface="Calibri"/>
                <a:ea typeface="Calibri"/>
                <a:cs typeface="Calibri"/>
              </a:rPr>
              <a:t>CQL — Cassandra Query Language &amp; Schema Design</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5">
    <p:bg>
      <p:bgPr shadeToTitle="0">
        <a:solidFill>
          <a:srgbClr val="1E2761"/>
        </a:solidFill>
      </p:bgPr>
    </p:bg>
    <p:spTree>
      <p:nvGrpSpPr>
        <p:cNvPr id="1" name=""/>
        <p:cNvGrpSpPr/>
        <p:nvPr/>
      </p:nvGrpSpPr>
      <p:grpSpPr bwMode="auto">
        <a:xfrm>
          <a:off x="0" y="0"/>
          <a:ext cx="0" cy="0"/>
          <a:chOff x="0" y="0"/>
          <a:chExt cx="0" cy="0"/>
        </a:xfrm>
      </p:grpSpPr>
      <p:sp>
        <p:nvSpPr>
          <p:cNvPr id="1645019860"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056669653"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CQL — Cassandra Query Language</a:t>
            </a:r>
            <a:endParaRPr lang="en-US" sz="2600"/>
          </a:p>
        </p:txBody>
      </p:sp>
      <p:sp>
        <p:nvSpPr>
          <p:cNvPr id="501176109"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CQL looks like SQL — intentionally designed to minimise the learning curve for developers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Key difference: CQL enforces query-driven design — only queries using partition key are efficient</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No JOIN operations — denormalisation is required and expected</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No subqueries — all complexity is modelled into the table structure at design time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No arbitrary WHERE clauses — columns used in WHERE must be part of the primary key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Operations: CREATE KEYSPACE, CREATE TABLE, INSERT, SELECT, UPDATE, DELETE, BATCH</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Tool: cqlsh — the interactive command-line shell (used in today's lab)</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6">
    <p:bg>
      <p:bgPr shadeToTitle="0">
        <a:solidFill>
          <a:srgbClr val="1E2761"/>
        </a:solidFill>
      </p:bgPr>
    </p:bg>
    <p:spTree>
      <p:nvGrpSpPr>
        <p:cNvPr id="1" name=""/>
        <p:cNvGrpSpPr/>
        <p:nvPr/>
      </p:nvGrpSpPr>
      <p:grpSpPr bwMode="auto">
        <a:xfrm>
          <a:off x="0" y="0"/>
          <a:ext cx="0" cy="0"/>
          <a:chOff x="0" y="0"/>
          <a:chExt cx="0" cy="0"/>
        </a:xfrm>
      </p:grpSpPr>
      <p:sp>
        <p:nvSpPr>
          <p:cNvPr id="211803079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293337284"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CQL — Keyspace &amp; Table Creation</a:t>
            </a:r>
            <a:endParaRPr lang="en-US" sz="2600"/>
          </a:p>
        </p:txBody>
      </p:sp>
      <p:sp>
        <p:nvSpPr>
          <p:cNvPr id="1167588687"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488075548"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Create a keyspace with replication strategy</a:t>
            </a:r>
            <a:endParaRPr lang="en-US" sz="1200"/>
          </a:p>
          <a:p>
            <a:pPr marL="0" indent="0">
              <a:spcAft>
                <a:spcPts val="100"/>
              </a:spcAft>
              <a:buNone/>
              <a:defRPr/>
            </a:pPr>
            <a:r>
              <a:rPr lang="en-US" sz="1200">
                <a:solidFill>
                  <a:srgbClr val="569CD6"/>
                </a:solidFill>
                <a:latin typeface="Consolas"/>
                <a:ea typeface="Consolas"/>
                <a:cs typeface="Consolas"/>
              </a:rPr>
              <a:t>CREATE KEYSPACE university</a:t>
            </a:r>
            <a:endParaRPr lang="en-US" sz="1200"/>
          </a:p>
          <a:p>
            <a:pPr marL="0" indent="0">
              <a:spcAft>
                <a:spcPts val="100"/>
              </a:spcAft>
              <a:buNone/>
              <a:defRPr/>
            </a:pPr>
            <a:r>
              <a:rPr lang="en-US" sz="1200">
                <a:solidFill>
                  <a:srgbClr val="569CD6"/>
                </a:solidFill>
                <a:latin typeface="Consolas"/>
                <a:ea typeface="Consolas"/>
                <a:cs typeface="Consolas"/>
              </a:rPr>
              <a:t>  WITH replication = {</a:t>
            </a:r>
            <a:endParaRPr lang="en-US" sz="1200"/>
          </a:p>
          <a:p>
            <a:pPr marL="0" indent="0">
              <a:spcAft>
                <a:spcPts val="100"/>
              </a:spcAft>
              <a:buNone/>
              <a:defRPr/>
            </a:pPr>
            <a:r>
              <a:rPr lang="en-US" sz="1200">
                <a:solidFill>
                  <a:srgbClr val="CE9178"/>
                </a:solidFill>
                <a:latin typeface="Consolas"/>
                <a:ea typeface="Consolas"/>
                <a:cs typeface="Consolas"/>
              </a:rPr>
              <a:t>    'class': 'NetworkTopologyStrategy',</a:t>
            </a:r>
            <a:endParaRPr lang="en-US" sz="1200"/>
          </a:p>
          <a:p>
            <a:pPr marL="0" indent="0">
              <a:spcAft>
                <a:spcPts val="100"/>
              </a:spcAft>
              <a:buNone/>
              <a:defRPr/>
            </a:pPr>
            <a:r>
              <a:rPr lang="en-US" sz="1200">
                <a:solidFill>
                  <a:srgbClr val="CE9178"/>
                </a:solidFill>
                <a:latin typeface="Consolas"/>
                <a:ea typeface="Consolas"/>
                <a:cs typeface="Consolas"/>
              </a:rPr>
              <a:t>    'datacenter1': 3</a:t>
            </a:r>
            <a:endParaRPr lang="en-US" sz="1200"/>
          </a:p>
          <a:p>
            <a:pPr marL="0" indent="0">
              <a:spcAft>
                <a:spcPts val="100"/>
              </a:spcAft>
              <a:buNone/>
              <a:defRPr/>
            </a:pPr>
            <a:r>
              <a:rPr lang="en-US" sz="1200">
                <a:solidFill>
                  <a:srgbClr val="D4D4D4"/>
                </a:solidFill>
                <a:latin typeface="Consolas"/>
                <a:ea typeface="Consolas"/>
                <a:cs typeface="Consolas"/>
              </a:rPr>
              <a:t>  } AND durable_writes = true;</a:t>
            </a:r>
            <a:endParaRPr lang="en-US" sz="1200"/>
          </a:p>
          <a:p>
            <a:pPr marL="0" indent="0">
              <a:spcAft>
                <a:spcPts val="100"/>
              </a:spcAft>
              <a:buNone/>
              <a:defRPr/>
            </a:pPr>
            <a:endParaRPr lang="en-US" sz="1200"/>
          </a:p>
          <a:p>
            <a:pPr marL="0" indent="0">
              <a:spcAft>
                <a:spcPts val="100"/>
              </a:spcAft>
              <a:buNone/>
              <a:defRPr/>
            </a:pPr>
            <a:r>
              <a:rPr lang="en-US" sz="1200">
                <a:solidFill>
                  <a:srgbClr val="569CD6"/>
                </a:solidFill>
                <a:latin typeface="Consolas"/>
                <a:ea typeface="Consolas"/>
                <a:cs typeface="Consolas"/>
              </a:rPr>
              <a:t>USE university;</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Create a table (column family)</a:t>
            </a:r>
            <a:endParaRPr lang="en-US" sz="1200"/>
          </a:p>
          <a:p>
            <a:pPr marL="0" indent="0">
              <a:spcAft>
                <a:spcPts val="100"/>
              </a:spcAft>
              <a:buNone/>
              <a:defRPr/>
            </a:pPr>
            <a:r>
              <a:rPr lang="en-US" sz="1200">
                <a:solidFill>
                  <a:srgbClr val="569CD6"/>
                </a:solidFill>
                <a:latin typeface="Consolas"/>
                <a:ea typeface="Consolas"/>
                <a:cs typeface="Consolas"/>
              </a:rPr>
              <a:t>CREATE TABLE students (</a:t>
            </a:r>
            <a:endParaRPr lang="en-US" sz="1200"/>
          </a:p>
          <a:p>
            <a:pPr marL="0" indent="0">
              <a:spcAft>
                <a:spcPts val="100"/>
              </a:spcAft>
              <a:buNone/>
              <a:defRPr/>
            </a:pPr>
            <a:r>
              <a:rPr lang="en-US" sz="1200">
                <a:solidFill>
                  <a:srgbClr val="D4D4D4"/>
                </a:solidFill>
                <a:latin typeface="Consolas"/>
                <a:ea typeface="Consolas"/>
                <a:cs typeface="Consolas"/>
              </a:rPr>
              <a:t>  student_id   TEXT,</a:t>
            </a:r>
            <a:endParaRPr lang="en-US" sz="1200"/>
          </a:p>
          <a:p>
            <a:pPr marL="0" indent="0">
              <a:spcAft>
                <a:spcPts val="100"/>
              </a:spcAft>
              <a:buNone/>
              <a:defRPr/>
            </a:pPr>
            <a:r>
              <a:rPr lang="en-US" sz="1200">
                <a:solidFill>
                  <a:srgbClr val="D4D4D4"/>
                </a:solidFill>
                <a:latin typeface="Consolas"/>
                <a:ea typeface="Consolas"/>
                <a:cs typeface="Consolas"/>
              </a:rPr>
              <a:t>  enrolled_year INT,</a:t>
            </a:r>
            <a:endParaRPr lang="en-US" sz="1200"/>
          </a:p>
          <a:p>
            <a:pPr marL="0" indent="0">
              <a:spcAft>
                <a:spcPts val="100"/>
              </a:spcAft>
              <a:buNone/>
              <a:defRPr/>
            </a:pPr>
            <a:r>
              <a:rPr lang="en-US" sz="1200">
                <a:solidFill>
                  <a:srgbClr val="D4D4D4"/>
                </a:solidFill>
                <a:latin typeface="Consolas"/>
                <a:ea typeface="Consolas"/>
                <a:cs typeface="Consolas"/>
              </a:rPr>
              <a:t>  name         TEXT,</a:t>
            </a:r>
            <a:endParaRPr lang="en-US" sz="1200"/>
          </a:p>
          <a:p>
            <a:pPr marL="0" indent="0">
              <a:spcAft>
                <a:spcPts val="100"/>
              </a:spcAft>
              <a:buNone/>
              <a:defRPr/>
            </a:pPr>
            <a:r>
              <a:rPr lang="en-US" sz="1200">
                <a:solidFill>
                  <a:srgbClr val="D4D4D4"/>
                </a:solidFill>
                <a:latin typeface="Consolas"/>
                <a:ea typeface="Consolas"/>
                <a:cs typeface="Consolas"/>
              </a:rPr>
              <a:t>  department   TEXT,</a:t>
            </a:r>
            <a:endParaRPr lang="en-US" sz="1200"/>
          </a:p>
          <a:p>
            <a:pPr marL="0" indent="0">
              <a:spcAft>
                <a:spcPts val="100"/>
              </a:spcAft>
              <a:buNone/>
              <a:defRPr/>
            </a:pPr>
            <a:r>
              <a:rPr lang="en-US" sz="1200">
                <a:solidFill>
                  <a:srgbClr val="D4D4D4"/>
                </a:solidFill>
                <a:latin typeface="Consolas"/>
                <a:ea typeface="Consolas"/>
                <a:cs typeface="Consolas"/>
              </a:rPr>
              <a:t>  gpa          FLOAT,</a:t>
            </a:r>
            <a:endParaRPr lang="en-US" sz="1200"/>
          </a:p>
          <a:p>
            <a:pPr marL="0" indent="0">
              <a:spcAft>
                <a:spcPts val="100"/>
              </a:spcAft>
              <a:buNone/>
              <a:defRPr/>
            </a:pPr>
            <a:r>
              <a:rPr lang="en-US" sz="1200">
                <a:solidFill>
                  <a:srgbClr val="569CD6"/>
                </a:solidFill>
                <a:latin typeface="Consolas"/>
                <a:ea typeface="Consolas"/>
                <a:cs typeface="Consolas"/>
              </a:rPr>
              <a:t>  PRIMARY KEY ((student_id), enrolled_year)</a:t>
            </a:r>
            <a:endParaRPr lang="en-US" sz="1200"/>
          </a:p>
          <a:p>
            <a:pPr marL="0" indent="0">
              <a:spcAft>
                <a:spcPts val="100"/>
              </a:spcAft>
              <a:buNone/>
              <a:defRPr/>
            </a:pPr>
            <a:r>
              <a:rPr lang="en-US" sz="1200">
                <a:solidFill>
                  <a:srgbClr val="569CD6"/>
                </a:solidFill>
                <a:latin typeface="Consolas"/>
                <a:ea typeface="Consolas"/>
                <a:cs typeface="Consolas"/>
              </a:rPr>
              <a:t>) WITH CLUSTERING ORDER BY (enrolled_year DESC);</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7">
    <p:bg>
      <p:bgPr shadeToTitle="0">
        <a:solidFill>
          <a:srgbClr val="1E2761"/>
        </a:solidFill>
      </p:bgPr>
    </p:bg>
    <p:spTree>
      <p:nvGrpSpPr>
        <p:cNvPr id="1" name=""/>
        <p:cNvGrpSpPr/>
        <p:nvPr/>
      </p:nvGrpSpPr>
      <p:grpSpPr bwMode="auto">
        <a:xfrm>
          <a:off x="0" y="0"/>
          <a:ext cx="0" cy="0"/>
          <a:chOff x="0" y="0"/>
          <a:chExt cx="0" cy="0"/>
        </a:xfrm>
      </p:grpSpPr>
      <p:sp>
        <p:nvSpPr>
          <p:cNvPr id="626997669"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6037205"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CQL — Insert, Select &amp; Filtering</a:t>
            </a:r>
            <a:endParaRPr lang="en-US" sz="2600"/>
          </a:p>
        </p:txBody>
      </p:sp>
      <p:sp>
        <p:nvSpPr>
          <p:cNvPr id="1587311115"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94716261"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Insert data</a:t>
            </a:r>
            <a:endParaRPr lang="en-US" sz="1200"/>
          </a:p>
          <a:p>
            <a:pPr marL="0" indent="0">
              <a:spcAft>
                <a:spcPts val="100"/>
              </a:spcAft>
              <a:buNone/>
              <a:defRPr/>
            </a:pPr>
            <a:r>
              <a:rPr lang="en-US" sz="1200">
                <a:solidFill>
                  <a:srgbClr val="569CD6"/>
                </a:solidFill>
                <a:latin typeface="Consolas"/>
                <a:ea typeface="Consolas"/>
                <a:cs typeface="Consolas"/>
              </a:rPr>
              <a:t>INSERT INTO students (student_id, enrolled_year, name, department, gpa)</a:t>
            </a:r>
            <a:endParaRPr lang="en-US" sz="1200"/>
          </a:p>
          <a:p>
            <a:pPr marL="0" indent="0">
              <a:spcAft>
                <a:spcPts val="100"/>
              </a:spcAft>
              <a:buNone/>
              <a:defRPr/>
            </a:pPr>
            <a:r>
              <a:rPr lang="en-US" sz="1200">
                <a:solidFill>
                  <a:srgbClr val="CE9178"/>
                </a:solidFill>
                <a:latin typeface="Consolas"/>
                <a:ea typeface="Consolas"/>
                <a:cs typeface="Consolas"/>
              </a:rPr>
              <a:t>VALUES ('S001', 2022, 'Maria Papadopoulou', 'ECE', 9.2);</a:t>
            </a:r>
            <a:endParaRPr lang="en-US" sz="1200"/>
          </a:p>
          <a:p>
            <a:pPr marL="0" indent="0">
              <a:spcAft>
                <a:spcPts val="100"/>
              </a:spcAft>
              <a:buNone/>
              <a:defRPr/>
            </a:pPr>
            <a:endParaRPr lang="en-US" sz="1200"/>
          </a:p>
          <a:p>
            <a:pPr marL="0" indent="0">
              <a:spcAft>
                <a:spcPts val="100"/>
              </a:spcAft>
              <a:buNone/>
              <a:defRPr/>
            </a:pPr>
            <a:r>
              <a:rPr lang="en-US" sz="1200">
                <a:solidFill>
                  <a:srgbClr val="569CD6"/>
                </a:solidFill>
                <a:latin typeface="Consolas"/>
                <a:ea typeface="Consolas"/>
                <a:cs typeface="Consolas"/>
              </a:rPr>
              <a:t>INSERT INTO students (student_id, enrolled_year, name, department, gpa)</a:t>
            </a:r>
            <a:endParaRPr lang="en-US" sz="1200"/>
          </a:p>
          <a:p>
            <a:pPr marL="0" indent="0">
              <a:spcAft>
                <a:spcPts val="100"/>
              </a:spcAft>
              <a:buNone/>
              <a:defRPr/>
            </a:pPr>
            <a:r>
              <a:rPr lang="en-US" sz="1200">
                <a:solidFill>
                  <a:srgbClr val="CE9178"/>
                </a:solidFill>
                <a:latin typeface="Consolas"/>
                <a:ea typeface="Consolas"/>
                <a:cs typeface="Consolas"/>
              </a:rPr>
              <a:t>VALUES ('S002', 2023, 'Nikos Georgiou', 'EE', 8.7);</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Select all rows for a student (uses partition key -- fast)</a:t>
            </a:r>
            <a:endParaRPr lang="en-US" sz="1200"/>
          </a:p>
          <a:p>
            <a:pPr marL="0" indent="0">
              <a:spcAft>
                <a:spcPts val="100"/>
              </a:spcAft>
              <a:buNone/>
              <a:defRPr/>
            </a:pPr>
            <a:r>
              <a:rPr lang="en-US" sz="1200">
                <a:solidFill>
                  <a:srgbClr val="569CD6"/>
                </a:solidFill>
                <a:latin typeface="Consolas"/>
                <a:ea typeface="Consolas"/>
                <a:cs typeface="Consolas"/>
              </a:rPr>
              <a:t>SELECT * FROM students WHERE student_id = 'S001';</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Range query using clustering key</a:t>
            </a:r>
            <a:endParaRPr lang="en-US" sz="1200"/>
          </a:p>
          <a:p>
            <a:pPr marL="0" indent="0">
              <a:spcAft>
                <a:spcPts val="100"/>
              </a:spcAft>
              <a:buNone/>
              <a:defRPr/>
            </a:pPr>
            <a:r>
              <a:rPr lang="en-US" sz="1200">
                <a:solidFill>
                  <a:srgbClr val="569CD6"/>
                </a:solidFill>
                <a:latin typeface="Consolas"/>
                <a:ea typeface="Consolas"/>
                <a:cs typeface="Consolas"/>
              </a:rPr>
              <a:t>SELECT * FROM students</a:t>
            </a:r>
            <a:endParaRPr lang="en-US" sz="1200"/>
          </a:p>
          <a:p>
            <a:pPr marL="0" indent="0">
              <a:spcAft>
                <a:spcPts val="100"/>
              </a:spcAft>
              <a:buNone/>
              <a:defRPr/>
            </a:pPr>
            <a:r>
              <a:rPr lang="en-US" sz="1200">
                <a:solidFill>
                  <a:srgbClr val="569CD6"/>
                </a:solidFill>
                <a:latin typeface="Consolas"/>
                <a:ea typeface="Consolas"/>
                <a:cs typeface="Consolas"/>
              </a:rPr>
              <a:t>WHERE student_id = 'S001' AND enrolled_year &gt;= 2022</a:t>
            </a:r>
            <a:endParaRPr lang="en-US" sz="1200"/>
          </a:p>
          <a:p>
            <a:pPr marL="0" indent="0">
              <a:spcAft>
                <a:spcPts val="100"/>
              </a:spcAft>
              <a:buNone/>
              <a:defRPr/>
            </a:pPr>
            <a:r>
              <a:rPr lang="en-US" sz="1200">
                <a:solidFill>
                  <a:srgbClr val="D4D4D4"/>
                </a:solidFill>
                <a:latin typeface="Consolas"/>
                <a:ea typeface="Consolas"/>
                <a:cs typeface="Consolas"/>
              </a:rPr>
              <a:t>LIMIT 10;</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WARNING: this triggers ALLOW FILTERING (full scan -- avoid in production)</a:t>
            </a:r>
            <a:endParaRPr lang="en-US" sz="1200"/>
          </a:p>
          <a:p>
            <a:pPr marL="0" indent="0">
              <a:spcAft>
                <a:spcPts val="100"/>
              </a:spcAft>
              <a:buNone/>
              <a:defRPr/>
            </a:pPr>
            <a:r>
              <a:rPr lang="en-US" sz="1200">
                <a:solidFill>
                  <a:srgbClr val="569CD6"/>
                </a:solidFill>
                <a:latin typeface="Consolas"/>
                <a:ea typeface="Consolas"/>
                <a:cs typeface="Consolas"/>
              </a:rPr>
              <a:t>SELECT * FROM students WHERE gpa &gt; 9.0 ALLOW FILTERING;</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8">
    <p:bg>
      <p:bgPr shadeToTitle="0">
        <a:solidFill>
          <a:srgbClr val="1E2761"/>
        </a:solidFill>
      </p:bgPr>
    </p:bg>
    <p:spTree>
      <p:nvGrpSpPr>
        <p:cNvPr id="1" name=""/>
        <p:cNvGrpSpPr/>
        <p:nvPr/>
      </p:nvGrpSpPr>
      <p:grpSpPr bwMode="auto">
        <a:xfrm>
          <a:off x="0" y="0"/>
          <a:ext cx="0" cy="0"/>
          <a:chOff x="0" y="0"/>
          <a:chExt cx="0" cy="0"/>
        </a:xfrm>
      </p:grpSpPr>
      <p:sp>
        <p:nvSpPr>
          <p:cNvPr id="712570685"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52445152"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Query-Driven Design Principle</a:t>
            </a:r>
            <a:endParaRPr lang="en-US" sz="2600"/>
          </a:p>
        </p:txBody>
      </p:sp>
      <p:sp>
        <p:nvSpPr>
          <p:cNvPr id="1520389836"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873278598"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RELATIONAL DESIGN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1. Identify your entities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2. Normalise to 3NF</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3. Add indexes for performance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4. Use JOINs to answer queries</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You design the SCHEMA first,</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then figure out the queries</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Works for OLTP; poor at scale</a:t>
            </a:r>
            <a:endParaRPr lang="en-US" sz="1400"/>
          </a:p>
        </p:txBody>
      </p:sp>
      <p:sp>
        <p:nvSpPr>
          <p:cNvPr id="969467144"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CASSANDRA DESIGN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1. List all application queries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2. Design ONE TABLE PER QUERY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3. Partition key = equality filter</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4. Clustering key = range/sort filter</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You design the QUERIES first,</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then design the tables to serve them</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Denormalisation = acceptable trade-off</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9">
    <p:bg>
      <p:bgPr shadeToTitle="0">
        <a:solidFill>
          <a:srgbClr val="1E2761"/>
        </a:solidFill>
      </p:bgPr>
    </p:bg>
    <p:spTree>
      <p:nvGrpSpPr>
        <p:cNvPr id="1" name=""/>
        <p:cNvGrpSpPr/>
        <p:nvPr/>
      </p:nvGrpSpPr>
      <p:grpSpPr bwMode="auto">
        <a:xfrm>
          <a:off x="0" y="0"/>
          <a:ext cx="0" cy="0"/>
          <a:chOff x="0" y="0"/>
          <a:chExt cx="0" cy="0"/>
        </a:xfrm>
      </p:grpSpPr>
      <p:sp>
        <p:nvSpPr>
          <p:cNvPr id="343195310"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078770353"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Data Modelling Example — IoT Sensor Data</a:t>
            </a:r>
            <a:endParaRPr lang="en-US" sz="2600"/>
          </a:p>
        </p:txBody>
      </p:sp>
      <p:sp>
        <p:nvSpPr>
          <p:cNvPr id="592205873"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754341906"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QUERY: Get last N readings for a specific sensor</a:t>
            </a:r>
            <a:endParaRPr lang="en-US" sz="1200"/>
          </a:p>
          <a:p>
            <a:pPr marL="0" indent="0">
              <a:spcAft>
                <a:spcPts val="100"/>
              </a:spcAft>
              <a:buNone/>
              <a:defRPr/>
            </a:pPr>
            <a:r>
              <a:rPr lang="en-US" sz="1200">
                <a:solidFill>
                  <a:srgbClr val="D4D4D4"/>
                </a:solidFill>
                <a:latin typeface="Consolas"/>
                <a:ea typeface="Consolas"/>
                <a:cs typeface="Consolas"/>
              </a:rPr>
              <a:t>-- Primary key: (sensor_id) + reading_time DESC</a:t>
            </a:r>
            <a:endParaRPr lang="en-US" sz="1200"/>
          </a:p>
          <a:p>
            <a:pPr marL="0" indent="0">
              <a:spcAft>
                <a:spcPts val="100"/>
              </a:spcAft>
              <a:buNone/>
              <a:defRPr/>
            </a:pPr>
            <a:endParaRPr lang="en-US" sz="1200"/>
          </a:p>
          <a:p>
            <a:pPr marL="0" indent="0">
              <a:spcAft>
                <a:spcPts val="100"/>
              </a:spcAft>
              <a:buNone/>
              <a:defRPr/>
            </a:pPr>
            <a:r>
              <a:rPr lang="en-US" sz="1200">
                <a:solidFill>
                  <a:srgbClr val="569CD6"/>
                </a:solidFill>
                <a:latin typeface="Consolas"/>
                <a:ea typeface="Consolas"/>
                <a:cs typeface="Consolas"/>
              </a:rPr>
              <a:t>CREATE TABLE sensor_readings (</a:t>
            </a:r>
            <a:endParaRPr lang="en-US" sz="1200"/>
          </a:p>
          <a:p>
            <a:pPr marL="0" indent="0">
              <a:spcAft>
                <a:spcPts val="100"/>
              </a:spcAft>
              <a:buNone/>
              <a:defRPr/>
            </a:pPr>
            <a:r>
              <a:rPr lang="en-US" sz="1200">
                <a:solidFill>
                  <a:srgbClr val="D4D4D4"/>
                </a:solidFill>
                <a:latin typeface="Consolas"/>
                <a:ea typeface="Consolas"/>
                <a:cs typeface="Consolas"/>
              </a:rPr>
              <a:t>  sensor_id    TEXT,</a:t>
            </a:r>
            <a:endParaRPr lang="en-US" sz="1200"/>
          </a:p>
          <a:p>
            <a:pPr marL="0" indent="0">
              <a:spcAft>
                <a:spcPts val="100"/>
              </a:spcAft>
              <a:buNone/>
              <a:defRPr/>
            </a:pPr>
            <a:r>
              <a:rPr lang="en-US" sz="1200">
                <a:solidFill>
                  <a:srgbClr val="D4D4D4"/>
                </a:solidFill>
                <a:latin typeface="Consolas"/>
                <a:ea typeface="Consolas"/>
                <a:cs typeface="Consolas"/>
              </a:rPr>
              <a:t>  reading_time TIMESTAMP,</a:t>
            </a:r>
            <a:endParaRPr lang="en-US" sz="1200"/>
          </a:p>
          <a:p>
            <a:pPr marL="0" indent="0">
              <a:spcAft>
                <a:spcPts val="100"/>
              </a:spcAft>
              <a:buNone/>
              <a:defRPr/>
            </a:pPr>
            <a:r>
              <a:rPr lang="en-US" sz="1200">
                <a:solidFill>
                  <a:srgbClr val="D4D4D4"/>
                </a:solidFill>
                <a:latin typeface="Consolas"/>
                <a:ea typeface="Consolas"/>
                <a:cs typeface="Consolas"/>
              </a:rPr>
              <a:t>  temperature  FLOAT,</a:t>
            </a:r>
            <a:endParaRPr lang="en-US" sz="1200"/>
          </a:p>
          <a:p>
            <a:pPr marL="0" indent="0">
              <a:spcAft>
                <a:spcPts val="100"/>
              </a:spcAft>
              <a:buNone/>
              <a:defRPr/>
            </a:pPr>
            <a:r>
              <a:rPr lang="en-US" sz="1200">
                <a:solidFill>
                  <a:srgbClr val="D4D4D4"/>
                </a:solidFill>
                <a:latin typeface="Consolas"/>
                <a:ea typeface="Consolas"/>
                <a:cs typeface="Consolas"/>
              </a:rPr>
              <a:t>  humidity     FLOAT,</a:t>
            </a:r>
            <a:endParaRPr lang="en-US" sz="1200"/>
          </a:p>
          <a:p>
            <a:pPr marL="0" indent="0">
              <a:spcAft>
                <a:spcPts val="100"/>
              </a:spcAft>
              <a:buNone/>
              <a:defRPr/>
            </a:pPr>
            <a:r>
              <a:rPr lang="en-US" sz="1200">
                <a:solidFill>
                  <a:srgbClr val="D4D4D4"/>
                </a:solidFill>
                <a:latin typeface="Consolas"/>
                <a:ea typeface="Consolas"/>
                <a:cs typeface="Consolas"/>
              </a:rPr>
              <a:t>  pressure     FLOAT,</a:t>
            </a:r>
            <a:endParaRPr lang="en-US" sz="1200"/>
          </a:p>
          <a:p>
            <a:pPr marL="0" indent="0">
              <a:spcAft>
                <a:spcPts val="100"/>
              </a:spcAft>
              <a:buNone/>
              <a:defRPr/>
            </a:pPr>
            <a:r>
              <a:rPr lang="en-US" sz="1200">
                <a:solidFill>
                  <a:srgbClr val="569CD6"/>
                </a:solidFill>
                <a:latin typeface="Consolas"/>
                <a:ea typeface="Consolas"/>
                <a:cs typeface="Consolas"/>
              </a:rPr>
              <a:t>  PRIMARY KEY ((sensor_id), reading_time)</a:t>
            </a:r>
            <a:endParaRPr lang="en-US" sz="1200"/>
          </a:p>
          <a:p>
            <a:pPr marL="0" indent="0">
              <a:spcAft>
                <a:spcPts val="100"/>
              </a:spcAft>
              <a:buNone/>
              <a:defRPr/>
            </a:pPr>
            <a:r>
              <a:rPr lang="en-US" sz="1200">
                <a:solidFill>
                  <a:srgbClr val="569CD6"/>
                </a:solidFill>
                <a:latin typeface="Consolas"/>
                <a:ea typeface="Consolas"/>
                <a:cs typeface="Consolas"/>
              </a:rPr>
              <a:t>) WITH CLUSTERING ORDER BY (reading_time DESC);</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Insert a reading</a:t>
            </a:r>
            <a:endParaRPr lang="en-US" sz="1200"/>
          </a:p>
          <a:p>
            <a:pPr marL="0" indent="0">
              <a:spcAft>
                <a:spcPts val="100"/>
              </a:spcAft>
              <a:buNone/>
              <a:defRPr/>
            </a:pPr>
            <a:r>
              <a:rPr lang="en-US" sz="1200">
                <a:solidFill>
                  <a:srgbClr val="569CD6"/>
                </a:solidFill>
                <a:latin typeface="Consolas"/>
                <a:ea typeface="Consolas"/>
                <a:cs typeface="Consolas"/>
              </a:rPr>
              <a:t>INSERT INTO sensor_readings (sensor_id, reading_time, temperature, humidity)</a:t>
            </a:r>
            <a:endParaRPr lang="en-US" sz="1200"/>
          </a:p>
          <a:p>
            <a:pPr marL="0" indent="0">
              <a:spcAft>
                <a:spcPts val="100"/>
              </a:spcAft>
              <a:buNone/>
              <a:defRPr/>
            </a:pPr>
            <a:r>
              <a:rPr lang="en-US" sz="1200">
                <a:solidFill>
                  <a:srgbClr val="CE9178"/>
                </a:solidFill>
                <a:latin typeface="Consolas"/>
                <a:ea typeface="Consolas"/>
                <a:cs typeface="Consolas"/>
              </a:rPr>
              <a:t>VALUES ('SENSOR_042', toTimestamp(now()), 23.4, 61.2);</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Get last 5 readings -- very fast: one partition read</a:t>
            </a:r>
            <a:endParaRPr lang="en-US" sz="1200"/>
          </a:p>
          <a:p>
            <a:pPr marL="0" indent="0">
              <a:spcAft>
                <a:spcPts val="100"/>
              </a:spcAft>
              <a:buNone/>
              <a:defRPr/>
            </a:pPr>
            <a:r>
              <a:rPr lang="en-US" sz="1200">
                <a:solidFill>
                  <a:srgbClr val="569CD6"/>
                </a:solidFill>
                <a:latin typeface="Consolas"/>
                <a:ea typeface="Consolas"/>
                <a:cs typeface="Consolas"/>
              </a:rPr>
              <a:t>SELECT * FROM sensor_readings WHERE sensor_id = 'SENSOR_042' LIMIT 5;</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0">
    <p:bg>
      <p:bgPr shadeToTitle="0">
        <a:solidFill>
          <a:srgbClr val="1E2761"/>
        </a:solidFill>
      </p:bgPr>
    </p:bg>
    <p:spTree>
      <p:nvGrpSpPr>
        <p:cNvPr id="1" name=""/>
        <p:cNvGrpSpPr/>
        <p:nvPr/>
      </p:nvGrpSpPr>
      <p:grpSpPr bwMode="auto">
        <a:xfrm>
          <a:off x="0" y="0"/>
          <a:ext cx="0" cy="0"/>
          <a:chOff x="0" y="0"/>
          <a:chExt cx="0" cy="0"/>
        </a:xfrm>
      </p:grpSpPr>
      <p:sp>
        <p:nvSpPr>
          <p:cNvPr id="1151864169"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669635291"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Secondary Indexes &amp; Materialized Views</a:t>
            </a:r>
            <a:endParaRPr lang="en-US" sz="2600"/>
          </a:p>
        </p:txBody>
      </p:sp>
      <p:sp>
        <p:nvSpPr>
          <p:cNvPr id="143825516"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032763525"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Secondary index: allows queries on non-key columns</a:t>
            </a:r>
            <a:endParaRPr lang="en-US" sz="1200"/>
          </a:p>
          <a:p>
            <a:pPr marL="0" indent="0">
              <a:spcAft>
                <a:spcPts val="100"/>
              </a:spcAft>
              <a:buNone/>
              <a:defRPr/>
            </a:pPr>
            <a:r>
              <a:rPr lang="en-US" sz="1200">
                <a:solidFill>
                  <a:srgbClr val="D4D4D4"/>
                </a:solidFill>
                <a:latin typeface="Consolas"/>
                <a:ea typeface="Consolas"/>
                <a:cs typeface="Consolas"/>
              </a:rPr>
              <a:t>-- WARNING: high cardinality columns cause performance issues</a:t>
            </a:r>
            <a:endParaRPr lang="en-US" sz="1200"/>
          </a:p>
          <a:p>
            <a:pPr marL="0" indent="0">
              <a:spcAft>
                <a:spcPts val="100"/>
              </a:spcAft>
              <a:buNone/>
              <a:defRPr/>
            </a:pPr>
            <a:r>
              <a:rPr lang="en-US" sz="1200">
                <a:solidFill>
                  <a:srgbClr val="569CD6"/>
                </a:solidFill>
                <a:latin typeface="Consolas"/>
                <a:ea typeface="Consolas"/>
                <a:cs typeface="Consolas"/>
              </a:rPr>
              <a:t>CREATE INDEX ON students (department);</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Now this query works (but still does a scatter read):</a:t>
            </a:r>
            <a:endParaRPr lang="en-US" sz="1200"/>
          </a:p>
          <a:p>
            <a:pPr marL="0" indent="0">
              <a:spcAft>
                <a:spcPts val="100"/>
              </a:spcAft>
              <a:buNone/>
              <a:defRPr/>
            </a:pPr>
            <a:r>
              <a:rPr lang="en-US" sz="1200">
                <a:solidFill>
                  <a:srgbClr val="569CD6"/>
                </a:solidFill>
                <a:latin typeface="Consolas"/>
                <a:ea typeface="Consolas"/>
                <a:cs typeface="Consolas"/>
              </a:rPr>
              <a:t>SELECT * FROM students WHERE department = 'ECE';</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BETTER: Use a Materialized View or a dedicated table</a:t>
            </a:r>
            <a:endParaRPr lang="en-US" sz="1200"/>
          </a:p>
          <a:p>
            <a:pPr marL="0" indent="0">
              <a:spcAft>
                <a:spcPts val="100"/>
              </a:spcAft>
              <a:buNone/>
              <a:defRPr/>
            </a:pPr>
            <a:r>
              <a:rPr lang="en-US" sz="1200">
                <a:solidFill>
                  <a:srgbClr val="D4D4D4"/>
                </a:solidFill>
                <a:latin typeface="Consolas"/>
                <a:ea typeface="Consolas"/>
                <a:cs typeface="Consolas"/>
              </a:rPr>
              <a:t>-- Cassandra 5.x supports Materialized Views (with caveats)</a:t>
            </a:r>
            <a:endParaRPr lang="en-US" sz="1200"/>
          </a:p>
          <a:p>
            <a:pPr marL="0" indent="0">
              <a:spcAft>
                <a:spcPts val="100"/>
              </a:spcAft>
              <a:buNone/>
              <a:defRPr/>
            </a:pPr>
            <a:r>
              <a:rPr lang="en-US" sz="1200">
                <a:solidFill>
                  <a:srgbClr val="569CD6"/>
                </a:solidFill>
                <a:latin typeface="Consolas"/>
                <a:ea typeface="Consolas"/>
                <a:cs typeface="Consolas"/>
              </a:rPr>
              <a:t>CREATE MATERIALIZED VIEW students_by_dept AS</a:t>
            </a:r>
            <a:endParaRPr lang="en-US" sz="1200"/>
          </a:p>
          <a:p>
            <a:pPr marL="0" indent="0">
              <a:spcAft>
                <a:spcPts val="100"/>
              </a:spcAft>
              <a:buNone/>
              <a:defRPr/>
            </a:pPr>
            <a:r>
              <a:rPr lang="en-US" sz="1200">
                <a:solidFill>
                  <a:srgbClr val="569CD6"/>
                </a:solidFill>
                <a:latin typeface="Consolas"/>
                <a:ea typeface="Consolas"/>
                <a:cs typeface="Consolas"/>
              </a:rPr>
              <a:t>  SELECT * FROM students</a:t>
            </a:r>
            <a:endParaRPr lang="en-US" sz="1200"/>
          </a:p>
          <a:p>
            <a:pPr marL="0" indent="0">
              <a:spcAft>
                <a:spcPts val="100"/>
              </a:spcAft>
              <a:buNone/>
              <a:defRPr/>
            </a:pPr>
            <a:r>
              <a:rPr lang="en-US" sz="1200">
                <a:solidFill>
                  <a:srgbClr val="569CD6"/>
                </a:solidFill>
                <a:latin typeface="Consolas"/>
                <a:ea typeface="Consolas"/>
                <a:cs typeface="Consolas"/>
              </a:rPr>
              <a:t>  WHERE department IS NOT NULL AND student_id IS NOT NULL</a:t>
            </a:r>
            <a:endParaRPr lang="en-US" sz="1200"/>
          </a:p>
          <a:p>
            <a:pPr marL="0" indent="0">
              <a:spcAft>
                <a:spcPts val="100"/>
              </a:spcAft>
              <a:buNone/>
              <a:defRPr/>
            </a:pPr>
            <a:r>
              <a:rPr lang="en-US" sz="1200">
                <a:solidFill>
                  <a:srgbClr val="569CD6"/>
                </a:solidFill>
                <a:latin typeface="Consolas"/>
                <a:ea typeface="Consolas"/>
                <a:cs typeface="Consolas"/>
              </a:rPr>
              <a:t>  PRIMARY KEY (department, student_id);</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Now query efficiently by department:</a:t>
            </a:r>
            <a:endParaRPr lang="en-US" sz="1200"/>
          </a:p>
          <a:p>
            <a:pPr marL="0" indent="0">
              <a:spcAft>
                <a:spcPts val="100"/>
              </a:spcAft>
              <a:buNone/>
              <a:defRPr/>
            </a:pPr>
            <a:r>
              <a:rPr lang="en-US" sz="1200">
                <a:solidFill>
                  <a:srgbClr val="569CD6"/>
                </a:solidFill>
                <a:latin typeface="Consolas"/>
                <a:ea typeface="Consolas"/>
                <a:cs typeface="Consolas"/>
              </a:rPr>
              <a:t>SELECT * FROM students_by_dept WHERE department = 'ECE';</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1">
    <p:bg>
      <p:bgPr shadeToTitle="0">
        <a:solidFill>
          <a:srgbClr val="1E2761"/>
        </a:solidFill>
      </p:bgPr>
    </p:bg>
    <p:spTree>
      <p:nvGrpSpPr>
        <p:cNvPr id="1" name=""/>
        <p:cNvGrpSpPr/>
        <p:nvPr/>
      </p:nvGrpSpPr>
      <p:grpSpPr bwMode="auto">
        <a:xfrm>
          <a:off x="0" y="0"/>
          <a:ext cx="0" cy="0"/>
          <a:chOff x="0" y="0"/>
          <a:chExt cx="0" cy="0"/>
        </a:xfrm>
      </p:grpSpPr>
      <p:sp>
        <p:nvSpPr>
          <p:cNvPr id="49413321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552167126"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CQL Data Types — Key Reference</a:t>
            </a:r>
            <a:endParaRPr lang="en-US" sz="2600"/>
          </a:p>
        </p:txBody>
      </p:sp>
      <p:sp>
        <p:nvSpPr>
          <p:cNvPr id="725033237"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TEXT / VARCHAR: UTF-8 string — use for IDs, names, labels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UUID / TIMEUUID: universally unique ID — TIMEUUID embeds a timestamp, useful as clustering key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TIMESTAMP: date + time with timezone — always store in UTC</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INT / BIGINT / FLOAT / DOUBLE: numeric types — use BIGINT for counters and epoch milliseconds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BOOLEAN: true / false — stored as single byte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LIST&lt;T&gt;: ordered collection — [ 'a', 'b', 'c' ]</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SET&lt;T&gt;: unordered unique values — { 'redis', 'cassandra' }</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MAP&lt;K,V&gt;: key-value pairs — { 'course': 'ADM', 'grade': '9.0' }</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COUNTER: special type for distributed atomic increments — cannot mix with other columns</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2">
    <p:bg>
      <p:bgPr shadeToTitle="0">
        <a:solidFill>
          <a:srgbClr val="1E2761"/>
        </a:solidFill>
      </p:bgPr>
    </p:bg>
    <p:spTree>
      <p:nvGrpSpPr>
        <p:cNvPr id="1" name=""/>
        <p:cNvGrpSpPr/>
        <p:nvPr/>
      </p:nvGrpSpPr>
      <p:grpSpPr bwMode="auto">
        <a:xfrm>
          <a:off x="0" y="0"/>
          <a:ext cx="0" cy="0"/>
          <a:chOff x="0" y="0"/>
          <a:chExt cx="0" cy="0"/>
        </a:xfrm>
      </p:grpSpPr>
      <p:sp>
        <p:nvSpPr>
          <p:cNvPr id="1644622982"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2002110959" name="Text 1"/>
          <p:cNvSpPr/>
          <p:nvPr/>
        </p:nvSpPr>
        <p:spPr bwMode="auto">
          <a:xfrm>
            <a:off x="457200" y="1645920"/>
            <a:ext cx="8229600" cy="731520"/>
          </a:xfrm>
          <a:prstGeom prst="rect">
            <a:avLst/>
          </a:prstGeom>
          <a:noFill/>
          <a:ln/>
        </p:spPr>
        <p:txBody>
          <a:bodyPr wrap="square" rtlCol="0" anchor="ctr"/>
          <a:lstStyle/>
          <a:p>
            <a:pPr marL="0" indent="0">
              <a:buNone/>
              <a:defRPr/>
            </a:pPr>
            <a:r>
              <a:rPr lang="en-US" sz="3200" b="1">
                <a:solidFill>
                  <a:srgbClr val="FFFFFF"/>
                </a:solidFill>
                <a:latin typeface="Trebuchet MS"/>
                <a:ea typeface="Trebuchet MS"/>
                <a:cs typeface="Trebuchet MS"/>
              </a:rPr>
              <a:t>MODULE 5</a:t>
            </a:r>
            <a:endParaRPr lang="en-US" sz="3200"/>
          </a:p>
        </p:txBody>
      </p:sp>
      <p:sp>
        <p:nvSpPr>
          <p:cNvPr id="1186198314" name="Text 2"/>
          <p:cNvSpPr/>
          <p:nvPr/>
        </p:nvSpPr>
        <p:spPr bwMode="auto">
          <a:xfrm>
            <a:off x="457200" y="2468880"/>
            <a:ext cx="8229600" cy="548640"/>
          </a:xfrm>
          <a:prstGeom prst="rect">
            <a:avLst/>
          </a:prstGeom>
          <a:noFill/>
          <a:ln/>
        </p:spPr>
        <p:txBody>
          <a:bodyPr wrap="square" rtlCol="0" anchor="ctr"/>
          <a:lstStyle/>
          <a:p>
            <a:pPr marL="0" indent="0">
              <a:buNone/>
              <a:defRPr/>
            </a:pPr>
            <a:r>
              <a:rPr lang="en-US" sz="1800" i="1">
                <a:solidFill>
                  <a:srgbClr val="4FC3F7"/>
                </a:solidFill>
                <a:latin typeface="Calibri"/>
                <a:ea typeface="Calibri"/>
                <a:cs typeface="Calibri"/>
              </a:rPr>
              <a:t>Replication, Consistency, Compaction &amp; Real-World</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3">
    <p:bg>
      <p:bgPr shadeToTitle="0">
        <a:solidFill>
          <a:srgbClr val="1E2761"/>
        </a:solidFill>
      </p:bgPr>
    </p:bg>
    <p:spTree>
      <p:nvGrpSpPr>
        <p:cNvPr id="1" name=""/>
        <p:cNvGrpSpPr/>
        <p:nvPr/>
      </p:nvGrpSpPr>
      <p:grpSpPr bwMode="auto">
        <a:xfrm>
          <a:off x="0" y="0"/>
          <a:ext cx="0" cy="0"/>
          <a:chOff x="0" y="0"/>
          <a:chExt cx="0" cy="0"/>
        </a:xfrm>
      </p:grpSpPr>
      <p:sp>
        <p:nvSpPr>
          <p:cNvPr id="471939117"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7290892"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Replication Strategies</a:t>
            </a:r>
            <a:endParaRPr lang="en-US" sz="2600"/>
          </a:p>
        </p:txBody>
      </p:sp>
      <p:sp>
        <p:nvSpPr>
          <p:cNvPr id="87829710"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SimpleStrategy: places replicas on the next N nodes clockwise in the ring — single DC only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NetworkTopologyStrategy: places replicas per datacenter — REQUIRED for multi-DC deployments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Replication Factor (RF): how many copies of each row exist across the cluster</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RF=1: no redundancy — single node failure loses data permanently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RF=3: industry standard — tolerates 1 node failure with QUORUM reads/writes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RF=5: used by Apple, Netflix for 2-node-failure tolerance at global scale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Higher RF increases storage cost but improves availability and read throughput (more nodes can serve)</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4">
    <p:bg>
      <p:bgPr shadeToTitle="0">
        <a:solidFill>
          <a:srgbClr val="1E2761"/>
        </a:solidFill>
      </p:bgPr>
    </p:bg>
    <p:spTree>
      <p:nvGrpSpPr>
        <p:cNvPr id="1" name=""/>
        <p:cNvGrpSpPr/>
        <p:nvPr/>
      </p:nvGrpSpPr>
      <p:grpSpPr bwMode="auto">
        <a:xfrm>
          <a:off x="0" y="0"/>
          <a:ext cx="0" cy="0"/>
          <a:chOff x="0" y="0"/>
          <a:chExt cx="0" cy="0"/>
        </a:xfrm>
      </p:grpSpPr>
      <p:sp>
        <p:nvSpPr>
          <p:cNvPr id="1948212941"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026392594"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CAP Theorem &amp; Column-Family Placement</a:t>
            </a:r>
            <a:endParaRPr lang="en-US" sz="2600"/>
          </a:p>
        </p:txBody>
      </p:sp>
      <p:sp>
        <p:nvSpPr>
          <p:cNvPr id="532455705"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1456001711"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CAP THEOREM (Brewer 2000)</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 distributed system can guarantee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at most TWO of three properties:</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C = Consistency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Every read gets the latest write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 = Availability</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Every request gets a response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 = Partition Tolerance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System works despite network splits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P is always required in practice →</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choose between C and A</a:t>
            </a:r>
            <a:endParaRPr lang="en-US" sz="1400"/>
          </a:p>
        </p:txBody>
      </p:sp>
      <p:sp>
        <p:nvSpPr>
          <p:cNvPr id="795065276"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WHERE DO SYSTEMS FALL?</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CASSANDRA / SCYLLADB: AP system</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Tunable: can lean toward C</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Default: availability-first</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HBASE / GOOGLE BIGTABLE: CP system</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Consistency guaranteed</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May reject writes during partition</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AMAZON KEYSPACES: tunable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  Configurable per table</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Real world: PACELC model is more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nuanced — consider latency too</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5">
    <p:bg>
      <p:bgPr shadeToTitle="0">
        <a:solidFill>
          <a:srgbClr val="1E2761"/>
        </a:solidFill>
      </p:bgPr>
    </p:bg>
    <p:spTree>
      <p:nvGrpSpPr>
        <p:cNvPr id="1" name=""/>
        <p:cNvGrpSpPr/>
        <p:nvPr/>
      </p:nvGrpSpPr>
      <p:grpSpPr bwMode="auto">
        <a:xfrm>
          <a:off x="0" y="0"/>
          <a:ext cx="0" cy="0"/>
          <a:chOff x="0" y="0"/>
          <a:chExt cx="0" cy="0"/>
        </a:xfrm>
      </p:grpSpPr>
      <p:sp>
        <p:nvSpPr>
          <p:cNvPr id="23253361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885319554"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Compaction Strategies</a:t>
            </a:r>
            <a:endParaRPr lang="en-US" sz="2600"/>
          </a:p>
        </p:txBody>
      </p:sp>
      <p:sp>
        <p:nvSpPr>
          <p:cNvPr id="1686199698"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Cassandra never deletes or updates in-place — writes always create new SSTables on disk</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Compaction: background merging of SSTables — removes old versions and tombstones (deletes)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STCS (Size-Tiered Compaction Strategy): merges similarly-sized SSTables — default; write-optimised</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LCS (Leveled Compaction Strategy): maintains fixed-size levels — read-optimised; more I/O</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TWCS (Time-Window Compaction Strategy): compacts within time windows — ideal for time-series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TWCS is the best choice for IoT/metrics tables where data becomes immutable after a time window</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ScyllaDB ICS (Incremental Compaction Strategy): lower write amplification than all Cassandra strategies</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6">
    <p:bg>
      <p:bgPr shadeToTitle="0">
        <a:solidFill>
          <a:srgbClr val="1E2761"/>
        </a:solidFill>
      </p:bgPr>
    </p:bg>
    <p:spTree>
      <p:nvGrpSpPr>
        <p:cNvPr id="1" name=""/>
        <p:cNvGrpSpPr/>
        <p:nvPr/>
      </p:nvGrpSpPr>
      <p:grpSpPr bwMode="auto">
        <a:xfrm>
          <a:off x="0" y="0"/>
          <a:ext cx="0" cy="0"/>
          <a:chOff x="0" y="0"/>
          <a:chExt cx="0" cy="0"/>
        </a:xfrm>
      </p:grpSpPr>
      <p:sp>
        <p:nvSpPr>
          <p:cNvPr id="350962274"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581816248"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Real-World Use Cases — Engineering Context</a:t>
            </a:r>
            <a:endParaRPr lang="en-US" sz="2600"/>
          </a:p>
        </p:txBody>
      </p:sp>
      <p:sp>
        <p:nvSpPr>
          <p:cNvPr id="2095451106"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NETFLIX: stores viewing history, recommendations metadata — 15M+ operations/sec globally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DISCORD: switched from Cassandra to ScyllaDB (2023) — serves trillions of messages, sub-ms latency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APPLE iCLOUD: 75,000+ Cassandra nodes — stores contacts, calendar, notes for 1B+ users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IoT PLATFORMS: time-series sensor data — temperature, pressure, power consumption at millisecond intervals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TELECOMMUNICATIONS: call detail records (CDRs) — billions of call events per day, legal retention requirements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FINANCIAL SERVICES: trade tick data, market feed storage — microsecond timestamps, immutable records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HEALTHCARE: patient sensor streams (ICU monitors) — high-frequency writes, time-ordered queries</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7">
    <p:bg>
      <p:bgPr shadeToTitle="0">
        <a:solidFill>
          <a:srgbClr val="1E2761"/>
        </a:solidFill>
      </p:bgPr>
    </p:bg>
    <p:spTree>
      <p:nvGrpSpPr>
        <p:cNvPr id="1" name=""/>
        <p:cNvGrpSpPr/>
        <p:nvPr/>
      </p:nvGrpSpPr>
      <p:grpSpPr bwMode="auto">
        <a:xfrm>
          <a:off x="0" y="0"/>
          <a:ext cx="0" cy="0"/>
          <a:chOff x="0" y="0"/>
          <a:chExt cx="0" cy="0"/>
        </a:xfrm>
      </p:grpSpPr>
      <p:sp>
        <p:nvSpPr>
          <p:cNvPr id="95441463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559377814"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Case Study: Discord's Migration to ScyllaDB</a:t>
            </a:r>
            <a:endParaRPr lang="en-US" sz="2600"/>
          </a:p>
        </p:txBody>
      </p:sp>
      <p:sp>
        <p:nvSpPr>
          <p:cNvPr id="430352720" name="Shape 2"/>
          <p:cNvSpPr/>
          <p:nvPr/>
        </p:nvSpPr>
        <p:spPr bwMode="auto">
          <a:xfrm>
            <a:off x="4434840" y="914400"/>
            <a:ext cx="36576" cy="3657600"/>
          </a:xfrm>
          <a:prstGeom prst="rect">
            <a:avLst/>
          </a:prstGeom>
          <a:solidFill>
            <a:srgbClr val="4FC3F7"/>
          </a:solidFill>
          <a:ln w="12700">
            <a:solidFill>
              <a:srgbClr val="4FC3F7"/>
            </a:solidFill>
            <a:prstDash val="solid"/>
          </a:ln>
        </p:spPr>
      </p:sp>
      <p:sp>
        <p:nvSpPr>
          <p:cNvPr id="2108957932" name="Text 3"/>
          <p:cNvSpPr/>
          <p:nvPr/>
        </p:nvSpPr>
        <p:spPr bwMode="auto">
          <a:xfrm>
            <a:off x="457200" y="914400"/>
            <a:ext cx="3840480" cy="3840480"/>
          </a:xfrm>
          <a:prstGeom prst="rect">
            <a:avLst/>
          </a:prstGeom>
          <a:noFill/>
          <a:ln/>
        </p:spPr>
        <p:txBody>
          <a:bodyPr wrap="square" rtlCol="0" anchor="ctr"/>
          <a:lstStyle/>
          <a:p>
            <a:pPr marL="0" indent="0">
              <a:spcAft>
                <a:spcPts val="600"/>
              </a:spcAft>
              <a:buNone/>
              <a:defRPr/>
            </a:pPr>
            <a:r>
              <a:rPr lang="en-US" sz="1300" b="1">
                <a:solidFill>
                  <a:srgbClr val="4FC3F7"/>
                </a:solidFill>
                <a:latin typeface="Trebuchet MS"/>
                <a:ea typeface="Trebuchet MS"/>
                <a:cs typeface="Trebuchet MS"/>
              </a:rPr>
              <a:t>BEFORE (Cassandra)</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Hot partitions causing latency spikes</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JVM GC pauses affecting p99 latency</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Trillions of messages with growing backlog</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Compaction pressure on large partitions</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Operational complexity at JVM level</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p99 latency: 40-125ms (unacceptable)</a:t>
            </a:r>
            <a:endParaRPr lang="en-US" sz="1300"/>
          </a:p>
        </p:txBody>
      </p:sp>
      <p:sp>
        <p:nvSpPr>
          <p:cNvPr id="1605379299" name="Text 4"/>
          <p:cNvSpPr/>
          <p:nvPr/>
        </p:nvSpPr>
        <p:spPr bwMode="auto">
          <a:xfrm>
            <a:off x="4572000" y="914400"/>
            <a:ext cx="4206240" cy="3840480"/>
          </a:xfrm>
          <a:prstGeom prst="rect">
            <a:avLst/>
          </a:prstGeom>
          <a:noFill/>
          <a:ln/>
        </p:spPr>
        <p:txBody>
          <a:bodyPr wrap="square" rtlCol="0" anchor="ctr"/>
          <a:lstStyle/>
          <a:p>
            <a:pPr marL="0" indent="0">
              <a:spcAft>
                <a:spcPts val="600"/>
              </a:spcAft>
              <a:buNone/>
              <a:defRPr/>
            </a:pPr>
            <a:r>
              <a:rPr lang="en-US" sz="1300" b="1">
                <a:solidFill>
                  <a:srgbClr val="4FC3F7"/>
                </a:solidFill>
                <a:latin typeface="Trebuchet MS"/>
                <a:ea typeface="Trebuchet MS"/>
                <a:cs typeface="Trebuchet MS"/>
              </a:rPr>
              <a:t>AFTER (ScyllaDB)</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Shard-per-core eliminates hot spots</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C++ has no GC pauses</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Same data model and CQL queries</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ScyllaDB ICS handles large partitions</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Dramatically simpler JVM-free ops</a:t>
            </a:r>
            <a:endParaRPr lang="en-US" sz="1300"/>
          </a:p>
          <a:p>
            <a:pPr marL="342900" indent="-342900">
              <a:spcAft>
                <a:spcPts val="600"/>
              </a:spcAft>
              <a:buSzPct val="100000"/>
              <a:buChar char="►"/>
              <a:defRPr/>
            </a:pPr>
            <a:r>
              <a:rPr lang="en-US" sz="1300">
                <a:solidFill>
                  <a:srgbClr val="FFFFFF"/>
                </a:solidFill>
                <a:latin typeface="Calibri"/>
                <a:ea typeface="Calibri"/>
                <a:cs typeface="Calibri"/>
              </a:rPr>
              <a:t>p99 latency: &lt; 15ms consistently</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8">
    <p:bg>
      <p:bgPr shadeToTitle="0">
        <a:solidFill>
          <a:srgbClr val="1E2761"/>
        </a:solidFill>
      </p:bgPr>
    </p:bg>
    <p:spTree>
      <p:nvGrpSpPr>
        <p:cNvPr id="1" name=""/>
        <p:cNvGrpSpPr/>
        <p:nvPr/>
      </p:nvGrpSpPr>
      <p:grpSpPr bwMode="auto">
        <a:xfrm>
          <a:off x="0" y="0"/>
          <a:ext cx="0" cy="0"/>
          <a:chOff x="0" y="0"/>
          <a:chExt cx="0" cy="0"/>
        </a:xfrm>
      </p:grpSpPr>
      <p:sp>
        <p:nvSpPr>
          <p:cNvPr id="1646025714"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1013616392" name="Text 1"/>
          <p:cNvSpPr/>
          <p:nvPr/>
        </p:nvSpPr>
        <p:spPr bwMode="auto">
          <a:xfrm>
            <a:off x="457200" y="1645920"/>
            <a:ext cx="8229600" cy="731520"/>
          </a:xfrm>
          <a:prstGeom prst="rect">
            <a:avLst/>
          </a:prstGeom>
          <a:noFill/>
          <a:ln/>
        </p:spPr>
        <p:txBody>
          <a:bodyPr wrap="square" rtlCol="0" anchor="ctr"/>
          <a:lstStyle/>
          <a:p>
            <a:pPr marL="0" indent="0">
              <a:buNone/>
              <a:defRPr/>
            </a:pPr>
            <a:r>
              <a:rPr lang="en-US" sz="3200" b="1">
                <a:solidFill>
                  <a:srgbClr val="FFFFFF"/>
                </a:solidFill>
                <a:latin typeface="Trebuchet MS"/>
                <a:ea typeface="Trebuchet MS"/>
                <a:cs typeface="Trebuchet MS"/>
              </a:rPr>
              <a:t>MODULE 6 — LAB</a:t>
            </a:r>
            <a:endParaRPr lang="en-US" sz="3200"/>
          </a:p>
        </p:txBody>
      </p:sp>
      <p:sp>
        <p:nvSpPr>
          <p:cNvPr id="2118379146" name="Text 2"/>
          <p:cNvSpPr/>
          <p:nvPr/>
        </p:nvSpPr>
        <p:spPr bwMode="auto">
          <a:xfrm>
            <a:off x="457200" y="2468880"/>
            <a:ext cx="8229600" cy="548640"/>
          </a:xfrm>
          <a:prstGeom prst="rect">
            <a:avLst/>
          </a:prstGeom>
          <a:noFill/>
          <a:ln/>
        </p:spPr>
        <p:txBody>
          <a:bodyPr wrap="square" rtlCol="0" anchor="ctr"/>
          <a:lstStyle/>
          <a:p>
            <a:pPr marL="0" indent="0">
              <a:buNone/>
              <a:defRPr/>
            </a:pPr>
            <a:r>
              <a:rPr lang="en-US" sz="1800" i="1">
                <a:solidFill>
                  <a:srgbClr val="4FC3F7"/>
                </a:solidFill>
                <a:latin typeface="Calibri"/>
                <a:ea typeface="Calibri"/>
                <a:cs typeface="Calibri"/>
              </a:rPr>
              <a:t>Apache Cassandra on Linux: Docker + cqlsh</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9">
    <p:bg>
      <p:bgPr shadeToTitle="0">
        <a:solidFill>
          <a:srgbClr val="1E2761"/>
        </a:solidFill>
      </p:bgPr>
    </p:bg>
    <p:spTree>
      <p:nvGrpSpPr>
        <p:cNvPr id="1" name=""/>
        <p:cNvGrpSpPr/>
        <p:nvPr/>
      </p:nvGrpSpPr>
      <p:grpSpPr bwMode="auto">
        <a:xfrm>
          <a:off x="0" y="0"/>
          <a:ext cx="0" cy="0"/>
          <a:chOff x="0" y="0"/>
          <a:chExt cx="0" cy="0"/>
        </a:xfrm>
      </p:grpSpPr>
      <p:sp>
        <p:nvSpPr>
          <p:cNvPr id="1050039430"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38852189"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Lab Overview &amp; Objectives</a:t>
            </a:r>
            <a:endParaRPr lang="en-US" sz="2600"/>
          </a:p>
        </p:txBody>
      </p:sp>
      <p:sp>
        <p:nvSpPr>
          <p:cNvPr id="269729637"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GOAL: Run Apache Cassandra in Docker on Linux and interact via cqlsh</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By the end of the lab you will be able to: start a Cassandra container, connect with cqlsh,</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  create a keyspace and table, perform INSERT / SELECT / UPDATE / DELETE, and model a real schema</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PREREQUISITES: Docker installed and running; internet access for pulling the image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Estimated time: 60 minutes (Steps 1-11)</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All commands are for Ubuntu/Debian Linux — should also work on WSL2 on Windows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No Python or Java required — we use cqlsh inside the Docker container</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0">
    <p:bg>
      <p:bgPr shadeToTitle="0">
        <a:solidFill>
          <a:srgbClr val="1E2761"/>
        </a:solidFill>
      </p:bgPr>
    </p:bg>
    <p:spTree>
      <p:nvGrpSpPr>
        <p:cNvPr id="1" name=""/>
        <p:cNvGrpSpPr/>
        <p:nvPr/>
      </p:nvGrpSpPr>
      <p:grpSpPr bwMode="auto">
        <a:xfrm>
          <a:off x="0" y="0"/>
          <a:ext cx="0" cy="0"/>
          <a:chOff x="0" y="0"/>
          <a:chExt cx="0" cy="0"/>
        </a:xfrm>
      </p:grpSpPr>
      <p:sp>
        <p:nvSpPr>
          <p:cNvPr id="1295022270"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432957612"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1 — Install Docker (if needed)</a:t>
            </a:r>
            <a:endParaRPr lang="en-US" sz="2600"/>
          </a:p>
        </p:txBody>
      </p:sp>
      <p:sp>
        <p:nvSpPr>
          <p:cNvPr id="1459296434"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700354441"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6A9955"/>
                </a:solidFill>
                <a:latin typeface="Consolas"/>
                <a:ea typeface="Consolas"/>
                <a:cs typeface="Consolas"/>
              </a:rPr>
              <a:t># Update package list</a:t>
            </a:r>
            <a:endParaRPr lang="en-US" sz="1200"/>
          </a:p>
          <a:p>
            <a:pPr marL="0" indent="0">
              <a:spcAft>
                <a:spcPts val="100"/>
              </a:spcAft>
              <a:buNone/>
              <a:defRPr/>
            </a:pPr>
            <a:r>
              <a:rPr lang="en-US" sz="1200">
                <a:solidFill>
                  <a:srgbClr val="D4D4D4"/>
                </a:solidFill>
                <a:latin typeface="Consolas"/>
                <a:ea typeface="Consolas"/>
                <a:cs typeface="Consolas"/>
              </a:rPr>
              <a:t>sudo apt update</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Install Docker</a:t>
            </a:r>
            <a:endParaRPr lang="en-US" sz="1200"/>
          </a:p>
          <a:p>
            <a:pPr marL="0" indent="0">
              <a:spcAft>
                <a:spcPts val="100"/>
              </a:spcAft>
              <a:buNone/>
              <a:defRPr/>
            </a:pPr>
            <a:r>
              <a:rPr lang="en-US" sz="1200">
                <a:solidFill>
                  <a:srgbClr val="D4D4D4"/>
                </a:solidFill>
                <a:latin typeface="Consolas"/>
                <a:ea typeface="Consolas"/>
                <a:cs typeface="Consolas"/>
              </a:rPr>
              <a:t>sudo apt install -y docker.io</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Start Docker service</a:t>
            </a:r>
            <a:endParaRPr lang="en-US" sz="1200"/>
          </a:p>
          <a:p>
            <a:pPr marL="0" indent="0">
              <a:spcAft>
                <a:spcPts val="100"/>
              </a:spcAft>
              <a:buNone/>
              <a:defRPr/>
            </a:pPr>
            <a:r>
              <a:rPr lang="en-US" sz="1200">
                <a:solidFill>
                  <a:srgbClr val="D4D4D4"/>
                </a:solidFill>
                <a:latin typeface="Consolas"/>
                <a:ea typeface="Consolas"/>
                <a:cs typeface="Consolas"/>
              </a:rPr>
              <a:t>sudo systemctl start docker</a:t>
            </a:r>
            <a:endParaRPr lang="en-US" sz="1200"/>
          </a:p>
          <a:p>
            <a:pPr marL="0" indent="0">
              <a:spcAft>
                <a:spcPts val="100"/>
              </a:spcAft>
              <a:buNone/>
              <a:defRPr/>
            </a:pPr>
            <a:r>
              <a:rPr lang="en-US" sz="1200">
                <a:solidFill>
                  <a:srgbClr val="D4D4D4"/>
                </a:solidFill>
                <a:latin typeface="Consolas"/>
                <a:ea typeface="Consolas"/>
                <a:cs typeface="Consolas"/>
              </a:rPr>
              <a:t>sudo systemctl enable docker</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Add your user to the docker group (avoid sudo every time)</a:t>
            </a:r>
            <a:endParaRPr lang="en-US" sz="1200"/>
          </a:p>
          <a:p>
            <a:pPr marL="0" indent="0">
              <a:spcAft>
                <a:spcPts val="100"/>
              </a:spcAft>
              <a:buNone/>
              <a:defRPr/>
            </a:pPr>
            <a:r>
              <a:rPr lang="en-US" sz="1200">
                <a:solidFill>
                  <a:srgbClr val="569CD6"/>
                </a:solidFill>
                <a:latin typeface="Consolas"/>
                <a:ea typeface="Consolas"/>
                <a:cs typeface="Consolas"/>
              </a:rPr>
              <a:t>sudo usermod -aG docker $USER</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Verify installation</a:t>
            </a:r>
            <a:endParaRPr lang="en-US" sz="1200"/>
          </a:p>
          <a:p>
            <a:pPr marL="0" indent="0">
              <a:spcAft>
                <a:spcPts val="100"/>
              </a:spcAft>
              <a:buNone/>
              <a:defRPr/>
            </a:pPr>
            <a:r>
              <a:rPr lang="en-US" sz="1200">
                <a:solidFill>
                  <a:srgbClr val="D4D4D4"/>
                </a:solidFill>
                <a:latin typeface="Consolas"/>
                <a:ea typeface="Consolas"/>
                <a:cs typeface="Consolas"/>
              </a:rPr>
              <a:t>docker --version</a:t>
            </a:r>
            <a:endParaRPr lang="en-US" sz="1200"/>
          </a:p>
          <a:p>
            <a:pPr marL="0" indent="0">
              <a:spcAft>
                <a:spcPts val="100"/>
              </a:spcAft>
              <a:buNone/>
              <a:defRPr/>
            </a:pPr>
            <a:r>
              <a:rPr lang="en-US" sz="1200">
                <a:solidFill>
                  <a:srgbClr val="6A9955"/>
                </a:solidFill>
                <a:latin typeface="Consolas"/>
                <a:ea typeface="Consolas"/>
                <a:cs typeface="Consolas"/>
              </a:rPr>
              <a:t># Expected output: Docker version 24.x.x or later</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NOTE: log out and back in after usermod for group change to take effect</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1">
    <p:bg>
      <p:bgPr shadeToTitle="0">
        <a:solidFill>
          <a:srgbClr val="1E2761"/>
        </a:solidFill>
      </p:bgPr>
    </p:bg>
    <p:spTree>
      <p:nvGrpSpPr>
        <p:cNvPr id="1" name=""/>
        <p:cNvGrpSpPr/>
        <p:nvPr/>
      </p:nvGrpSpPr>
      <p:grpSpPr bwMode="auto">
        <a:xfrm>
          <a:off x="0" y="0"/>
          <a:ext cx="0" cy="0"/>
          <a:chOff x="0" y="0"/>
          <a:chExt cx="0" cy="0"/>
        </a:xfrm>
      </p:grpSpPr>
      <p:sp>
        <p:nvSpPr>
          <p:cNvPr id="113808623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720873442"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2 — Pull &amp; Run Cassandra Container</a:t>
            </a:r>
            <a:endParaRPr lang="en-US" sz="2600"/>
          </a:p>
        </p:txBody>
      </p:sp>
      <p:sp>
        <p:nvSpPr>
          <p:cNvPr id="1500965832"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94247484"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6A9955"/>
                </a:solidFill>
                <a:latin typeface="Consolas"/>
                <a:ea typeface="Consolas"/>
                <a:cs typeface="Consolas"/>
              </a:rPr>
              <a:t># Pull the official Cassandra image (latest LTS)</a:t>
            </a:r>
            <a:endParaRPr lang="en-US" sz="1200"/>
          </a:p>
          <a:p>
            <a:pPr marL="0" indent="0">
              <a:spcAft>
                <a:spcPts val="100"/>
              </a:spcAft>
              <a:buNone/>
              <a:defRPr/>
            </a:pPr>
            <a:r>
              <a:rPr lang="en-US" sz="1200">
                <a:solidFill>
                  <a:srgbClr val="D4D4D4"/>
                </a:solidFill>
                <a:latin typeface="Consolas"/>
                <a:ea typeface="Consolas"/>
                <a:cs typeface="Consolas"/>
              </a:rPr>
              <a:t>docker pull cassandra:4.1</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Run Cassandra container</a:t>
            </a:r>
            <a:endParaRPr lang="en-US" sz="1200"/>
          </a:p>
          <a:p>
            <a:pPr marL="0" indent="0">
              <a:spcAft>
                <a:spcPts val="100"/>
              </a:spcAft>
              <a:buNone/>
              <a:defRPr/>
            </a:pPr>
            <a:r>
              <a:rPr lang="en-US" sz="1200">
                <a:solidFill>
                  <a:srgbClr val="6A9955"/>
                </a:solidFill>
                <a:latin typeface="Consolas"/>
                <a:ea typeface="Consolas"/>
                <a:cs typeface="Consolas"/>
              </a:rPr>
              <a:t># -d: detached (background)</a:t>
            </a:r>
            <a:endParaRPr lang="en-US" sz="1200"/>
          </a:p>
          <a:p>
            <a:pPr marL="0" indent="0">
              <a:spcAft>
                <a:spcPts val="100"/>
              </a:spcAft>
              <a:buNone/>
              <a:defRPr/>
            </a:pPr>
            <a:r>
              <a:rPr lang="en-US" sz="1200">
                <a:solidFill>
                  <a:srgbClr val="6A9955"/>
                </a:solidFill>
                <a:latin typeface="Consolas"/>
                <a:ea typeface="Consolas"/>
                <a:cs typeface="Consolas"/>
              </a:rPr>
              <a:t># -p: expose CQL native port 9042</a:t>
            </a:r>
            <a:endParaRPr lang="en-US" sz="1200"/>
          </a:p>
          <a:p>
            <a:pPr marL="0" indent="0">
              <a:spcAft>
                <a:spcPts val="100"/>
              </a:spcAft>
              <a:buNone/>
              <a:defRPr/>
            </a:pPr>
            <a:r>
              <a:rPr lang="en-US" sz="1200">
                <a:solidFill>
                  <a:srgbClr val="6A9955"/>
                </a:solidFill>
                <a:latin typeface="Consolas"/>
                <a:ea typeface="Consolas"/>
                <a:cs typeface="Consolas"/>
              </a:rPr>
              <a:t># --name: container alias for easy reference</a:t>
            </a:r>
            <a:endParaRPr lang="en-US" sz="1200"/>
          </a:p>
          <a:p>
            <a:pPr marL="0" indent="0">
              <a:spcAft>
                <a:spcPts val="100"/>
              </a:spcAft>
              <a:buNone/>
              <a:defRPr/>
            </a:pPr>
            <a:r>
              <a:rPr lang="en-US" sz="1200">
                <a:solidFill>
                  <a:srgbClr val="D4D4D4"/>
                </a:solidFill>
                <a:latin typeface="Consolas"/>
                <a:ea typeface="Consolas"/>
                <a:cs typeface="Consolas"/>
              </a:rPr>
              <a:t>docker run -d \</a:t>
            </a:r>
            <a:endParaRPr lang="en-US" sz="1200"/>
          </a:p>
          <a:p>
            <a:pPr marL="0" indent="0">
              <a:spcAft>
                <a:spcPts val="100"/>
              </a:spcAft>
              <a:buNone/>
              <a:defRPr/>
            </a:pPr>
            <a:r>
              <a:rPr lang="en-US" sz="1200">
                <a:solidFill>
                  <a:srgbClr val="D4D4D4"/>
                </a:solidFill>
                <a:latin typeface="Consolas"/>
                <a:ea typeface="Consolas"/>
                <a:cs typeface="Consolas"/>
              </a:rPr>
              <a:t>  --name cassandra-lab \</a:t>
            </a:r>
            <a:endParaRPr lang="en-US" sz="1200"/>
          </a:p>
          <a:p>
            <a:pPr marL="0" indent="0">
              <a:spcAft>
                <a:spcPts val="100"/>
              </a:spcAft>
              <a:buNone/>
              <a:defRPr/>
            </a:pPr>
            <a:r>
              <a:rPr lang="en-US" sz="1200">
                <a:solidFill>
                  <a:srgbClr val="D4D4D4"/>
                </a:solidFill>
                <a:latin typeface="Consolas"/>
                <a:ea typeface="Consolas"/>
                <a:cs typeface="Consolas"/>
              </a:rPr>
              <a:t>  -p 9042:9042 \</a:t>
            </a:r>
            <a:endParaRPr lang="en-US" sz="1200"/>
          </a:p>
          <a:p>
            <a:pPr marL="0" indent="0">
              <a:spcAft>
                <a:spcPts val="100"/>
              </a:spcAft>
              <a:buNone/>
              <a:defRPr/>
            </a:pPr>
            <a:r>
              <a:rPr lang="en-US" sz="1200">
                <a:solidFill>
                  <a:srgbClr val="D4D4D4"/>
                </a:solidFill>
                <a:latin typeface="Consolas"/>
                <a:ea typeface="Consolas"/>
                <a:cs typeface="Consolas"/>
              </a:rPr>
              <a:t>  cassandra:4.1</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Wait ~30 seconds for Cassandra to fully start</a:t>
            </a:r>
            <a:endParaRPr lang="en-US" sz="1200"/>
          </a:p>
          <a:p>
            <a:pPr marL="0" indent="0">
              <a:spcAft>
                <a:spcPts val="100"/>
              </a:spcAft>
              <a:buNone/>
              <a:defRPr/>
            </a:pPr>
            <a:r>
              <a:rPr lang="en-US" sz="1200">
                <a:solidFill>
                  <a:srgbClr val="6A9955"/>
                </a:solidFill>
                <a:latin typeface="Consolas"/>
                <a:ea typeface="Consolas"/>
                <a:cs typeface="Consolas"/>
              </a:rPr>
              <a:t># Check status (look for 'Up' in STATUS column)</a:t>
            </a:r>
            <a:endParaRPr lang="en-US" sz="1200"/>
          </a:p>
          <a:p>
            <a:pPr marL="0" indent="0">
              <a:spcAft>
                <a:spcPts val="100"/>
              </a:spcAft>
              <a:buNone/>
              <a:defRPr/>
            </a:pPr>
            <a:r>
              <a:rPr lang="en-US" sz="1200">
                <a:solidFill>
                  <a:srgbClr val="D4D4D4"/>
                </a:solidFill>
                <a:latin typeface="Consolas"/>
                <a:ea typeface="Consolas"/>
                <a:cs typeface="Consolas"/>
              </a:rPr>
              <a:t>docker ps</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Optionally check Cassandra startup logs</a:t>
            </a:r>
            <a:endParaRPr lang="en-US" sz="1200"/>
          </a:p>
          <a:p>
            <a:pPr marL="0" indent="0">
              <a:spcAft>
                <a:spcPts val="100"/>
              </a:spcAft>
              <a:buNone/>
              <a:defRPr/>
            </a:pPr>
            <a:r>
              <a:rPr lang="en-US" sz="1200">
                <a:solidFill>
                  <a:srgbClr val="D4D4D4"/>
                </a:solidFill>
                <a:latin typeface="Consolas"/>
                <a:ea typeface="Consolas"/>
                <a:cs typeface="Consolas"/>
              </a:rPr>
              <a:t>docker logs cassandra-lab | tail -20</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2">
    <p:bg>
      <p:bgPr shadeToTitle="0">
        <a:solidFill>
          <a:srgbClr val="1E2761"/>
        </a:solidFill>
      </p:bgPr>
    </p:bg>
    <p:spTree>
      <p:nvGrpSpPr>
        <p:cNvPr id="1" name=""/>
        <p:cNvGrpSpPr/>
        <p:nvPr/>
      </p:nvGrpSpPr>
      <p:grpSpPr bwMode="auto">
        <a:xfrm>
          <a:off x="0" y="0"/>
          <a:ext cx="0" cy="0"/>
          <a:chOff x="0" y="0"/>
          <a:chExt cx="0" cy="0"/>
        </a:xfrm>
      </p:grpSpPr>
      <p:sp>
        <p:nvSpPr>
          <p:cNvPr id="948780459"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373022607"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3 — Connect with cqlsh</a:t>
            </a:r>
            <a:endParaRPr lang="en-US" sz="2600"/>
          </a:p>
        </p:txBody>
      </p:sp>
      <p:sp>
        <p:nvSpPr>
          <p:cNvPr id="518978996"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44538101"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6A9955"/>
                </a:solidFill>
                <a:latin typeface="Consolas"/>
                <a:ea typeface="Consolas"/>
                <a:cs typeface="Consolas"/>
              </a:rPr>
              <a:t># Start cqlsh inside the running container</a:t>
            </a:r>
            <a:endParaRPr lang="en-US" sz="1200"/>
          </a:p>
          <a:p>
            <a:pPr marL="0" indent="0">
              <a:spcAft>
                <a:spcPts val="100"/>
              </a:spcAft>
              <a:buNone/>
              <a:defRPr/>
            </a:pPr>
            <a:r>
              <a:rPr lang="en-US" sz="1200">
                <a:solidFill>
                  <a:srgbClr val="6A9955"/>
                </a:solidFill>
                <a:latin typeface="Consolas"/>
                <a:ea typeface="Consolas"/>
                <a:cs typeface="Consolas"/>
              </a:rPr>
              <a:t># cqlsh is the Cassandra Query Language shell</a:t>
            </a:r>
            <a:endParaRPr lang="en-US" sz="1200"/>
          </a:p>
          <a:p>
            <a:pPr marL="0" indent="0">
              <a:spcAft>
                <a:spcPts val="100"/>
              </a:spcAft>
              <a:buNone/>
              <a:defRPr/>
            </a:pPr>
            <a:r>
              <a:rPr lang="en-US" sz="1200">
                <a:solidFill>
                  <a:srgbClr val="D4D4D4"/>
                </a:solidFill>
                <a:latin typeface="Consolas"/>
                <a:ea typeface="Consolas"/>
                <a:cs typeface="Consolas"/>
              </a:rPr>
              <a:t>docker exec -it cassandra-lab cqlsh</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You should see:</a:t>
            </a:r>
            <a:endParaRPr lang="en-US" sz="1200"/>
          </a:p>
          <a:p>
            <a:pPr marL="0" indent="0">
              <a:spcAft>
                <a:spcPts val="100"/>
              </a:spcAft>
              <a:buNone/>
              <a:defRPr/>
            </a:pPr>
            <a:r>
              <a:rPr lang="en-US" sz="1200">
                <a:solidFill>
                  <a:srgbClr val="6A9955"/>
                </a:solidFill>
                <a:latin typeface="Consolas"/>
                <a:ea typeface="Consolas"/>
                <a:cs typeface="Consolas"/>
              </a:rPr>
              <a:t># Connected to Test Cluster at 127.0.0.1:9042</a:t>
            </a:r>
            <a:endParaRPr lang="en-US" sz="1200"/>
          </a:p>
          <a:p>
            <a:pPr marL="0" indent="0">
              <a:spcAft>
                <a:spcPts val="100"/>
              </a:spcAft>
              <a:buNone/>
              <a:defRPr/>
            </a:pPr>
            <a:r>
              <a:rPr lang="en-US" sz="1200">
                <a:solidFill>
                  <a:srgbClr val="6A9955"/>
                </a:solidFill>
                <a:latin typeface="Consolas"/>
                <a:ea typeface="Consolas"/>
                <a:cs typeface="Consolas"/>
              </a:rPr>
              <a:t># [cqlsh 6.1.0 | Cassandra 4.1.x | CQL spec 3.4.6]</a:t>
            </a:r>
            <a:endParaRPr lang="en-US" sz="1200"/>
          </a:p>
          <a:p>
            <a:pPr marL="0" indent="0">
              <a:spcAft>
                <a:spcPts val="100"/>
              </a:spcAft>
              <a:buNone/>
              <a:defRPr/>
            </a:pPr>
            <a:r>
              <a:rPr lang="en-US" sz="1200">
                <a:solidFill>
                  <a:srgbClr val="6A9955"/>
                </a:solidFill>
                <a:latin typeface="Consolas"/>
                <a:ea typeface="Consolas"/>
                <a:cs typeface="Consolas"/>
              </a:rPr>
              <a:t># Use HELP for help.</a:t>
            </a:r>
            <a:endParaRPr lang="en-US" sz="1200"/>
          </a:p>
          <a:p>
            <a:pPr marL="0" indent="0">
              <a:spcAft>
                <a:spcPts val="100"/>
              </a:spcAft>
              <a:buNone/>
              <a:defRPr/>
            </a:pPr>
            <a:r>
              <a:rPr lang="en-US" sz="1200">
                <a:solidFill>
                  <a:srgbClr val="6A9955"/>
                </a:solidFill>
                <a:latin typeface="Consolas"/>
                <a:ea typeface="Consolas"/>
                <a:cs typeface="Consolas"/>
              </a:rPr>
              <a:t># cqlsh&gt;</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Explore: list all keyspaces</a:t>
            </a:r>
            <a:endParaRPr lang="en-US" sz="1200"/>
          </a:p>
          <a:p>
            <a:pPr marL="0" indent="0">
              <a:spcAft>
                <a:spcPts val="100"/>
              </a:spcAft>
              <a:buNone/>
              <a:defRPr/>
            </a:pPr>
            <a:r>
              <a:rPr lang="en-US" sz="1200">
                <a:solidFill>
                  <a:srgbClr val="569CD6"/>
                </a:solidFill>
                <a:latin typeface="Consolas"/>
                <a:ea typeface="Consolas"/>
                <a:cs typeface="Consolas"/>
              </a:rPr>
              <a:t>DESCRIBE KEYSPACES;</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Exit cqlsh</a:t>
            </a:r>
            <a:endParaRPr lang="en-US" sz="1200"/>
          </a:p>
          <a:p>
            <a:pPr marL="0" indent="0">
              <a:spcAft>
                <a:spcPts val="100"/>
              </a:spcAft>
              <a:buNone/>
              <a:defRPr/>
            </a:pPr>
            <a:r>
              <a:rPr lang="en-US" sz="1200">
                <a:solidFill>
                  <a:srgbClr val="D4D4D4"/>
                </a:solidFill>
                <a:latin typeface="Consolas"/>
                <a:ea typeface="Consolas"/>
                <a:cs typeface="Consolas"/>
              </a:rPr>
              <a:t>EXIT;</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If cqlsh fails with connection error, wait and retry:</a:t>
            </a:r>
            <a:endParaRPr lang="en-US" sz="1200"/>
          </a:p>
          <a:p>
            <a:pPr marL="0" indent="0">
              <a:spcAft>
                <a:spcPts val="100"/>
              </a:spcAft>
              <a:buNone/>
              <a:defRPr/>
            </a:pPr>
            <a:r>
              <a:rPr lang="en-US" sz="1200">
                <a:solidFill>
                  <a:srgbClr val="6A9955"/>
                </a:solidFill>
                <a:latin typeface="Consolas"/>
                <a:ea typeface="Consolas"/>
                <a:cs typeface="Consolas"/>
              </a:rPr>
              <a:t># docker exec -it cassandra-lab cqlsh --connect-timeout=30</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3">
    <p:bg>
      <p:bgPr shadeToTitle="0">
        <a:solidFill>
          <a:srgbClr val="1E2761"/>
        </a:solidFill>
      </p:bgPr>
    </p:bg>
    <p:spTree>
      <p:nvGrpSpPr>
        <p:cNvPr id="1" name=""/>
        <p:cNvGrpSpPr/>
        <p:nvPr/>
      </p:nvGrpSpPr>
      <p:grpSpPr bwMode="auto">
        <a:xfrm>
          <a:off x="0" y="0"/>
          <a:ext cx="0" cy="0"/>
          <a:chOff x="0" y="0"/>
          <a:chExt cx="0" cy="0"/>
        </a:xfrm>
      </p:grpSpPr>
      <p:sp>
        <p:nvSpPr>
          <p:cNvPr id="492937538"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00613136"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4 — Create Keyspace</a:t>
            </a:r>
            <a:endParaRPr lang="en-US" sz="2600"/>
          </a:p>
        </p:txBody>
      </p:sp>
      <p:sp>
        <p:nvSpPr>
          <p:cNvPr id="8626075"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901770395"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Inside cqlsh:</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Create a keyspace for our university application</a:t>
            </a:r>
            <a:endParaRPr lang="en-US" sz="1200"/>
          </a:p>
          <a:p>
            <a:pPr marL="0" indent="0">
              <a:spcAft>
                <a:spcPts val="100"/>
              </a:spcAft>
              <a:buNone/>
              <a:defRPr/>
            </a:pPr>
            <a:r>
              <a:rPr lang="en-US" sz="1200">
                <a:solidFill>
                  <a:srgbClr val="D4D4D4"/>
                </a:solidFill>
                <a:latin typeface="Consolas"/>
                <a:ea typeface="Consolas"/>
                <a:cs typeface="Consolas"/>
              </a:rPr>
              <a:t>-- SimpleStrategy is fine for a single-node development cluster</a:t>
            </a:r>
            <a:endParaRPr lang="en-US" sz="1200"/>
          </a:p>
          <a:p>
            <a:pPr marL="0" indent="0">
              <a:spcAft>
                <a:spcPts val="100"/>
              </a:spcAft>
              <a:buNone/>
              <a:defRPr/>
            </a:pPr>
            <a:r>
              <a:rPr lang="en-US" sz="1200">
                <a:solidFill>
                  <a:srgbClr val="569CD6"/>
                </a:solidFill>
                <a:latin typeface="Consolas"/>
                <a:ea typeface="Consolas"/>
                <a:cs typeface="Consolas"/>
              </a:rPr>
              <a:t>CREATE KEYSPACE IF NOT EXISTS university</a:t>
            </a:r>
            <a:endParaRPr lang="en-US" sz="1200"/>
          </a:p>
          <a:p>
            <a:pPr marL="0" indent="0">
              <a:spcAft>
                <a:spcPts val="100"/>
              </a:spcAft>
              <a:buNone/>
              <a:defRPr/>
            </a:pPr>
            <a:r>
              <a:rPr lang="en-US" sz="1200">
                <a:solidFill>
                  <a:srgbClr val="569CD6"/>
                </a:solidFill>
                <a:latin typeface="Consolas"/>
                <a:ea typeface="Consolas"/>
                <a:cs typeface="Consolas"/>
              </a:rPr>
              <a:t>  WITH replication = {</a:t>
            </a:r>
            <a:endParaRPr lang="en-US" sz="1200"/>
          </a:p>
          <a:p>
            <a:pPr marL="0" indent="0">
              <a:spcAft>
                <a:spcPts val="100"/>
              </a:spcAft>
              <a:buNone/>
              <a:defRPr/>
            </a:pPr>
            <a:r>
              <a:rPr lang="en-US" sz="1200">
                <a:solidFill>
                  <a:srgbClr val="CE9178"/>
                </a:solidFill>
                <a:latin typeface="Consolas"/>
                <a:ea typeface="Consolas"/>
                <a:cs typeface="Consolas"/>
              </a:rPr>
              <a:t>    'class': 'SimpleStrategy',</a:t>
            </a:r>
            <a:endParaRPr lang="en-US" sz="1200"/>
          </a:p>
          <a:p>
            <a:pPr marL="0" indent="0">
              <a:spcAft>
                <a:spcPts val="100"/>
              </a:spcAft>
              <a:buNone/>
              <a:defRPr/>
            </a:pPr>
            <a:r>
              <a:rPr lang="en-US" sz="1200">
                <a:solidFill>
                  <a:srgbClr val="CE9178"/>
                </a:solidFill>
                <a:latin typeface="Consolas"/>
                <a:ea typeface="Consolas"/>
                <a:cs typeface="Consolas"/>
              </a:rPr>
              <a:t>    'replication_factor': 1</a:t>
            </a:r>
            <a:endParaRPr lang="en-US" sz="1200"/>
          </a:p>
          <a:p>
            <a:pPr marL="0" indent="0">
              <a:spcAft>
                <a:spcPts val="100"/>
              </a:spcAft>
              <a:buNone/>
              <a:defRPr/>
            </a:pPr>
            <a:r>
              <a:rPr lang="en-US" sz="1200">
                <a:solidFill>
                  <a:srgbClr val="D4D4D4"/>
                </a:solidFill>
                <a:latin typeface="Consolas"/>
                <a:ea typeface="Consolas"/>
                <a:cs typeface="Consolas"/>
              </a:rPr>
              <a:t>  };</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Switch to the keyspace</a:t>
            </a:r>
            <a:endParaRPr lang="en-US" sz="1200"/>
          </a:p>
          <a:p>
            <a:pPr marL="0" indent="0">
              <a:spcAft>
                <a:spcPts val="100"/>
              </a:spcAft>
              <a:buNone/>
              <a:defRPr/>
            </a:pPr>
            <a:r>
              <a:rPr lang="en-US" sz="1200">
                <a:solidFill>
                  <a:srgbClr val="569CD6"/>
                </a:solidFill>
                <a:latin typeface="Consolas"/>
                <a:ea typeface="Consolas"/>
                <a:cs typeface="Consolas"/>
              </a:rPr>
              <a:t>USE university;</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Confirm we are in the right keyspace</a:t>
            </a:r>
            <a:endParaRPr lang="en-US" sz="1200"/>
          </a:p>
          <a:p>
            <a:pPr marL="0" indent="0">
              <a:spcAft>
                <a:spcPts val="100"/>
              </a:spcAft>
              <a:buNone/>
              <a:defRPr/>
            </a:pPr>
            <a:r>
              <a:rPr lang="en-US" sz="1200">
                <a:solidFill>
                  <a:srgbClr val="D4D4D4"/>
                </a:solidFill>
                <a:latin typeface="Consolas"/>
                <a:ea typeface="Consolas"/>
                <a:cs typeface="Consolas"/>
              </a:rPr>
              <a:t>-- Prompt should change to: cqlsh:university&gt;</a:t>
            </a:r>
            <a:endParaRPr lang="en-US" sz="1200"/>
          </a:p>
          <a:p>
            <a:pPr marL="0" indent="0">
              <a:spcAft>
                <a:spcPts val="100"/>
              </a:spcAft>
              <a:buNone/>
              <a:defRPr/>
            </a:pPr>
            <a:endParaRPr lang="en-US" sz="1200"/>
          </a:p>
          <a:p>
            <a:pPr marL="0" indent="0">
              <a:spcAft>
                <a:spcPts val="100"/>
              </a:spcAft>
              <a:buNone/>
              <a:defRPr/>
            </a:pPr>
            <a:r>
              <a:rPr lang="en-US" sz="1200">
                <a:solidFill>
                  <a:srgbClr val="569CD6"/>
                </a:solidFill>
                <a:latin typeface="Consolas"/>
                <a:ea typeface="Consolas"/>
                <a:cs typeface="Consolas"/>
              </a:rPr>
              <a:t>DESCRIBE KEYSPACE university;</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You will see the full CQL definition of the keyspace</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4">
    <p:bg>
      <p:bgPr shadeToTitle="0">
        <a:solidFill>
          <a:srgbClr val="1E2761"/>
        </a:solidFill>
      </p:bgPr>
    </p:bg>
    <p:spTree>
      <p:nvGrpSpPr>
        <p:cNvPr id="1" name=""/>
        <p:cNvGrpSpPr/>
        <p:nvPr/>
      </p:nvGrpSpPr>
      <p:grpSpPr bwMode="auto">
        <a:xfrm>
          <a:off x="0" y="0"/>
          <a:ext cx="0" cy="0"/>
          <a:chOff x="0" y="0"/>
          <a:chExt cx="0" cy="0"/>
        </a:xfrm>
      </p:grpSpPr>
      <p:sp>
        <p:nvSpPr>
          <p:cNvPr id="1448282565"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001966136"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5 — Create Table for Student Records</a:t>
            </a:r>
            <a:endParaRPr lang="en-US" sz="2600"/>
          </a:p>
        </p:txBody>
      </p:sp>
      <p:sp>
        <p:nvSpPr>
          <p:cNvPr id="88463754"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541060948"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Create a students table</a:t>
            </a:r>
            <a:endParaRPr lang="en-US" sz="1200"/>
          </a:p>
          <a:p>
            <a:pPr marL="0" indent="0">
              <a:spcAft>
                <a:spcPts val="100"/>
              </a:spcAft>
              <a:buNone/>
              <a:defRPr/>
            </a:pPr>
            <a:r>
              <a:rPr lang="en-US" sz="1200">
                <a:solidFill>
                  <a:srgbClr val="D4D4D4"/>
                </a:solidFill>
                <a:latin typeface="Consolas"/>
                <a:ea typeface="Consolas"/>
                <a:cs typeface="Consolas"/>
              </a:rPr>
              <a:t>-- Partition key: student_id (equality lookup by student)</a:t>
            </a:r>
            <a:endParaRPr lang="en-US" sz="1200"/>
          </a:p>
          <a:p>
            <a:pPr marL="0" indent="0">
              <a:spcAft>
                <a:spcPts val="100"/>
              </a:spcAft>
              <a:buNone/>
              <a:defRPr/>
            </a:pPr>
            <a:r>
              <a:rPr lang="en-US" sz="1200">
                <a:solidFill>
                  <a:srgbClr val="D4D4D4"/>
                </a:solidFill>
                <a:latin typeface="Consolas"/>
                <a:ea typeface="Consolas"/>
                <a:cs typeface="Consolas"/>
              </a:rPr>
              <a:t>-- Clustering key: enrolled_year DESC (latest year first)</a:t>
            </a:r>
            <a:endParaRPr lang="en-US" sz="1200"/>
          </a:p>
          <a:p>
            <a:pPr marL="0" indent="0">
              <a:spcAft>
                <a:spcPts val="100"/>
              </a:spcAft>
              <a:buNone/>
              <a:defRPr/>
            </a:pPr>
            <a:r>
              <a:rPr lang="en-US" sz="1200">
                <a:solidFill>
                  <a:srgbClr val="569CD6"/>
                </a:solidFill>
                <a:latin typeface="Consolas"/>
                <a:ea typeface="Consolas"/>
                <a:cs typeface="Consolas"/>
              </a:rPr>
              <a:t>CREATE TABLE IF NOT EXISTS students (</a:t>
            </a:r>
            <a:endParaRPr lang="en-US" sz="1200"/>
          </a:p>
          <a:p>
            <a:pPr marL="0" indent="0">
              <a:spcAft>
                <a:spcPts val="100"/>
              </a:spcAft>
              <a:buNone/>
              <a:defRPr/>
            </a:pPr>
            <a:r>
              <a:rPr lang="en-US" sz="1200">
                <a:solidFill>
                  <a:srgbClr val="D4D4D4"/>
                </a:solidFill>
                <a:latin typeface="Consolas"/>
                <a:ea typeface="Consolas"/>
                <a:cs typeface="Consolas"/>
              </a:rPr>
              <a:t>  student_id    TEXT,</a:t>
            </a:r>
            <a:endParaRPr lang="en-US" sz="1200"/>
          </a:p>
          <a:p>
            <a:pPr marL="0" indent="0">
              <a:spcAft>
                <a:spcPts val="100"/>
              </a:spcAft>
              <a:buNone/>
              <a:defRPr/>
            </a:pPr>
            <a:r>
              <a:rPr lang="en-US" sz="1200">
                <a:solidFill>
                  <a:srgbClr val="D4D4D4"/>
                </a:solidFill>
                <a:latin typeface="Consolas"/>
                <a:ea typeface="Consolas"/>
                <a:cs typeface="Consolas"/>
              </a:rPr>
              <a:t>  enrolled_year INT,</a:t>
            </a:r>
            <a:endParaRPr lang="en-US" sz="1200"/>
          </a:p>
          <a:p>
            <a:pPr marL="0" indent="0">
              <a:spcAft>
                <a:spcPts val="100"/>
              </a:spcAft>
              <a:buNone/>
              <a:defRPr/>
            </a:pPr>
            <a:r>
              <a:rPr lang="en-US" sz="1200">
                <a:solidFill>
                  <a:srgbClr val="D4D4D4"/>
                </a:solidFill>
                <a:latin typeface="Consolas"/>
                <a:ea typeface="Consolas"/>
                <a:cs typeface="Consolas"/>
              </a:rPr>
              <a:t>  name          TEXT,</a:t>
            </a:r>
            <a:endParaRPr lang="en-US" sz="1200"/>
          </a:p>
          <a:p>
            <a:pPr marL="0" indent="0">
              <a:spcAft>
                <a:spcPts val="100"/>
              </a:spcAft>
              <a:buNone/>
              <a:defRPr/>
            </a:pPr>
            <a:r>
              <a:rPr lang="en-US" sz="1200">
                <a:solidFill>
                  <a:srgbClr val="D4D4D4"/>
                </a:solidFill>
                <a:latin typeface="Consolas"/>
                <a:ea typeface="Consolas"/>
                <a:cs typeface="Consolas"/>
              </a:rPr>
              <a:t>  department    TEXT,</a:t>
            </a:r>
            <a:endParaRPr lang="en-US" sz="1200"/>
          </a:p>
          <a:p>
            <a:pPr marL="0" indent="0">
              <a:spcAft>
                <a:spcPts val="100"/>
              </a:spcAft>
              <a:buNone/>
              <a:defRPr/>
            </a:pPr>
            <a:r>
              <a:rPr lang="en-US" sz="1200">
                <a:solidFill>
                  <a:srgbClr val="D4D4D4"/>
                </a:solidFill>
                <a:latin typeface="Consolas"/>
                <a:ea typeface="Consolas"/>
                <a:cs typeface="Consolas"/>
              </a:rPr>
              <a:t>  gpa           FLOAT,</a:t>
            </a:r>
            <a:endParaRPr lang="en-US" sz="1200"/>
          </a:p>
          <a:p>
            <a:pPr marL="0" indent="0">
              <a:spcAft>
                <a:spcPts val="100"/>
              </a:spcAft>
              <a:buNone/>
              <a:defRPr/>
            </a:pPr>
            <a:r>
              <a:rPr lang="en-US" sz="1200">
                <a:solidFill>
                  <a:srgbClr val="D4D4D4"/>
                </a:solidFill>
                <a:latin typeface="Consolas"/>
                <a:ea typeface="Consolas"/>
                <a:cs typeface="Consolas"/>
              </a:rPr>
              <a:t>  courses       SET&lt;TEXT&gt;,</a:t>
            </a:r>
            <a:endParaRPr lang="en-US" sz="1200"/>
          </a:p>
          <a:p>
            <a:pPr marL="0" indent="0">
              <a:spcAft>
                <a:spcPts val="100"/>
              </a:spcAft>
              <a:buNone/>
              <a:defRPr/>
            </a:pPr>
            <a:r>
              <a:rPr lang="en-US" sz="1200">
                <a:solidFill>
                  <a:srgbClr val="569CD6"/>
                </a:solidFill>
                <a:latin typeface="Consolas"/>
                <a:ea typeface="Consolas"/>
                <a:cs typeface="Consolas"/>
              </a:rPr>
              <a:t>  PRIMARY KEY ((student_id), enrolled_year)</a:t>
            </a:r>
            <a:endParaRPr lang="en-US" sz="1200"/>
          </a:p>
          <a:p>
            <a:pPr marL="0" indent="0">
              <a:spcAft>
                <a:spcPts val="100"/>
              </a:spcAft>
              <a:buNone/>
              <a:defRPr/>
            </a:pPr>
            <a:r>
              <a:rPr lang="en-US" sz="1200">
                <a:solidFill>
                  <a:srgbClr val="569CD6"/>
                </a:solidFill>
                <a:latin typeface="Consolas"/>
                <a:ea typeface="Consolas"/>
                <a:cs typeface="Consolas"/>
              </a:rPr>
              <a:t>) WITH CLUSTERING ORDER BY (enrolled_year DESC);</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Verify table was created</a:t>
            </a:r>
            <a:endParaRPr lang="en-US" sz="1200"/>
          </a:p>
          <a:p>
            <a:pPr marL="0" indent="0">
              <a:spcAft>
                <a:spcPts val="100"/>
              </a:spcAft>
              <a:buNone/>
              <a:defRPr/>
            </a:pPr>
            <a:r>
              <a:rPr lang="en-US" sz="1200">
                <a:solidFill>
                  <a:srgbClr val="569CD6"/>
                </a:solidFill>
                <a:latin typeface="Consolas"/>
                <a:ea typeface="Consolas"/>
                <a:cs typeface="Consolas"/>
              </a:rPr>
              <a:t>DESCRIBE TABLE students;</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Check all tables in keyspace</a:t>
            </a:r>
            <a:endParaRPr lang="en-US" sz="1200"/>
          </a:p>
          <a:p>
            <a:pPr marL="0" indent="0">
              <a:spcAft>
                <a:spcPts val="100"/>
              </a:spcAft>
              <a:buNone/>
              <a:defRPr/>
            </a:pPr>
            <a:r>
              <a:rPr lang="en-US" sz="1200">
                <a:solidFill>
                  <a:srgbClr val="569CD6"/>
                </a:solidFill>
                <a:latin typeface="Consolas"/>
                <a:ea typeface="Consolas"/>
                <a:cs typeface="Consolas"/>
              </a:rPr>
              <a:t>DESCRIBE TABLES;</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5">
    <p:bg>
      <p:bgPr shadeToTitle="0">
        <a:solidFill>
          <a:srgbClr val="1E2761"/>
        </a:solidFill>
      </p:bgPr>
    </p:bg>
    <p:spTree>
      <p:nvGrpSpPr>
        <p:cNvPr id="1" name=""/>
        <p:cNvGrpSpPr/>
        <p:nvPr/>
      </p:nvGrpSpPr>
      <p:grpSpPr bwMode="auto">
        <a:xfrm>
          <a:off x="0" y="0"/>
          <a:ext cx="0" cy="0"/>
          <a:chOff x="0" y="0"/>
          <a:chExt cx="0" cy="0"/>
        </a:xfrm>
      </p:grpSpPr>
      <p:sp>
        <p:nvSpPr>
          <p:cNvPr id="1711868221"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843411625"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6 — Insert Student Data</a:t>
            </a:r>
            <a:endParaRPr lang="en-US" sz="2600"/>
          </a:p>
        </p:txBody>
      </p:sp>
      <p:sp>
        <p:nvSpPr>
          <p:cNvPr id="1236153923"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292685117"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Insert several student records</a:t>
            </a:r>
            <a:endParaRPr lang="en-US" sz="1200"/>
          </a:p>
          <a:p>
            <a:pPr marL="0" indent="0">
              <a:spcAft>
                <a:spcPts val="100"/>
              </a:spcAft>
              <a:buNone/>
              <a:defRPr/>
            </a:pPr>
            <a:r>
              <a:rPr lang="en-US" sz="1200">
                <a:solidFill>
                  <a:srgbClr val="569CD6"/>
                </a:solidFill>
                <a:latin typeface="Consolas"/>
                <a:ea typeface="Consolas"/>
                <a:cs typeface="Consolas"/>
              </a:rPr>
              <a:t>INSERT INTO students (student_id, enrolled_year, name, department, gpa, courses)</a:t>
            </a:r>
            <a:endParaRPr lang="en-US" sz="1200"/>
          </a:p>
          <a:p>
            <a:pPr marL="0" indent="0">
              <a:spcAft>
                <a:spcPts val="100"/>
              </a:spcAft>
              <a:buNone/>
              <a:defRPr/>
            </a:pPr>
            <a:r>
              <a:rPr lang="en-US" sz="1200">
                <a:solidFill>
                  <a:srgbClr val="CE9178"/>
                </a:solidFill>
                <a:latin typeface="Consolas"/>
                <a:ea typeface="Consolas"/>
                <a:cs typeface="Consolas"/>
              </a:rPr>
              <a:t>VALUES ('S001', 2022, 'Maria Papadopoulou', 'ECE', 9.2,</a:t>
            </a:r>
            <a:endParaRPr lang="en-US" sz="1200"/>
          </a:p>
          <a:p>
            <a:pPr marL="0" indent="0">
              <a:spcAft>
                <a:spcPts val="100"/>
              </a:spcAft>
              <a:buNone/>
              <a:defRPr/>
            </a:pPr>
            <a:r>
              <a:rPr lang="en-US" sz="1200">
                <a:solidFill>
                  <a:srgbClr val="CE9178"/>
                </a:solidFill>
                <a:latin typeface="Consolas"/>
                <a:ea typeface="Consolas"/>
                <a:cs typeface="Consolas"/>
              </a:rPr>
              <a:t>  {'Advanced_Data_Management', 'Digital_Signal_Processing', 'VLSI_Design'});</a:t>
            </a:r>
            <a:endParaRPr lang="en-US" sz="1200"/>
          </a:p>
          <a:p>
            <a:pPr marL="0" indent="0">
              <a:spcAft>
                <a:spcPts val="100"/>
              </a:spcAft>
              <a:buNone/>
              <a:defRPr/>
            </a:pPr>
            <a:endParaRPr lang="en-US" sz="1200"/>
          </a:p>
          <a:p>
            <a:pPr marL="0" indent="0">
              <a:spcAft>
                <a:spcPts val="100"/>
              </a:spcAft>
              <a:buNone/>
              <a:defRPr/>
            </a:pPr>
            <a:r>
              <a:rPr lang="en-US" sz="1200">
                <a:solidFill>
                  <a:srgbClr val="569CD6"/>
                </a:solidFill>
                <a:latin typeface="Consolas"/>
                <a:ea typeface="Consolas"/>
                <a:cs typeface="Consolas"/>
              </a:rPr>
              <a:t>INSERT INTO students (student_id, enrolled_year, name, department, gpa, courses)</a:t>
            </a:r>
            <a:endParaRPr lang="en-US" sz="1200"/>
          </a:p>
          <a:p>
            <a:pPr marL="0" indent="0">
              <a:spcAft>
                <a:spcPts val="100"/>
              </a:spcAft>
              <a:buNone/>
              <a:defRPr/>
            </a:pPr>
            <a:r>
              <a:rPr lang="en-US" sz="1200">
                <a:solidFill>
                  <a:srgbClr val="CE9178"/>
                </a:solidFill>
                <a:latin typeface="Consolas"/>
                <a:ea typeface="Consolas"/>
                <a:cs typeface="Consolas"/>
              </a:rPr>
              <a:t>VALUES ('S002', 2023, 'Nikos Georgiou', 'EE', 8.7,</a:t>
            </a:r>
            <a:endParaRPr lang="en-US" sz="1200"/>
          </a:p>
          <a:p>
            <a:pPr marL="0" indent="0">
              <a:spcAft>
                <a:spcPts val="100"/>
              </a:spcAft>
              <a:buNone/>
              <a:defRPr/>
            </a:pPr>
            <a:r>
              <a:rPr lang="en-US" sz="1200">
                <a:solidFill>
                  <a:srgbClr val="CE9178"/>
                </a:solidFill>
                <a:latin typeface="Consolas"/>
                <a:ea typeface="Consolas"/>
                <a:cs typeface="Consolas"/>
              </a:rPr>
              <a:t>  {'Advanced_Data_Management', 'Power_Systems'});</a:t>
            </a:r>
            <a:endParaRPr lang="en-US" sz="1200"/>
          </a:p>
          <a:p>
            <a:pPr marL="0" indent="0">
              <a:spcAft>
                <a:spcPts val="100"/>
              </a:spcAft>
              <a:buNone/>
              <a:defRPr/>
            </a:pPr>
            <a:endParaRPr lang="en-US" sz="1200"/>
          </a:p>
          <a:p>
            <a:pPr marL="0" indent="0">
              <a:spcAft>
                <a:spcPts val="100"/>
              </a:spcAft>
              <a:buNone/>
              <a:defRPr/>
            </a:pPr>
            <a:r>
              <a:rPr lang="en-US" sz="1200">
                <a:solidFill>
                  <a:srgbClr val="569CD6"/>
                </a:solidFill>
                <a:latin typeface="Consolas"/>
                <a:ea typeface="Consolas"/>
                <a:cs typeface="Consolas"/>
              </a:rPr>
              <a:t>INSERT INTO students (student_id, enrolled_year, name, department, gpa, courses)</a:t>
            </a:r>
            <a:endParaRPr lang="en-US" sz="1200"/>
          </a:p>
          <a:p>
            <a:pPr marL="0" indent="0">
              <a:spcAft>
                <a:spcPts val="100"/>
              </a:spcAft>
              <a:buNone/>
              <a:defRPr/>
            </a:pPr>
            <a:r>
              <a:rPr lang="en-US" sz="1200">
                <a:solidFill>
                  <a:srgbClr val="CE9178"/>
                </a:solidFill>
                <a:latin typeface="Consolas"/>
                <a:ea typeface="Consolas"/>
                <a:cs typeface="Consolas"/>
              </a:rPr>
              <a:t>VALUES ('S003', 2021, 'Anna Stavridou', 'ECE', 9.8,</a:t>
            </a:r>
            <a:endParaRPr lang="en-US" sz="1200"/>
          </a:p>
          <a:p>
            <a:pPr marL="0" indent="0">
              <a:spcAft>
                <a:spcPts val="100"/>
              </a:spcAft>
              <a:buNone/>
              <a:defRPr/>
            </a:pPr>
            <a:r>
              <a:rPr lang="en-US" sz="1200">
                <a:solidFill>
                  <a:srgbClr val="CE9178"/>
                </a:solidFill>
                <a:latin typeface="Consolas"/>
                <a:ea typeface="Consolas"/>
                <a:cs typeface="Consolas"/>
              </a:rPr>
              <a:t>  {'Advanced_Data_Management', 'Machine_Learning', 'Embedded_Systems'});</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Verify inserts</a:t>
            </a:r>
            <a:endParaRPr lang="en-US" sz="1200"/>
          </a:p>
          <a:p>
            <a:pPr marL="0" indent="0">
              <a:spcAft>
                <a:spcPts val="100"/>
              </a:spcAft>
              <a:buNone/>
              <a:defRPr/>
            </a:pPr>
            <a:r>
              <a:rPr lang="en-US" sz="1200">
                <a:solidFill>
                  <a:srgbClr val="569CD6"/>
                </a:solidFill>
                <a:latin typeface="Consolas"/>
                <a:ea typeface="Consolas"/>
                <a:cs typeface="Consolas"/>
              </a:rPr>
              <a:t>SELECT * FROM students;</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6">
    <p:bg>
      <p:bgPr shadeToTitle="0">
        <a:solidFill>
          <a:srgbClr val="1E2761"/>
        </a:solidFill>
      </p:bgPr>
    </p:bg>
    <p:spTree>
      <p:nvGrpSpPr>
        <p:cNvPr id="1" name=""/>
        <p:cNvGrpSpPr/>
        <p:nvPr/>
      </p:nvGrpSpPr>
      <p:grpSpPr bwMode="auto">
        <a:xfrm>
          <a:off x="0" y="0"/>
          <a:ext cx="0" cy="0"/>
          <a:chOff x="0" y="0"/>
          <a:chExt cx="0" cy="0"/>
        </a:xfrm>
      </p:grpSpPr>
      <p:sp>
        <p:nvSpPr>
          <p:cNvPr id="1258805142"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243071035"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7 — Query &amp; Filter Data</a:t>
            </a:r>
            <a:endParaRPr lang="en-US" sz="2600"/>
          </a:p>
        </p:txBody>
      </p:sp>
      <p:sp>
        <p:nvSpPr>
          <p:cNvPr id="1298430997"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118124305"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Efficient query: uses partition key</a:t>
            </a:r>
            <a:endParaRPr lang="en-US" sz="1200"/>
          </a:p>
          <a:p>
            <a:pPr marL="0" indent="0">
              <a:spcAft>
                <a:spcPts val="100"/>
              </a:spcAft>
              <a:buNone/>
              <a:defRPr/>
            </a:pPr>
            <a:r>
              <a:rPr lang="en-US" sz="1200">
                <a:solidFill>
                  <a:srgbClr val="569CD6"/>
                </a:solidFill>
                <a:latin typeface="Consolas"/>
                <a:ea typeface="Consolas"/>
                <a:cs typeface="Consolas"/>
              </a:rPr>
              <a:t>SELECT * FROM students WHERE student_id = 'S001';</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Range query using clustering key</a:t>
            </a:r>
            <a:endParaRPr lang="en-US" sz="1200"/>
          </a:p>
          <a:p>
            <a:pPr marL="0" indent="0">
              <a:spcAft>
                <a:spcPts val="100"/>
              </a:spcAft>
              <a:buNone/>
              <a:defRPr/>
            </a:pPr>
            <a:r>
              <a:rPr lang="en-US" sz="1200">
                <a:solidFill>
                  <a:srgbClr val="569CD6"/>
                </a:solidFill>
                <a:latin typeface="Consolas"/>
                <a:ea typeface="Consolas"/>
                <a:cs typeface="Consolas"/>
              </a:rPr>
              <a:t>SELECT name, gpa FROM students</a:t>
            </a:r>
            <a:endParaRPr lang="en-US" sz="1200"/>
          </a:p>
          <a:p>
            <a:pPr marL="0" indent="0">
              <a:spcAft>
                <a:spcPts val="100"/>
              </a:spcAft>
              <a:buNone/>
              <a:defRPr/>
            </a:pPr>
            <a:r>
              <a:rPr lang="en-US" sz="1200">
                <a:solidFill>
                  <a:srgbClr val="569CD6"/>
                </a:solidFill>
                <a:latin typeface="Consolas"/>
                <a:ea typeface="Consolas"/>
                <a:cs typeface="Consolas"/>
              </a:rPr>
              <a:t>  WHERE student_id = 'S001'</a:t>
            </a:r>
            <a:endParaRPr lang="en-US" sz="1200"/>
          </a:p>
          <a:p>
            <a:pPr marL="0" indent="0">
              <a:spcAft>
                <a:spcPts val="100"/>
              </a:spcAft>
              <a:buNone/>
              <a:defRPr/>
            </a:pPr>
            <a:r>
              <a:rPr lang="en-US" sz="1200">
                <a:solidFill>
                  <a:srgbClr val="D4D4D4"/>
                </a:solidFill>
                <a:latin typeface="Consolas"/>
                <a:ea typeface="Consolas"/>
                <a:cs typeface="Consolas"/>
              </a:rPr>
              <a:t>  AND enrolled_year &gt;= 2021;</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Count rows in partition</a:t>
            </a:r>
            <a:endParaRPr lang="en-US" sz="1200"/>
          </a:p>
          <a:p>
            <a:pPr marL="0" indent="0">
              <a:spcAft>
                <a:spcPts val="100"/>
              </a:spcAft>
              <a:buNone/>
              <a:defRPr/>
            </a:pPr>
            <a:r>
              <a:rPr lang="en-US" sz="1200">
                <a:solidFill>
                  <a:srgbClr val="569CD6"/>
                </a:solidFill>
                <a:latin typeface="Consolas"/>
                <a:ea typeface="Consolas"/>
                <a:cs typeface="Consolas"/>
              </a:rPr>
              <a:t>SELECT COUNT(*) FROM students WHERE student_id = 'S001';</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Query with TTL: data auto-expires after 86400 seconds (1 day)</a:t>
            </a:r>
            <a:endParaRPr lang="en-US" sz="1200"/>
          </a:p>
          <a:p>
            <a:pPr marL="0" indent="0">
              <a:spcAft>
                <a:spcPts val="100"/>
              </a:spcAft>
              <a:buNone/>
              <a:defRPr/>
            </a:pPr>
            <a:r>
              <a:rPr lang="en-US" sz="1200">
                <a:solidFill>
                  <a:srgbClr val="569CD6"/>
                </a:solidFill>
                <a:latin typeface="Consolas"/>
                <a:ea typeface="Consolas"/>
                <a:cs typeface="Consolas"/>
              </a:rPr>
              <a:t>INSERT INTO students (student_id, enrolled_year, name, department, gpa)</a:t>
            </a:r>
            <a:endParaRPr lang="en-US" sz="1200"/>
          </a:p>
          <a:p>
            <a:pPr marL="0" indent="0">
              <a:spcAft>
                <a:spcPts val="100"/>
              </a:spcAft>
              <a:buNone/>
              <a:defRPr/>
            </a:pPr>
            <a:r>
              <a:rPr lang="en-US" sz="1200">
                <a:solidFill>
                  <a:srgbClr val="CE9178"/>
                </a:solidFill>
                <a:latin typeface="Consolas"/>
                <a:ea typeface="Consolas"/>
                <a:cs typeface="Consolas"/>
              </a:rPr>
              <a:t>VALUES ('TEMP01', 2024, 'Temp Student', 'ECE', 0.0)</a:t>
            </a:r>
            <a:endParaRPr lang="en-US" sz="1200"/>
          </a:p>
          <a:p>
            <a:pPr marL="0" indent="0">
              <a:spcAft>
                <a:spcPts val="100"/>
              </a:spcAft>
              <a:buNone/>
              <a:defRPr/>
            </a:pPr>
            <a:r>
              <a:rPr lang="en-US" sz="1200">
                <a:solidFill>
                  <a:srgbClr val="D4D4D4"/>
                </a:solidFill>
                <a:latin typeface="Consolas"/>
                <a:ea typeface="Consolas"/>
                <a:cs typeface="Consolas"/>
              </a:rPr>
              <a:t>USING TTL 86400;</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Check TTL remaining</a:t>
            </a:r>
            <a:endParaRPr lang="en-US" sz="1200"/>
          </a:p>
          <a:p>
            <a:pPr marL="0" indent="0">
              <a:spcAft>
                <a:spcPts val="100"/>
              </a:spcAft>
              <a:buNone/>
              <a:defRPr/>
            </a:pPr>
            <a:r>
              <a:rPr lang="en-US" sz="1200">
                <a:solidFill>
                  <a:srgbClr val="569CD6"/>
                </a:solidFill>
                <a:latin typeface="Consolas"/>
                <a:ea typeface="Consolas"/>
                <a:cs typeface="Consolas"/>
              </a:rPr>
              <a:t>SELECT TTL(name) FROM students WHERE student_id = 'TEMP01';</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7">
    <p:bg>
      <p:bgPr shadeToTitle="0">
        <a:solidFill>
          <a:srgbClr val="1E2761"/>
        </a:solidFill>
      </p:bgPr>
    </p:bg>
    <p:spTree>
      <p:nvGrpSpPr>
        <p:cNvPr id="1" name=""/>
        <p:cNvGrpSpPr/>
        <p:nvPr/>
      </p:nvGrpSpPr>
      <p:grpSpPr bwMode="auto">
        <a:xfrm>
          <a:off x="0" y="0"/>
          <a:ext cx="0" cy="0"/>
          <a:chOff x="0" y="0"/>
          <a:chExt cx="0" cy="0"/>
        </a:xfrm>
      </p:grpSpPr>
      <p:sp>
        <p:nvSpPr>
          <p:cNvPr id="105220038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476997647"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8 — Update &amp; Delete</a:t>
            </a:r>
            <a:endParaRPr lang="en-US" sz="2600"/>
          </a:p>
        </p:txBody>
      </p:sp>
      <p:sp>
        <p:nvSpPr>
          <p:cNvPr id="1112714386"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401459778"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Update GPA for a student</a:t>
            </a:r>
            <a:endParaRPr lang="en-US" sz="1200"/>
          </a:p>
          <a:p>
            <a:pPr marL="0" indent="0">
              <a:spcAft>
                <a:spcPts val="100"/>
              </a:spcAft>
              <a:buNone/>
              <a:defRPr/>
            </a:pPr>
            <a:r>
              <a:rPr lang="en-US" sz="1200">
                <a:solidFill>
                  <a:srgbClr val="D4D4D4"/>
                </a:solidFill>
                <a:latin typeface="Consolas"/>
                <a:ea typeface="Consolas"/>
                <a:cs typeface="Consolas"/>
              </a:rPr>
              <a:t>UPDATE students SET gpa = 9.5</a:t>
            </a:r>
            <a:endParaRPr lang="en-US" sz="1200"/>
          </a:p>
          <a:p>
            <a:pPr marL="0" indent="0">
              <a:spcAft>
                <a:spcPts val="100"/>
              </a:spcAft>
              <a:buNone/>
              <a:defRPr/>
            </a:pPr>
            <a:r>
              <a:rPr lang="en-US" sz="1200">
                <a:solidFill>
                  <a:srgbClr val="569CD6"/>
                </a:solidFill>
                <a:latin typeface="Consolas"/>
                <a:ea typeface="Consolas"/>
                <a:cs typeface="Consolas"/>
              </a:rPr>
              <a:t>  WHERE student_id = 'S001' AND enrolled_year = 2022;</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Add a course to the SET collection</a:t>
            </a:r>
            <a:endParaRPr lang="en-US" sz="1200"/>
          </a:p>
          <a:p>
            <a:pPr marL="0" indent="0">
              <a:spcAft>
                <a:spcPts val="100"/>
              </a:spcAft>
              <a:buNone/>
              <a:defRPr/>
            </a:pPr>
            <a:r>
              <a:rPr lang="en-US" sz="1200">
                <a:solidFill>
                  <a:srgbClr val="D4D4D4"/>
                </a:solidFill>
                <a:latin typeface="Consolas"/>
                <a:ea typeface="Consolas"/>
                <a:cs typeface="Consolas"/>
              </a:rPr>
              <a:t>UPDATE students</a:t>
            </a:r>
            <a:endParaRPr lang="en-US" sz="1200"/>
          </a:p>
          <a:p>
            <a:pPr marL="0" indent="0">
              <a:spcAft>
                <a:spcPts val="100"/>
              </a:spcAft>
              <a:buNone/>
              <a:defRPr/>
            </a:pPr>
            <a:r>
              <a:rPr lang="en-US" sz="1200">
                <a:solidFill>
                  <a:srgbClr val="CE9178"/>
                </a:solidFill>
                <a:latin typeface="Consolas"/>
                <a:ea typeface="Consolas"/>
                <a:cs typeface="Consolas"/>
              </a:rPr>
              <a:t>  SET courses = courses + {'Wireless_Communications'}</a:t>
            </a:r>
            <a:endParaRPr lang="en-US" sz="1200"/>
          </a:p>
          <a:p>
            <a:pPr marL="0" indent="0">
              <a:spcAft>
                <a:spcPts val="100"/>
              </a:spcAft>
              <a:buNone/>
              <a:defRPr/>
            </a:pPr>
            <a:r>
              <a:rPr lang="en-US" sz="1200">
                <a:solidFill>
                  <a:srgbClr val="569CD6"/>
                </a:solidFill>
                <a:latin typeface="Consolas"/>
                <a:ea typeface="Consolas"/>
                <a:cs typeface="Consolas"/>
              </a:rPr>
              <a:t>  WHERE student_id = 'S001' AND enrolled_year = 2022;</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Remove a course from the SET</a:t>
            </a:r>
            <a:endParaRPr lang="en-US" sz="1200"/>
          </a:p>
          <a:p>
            <a:pPr marL="0" indent="0">
              <a:spcAft>
                <a:spcPts val="100"/>
              </a:spcAft>
              <a:buNone/>
              <a:defRPr/>
            </a:pPr>
            <a:r>
              <a:rPr lang="en-US" sz="1200">
                <a:solidFill>
                  <a:srgbClr val="D4D4D4"/>
                </a:solidFill>
                <a:latin typeface="Consolas"/>
                <a:ea typeface="Consolas"/>
                <a:cs typeface="Consolas"/>
              </a:rPr>
              <a:t>UPDATE students</a:t>
            </a:r>
            <a:endParaRPr lang="en-US" sz="1200"/>
          </a:p>
          <a:p>
            <a:pPr marL="0" indent="0">
              <a:spcAft>
                <a:spcPts val="100"/>
              </a:spcAft>
              <a:buNone/>
              <a:defRPr/>
            </a:pPr>
            <a:r>
              <a:rPr lang="en-US" sz="1200">
                <a:solidFill>
                  <a:srgbClr val="CE9178"/>
                </a:solidFill>
                <a:latin typeface="Consolas"/>
                <a:ea typeface="Consolas"/>
                <a:cs typeface="Consolas"/>
              </a:rPr>
              <a:t>  SET courses = courses - {'VLSI_Design'}</a:t>
            </a:r>
            <a:endParaRPr lang="en-US" sz="1200"/>
          </a:p>
          <a:p>
            <a:pPr marL="0" indent="0">
              <a:spcAft>
                <a:spcPts val="100"/>
              </a:spcAft>
              <a:buNone/>
              <a:defRPr/>
            </a:pPr>
            <a:r>
              <a:rPr lang="en-US" sz="1200">
                <a:solidFill>
                  <a:srgbClr val="569CD6"/>
                </a:solidFill>
                <a:latin typeface="Consolas"/>
                <a:ea typeface="Consolas"/>
                <a:cs typeface="Consolas"/>
              </a:rPr>
              <a:t>  WHERE student_id = 'S001' AND enrolled_year = 2022;</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Delete a single column value</a:t>
            </a:r>
            <a:endParaRPr lang="en-US" sz="1200"/>
          </a:p>
          <a:p>
            <a:pPr marL="0" indent="0">
              <a:spcAft>
                <a:spcPts val="100"/>
              </a:spcAft>
              <a:buNone/>
              <a:defRPr/>
            </a:pPr>
            <a:r>
              <a:rPr lang="en-US" sz="1200">
                <a:solidFill>
                  <a:srgbClr val="569CD6"/>
                </a:solidFill>
                <a:latin typeface="Consolas"/>
                <a:ea typeface="Consolas"/>
                <a:cs typeface="Consolas"/>
              </a:rPr>
              <a:t>DELETE gpa FROM students WHERE student_id = 'S002' AND enrolled_year = 2023;</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Delete an entire row</a:t>
            </a:r>
            <a:endParaRPr lang="en-US" sz="1200"/>
          </a:p>
          <a:p>
            <a:pPr marL="0" indent="0">
              <a:spcAft>
                <a:spcPts val="100"/>
              </a:spcAft>
              <a:buNone/>
              <a:defRPr/>
            </a:pPr>
            <a:r>
              <a:rPr lang="en-US" sz="1200">
                <a:solidFill>
                  <a:srgbClr val="569CD6"/>
                </a:solidFill>
                <a:latin typeface="Consolas"/>
                <a:ea typeface="Consolas"/>
                <a:cs typeface="Consolas"/>
              </a:rPr>
              <a:t>DELETE FROM students WHERE student_id = 'TEMP01' AND enrolled_year = 2024;</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Verify changes</a:t>
            </a:r>
            <a:endParaRPr lang="en-US" sz="1200"/>
          </a:p>
          <a:p>
            <a:pPr marL="0" indent="0">
              <a:spcAft>
                <a:spcPts val="100"/>
              </a:spcAft>
              <a:buNone/>
              <a:defRPr/>
            </a:pPr>
            <a:r>
              <a:rPr lang="en-US" sz="1200">
                <a:solidFill>
                  <a:srgbClr val="569CD6"/>
                </a:solidFill>
                <a:latin typeface="Consolas"/>
                <a:ea typeface="Consolas"/>
                <a:cs typeface="Consolas"/>
              </a:rPr>
              <a:t>SELECT * FROM students WHERE student_id = 'S001';</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8">
    <p:bg>
      <p:bgPr shadeToTitle="0">
        <a:solidFill>
          <a:srgbClr val="1E2761"/>
        </a:solidFill>
      </p:bgPr>
    </p:bg>
    <p:spTree>
      <p:nvGrpSpPr>
        <p:cNvPr id="1" name=""/>
        <p:cNvGrpSpPr/>
        <p:nvPr/>
      </p:nvGrpSpPr>
      <p:grpSpPr bwMode="auto">
        <a:xfrm>
          <a:off x="0" y="0"/>
          <a:ext cx="0" cy="0"/>
          <a:chOff x="0" y="0"/>
          <a:chExt cx="0" cy="0"/>
        </a:xfrm>
      </p:grpSpPr>
      <p:sp>
        <p:nvSpPr>
          <p:cNvPr id="149294678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846554609"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9 — IoT Sensor Table (Bonus Task)</a:t>
            </a:r>
            <a:endParaRPr lang="en-US" sz="2600"/>
          </a:p>
        </p:txBody>
      </p:sp>
      <p:sp>
        <p:nvSpPr>
          <p:cNvPr id="1608026657"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448595879"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Create a time-series table for sensor readings</a:t>
            </a:r>
            <a:endParaRPr lang="en-US" sz="1200"/>
          </a:p>
          <a:p>
            <a:pPr marL="0" indent="0">
              <a:spcAft>
                <a:spcPts val="100"/>
              </a:spcAft>
              <a:buNone/>
              <a:defRPr/>
            </a:pPr>
            <a:r>
              <a:rPr lang="en-US" sz="1200">
                <a:solidFill>
                  <a:srgbClr val="D4D4D4"/>
                </a:solidFill>
                <a:latin typeface="Consolas"/>
                <a:ea typeface="Consolas"/>
                <a:cs typeface="Consolas"/>
              </a:rPr>
              <a:t>-- This is the most common Cassandra use case in ECE/EE</a:t>
            </a:r>
            <a:endParaRPr lang="en-US" sz="1200"/>
          </a:p>
          <a:p>
            <a:pPr marL="0" indent="0">
              <a:spcAft>
                <a:spcPts val="100"/>
              </a:spcAft>
              <a:buNone/>
              <a:defRPr/>
            </a:pPr>
            <a:r>
              <a:rPr lang="en-US" sz="1200">
                <a:solidFill>
                  <a:srgbClr val="569CD6"/>
                </a:solidFill>
                <a:latin typeface="Consolas"/>
                <a:ea typeface="Consolas"/>
                <a:cs typeface="Consolas"/>
              </a:rPr>
              <a:t>CREATE TABLE IF NOT EXISTS sensor_readings (</a:t>
            </a:r>
            <a:endParaRPr lang="en-US" sz="1200"/>
          </a:p>
          <a:p>
            <a:pPr marL="0" indent="0">
              <a:spcAft>
                <a:spcPts val="100"/>
              </a:spcAft>
              <a:buNone/>
              <a:defRPr/>
            </a:pPr>
            <a:r>
              <a:rPr lang="en-US" sz="1200">
                <a:solidFill>
                  <a:srgbClr val="D4D4D4"/>
                </a:solidFill>
                <a:latin typeface="Consolas"/>
                <a:ea typeface="Consolas"/>
                <a:cs typeface="Consolas"/>
              </a:rPr>
              <a:t>  sensor_id    TEXT,</a:t>
            </a:r>
            <a:endParaRPr lang="en-US" sz="1200"/>
          </a:p>
          <a:p>
            <a:pPr marL="0" indent="0">
              <a:spcAft>
                <a:spcPts val="100"/>
              </a:spcAft>
              <a:buNone/>
              <a:defRPr/>
            </a:pPr>
            <a:r>
              <a:rPr lang="en-US" sz="1200">
                <a:solidFill>
                  <a:srgbClr val="D4D4D4"/>
                </a:solidFill>
                <a:latin typeface="Consolas"/>
                <a:ea typeface="Consolas"/>
                <a:cs typeface="Consolas"/>
              </a:rPr>
              <a:t>  reading_time TIMESTAMP,</a:t>
            </a:r>
            <a:endParaRPr lang="en-US" sz="1200"/>
          </a:p>
          <a:p>
            <a:pPr marL="0" indent="0">
              <a:spcAft>
                <a:spcPts val="100"/>
              </a:spcAft>
              <a:buNone/>
              <a:defRPr/>
            </a:pPr>
            <a:r>
              <a:rPr lang="en-US" sz="1200">
                <a:solidFill>
                  <a:srgbClr val="D4D4D4"/>
                </a:solidFill>
                <a:latin typeface="Consolas"/>
                <a:ea typeface="Consolas"/>
                <a:cs typeface="Consolas"/>
              </a:rPr>
              <a:t>  temperature  FLOAT,</a:t>
            </a:r>
            <a:endParaRPr lang="en-US" sz="1200"/>
          </a:p>
          <a:p>
            <a:pPr marL="0" indent="0">
              <a:spcAft>
                <a:spcPts val="100"/>
              </a:spcAft>
              <a:buNone/>
              <a:defRPr/>
            </a:pPr>
            <a:r>
              <a:rPr lang="en-US" sz="1200">
                <a:solidFill>
                  <a:srgbClr val="D4D4D4"/>
                </a:solidFill>
                <a:latin typeface="Consolas"/>
                <a:ea typeface="Consolas"/>
                <a:cs typeface="Consolas"/>
              </a:rPr>
              <a:t>  humidity     FLOAT,</a:t>
            </a:r>
            <a:endParaRPr lang="en-US" sz="1200"/>
          </a:p>
          <a:p>
            <a:pPr marL="0" indent="0">
              <a:spcAft>
                <a:spcPts val="100"/>
              </a:spcAft>
              <a:buNone/>
              <a:defRPr/>
            </a:pPr>
            <a:r>
              <a:rPr lang="en-US" sz="1200">
                <a:solidFill>
                  <a:srgbClr val="D4D4D4"/>
                </a:solidFill>
                <a:latin typeface="Consolas"/>
                <a:ea typeface="Consolas"/>
                <a:cs typeface="Consolas"/>
              </a:rPr>
              <a:t>  voltage      FLOAT,</a:t>
            </a:r>
            <a:endParaRPr lang="en-US" sz="1200"/>
          </a:p>
          <a:p>
            <a:pPr marL="0" indent="0">
              <a:spcAft>
                <a:spcPts val="100"/>
              </a:spcAft>
              <a:buNone/>
              <a:defRPr/>
            </a:pPr>
            <a:r>
              <a:rPr lang="en-US" sz="1200">
                <a:solidFill>
                  <a:srgbClr val="569CD6"/>
                </a:solidFill>
                <a:latin typeface="Consolas"/>
                <a:ea typeface="Consolas"/>
                <a:cs typeface="Consolas"/>
              </a:rPr>
              <a:t>  PRIMARY KEY ((sensor_id), reading_time)</a:t>
            </a:r>
            <a:endParaRPr lang="en-US" sz="1200"/>
          </a:p>
          <a:p>
            <a:pPr marL="0" indent="0">
              <a:spcAft>
                <a:spcPts val="100"/>
              </a:spcAft>
              <a:buNone/>
              <a:defRPr/>
            </a:pPr>
            <a:r>
              <a:rPr lang="en-US" sz="1200">
                <a:solidFill>
                  <a:srgbClr val="569CD6"/>
                </a:solidFill>
                <a:latin typeface="Consolas"/>
                <a:ea typeface="Consolas"/>
                <a:cs typeface="Consolas"/>
              </a:rPr>
              <a:t>) WITH CLUSTERING ORDER BY (reading_time DESC)</a:t>
            </a:r>
            <a:endParaRPr lang="en-US" sz="1200"/>
          </a:p>
          <a:p>
            <a:pPr marL="0" indent="0">
              <a:spcAft>
                <a:spcPts val="100"/>
              </a:spcAft>
              <a:buNone/>
              <a:defRPr/>
            </a:pPr>
            <a:r>
              <a:rPr lang="en-US" sz="1200">
                <a:solidFill>
                  <a:srgbClr val="D4D4D4"/>
                </a:solidFill>
                <a:latin typeface="Consolas"/>
                <a:ea typeface="Consolas"/>
                <a:cs typeface="Consolas"/>
              </a:rPr>
              <a:t>  AND default_time_to_live = 2592000; -- 30 days TTL</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Insert several readings</a:t>
            </a:r>
            <a:endParaRPr lang="en-US" sz="1200"/>
          </a:p>
          <a:p>
            <a:pPr marL="0" indent="0">
              <a:spcAft>
                <a:spcPts val="100"/>
              </a:spcAft>
              <a:buNone/>
              <a:defRPr/>
            </a:pPr>
            <a:r>
              <a:rPr lang="en-US" sz="1200">
                <a:solidFill>
                  <a:srgbClr val="569CD6"/>
                </a:solidFill>
                <a:latin typeface="Consolas"/>
                <a:ea typeface="Consolas"/>
                <a:cs typeface="Consolas"/>
              </a:rPr>
              <a:t>INSERT INTO sensor_readings (sensor_id, reading_time, temperature, humidity, voltage)</a:t>
            </a:r>
            <a:endParaRPr lang="en-US" sz="1200"/>
          </a:p>
          <a:p>
            <a:pPr marL="0" indent="0">
              <a:spcAft>
                <a:spcPts val="100"/>
              </a:spcAft>
              <a:buNone/>
              <a:defRPr/>
            </a:pPr>
            <a:r>
              <a:rPr lang="en-US" sz="1200">
                <a:solidFill>
                  <a:srgbClr val="CE9178"/>
                </a:solidFill>
                <a:latin typeface="Consolas"/>
                <a:ea typeface="Consolas"/>
                <a:cs typeface="Consolas"/>
              </a:rPr>
              <a:t>VALUES ('SENSOR_ECE_01', '2025-04-25 10:00:00+0000', 23.4, 61.2, 220.1);</a:t>
            </a:r>
            <a:endParaRPr lang="en-US" sz="1200"/>
          </a:p>
          <a:p>
            <a:pPr marL="0" indent="0">
              <a:spcAft>
                <a:spcPts val="100"/>
              </a:spcAft>
              <a:buNone/>
              <a:defRPr/>
            </a:pPr>
            <a:endParaRPr lang="en-US" sz="1200"/>
          </a:p>
          <a:p>
            <a:pPr marL="0" indent="0">
              <a:spcAft>
                <a:spcPts val="100"/>
              </a:spcAft>
              <a:buNone/>
              <a:defRPr/>
            </a:pPr>
            <a:r>
              <a:rPr lang="en-US" sz="1200">
                <a:solidFill>
                  <a:srgbClr val="569CD6"/>
                </a:solidFill>
                <a:latin typeface="Consolas"/>
                <a:ea typeface="Consolas"/>
                <a:cs typeface="Consolas"/>
              </a:rPr>
              <a:t>INSERT INTO sensor_readings (sensor_id, reading_time, temperature, humidity, voltage)</a:t>
            </a:r>
            <a:endParaRPr lang="en-US" sz="1200"/>
          </a:p>
          <a:p>
            <a:pPr marL="0" indent="0">
              <a:spcAft>
                <a:spcPts val="100"/>
              </a:spcAft>
              <a:buNone/>
              <a:defRPr/>
            </a:pPr>
            <a:r>
              <a:rPr lang="en-US" sz="1200">
                <a:solidFill>
                  <a:srgbClr val="CE9178"/>
                </a:solidFill>
                <a:latin typeface="Consolas"/>
                <a:ea typeface="Consolas"/>
                <a:cs typeface="Consolas"/>
              </a:rPr>
              <a:t>VALUES ('SENSOR_ECE_01', '2025-04-25 10:01:00+0000', 23.6, 61.0, 219.9);</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Get last 10 readings for sensor</a:t>
            </a:r>
            <a:endParaRPr lang="en-US" sz="1200"/>
          </a:p>
          <a:p>
            <a:pPr marL="0" indent="0">
              <a:spcAft>
                <a:spcPts val="100"/>
              </a:spcAft>
              <a:buNone/>
              <a:defRPr/>
            </a:pPr>
            <a:r>
              <a:rPr lang="en-US" sz="1200">
                <a:solidFill>
                  <a:srgbClr val="569CD6"/>
                </a:solidFill>
                <a:latin typeface="Consolas"/>
                <a:ea typeface="Consolas"/>
                <a:cs typeface="Consolas"/>
              </a:rPr>
              <a:t>SELECT * FROM sensor_readings WHERE sensor_id = 'SENSOR_ECE_01' LIMIT 10;</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9">
    <p:bg>
      <p:bgPr shadeToTitle="0">
        <a:solidFill>
          <a:srgbClr val="1E2761"/>
        </a:solidFill>
      </p:bgPr>
    </p:bg>
    <p:spTree>
      <p:nvGrpSpPr>
        <p:cNvPr id="1" name=""/>
        <p:cNvGrpSpPr/>
        <p:nvPr/>
      </p:nvGrpSpPr>
      <p:grpSpPr bwMode="auto">
        <a:xfrm>
          <a:off x="0" y="0"/>
          <a:ext cx="0" cy="0"/>
          <a:chOff x="0" y="0"/>
          <a:chExt cx="0" cy="0"/>
        </a:xfrm>
      </p:grpSpPr>
      <p:sp>
        <p:nvSpPr>
          <p:cNvPr id="1921114945"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547332421"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10 — Inspect Cluster &amp; Cleanup</a:t>
            </a:r>
            <a:endParaRPr lang="en-US" sz="2600"/>
          </a:p>
        </p:txBody>
      </p:sp>
      <p:sp>
        <p:nvSpPr>
          <p:cNvPr id="808116731"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93734691"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D4D4D4"/>
                </a:solidFill>
                <a:latin typeface="Consolas"/>
                <a:ea typeface="Consolas"/>
                <a:cs typeface="Consolas"/>
              </a:rPr>
              <a:t>-- Check cluster information from cqlsh</a:t>
            </a:r>
            <a:endParaRPr lang="en-US" sz="1200"/>
          </a:p>
          <a:p>
            <a:pPr marL="0" indent="0">
              <a:spcAft>
                <a:spcPts val="100"/>
              </a:spcAft>
              <a:buNone/>
              <a:defRPr/>
            </a:pPr>
            <a:r>
              <a:rPr lang="en-US" sz="1200">
                <a:solidFill>
                  <a:srgbClr val="569CD6"/>
                </a:solidFill>
                <a:latin typeface="Consolas"/>
                <a:ea typeface="Consolas"/>
                <a:cs typeface="Consolas"/>
              </a:rPr>
              <a:t>SELECT cluster_name, data_center, rack FROM system.local;</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Check all nodes in the cluster (just one for dev)</a:t>
            </a:r>
            <a:endParaRPr lang="en-US" sz="1200"/>
          </a:p>
          <a:p>
            <a:pPr marL="0" indent="0">
              <a:spcAft>
                <a:spcPts val="100"/>
              </a:spcAft>
              <a:buNone/>
              <a:defRPr/>
            </a:pPr>
            <a:r>
              <a:rPr lang="en-US" sz="1200">
                <a:solidFill>
                  <a:srgbClr val="569CD6"/>
                </a:solidFill>
                <a:latin typeface="Consolas"/>
                <a:ea typeface="Consolas"/>
                <a:cs typeface="Consolas"/>
              </a:rPr>
              <a:t>SELECT peer, data_center, rack, release_version</a:t>
            </a:r>
            <a:endParaRPr lang="en-US" sz="1200"/>
          </a:p>
          <a:p>
            <a:pPr marL="0" indent="0">
              <a:spcAft>
                <a:spcPts val="100"/>
              </a:spcAft>
              <a:buNone/>
              <a:defRPr/>
            </a:pPr>
            <a:r>
              <a:rPr lang="en-US" sz="1200">
                <a:solidFill>
                  <a:srgbClr val="569CD6"/>
                </a:solidFill>
                <a:latin typeface="Consolas"/>
                <a:ea typeface="Consolas"/>
                <a:cs typeface="Consolas"/>
              </a:rPr>
              <a:t>  FROM system.peers;</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Check token ranges and ownership</a:t>
            </a:r>
            <a:endParaRPr lang="en-US" sz="1200"/>
          </a:p>
          <a:p>
            <a:pPr marL="0" indent="0">
              <a:spcAft>
                <a:spcPts val="100"/>
              </a:spcAft>
              <a:buNone/>
              <a:defRPr/>
            </a:pPr>
            <a:r>
              <a:rPr lang="en-US" sz="1200">
                <a:solidFill>
                  <a:srgbClr val="D4D4D4"/>
                </a:solidFill>
                <a:latin typeface="Consolas"/>
                <a:ea typeface="Consolas"/>
                <a:cs typeface="Consolas"/>
              </a:rPr>
              <a:t>-- (in a multi-node cluster this shows distribution)</a:t>
            </a:r>
            <a:endParaRPr lang="en-US" sz="1200"/>
          </a:p>
          <a:p>
            <a:pPr marL="0" indent="0">
              <a:spcAft>
                <a:spcPts val="100"/>
              </a:spcAft>
              <a:buNone/>
              <a:defRPr/>
            </a:pPr>
            <a:r>
              <a:rPr lang="en-US" sz="1200">
                <a:solidFill>
                  <a:srgbClr val="569CD6"/>
                </a:solidFill>
                <a:latin typeface="Consolas"/>
                <a:ea typeface="Consolas"/>
                <a:cs typeface="Consolas"/>
              </a:rPr>
              <a:t>SELECT tokens FROM system.local;</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Drop the keyspace (cleanup)</a:t>
            </a:r>
            <a:endParaRPr lang="en-US" sz="1200"/>
          </a:p>
          <a:p>
            <a:pPr marL="0" indent="0">
              <a:spcAft>
                <a:spcPts val="100"/>
              </a:spcAft>
              <a:buNone/>
              <a:defRPr/>
            </a:pPr>
            <a:r>
              <a:rPr lang="en-US" sz="1200">
                <a:solidFill>
                  <a:srgbClr val="D4D4D4"/>
                </a:solidFill>
                <a:latin typeface="Consolas"/>
                <a:ea typeface="Consolas"/>
                <a:cs typeface="Consolas"/>
              </a:rPr>
              <a:t>DROP KEYSPACE IF EXISTS university;</a:t>
            </a:r>
            <a:endParaRPr lang="en-US" sz="1200"/>
          </a:p>
          <a:p>
            <a:pPr marL="0" indent="0">
              <a:spcAft>
                <a:spcPts val="100"/>
              </a:spcAft>
              <a:buNone/>
              <a:defRPr/>
            </a:pPr>
            <a:endParaRPr lang="en-US" sz="1200"/>
          </a:p>
          <a:p>
            <a:pPr marL="0" indent="0">
              <a:spcAft>
                <a:spcPts val="100"/>
              </a:spcAft>
              <a:buNone/>
              <a:defRPr/>
            </a:pPr>
            <a:r>
              <a:rPr lang="en-US" sz="1200">
                <a:solidFill>
                  <a:srgbClr val="D4D4D4"/>
                </a:solidFill>
                <a:latin typeface="Consolas"/>
                <a:ea typeface="Consolas"/>
                <a:cs typeface="Consolas"/>
              </a:rPr>
              <a:t>-- Exit cqlsh</a:t>
            </a:r>
            <a:endParaRPr lang="en-US" sz="1200"/>
          </a:p>
          <a:p>
            <a:pPr marL="0" indent="0">
              <a:spcAft>
                <a:spcPts val="100"/>
              </a:spcAft>
              <a:buNone/>
              <a:defRPr/>
            </a:pPr>
            <a:r>
              <a:rPr lang="en-US" sz="1200">
                <a:solidFill>
                  <a:srgbClr val="D4D4D4"/>
                </a:solidFill>
                <a:latin typeface="Consolas"/>
                <a:ea typeface="Consolas"/>
                <a:cs typeface="Consolas"/>
              </a:rPr>
              <a:t>EXIT;</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Back in the Linux terminal: stop and remove the container</a:t>
            </a:r>
            <a:endParaRPr lang="en-US" sz="1200"/>
          </a:p>
          <a:p>
            <a:pPr marL="0" indent="0">
              <a:spcAft>
                <a:spcPts val="100"/>
              </a:spcAft>
              <a:buNone/>
              <a:defRPr/>
            </a:pPr>
            <a:r>
              <a:rPr lang="en-US" sz="1200">
                <a:solidFill>
                  <a:srgbClr val="D4D4D4"/>
                </a:solidFill>
                <a:latin typeface="Consolas"/>
                <a:ea typeface="Consolas"/>
                <a:cs typeface="Consolas"/>
              </a:rPr>
              <a:t>docker stop cassandra-lab</a:t>
            </a:r>
            <a:endParaRPr lang="en-US" sz="1200"/>
          </a:p>
          <a:p>
            <a:pPr marL="0" indent="0">
              <a:spcAft>
                <a:spcPts val="100"/>
              </a:spcAft>
              <a:buNone/>
              <a:defRPr/>
            </a:pPr>
            <a:r>
              <a:rPr lang="en-US" sz="1200">
                <a:solidFill>
                  <a:srgbClr val="D4D4D4"/>
                </a:solidFill>
                <a:latin typeface="Consolas"/>
                <a:ea typeface="Consolas"/>
                <a:cs typeface="Consolas"/>
              </a:rPr>
              <a:t>docker rm cassandra-lab</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Verify container is removed</a:t>
            </a:r>
            <a:endParaRPr lang="en-US" sz="1200"/>
          </a:p>
          <a:p>
            <a:pPr marL="0" indent="0">
              <a:spcAft>
                <a:spcPts val="100"/>
              </a:spcAft>
              <a:buNone/>
              <a:defRPr/>
            </a:pPr>
            <a:r>
              <a:rPr lang="en-US" sz="1200">
                <a:solidFill>
                  <a:srgbClr val="D4D4D4"/>
                </a:solidFill>
                <a:latin typeface="Consolas"/>
                <a:ea typeface="Consolas"/>
                <a:cs typeface="Consolas"/>
              </a:rPr>
              <a:t>docker ps -a</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0">
    <p:bg>
      <p:bgPr shadeToTitle="0">
        <a:solidFill>
          <a:srgbClr val="1E2761"/>
        </a:solidFill>
      </p:bgPr>
    </p:bg>
    <p:spTree>
      <p:nvGrpSpPr>
        <p:cNvPr id="1" name=""/>
        <p:cNvGrpSpPr/>
        <p:nvPr/>
      </p:nvGrpSpPr>
      <p:grpSpPr bwMode="auto">
        <a:xfrm>
          <a:off x="0" y="0"/>
          <a:ext cx="0" cy="0"/>
          <a:chOff x="0" y="0"/>
          <a:chExt cx="0" cy="0"/>
        </a:xfrm>
      </p:grpSpPr>
      <p:sp>
        <p:nvSpPr>
          <p:cNvPr id="650580497"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134002167"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Step 11 — Advanced: nodetool (Cluster Management)</a:t>
            </a:r>
            <a:endParaRPr lang="en-US" sz="2600"/>
          </a:p>
        </p:txBody>
      </p:sp>
      <p:sp>
        <p:nvSpPr>
          <p:cNvPr id="1260745447" name="Shape 2"/>
          <p:cNvSpPr/>
          <p:nvPr/>
        </p:nvSpPr>
        <p:spPr bwMode="auto">
          <a:xfrm>
            <a:off x="457200" y="914400"/>
            <a:ext cx="8229600" cy="3886200"/>
          </a:xfrm>
          <a:prstGeom prst="rect">
            <a:avLst/>
          </a:prstGeom>
          <a:solidFill>
            <a:srgbClr val="0D1117"/>
          </a:solidFill>
          <a:ln w="12700">
            <a:solidFill>
              <a:srgbClr val="4FC3F7"/>
            </a:solidFill>
            <a:prstDash val="solid"/>
          </a:ln>
        </p:spPr>
      </p:sp>
      <p:sp>
        <p:nvSpPr>
          <p:cNvPr id="1171904192" name="Text 3"/>
          <p:cNvSpPr/>
          <p:nvPr/>
        </p:nvSpPr>
        <p:spPr bwMode="auto">
          <a:xfrm>
            <a:off x="731520" y="1097280"/>
            <a:ext cx="7772400" cy="3474720"/>
          </a:xfrm>
          <a:prstGeom prst="rect">
            <a:avLst/>
          </a:prstGeom>
          <a:noFill/>
          <a:ln/>
        </p:spPr>
        <p:txBody>
          <a:bodyPr wrap="square" rtlCol="0" anchor="ctr"/>
          <a:lstStyle/>
          <a:p>
            <a:pPr marL="0" indent="0">
              <a:spcAft>
                <a:spcPts val="100"/>
              </a:spcAft>
              <a:buNone/>
              <a:defRPr/>
            </a:pPr>
            <a:r>
              <a:rPr lang="en-US" sz="1200">
                <a:solidFill>
                  <a:srgbClr val="6A9955"/>
                </a:solidFill>
                <a:latin typeface="Consolas"/>
                <a:ea typeface="Consolas"/>
                <a:cs typeface="Consolas"/>
              </a:rPr>
              <a:t># nodetool: the Cassandra administration command-line tool</a:t>
            </a:r>
            <a:endParaRPr lang="en-US" sz="1200"/>
          </a:p>
          <a:p>
            <a:pPr marL="0" indent="0">
              <a:spcAft>
                <a:spcPts val="100"/>
              </a:spcAft>
              <a:buNone/>
              <a:defRPr/>
            </a:pPr>
            <a:r>
              <a:rPr lang="en-US" sz="1200">
                <a:solidFill>
                  <a:srgbClr val="6A9955"/>
                </a:solidFill>
                <a:latin typeface="Consolas"/>
                <a:ea typeface="Consolas"/>
                <a:cs typeface="Consolas"/>
              </a:rPr>
              <a:t># Run it inside the container</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Check cluster status -- shows node health, load, token ownership</a:t>
            </a:r>
            <a:endParaRPr lang="en-US" sz="1200"/>
          </a:p>
          <a:p>
            <a:pPr marL="0" indent="0">
              <a:spcAft>
                <a:spcPts val="100"/>
              </a:spcAft>
              <a:buNone/>
              <a:defRPr/>
            </a:pPr>
            <a:r>
              <a:rPr lang="en-US" sz="1200">
                <a:solidFill>
                  <a:srgbClr val="D4D4D4"/>
                </a:solidFill>
                <a:latin typeface="Consolas"/>
                <a:ea typeface="Consolas"/>
                <a:cs typeface="Consolas"/>
              </a:rPr>
              <a:t>docker exec cassandra-lab nodetool status</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Expected output (single node):</a:t>
            </a:r>
            <a:endParaRPr lang="en-US" sz="1200"/>
          </a:p>
          <a:p>
            <a:pPr marL="0" indent="0">
              <a:spcAft>
                <a:spcPts val="100"/>
              </a:spcAft>
              <a:buNone/>
              <a:defRPr/>
            </a:pPr>
            <a:r>
              <a:rPr lang="en-US" sz="1200">
                <a:solidFill>
                  <a:srgbClr val="6A9955"/>
                </a:solidFill>
                <a:latin typeface="Consolas"/>
                <a:ea typeface="Consolas"/>
                <a:cs typeface="Consolas"/>
              </a:rPr>
              <a:t># Datacenter: datacenter1</a:t>
            </a:r>
            <a:endParaRPr lang="en-US" sz="1200"/>
          </a:p>
          <a:p>
            <a:pPr marL="0" indent="0">
              <a:spcAft>
                <a:spcPts val="100"/>
              </a:spcAft>
              <a:buNone/>
              <a:defRPr/>
            </a:pPr>
            <a:r>
              <a:rPr lang="en-US" sz="1200">
                <a:solidFill>
                  <a:srgbClr val="6A9955"/>
                </a:solidFill>
                <a:latin typeface="Consolas"/>
                <a:ea typeface="Consolas"/>
                <a:cs typeface="Consolas"/>
              </a:rPr>
              <a:t># Status=Up/Down, State=Normal/Leaving/Joining/Moving</a:t>
            </a:r>
            <a:endParaRPr lang="en-US" sz="1200"/>
          </a:p>
          <a:p>
            <a:pPr marL="0" indent="0">
              <a:spcAft>
                <a:spcPts val="100"/>
              </a:spcAft>
              <a:buNone/>
              <a:defRPr/>
            </a:pPr>
            <a:r>
              <a:rPr lang="en-US" sz="1200">
                <a:solidFill>
                  <a:srgbClr val="6A9955"/>
                </a:solidFill>
                <a:latin typeface="Consolas"/>
                <a:ea typeface="Consolas"/>
                <a:cs typeface="Consolas"/>
              </a:rPr>
              <a:t># Address        Load       Tokens Owns  Host ID          Rack</a:t>
            </a:r>
            <a:endParaRPr lang="en-US" sz="1200"/>
          </a:p>
          <a:p>
            <a:pPr marL="0" indent="0">
              <a:spcAft>
                <a:spcPts val="100"/>
              </a:spcAft>
              <a:buNone/>
              <a:defRPr/>
            </a:pPr>
            <a:r>
              <a:rPr lang="en-US" sz="1200">
                <a:solidFill>
                  <a:srgbClr val="6A9955"/>
                </a:solidFill>
                <a:latin typeface="Consolas"/>
                <a:ea typeface="Consolas"/>
                <a:cs typeface="Consolas"/>
              </a:rPr>
              <a:t># UN 127.0.0.1   100KB      256    100%  &lt;uuid&gt;           rack1</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Show ring token assignments</a:t>
            </a:r>
            <a:endParaRPr lang="en-US" sz="1200"/>
          </a:p>
          <a:p>
            <a:pPr marL="0" indent="0">
              <a:spcAft>
                <a:spcPts val="100"/>
              </a:spcAft>
              <a:buNone/>
              <a:defRPr/>
            </a:pPr>
            <a:r>
              <a:rPr lang="en-US" sz="1200">
                <a:solidFill>
                  <a:srgbClr val="D4D4D4"/>
                </a:solidFill>
                <a:latin typeface="Consolas"/>
                <a:ea typeface="Consolas"/>
                <a:cs typeface="Consolas"/>
              </a:rPr>
              <a:t>docker exec cassandra-lab nodetool ring</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Check compaction statistics</a:t>
            </a:r>
            <a:endParaRPr lang="en-US" sz="1200"/>
          </a:p>
          <a:p>
            <a:pPr marL="0" indent="0">
              <a:spcAft>
                <a:spcPts val="100"/>
              </a:spcAft>
              <a:buNone/>
              <a:defRPr/>
            </a:pPr>
            <a:r>
              <a:rPr lang="en-US" sz="1200">
                <a:solidFill>
                  <a:srgbClr val="D4D4D4"/>
                </a:solidFill>
                <a:latin typeface="Consolas"/>
                <a:ea typeface="Consolas"/>
                <a:cs typeface="Consolas"/>
              </a:rPr>
              <a:t>docker exec cassandra-lab nodetool compactionstats</a:t>
            </a:r>
            <a:endParaRPr lang="en-US" sz="1200"/>
          </a:p>
          <a:p>
            <a:pPr marL="0" indent="0">
              <a:spcAft>
                <a:spcPts val="100"/>
              </a:spcAft>
              <a:buNone/>
              <a:defRPr/>
            </a:pPr>
            <a:endParaRPr lang="en-US" sz="1200"/>
          </a:p>
          <a:p>
            <a:pPr marL="0" indent="0">
              <a:spcAft>
                <a:spcPts val="100"/>
              </a:spcAft>
              <a:buNone/>
              <a:defRPr/>
            </a:pPr>
            <a:r>
              <a:rPr lang="en-US" sz="1200">
                <a:solidFill>
                  <a:srgbClr val="6A9955"/>
                </a:solidFill>
                <a:latin typeface="Consolas"/>
                <a:ea typeface="Consolas"/>
                <a:cs typeface="Consolas"/>
              </a:rPr>
              <a:t># Trigger manual compaction on keyspace</a:t>
            </a:r>
            <a:endParaRPr lang="en-US" sz="1200"/>
          </a:p>
          <a:p>
            <a:pPr marL="0" indent="0">
              <a:spcAft>
                <a:spcPts val="100"/>
              </a:spcAft>
              <a:buNone/>
              <a:defRPr/>
            </a:pPr>
            <a:r>
              <a:rPr lang="en-US" sz="1200">
                <a:solidFill>
                  <a:srgbClr val="D4D4D4"/>
                </a:solidFill>
                <a:latin typeface="Consolas"/>
                <a:ea typeface="Consolas"/>
                <a:cs typeface="Consolas"/>
              </a:rPr>
              <a:t>docker exec cassandra-lab nodetool compact university</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1">
    <p:bg>
      <p:bgPr shadeToTitle="0">
        <a:solidFill>
          <a:srgbClr val="1E2761"/>
        </a:solidFill>
      </p:bgPr>
    </p:bg>
    <p:spTree>
      <p:nvGrpSpPr>
        <p:cNvPr id="1" name=""/>
        <p:cNvGrpSpPr/>
        <p:nvPr/>
      </p:nvGrpSpPr>
      <p:grpSpPr bwMode="auto">
        <a:xfrm>
          <a:off x="0" y="0"/>
          <a:ext cx="0" cy="0"/>
          <a:chOff x="0" y="0"/>
          <a:chExt cx="0" cy="0"/>
        </a:xfrm>
      </p:grpSpPr>
      <p:sp>
        <p:nvSpPr>
          <p:cNvPr id="2083317028"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834882415"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Common Errors &amp; Troubleshooting</a:t>
            </a:r>
            <a:endParaRPr lang="en-US" sz="2600"/>
          </a:p>
        </p:txBody>
      </p:sp>
      <p:sp>
        <p:nvSpPr>
          <p:cNvPr id="525673053"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cqlsh: NoHostAvailable — Cassandra not ready yet; wait 30s and retry or check docker logs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Cannot execute this query as it might involve data filtering — add ALLOW FILTERING or redesign schema</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InvalidRequest: Non PRIMARY KEY columns found in where clause — you cannot filter on a non-key column</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write timeout — RF mismatch with consistency level; for single node always use CL ONE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Column family 'x' does not exist — forgot to USE keyspace; run USE university;</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docker: Error response from daemon: port is already allocated — port 9042 in use; change -p flag</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Compaction is paused due to tombstones threshold — too many deletes; run nodetool compact</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2">
    <p:bg>
      <p:bgPr shadeToTitle="0">
        <a:solidFill>
          <a:srgbClr val="1E2761"/>
        </a:solidFill>
      </p:bgPr>
    </p:bg>
    <p:spTree>
      <p:nvGrpSpPr>
        <p:cNvPr id="1" name=""/>
        <p:cNvGrpSpPr/>
        <p:nvPr/>
      </p:nvGrpSpPr>
      <p:grpSpPr bwMode="auto">
        <a:xfrm>
          <a:off x="0" y="0"/>
          <a:ext cx="0" cy="0"/>
          <a:chOff x="0" y="0"/>
          <a:chExt cx="0" cy="0"/>
        </a:xfrm>
      </p:grpSpPr>
      <p:sp>
        <p:nvSpPr>
          <p:cNvPr id="585737698"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514125567" name="Text 1"/>
          <p:cNvSpPr/>
          <p:nvPr/>
        </p:nvSpPr>
        <p:spPr bwMode="auto">
          <a:xfrm>
            <a:off x="457200" y="1645920"/>
            <a:ext cx="8229600" cy="731520"/>
          </a:xfrm>
          <a:prstGeom prst="rect">
            <a:avLst/>
          </a:prstGeom>
          <a:noFill/>
          <a:ln/>
        </p:spPr>
        <p:txBody>
          <a:bodyPr wrap="square" rtlCol="0" anchor="ctr"/>
          <a:lstStyle/>
          <a:p>
            <a:pPr marL="0" indent="0">
              <a:buNone/>
              <a:defRPr/>
            </a:pPr>
            <a:r>
              <a:rPr lang="en-US" sz="3200" b="1">
                <a:solidFill>
                  <a:srgbClr val="FFFFFF"/>
                </a:solidFill>
                <a:latin typeface="Trebuchet MS"/>
                <a:ea typeface="Trebuchet MS"/>
                <a:cs typeface="Trebuchet MS"/>
              </a:rPr>
              <a:t>Summary</a:t>
            </a:r>
            <a:endParaRPr lang="en-US" sz="3200"/>
          </a:p>
        </p:txBody>
      </p:sp>
      <p:sp>
        <p:nvSpPr>
          <p:cNvPr id="272825898" name="Text 2"/>
          <p:cNvSpPr/>
          <p:nvPr/>
        </p:nvSpPr>
        <p:spPr bwMode="auto">
          <a:xfrm>
            <a:off x="457200" y="2468880"/>
            <a:ext cx="8229600" cy="548640"/>
          </a:xfrm>
          <a:prstGeom prst="rect">
            <a:avLst/>
          </a:prstGeom>
          <a:noFill/>
          <a:ln/>
        </p:spPr>
        <p:txBody>
          <a:bodyPr wrap="square" rtlCol="0" anchor="ctr"/>
          <a:lstStyle/>
          <a:p>
            <a:pPr marL="0" indent="0">
              <a:buNone/>
              <a:defRPr/>
            </a:pPr>
            <a:r>
              <a:rPr lang="en-US" sz="1800" i="1">
                <a:solidFill>
                  <a:srgbClr val="4FC3F7"/>
                </a:solidFill>
                <a:latin typeface="Calibri"/>
                <a:ea typeface="Calibri"/>
                <a:cs typeface="Calibri"/>
              </a:rPr>
              <a:t>Key Takeaways from Today's Lecture</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3">
    <p:bg>
      <p:bgPr shadeToTitle="0">
        <a:solidFill>
          <a:srgbClr val="1E2761"/>
        </a:solidFill>
      </p:bgPr>
    </p:bg>
    <p:spTree>
      <p:nvGrpSpPr>
        <p:cNvPr id="1" name=""/>
        <p:cNvGrpSpPr/>
        <p:nvPr/>
      </p:nvGrpSpPr>
      <p:grpSpPr bwMode="auto">
        <a:xfrm>
          <a:off x="0" y="0"/>
          <a:ext cx="0" cy="0"/>
          <a:chOff x="0" y="0"/>
          <a:chExt cx="0" cy="0"/>
        </a:xfrm>
      </p:grpSpPr>
      <p:sp>
        <p:nvSpPr>
          <p:cNvPr id="1961789440"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200515415"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What We Learned Today</a:t>
            </a:r>
            <a:endParaRPr lang="en-US" sz="2600"/>
          </a:p>
        </p:txBody>
      </p:sp>
      <p:sp>
        <p:nvSpPr>
          <p:cNvPr id="873344983" name="Text 2"/>
          <p:cNvSpPr/>
          <p:nvPr/>
        </p:nvSpPr>
        <p:spPr bwMode="auto">
          <a:xfrm>
            <a:off x="548640" y="914400"/>
            <a:ext cx="8046720" cy="3931920"/>
          </a:xfrm>
          <a:prstGeom prst="rect">
            <a:avLst/>
          </a:prstGeom>
          <a:noFill/>
          <a:ln/>
        </p:spPr>
        <p:txBody>
          <a:bodyPr wrap="square" rtlCol="0" anchor="ctr"/>
          <a:lstStyle/>
          <a:p>
            <a:pPr marL="342900" indent="-342900">
              <a:spcAft>
                <a:spcPts val="600"/>
              </a:spcAft>
              <a:buSzPct val="100000"/>
              <a:buChar char="►"/>
              <a:defRPr/>
            </a:pPr>
            <a:r>
              <a:rPr lang="en-US" sz="1500">
                <a:solidFill>
                  <a:srgbClr val="FFFFFF"/>
                </a:solidFill>
                <a:latin typeface="Calibri"/>
                <a:ea typeface="Calibri"/>
                <a:cs typeface="Calibri"/>
              </a:rPr>
              <a:t>Column-family databases store data in sparse rows with dynamic column sets — inspired by Google Bigtable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The data model: Keyspace → Column Family → Partition Key → Clustering Key → Columns</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Write path: CommitLog + MemTable → SSTable (append-only, sequential writes = speed)</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Partition key determines data placement; clustering key determines on-disk sort order</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Apache Cassandra: peer-to-peer ring, tunable consistency, industry gold standard</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Apache HBase: strong consistency, Hadoop-integrated, CP system with master architecture</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ScyllaDB: C++20 rewrite, shard-per-core, dramatically lower latency than Java Cassandra</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CQL enforces query-driven design — model tables around query patterns, not normalisation</a:t>
            </a:r>
            <a:endParaRPr lang="en-US" sz="1500"/>
          </a:p>
          <a:p>
            <a:pPr marL="342900" indent="-342900">
              <a:spcAft>
                <a:spcPts val="600"/>
              </a:spcAft>
              <a:buSzPct val="100000"/>
              <a:buChar char="►"/>
              <a:defRPr/>
            </a:pPr>
            <a:r>
              <a:rPr lang="en-US" sz="1500">
                <a:solidFill>
                  <a:srgbClr val="FFFFFF"/>
                </a:solidFill>
                <a:latin typeface="Calibri"/>
                <a:ea typeface="Calibri"/>
                <a:cs typeface="Calibri"/>
              </a:rPr>
              <a:t>Real-world: Netflix, Apple, Discord, IoT platforms all rely on column-family databases</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4">
    <p:bg>
      <p:bgPr shadeToTitle="0">
        <a:solidFill>
          <a:srgbClr val="1E2761"/>
        </a:solidFill>
      </p:bgPr>
    </p:bg>
    <p:spTree>
      <p:nvGrpSpPr>
        <p:cNvPr id="1" name=""/>
        <p:cNvGrpSpPr/>
        <p:nvPr/>
      </p:nvGrpSpPr>
      <p:grpSpPr bwMode="auto">
        <a:xfrm>
          <a:off x="0" y="0"/>
          <a:ext cx="0" cy="0"/>
          <a:chOff x="0" y="0"/>
          <a:chExt cx="0" cy="0"/>
        </a:xfrm>
      </p:grpSpPr>
      <p:sp>
        <p:nvSpPr>
          <p:cNvPr id="1871400406" name="Shape 0"/>
          <p:cNvSpPr/>
          <p:nvPr/>
        </p:nvSpPr>
        <p:spPr bwMode="auto">
          <a:xfrm>
            <a:off x="457200" y="777240"/>
            <a:ext cx="1097280" cy="36576"/>
          </a:xfrm>
          <a:prstGeom prst="rect">
            <a:avLst/>
          </a:prstGeom>
          <a:solidFill>
            <a:srgbClr val="4FC3F7"/>
          </a:solidFill>
          <a:ln w="12700">
            <a:solidFill>
              <a:srgbClr val="4FC3F7"/>
            </a:solidFill>
            <a:prstDash val="solid"/>
          </a:ln>
        </p:spPr>
      </p:sp>
      <p:sp>
        <p:nvSpPr>
          <p:cNvPr id="1606830786" name="Text 1"/>
          <p:cNvSpPr/>
          <p:nvPr/>
        </p:nvSpPr>
        <p:spPr bwMode="auto">
          <a:xfrm>
            <a:off x="457200" y="164592"/>
            <a:ext cx="8229600" cy="594360"/>
          </a:xfrm>
          <a:prstGeom prst="rect">
            <a:avLst/>
          </a:prstGeom>
          <a:noFill/>
          <a:ln/>
        </p:spPr>
        <p:txBody>
          <a:bodyPr wrap="square" lIns="0" tIns="0" rIns="0" bIns="0" rtlCol="0" anchor="ctr"/>
          <a:lstStyle/>
          <a:p>
            <a:pPr marL="0" indent="0">
              <a:buNone/>
              <a:defRPr/>
            </a:pPr>
            <a:r>
              <a:rPr lang="en-US" sz="2600" b="1">
                <a:solidFill>
                  <a:srgbClr val="FFFFFF"/>
                </a:solidFill>
                <a:latin typeface="Trebuchet MS"/>
                <a:ea typeface="Trebuchet MS"/>
                <a:cs typeface="Trebuchet MS"/>
              </a:rPr>
              <a:t>Next Steps &amp; Further Reading</a:t>
            </a:r>
            <a:endParaRPr lang="en-US" sz="2600"/>
          </a:p>
        </p:txBody>
      </p:sp>
      <p:sp>
        <p:nvSpPr>
          <p:cNvPr id="1467922467" name="Shape 2"/>
          <p:cNvSpPr/>
          <p:nvPr/>
        </p:nvSpPr>
        <p:spPr bwMode="auto">
          <a:xfrm>
            <a:off x="4434840" y="914400"/>
            <a:ext cx="36576" cy="3474720"/>
          </a:xfrm>
          <a:prstGeom prst="rect">
            <a:avLst/>
          </a:prstGeom>
          <a:solidFill>
            <a:srgbClr val="4FC3F7"/>
          </a:solidFill>
          <a:ln w="12700">
            <a:solidFill>
              <a:srgbClr val="4FC3F7"/>
            </a:solidFill>
            <a:prstDash val="solid"/>
          </a:ln>
        </p:spPr>
      </p:sp>
      <p:sp>
        <p:nvSpPr>
          <p:cNvPr id="1747043995" name="Text 3"/>
          <p:cNvSpPr/>
          <p:nvPr/>
        </p:nvSpPr>
        <p:spPr bwMode="auto">
          <a:xfrm>
            <a:off x="457200" y="914400"/>
            <a:ext cx="384048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REQUIRED READING</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Chang et al. (2006) — Bigtable: A Distributed Storage System for Structured Data (Google)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Discord Engineering Blog — Cassandra to ScyllaDB migration (2023)</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Cassandra Data Modeling (datastax.com/learn)</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TOOLS TO EXPLORE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DataStax Studio — GUI for Cassandra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Apache Cassandra Docs — cassandra.apache.org</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ScyllaDB University (free online)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DataStax Free Tier (Astra DB cloud)</a:t>
            </a:r>
            <a:endParaRPr lang="en-US" sz="1400"/>
          </a:p>
        </p:txBody>
      </p:sp>
      <p:sp>
        <p:nvSpPr>
          <p:cNvPr id="660466191" name="Text 4"/>
          <p:cNvSpPr/>
          <p:nvPr/>
        </p:nvSpPr>
        <p:spPr bwMode="auto">
          <a:xfrm>
            <a:off x="4572000" y="914400"/>
            <a:ext cx="4206240" cy="3657600"/>
          </a:xfrm>
          <a:prstGeom prst="rect">
            <a:avLst/>
          </a:prstGeom>
          <a:noFill/>
          <a:ln/>
        </p:spPr>
        <p:txBody>
          <a:bodyPr wrap="square" rtlCol="0" anchor="ctr"/>
          <a:lstStyle/>
          <a:p>
            <a:pPr marL="342900" indent="-342900">
              <a:spcAft>
                <a:spcPts val="700"/>
              </a:spcAft>
              <a:buSzPct val="100000"/>
              <a:buChar char="►"/>
              <a:defRPr/>
            </a:pPr>
            <a:r>
              <a:rPr lang="en-US" sz="1400">
                <a:solidFill>
                  <a:srgbClr val="FFFFFF"/>
                </a:solidFill>
                <a:latin typeface="Calibri"/>
                <a:ea typeface="Calibri"/>
                <a:cs typeface="Calibri"/>
              </a:rPr>
              <a:t>WEEK 7 PREVIEW</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Graph Databases: Neo4j and network data</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Difference between property graphs and RDF</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Cypher query language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Use cases: fraud detection, social networks, knowledge graphs</a:t>
            </a:r>
            <a:endParaRPr lang="en-US" sz="1400"/>
          </a:p>
          <a:p>
            <a:pPr marL="342900" indent="-342900">
              <a:spcAft>
                <a:spcPts val="700"/>
              </a:spcAft>
              <a:buSzPct val="100000"/>
              <a:buChar char="►"/>
              <a:defRPr/>
            </a:pPr>
            <a:endParaRPr lang="en-US" sz="1400"/>
          </a:p>
          <a:p>
            <a:pPr marL="342900" indent="-342900">
              <a:spcAft>
                <a:spcPts val="700"/>
              </a:spcAft>
              <a:buSzPct val="100000"/>
              <a:buChar char="►"/>
              <a:defRPr/>
            </a:pPr>
            <a:r>
              <a:rPr lang="en-US" sz="1400">
                <a:solidFill>
                  <a:srgbClr val="FFFFFF"/>
                </a:solidFill>
                <a:latin typeface="Calibri"/>
                <a:ea typeface="Calibri"/>
                <a:cs typeface="Calibri"/>
              </a:rPr>
              <a:t>EXAM TOPICS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Design a CQL schema for a given use case</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Compare Cassandra vs HBase trade-offs</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Explain the write path and compaction</a:t>
            </a:r>
            <a:endParaRPr lang="en-US" sz="1400"/>
          </a:p>
          <a:p>
            <a:pPr marL="342900" indent="-342900">
              <a:spcAft>
                <a:spcPts val="700"/>
              </a:spcAft>
              <a:buSzPct val="100000"/>
              <a:buChar char="►"/>
              <a:defRPr/>
            </a:pPr>
            <a:r>
              <a:rPr lang="en-US" sz="1400">
                <a:solidFill>
                  <a:srgbClr val="FFFFFF"/>
                </a:solidFill>
                <a:latin typeface="Calibri"/>
                <a:ea typeface="Calibri"/>
                <a:cs typeface="Calibri"/>
              </a:rPr>
              <a:t>Calculate consistency given RF and CL</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5">
    <p:bg>
      <p:bgPr shadeToTitle="0">
        <a:solidFill>
          <a:srgbClr val="1E2761"/>
        </a:solidFill>
      </p:bgPr>
    </p:bg>
    <p:spTree>
      <p:nvGrpSpPr>
        <p:cNvPr id="1" name=""/>
        <p:cNvGrpSpPr/>
        <p:nvPr/>
      </p:nvGrpSpPr>
      <p:grpSpPr bwMode="auto">
        <a:xfrm>
          <a:off x="0" y="0"/>
          <a:ext cx="0" cy="0"/>
          <a:chOff x="0" y="0"/>
          <a:chExt cx="0" cy="0"/>
        </a:xfrm>
      </p:grpSpPr>
      <p:sp>
        <p:nvSpPr>
          <p:cNvPr id="1227368730" name="Shape 0"/>
          <p:cNvSpPr/>
          <p:nvPr/>
        </p:nvSpPr>
        <p:spPr bwMode="auto">
          <a:xfrm>
            <a:off x="0" y="0"/>
            <a:ext cx="164592" cy="5143500"/>
          </a:xfrm>
          <a:prstGeom prst="rect">
            <a:avLst/>
          </a:prstGeom>
          <a:solidFill>
            <a:srgbClr val="4FC3F7"/>
          </a:solidFill>
          <a:ln w="12700">
            <a:solidFill>
              <a:srgbClr val="4FC3F7"/>
            </a:solidFill>
            <a:prstDash val="solid"/>
          </a:ln>
        </p:spPr>
      </p:sp>
      <p:sp>
        <p:nvSpPr>
          <p:cNvPr id="740561332" name="Shape 1"/>
          <p:cNvSpPr/>
          <p:nvPr/>
        </p:nvSpPr>
        <p:spPr bwMode="auto">
          <a:xfrm>
            <a:off x="5943600" y="0"/>
            <a:ext cx="3200400" cy="5143500"/>
          </a:xfrm>
          <a:prstGeom prst="rect">
            <a:avLst/>
          </a:prstGeom>
          <a:solidFill>
            <a:srgbClr val="253080">
              <a:alpha val="70000"/>
            </a:srgbClr>
          </a:solidFill>
          <a:ln w="12700">
            <a:solidFill>
              <a:srgbClr val="253080"/>
            </a:solidFill>
            <a:prstDash val="solid"/>
          </a:ln>
        </p:spPr>
      </p:sp>
      <p:sp>
        <p:nvSpPr>
          <p:cNvPr id="788145800" name="Text 2"/>
          <p:cNvSpPr/>
          <p:nvPr/>
        </p:nvSpPr>
        <p:spPr bwMode="auto">
          <a:xfrm>
            <a:off x="457200" y="1371600"/>
            <a:ext cx="7315200" cy="914400"/>
          </a:xfrm>
          <a:prstGeom prst="rect">
            <a:avLst/>
          </a:prstGeom>
          <a:noFill/>
          <a:ln/>
        </p:spPr>
        <p:txBody>
          <a:bodyPr wrap="square" rtlCol="0" anchor="ctr"/>
          <a:lstStyle/>
          <a:p>
            <a:pPr marL="0" indent="0">
              <a:buNone/>
              <a:defRPr/>
            </a:pPr>
            <a:r>
              <a:rPr lang="en-US" sz="4400" b="1">
                <a:solidFill>
                  <a:srgbClr val="FFFFFF"/>
                </a:solidFill>
                <a:latin typeface="Trebuchet MS"/>
                <a:ea typeface="Trebuchet MS"/>
                <a:cs typeface="Trebuchet MS"/>
              </a:rPr>
              <a:t>Thank You</a:t>
            </a:r>
            <a:endParaRPr lang="en-US" sz="4400"/>
          </a:p>
        </p:txBody>
      </p:sp>
      <p:sp>
        <p:nvSpPr>
          <p:cNvPr id="1424698766" name="Text 3"/>
          <p:cNvSpPr/>
          <p:nvPr/>
        </p:nvSpPr>
        <p:spPr bwMode="auto">
          <a:xfrm>
            <a:off x="457200" y="2377440"/>
            <a:ext cx="7315200" cy="457200"/>
          </a:xfrm>
          <a:prstGeom prst="rect">
            <a:avLst/>
          </a:prstGeom>
          <a:noFill/>
          <a:ln/>
        </p:spPr>
        <p:txBody>
          <a:bodyPr wrap="square" rtlCol="0" anchor="ctr"/>
          <a:lstStyle/>
          <a:p>
            <a:pPr marL="0" indent="0">
              <a:buNone/>
              <a:defRPr/>
            </a:pPr>
            <a:r>
              <a:rPr lang="en-US" sz="2200" i="1">
                <a:solidFill>
                  <a:srgbClr val="4FC3F7"/>
                </a:solidFill>
                <a:latin typeface="Calibri"/>
                <a:ea typeface="Calibri"/>
                <a:cs typeface="Calibri"/>
              </a:rPr>
              <a:t>Questions &amp; Discussion</a:t>
            </a:r>
            <a:endParaRPr lang="en-US" sz="2200"/>
          </a:p>
        </p:txBody>
      </p:sp>
      <p:sp>
        <p:nvSpPr>
          <p:cNvPr id="364422874" name="Text 4"/>
          <p:cNvSpPr/>
          <p:nvPr/>
        </p:nvSpPr>
        <p:spPr bwMode="auto">
          <a:xfrm>
            <a:off x="457200" y="3017519"/>
            <a:ext cx="7315200" cy="731520"/>
          </a:xfrm>
          <a:prstGeom prst="rect">
            <a:avLst/>
          </a:prstGeom>
          <a:noFill/>
          <a:ln/>
        </p:spPr>
        <p:txBody>
          <a:bodyPr wrap="square" rtlCol="0" anchor="ctr"/>
          <a:lstStyle/>
          <a:p>
            <a:pPr marL="0" indent="0">
              <a:buNone/>
              <a:defRPr/>
            </a:pPr>
            <a:r>
              <a:rPr lang="en-US" sz="1500">
                <a:solidFill>
                  <a:srgbClr val="CADCFC"/>
                </a:solidFill>
                <a:latin typeface="Calibri"/>
                <a:ea typeface="Calibri"/>
                <a:cs typeface="Calibri"/>
              </a:rPr>
              <a:t>Advanced Data Management — Week 6</a:t>
            </a:r>
            <a:endParaRPr lang="en-US" sz="1500"/>
          </a:p>
          <a:p>
            <a:pPr marL="0" indent="0">
              <a:buNone/>
              <a:defRPr/>
            </a:pPr>
            <a:r>
              <a:rPr lang="en-US" sz="1500">
                <a:solidFill>
                  <a:srgbClr val="CADCFC"/>
                </a:solidFill>
                <a:latin typeface="Calibri"/>
                <a:ea typeface="Calibri"/>
                <a:cs typeface="Calibri"/>
              </a:rPr>
              <a:t>Bachelor of Electrical &amp; Computer Engineering</a:t>
            </a:r>
            <a:endParaRPr lang="en-US" sz="15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54</Slides>
  <Notes>54</Notes>
  <HiddenSlides>0</HiddenSlides>
  <MMClips>2</MMClips>
  <ScaleCrop>0</ScaleCrop>
  <HeadingPairs>
    <vt:vector size="4" baseType="variant">
      <vt:variant>
        <vt:lpstr>Theme</vt:lpstr>
      </vt:variant>
      <vt:variant>
        <vt:i4>1</vt:i4>
      </vt:variant>
      <vt:variant>
        <vt:lpstr>Slide Titles</vt:lpstr>
      </vt:variant>
      <vt:variant>
        <vt:i4>54</vt:i4>
      </vt:variant>
    </vt:vector>
  </HeadingPairs>
  <TitlesOfParts>
    <vt:vector size="5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Column-Family NoSQL Databases</dc:title>
  <dc:subject>PptxGenJS Presentation</dc:subject>
  <dc:creator>Advanced Data Management</dc:creator>
  <cp:lastModifiedBy/>
  <cp:revision>2</cp:revision>
  <dcterms:created xsi:type="dcterms:W3CDTF">2026-04-26T00:06:39Z</dcterms:created>
  <dcterms:modified xsi:type="dcterms:W3CDTF">2026-04-27T13:12:28Z</dcterms:modified>
</cp:coreProperties>
</file>